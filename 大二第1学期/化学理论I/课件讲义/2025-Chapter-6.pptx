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64"/>
  </p:notesMasterIdLst>
  <p:sldIdLst>
    <p:sldId id="1087" r:id="rId3"/>
    <p:sldId id="714" r:id="rId4"/>
    <p:sldId id="298" r:id="rId5"/>
    <p:sldId id="277" r:id="rId6"/>
    <p:sldId id="799" r:id="rId7"/>
    <p:sldId id="278" r:id="rId8"/>
    <p:sldId id="810" r:id="rId9"/>
    <p:sldId id="1088" r:id="rId10"/>
    <p:sldId id="258" r:id="rId11"/>
    <p:sldId id="259" r:id="rId12"/>
    <p:sldId id="292" r:id="rId13"/>
    <p:sldId id="713" r:id="rId14"/>
    <p:sldId id="261" r:id="rId15"/>
    <p:sldId id="262" r:id="rId16"/>
    <p:sldId id="263" r:id="rId17"/>
    <p:sldId id="325" r:id="rId18"/>
    <p:sldId id="326" r:id="rId19"/>
    <p:sldId id="327" r:id="rId20"/>
    <p:sldId id="285" r:id="rId21"/>
    <p:sldId id="287" r:id="rId22"/>
    <p:sldId id="288" r:id="rId23"/>
    <p:sldId id="289" r:id="rId24"/>
    <p:sldId id="290" r:id="rId25"/>
    <p:sldId id="264" r:id="rId26"/>
    <p:sldId id="265" r:id="rId27"/>
    <p:sldId id="718" r:id="rId28"/>
    <p:sldId id="721" r:id="rId29"/>
    <p:sldId id="719" r:id="rId30"/>
    <p:sldId id="720" r:id="rId31"/>
    <p:sldId id="295" r:id="rId32"/>
    <p:sldId id="396" r:id="rId33"/>
    <p:sldId id="393" r:id="rId34"/>
    <p:sldId id="394" r:id="rId35"/>
    <p:sldId id="403" r:id="rId36"/>
    <p:sldId id="404" r:id="rId37"/>
    <p:sldId id="405" r:id="rId38"/>
    <p:sldId id="269" r:id="rId39"/>
    <p:sldId id="270" r:id="rId40"/>
    <p:sldId id="271" r:id="rId41"/>
    <p:sldId id="272" r:id="rId42"/>
    <p:sldId id="273" r:id="rId43"/>
    <p:sldId id="274" r:id="rId44"/>
    <p:sldId id="1089" r:id="rId45"/>
    <p:sldId id="299" r:id="rId46"/>
    <p:sldId id="801" r:id="rId47"/>
    <p:sldId id="344" r:id="rId48"/>
    <p:sldId id="802" r:id="rId49"/>
    <p:sldId id="452" r:id="rId50"/>
    <p:sldId id="454" r:id="rId51"/>
    <p:sldId id="459" r:id="rId52"/>
    <p:sldId id="318" r:id="rId53"/>
    <p:sldId id="275" r:id="rId54"/>
    <p:sldId id="1090" r:id="rId55"/>
    <p:sldId id="1091" r:id="rId56"/>
    <p:sldId id="467" r:id="rId57"/>
    <p:sldId id="320" r:id="rId58"/>
    <p:sldId id="1092" r:id="rId59"/>
    <p:sldId id="321" r:id="rId60"/>
    <p:sldId id="313" r:id="rId61"/>
    <p:sldId id="323" r:id="rId62"/>
    <p:sldId id="342" r:id="rId63"/>
  </p:sldIdLst>
  <p:sldSz cx="12192000" cy="6858000"/>
  <p:notesSz cx="6858000" cy="91440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14" autoAdjust="0"/>
    <p:restoredTop sz="85209" autoAdjust="0"/>
  </p:normalViewPr>
  <p:slideViewPr>
    <p:cSldViewPr snapToGrid="0">
      <p:cViewPr varScale="1">
        <p:scale>
          <a:sx n="70" d="100"/>
          <a:sy n="70" d="100"/>
        </p:scale>
        <p:origin x="82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71F1A4-3598-4933-B6EE-CD42AEE6378D}" type="datetimeFigureOut">
              <a:rPr lang="zh-CN" altLang="en-US" smtClean="0"/>
              <a:t>2025/10/14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9C032-BBD6-4DC7-882F-F65FCD30791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a:defRPr/>
            </a:pPr>
            <a:fld id="{682BFD58-0781-4407-9FDB-D7107B94F20C}" type="slidenum">
              <a:rPr lang="en-US" altLang="zh-CN">
                <a:solidFill>
                  <a:prstClr val="black"/>
                </a:solidFill>
              </a:rPr>
              <a:pPr>
                <a:defRPr/>
              </a:pPr>
              <a:t>50</a:t>
            </a:fld>
            <a:endParaRPr lang="en-US" altLang="zh-CN">
              <a:solidFill>
                <a:prstClr val="black"/>
              </a:solidFill>
            </a:endParaRPr>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74626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71EA855-259B-4538-AE5A-0D03DBA439EC}"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6322" name="Rectangle 2"/>
          <p:cNvSpPr>
            <a:spLocks noGrp="1" noRot="1" noChangeAspect="1" noChangeArrowheads="1" noTextEdit="1"/>
          </p:cNvSpPr>
          <p:nvPr>
            <p:ph type="sldImg"/>
          </p:nvPr>
        </p:nvSpPr>
        <p:spPr>
          <a:xfrm>
            <a:off x="63500" y="733425"/>
            <a:ext cx="6518275" cy="3667125"/>
          </a:xfrm>
        </p:spPr>
      </p:sp>
      <p:sp>
        <p:nvSpPr>
          <p:cNvPr id="56323" name="Rectangle 3"/>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4157530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71EA855-259B-4538-AE5A-0D03DBA439EC}"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6322" name="Rectangle 2"/>
          <p:cNvSpPr>
            <a:spLocks noGrp="1" noRot="1" noChangeAspect="1" noChangeArrowheads="1" noTextEdit="1"/>
          </p:cNvSpPr>
          <p:nvPr>
            <p:ph type="sldImg"/>
          </p:nvPr>
        </p:nvSpPr>
        <p:spPr>
          <a:xfrm>
            <a:off x="63500" y="733425"/>
            <a:ext cx="6518275" cy="3667125"/>
          </a:xfrm>
        </p:spPr>
      </p:sp>
      <p:sp>
        <p:nvSpPr>
          <p:cNvPr id="56323" name="Rectangle 3"/>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3991350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6764EB1-1831-41D5-B71B-10693F1B361A}"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370" name="Rectangle 2"/>
          <p:cNvSpPr>
            <a:spLocks noGrp="1" noRot="1" noChangeAspect="1" noChangeArrowheads="1" noTextEdit="1"/>
          </p:cNvSpPr>
          <p:nvPr>
            <p:ph type="sldImg"/>
          </p:nvPr>
        </p:nvSpPr>
        <p:spPr bwMode="auto">
          <a:xfrm>
            <a:off x="63500" y="733425"/>
            <a:ext cx="6518275" cy="3667125"/>
          </a:xfrm>
          <a:prstGeom prst="rect">
            <a:avLst/>
          </a:prstGeom>
          <a:solidFill>
            <a:srgbClr val="FFFFFF"/>
          </a:solidFill>
          <a:ln>
            <a:solidFill>
              <a:srgbClr val="000000"/>
            </a:solidFill>
            <a:miter lim="800000"/>
          </a:ln>
        </p:spPr>
      </p:sp>
      <p:sp>
        <p:nvSpPr>
          <p:cNvPr id="58371" name="Rectangle 3"/>
          <p:cNvSpPr>
            <a:spLocks noGrp="1" noChangeArrowheads="1"/>
          </p:cNvSpPr>
          <p:nvPr>
            <p:ph type="body" idx="1"/>
          </p:nvPr>
        </p:nvSpPr>
        <p:spPr bwMode="auto">
          <a:xfrm>
            <a:off x="665163" y="4645025"/>
            <a:ext cx="5314950" cy="4398963"/>
          </a:xfrm>
          <a:prstGeom prst="rect">
            <a:avLst/>
          </a:prstGeom>
          <a:solidFill>
            <a:srgbClr val="FFFFFF"/>
          </a:solidFill>
          <a:ln>
            <a:solidFill>
              <a:srgbClr val="000000"/>
            </a:solidFill>
            <a:miter lim="800000"/>
          </a:ln>
        </p:spPr>
        <p:txBody>
          <a:bodyPr/>
          <a:lstStyle/>
          <a:p>
            <a:endParaRPr lang="zh-CN" altLang="zh-CN"/>
          </a:p>
        </p:txBody>
      </p:sp>
    </p:spTree>
    <p:extLst>
      <p:ext uri="{BB962C8B-B14F-4D97-AF65-F5344CB8AC3E}">
        <p14:creationId xmlns:p14="http://schemas.microsoft.com/office/powerpoint/2010/main" val="4109812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ED555B0-3FFE-4201-9B43-147F2F75A7C7}"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22" name="Rectangle 2"/>
          <p:cNvSpPr>
            <a:spLocks noGrp="1" noRot="1" noChangeAspect="1" noChangeArrowheads="1" noTextEdit="1"/>
          </p:cNvSpPr>
          <p:nvPr>
            <p:ph type="sldImg"/>
          </p:nvPr>
        </p:nvSpPr>
        <p:spPr bwMode="auto">
          <a:xfrm>
            <a:off x="63500" y="733425"/>
            <a:ext cx="6518275" cy="3667125"/>
          </a:xfrm>
          <a:prstGeom prst="rect">
            <a:avLst/>
          </a:prstGeom>
          <a:solidFill>
            <a:srgbClr val="FFFFFF"/>
          </a:solidFill>
          <a:ln>
            <a:solidFill>
              <a:srgbClr val="000000"/>
            </a:solidFill>
            <a:miter lim="800000"/>
          </a:ln>
        </p:spPr>
      </p:sp>
      <p:sp>
        <p:nvSpPr>
          <p:cNvPr id="133123" name="Rectangle 3"/>
          <p:cNvSpPr>
            <a:spLocks noGrp="1" noChangeArrowheads="1"/>
          </p:cNvSpPr>
          <p:nvPr>
            <p:ph type="body" idx="1"/>
          </p:nvPr>
        </p:nvSpPr>
        <p:spPr bwMode="auto">
          <a:xfrm>
            <a:off x="665163" y="4645025"/>
            <a:ext cx="5314950" cy="4398963"/>
          </a:xfrm>
          <a:prstGeom prst="rect">
            <a:avLst/>
          </a:prstGeom>
          <a:solidFill>
            <a:srgbClr val="FFFFFF"/>
          </a:solidFill>
          <a:ln>
            <a:solidFill>
              <a:srgbClr val="000000"/>
            </a:solidFill>
            <a:miter lim="800000"/>
          </a:ln>
        </p:spPr>
        <p:txBody>
          <a:bodyPr/>
          <a:lstStyle/>
          <a:p>
            <a:endParaRPr lang="zh-CN" altLang="zh-CN"/>
          </a:p>
        </p:txBody>
      </p:sp>
    </p:spTree>
    <p:extLst>
      <p:ext uri="{BB962C8B-B14F-4D97-AF65-F5344CB8AC3E}">
        <p14:creationId xmlns:p14="http://schemas.microsoft.com/office/powerpoint/2010/main" val="703650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endParaRPr lang="en-US" altLang="zh-CN">
              <a:solidFill>
                <a:srgbClr val="000000"/>
              </a:solidFill>
            </a:endParaRPr>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en-US" altLang="zh-CN">
              <a:solidFill>
                <a:srgbClr val="000000"/>
              </a:solidFill>
            </a:endParaRPr>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4D368A4C-D867-4D9F-B7E0-A3167B20A00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208976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D605657-0E95-4F33-A17B-668B54CDD4F9}" type="slidenum">
              <a:rPr lang="en-US" altLang="zh-CN"/>
              <a:t>‹#›</a:t>
            </a:fld>
            <a:endParaRPr lang="en-US" altLang="zh-CN"/>
          </a:p>
        </p:txBody>
      </p:sp>
    </p:spTree>
    <p:extLst>
      <p:ext uri="{BB962C8B-B14F-4D97-AF65-F5344CB8AC3E}">
        <p14:creationId xmlns:p14="http://schemas.microsoft.com/office/powerpoint/2010/main" val="2864301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7C5D367-9FA0-4732-9680-E7719752DF4B}" type="slidenum">
              <a:rPr lang="en-US" altLang="zh-CN"/>
              <a:t>‹#›</a:t>
            </a:fld>
            <a:endParaRPr lang="en-US" altLang="zh-CN"/>
          </a:p>
        </p:txBody>
      </p:sp>
    </p:spTree>
    <p:extLst>
      <p:ext uri="{BB962C8B-B14F-4D97-AF65-F5344CB8AC3E}">
        <p14:creationId xmlns:p14="http://schemas.microsoft.com/office/powerpoint/2010/main" val="3949322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8ADFEA0-E6D6-4855-A3D1-DF97604D3E95}" type="slidenum">
              <a:rPr lang="en-US" altLang="zh-CN"/>
              <a:t>‹#›</a:t>
            </a:fld>
            <a:endParaRPr lang="en-US" altLang="zh-CN"/>
          </a:p>
        </p:txBody>
      </p:sp>
    </p:spTree>
    <p:extLst>
      <p:ext uri="{BB962C8B-B14F-4D97-AF65-F5344CB8AC3E}">
        <p14:creationId xmlns:p14="http://schemas.microsoft.com/office/powerpoint/2010/main" val="235271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9DBA03B-9512-4916-A635-5609E93FD800}" type="slidenum">
              <a:rPr lang="en-US" altLang="zh-CN"/>
              <a:t>‹#›</a:t>
            </a:fld>
            <a:endParaRPr lang="en-US" altLang="zh-CN"/>
          </a:p>
        </p:txBody>
      </p:sp>
    </p:spTree>
    <p:extLst>
      <p:ext uri="{BB962C8B-B14F-4D97-AF65-F5344CB8AC3E}">
        <p14:creationId xmlns:p14="http://schemas.microsoft.com/office/powerpoint/2010/main" val="2929580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5510198-CB28-426F-843B-CA5E5D6BBFCC}" type="slidenum">
              <a:rPr lang="en-US" altLang="zh-CN"/>
              <a:t>‹#›</a:t>
            </a:fld>
            <a:endParaRPr lang="en-US" altLang="zh-CN"/>
          </a:p>
        </p:txBody>
      </p:sp>
    </p:spTree>
    <p:extLst>
      <p:ext uri="{BB962C8B-B14F-4D97-AF65-F5344CB8AC3E}">
        <p14:creationId xmlns:p14="http://schemas.microsoft.com/office/powerpoint/2010/main" val="42326778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CF486E6C-E2CA-4EF5-A18C-D52DEFB5A26A}" type="slidenum">
              <a:rPr lang="en-US" altLang="zh-CN"/>
              <a:t>‹#›</a:t>
            </a:fld>
            <a:endParaRPr lang="en-US" altLang="zh-CN"/>
          </a:p>
        </p:txBody>
      </p:sp>
    </p:spTree>
    <p:extLst>
      <p:ext uri="{BB962C8B-B14F-4D97-AF65-F5344CB8AC3E}">
        <p14:creationId xmlns:p14="http://schemas.microsoft.com/office/powerpoint/2010/main" val="148274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417DBB3F-1BF1-467E-A4AF-05185A2DBC96}" type="slidenum">
              <a:rPr lang="en-US" altLang="zh-CN"/>
              <a:t>‹#›</a:t>
            </a:fld>
            <a:endParaRPr lang="en-US" altLang="zh-CN"/>
          </a:p>
        </p:txBody>
      </p:sp>
    </p:spTree>
    <p:extLst>
      <p:ext uri="{BB962C8B-B14F-4D97-AF65-F5344CB8AC3E}">
        <p14:creationId xmlns:p14="http://schemas.microsoft.com/office/powerpoint/2010/main" val="210819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8035E4C-DEBB-493D-AA38-C372B4DC245B}" type="slidenum">
              <a:rPr lang="en-US" altLang="zh-CN"/>
              <a:t>‹#›</a:t>
            </a:fld>
            <a:endParaRPr lang="en-US" altLang="zh-CN"/>
          </a:p>
        </p:txBody>
      </p:sp>
    </p:spTree>
    <p:extLst>
      <p:ext uri="{BB962C8B-B14F-4D97-AF65-F5344CB8AC3E}">
        <p14:creationId xmlns:p14="http://schemas.microsoft.com/office/powerpoint/2010/main" val="1883185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3B6471F-A2D8-4672-AF4E-01C035344895}" type="slidenum">
              <a:rPr lang="en-US" altLang="zh-CN"/>
              <a:t>‹#›</a:t>
            </a:fld>
            <a:endParaRPr lang="en-US" altLang="zh-CN"/>
          </a:p>
        </p:txBody>
      </p:sp>
    </p:spTree>
    <p:extLst>
      <p:ext uri="{BB962C8B-B14F-4D97-AF65-F5344CB8AC3E}">
        <p14:creationId xmlns:p14="http://schemas.microsoft.com/office/powerpoint/2010/main" val="3730011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0724994-712E-45D8-93EC-71E1F352FEB7}" type="slidenum">
              <a:rPr lang="en-US" altLang="zh-CN"/>
              <a:t>‹#›</a:t>
            </a:fld>
            <a:endParaRPr lang="en-US" altLang="zh-CN"/>
          </a:p>
        </p:txBody>
      </p:sp>
    </p:spTree>
    <p:extLst>
      <p:ext uri="{BB962C8B-B14F-4D97-AF65-F5344CB8AC3E}">
        <p14:creationId xmlns:p14="http://schemas.microsoft.com/office/powerpoint/2010/main" val="18656510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9A813E1-7BFB-4B7F-B582-FC79300B3AC0}" type="slidenum">
              <a:rPr lang="en-US" altLang="zh-CN"/>
              <a:t>‹#›</a:t>
            </a:fld>
            <a:endParaRPr lang="en-US" altLang="zh-CN"/>
          </a:p>
        </p:txBody>
      </p:sp>
    </p:spTree>
    <p:extLst>
      <p:ext uri="{BB962C8B-B14F-4D97-AF65-F5344CB8AC3E}">
        <p14:creationId xmlns:p14="http://schemas.microsoft.com/office/powerpoint/2010/main" val="12643739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09600" y="6245225"/>
            <a:ext cx="2844800"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vl1pPr>
          </a:lstStyle>
          <a:p>
            <a:fld id="{31A97D28-3A0C-4131-B144-633F1367F278}" type="slidenum">
              <a:rPr lang="en-US" altLang="zh-CN"/>
              <a:t>‹#›</a:t>
            </a:fld>
            <a:endParaRPr lang="en-US" altLang="zh-CN"/>
          </a:p>
        </p:txBody>
      </p:sp>
    </p:spTree>
    <p:extLst>
      <p:ext uri="{BB962C8B-B14F-4D97-AF65-F5344CB8AC3E}">
        <p14:creationId xmlns:p14="http://schemas.microsoft.com/office/powerpoint/2010/main" val="378473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E5D6EA-7D01-44D2-A44B-EEADEE89940B}" type="datetimeFigureOut">
              <a:rPr lang="zh-CN" altLang="en-US" smtClean="0"/>
              <a:t>2025/10/14</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9849EA-18B3-4CA7-9730-C7EE55E9A15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atin typeface="+mn-lt"/>
              </a:defRPr>
            </a:lvl1pPr>
          </a:lstStyle>
          <a:p>
            <a:endParaRPr lang="en-US" altLang="zh-CN"/>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atin typeface="+mn-lt"/>
              </a:defRPr>
            </a:lvl1pPr>
          </a:lstStyle>
          <a:p>
            <a:endParaRPr lang="en-US" altLang="zh-C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atin typeface="+mn-lt"/>
              </a:defRPr>
            </a:lvl1pPr>
          </a:lstStyle>
          <a:p>
            <a:fld id="{B54BEDF1-7A38-4A2B-9A7D-DB7EDF556D49}" type="slidenum">
              <a:rPr lang="en-US" altLang="zh-CN"/>
              <a:t>‹#›</a:t>
            </a:fld>
            <a:endParaRPr lang="en-US" altLang="zh-CN"/>
          </a:p>
        </p:txBody>
      </p:sp>
    </p:spTree>
    <p:extLst>
      <p:ext uri="{BB962C8B-B14F-4D97-AF65-F5344CB8AC3E}">
        <p14:creationId xmlns:p14="http://schemas.microsoft.com/office/powerpoint/2010/main" val="205326592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2.wmf"/><Relationship Id="rId7" Type="http://schemas.openxmlformats.org/officeDocument/2006/relationships/image" Target="../media/image80.png"/><Relationship Id="rId2" Type="http://schemas.openxmlformats.org/officeDocument/2006/relationships/oleObject" Target="../embeddings/oleObject11.bin"/><Relationship Id="rId1" Type="http://schemas.openxmlformats.org/officeDocument/2006/relationships/slideLayout" Target="../slideLayouts/slideLayout2.xml"/><Relationship Id="rId9" Type="http://schemas.openxmlformats.org/officeDocument/2006/relationships/image" Target="../media/image13.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1.png"/><Relationship Id="rId12" Type="http://schemas.openxmlformats.org/officeDocument/2006/relationships/image" Target="../media/image15.wmf"/><Relationship Id="rId1" Type="http://schemas.openxmlformats.org/officeDocument/2006/relationships/slideLayout" Target="../slideLayouts/slideLayout1.xml"/><Relationship Id="rId11" Type="http://schemas.openxmlformats.org/officeDocument/2006/relationships/oleObject" Target="../embeddings/oleObject14.bin"/><Relationship Id="rId10" Type="http://schemas.openxmlformats.org/officeDocument/2006/relationships/image" Target="../media/image14.wmf"/><Relationship Id="rId9" Type="http://schemas.openxmlformats.org/officeDocument/2006/relationships/oleObject" Target="../embeddings/oleObject13.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0.png"/><Relationship Id="rId7" Type="http://schemas.openxmlformats.org/officeDocument/2006/relationships/image" Target="../media/image17.wmf"/><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oleObject" Target="../embeddings/oleObject16.bin"/><Relationship Id="rId5" Type="http://schemas.openxmlformats.org/officeDocument/2006/relationships/image" Target="../media/image16.wmf"/><Relationship Id="rId4" Type="http://schemas.openxmlformats.org/officeDocument/2006/relationships/oleObject" Target="../embeddings/oleObject15.bin"/><Relationship Id="rId9" Type="http://schemas.openxmlformats.org/officeDocument/2006/relationships/image" Target="../media/image18.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8.bin"/><Relationship Id="rId7" Type="http://schemas.openxmlformats.org/officeDocument/2006/relationships/image" Target="../media/image170.png"/><Relationship Id="rId2" Type="http://schemas.openxmlformats.org/officeDocument/2006/relationships/image" Target="../media/image21.png"/><Relationship Id="rId1" Type="http://schemas.openxmlformats.org/officeDocument/2006/relationships/slideLayout" Target="../slideLayouts/slideLayout1.xml"/><Relationship Id="rId11" Type="http://schemas.openxmlformats.org/officeDocument/2006/relationships/image" Target="../media/image18.wmf"/><Relationship Id="rId10" Type="http://schemas.openxmlformats.org/officeDocument/2006/relationships/oleObject" Target="../embeddings/oleObject17.bin"/><Relationship Id="rId9" Type="http://schemas.openxmlformats.org/officeDocument/2006/relationships/image" Target="../media/image22.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3.wmf"/><Relationship Id="rId7" Type="http://schemas.openxmlformats.org/officeDocument/2006/relationships/image" Target="../media/image24.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7.wmf"/><Relationship Id="rId4" Type="http://schemas.openxmlformats.org/officeDocument/2006/relationships/oleObject" Target="../embeddings/oleObject6.bin"/><Relationship Id="rId9" Type="http://schemas.openxmlformats.org/officeDocument/2006/relationships/image" Target="../media/image25.wmf"/></Relationships>
</file>

<file path=ppt/slides/_rels/slide1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0.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1.wmf"/></Relationships>
</file>

<file path=ppt/slides/_rels/slide19.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30.bin"/><Relationship Id="rId1" Type="http://schemas.openxmlformats.org/officeDocument/2006/relationships/slideLayout" Target="../slideLayouts/slideLayout7.xml"/><Relationship Id="rId6" Type="http://schemas.openxmlformats.org/officeDocument/2006/relationships/oleObject" Target="../embeddings/oleObject32.bin"/><Relationship Id="rId5" Type="http://schemas.openxmlformats.org/officeDocument/2006/relationships/image" Target="../media/image35.wmf"/><Relationship Id="rId4" Type="http://schemas.openxmlformats.org/officeDocument/2006/relationships/oleObject" Target="../embeddings/oleObject3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5.bin"/><Relationship Id="rId5" Type="http://schemas.openxmlformats.org/officeDocument/2006/relationships/image" Target="../media/image38.wmf"/><Relationship Id="rId4" Type="http://schemas.openxmlformats.org/officeDocument/2006/relationships/oleObject" Target="../embeddings/oleObject34.bin"/><Relationship Id="rId9" Type="http://schemas.openxmlformats.org/officeDocument/2006/relationships/image" Target="../media/image40.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4.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9.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7.bin"/><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40.png"/><Relationship Id="rId7" Type="http://schemas.openxmlformats.org/officeDocument/2006/relationships/image" Target="../media/image53.wmf"/><Relationship Id="rId1" Type="http://schemas.openxmlformats.org/officeDocument/2006/relationships/slideLayout" Target="../slideLayouts/slideLayout1.xml"/><Relationship Id="rId6" Type="http://schemas.openxmlformats.org/officeDocument/2006/relationships/oleObject" Target="../embeddings/oleObject49.bin"/><Relationship Id="rId5" Type="http://schemas.openxmlformats.org/officeDocument/2006/relationships/image" Target="../media/image52.wmf"/><Relationship Id="rId4" Type="http://schemas.openxmlformats.org/officeDocument/2006/relationships/oleObject" Target="../embeddings/oleObject48.bin"/></Relationships>
</file>

<file path=ppt/slides/_rels/slide26.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50.bin"/><Relationship Id="rId1" Type="http://schemas.openxmlformats.org/officeDocument/2006/relationships/slideLayout" Target="../slideLayouts/slideLayout2.xml"/><Relationship Id="rId5" Type="http://schemas.openxmlformats.org/officeDocument/2006/relationships/image" Target="../media/image55.wmf"/><Relationship Id="rId4" Type="http://schemas.openxmlformats.org/officeDocument/2006/relationships/oleObject" Target="../embeddings/oleObject51.bin"/><Relationship Id="rId9"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52.bin"/><Relationship Id="rId1"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53.bin"/></Relationships>
</file>

<file path=ppt/slides/_rels/slide28.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54.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55.bin"/><Relationship Id="rId1" Type="http://schemas.openxmlformats.org/officeDocument/2006/relationships/slideLayout" Target="../slideLayouts/slideLayout2.xml"/><Relationship Id="rId5" Type="http://schemas.openxmlformats.org/officeDocument/2006/relationships/image" Target="../media/image60.wmf"/><Relationship Id="rId4" Type="http://schemas.openxmlformats.org/officeDocument/2006/relationships/oleObject" Target="../embeddings/oleObject56.bin"/></Relationships>
</file>

<file path=ppt/slides/_rels/slide30.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7.bin"/><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image" Target="../media/image64.jpeg"/><Relationship Id="rId1" Type="http://schemas.openxmlformats.org/officeDocument/2006/relationships/slideLayout" Target="../slideLayouts/slideLayout7.xml"/><Relationship Id="rId6" Type="http://schemas.openxmlformats.org/officeDocument/2006/relationships/image" Target="../media/image66.wmf"/><Relationship Id="rId5" Type="http://schemas.openxmlformats.org/officeDocument/2006/relationships/oleObject" Target="../embeddings/oleObject59.bin"/><Relationship Id="rId4" Type="http://schemas.openxmlformats.org/officeDocument/2006/relationships/image" Target="../media/image65.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image" Target="../media/image67.jpeg"/><Relationship Id="rId1" Type="http://schemas.openxmlformats.org/officeDocument/2006/relationships/slideLayout" Target="../slideLayouts/slideLayout7.xml"/><Relationship Id="rId4" Type="http://schemas.openxmlformats.org/officeDocument/2006/relationships/image" Target="../media/image68.wmf"/></Relationships>
</file>

<file path=ppt/slides/_rels/slide33.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1.bin"/><Relationship Id="rId1" Type="http://schemas.openxmlformats.org/officeDocument/2006/relationships/slideLayout" Target="../slideLayouts/slideLayout7.xml"/><Relationship Id="rId6" Type="http://schemas.openxmlformats.org/officeDocument/2006/relationships/image" Target="../media/image70.jpeg"/><Relationship Id="rId5" Type="http://schemas.openxmlformats.org/officeDocument/2006/relationships/image" Target="../media/image69.wmf"/><Relationship Id="rId4" Type="http://schemas.openxmlformats.org/officeDocument/2006/relationships/oleObject" Target="../embeddings/oleObject62.bin"/></Relationships>
</file>

<file path=ppt/slides/_rels/slide34.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image" Target="../media/image72.jpeg"/><Relationship Id="rId5" Type="http://schemas.openxmlformats.org/officeDocument/2006/relationships/image" Target="../media/image71.wmf"/><Relationship Id="rId4" Type="http://schemas.openxmlformats.org/officeDocument/2006/relationships/oleObject" Target="../embeddings/oleObject64.bin"/></Relationships>
</file>

<file path=ppt/slides/_rels/slide35.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5.bin"/><Relationship Id="rId1" Type="http://schemas.openxmlformats.org/officeDocument/2006/relationships/slideLayout" Target="../slideLayouts/slideLayout7.xml"/><Relationship Id="rId6" Type="http://schemas.openxmlformats.org/officeDocument/2006/relationships/image" Target="../media/image74.jpeg"/><Relationship Id="rId5" Type="http://schemas.openxmlformats.org/officeDocument/2006/relationships/image" Target="../media/image73.wmf"/><Relationship Id="rId4" Type="http://schemas.openxmlformats.org/officeDocument/2006/relationships/oleObject" Target="../embeddings/oleObject66.bin"/></Relationships>
</file>

<file path=ppt/slides/_rels/slide36.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image" Target="../media/image76.jpeg"/><Relationship Id="rId5" Type="http://schemas.openxmlformats.org/officeDocument/2006/relationships/image" Target="../media/image75.wmf"/><Relationship Id="rId4" Type="http://schemas.openxmlformats.org/officeDocument/2006/relationships/oleObject" Target="../embeddings/oleObject68.bin"/></Relationships>
</file>

<file path=ppt/slides/_rels/slide37.xml.rels><?xml version="1.0" encoding="UTF-8" standalone="yes"?>
<Relationships xmlns="http://schemas.openxmlformats.org/package/2006/relationships"><Relationship Id="rId3" Type="http://schemas.openxmlformats.org/officeDocument/2006/relationships/image" Target="../media/image77.wmf"/><Relationship Id="rId7" Type="http://schemas.openxmlformats.org/officeDocument/2006/relationships/image" Target="../media/image79.wmf"/><Relationship Id="rId2" Type="http://schemas.openxmlformats.org/officeDocument/2006/relationships/oleObject" Target="../embeddings/oleObject69.bin"/><Relationship Id="rId1" Type="http://schemas.openxmlformats.org/officeDocument/2006/relationships/slideLayout" Target="../slideLayouts/slideLayout1.xml"/><Relationship Id="rId6" Type="http://schemas.openxmlformats.org/officeDocument/2006/relationships/oleObject" Target="../embeddings/oleObject71.bin"/><Relationship Id="rId5" Type="http://schemas.openxmlformats.org/officeDocument/2006/relationships/image" Target="../media/image78.wmf"/><Relationship Id="rId4" Type="http://schemas.openxmlformats.org/officeDocument/2006/relationships/oleObject" Target="../embeddings/oleObject70.bin"/></Relationships>
</file>

<file path=ppt/slides/_rels/slide38.x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1.wmf"/><Relationship Id="rId2" Type="http://schemas.openxmlformats.org/officeDocument/2006/relationships/oleObject" Target="../embeddings/oleObject71.bin"/><Relationship Id="rId1" Type="http://schemas.openxmlformats.org/officeDocument/2006/relationships/slideLayout" Target="../slideLayouts/slideLayout1.xml"/><Relationship Id="rId6" Type="http://schemas.openxmlformats.org/officeDocument/2006/relationships/oleObject" Target="../embeddings/oleObject73.bin"/><Relationship Id="rId5" Type="http://schemas.openxmlformats.org/officeDocument/2006/relationships/image" Target="../media/image80.wmf"/><Relationship Id="rId4" Type="http://schemas.openxmlformats.org/officeDocument/2006/relationships/oleObject" Target="../embeddings/oleObject72.bin"/></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image97.png"/><Relationship Id="rId7" Type="http://schemas.openxmlformats.org/officeDocument/2006/relationships/image" Target="../media/image84.wmf"/><Relationship Id="rId1" Type="http://schemas.openxmlformats.org/officeDocument/2006/relationships/slideLayout" Target="../slideLayouts/slideLayout1.xml"/><Relationship Id="rId6" Type="http://schemas.openxmlformats.org/officeDocument/2006/relationships/oleObject" Target="../embeddings/oleObject74.bin"/><Relationship Id="rId5" Type="http://schemas.openxmlformats.org/officeDocument/2006/relationships/image" Target="../media/image81.wmf"/><Relationship Id="rId4" Type="http://schemas.openxmlformats.org/officeDocument/2006/relationships/oleObject" Target="../embeddings/oleObject73.bin"/><Relationship Id="rId9" Type="http://schemas.openxmlformats.org/officeDocument/2006/relationships/image" Target="../media/image85.wmf"/></Relationships>
</file>

<file path=ppt/slides/_rels/slide41.x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87.wmf"/><Relationship Id="rId2" Type="http://schemas.openxmlformats.org/officeDocument/2006/relationships/oleObject" Target="../embeddings/oleObject76.bin"/><Relationship Id="rId1" Type="http://schemas.openxmlformats.org/officeDocument/2006/relationships/slideLayout" Target="../slideLayouts/slideLayout1.xml"/><Relationship Id="rId6" Type="http://schemas.openxmlformats.org/officeDocument/2006/relationships/oleObject" Target="../embeddings/oleObject77.bin"/><Relationship Id="rId5"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1" Type="http://schemas.openxmlformats.org/officeDocument/2006/relationships/slideLayout" Target="../slideLayouts/slideLayout1.xml"/><Relationship Id="rId5" Type="http://schemas.openxmlformats.org/officeDocument/2006/relationships/image" Target="../media/image88.wmf"/><Relationship Id="rId4" Type="http://schemas.openxmlformats.org/officeDocument/2006/relationships/oleObject" Target="../embeddings/oleObject77.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94.wmf"/><Relationship Id="rId18" Type="http://schemas.openxmlformats.org/officeDocument/2006/relationships/oleObject" Target="../embeddings/oleObject86.bin"/><Relationship Id="rId3" Type="http://schemas.openxmlformats.org/officeDocument/2006/relationships/image" Target="../media/image89.wmf"/><Relationship Id="rId7" Type="http://schemas.openxmlformats.org/officeDocument/2006/relationships/image" Target="../media/image91.emf"/><Relationship Id="rId12" Type="http://schemas.openxmlformats.org/officeDocument/2006/relationships/oleObject" Target="../embeddings/oleObject83.bin"/><Relationship Id="rId17" Type="http://schemas.openxmlformats.org/officeDocument/2006/relationships/image" Target="../media/image96.emf"/><Relationship Id="rId2" Type="http://schemas.openxmlformats.org/officeDocument/2006/relationships/oleObject" Target="../embeddings/oleObject78.bin"/><Relationship Id="rId16" Type="http://schemas.openxmlformats.org/officeDocument/2006/relationships/oleObject" Target="../embeddings/oleObject85.bin"/><Relationship Id="rId1" Type="http://schemas.openxmlformats.org/officeDocument/2006/relationships/slideLayout" Target="../slideLayouts/slideLayout2.xml"/><Relationship Id="rId6" Type="http://schemas.openxmlformats.org/officeDocument/2006/relationships/oleObject" Target="../embeddings/oleObject80.bin"/><Relationship Id="rId11" Type="http://schemas.openxmlformats.org/officeDocument/2006/relationships/image" Target="../media/image93.wmf"/><Relationship Id="rId5" Type="http://schemas.openxmlformats.org/officeDocument/2006/relationships/image" Target="../media/image90.wmf"/><Relationship Id="rId15" Type="http://schemas.openxmlformats.org/officeDocument/2006/relationships/image" Target="../media/image95.wmf"/><Relationship Id="rId10" Type="http://schemas.openxmlformats.org/officeDocument/2006/relationships/oleObject" Target="../embeddings/oleObject82.bin"/><Relationship Id="rId19" Type="http://schemas.openxmlformats.org/officeDocument/2006/relationships/image" Target="../media/image97.wmf"/><Relationship Id="rId4" Type="http://schemas.openxmlformats.org/officeDocument/2006/relationships/oleObject" Target="../embeddings/oleObject79.bin"/><Relationship Id="rId9" Type="http://schemas.openxmlformats.org/officeDocument/2006/relationships/image" Target="../media/image92.wmf"/><Relationship Id="rId14" Type="http://schemas.openxmlformats.org/officeDocument/2006/relationships/oleObject" Target="../embeddings/oleObject84.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98.wmf"/><Relationship Id="rId7" Type="http://schemas.openxmlformats.org/officeDocument/2006/relationships/image" Target="../media/image100.emf"/><Relationship Id="rId2" Type="http://schemas.openxmlformats.org/officeDocument/2006/relationships/oleObject" Target="../embeddings/oleObject87.bin"/><Relationship Id="rId1" Type="http://schemas.openxmlformats.org/officeDocument/2006/relationships/slideLayout" Target="../slideLayouts/slideLayout2.xml"/><Relationship Id="rId6" Type="http://schemas.openxmlformats.org/officeDocument/2006/relationships/oleObject" Target="../embeddings/oleObject89.bin"/><Relationship Id="rId5" Type="http://schemas.openxmlformats.org/officeDocument/2006/relationships/image" Target="../media/image99.emf"/><Relationship Id="rId4" Type="http://schemas.openxmlformats.org/officeDocument/2006/relationships/oleObject" Target="../embeddings/oleObject88.bin"/><Relationship Id="rId9" Type="http://schemas.openxmlformats.org/officeDocument/2006/relationships/image" Target="../media/image101.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image" Target="../media/image107.wmf"/><Relationship Id="rId3" Type="http://schemas.openxmlformats.org/officeDocument/2006/relationships/image" Target="../media/image102.wmf"/><Relationship Id="rId7" Type="http://schemas.openxmlformats.org/officeDocument/2006/relationships/image" Target="../media/image104.wmf"/><Relationship Id="rId12" Type="http://schemas.openxmlformats.org/officeDocument/2006/relationships/oleObject" Target="../embeddings/oleObject96.bin"/><Relationship Id="rId2" Type="http://schemas.openxmlformats.org/officeDocument/2006/relationships/oleObject" Target="../embeddings/oleObject91.bin"/><Relationship Id="rId1" Type="http://schemas.openxmlformats.org/officeDocument/2006/relationships/slideLayout" Target="../slideLayouts/slideLayout2.xml"/><Relationship Id="rId6" Type="http://schemas.openxmlformats.org/officeDocument/2006/relationships/oleObject" Target="../embeddings/oleObject93.bin"/><Relationship Id="rId11" Type="http://schemas.openxmlformats.org/officeDocument/2006/relationships/image" Target="../media/image106.wmf"/><Relationship Id="rId5" Type="http://schemas.openxmlformats.org/officeDocument/2006/relationships/image" Target="../media/image103.wmf"/><Relationship Id="rId15" Type="http://schemas.openxmlformats.org/officeDocument/2006/relationships/image" Target="../media/image108.wmf"/><Relationship Id="rId10" Type="http://schemas.openxmlformats.org/officeDocument/2006/relationships/oleObject" Target="../embeddings/oleObject95.bin"/><Relationship Id="rId4" Type="http://schemas.openxmlformats.org/officeDocument/2006/relationships/oleObject" Target="../embeddings/oleObject92.bin"/><Relationship Id="rId9" Type="http://schemas.openxmlformats.org/officeDocument/2006/relationships/image" Target="../media/image105.wmf"/><Relationship Id="rId14" Type="http://schemas.openxmlformats.org/officeDocument/2006/relationships/oleObject" Target="../embeddings/oleObject97.bin"/></Relationships>
</file>

<file path=ppt/slides/_rels/slide47.xml.rels><?xml version="1.0" encoding="UTF-8" standalone="yes"?>
<Relationships xmlns="http://schemas.openxmlformats.org/package/2006/relationships"><Relationship Id="rId3" Type="http://schemas.openxmlformats.org/officeDocument/2006/relationships/image" Target="../media/image109.wmf"/><Relationship Id="rId7" Type="http://schemas.openxmlformats.org/officeDocument/2006/relationships/image" Target="../media/image111.wmf"/><Relationship Id="rId2" Type="http://schemas.openxmlformats.org/officeDocument/2006/relationships/oleObject" Target="../embeddings/oleObject98.bin"/><Relationship Id="rId1" Type="http://schemas.openxmlformats.org/officeDocument/2006/relationships/slideLayout" Target="../slideLayouts/slideLayout2.xml"/><Relationship Id="rId6" Type="http://schemas.openxmlformats.org/officeDocument/2006/relationships/oleObject" Target="../embeddings/oleObject100.bin"/><Relationship Id="rId5" Type="http://schemas.openxmlformats.org/officeDocument/2006/relationships/image" Target="../media/image110.wmf"/><Relationship Id="rId4" Type="http://schemas.openxmlformats.org/officeDocument/2006/relationships/oleObject" Target="../embeddings/oleObject99.bin"/></Relationships>
</file>

<file path=ppt/slides/_rels/slide48.x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4.wmf"/><Relationship Id="rId2" Type="http://schemas.openxmlformats.org/officeDocument/2006/relationships/oleObject" Target="../embeddings/oleObject101.bin"/><Relationship Id="rId1" Type="http://schemas.openxmlformats.org/officeDocument/2006/relationships/slideLayout" Target="../slideLayouts/slideLayout2.xml"/><Relationship Id="rId6" Type="http://schemas.openxmlformats.org/officeDocument/2006/relationships/oleObject" Target="../embeddings/oleObject103.bin"/><Relationship Id="rId5" Type="http://schemas.openxmlformats.org/officeDocument/2006/relationships/image" Target="../media/image113.wmf"/><Relationship Id="rId4" Type="http://schemas.openxmlformats.org/officeDocument/2006/relationships/oleObject" Target="../embeddings/oleObject102.bin"/></Relationships>
</file>

<file path=ppt/slides/_rels/slide49.xml.rels><?xml version="1.0" encoding="UTF-8" standalone="yes"?>
<Relationships xmlns="http://schemas.openxmlformats.org/package/2006/relationships"><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104.bin"/><Relationship Id="rId1" Type="http://schemas.openxmlformats.org/officeDocument/2006/relationships/slideLayout" Target="../slideLayouts/slideLayout7.xml"/><Relationship Id="rId6" Type="http://schemas.openxmlformats.org/officeDocument/2006/relationships/oleObject" Target="../embeddings/oleObject106.bin"/><Relationship Id="rId5" Type="http://schemas.openxmlformats.org/officeDocument/2006/relationships/image" Target="../media/image116.wmf"/><Relationship Id="rId4" Type="http://schemas.openxmlformats.org/officeDocument/2006/relationships/oleObject" Target="../embeddings/oleObject105.bin"/></Relationships>
</file>

<file path=ppt/slides/_rels/slide50.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22.wmf"/><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19.w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21.wmf"/><Relationship Id="rId4" Type="http://schemas.openxmlformats.org/officeDocument/2006/relationships/image" Target="../media/image118.wmf"/><Relationship Id="rId9" Type="http://schemas.openxmlformats.org/officeDocument/2006/relationships/oleObject" Target="../embeddings/oleObject110.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4.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oleObject" Target="../embeddings/oleObject113.bin"/><Relationship Id="rId7" Type="http://schemas.openxmlformats.org/officeDocument/2006/relationships/oleObject" Target="../embeddings/oleObject115.bin"/><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126.wmf"/><Relationship Id="rId5" Type="http://schemas.openxmlformats.org/officeDocument/2006/relationships/oleObject" Target="../embeddings/oleObject114.bin"/><Relationship Id="rId4" Type="http://schemas.openxmlformats.org/officeDocument/2006/relationships/image" Target="../media/image125.wmf"/></Relationships>
</file>

<file path=ppt/slides/_rels/slide56.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oleObject" Target="../embeddings/oleObject116.bin"/><Relationship Id="rId1" Type="http://schemas.openxmlformats.org/officeDocument/2006/relationships/slideLayout" Target="../slideLayouts/slideLayout24.xml"/><Relationship Id="rId5" Type="http://schemas.openxmlformats.org/officeDocument/2006/relationships/image" Target="../media/image129.wmf"/><Relationship Id="rId4" Type="http://schemas.openxmlformats.org/officeDocument/2006/relationships/oleObject" Target="../embeddings/oleObject117.bin"/></Relationships>
</file>

<file path=ppt/slides/_rels/slide57.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22.bin"/><Relationship Id="rId3" Type="http://schemas.openxmlformats.org/officeDocument/2006/relationships/oleObject" Target="../embeddings/oleObject118.bin"/><Relationship Id="rId7" Type="http://schemas.openxmlformats.org/officeDocument/2006/relationships/oleObject" Target="../embeddings/oleObject120.bin"/><Relationship Id="rId12" Type="http://schemas.openxmlformats.org/officeDocument/2006/relationships/image" Target="../media/image127.wmf"/><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131.wmf"/><Relationship Id="rId11" Type="http://schemas.openxmlformats.org/officeDocument/2006/relationships/oleObject" Target="../embeddings/oleObject115.bin"/><Relationship Id="rId5" Type="http://schemas.openxmlformats.org/officeDocument/2006/relationships/oleObject" Target="../embeddings/oleObject119.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21.bin"/><Relationship Id="rId14" Type="http://schemas.openxmlformats.org/officeDocument/2006/relationships/image" Target="../media/image134.wmf"/></Relationships>
</file>

<file path=ppt/slides/_rels/slide58.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128.bin"/><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39.wmf"/><Relationship Id="rId2" Type="http://schemas.openxmlformats.org/officeDocument/2006/relationships/audio" Target="../media/audio1.wav"/><Relationship Id="rId1" Type="http://schemas.openxmlformats.org/officeDocument/2006/relationships/slideLayout" Target="../slideLayouts/slideLayout24.xml"/><Relationship Id="rId6" Type="http://schemas.openxmlformats.org/officeDocument/2006/relationships/image" Target="../media/image136.wmf"/><Relationship Id="rId11" Type="http://schemas.openxmlformats.org/officeDocument/2006/relationships/oleObject" Target="../embeddings/oleObject127.bin"/><Relationship Id="rId5" Type="http://schemas.openxmlformats.org/officeDocument/2006/relationships/oleObject" Target="../embeddings/oleObject124.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126.bin"/><Relationship Id="rId14" Type="http://schemas.openxmlformats.org/officeDocument/2006/relationships/image" Target="../media/image140.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32.bin"/><Relationship Id="rId3" Type="http://schemas.openxmlformats.org/officeDocument/2006/relationships/image" Target="../media/image141.wmf"/><Relationship Id="rId7" Type="http://schemas.openxmlformats.org/officeDocument/2006/relationships/image" Target="../media/image143.wmf"/><Relationship Id="rId2" Type="http://schemas.openxmlformats.org/officeDocument/2006/relationships/oleObject" Target="../embeddings/oleObject129.bin"/><Relationship Id="rId1" Type="http://schemas.openxmlformats.org/officeDocument/2006/relationships/slideLayout" Target="../slideLayouts/slideLayout19.xml"/><Relationship Id="rId6" Type="http://schemas.openxmlformats.org/officeDocument/2006/relationships/oleObject" Target="../embeddings/oleObject131.bin"/><Relationship Id="rId5" Type="http://schemas.openxmlformats.org/officeDocument/2006/relationships/image" Target="../media/image142.wmf"/><Relationship Id="rId4" Type="http://schemas.openxmlformats.org/officeDocument/2006/relationships/oleObject" Target="../embeddings/oleObject130.bin"/><Relationship Id="rId9" Type="http://schemas.openxmlformats.org/officeDocument/2006/relationships/image" Target="../media/image144.wmf"/></Relationships>
</file>

<file path=ppt/slides/_rels/slide60.xml.rels><?xml version="1.0" encoding="UTF-8" standalone="yes"?>
<Relationships xmlns="http://schemas.openxmlformats.org/package/2006/relationships"><Relationship Id="rId8" Type="http://schemas.openxmlformats.org/officeDocument/2006/relationships/image" Target="../media/image147.wmf"/><Relationship Id="rId13" Type="http://schemas.openxmlformats.org/officeDocument/2006/relationships/oleObject" Target="../embeddings/oleObject138.bin"/><Relationship Id="rId3" Type="http://schemas.openxmlformats.org/officeDocument/2006/relationships/oleObject" Target="../embeddings/oleObject133.bin"/><Relationship Id="rId7" Type="http://schemas.openxmlformats.org/officeDocument/2006/relationships/oleObject" Target="../embeddings/oleObject135.bin"/><Relationship Id="rId12" Type="http://schemas.openxmlformats.org/officeDocument/2006/relationships/image" Target="../media/image149.wmf"/><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146.wmf"/><Relationship Id="rId11" Type="http://schemas.openxmlformats.org/officeDocument/2006/relationships/oleObject" Target="../embeddings/oleObject137.bin"/><Relationship Id="rId5" Type="http://schemas.openxmlformats.org/officeDocument/2006/relationships/oleObject" Target="../embeddings/oleObject134.bin"/><Relationship Id="rId10" Type="http://schemas.openxmlformats.org/officeDocument/2006/relationships/image" Target="../media/image148.wmf"/><Relationship Id="rId4" Type="http://schemas.openxmlformats.org/officeDocument/2006/relationships/image" Target="../media/image145.wmf"/><Relationship Id="rId9" Type="http://schemas.openxmlformats.org/officeDocument/2006/relationships/oleObject" Target="../embeddings/oleObject136.bin"/><Relationship Id="rId14" Type="http://schemas.openxmlformats.org/officeDocument/2006/relationships/image" Target="../media/image150.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0">
            <a:extLst>
              <a:ext uri="{FF2B5EF4-FFF2-40B4-BE49-F238E27FC236}">
                <a16:creationId xmlns:a16="http://schemas.microsoft.com/office/drawing/2014/main" id="{EEAFE64F-263E-43F3-B90B-A229CD08252F}"/>
              </a:ext>
            </a:extLst>
          </p:cNvPr>
          <p:cNvSpPr txBox="1">
            <a:spLocks noChangeArrowheads="1"/>
          </p:cNvSpPr>
          <p:nvPr/>
        </p:nvSpPr>
        <p:spPr bwMode="auto">
          <a:xfrm>
            <a:off x="3195161" y="1000791"/>
            <a:ext cx="1968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Times New Roman" panose="02020603050405020304" pitchFamily="18" charset="0"/>
                <a:cs typeface="Times New Roman" panose="02020603050405020304" pitchFamily="18" charset="0"/>
              </a:rPr>
              <a:t>Simple system</a:t>
            </a:r>
          </a:p>
        </p:txBody>
      </p:sp>
      <p:sp>
        <p:nvSpPr>
          <p:cNvPr id="5" name="AutoShape 61">
            <a:extLst>
              <a:ext uri="{FF2B5EF4-FFF2-40B4-BE49-F238E27FC236}">
                <a16:creationId xmlns:a16="http://schemas.microsoft.com/office/drawing/2014/main" id="{303F3563-1D33-4B0D-9EFE-56DE47B054A8}"/>
              </a:ext>
            </a:extLst>
          </p:cNvPr>
          <p:cNvSpPr>
            <a:spLocks noChangeArrowheads="1"/>
          </p:cNvSpPr>
          <p:nvPr/>
        </p:nvSpPr>
        <p:spPr bwMode="auto">
          <a:xfrm>
            <a:off x="5468461" y="1127791"/>
            <a:ext cx="774700" cy="203200"/>
          </a:xfrm>
          <a:prstGeom prst="rightArrow">
            <a:avLst>
              <a:gd name="adj1" fmla="val 50000"/>
              <a:gd name="adj2" fmla="val 95313"/>
            </a:avLst>
          </a:prstGeom>
          <a:solidFill>
            <a:schemeClr val="bg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6" name="Text Box 62">
            <a:extLst>
              <a:ext uri="{FF2B5EF4-FFF2-40B4-BE49-F238E27FC236}">
                <a16:creationId xmlns:a16="http://schemas.microsoft.com/office/drawing/2014/main" id="{7E3781A8-BEA6-4BEC-BCDA-21ED8CBB6B9F}"/>
              </a:ext>
            </a:extLst>
          </p:cNvPr>
          <p:cNvSpPr txBox="1">
            <a:spLocks noChangeArrowheads="1"/>
          </p:cNvSpPr>
          <p:nvPr/>
        </p:nvSpPr>
        <p:spPr bwMode="auto">
          <a:xfrm>
            <a:off x="6319361" y="975391"/>
            <a:ext cx="119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Times New Roman" panose="02020603050405020304" pitchFamily="18" charset="0"/>
                <a:cs typeface="Times New Roman" panose="02020603050405020304" pitchFamily="18" charset="0"/>
              </a:rPr>
              <a:t>solvable</a:t>
            </a:r>
          </a:p>
        </p:txBody>
      </p:sp>
      <p:sp>
        <p:nvSpPr>
          <p:cNvPr id="7" name="Text Box 71">
            <a:extLst>
              <a:ext uri="{FF2B5EF4-FFF2-40B4-BE49-F238E27FC236}">
                <a16:creationId xmlns:a16="http://schemas.microsoft.com/office/drawing/2014/main" id="{FDFE9761-7372-4BE2-83A1-009087E19BE4}"/>
              </a:ext>
            </a:extLst>
          </p:cNvPr>
          <p:cNvSpPr txBox="1">
            <a:spLocks noChangeArrowheads="1"/>
          </p:cNvSpPr>
          <p:nvPr/>
        </p:nvSpPr>
        <p:spPr bwMode="auto">
          <a:xfrm>
            <a:off x="3916204" y="1780907"/>
            <a:ext cx="360172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latin typeface="Times New Roman" panose="02020603050405020304" pitchFamily="18" charset="0"/>
                <a:ea typeface=""/>
                <a:cs typeface="Times New Roman" panose="02020603050405020304" pitchFamily="18" charset="0"/>
              </a:rPr>
              <a:t>Particle in a Box</a:t>
            </a:r>
          </a:p>
          <a:p>
            <a:pPr>
              <a:spcBef>
                <a:spcPct val="50000"/>
              </a:spcBef>
            </a:pPr>
            <a:r>
              <a:rPr lang="en-US" altLang="zh-CN" sz="2400" dirty="0">
                <a:latin typeface="Times New Roman" panose="02020603050405020304" pitchFamily="18" charset="0"/>
                <a:ea typeface=""/>
                <a:cs typeface="Times New Roman" panose="02020603050405020304" pitchFamily="18" charset="0"/>
              </a:rPr>
              <a:t>Harmonic Oscillator</a:t>
            </a:r>
          </a:p>
          <a:p>
            <a:pPr>
              <a:spcBef>
                <a:spcPct val="50000"/>
              </a:spcBef>
            </a:pPr>
            <a:r>
              <a:rPr lang="en-US" altLang="zh-CN" sz="2400" dirty="0">
                <a:latin typeface="Times New Roman" panose="02020603050405020304" pitchFamily="18" charset="0"/>
                <a:ea typeface=""/>
                <a:cs typeface="Times New Roman" panose="02020603050405020304" pitchFamily="18" charset="0"/>
              </a:rPr>
              <a:t>Hydrogen-like Atom</a:t>
            </a:r>
          </a:p>
          <a:p>
            <a:pPr>
              <a:spcBef>
                <a:spcPct val="50000"/>
              </a:spcBef>
            </a:pPr>
            <a:r>
              <a:rPr lang="en-US" altLang="zh-CN" sz="2400" dirty="0">
                <a:latin typeface="Times New Roman" panose="02020603050405020304" pitchFamily="18" charset="0"/>
                <a:cs typeface="Times New Roman" panose="02020603050405020304" pitchFamily="18" charset="0"/>
              </a:rPr>
              <a:t>Rigid Rotor</a:t>
            </a:r>
          </a:p>
          <a:p>
            <a:pPr>
              <a:spcBef>
                <a:spcPct val="50000"/>
              </a:spcBef>
            </a:pPr>
            <a:r>
              <a:rPr lang="en-US" altLang="zh-CN" sz="2400" dirty="0">
                <a:effectLst>
                  <a:outerShdw blurRad="38100" dist="38100" dir="2700000" algn="tl">
                    <a:srgbClr val="C0C0C0"/>
                  </a:outerShdw>
                </a:effectLst>
                <a:latin typeface="Times New Roman" panose="02020603050405020304" pitchFamily="18" charset="0"/>
                <a:ea typeface="Arial Unicode MS" panose="020B0604020202020204" pitchFamily="34" charset="-122"/>
                <a:cs typeface="Times New Roman" panose="02020603050405020304" pitchFamily="18" charset="0"/>
              </a:rPr>
              <a:t>Hydrogen Molecule Ion</a:t>
            </a:r>
            <a:endParaRPr lang="en-US" altLang="zh-CN" sz="2400" dirty="0">
              <a:latin typeface="Times New Roman" panose="02020603050405020304" pitchFamily="18" charset="0"/>
              <a:cs typeface="Times New Roman" panose="02020603050405020304" pitchFamily="18" charset="0"/>
            </a:endParaRPr>
          </a:p>
        </p:txBody>
      </p:sp>
      <p:sp>
        <p:nvSpPr>
          <p:cNvPr id="8" name="AutoShape 72">
            <a:extLst>
              <a:ext uri="{FF2B5EF4-FFF2-40B4-BE49-F238E27FC236}">
                <a16:creationId xmlns:a16="http://schemas.microsoft.com/office/drawing/2014/main" id="{BE95748A-3C92-443F-86D0-3E7F424F8CAE}"/>
              </a:ext>
            </a:extLst>
          </p:cNvPr>
          <p:cNvSpPr>
            <a:spLocks noChangeArrowheads="1"/>
          </p:cNvSpPr>
          <p:nvPr/>
        </p:nvSpPr>
        <p:spPr bwMode="auto">
          <a:xfrm>
            <a:off x="5105400" y="4984679"/>
            <a:ext cx="774700" cy="203200"/>
          </a:xfrm>
          <a:prstGeom prst="rightArrow">
            <a:avLst>
              <a:gd name="adj1" fmla="val 50000"/>
              <a:gd name="adj2" fmla="val 95313"/>
            </a:avLst>
          </a:prstGeom>
          <a:solidFill>
            <a:schemeClr val="bg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9" name="Text Box 73">
            <a:extLst>
              <a:ext uri="{FF2B5EF4-FFF2-40B4-BE49-F238E27FC236}">
                <a16:creationId xmlns:a16="http://schemas.microsoft.com/office/drawing/2014/main" id="{01516865-C8C1-4A35-8EF8-91D13978E05E}"/>
              </a:ext>
            </a:extLst>
          </p:cNvPr>
          <p:cNvSpPr txBox="1">
            <a:spLocks noChangeArrowheads="1"/>
          </p:cNvSpPr>
          <p:nvPr/>
        </p:nvSpPr>
        <p:spPr bwMode="auto">
          <a:xfrm>
            <a:off x="2590800" y="4832279"/>
            <a:ext cx="2154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Times New Roman" panose="02020603050405020304" pitchFamily="18" charset="0"/>
                <a:cs typeface="Times New Roman" panose="02020603050405020304" pitchFamily="18" charset="0"/>
              </a:rPr>
              <a:t>complex system</a:t>
            </a:r>
          </a:p>
        </p:txBody>
      </p:sp>
      <p:sp>
        <p:nvSpPr>
          <p:cNvPr id="10" name="Text Box 74">
            <a:extLst>
              <a:ext uri="{FF2B5EF4-FFF2-40B4-BE49-F238E27FC236}">
                <a16:creationId xmlns:a16="http://schemas.microsoft.com/office/drawing/2014/main" id="{22724F98-80DE-4F13-9780-771BA24476EC}"/>
              </a:ext>
            </a:extLst>
          </p:cNvPr>
          <p:cNvSpPr txBox="1">
            <a:spLocks noChangeArrowheads="1"/>
          </p:cNvSpPr>
          <p:nvPr/>
        </p:nvSpPr>
        <p:spPr bwMode="auto">
          <a:xfrm>
            <a:off x="6096000" y="4832279"/>
            <a:ext cx="18149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anose="02020603050405020304" pitchFamily="18" charset="0"/>
                <a:cs typeface="Times New Roman" panose="02020603050405020304" pitchFamily="18" charset="0"/>
              </a:rPr>
              <a:t>not separable</a:t>
            </a:r>
          </a:p>
        </p:txBody>
      </p:sp>
      <p:sp>
        <p:nvSpPr>
          <p:cNvPr id="11" name="Text Box 75">
            <a:extLst>
              <a:ext uri="{FF2B5EF4-FFF2-40B4-BE49-F238E27FC236}">
                <a16:creationId xmlns:a16="http://schemas.microsoft.com/office/drawing/2014/main" id="{2517E4A6-CF27-45A3-B4D6-0DDE90E69F0A}"/>
              </a:ext>
            </a:extLst>
          </p:cNvPr>
          <p:cNvSpPr txBox="1">
            <a:spLocks noChangeArrowheads="1"/>
          </p:cNvSpPr>
          <p:nvPr/>
        </p:nvSpPr>
        <p:spPr bwMode="auto">
          <a:xfrm>
            <a:off x="2584177" y="5420944"/>
            <a:ext cx="59613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anose="02020603050405020304" pitchFamily="18" charset="0"/>
                <a:cs typeface="Times New Roman" panose="02020603050405020304" pitchFamily="18" charset="0"/>
              </a:rPr>
              <a:t>For example: many-electron atom or molecule</a:t>
            </a:r>
          </a:p>
        </p:txBody>
      </p:sp>
    </p:spTree>
    <p:extLst>
      <p:ext uri="{BB962C8B-B14F-4D97-AF65-F5344CB8AC3E}">
        <p14:creationId xmlns:p14="http://schemas.microsoft.com/office/powerpoint/2010/main" val="1601896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18D672F-EC1D-4023-990D-9E558BA0D405}"/>
              </a:ext>
            </a:extLst>
          </p:cNvPr>
          <p:cNvSpPr/>
          <p:nvPr/>
        </p:nvSpPr>
        <p:spPr>
          <a:xfrm>
            <a:off x="369485" y="779651"/>
            <a:ext cx="11183815" cy="1870320"/>
          </a:xfrm>
          <a:prstGeom prst="rect">
            <a:avLst/>
          </a:prstGeom>
        </p:spPr>
        <p:txBody>
          <a:bodyPr wrap="square">
            <a:spAutoFit/>
          </a:bodyPr>
          <a:lstStyle/>
          <a:p>
            <a:pPr indent="8146">
              <a:lnSpc>
                <a:spcPct val="120000"/>
              </a:lnSpc>
            </a:pPr>
            <a:r>
              <a:rPr lang="en-US" altLang="zh-CN" sz="2400" dirty="0">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latin typeface="黑体" panose="02010609060101010101" pitchFamily="49" charset="-122"/>
                <a:ea typeface="黑体" panose="02010609060101010101" pitchFamily="49" charset="-122"/>
              </a:rPr>
              <a:t>整个化学领域所依赖的物理定律已完全明晰，困难仅在于这些定律的精确应用会导出过于复杂而无法求解的方程。因此，有必要发展量子力学的近似实用方法</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这些方法无需过多计算便能解释复杂原子系统的主要特征。</a:t>
            </a:r>
            <a:r>
              <a:rPr lang="en-US" altLang="zh-CN" sz="2400" dirty="0">
                <a:latin typeface="Times New Roman" panose="02020603050405020304" pitchFamily="18" charset="0"/>
                <a:cs typeface="Times New Roman" panose="02020603050405020304" pitchFamily="18" charset="0"/>
              </a:rPr>
              <a:t>“</a:t>
            </a:r>
          </a:p>
          <a:p>
            <a:pPr indent="8146" algn="r">
              <a:lnSpc>
                <a:spcPct val="120000"/>
              </a:lnSpc>
            </a:pPr>
            <a:r>
              <a:rPr lang="en-US" altLang="zh-CN" sz="2800" dirty="0">
                <a:latin typeface="黑体" panose="02010609060101010101" pitchFamily="49" charset="-122"/>
                <a:ea typeface="黑体" panose="02010609060101010101" pitchFamily="49" charset="-122"/>
                <a:cs typeface="Times New Roman" panose="02020603050405020304" pitchFamily="18" charset="0"/>
              </a:rPr>
              <a:t>1929</a:t>
            </a:r>
            <a:r>
              <a:rPr lang="zh-CN" altLang="en-US" sz="2800" dirty="0">
                <a:latin typeface="黑体" panose="02010609060101010101" pitchFamily="49" charset="-122"/>
                <a:ea typeface="黑体" panose="02010609060101010101" pitchFamily="49" charset="-122"/>
                <a:cs typeface="Times New Roman" panose="02020603050405020304" pitchFamily="18" charset="0"/>
              </a:rPr>
              <a:t>，狄拉克</a:t>
            </a:r>
            <a:endParaRPr lang="en-US" altLang="zh-CN" sz="28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2E40A962-F538-3676-866B-85AF11C05BAD}"/>
              </a:ext>
            </a:extLst>
          </p:cNvPr>
          <p:cNvSpPr txBox="1"/>
          <p:nvPr/>
        </p:nvSpPr>
        <p:spPr>
          <a:xfrm>
            <a:off x="485525" y="3042776"/>
            <a:ext cx="6843766"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量子力学的近似实用方法：</a:t>
            </a:r>
            <a:r>
              <a:rPr lang="zh-CN" altLang="en-US" sz="2400" b="1" i="0" dirty="0">
                <a:solidFill>
                  <a:srgbClr val="0F1115"/>
                </a:solidFill>
                <a:effectLst/>
                <a:latin typeface="quote-cjk-patch"/>
              </a:rPr>
              <a:t>变分法与微扰理论</a:t>
            </a:r>
            <a:endParaRPr lang="zh-CN" altLang="en-US" sz="2400" dirty="0"/>
          </a:p>
        </p:txBody>
      </p:sp>
      <p:pic>
        <p:nvPicPr>
          <p:cNvPr id="6" name="图片 5">
            <a:extLst>
              <a:ext uri="{FF2B5EF4-FFF2-40B4-BE49-F238E27FC236}">
                <a16:creationId xmlns:a16="http://schemas.microsoft.com/office/drawing/2014/main" id="{A713D757-1DCC-CF41-320B-2CC3B8BCDB3F}"/>
              </a:ext>
            </a:extLst>
          </p:cNvPr>
          <p:cNvPicPr>
            <a:picLocks noChangeAspect="1"/>
          </p:cNvPicPr>
          <p:nvPr/>
        </p:nvPicPr>
        <p:blipFill>
          <a:blip r:embed="rId2"/>
          <a:stretch>
            <a:fillRect/>
          </a:stretch>
        </p:blipFill>
        <p:spPr>
          <a:xfrm>
            <a:off x="2675059" y="3897246"/>
            <a:ext cx="6210619" cy="1625684"/>
          </a:xfrm>
          <a:prstGeom prst="rect">
            <a:avLst/>
          </a:prstGeom>
        </p:spPr>
      </p:pic>
    </p:spTree>
    <p:extLst>
      <p:ext uri="{BB962C8B-B14F-4D97-AF65-F5344CB8AC3E}">
        <p14:creationId xmlns:p14="http://schemas.microsoft.com/office/powerpoint/2010/main" val="416388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75384" y="189799"/>
            <a:ext cx="3696781"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Many-electron systems</a:t>
            </a:r>
            <a:endParaRPr lang="zh-CN" altLang="en-US" sz="2800" b="1" dirty="0">
              <a:latin typeface="Times New Roman" panose="02020603050405020304" pitchFamily="18" charset="0"/>
              <a:cs typeface="Times New Roman" panose="02020603050405020304" pitchFamily="18" charset="0"/>
            </a:endParaRPr>
          </a:p>
        </p:txBody>
      </p:sp>
      <p:sp>
        <p:nvSpPr>
          <p:cNvPr id="4" name="矩形 3"/>
          <p:cNvSpPr/>
          <p:nvPr/>
        </p:nvSpPr>
        <p:spPr>
          <a:xfrm>
            <a:off x="542375" y="1068197"/>
            <a:ext cx="11348186"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The Hamiltonian for He is</a:t>
            </a:r>
          </a:p>
        </p:txBody>
      </p:sp>
      <p:graphicFrame>
        <p:nvGraphicFramePr>
          <p:cNvPr id="5" name="对象 4"/>
          <p:cNvGraphicFramePr>
            <a:graphicFrameLocks noChangeAspect="1"/>
          </p:cNvGraphicFramePr>
          <p:nvPr>
            <p:extLst>
              <p:ext uri="{D42A27DB-BD31-4B8C-83A1-F6EECF244321}">
                <p14:modId xmlns:p14="http://schemas.microsoft.com/office/powerpoint/2010/main" val="1110228351"/>
              </p:ext>
            </p:extLst>
          </p:nvPr>
        </p:nvGraphicFramePr>
        <p:xfrm>
          <a:off x="1875734" y="1593522"/>
          <a:ext cx="7696080" cy="914400"/>
        </p:xfrm>
        <a:graphic>
          <a:graphicData uri="http://schemas.openxmlformats.org/presentationml/2006/ole">
            <mc:AlternateContent xmlns:mc="http://schemas.openxmlformats.org/markup-compatibility/2006">
              <mc:Choice xmlns:v="urn:schemas-microsoft-com:vml" Requires="v">
                <p:oleObj name="Equation" r:id="rId2" imgW="3848040" imgH="457200" progId="Equation.DSMT4">
                  <p:embed/>
                </p:oleObj>
              </mc:Choice>
              <mc:Fallback>
                <p:oleObj name="Equation" r:id="rId2" imgW="3848040" imgH="457200" progId="Equation.DSMT4">
                  <p:embed/>
                  <p:pic>
                    <p:nvPicPr>
                      <p:cNvPr id="0" name="图片 1030"/>
                      <p:cNvPicPr/>
                      <p:nvPr/>
                    </p:nvPicPr>
                    <p:blipFill>
                      <a:blip r:embed="rId3"/>
                      <a:stretch>
                        <a:fillRect/>
                      </a:stretch>
                    </p:blipFill>
                    <p:spPr>
                      <a:xfrm>
                        <a:off x="1875734" y="1593522"/>
                        <a:ext cx="7696080" cy="914400"/>
                      </a:xfrm>
                      <a:prstGeom prst="rect">
                        <a:avLst/>
                      </a:prstGeom>
                    </p:spPr>
                  </p:pic>
                </p:oleObj>
              </mc:Fallback>
            </mc:AlternateContent>
          </a:graphicData>
        </a:graphic>
      </p:graphicFrame>
      <p:sp>
        <p:nvSpPr>
          <p:cNvPr id="6" name="Line 2"/>
          <p:cNvSpPr>
            <a:spLocks noChangeShapeType="1"/>
          </p:cNvSpPr>
          <p:nvPr/>
        </p:nvSpPr>
        <p:spPr bwMode="auto">
          <a:xfrm flipV="1">
            <a:off x="74427" y="853754"/>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2" name="矩形 1"/>
          <p:cNvSpPr/>
          <p:nvPr/>
        </p:nvSpPr>
        <p:spPr>
          <a:xfrm>
            <a:off x="10316266" y="1758388"/>
            <a:ext cx="482824" cy="499689"/>
          </a:xfrm>
          <a:prstGeom prst="rect">
            <a:avLst/>
          </a:prstGeom>
        </p:spPr>
        <p:txBody>
          <a:bodyPr wrap="square">
            <a:spAutoFit/>
          </a:bodyPr>
          <a:lstStyle/>
          <a:p>
            <a:pPr algn="r">
              <a:lnSpc>
                <a:spcPct val="121000"/>
              </a:lnSpc>
              <a:spcAft>
                <a:spcPts val="405"/>
              </a:spcAft>
            </a:pPr>
            <a:r>
              <a:rPr lang="en-US" altLang="zh-CN" sz="2400" dirty="0">
                <a:solidFill>
                  <a:srgbClr val="2926BF"/>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7" name="矩形 6"/>
              <p:cNvSpPr/>
              <p:nvPr/>
            </p:nvSpPr>
            <p:spPr>
              <a:xfrm>
                <a:off x="542375" y="4589474"/>
                <a:ext cx="10637520" cy="1200329"/>
              </a:xfrm>
              <a:prstGeom prst="rect">
                <a:avLst/>
              </a:prstGeom>
            </p:spPr>
            <p:txBody>
              <a:bodyPr wrap="square">
                <a:spAutoFit/>
              </a:bodyPr>
              <a:lstStyle/>
              <a:p>
                <a:pPr marL="457200" indent="-457200">
                  <a:buAutoNum type="arabicParenBoth"/>
                </a:pPr>
                <a:r>
                  <a:rPr lang="en-US" altLang="zh-CN" sz="2400" dirty="0">
                    <a:solidFill>
                      <a:srgbClr val="3333FF"/>
                    </a:solidFill>
                    <a:latin typeface="Times New Roman" panose="02020603050405020304" pitchFamily="18" charset="0"/>
                    <a:cs typeface="Times New Roman" panose="02020603050405020304" pitchFamily="18" charset="0"/>
                  </a:rPr>
                  <a:t>It can not be simplified as two-body problem. Because of the term in </a:t>
                </a:r>
                <a14:m>
                  <m:oMath xmlns:m="http://schemas.openxmlformats.org/officeDocument/2006/math">
                    <m:r>
                      <a:rPr lang="en-US" altLang="zh-CN" sz="2400" i="1" dirty="0">
                        <a:solidFill>
                          <a:srgbClr val="3333FF"/>
                        </a:solidFill>
                        <a:latin typeface="Cambria Math" panose="02040503050406030204" pitchFamily="18" charset="0"/>
                        <a:ea typeface="Arial" panose="020B0604020202020204"/>
                      </a:rPr>
                      <m:t>1/</m:t>
                    </m:r>
                    <m:r>
                      <a:rPr lang="en-US" altLang="zh-CN" sz="2400" i="1" dirty="0">
                        <a:solidFill>
                          <a:srgbClr val="3333FF"/>
                        </a:solidFill>
                        <a:latin typeface="Cambria Math" panose="02040503050406030204" pitchFamily="18" charset="0"/>
                        <a:ea typeface="Arial" panose="020B0604020202020204"/>
                      </a:rPr>
                      <m:t>𝑟</m:t>
                    </m:r>
                    <m:r>
                      <a:rPr lang="en-US" altLang="zh-CN" sz="2400" i="1" baseline="-25000" dirty="0">
                        <a:solidFill>
                          <a:srgbClr val="3333FF"/>
                        </a:solidFill>
                        <a:latin typeface="Cambria Math" panose="02040503050406030204" pitchFamily="18" charset="0"/>
                      </a:rPr>
                      <m:t>12</m:t>
                    </m:r>
                  </m:oMath>
                </a14:m>
                <a:r>
                  <a:rPr lang="en-US" altLang="zh-CN" sz="2400" dirty="0">
                    <a:solidFill>
                      <a:srgbClr val="3333FF"/>
                    </a:solidFill>
                    <a:latin typeface="Times New Roman" panose="02020603050405020304" pitchFamily="18" charset="0"/>
                    <a:cs typeface="Times New Roman" panose="02020603050405020304" pitchFamily="18" charset="0"/>
                  </a:rPr>
                  <a:t> this can't be separated into </a:t>
                </a:r>
                <a14:m>
                  <m:oMath xmlns:m="http://schemas.openxmlformats.org/officeDocument/2006/math">
                    <m:r>
                      <a:rPr lang="en-US" altLang="zh-CN" sz="2400" i="1" dirty="0">
                        <a:solidFill>
                          <a:srgbClr val="3333FF"/>
                        </a:solidFill>
                        <a:latin typeface="Cambria Math" panose="02040503050406030204" pitchFamily="18" charset="0"/>
                      </a:rPr>
                      <m:t>𝐻</m:t>
                    </m:r>
                    <m:r>
                      <a:rPr lang="en-US" altLang="zh-CN" sz="2400" i="1" dirty="0">
                        <a:solidFill>
                          <a:srgbClr val="3333FF"/>
                        </a:solidFill>
                        <a:latin typeface="Cambria Math" panose="02040503050406030204" pitchFamily="18" charset="0"/>
                      </a:rPr>
                      <m:t>(1)+</m:t>
                    </m:r>
                    <m:r>
                      <a:rPr lang="en-US" altLang="zh-CN" sz="2400" i="1" dirty="0">
                        <a:solidFill>
                          <a:srgbClr val="3333FF"/>
                        </a:solidFill>
                        <a:latin typeface="Cambria Math" panose="02040503050406030204" pitchFamily="18" charset="0"/>
                      </a:rPr>
                      <m:t>𝐻</m:t>
                    </m:r>
                    <m:r>
                      <a:rPr lang="en-US" altLang="zh-CN" sz="2400" i="1" dirty="0">
                        <a:solidFill>
                          <a:srgbClr val="3333FF"/>
                        </a:solidFill>
                        <a:latin typeface="Cambria Math" panose="02040503050406030204" pitchFamily="18" charset="0"/>
                      </a:rPr>
                      <m:t>(2)</m:t>
                    </m:r>
                  </m:oMath>
                </a14:m>
                <a:r>
                  <a:rPr lang="en-US" altLang="zh-CN" sz="2400" dirty="0">
                    <a:solidFill>
                      <a:srgbClr val="3333FF"/>
                    </a:solidFill>
                    <a:latin typeface="Times New Roman" panose="02020603050405020304" pitchFamily="18" charset="0"/>
                    <a:cs typeface="Times New Roman" panose="02020603050405020304" pitchFamily="18" charset="0"/>
                  </a:rPr>
                  <a:t>, </a:t>
                </a:r>
              </a:p>
              <a:p>
                <a:pPr marL="457200" indent="-457200">
                  <a:buFontTx/>
                  <a:buAutoNum type="arabicParenBoth"/>
                </a:pPr>
                <a:r>
                  <a:rPr lang="en-US" altLang="zh-CN" sz="2400" dirty="0">
                    <a:solidFill>
                      <a:srgbClr val="3333FF"/>
                    </a:solidFill>
                    <a:latin typeface="Times New Roman" panose="02020603050405020304" pitchFamily="18" charset="0"/>
                    <a:cs typeface="Times New Roman" panose="02020603050405020304" pitchFamily="18" charset="0"/>
                  </a:rPr>
                  <a:t>The wavefunction can‘t be written as </a:t>
                </a:r>
                <a14:m>
                  <m:oMath xmlns:m="http://schemas.openxmlformats.org/officeDocument/2006/math">
                    <m:r>
                      <m:rPr>
                        <m:sty m:val="p"/>
                      </m:rPr>
                      <a:rPr lang="el-GR" altLang="zh-CN" sz="2400" i="1" dirty="0">
                        <a:solidFill>
                          <a:srgbClr val="3333FF"/>
                        </a:solidFill>
                        <a:latin typeface="Cambria Math" panose="02040503050406030204" pitchFamily="18" charset="0"/>
                        <a:ea typeface="Cambria Math" panose="02040503050406030204" pitchFamily="18" charset="0"/>
                      </a:rPr>
                      <m:t>Ψ</m:t>
                    </m:r>
                    <m:r>
                      <a:rPr lang="en-US" altLang="zh-CN" sz="2400" i="1" dirty="0">
                        <a:solidFill>
                          <a:srgbClr val="3333FF"/>
                        </a:solidFill>
                        <a:latin typeface="Cambria Math" panose="02040503050406030204" pitchFamily="18" charset="0"/>
                      </a:rPr>
                      <m:t>=</m:t>
                    </m:r>
                    <m:r>
                      <a:rPr lang="zh-CN" altLang="en-US" sz="2400" i="1" dirty="0">
                        <a:solidFill>
                          <a:srgbClr val="3333FF"/>
                        </a:solidFill>
                        <a:latin typeface="Cambria Math" panose="02040503050406030204" pitchFamily="18" charset="0"/>
                      </a:rPr>
                      <m:t>𝜓</m:t>
                    </m:r>
                    <m:r>
                      <a:rPr lang="en-US" altLang="zh-CN" sz="2400" i="1" dirty="0">
                        <a:solidFill>
                          <a:srgbClr val="3333FF"/>
                        </a:solidFill>
                        <a:latin typeface="Cambria Math" panose="02040503050406030204" pitchFamily="18" charset="0"/>
                      </a:rPr>
                      <m:t>(1)</m:t>
                    </m:r>
                    <m:r>
                      <a:rPr lang="zh-CN" altLang="en-US" sz="2400" i="1" dirty="0">
                        <a:solidFill>
                          <a:srgbClr val="3333FF"/>
                        </a:solidFill>
                        <a:latin typeface="Cambria Math" panose="02040503050406030204" pitchFamily="18" charset="0"/>
                      </a:rPr>
                      <m:t>𝜓</m:t>
                    </m:r>
                    <m:r>
                      <a:rPr lang="en-US" altLang="zh-CN" sz="2400" i="1" dirty="0">
                        <a:solidFill>
                          <a:srgbClr val="3333FF"/>
                        </a:solidFill>
                        <a:latin typeface="Cambria Math" panose="02040503050406030204" pitchFamily="18" charset="0"/>
                      </a:rPr>
                      <m:t>(2)</m:t>
                    </m:r>
                  </m:oMath>
                </a14:m>
                <a:r>
                  <a:rPr lang="en-US" altLang="zh-CN" sz="2400" i="1" dirty="0">
                    <a:solidFill>
                      <a:srgbClr val="3333FF"/>
                    </a:solidFill>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Why</a:t>
                </a:r>
                <a:r>
                  <a:rPr lang="zh-CN" altLang="en-US" sz="2400" i="1" dirty="0">
                    <a:solidFill>
                      <a:srgbClr val="FF0000"/>
                    </a:solidFill>
                    <a:latin typeface="Times New Roman" panose="02020603050405020304" pitchFamily="18" charset="0"/>
                    <a:cs typeface="Times New Roman" panose="02020603050405020304" pitchFamily="18" charset="0"/>
                  </a:rPr>
                  <a:t>？</a:t>
                </a:r>
                <a:endParaRPr lang="en-US" altLang="zh-CN" sz="2400" dirty="0">
                  <a:solidFill>
                    <a:srgbClr val="FF0000"/>
                  </a:solidFill>
                  <a:latin typeface="Cambria Math" panose="02040503050406030204" pitchFamily="18" charset="0"/>
                  <a:ea typeface="Cambria Math" panose="020405030504060302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542375" y="4589474"/>
                <a:ext cx="10637520" cy="1200329"/>
              </a:xfrm>
              <a:prstGeom prst="rect">
                <a:avLst/>
              </a:prstGeom>
              <a:blipFill>
                <a:blip r:embed="rId4"/>
                <a:stretch>
                  <a:fillRect l="-802" t="-4061" b="-11168"/>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8E4DFB19-70A6-2917-B01F-0A074C8E7382}"/>
              </a:ext>
            </a:extLst>
          </p:cNvPr>
          <p:cNvSpPr/>
          <p:nvPr/>
        </p:nvSpPr>
        <p:spPr>
          <a:xfrm>
            <a:off x="542375" y="2849784"/>
            <a:ext cx="11348186"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The Hamiltonian for HF is (</a:t>
            </a:r>
            <a:r>
              <a:rPr lang="zh-CN" altLang="en-US" sz="2400" dirty="0">
                <a:latin typeface="Times New Roman" panose="02020603050405020304" pitchFamily="18" charset="0"/>
                <a:cs typeface="Times New Roman" panose="02020603050405020304" pitchFamily="18" charset="0"/>
              </a:rPr>
              <a:t>板书</a:t>
            </a:r>
            <a:r>
              <a:rPr lang="en-US" altLang="zh-CN"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04588" y="174245"/>
            <a:ext cx="676961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6.1 The Born-Oppenheimer approximation</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294478" y="1490001"/>
            <a:ext cx="11345427" cy="1363065"/>
          </a:xfrm>
          <a:prstGeom prst="rect">
            <a:avLst/>
          </a:prstGeom>
        </p:spPr>
        <p:txBody>
          <a:bodyPr wrap="square">
            <a:spAutoFit/>
          </a:bodyPr>
          <a:lstStyle/>
          <a:p>
            <a:pPr>
              <a:lnSpc>
                <a:spcPct val="120000"/>
              </a:lnSpc>
            </a:pPr>
            <a:r>
              <a:rPr lang="zh-CN" altLang="en-US" sz="2400" dirty="0">
                <a:latin typeface="黑体" panose="02010609060101010101" pitchFamily="49" charset="-122"/>
                <a:ea typeface="黑体" panose="02010609060101010101" pitchFamily="49" charset="-122"/>
              </a:rPr>
              <a:t>假定电子的运动可以与原子核的运动分开描述。其理论依据即为玻恩</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奥本海默近似。除非需要极高的精确度，否则在我们关注电子行为时，可以完全忽略原子核的运动。</a:t>
            </a:r>
            <a:r>
              <a:rPr lang="zh-CN" altLang="en-US" sz="2400" dirty="0">
                <a:latin typeface="黑体" panose="02010609060101010101" pitchFamily="49" charset="-122"/>
                <a:ea typeface="黑体" panose="02010609060101010101" pitchFamily="49" charset="-122"/>
                <a:cs typeface="Times New Roman" panose="02020603050405020304" pitchFamily="18" charset="0"/>
              </a:rPr>
              <a:t>因此，在计算电子波函数时，原子核视为固定不动</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4" name="矩形 3"/>
          <p:cNvSpPr/>
          <p:nvPr/>
        </p:nvSpPr>
        <p:spPr>
          <a:xfrm>
            <a:off x="294478" y="3190665"/>
            <a:ext cx="8021251" cy="476669"/>
          </a:xfrm>
          <a:prstGeom prst="rect">
            <a:avLst/>
          </a:prstGeom>
        </p:spPr>
        <p:txBody>
          <a:bodyPr wrap="square">
            <a:spAutoFit/>
          </a:bodyPr>
          <a:lstStyle/>
          <a:p>
            <a:pPr>
              <a:lnSpc>
                <a:spcPct val="120000"/>
              </a:lnSpc>
            </a:pPr>
            <a:r>
              <a:rPr lang="zh-CN" altLang="en-US" sz="2400" dirty="0">
                <a:latin typeface="黑体" panose="02010609060101010101" pitchFamily="49" charset="-122"/>
                <a:ea typeface="黑体" panose="02010609060101010101" pitchFamily="49" charset="-122"/>
                <a:cs typeface="Times New Roman" panose="02020603050405020304" pitchFamily="18" charset="0"/>
              </a:rPr>
              <a:t>该近似下</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lang="zh-CN" altLang="en-US" sz="2400" dirty="0">
                <a:latin typeface="黑体" panose="02010609060101010101" pitchFamily="49" charset="-122"/>
                <a:ea typeface="黑体" panose="02010609060101010101" pitchFamily="49" charset="-122"/>
                <a:cs typeface="Times New Roman" panose="02020603050405020304" pitchFamily="18" charset="0"/>
              </a:rPr>
              <a:t>哈密顿算符表达为：</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661641092"/>
              </p:ext>
            </p:extLst>
          </p:nvPr>
        </p:nvGraphicFramePr>
        <p:xfrm>
          <a:off x="4470445" y="4392710"/>
          <a:ext cx="2437920" cy="532800"/>
        </p:xfrm>
        <a:graphic>
          <a:graphicData uri="http://schemas.openxmlformats.org/presentationml/2006/ole">
            <mc:AlternateContent xmlns:mc="http://schemas.openxmlformats.org/markup-compatibility/2006">
              <mc:Choice xmlns:v="urn:schemas-microsoft-com:vml" Requires="v">
                <p:oleObj name="Equation" r:id="rId2" imgW="1218960" imgH="266400" progId="Equation.DSMT4">
                  <p:embed/>
                </p:oleObj>
              </mc:Choice>
              <mc:Fallback>
                <p:oleObj name="Equation" r:id="rId2" imgW="1218960" imgH="266400" progId="Equation.DSMT4">
                  <p:embed/>
                  <p:pic>
                    <p:nvPicPr>
                      <p:cNvPr id="6" name="对象 5"/>
                      <p:cNvPicPr/>
                      <p:nvPr/>
                    </p:nvPicPr>
                    <p:blipFill>
                      <a:blip r:embed="rId3"/>
                      <a:stretch>
                        <a:fillRect/>
                      </a:stretch>
                    </p:blipFill>
                    <p:spPr>
                      <a:xfrm>
                        <a:off x="4470445" y="4392710"/>
                        <a:ext cx="2437920" cy="532800"/>
                      </a:xfrm>
                      <a:prstGeom prst="rect">
                        <a:avLst/>
                      </a:prstGeom>
                    </p:spPr>
                  </p:pic>
                </p:oleObj>
              </mc:Fallback>
            </mc:AlternateContent>
          </a:graphicData>
        </a:graphic>
      </p:graphicFrame>
      <p:sp>
        <p:nvSpPr>
          <p:cNvPr id="7" name="箭头: 上 6">
            <a:extLst>
              <a:ext uri="{FF2B5EF4-FFF2-40B4-BE49-F238E27FC236}">
                <a16:creationId xmlns:a16="http://schemas.microsoft.com/office/drawing/2014/main" id="{D3C913EC-1EC1-3D8C-ABA3-4D9F8470A4E1}"/>
              </a:ext>
            </a:extLst>
          </p:cNvPr>
          <p:cNvSpPr/>
          <p:nvPr/>
        </p:nvSpPr>
        <p:spPr>
          <a:xfrm>
            <a:off x="6256910" y="5038344"/>
            <a:ext cx="83549" cy="2948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EFA0A52-B6FB-0EE8-5F0D-2D7B64B52076}"/>
              </a:ext>
            </a:extLst>
          </p:cNvPr>
          <p:cNvSpPr txBox="1"/>
          <p:nvPr/>
        </p:nvSpPr>
        <p:spPr>
          <a:xfrm>
            <a:off x="5792747" y="5462727"/>
            <a:ext cx="3262432" cy="400110"/>
          </a:xfrm>
          <a:prstGeom prst="rect">
            <a:avLst/>
          </a:prstGeom>
          <a:noFill/>
        </p:spPr>
        <p:txBody>
          <a:bodyPr wrap="none" rtlCol="0">
            <a:spAutoFit/>
          </a:bodyPr>
          <a:lstStyle/>
          <a:p>
            <a:r>
              <a:rPr lang="zh-CN" altLang="en-US" sz="2000" dirty="0">
                <a:latin typeface="黑体" panose="02010609060101010101" pitchFamily="49" charset="-122"/>
                <a:ea typeface="黑体" panose="02010609060101010101" pitchFamily="49" charset="-122"/>
              </a:rPr>
              <a:t>这一项如何表达？（板书）</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矩形 10"/>
              <p:cNvSpPr/>
              <p:nvPr/>
            </p:nvSpPr>
            <p:spPr>
              <a:xfrm>
                <a:off x="491415" y="2562008"/>
                <a:ext cx="10493863" cy="1395126"/>
              </a:xfrm>
              <a:prstGeom prst="rect">
                <a:avLst/>
              </a:prstGeom>
            </p:spPr>
            <p:txBody>
              <a:bodyPr wrap="square">
                <a:spAutoFit/>
              </a:bodyPr>
              <a:lstStyle/>
              <a:p>
                <a:pPr>
                  <a:lnSpc>
                    <a:spcPct val="120000"/>
                  </a:lnSpc>
                  <a:spcAft>
                    <a:spcPts val="405"/>
                  </a:spcAft>
                </a:pPr>
                <a:r>
                  <a:rPr lang="en-US" altLang="zh-CN" sz="2400" dirty="0">
                    <a:latin typeface="Times New Roman" panose="02020603050405020304" pitchFamily="18" charset="0"/>
                    <a:cs typeface="Times New Roman" panose="02020603050405020304" pitchFamily="18" charset="0"/>
                  </a:rPr>
                  <a:t>This equation includes the electronic kinetic energy </a:t>
                </a:r>
                <a14:m>
                  <m:oMath xmlns:m="http://schemas.openxmlformats.org/officeDocument/2006/math">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𝑇</m:t>
                        </m:r>
                      </m:e>
                    </m:acc>
                    <m:r>
                      <a:rPr lang="en-US" altLang="zh-CN" sz="2400" i="1" baseline="-25000" dirty="0" err="1">
                        <a:solidFill>
                          <a:srgbClr val="2926BF"/>
                        </a:solidFill>
                        <a:latin typeface="Cambria Math" panose="02040503050406030204" pitchFamily="18" charset="0"/>
                      </a:rPr>
                      <m:t>𝑒</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the total potential energy </a:t>
                </a:r>
                <a14:m>
                  <m:oMath xmlns:m="http://schemas.openxmlformats.org/officeDocument/2006/math">
                    <m:r>
                      <a:rPr lang="en-US" altLang="zh-CN" sz="2400" i="1" dirty="0">
                        <a:solidFill>
                          <a:srgbClr val="2926BF"/>
                        </a:solidFill>
                        <a:latin typeface="Cambria Math" panose="02040503050406030204" pitchFamily="18" charset="0"/>
                      </a:rPr>
                      <m:t>𝑉</m:t>
                    </m:r>
                    <m:r>
                      <a:rPr lang="en-US" altLang="zh-CN" sz="2400" i="1" dirty="0">
                        <a:solidFill>
                          <a:srgbClr val="2926BF"/>
                        </a:solidFill>
                        <a:latin typeface="Cambria Math" panose="02040503050406030204" pitchFamily="18" charset="0"/>
                      </a:rPr>
                      <m:t>(</m:t>
                    </m:r>
                    <m:r>
                      <a:rPr lang="en-US" altLang="zh-CN" sz="2400" b="1" i="1" dirty="0" err="1">
                        <a:solidFill>
                          <a:srgbClr val="2926BF"/>
                        </a:solidFill>
                        <a:latin typeface="Cambria Math" panose="02040503050406030204" pitchFamily="18" charset="0"/>
                      </a:rPr>
                      <m:t>𝑸</m:t>
                    </m:r>
                    <m:r>
                      <a:rPr lang="en-US" altLang="zh-CN" sz="2400" i="1" dirty="0" err="1">
                        <a:solidFill>
                          <a:srgbClr val="2926BF"/>
                        </a:solidFill>
                        <a:latin typeface="Cambria Math" panose="02040503050406030204" pitchFamily="18" charset="0"/>
                      </a:rPr>
                      <m:t>,</m:t>
                    </m:r>
                    <m:r>
                      <a:rPr lang="en-US" altLang="zh-CN" sz="2400" b="1" i="1" dirty="0" err="1">
                        <a:solidFill>
                          <a:srgbClr val="2926BF"/>
                        </a:solidFill>
                        <a:latin typeface="Cambria Math" panose="02040503050406030204" pitchFamily="18" charset="0"/>
                      </a:rPr>
                      <m:t>𝒒</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which depends on the positions of the electrons </a:t>
                </a:r>
                <a14:m>
                  <m:oMath xmlns:m="http://schemas.openxmlformats.org/officeDocument/2006/math">
                    <m:r>
                      <a:rPr lang="en-US" altLang="zh-CN" sz="2400" b="1" i="1" dirty="0">
                        <a:solidFill>
                          <a:srgbClr val="2926BF"/>
                        </a:solidFill>
                        <a:latin typeface="Cambria Math" panose="02040503050406030204" pitchFamily="18" charset="0"/>
                      </a:rPr>
                      <m:t>𝒒</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with the nuclei clamped at position </a:t>
                </a:r>
                <a14:m>
                  <m:oMath xmlns:m="http://schemas.openxmlformats.org/officeDocument/2006/math">
                    <m:r>
                      <a:rPr lang="en-US" altLang="zh-CN" sz="2400" b="1" i="1" dirty="0">
                        <a:solidFill>
                          <a:srgbClr val="2926BF"/>
                        </a:solidFill>
                        <a:latin typeface="Cambria Math" panose="02040503050406030204" pitchFamily="18" charset="0"/>
                      </a:rPr>
                      <m:t>𝑸</m:t>
                    </m:r>
                  </m:oMath>
                </a14:m>
                <a:r>
                  <a:rPr lang="en-US" altLang="zh-CN" sz="2400" i="1" dirty="0">
                    <a:solidFill>
                      <a:srgbClr val="2926BF"/>
                    </a:solidFill>
                    <a:latin typeface="Times New Roman" panose="02020603050405020304" pitchFamily="18" charset="0"/>
                    <a:cs typeface="Times New Roman" panose="02020603050405020304" pitchFamily="18" charset="0"/>
                  </a:rPr>
                  <a:t>.</a:t>
                </a:r>
              </a:p>
            </p:txBody>
          </p:sp>
        </mc:Choice>
        <mc:Fallback xmlns="">
          <p:sp>
            <p:nvSpPr>
              <p:cNvPr id="11" name="矩形 10"/>
              <p:cNvSpPr>
                <a:spLocks noRot="1" noChangeAspect="1" noMove="1" noResize="1" noEditPoints="1" noAdjustHandles="1" noChangeArrowheads="1" noChangeShapeType="1" noTextEdit="1"/>
              </p:cNvSpPr>
              <p:nvPr/>
            </p:nvSpPr>
            <p:spPr>
              <a:xfrm>
                <a:off x="491415" y="2562008"/>
                <a:ext cx="10493863" cy="1395126"/>
              </a:xfrm>
              <a:prstGeom prst="rect">
                <a:avLst/>
              </a:prstGeom>
              <a:blipFill>
                <a:blip r:embed="rId2"/>
                <a:stretch>
                  <a:fillRect l="-930" t="-437" r="-1278" b="-9170"/>
                </a:stretch>
              </a:blipFill>
            </p:spPr>
            <p:txBody>
              <a:bodyPr/>
              <a:lstStyle/>
              <a:p>
                <a:r>
                  <a:rPr lang="zh-CN" altLang="en-US">
                    <a:noFill/>
                  </a:rPr>
                  <a:t> </a:t>
                </a:r>
              </a:p>
            </p:txBody>
          </p:sp>
        </mc:Fallback>
      </mc:AlternateContent>
      <p:sp>
        <p:nvSpPr>
          <p:cNvPr id="2" name="矩形 1"/>
          <p:cNvSpPr/>
          <p:nvPr/>
        </p:nvSpPr>
        <p:spPr>
          <a:xfrm>
            <a:off x="491415" y="541482"/>
            <a:ext cx="4772076" cy="496867"/>
          </a:xfrm>
          <a:prstGeom prst="rect">
            <a:avLst/>
          </a:prstGeom>
        </p:spPr>
        <p:txBody>
          <a:bodyPr wrap="non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The </a:t>
            </a:r>
            <a:r>
              <a:rPr lang="en-US" altLang="zh-CN" sz="2400" i="1" dirty="0">
                <a:solidFill>
                  <a:srgbClr val="B02B08"/>
                </a:solidFill>
                <a:latin typeface="Times New Roman" panose="02020603050405020304" pitchFamily="18" charset="0"/>
                <a:cs typeface="Times New Roman" panose="02020603050405020304" pitchFamily="18" charset="0"/>
              </a:rPr>
              <a:t>electronic Schrodinger equation,</a:t>
            </a:r>
          </a:p>
        </p:txBody>
      </p:sp>
      <p:sp>
        <p:nvSpPr>
          <p:cNvPr id="3" name="矩形 2"/>
          <p:cNvSpPr/>
          <p:nvPr/>
        </p:nvSpPr>
        <p:spPr>
          <a:xfrm>
            <a:off x="491415" y="1804039"/>
            <a:ext cx="7997702" cy="496867"/>
          </a:xfrm>
          <a:prstGeom prst="rect">
            <a:avLst/>
          </a:prstGeom>
        </p:spPr>
        <p:txBody>
          <a:bodyPr wrap="non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which is the first half of the Born-Oppenheimer approximation.</a:t>
            </a:r>
          </a:p>
        </p:txBody>
      </p:sp>
      <p:graphicFrame>
        <p:nvGraphicFramePr>
          <p:cNvPr id="5" name="对象 4"/>
          <p:cNvGraphicFramePr>
            <a:graphicFrameLocks noChangeAspect="1"/>
          </p:cNvGraphicFramePr>
          <p:nvPr>
            <p:extLst>
              <p:ext uri="{D42A27DB-BD31-4B8C-83A1-F6EECF244321}">
                <p14:modId xmlns:p14="http://schemas.microsoft.com/office/powerpoint/2010/main" val="1104760061"/>
              </p:ext>
            </p:extLst>
          </p:nvPr>
        </p:nvGraphicFramePr>
        <p:xfrm>
          <a:off x="3564215" y="1204615"/>
          <a:ext cx="4546080" cy="532800"/>
        </p:xfrm>
        <a:graphic>
          <a:graphicData uri="http://schemas.openxmlformats.org/presentationml/2006/ole">
            <mc:AlternateContent xmlns:mc="http://schemas.openxmlformats.org/markup-compatibility/2006">
              <mc:Choice xmlns:v="urn:schemas-microsoft-com:vml" Requires="v">
                <p:oleObj name="Equation" r:id="rId3" imgW="54559200" imgH="6400800" progId="Equation.DSMT4">
                  <p:embed/>
                </p:oleObj>
              </mc:Choice>
              <mc:Fallback>
                <p:oleObj name="Equation" r:id="rId3" imgW="54559200" imgH="6400800" progId="Equation.DSMT4">
                  <p:embed/>
                  <p:pic>
                    <p:nvPicPr>
                      <p:cNvPr id="10" name="对象 9"/>
                      <p:cNvPicPr/>
                      <p:nvPr/>
                    </p:nvPicPr>
                    <p:blipFill>
                      <a:blip r:embed="rId4"/>
                      <a:stretch>
                        <a:fillRect/>
                      </a:stretch>
                    </p:blipFill>
                    <p:spPr>
                      <a:xfrm>
                        <a:off x="3564215" y="1204615"/>
                        <a:ext cx="4546080" cy="532800"/>
                      </a:xfrm>
                      <a:prstGeom prst="rect">
                        <a:avLst/>
                      </a:prstGeom>
                    </p:spPr>
                  </p:pic>
                </p:oleObj>
              </mc:Fallback>
            </mc:AlternateContent>
          </a:graphicData>
        </a:graphic>
      </p:graphicFrame>
      <p:sp>
        <p:nvSpPr>
          <p:cNvPr id="8" name="矩形 7"/>
          <p:cNvSpPr/>
          <p:nvPr/>
        </p:nvSpPr>
        <p:spPr>
          <a:xfrm>
            <a:off x="9052582" y="1204615"/>
            <a:ext cx="543739" cy="461665"/>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(2)</a:t>
            </a:r>
            <a:endParaRPr lang="zh-CN" altLang="en-US" sz="2400" dirty="0"/>
          </a:p>
        </p:txBody>
      </p:sp>
      <p:sp>
        <p:nvSpPr>
          <p:cNvPr id="14" name="文本框 13">
            <a:extLst>
              <a:ext uri="{FF2B5EF4-FFF2-40B4-BE49-F238E27FC236}">
                <a16:creationId xmlns:a16="http://schemas.microsoft.com/office/drawing/2014/main" id="{ABAC58E1-7F1F-6BF9-1DDA-1C68B24651D8}"/>
              </a:ext>
            </a:extLst>
          </p:cNvPr>
          <p:cNvSpPr txBox="1"/>
          <p:nvPr/>
        </p:nvSpPr>
        <p:spPr>
          <a:xfrm>
            <a:off x="491415" y="4307325"/>
            <a:ext cx="10260642" cy="830997"/>
          </a:xfrm>
          <a:prstGeom prst="rect">
            <a:avLst/>
          </a:prstGeom>
          <a:noFill/>
        </p:spPr>
        <p:txBody>
          <a:bodyPr wrap="square">
            <a:spAutoFit/>
          </a:bodyPr>
          <a:lstStyle/>
          <a:p>
            <a:r>
              <a:rPr lang="zh-CN" altLang="en-US" sz="2400" b="0" i="0" dirty="0">
                <a:solidFill>
                  <a:srgbClr val="0F1115"/>
                </a:solidFill>
                <a:effectLst/>
                <a:latin typeface="黑体" panose="02010609060101010101" pitchFamily="49" charset="-122"/>
                <a:ea typeface="黑体" panose="02010609060101010101" pitchFamily="49" charset="-122"/>
              </a:rPr>
              <a:t>如果我们只关注某一特定核构型（例如平衡构型）下的电子能级和轨道，那么我们只需将</a:t>
            </a:r>
            <a:r>
              <a:rPr lang="zh-CN" altLang="en-US" sz="2400" b="1" i="0" dirty="0">
                <a:solidFill>
                  <a:srgbClr val="0F1115"/>
                </a:solidFill>
                <a:effectLst/>
                <a:latin typeface="黑体" panose="02010609060101010101" pitchFamily="49" charset="-122"/>
                <a:ea typeface="黑体" panose="02010609060101010101" pitchFamily="49" charset="-122"/>
              </a:rPr>
              <a:t>𝑸</a:t>
            </a:r>
            <a:r>
              <a:rPr lang="zh-CN" altLang="en-US" sz="2400" b="0" i="0" dirty="0">
                <a:solidFill>
                  <a:srgbClr val="0F1115"/>
                </a:solidFill>
                <a:effectLst/>
                <a:latin typeface="黑体" panose="02010609060101010101" pitchFamily="49" charset="-122"/>
                <a:ea typeface="黑体" panose="02010609060101010101" pitchFamily="49" charset="-122"/>
              </a:rPr>
              <a:t>设定为该构型下的原子核位置，并求解一次方程</a:t>
            </a:r>
            <a:r>
              <a:rPr lang="en-US" altLang="zh-CN" sz="2400" b="0" i="0" dirty="0">
                <a:solidFill>
                  <a:srgbClr val="0F1115"/>
                </a:solidFill>
                <a:effectLst/>
                <a:latin typeface="黑体" panose="02010609060101010101" pitchFamily="49" charset="-122"/>
                <a:ea typeface="黑体" panose="02010609060101010101" pitchFamily="49" charset="-122"/>
              </a:rPr>
              <a:t>(1)</a:t>
            </a:r>
            <a:r>
              <a:rPr lang="zh-CN" altLang="en-US" sz="2400" b="0" i="0" dirty="0">
                <a:solidFill>
                  <a:srgbClr val="0F1115"/>
                </a:solidFill>
                <a:effectLst/>
                <a:latin typeface="黑体" panose="02010609060101010101" pitchFamily="49" charset="-122"/>
                <a:ea typeface="黑体" panose="02010609060101010101" pitchFamily="49" charset="-122"/>
              </a:rPr>
              <a:t>即可</a:t>
            </a:r>
            <a:r>
              <a:rPr lang="zh-CN" altLang="en-US" b="0" i="0" dirty="0">
                <a:solidFill>
                  <a:srgbClr val="0F1115"/>
                </a:solidFill>
                <a:effectLst/>
                <a:latin typeface="quote-cjk-patch"/>
              </a:rPr>
              <a:t>。</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453267" y="2953036"/>
                <a:ext cx="11285465" cy="951927"/>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where </a:t>
                </a:r>
                <a14:m>
                  <m:oMath xmlns:m="http://schemas.openxmlformats.org/officeDocument/2006/math">
                    <m:acc>
                      <m:accPr>
                        <m:chr m:val="̂"/>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𝑇</m:t>
                        </m:r>
                      </m:e>
                    </m:acc>
                    <m:r>
                      <a:rPr lang="en-US" altLang="zh-CN" sz="2400" i="1" baseline="-25000" dirty="0">
                        <a:solidFill>
                          <a:srgbClr val="2926BF"/>
                        </a:solidFill>
                        <a:latin typeface="Cambria Math" panose="02040503050406030204" pitchFamily="18" charset="0"/>
                      </a:rPr>
                      <m:t>𝑁</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nuclear kinetic energy operator. The nuclear wave function </a:t>
                </a:r>
                <a14:m>
                  <m:oMath xmlns:m="http://schemas.openxmlformats.org/officeDocument/2006/math">
                    <m:r>
                      <a:rPr lang="zh-CN" altLang="en-US" sz="2400" i="1" dirty="0">
                        <a:solidFill>
                          <a:srgbClr val="2926BF"/>
                        </a:solidFill>
                        <a:latin typeface="Cambria Math" panose="02040503050406030204" pitchFamily="18" charset="0"/>
                      </a:rPr>
                      <m:t>𝜓</m:t>
                    </m:r>
                    <m:r>
                      <m:rPr>
                        <m:nor/>
                      </m:rPr>
                      <a:rPr lang="en-US" altLang="zh-CN" sz="2400" baseline="-25000" dirty="0">
                        <a:solidFill>
                          <a:srgbClr val="2926BF"/>
                        </a:solidFill>
                        <a:latin typeface="Times New Roman" panose="02020603050405020304" pitchFamily="18" charset="0"/>
                        <a:cs typeface="Times New Roman" panose="02020603050405020304" pitchFamily="18" charset="0"/>
                      </a:rPr>
                      <m:t>nuc</m:t>
                    </m:r>
                    <m:r>
                      <a:rPr lang="en-US" altLang="zh-CN" sz="2400" i="1" dirty="0">
                        <a:solidFill>
                          <a:srgbClr val="2926BF"/>
                        </a:solidFill>
                        <a:latin typeface="Cambria Math" panose="02040503050406030204" pitchFamily="18" charset="0"/>
                      </a:rPr>
                      <m:t>(</m:t>
                    </m:r>
                    <m:r>
                      <a:rPr lang="en-US" altLang="zh-CN" sz="2400" b="1" i="1" dirty="0">
                        <a:solidFill>
                          <a:srgbClr val="2926BF"/>
                        </a:solidFill>
                        <a:latin typeface="Cambria Math" panose="02040503050406030204" pitchFamily="18" charset="0"/>
                      </a:rPr>
                      <m:t>𝑸</m:t>
                    </m:r>
                    <m:r>
                      <a:rPr lang="en-US" altLang="zh-CN" sz="2400" i="1" dirty="0">
                        <a:solidFill>
                          <a:srgbClr val="2926BF"/>
                        </a:solidFill>
                        <a:latin typeface="Cambria Math" panose="02040503050406030204" pitchFamily="18" charset="0"/>
                      </a:rPr>
                      <m:t>)</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calculated by solving the </a:t>
                </a:r>
                <a:r>
                  <a:rPr lang="en-US" altLang="zh-CN" sz="2400" i="1" dirty="0">
                    <a:solidFill>
                      <a:srgbClr val="B02B08"/>
                    </a:solidFill>
                    <a:latin typeface="Times New Roman" panose="02020603050405020304" pitchFamily="18" charset="0"/>
                    <a:cs typeface="Times New Roman" panose="02020603050405020304" pitchFamily="18" charset="0"/>
                  </a:rPr>
                  <a:t>nuclear dynamics Schrodinger equation,</a:t>
                </a:r>
              </a:p>
            </p:txBody>
          </p:sp>
        </mc:Choice>
        <mc:Fallback xmlns="">
          <p:sp>
            <p:nvSpPr>
              <p:cNvPr id="2" name="矩形 1"/>
              <p:cNvSpPr>
                <a:spLocks noRot="1" noChangeAspect="1" noMove="1" noResize="1" noEditPoints="1" noAdjustHandles="1" noChangeArrowheads="1" noChangeShapeType="1" noTextEdit="1"/>
              </p:cNvSpPr>
              <p:nvPr/>
            </p:nvSpPr>
            <p:spPr>
              <a:xfrm>
                <a:off x="453267" y="2953036"/>
                <a:ext cx="11285465" cy="951927"/>
              </a:xfrm>
              <a:prstGeom prst="rect">
                <a:avLst/>
              </a:prstGeom>
              <a:blipFill>
                <a:blip r:embed="rId2"/>
                <a:stretch>
                  <a:fillRect l="-810" t="-637" b="-13376"/>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3057975178"/>
              </p:ext>
            </p:extLst>
          </p:nvPr>
        </p:nvGraphicFramePr>
        <p:xfrm>
          <a:off x="4540263" y="2091646"/>
          <a:ext cx="2489200" cy="533400"/>
        </p:xfrm>
        <a:graphic>
          <a:graphicData uri="http://schemas.openxmlformats.org/presentationml/2006/ole">
            <mc:AlternateContent xmlns:mc="http://schemas.openxmlformats.org/markup-compatibility/2006">
              <mc:Choice xmlns:v="urn:schemas-microsoft-com:vml" Requires="v">
                <p:oleObj name="Equation" r:id="rId3" imgW="1244520" imgH="266400" progId="Equation.DSMT4">
                  <p:embed/>
                </p:oleObj>
              </mc:Choice>
              <mc:Fallback>
                <p:oleObj name="Equation" r:id="rId3" imgW="1244520" imgH="266400" progId="Equation.DSMT4">
                  <p:embed/>
                  <p:pic>
                    <p:nvPicPr>
                      <p:cNvPr id="0" name="对象 2"/>
                      <p:cNvPicPr/>
                      <p:nvPr/>
                    </p:nvPicPr>
                    <p:blipFill>
                      <a:blip r:embed="rId4"/>
                      <a:stretch>
                        <a:fillRect/>
                      </a:stretch>
                    </p:blipFill>
                    <p:spPr>
                      <a:xfrm>
                        <a:off x="4540263" y="2091646"/>
                        <a:ext cx="2489200" cy="5334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270828506"/>
              </p:ext>
            </p:extLst>
          </p:nvPr>
        </p:nvGraphicFramePr>
        <p:xfrm>
          <a:off x="4137812" y="4232953"/>
          <a:ext cx="3098160" cy="532800"/>
        </p:xfrm>
        <a:graphic>
          <a:graphicData uri="http://schemas.openxmlformats.org/presentationml/2006/ole">
            <mc:AlternateContent xmlns:mc="http://schemas.openxmlformats.org/markup-compatibility/2006">
              <mc:Choice xmlns:v="urn:schemas-microsoft-com:vml" Requires="v">
                <p:oleObj name="Equation" r:id="rId5" imgW="1549080" imgH="266400" progId="Equation.DSMT4">
                  <p:embed/>
                </p:oleObj>
              </mc:Choice>
              <mc:Fallback>
                <p:oleObj name="Equation" r:id="rId5" imgW="1549080" imgH="266400" progId="Equation.DSMT4">
                  <p:embed/>
                  <p:pic>
                    <p:nvPicPr>
                      <p:cNvPr id="0" name="对象 3"/>
                      <p:cNvPicPr/>
                      <p:nvPr/>
                    </p:nvPicPr>
                    <p:blipFill>
                      <a:blip r:embed="rId6"/>
                      <a:stretch>
                        <a:fillRect/>
                      </a:stretch>
                    </p:blipFill>
                    <p:spPr>
                      <a:xfrm>
                        <a:off x="4137812" y="4232953"/>
                        <a:ext cx="3098160" cy="532800"/>
                      </a:xfrm>
                      <a:prstGeom prst="rect">
                        <a:avLst/>
                      </a:prstGeom>
                    </p:spPr>
                  </p:pic>
                </p:oleObj>
              </mc:Fallback>
            </mc:AlternateContent>
          </a:graphicData>
        </a:graphic>
      </p:graphicFrame>
      <p:sp>
        <p:nvSpPr>
          <p:cNvPr id="7" name="矩形 6"/>
          <p:cNvSpPr/>
          <p:nvPr/>
        </p:nvSpPr>
        <p:spPr>
          <a:xfrm>
            <a:off x="453267" y="5112502"/>
            <a:ext cx="3522183" cy="496867"/>
          </a:xfrm>
          <a:prstGeom prst="rect">
            <a:avLst/>
          </a:prstGeom>
        </p:spPr>
        <p:txBody>
          <a:bodyPr wrap="non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where </a:t>
            </a:r>
            <a:r>
              <a:rPr lang="en-US" altLang="zh-CN" sz="2400" i="1" dirty="0">
                <a:solidFill>
                  <a:srgbClr val="2926BF"/>
                </a:solidFill>
                <a:latin typeface="Times New Roman" panose="02020603050405020304" pitchFamily="18" charset="0"/>
                <a:cs typeface="Times New Roman" panose="02020603050405020304" pitchFamily="18" charset="0"/>
              </a:rPr>
              <a:t>E</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total energy.</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FA4243F-5028-1342-F0AC-ADDBA96D8B76}"/>
                  </a:ext>
                </a:extLst>
              </p:cNvPr>
              <p:cNvSpPr txBox="1"/>
              <p:nvPr/>
            </p:nvSpPr>
            <p:spPr>
              <a:xfrm>
                <a:off x="500743" y="914500"/>
                <a:ext cx="10428514" cy="830997"/>
              </a:xfrm>
              <a:prstGeom prst="rect">
                <a:avLst/>
              </a:prstGeom>
              <a:noFill/>
            </p:spPr>
            <p:txBody>
              <a:bodyPr wrap="square">
                <a:spAutoFit/>
              </a:bodyPr>
              <a:lstStyle/>
              <a:p>
                <a:r>
                  <a:rPr lang="zh-CN" altLang="en-US" sz="2400" b="0" i="0" dirty="0">
                    <a:solidFill>
                      <a:srgbClr val="0F1115"/>
                    </a:solidFill>
                    <a:effectLst/>
                    <a:latin typeface="黑体" panose="02010609060101010101" pitchFamily="49" charset="-122"/>
                    <a:ea typeface="黑体" panose="02010609060101010101" pitchFamily="49" charset="-122"/>
                  </a:rPr>
                  <a:t>如果我们希望进一步研究原子核的运动，就需要在一系列不同的核位置</a:t>
                </a:r>
                <a:r>
                  <a:rPr lang="zh-CN" altLang="en-US" sz="2400" b="1" i="0" dirty="0">
                    <a:solidFill>
                      <a:srgbClr val="0F1115"/>
                    </a:solidFill>
                    <a:effectLst/>
                    <a:latin typeface="黑体" panose="02010609060101010101" pitchFamily="49" charset="-122"/>
                    <a:ea typeface="黑体" panose="02010609060101010101" pitchFamily="49" charset="-122"/>
                  </a:rPr>
                  <a:t>𝑸</a:t>
                </a:r>
                <a:r>
                  <a:rPr lang="zh-CN" altLang="en-US" sz="2400" b="0" i="0" dirty="0">
                    <a:solidFill>
                      <a:srgbClr val="0F1115"/>
                    </a:solidFill>
                    <a:effectLst/>
                    <a:latin typeface="黑体" panose="02010609060101010101" pitchFamily="49" charset="-122"/>
                    <a:ea typeface="黑体" panose="02010609060101010101" pitchFamily="49" charset="-122"/>
                  </a:rPr>
                  <a:t>上求解该方程，以便得到电子能量</a:t>
                </a:r>
                <a14:m>
                  <m:oMath xmlns:m="http://schemas.openxmlformats.org/officeDocument/2006/math">
                    <m:r>
                      <a:rPr lang="en-US" altLang="zh-CN" sz="2400" i="1" dirty="0">
                        <a:solidFill>
                          <a:srgbClr val="2926BF"/>
                        </a:solidFill>
                        <a:latin typeface="Cambria Math" panose="02040503050406030204" pitchFamily="18" charset="0"/>
                      </a:rPr>
                      <m:t>𝐸</m:t>
                    </m:r>
                    <m:r>
                      <m:rPr>
                        <m:nor/>
                      </m:rPr>
                      <a:rPr lang="en-US" altLang="zh-CN" sz="2400" baseline="-25000" dirty="0" err="1">
                        <a:solidFill>
                          <a:srgbClr val="2926BF"/>
                        </a:solidFill>
                        <a:latin typeface="Times New Roman" panose="02020603050405020304" pitchFamily="18" charset="0"/>
                        <a:cs typeface="Times New Roman" panose="02020603050405020304" pitchFamily="18" charset="0"/>
                      </a:rPr>
                      <m:t>e</m:t>
                    </m:r>
                    <m:r>
                      <m:rPr>
                        <m:nor/>
                      </m:rPr>
                      <a:rPr lang="en-US" altLang="zh-CN" sz="2400" baseline="-25000" dirty="0">
                        <a:solidFill>
                          <a:srgbClr val="2926BF"/>
                        </a:solidFill>
                        <a:latin typeface="Times New Roman" panose="02020603050405020304" pitchFamily="18" charset="0"/>
                        <a:cs typeface="Times New Roman" panose="02020603050405020304" pitchFamily="18" charset="0"/>
                      </a:rPr>
                      <m:t>l</m:t>
                    </m:r>
                    <m:r>
                      <m:rPr>
                        <m:nor/>
                      </m:rPr>
                      <a:rPr lang="en-US" altLang="zh-CN" sz="2400" baseline="-25000" dirty="0" err="1">
                        <a:solidFill>
                          <a:srgbClr val="2926BF"/>
                        </a:solidFill>
                        <a:latin typeface="Times New Roman" panose="02020603050405020304" pitchFamily="18" charset="0"/>
                        <a:cs typeface="Times New Roman" panose="02020603050405020304" pitchFamily="18" charset="0"/>
                      </a:rPr>
                      <m:t>ec</m:t>
                    </m:r>
                    <m:r>
                      <a:rPr lang="en-US" altLang="zh-CN" sz="2400" i="1" dirty="0">
                        <a:solidFill>
                          <a:srgbClr val="2926BF"/>
                        </a:solidFill>
                        <a:latin typeface="Cambria Math" panose="02040503050406030204" pitchFamily="18" charset="0"/>
                      </a:rPr>
                      <m:t>(</m:t>
                    </m:r>
                    <m:r>
                      <a:rPr lang="en-US" altLang="zh-CN" sz="2400" b="1" i="1" dirty="0">
                        <a:solidFill>
                          <a:srgbClr val="2926BF"/>
                        </a:solidFill>
                        <a:latin typeface="Cambria Math" panose="02040503050406030204" pitchFamily="18" charset="0"/>
                      </a:rPr>
                      <m:t>𝑸</m:t>
                    </m:r>
                    <m:r>
                      <a:rPr lang="en-US" altLang="zh-CN" sz="2400" i="1" dirty="0">
                        <a:solidFill>
                          <a:srgbClr val="2926BF"/>
                        </a:solidFill>
                        <a:latin typeface="Cambria Math" panose="02040503050406030204" pitchFamily="18" charset="0"/>
                      </a:rPr>
                      <m:t>)</m:t>
                    </m:r>
                  </m:oMath>
                </a14:m>
                <a:r>
                  <a:rPr lang="zh-CN" altLang="en-US" sz="2400" b="0" i="0" dirty="0">
                    <a:solidFill>
                      <a:srgbClr val="0F1115"/>
                    </a:solidFill>
                    <a:effectLst/>
                    <a:latin typeface="黑体" panose="02010609060101010101" pitchFamily="49" charset="-122"/>
                    <a:ea typeface="黑体" panose="02010609060101010101" pitchFamily="49" charset="-122"/>
                  </a:rPr>
                  <a:t>随</a:t>
                </a:r>
                <a:r>
                  <a:rPr lang="zh-CN" altLang="en-US" sz="2400" b="1" i="0" dirty="0">
                    <a:solidFill>
                      <a:srgbClr val="0F1115"/>
                    </a:solidFill>
                    <a:effectLst/>
                    <a:latin typeface="黑体" panose="02010609060101010101" pitchFamily="49" charset="-122"/>
                    <a:ea typeface="黑体" panose="02010609060101010101" pitchFamily="49" charset="-122"/>
                  </a:rPr>
                  <a:t>𝑸</a:t>
                </a:r>
                <a:r>
                  <a:rPr lang="zh-CN" altLang="en-US" sz="2400" b="0" i="0" dirty="0">
                    <a:solidFill>
                      <a:srgbClr val="0F1115"/>
                    </a:solidFill>
                    <a:effectLst/>
                    <a:latin typeface="黑体" panose="02010609060101010101" pitchFamily="49" charset="-122"/>
                    <a:ea typeface="黑体" panose="02010609060101010101" pitchFamily="49" charset="-122"/>
                  </a:rPr>
                  <a:t>变化的函数关系，即势能面</a:t>
                </a:r>
                <a:r>
                  <a:rPr lang="zh-CN" altLang="en-US" sz="2400" dirty="0">
                    <a:solidFill>
                      <a:srgbClr val="0F1115"/>
                    </a:solidFill>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mc:Choice>
        <mc:Fallback xmlns="">
          <p:sp>
            <p:nvSpPr>
              <p:cNvPr id="6" name="文本框 5">
                <a:extLst>
                  <a:ext uri="{FF2B5EF4-FFF2-40B4-BE49-F238E27FC236}">
                    <a16:creationId xmlns:a16="http://schemas.microsoft.com/office/drawing/2014/main" id="{FFA4243F-5028-1342-F0AC-ADDBA96D8B76}"/>
                  </a:ext>
                </a:extLst>
              </p:cNvPr>
              <p:cNvSpPr txBox="1">
                <a:spLocks noRot="1" noChangeAspect="1" noMove="1" noResize="1" noEditPoints="1" noAdjustHandles="1" noChangeArrowheads="1" noChangeShapeType="1" noTextEdit="1"/>
              </p:cNvSpPr>
              <p:nvPr/>
            </p:nvSpPr>
            <p:spPr>
              <a:xfrm>
                <a:off x="500743" y="914500"/>
                <a:ext cx="10428514" cy="830997"/>
              </a:xfrm>
              <a:prstGeom prst="rect">
                <a:avLst/>
              </a:prstGeom>
              <a:blipFill>
                <a:blip r:embed="rId7"/>
                <a:stretch>
                  <a:fillRect l="-877" t="-8088" b="-16176"/>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D707F97-6BB9-E503-B42D-D7C877740822}"/>
                  </a:ext>
                </a:extLst>
              </p:cNvPr>
              <p:cNvSpPr txBox="1"/>
              <p:nvPr/>
            </p:nvSpPr>
            <p:spPr>
              <a:xfrm>
                <a:off x="340178" y="636761"/>
                <a:ext cx="11511644" cy="223824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在实际计算中，有时会采用</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Morse potential</a:t>
                </a: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近似每一条势能曲线；或者，如果只关注平衡点附近的振动，则可采用谐振子势进行近似。</a:t>
                </a:r>
                <a:endPar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描述分子中所有电子与原子核整体运动的</a:t>
                </a:r>
                <a:r>
                  <a:rPr lang="en-US" altLang="zh-CN" sz="2400" i="1" dirty="0">
                    <a:solidFill>
                      <a:srgbClr val="B02B08"/>
                    </a:solidFill>
                    <a:latin typeface="Times New Roman" panose="02020603050405020304" pitchFamily="18" charset="0"/>
                    <a:ea typeface="黑体" panose="02010609060101010101" pitchFamily="49" charset="-122"/>
                    <a:cs typeface="Times New Roman" panose="02020603050405020304" pitchFamily="18" charset="0"/>
                  </a:rPr>
                  <a:t>total wave function </a:t>
                </a:r>
                <a14:m>
                  <m:oMath xmlns:m="http://schemas.openxmlformats.org/officeDocument/2006/math">
                    <m:r>
                      <a:rPr lang="zh-CN" altLang="en-US" sz="2400" i="1" dirty="0">
                        <a:solidFill>
                          <a:srgbClr val="2926BF"/>
                        </a:solidFill>
                        <a:latin typeface="Cambria Math" panose="02040503050406030204" pitchFamily="18" charset="0"/>
                      </a:rPr>
                      <m:t>𝜓</m:t>
                    </m:r>
                    <m:r>
                      <m:rPr>
                        <m:nor/>
                      </m:rPr>
                      <a:rPr lang="en-US" altLang="zh-CN" sz="2400" baseline="-25000" dirty="0">
                        <a:solidFill>
                          <a:srgbClr val="2926BF"/>
                        </a:solidFill>
                        <a:latin typeface="Times New Roman" panose="02020603050405020304" pitchFamily="18" charset="0"/>
                        <a:ea typeface="黑体" panose="02010609060101010101" pitchFamily="49" charset="-122"/>
                        <a:cs typeface="Times New Roman" panose="02020603050405020304" pitchFamily="18" charset="0"/>
                      </a:rPr>
                      <m:t>tot</m:t>
                    </m:r>
                    <m:r>
                      <a:rPr lang="en-US" altLang="zh-CN" sz="2400" i="1" dirty="0">
                        <a:solidFill>
                          <a:srgbClr val="2926BF"/>
                        </a:solidFill>
                        <a:latin typeface="Cambria Math" panose="02040503050406030204" pitchFamily="18" charset="0"/>
                      </a:rPr>
                      <m:t>(</m:t>
                    </m:r>
                    <m:r>
                      <a:rPr lang="en-US" altLang="zh-CN" sz="2400" b="1" i="1" dirty="0">
                        <a:solidFill>
                          <a:srgbClr val="2926BF"/>
                        </a:solidFill>
                        <a:latin typeface="Cambria Math" panose="02040503050406030204" pitchFamily="18" charset="0"/>
                      </a:rPr>
                      <m:t>𝒒</m:t>
                    </m:r>
                    <m:r>
                      <a:rPr lang="en-US" altLang="zh-CN" sz="2400" i="1" dirty="0">
                        <a:solidFill>
                          <a:srgbClr val="2926BF"/>
                        </a:solidFill>
                        <a:latin typeface="Cambria Math" panose="02040503050406030204" pitchFamily="18" charset="0"/>
                      </a:rPr>
                      <m:t>,</m:t>
                    </m:r>
                    <m:r>
                      <a:rPr lang="en-US" altLang="zh-CN" sz="2400" b="1" i="1" dirty="0">
                        <a:solidFill>
                          <a:srgbClr val="2926BF"/>
                        </a:solidFill>
                        <a:latin typeface="Cambria Math" panose="02040503050406030204" pitchFamily="18" charset="0"/>
                      </a:rPr>
                      <m:t>𝑸</m:t>
                    </m:r>
                    <m:r>
                      <a:rPr lang="en-US" altLang="zh-CN" sz="2400" i="1" dirty="0">
                        <a:solidFill>
                          <a:srgbClr val="2926BF"/>
                        </a:solidFill>
                        <a:latin typeface="Cambria Math" panose="02040503050406030204" pitchFamily="18" charset="0"/>
                      </a:rPr>
                      <m:t>)</m:t>
                    </m:r>
                  </m:oMath>
                </a14:m>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是两者的乘积。</a:t>
                </a:r>
                <a:endPar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玻恩</a:t>
                </a:r>
                <a:r>
                  <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奥本海默近似通常是准确的，但当不同的势能面相互靠近时，近似可能失效。</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FD707F97-6BB9-E503-B42D-D7C877740822}"/>
                  </a:ext>
                </a:extLst>
              </p:cNvPr>
              <p:cNvSpPr txBox="1">
                <a:spLocks noRot="1" noChangeAspect="1" noMove="1" noResize="1" noEditPoints="1" noAdjustHandles="1" noChangeArrowheads="1" noChangeShapeType="1" noTextEdit="1"/>
              </p:cNvSpPr>
              <p:nvPr/>
            </p:nvSpPr>
            <p:spPr>
              <a:xfrm>
                <a:off x="340178" y="636761"/>
                <a:ext cx="11511644" cy="2238241"/>
              </a:xfrm>
              <a:prstGeom prst="rect">
                <a:avLst/>
              </a:prstGeom>
              <a:blipFill>
                <a:blip r:embed="rId2"/>
                <a:stretch>
                  <a:fillRect l="-742" r="-3443" b="-5435"/>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AF76176C-51D6-069F-61D7-39D36F01E23F}"/>
              </a:ext>
            </a:extLst>
          </p:cNvPr>
          <p:cNvGrpSpPr/>
          <p:nvPr/>
        </p:nvGrpSpPr>
        <p:grpSpPr>
          <a:xfrm>
            <a:off x="3032205" y="3949379"/>
            <a:ext cx="7202951" cy="1153757"/>
            <a:chOff x="2994256" y="4848033"/>
            <a:chExt cx="7202951" cy="1153757"/>
          </a:xfrm>
        </p:grpSpPr>
        <p:graphicFrame>
          <p:nvGraphicFramePr>
            <p:cNvPr id="9" name="对象 8">
              <a:extLst>
                <a:ext uri="{FF2B5EF4-FFF2-40B4-BE49-F238E27FC236}">
                  <a16:creationId xmlns:a16="http://schemas.microsoft.com/office/drawing/2014/main" id="{B809F993-BC7B-A748-20AB-F37E0492D762}"/>
                </a:ext>
              </a:extLst>
            </p:cNvPr>
            <p:cNvGraphicFramePr>
              <a:graphicFrameLocks noChangeAspect="1"/>
            </p:cNvGraphicFramePr>
            <p:nvPr>
              <p:extLst>
                <p:ext uri="{D42A27DB-BD31-4B8C-83A1-F6EECF244321}">
                  <p14:modId xmlns:p14="http://schemas.microsoft.com/office/powerpoint/2010/main" val="3381539296"/>
                </p:ext>
              </p:extLst>
            </p:nvPr>
          </p:nvGraphicFramePr>
          <p:xfrm>
            <a:off x="2994256" y="4869981"/>
            <a:ext cx="6883200" cy="964800"/>
          </p:xfrm>
          <a:graphic>
            <a:graphicData uri="http://schemas.openxmlformats.org/presentationml/2006/ole">
              <mc:AlternateContent xmlns:mc="http://schemas.openxmlformats.org/markup-compatibility/2006">
                <mc:Choice xmlns:v="urn:schemas-microsoft-com:vml" Requires="v">
                  <p:oleObj name="Equation" r:id="rId3" imgW="3441600" imgH="482400" progId="Equation.DSMT4">
                    <p:embed/>
                  </p:oleObj>
                </mc:Choice>
                <mc:Fallback>
                  <p:oleObj name="Equation" r:id="rId3" imgW="3441600" imgH="482400" progId="Equation.DSMT4">
                    <p:embed/>
                    <p:pic>
                      <p:nvPicPr>
                        <p:cNvPr id="9" name="对象 8">
                          <a:extLst>
                            <a:ext uri="{FF2B5EF4-FFF2-40B4-BE49-F238E27FC236}">
                              <a16:creationId xmlns:a16="http://schemas.microsoft.com/office/drawing/2014/main" id="{B809F993-BC7B-A748-20AB-F37E0492D762}"/>
                            </a:ext>
                          </a:extLst>
                        </p:cNvPr>
                        <p:cNvPicPr/>
                        <p:nvPr/>
                      </p:nvPicPr>
                      <p:blipFill>
                        <a:blip r:embed="rId4"/>
                        <a:stretch>
                          <a:fillRect/>
                        </a:stretch>
                      </p:blipFill>
                      <p:spPr>
                        <a:xfrm>
                          <a:off x="2994256" y="4869981"/>
                          <a:ext cx="6883200" cy="964800"/>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B5DD303D-08F3-B8BD-FC9C-D12BBEF51C9D}"/>
                </a:ext>
              </a:extLst>
            </p:cNvPr>
            <p:cNvSpPr/>
            <p:nvPr/>
          </p:nvSpPr>
          <p:spPr>
            <a:xfrm>
              <a:off x="7954750" y="4848033"/>
              <a:ext cx="2242457" cy="11537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8E61F668-9152-5511-03E6-65C5D7754747}"/>
              </a:ext>
            </a:extLst>
          </p:cNvPr>
          <p:cNvSpPr/>
          <p:nvPr/>
        </p:nvSpPr>
        <p:spPr>
          <a:xfrm>
            <a:off x="678294" y="3338614"/>
            <a:ext cx="11348186"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Using B.O approximation and atomic unit, the electronic Hamiltonian of He is:</a:t>
            </a:r>
          </a:p>
        </p:txBody>
      </p:sp>
      <p:sp>
        <p:nvSpPr>
          <p:cNvPr id="4" name="文本框 3">
            <a:extLst>
              <a:ext uri="{FF2B5EF4-FFF2-40B4-BE49-F238E27FC236}">
                <a16:creationId xmlns:a16="http://schemas.microsoft.com/office/drawing/2014/main" id="{005CDCFC-26B5-5B88-39F6-B652A3C1382F}"/>
              </a:ext>
            </a:extLst>
          </p:cNvPr>
          <p:cNvSpPr txBox="1"/>
          <p:nvPr/>
        </p:nvSpPr>
        <p:spPr>
          <a:xfrm>
            <a:off x="1134543" y="5402258"/>
            <a:ext cx="9187104"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即使有玻恩</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奥本海默近似，该薛定谔方程也无法精确求解。</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1561F5-E5F0-316F-7C7C-349E6644C529}"/>
              </a:ext>
            </a:extLst>
          </p:cNvPr>
          <p:cNvSpPr txBox="1"/>
          <p:nvPr/>
        </p:nvSpPr>
        <p:spPr>
          <a:xfrm>
            <a:off x="481400" y="1586227"/>
            <a:ext cx="10330544" cy="830997"/>
          </a:xfrm>
          <a:prstGeom prst="rect">
            <a:avLst/>
          </a:prstGeom>
          <a:noFill/>
        </p:spPr>
        <p:txBody>
          <a:bodyPr wrap="square">
            <a:spAutoFit/>
          </a:bodyPr>
          <a:lstStyle/>
          <a:p>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体系的能量期望值 </a:t>
            </a:r>
            <a:r>
              <a:rPr lang="en-US" altLang="zh-CN" sz="2400" b="0" i="1"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E</a:t>
            </a:r>
            <a:r>
              <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[ψ] = &lt;</a:t>
            </a:r>
            <a:r>
              <a:rPr lang="en-US" altLang="zh-CN" sz="2400" b="0" i="0" dirty="0" err="1">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ψ|</a:t>
            </a:r>
            <a:r>
              <a:rPr lang="en-US" altLang="zh-CN" sz="2400" b="0" i="1" dirty="0" err="1">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Ĥ</a:t>
            </a:r>
            <a:r>
              <a:rPr lang="en-US" altLang="zh-CN" sz="2400" b="0" i="0" dirty="0" err="1">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|ψ</a:t>
            </a:r>
            <a:r>
              <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&gt;/&lt;</a:t>
            </a:r>
            <a:r>
              <a:rPr lang="en-US" altLang="zh-CN" sz="2400" b="0" i="0" dirty="0" err="1">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ψ|ψ</a:t>
            </a:r>
            <a:r>
              <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&gt;</a:t>
            </a: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 是一个典型的泛函。给定一个任意波函数 </a:t>
            </a:r>
            <a:r>
              <a:rPr lang="en-US" altLang="zh-CN"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ψ</a:t>
            </a:r>
            <a:r>
              <a:rPr lang="zh-CN" altLang="en-US" sz="2400" b="0" i="0"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，我们就会得到一个对应的能量数值 </a:t>
            </a:r>
            <a:r>
              <a:rPr lang="en-US" altLang="zh-CN" sz="2400" b="0" i="1" dirty="0">
                <a:solidFill>
                  <a:srgbClr val="0F1115"/>
                </a:solidFill>
                <a:effectLst/>
                <a:latin typeface="Times New Roman" panose="02020603050405020304" pitchFamily="18" charset="0"/>
                <a:ea typeface="黑体" panose="02010609060101010101" pitchFamily="49" charset="-122"/>
                <a:cs typeface="Times New Roman" panose="02020603050405020304" pitchFamily="18" charset="0"/>
              </a:rPr>
              <a:t>E</a:t>
            </a:r>
            <a:endParaRPr lang="zh-CN" altLang="en-US" sz="2400"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746DC5E8-A291-BC85-8F97-79A6212E655E}"/>
              </a:ext>
            </a:extLst>
          </p:cNvPr>
          <p:cNvSpPr txBox="1"/>
          <p:nvPr/>
        </p:nvSpPr>
        <p:spPr>
          <a:xfrm>
            <a:off x="481400" y="2838079"/>
            <a:ext cx="10890580" cy="830997"/>
          </a:xfrm>
          <a:prstGeom prst="rect">
            <a:avLst/>
          </a:prstGeom>
          <a:noFill/>
        </p:spPr>
        <p:txBody>
          <a:bodyPr wrap="square">
            <a:spAutoFit/>
          </a:bodyPr>
          <a:lstStyle/>
          <a:p>
            <a:r>
              <a:rPr lang="zh-CN" altLang="en-US" sz="2400" i="0" dirty="0">
                <a:solidFill>
                  <a:srgbClr val="0F1115"/>
                </a:solidFill>
                <a:effectLst/>
                <a:latin typeface="黑体" panose="02010609060101010101" pitchFamily="49" charset="-122"/>
                <a:ea typeface="黑体" panose="02010609060101010101" pitchFamily="49" charset="-122"/>
              </a:rPr>
              <a:t>绕过无法精确求解的薛定谔方程，通过直接在函数空间中搜索和比较，来逼近那个使泛函取极值的函数</a:t>
            </a:r>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37005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298581" y="1287085"/>
                <a:ext cx="10929507" cy="3786229"/>
              </a:xfrm>
              <a:prstGeom prst="rect">
                <a:avLst/>
              </a:prstGeom>
            </p:spPr>
            <p:txBody>
              <a:bodyPr wrap="squar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The variation method is based on the </a:t>
                </a:r>
                <a:r>
                  <a:rPr lang="en-US" altLang="zh-CN" sz="2400" i="1" dirty="0">
                    <a:solidFill>
                      <a:srgbClr val="B02B08"/>
                    </a:solidFill>
                    <a:latin typeface="Times New Roman" panose="02020603050405020304" pitchFamily="18" charset="0"/>
                    <a:cs typeface="Times New Roman" panose="02020603050405020304" pitchFamily="18" charset="0"/>
                  </a:rPr>
                  <a:t>variation principle</a:t>
                </a:r>
                <a:r>
                  <a:rPr lang="en-US" altLang="zh-CN" sz="2400" dirty="0">
                    <a:latin typeface="Times New Roman" panose="02020603050405020304" pitchFamily="18" charset="0"/>
                    <a:cs typeface="Times New Roman" panose="02020603050405020304" pitchFamily="18" charset="0"/>
                  </a:rPr>
                  <a:t>.</a:t>
                </a: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This asserts that if </a:t>
                </a:r>
                <a14:m>
                  <m:oMath xmlns:m="http://schemas.openxmlformats.org/officeDocument/2006/math">
                    <m:acc>
                      <m:accPr>
                        <m:chr m:val="̃"/>
                        <m:ctrlPr>
                          <a:rPr lang="en-US" altLang="zh-CN" sz="2400" i="1">
                            <a:solidFill>
                              <a:srgbClr val="2926BF"/>
                            </a:solidFill>
                            <a:latin typeface="Cambria Math" panose="02040503050406030204" pitchFamily="18" charset="0"/>
                          </a:rPr>
                        </m:ctrlPr>
                      </m:accPr>
                      <m:e>
                        <m:r>
                          <a:rPr lang="zh-CN" altLang="en-US" sz="2400" i="1">
                            <a:solidFill>
                              <a:srgbClr val="2926BF"/>
                            </a:solidFill>
                            <a:latin typeface="Cambria Math" panose="02040503050406030204" pitchFamily="18" charset="0"/>
                          </a:rPr>
                          <m:t>𝜓</m:t>
                        </m:r>
                      </m:e>
                    </m:acc>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an arbitrary wavefunction satisfying the boundary conditions for the problem, then the expectation value of its energy is not less than the lowest eigenvalue of the Hamiltonian.</a:t>
                </a: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That is,</a:t>
                </a: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where </a:t>
                </a:r>
                <a:r>
                  <a:rPr lang="en-US" altLang="zh-CN" sz="2400" i="1" cap="small" dirty="0">
                    <a:solidFill>
                      <a:srgbClr val="2926BF"/>
                    </a:solidFill>
                    <a:latin typeface="Times New Roman" panose="02020603050405020304" pitchFamily="18" charset="0"/>
                    <a:cs typeface="Times New Roman" panose="02020603050405020304" pitchFamily="18" charset="0"/>
                  </a:rPr>
                  <a:t>E</a:t>
                </a:r>
                <a:r>
                  <a:rPr lang="en-US" altLang="zh-CN" sz="2400" cap="small" baseline="-25000" dirty="0">
                    <a:solidFill>
                      <a:srgbClr val="2926BF"/>
                    </a:solidFill>
                    <a:latin typeface="Times New Roman" panose="02020603050405020304" pitchFamily="18" charset="0"/>
                    <a:cs typeface="Times New Roman" panose="02020603050405020304" pitchFamily="18" charset="0"/>
                  </a:rPr>
                  <a:t>0</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lowest eigenvalue of </a:t>
                </a:r>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solidFill>
                    <a:srgbClr val="3333FF"/>
                  </a:solidFill>
                  <a:latin typeface="Times New Roman" panose="02020603050405020304" pitchFamily="18" charset="0"/>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298581" y="1287085"/>
                <a:ext cx="10929507" cy="3786229"/>
              </a:xfrm>
              <a:prstGeom prst="rect">
                <a:avLst/>
              </a:prstGeom>
              <a:blipFill>
                <a:blip r:embed="rId2"/>
                <a:stretch>
                  <a:fillRect l="-892" t="-322" r="-1394" b="-2738"/>
                </a:stretch>
              </a:blipFill>
            </p:spPr>
            <p:txBody>
              <a:bodyPr/>
              <a:lstStyle/>
              <a:p>
                <a:r>
                  <a:rPr lang="zh-CN" altLang="en-US">
                    <a:noFill/>
                  </a:rPr>
                  <a:t> </a:t>
                </a:r>
              </a:p>
            </p:txBody>
          </p:sp>
        </mc:Fallback>
      </mc:AlternateContent>
      <p:sp>
        <p:nvSpPr>
          <p:cNvPr id="5"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9794EF50-448F-48C3-A32F-6EE1B5DEB9C3}"/>
              </a:ext>
            </a:extLst>
          </p:cNvPr>
          <p:cNvSpPr/>
          <p:nvPr/>
        </p:nvSpPr>
        <p:spPr>
          <a:xfrm>
            <a:off x="4091281" y="211974"/>
            <a:ext cx="413921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6.2  The variation method</a:t>
            </a:r>
            <a:endParaRPr lang="zh-CN" altLang="en-US" sz="2800" b="1" dirty="0">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a16="http://schemas.microsoft.com/office/drawing/2014/main" id="{1EADD2A3-26E8-4857-34B5-30F059CA0904}"/>
              </a:ext>
            </a:extLst>
          </p:cNvPr>
          <p:cNvGrpSpPr/>
          <p:nvPr/>
        </p:nvGrpSpPr>
        <p:grpSpPr>
          <a:xfrm>
            <a:off x="5216624" y="3520281"/>
            <a:ext cx="2387520" cy="939600"/>
            <a:chOff x="5216624" y="3520281"/>
            <a:chExt cx="2387520" cy="939600"/>
          </a:xfrm>
        </p:grpSpPr>
        <p:graphicFrame>
          <p:nvGraphicFramePr>
            <p:cNvPr id="4" name="对象 3">
              <a:extLst>
                <a:ext uri="{FF2B5EF4-FFF2-40B4-BE49-F238E27FC236}">
                  <a16:creationId xmlns:a16="http://schemas.microsoft.com/office/drawing/2014/main" id="{7051AB6C-BA07-43A1-8962-FB20D320C00D}"/>
                </a:ext>
              </a:extLst>
            </p:cNvPr>
            <p:cNvGraphicFramePr>
              <a:graphicFrameLocks noChangeAspect="1"/>
            </p:cNvGraphicFramePr>
            <p:nvPr>
              <p:extLst>
                <p:ext uri="{D42A27DB-BD31-4B8C-83A1-F6EECF244321}">
                  <p14:modId xmlns:p14="http://schemas.microsoft.com/office/powerpoint/2010/main" val="1326711367"/>
                </p:ext>
              </p:extLst>
            </p:nvPr>
          </p:nvGraphicFramePr>
          <p:xfrm>
            <a:off x="5216624" y="3520281"/>
            <a:ext cx="2387520" cy="939600"/>
          </p:xfrm>
          <a:graphic>
            <a:graphicData uri="http://schemas.openxmlformats.org/presentationml/2006/ole">
              <mc:AlternateContent xmlns:mc="http://schemas.openxmlformats.org/markup-compatibility/2006">
                <mc:Choice xmlns:v="urn:schemas-microsoft-com:vml" Requires="v">
                  <p:oleObj name="Equation" r:id="rId3" imgW="1193760" imgH="469800" progId="Equation.DSMT4">
                    <p:embed/>
                  </p:oleObj>
                </mc:Choice>
                <mc:Fallback>
                  <p:oleObj name="Equation" r:id="rId3" imgW="1193760" imgH="469800" progId="Equation.DSMT4">
                    <p:embed/>
                    <p:pic>
                      <p:nvPicPr>
                        <p:cNvPr id="4" name="对象 3">
                          <a:extLst>
                            <a:ext uri="{FF2B5EF4-FFF2-40B4-BE49-F238E27FC236}">
                              <a16:creationId xmlns:a16="http://schemas.microsoft.com/office/drawing/2014/main" id="{7051AB6C-BA07-43A1-8962-FB20D320C00D}"/>
                            </a:ext>
                          </a:extLst>
                        </p:cNvPr>
                        <p:cNvPicPr/>
                        <p:nvPr/>
                      </p:nvPicPr>
                      <p:blipFill>
                        <a:blip r:embed="rId4"/>
                        <a:stretch>
                          <a:fillRect/>
                        </a:stretch>
                      </p:blipFill>
                      <p:spPr>
                        <a:xfrm>
                          <a:off x="5216624" y="3520281"/>
                          <a:ext cx="2387520" cy="939600"/>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65533DE7-AB25-C89D-CB3A-5D18B95175E6}"/>
                </a:ext>
              </a:extLst>
            </p:cNvPr>
            <p:cNvSpPr txBox="1"/>
            <p:nvPr/>
          </p:nvSpPr>
          <p:spPr>
            <a:xfrm>
              <a:off x="6258219" y="3556633"/>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3928609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6826" y="242669"/>
            <a:ext cx="103579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Proof</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440294" y="1033471"/>
                <a:ext cx="8124637" cy="473848"/>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Expand </a:t>
                </a:r>
                <a14:m>
                  <m:oMath xmlns:m="http://schemas.openxmlformats.org/officeDocument/2006/math">
                    <m:acc>
                      <m:accPr>
                        <m:chr m:val="̃"/>
                        <m:ctrlPr>
                          <a:rPr lang="en-US" altLang="zh-CN" sz="2400" i="1">
                            <a:solidFill>
                              <a:srgbClr val="2926BF"/>
                            </a:solidFill>
                            <a:latin typeface="Cambria Math" panose="02040503050406030204" pitchFamily="18" charset="0"/>
                          </a:rPr>
                        </m:ctrlPr>
                      </m:accPr>
                      <m:e>
                        <m:r>
                          <a:rPr lang="zh-CN" altLang="en-US" sz="2400" i="1">
                            <a:solidFill>
                              <a:srgbClr val="2926BF"/>
                            </a:solidFill>
                            <a:latin typeface="Cambria Math" panose="02040503050406030204" pitchFamily="18" charset="0"/>
                          </a:rPr>
                          <m:t>𝜓</m:t>
                        </m:r>
                      </m:e>
                    </m:acc>
                  </m:oMath>
                </a14:m>
                <a:r>
                  <a:rPr lang="zh-TW" altLang="en-US" sz="2400" dirty="0">
                    <a:solidFill>
                      <a:srgbClr val="2926BF"/>
                    </a:solidFill>
                    <a:latin typeface="Times New Roman" panose="02020603050405020304" pitchFamily="18" charset="0"/>
                    <a:ea typeface="Arial"/>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terms of the normalized eigenfunctions of </a:t>
                </a:r>
                <a:r>
                  <a:rPr lang="en-US" altLang="zh-CN" sz="2400" i="1" dirty="0">
                    <a:latin typeface="Times New Roman" panose="02020603050405020304" pitchFamily="18" charset="0"/>
                    <a:cs typeface="Times New Roman" panose="02020603050405020304" pitchFamily="18" charset="0"/>
                  </a:rPr>
                  <a:t>Ĥ</a:t>
                </a:r>
                <a:r>
                  <a:rPr lang="en-US" altLang="zh-CN" sz="2400" dirty="0">
                    <a:solidFill>
                      <a:srgbClr val="2926BF"/>
                    </a:solidFill>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440294" y="1033471"/>
                <a:ext cx="8124637" cy="473848"/>
              </a:xfrm>
              <a:prstGeom prst="rect">
                <a:avLst/>
              </a:prstGeom>
              <a:blipFill>
                <a:blip r:embed="rId2"/>
                <a:stretch>
                  <a:fillRect l="-1125" t="-7792" b="-29870"/>
                </a:stretch>
              </a:blipFill>
            </p:spPr>
            <p:txBody>
              <a:bodyPr/>
              <a:lstStyle/>
              <a:p>
                <a:r>
                  <a:rPr lang="zh-CN" altLang="en-US">
                    <a:noFill/>
                  </a:rPr>
                  <a:t> </a:t>
                </a:r>
              </a:p>
            </p:txBody>
          </p:sp>
        </mc:Fallback>
      </mc:AlternateContent>
      <p:graphicFrame>
        <p:nvGraphicFramePr>
          <p:cNvPr id="4" name="对象 3">
            <a:extLst>
              <a:ext uri="{FF2B5EF4-FFF2-40B4-BE49-F238E27FC236}">
                <a16:creationId xmlns:a16="http://schemas.microsoft.com/office/drawing/2014/main" id="{DB4DE733-1E59-427A-905F-24E1E534E4B2}"/>
              </a:ext>
            </a:extLst>
          </p:cNvPr>
          <p:cNvGraphicFramePr>
            <a:graphicFrameLocks noChangeAspect="1"/>
          </p:cNvGraphicFramePr>
          <p:nvPr/>
        </p:nvGraphicFramePr>
        <p:xfrm>
          <a:off x="4635066" y="1577886"/>
          <a:ext cx="1523520" cy="685440"/>
        </p:xfrm>
        <a:graphic>
          <a:graphicData uri="http://schemas.openxmlformats.org/presentationml/2006/ole">
            <mc:AlternateContent xmlns:mc="http://schemas.openxmlformats.org/markup-compatibility/2006">
              <mc:Choice xmlns:v="urn:schemas-microsoft-com:vml" Requires="v">
                <p:oleObj name="Equation" r:id="rId3" imgW="761760" imgH="342720" progId="Equation.DSMT4">
                  <p:embed/>
                </p:oleObj>
              </mc:Choice>
              <mc:Fallback>
                <p:oleObj name="Equation" r:id="rId3" imgW="761760" imgH="342720" progId="Equation.DSMT4">
                  <p:embed/>
                  <p:pic>
                    <p:nvPicPr>
                      <p:cNvPr id="4" name="对象 3">
                        <a:extLst>
                          <a:ext uri="{FF2B5EF4-FFF2-40B4-BE49-F238E27FC236}">
                            <a16:creationId xmlns:a16="http://schemas.microsoft.com/office/drawing/2014/main" id="{DB4DE733-1E59-427A-905F-24E1E534E4B2}"/>
                          </a:ext>
                        </a:extLst>
                      </p:cNvPr>
                      <p:cNvPicPr/>
                      <p:nvPr/>
                    </p:nvPicPr>
                    <p:blipFill>
                      <a:blip r:embed="rId4"/>
                      <a:stretch>
                        <a:fillRect/>
                      </a:stretch>
                    </p:blipFill>
                    <p:spPr>
                      <a:xfrm>
                        <a:off x="4635066" y="1577886"/>
                        <a:ext cx="1523520" cy="68544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E9994047-2820-483A-BB3D-1B11CEEF6735}"/>
              </a:ext>
            </a:extLst>
          </p:cNvPr>
          <p:cNvGraphicFramePr>
            <a:graphicFrameLocks noChangeAspect="1"/>
          </p:cNvGraphicFramePr>
          <p:nvPr>
            <p:extLst>
              <p:ext uri="{D42A27DB-BD31-4B8C-83A1-F6EECF244321}">
                <p14:modId xmlns:p14="http://schemas.microsoft.com/office/powerpoint/2010/main" val="2160192823"/>
              </p:ext>
            </p:extLst>
          </p:nvPr>
        </p:nvGraphicFramePr>
        <p:xfrm>
          <a:off x="1502229" y="3649648"/>
          <a:ext cx="2786062" cy="1955800"/>
        </p:xfrm>
        <a:graphic>
          <a:graphicData uri="http://schemas.openxmlformats.org/presentationml/2006/ole">
            <mc:AlternateContent xmlns:mc="http://schemas.openxmlformats.org/markup-compatibility/2006">
              <mc:Choice xmlns:v="urn:schemas-microsoft-com:vml" Requires="v">
                <p:oleObj name="Equation" r:id="rId5" imgW="1523880" imgH="1079280" progId="Equation.DSMT4">
                  <p:embed/>
                </p:oleObj>
              </mc:Choice>
              <mc:Fallback>
                <p:oleObj name="Equation" r:id="rId5" imgW="1523880" imgH="1079280" progId="Equation.DSMT4">
                  <p:embed/>
                  <p:pic>
                    <p:nvPicPr>
                      <p:cNvPr id="6" name="对象 5">
                        <a:extLst>
                          <a:ext uri="{FF2B5EF4-FFF2-40B4-BE49-F238E27FC236}">
                            <a16:creationId xmlns:a16="http://schemas.microsoft.com/office/drawing/2014/main" id="{E9994047-2820-483A-BB3D-1B11CEEF6735}"/>
                          </a:ext>
                        </a:extLst>
                      </p:cNvPr>
                      <p:cNvPicPr/>
                      <p:nvPr/>
                    </p:nvPicPr>
                    <p:blipFill>
                      <a:blip r:embed="rId6"/>
                      <a:stretch>
                        <a:fillRect/>
                      </a:stretch>
                    </p:blipFill>
                    <p:spPr>
                      <a:xfrm>
                        <a:off x="1502229" y="3649648"/>
                        <a:ext cx="2786062" cy="1955800"/>
                      </a:xfrm>
                      <a:prstGeom prst="rect">
                        <a:avLst/>
                      </a:prstGeom>
                    </p:spPr>
                  </p:pic>
                </p:oleObj>
              </mc:Fallback>
            </mc:AlternateContent>
          </a:graphicData>
        </a:graphic>
      </p:graphicFrame>
      <p:sp>
        <p:nvSpPr>
          <p:cNvPr id="12" name="矩形 11"/>
          <p:cNvSpPr/>
          <p:nvPr/>
        </p:nvSpPr>
        <p:spPr>
          <a:xfrm>
            <a:off x="440294" y="2492719"/>
            <a:ext cx="11154077" cy="830997"/>
          </a:xfrm>
          <a:prstGeom prst="rect">
            <a:avLst/>
          </a:prstGeom>
          <a:ln>
            <a:solidFill>
              <a:srgbClr val="FF0000"/>
            </a:solidFill>
          </a:ln>
        </p:spPr>
        <p:txBody>
          <a:bodyPr wrap="square">
            <a:spAutoFit/>
          </a:bodyPr>
          <a:lstStyle/>
          <a:p>
            <a:r>
              <a:rPr lang="en-US" altLang="zh-CN" sz="2400" dirty="0">
                <a:latin typeface="Times New Roman" panose="02020603050405020304" pitchFamily="18" charset="0"/>
                <a:cs typeface="Times New Roman" panose="02020603050405020304" pitchFamily="18" charset="0"/>
              </a:rPr>
              <a:t>If  </a:t>
            </a:r>
            <a:r>
              <a:rPr lang="en-US" altLang="zh-CN" sz="2400" i="1" dirty="0">
                <a:latin typeface="Times New Roman" panose="02020603050405020304" pitchFamily="18" charset="0"/>
                <a:cs typeface="Times New Roman" panose="02020603050405020304" pitchFamily="18" charset="0"/>
              </a:rPr>
              <a:t>Ĥ</a:t>
            </a:r>
            <a:r>
              <a:rPr lang="en-US" altLang="zh-CN" sz="2400" dirty="0">
                <a:latin typeface="Times New Roman" panose="02020603050405020304" pitchFamily="18" charset="0"/>
                <a:cs typeface="Times New Roman" panose="02020603050405020304" pitchFamily="18" charset="0"/>
              </a:rPr>
              <a:t> is any linear Hermitian operator that represents a physically observable property, then the eigenfunctions of </a:t>
            </a:r>
            <a:r>
              <a:rPr lang="en-US" altLang="zh-CN" sz="2400" i="1" dirty="0">
                <a:latin typeface="Times New Roman" panose="02020603050405020304" pitchFamily="18" charset="0"/>
                <a:cs typeface="Times New Roman" panose="02020603050405020304" pitchFamily="18" charset="0"/>
              </a:rPr>
              <a:t>Ĥ</a:t>
            </a:r>
            <a:r>
              <a:rPr lang="en-US" altLang="zh-CN" sz="2400" dirty="0">
                <a:latin typeface="Times New Roman" panose="02020603050405020304" pitchFamily="18" charset="0"/>
                <a:cs typeface="Times New Roman" panose="02020603050405020304" pitchFamily="18" charset="0"/>
              </a:rPr>
              <a:t> form a complete set.</a:t>
            </a:r>
          </a:p>
        </p:txBody>
      </p:sp>
      <p:sp>
        <p:nvSpPr>
          <p:cNvPr id="11"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7" name="组合 6">
            <a:extLst>
              <a:ext uri="{FF2B5EF4-FFF2-40B4-BE49-F238E27FC236}">
                <a16:creationId xmlns:a16="http://schemas.microsoft.com/office/drawing/2014/main" id="{EF3C9EAD-FBF4-31E8-BAC7-54C79BC61553}"/>
              </a:ext>
            </a:extLst>
          </p:cNvPr>
          <p:cNvGrpSpPr/>
          <p:nvPr/>
        </p:nvGrpSpPr>
        <p:grpSpPr>
          <a:xfrm>
            <a:off x="6247199" y="3649648"/>
            <a:ext cx="3505200" cy="2624138"/>
            <a:chOff x="6273657" y="3497248"/>
            <a:chExt cx="3505200" cy="2624138"/>
          </a:xfrm>
        </p:grpSpPr>
        <p:graphicFrame>
          <p:nvGraphicFramePr>
            <p:cNvPr id="13" name="对象 12">
              <a:extLst>
                <a:ext uri="{FF2B5EF4-FFF2-40B4-BE49-F238E27FC236}">
                  <a16:creationId xmlns:a16="http://schemas.microsoft.com/office/drawing/2014/main" id="{E4A3F870-12B8-4C58-854B-F60BBB7C6A5C}"/>
                </a:ext>
              </a:extLst>
            </p:cNvPr>
            <p:cNvGraphicFramePr>
              <a:graphicFrameLocks noChangeAspect="1"/>
            </p:cNvGraphicFramePr>
            <p:nvPr>
              <p:extLst>
                <p:ext uri="{D42A27DB-BD31-4B8C-83A1-F6EECF244321}">
                  <p14:modId xmlns:p14="http://schemas.microsoft.com/office/powerpoint/2010/main" val="3743308943"/>
                </p:ext>
              </p:extLst>
            </p:nvPr>
          </p:nvGraphicFramePr>
          <p:xfrm>
            <a:off x="6273657" y="3497248"/>
            <a:ext cx="3505200" cy="2624138"/>
          </p:xfrm>
          <a:graphic>
            <a:graphicData uri="http://schemas.openxmlformats.org/presentationml/2006/ole">
              <mc:AlternateContent xmlns:mc="http://schemas.openxmlformats.org/markup-compatibility/2006">
                <mc:Choice xmlns:v="urn:schemas-microsoft-com:vml" Requires="v">
                  <p:oleObj name="Equation" r:id="rId7" imgW="1917360" imgH="1447560" progId="Equation.DSMT4">
                    <p:embed/>
                  </p:oleObj>
                </mc:Choice>
                <mc:Fallback>
                  <p:oleObj name="Equation" r:id="rId7" imgW="1917360" imgH="1447560" progId="Equation.DSMT4">
                    <p:embed/>
                    <p:pic>
                      <p:nvPicPr>
                        <p:cNvPr id="13" name="对象 12">
                          <a:extLst>
                            <a:ext uri="{FF2B5EF4-FFF2-40B4-BE49-F238E27FC236}">
                              <a16:creationId xmlns:a16="http://schemas.microsoft.com/office/drawing/2014/main" id="{E4A3F870-12B8-4C58-854B-F60BBB7C6A5C}"/>
                            </a:ext>
                          </a:extLst>
                        </p:cNvPr>
                        <p:cNvPicPr/>
                        <p:nvPr/>
                      </p:nvPicPr>
                      <p:blipFill>
                        <a:blip r:embed="rId8"/>
                        <a:stretch>
                          <a:fillRect/>
                        </a:stretch>
                      </p:blipFill>
                      <p:spPr>
                        <a:xfrm>
                          <a:off x="6273657" y="3497248"/>
                          <a:ext cx="3505200" cy="262413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D08B483D-61AA-6015-6B93-5FEEC959DD95}"/>
                </a:ext>
              </a:extLst>
            </p:cNvPr>
            <p:cNvSpPr txBox="1"/>
            <p:nvPr/>
          </p:nvSpPr>
          <p:spPr>
            <a:xfrm>
              <a:off x="9010944" y="3580445"/>
              <a:ext cx="280694" cy="307777"/>
            </a:xfrm>
            <a:prstGeom prst="rect">
              <a:avLst/>
            </a:prstGeom>
            <a:solidFill>
              <a:schemeClr val="bg1"/>
            </a:solidFill>
          </p:spPr>
          <p:txBody>
            <a:bodyPr wrap="square" lIns="0" tIns="0" rIns="0" bIns="0">
              <a:spAutoFit/>
            </a:bodyPr>
            <a:lstStyle/>
            <a:p>
              <a:r>
                <a:rPr lang="en-US" altLang="zh-CN" sz="2000" i="1" dirty="0">
                  <a:solidFill>
                    <a:srgbClr val="3333FF"/>
                  </a:solidFill>
                  <a:latin typeface="Times New Roman" panose="02020603050405020304" pitchFamily="18" charset="0"/>
                  <a:cs typeface="Times New Roman" panose="02020603050405020304" pitchFamily="18" charset="0"/>
                </a:rPr>
                <a:t>Ĥ</a:t>
              </a:r>
              <a:endParaRPr lang="zh-CN" altLang="en-US" sz="2000" dirty="0"/>
            </a:p>
          </p:txBody>
        </p:sp>
      </p:grpSp>
      <p:sp>
        <p:nvSpPr>
          <p:cNvPr id="9" name="文本框 8">
            <a:extLst>
              <a:ext uri="{FF2B5EF4-FFF2-40B4-BE49-F238E27FC236}">
                <a16:creationId xmlns:a16="http://schemas.microsoft.com/office/drawing/2014/main" id="{25BBC253-EF00-82A4-468A-D3DD05EA4FE4}"/>
              </a:ext>
            </a:extLst>
          </p:cNvPr>
          <p:cNvSpPr txBox="1"/>
          <p:nvPr/>
        </p:nvSpPr>
        <p:spPr>
          <a:xfrm>
            <a:off x="6644210" y="3686678"/>
            <a:ext cx="269421" cy="400110"/>
          </a:xfrm>
          <a:prstGeom prst="rect">
            <a:avLst/>
          </a:prstGeom>
          <a:solidFill>
            <a:schemeClr val="bg1"/>
          </a:solidFill>
        </p:spPr>
        <p:txBody>
          <a:bodyPr wrap="square">
            <a:spAutoFit/>
          </a:bodyPr>
          <a:lstStyle/>
          <a:p>
            <a:r>
              <a:rPr lang="en-US" altLang="zh-CN" sz="2000" i="1" dirty="0">
                <a:solidFill>
                  <a:srgbClr val="3333FF"/>
                </a:solidFill>
                <a:latin typeface="Times New Roman" panose="02020603050405020304" pitchFamily="18" charset="0"/>
                <a:cs typeface="Times New Roman" panose="02020603050405020304" pitchFamily="18" charset="0"/>
              </a:rPr>
              <a:t>Ĥ</a:t>
            </a:r>
            <a:endParaRPr lang="zh-CN" altLang="en-US" sz="2000" dirty="0"/>
          </a:p>
        </p:txBody>
      </p:sp>
    </p:spTree>
    <p:extLst>
      <p:ext uri="{BB962C8B-B14F-4D97-AF65-F5344CB8AC3E}">
        <p14:creationId xmlns:p14="http://schemas.microsoft.com/office/powerpoint/2010/main" val="109700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78175" y="392223"/>
            <a:ext cx="995785" cy="461665"/>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so that</a:t>
            </a:r>
          </a:p>
        </p:txBody>
      </p:sp>
      <p:graphicFrame>
        <p:nvGraphicFramePr>
          <p:cNvPr id="7" name="对象 6">
            <a:extLst>
              <a:ext uri="{FF2B5EF4-FFF2-40B4-BE49-F238E27FC236}">
                <a16:creationId xmlns:a16="http://schemas.microsoft.com/office/drawing/2014/main" id="{5B81F0B7-E881-47A2-B130-536D2F782C41}"/>
              </a:ext>
            </a:extLst>
          </p:cNvPr>
          <p:cNvGraphicFramePr>
            <a:graphicFrameLocks noChangeAspect="1"/>
          </p:cNvGraphicFramePr>
          <p:nvPr/>
        </p:nvGraphicFramePr>
        <p:xfrm>
          <a:off x="2668400" y="1911711"/>
          <a:ext cx="7035120" cy="1117440"/>
        </p:xfrm>
        <a:graphic>
          <a:graphicData uri="http://schemas.openxmlformats.org/presentationml/2006/ole">
            <mc:AlternateContent xmlns:mc="http://schemas.openxmlformats.org/markup-compatibility/2006">
              <mc:Choice xmlns:v="urn:schemas-microsoft-com:vml" Requires="v">
                <p:oleObj name="Equation" r:id="rId2" imgW="3517560" imgH="558720" progId="Equation.DSMT4">
                  <p:embed/>
                </p:oleObj>
              </mc:Choice>
              <mc:Fallback>
                <p:oleObj name="Equation" r:id="rId2" imgW="3517560" imgH="558720" progId="Equation.DSMT4">
                  <p:embed/>
                  <p:pic>
                    <p:nvPicPr>
                      <p:cNvPr id="7" name="对象 6">
                        <a:extLst>
                          <a:ext uri="{FF2B5EF4-FFF2-40B4-BE49-F238E27FC236}">
                            <a16:creationId xmlns:a16="http://schemas.microsoft.com/office/drawing/2014/main" id="{5B81F0B7-E881-47A2-B130-536D2F782C41}"/>
                          </a:ext>
                        </a:extLst>
                      </p:cNvPr>
                      <p:cNvPicPr/>
                      <p:nvPr/>
                    </p:nvPicPr>
                    <p:blipFill>
                      <a:blip r:embed="rId3"/>
                      <a:stretch>
                        <a:fillRect/>
                      </a:stretch>
                    </p:blipFill>
                    <p:spPr>
                      <a:xfrm>
                        <a:off x="2668400" y="1911711"/>
                        <a:ext cx="7035120" cy="111744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矩形 7"/>
              <p:cNvSpPr/>
              <p:nvPr/>
            </p:nvSpPr>
            <p:spPr>
              <a:xfrm>
                <a:off x="401914" y="3058417"/>
                <a:ext cx="11408283" cy="1873077"/>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if </a:t>
                </a:r>
                <a14:m>
                  <m:oMath xmlns:m="http://schemas.openxmlformats.org/officeDocument/2006/math">
                    <m:r>
                      <a:rPr lang="en-US" altLang="zh-CN" sz="2400" i="1" cap="small" dirty="0">
                        <a:solidFill>
                          <a:srgbClr val="2926BF"/>
                        </a:solidFill>
                        <a:latin typeface="Cambria Math" panose="02040503050406030204" pitchFamily="18" charset="0"/>
                      </a:rPr>
                      <m:t>𝐸</m:t>
                    </m:r>
                    <m:r>
                      <a:rPr lang="en-US" altLang="zh-CN" sz="2400" i="1" cap="small" baseline="-25000"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ground-state energy. Note that </a:t>
                </a:r>
                <a14:m>
                  <m:oMath xmlns:m="http://schemas.openxmlformats.org/officeDocument/2006/math">
                    <m:acc>
                      <m:accPr>
                        <m:chr m:val="̃"/>
                        <m:ctrlPr>
                          <a:rPr lang="en-US" altLang="zh-CN" sz="2400" i="1">
                            <a:solidFill>
                              <a:srgbClr val="2926BF"/>
                            </a:solidFill>
                            <a:latin typeface="Cambria Math" panose="02040503050406030204" pitchFamily="18" charset="0"/>
                          </a:rPr>
                        </m:ctrlPr>
                      </m:accPr>
                      <m:e>
                        <m:r>
                          <a:rPr lang="en-US" altLang="zh-CN" sz="2400" i="1">
                            <a:solidFill>
                              <a:srgbClr val="2926BF"/>
                            </a:solidFill>
                            <a:latin typeface="Cambria Math" panose="02040503050406030204" pitchFamily="18" charset="0"/>
                          </a:rPr>
                          <m:t>𝐸</m:t>
                        </m:r>
                      </m:e>
                    </m:acc>
                    <m:r>
                      <a:rPr lang="en-US" altLang="zh-CN" sz="2400" i="1" dirty="0">
                        <a:solidFill>
                          <a:srgbClr val="2926BF"/>
                        </a:solidFill>
                        <a:latin typeface="Cambria Math" panose="02040503050406030204" pitchFamily="18" charset="0"/>
                      </a:rPr>
                      <m:t>=</m:t>
                    </m:r>
                    <m:r>
                      <a:rPr lang="en-US" altLang="zh-CN" sz="2400" i="1" cap="small" dirty="0">
                        <a:solidFill>
                          <a:srgbClr val="2926BF"/>
                        </a:solidFill>
                        <a:latin typeface="Cambria Math" panose="02040503050406030204" pitchFamily="18" charset="0"/>
                      </a:rPr>
                      <m:t>𝐸</m:t>
                    </m:r>
                    <m:r>
                      <a:rPr lang="en-US" altLang="zh-CN" sz="2400" i="1" cap="small" baseline="-25000" dirty="0">
                        <a:solidFill>
                          <a:srgbClr val="2926BF"/>
                        </a:solidFill>
                        <a:latin typeface="Cambria Math" panose="02040503050406030204" pitchFamily="18" charset="0"/>
                      </a:rPr>
                      <m:t>0</m:t>
                    </m:r>
                  </m:oMath>
                </a14:m>
                <a:r>
                  <a:rPr lang="en-US" altLang="zh-CN" sz="2400" dirty="0">
                    <a:latin typeface="Times New Roman" panose="02020603050405020304" pitchFamily="18" charset="0"/>
                    <a:cs typeface="Times New Roman" panose="02020603050405020304" pitchFamily="18" charset="0"/>
                  </a:rPr>
                  <a:t> only if all the </a:t>
                </a:r>
                <a14:m>
                  <m:oMath xmlns:m="http://schemas.openxmlformats.org/officeDocument/2006/math">
                    <m:r>
                      <a:rPr lang="en-US" altLang="zh-CN" sz="2400" i="1" cap="small" dirty="0">
                        <a:solidFill>
                          <a:srgbClr val="2926BF"/>
                        </a:solidFill>
                        <a:latin typeface="Cambria Math" panose="02040503050406030204" pitchFamily="18" charset="0"/>
                      </a:rPr>
                      <m:t>𝑐</m:t>
                    </m:r>
                    <m:r>
                      <a:rPr lang="en-US" altLang="zh-CN" sz="2400" i="1" cap="small" baseline="-25000" dirty="0">
                        <a:solidFill>
                          <a:srgbClr val="2926BF"/>
                        </a:solidFill>
                        <a:latin typeface="Cambria Math" panose="02040503050406030204" pitchFamily="18" charset="0"/>
                      </a:rPr>
                      <m:t>𝑘</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zero for states with </a:t>
                </a:r>
                <a14:m>
                  <m:oMath xmlns:m="http://schemas.openxmlformats.org/officeDocument/2006/math">
                    <m:r>
                      <a:rPr lang="en-US" altLang="zh-CN" sz="2400" i="1" dirty="0">
                        <a:solidFill>
                          <a:srgbClr val="2926BF"/>
                        </a:solidFill>
                        <a:latin typeface="Cambria Math" panose="02040503050406030204" pitchFamily="18" charset="0"/>
                      </a:rPr>
                      <m:t>𝐸</m:t>
                    </m:r>
                    <m:r>
                      <a:rPr lang="en-US" altLang="zh-CN" sz="2400" i="1" baseline="-25000" dirty="0">
                        <a:solidFill>
                          <a:srgbClr val="2926BF"/>
                        </a:solidFill>
                        <a:latin typeface="Cambria Math" panose="02040503050406030204" pitchFamily="18" charset="0"/>
                      </a:rPr>
                      <m:t>𝑘</m:t>
                    </m:r>
                    <m:r>
                      <a:rPr lang="en-US" altLang="zh-CN" sz="2400" i="1" dirty="0">
                        <a:solidFill>
                          <a:srgbClr val="2926BF"/>
                        </a:solidFill>
                        <a:latin typeface="Cambria Math" panose="02040503050406030204" pitchFamily="18" charset="0"/>
                      </a:rPr>
                      <m:t>&gt;</m:t>
                    </m:r>
                    <m:r>
                      <a:rPr lang="en-US" altLang="zh-CN" sz="2400" i="1" cap="small" dirty="0">
                        <a:solidFill>
                          <a:srgbClr val="2926BF"/>
                        </a:solidFill>
                        <a:latin typeface="Cambria Math" panose="02040503050406030204" pitchFamily="18" charset="0"/>
                      </a:rPr>
                      <m:t>𝐸</m:t>
                    </m:r>
                    <m:r>
                      <a:rPr lang="en-US" altLang="zh-CN" sz="2400" i="1" cap="small" baseline="-25000" dirty="0">
                        <a:solidFill>
                          <a:srgbClr val="2926BF"/>
                        </a:solidFill>
                        <a:latin typeface="Cambria Math" panose="02040503050406030204" pitchFamily="18" charset="0"/>
                      </a:rPr>
                      <m:t>0</m:t>
                    </m:r>
                  </m:oMath>
                </a14:m>
                <a:r>
                  <a:rPr lang="en-US" altLang="zh-CN" sz="2400" cap="small"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To get the energy exactly right we have to get the wavefunction exactly right.</a:t>
                </a:r>
              </a:p>
              <a:p>
                <a:pPr>
                  <a:lnSpc>
                    <a:spcPct val="120000"/>
                  </a:lnSpc>
                </a:pPr>
                <a:r>
                  <a:rPr lang="en-US" altLang="zh-CN" sz="2400" dirty="0">
                    <a:latin typeface="Times New Roman" panose="02020603050405020304" pitchFamily="18" charset="0"/>
                    <a:cs typeface="Times New Roman" panose="02020603050405020304" pitchFamily="18" charset="0"/>
                  </a:rPr>
                  <a:t>However a good approximation to the wavefunction will yield a good approximation to the energy.</a:t>
                </a:r>
              </a:p>
            </p:txBody>
          </p:sp>
        </mc:Choice>
        <mc:Fallback xmlns="">
          <p:sp>
            <p:nvSpPr>
              <p:cNvPr id="8" name="矩形 7"/>
              <p:cNvSpPr>
                <a:spLocks noRot="1" noChangeAspect="1" noMove="1" noResize="1" noEditPoints="1" noAdjustHandles="1" noChangeArrowheads="1" noChangeShapeType="1" noTextEdit="1"/>
              </p:cNvSpPr>
              <p:nvPr/>
            </p:nvSpPr>
            <p:spPr>
              <a:xfrm>
                <a:off x="401914" y="3058417"/>
                <a:ext cx="11408283" cy="1873077"/>
              </a:xfrm>
              <a:prstGeom prst="rect">
                <a:avLst/>
              </a:prstGeom>
              <a:blipFill rotWithShape="0">
                <a:blip r:embed="rId7"/>
                <a:stretch>
                  <a:fillRect l="-855" t="-326" r="-428" b="-4560"/>
                </a:stretch>
              </a:blipFill>
            </p:spPr>
            <p:txBody>
              <a:bodyPr/>
              <a:lstStyle/>
              <a:p>
                <a:r>
                  <a:rPr lang="zh-CN" altLang="en-US">
                    <a:noFill/>
                  </a:rPr>
                  <a:t> </a:t>
                </a:r>
              </a:p>
            </p:txBody>
          </p:sp>
        </mc:Fallback>
      </mc:AlternateContent>
      <p:sp>
        <p:nvSpPr>
          <p:cNvPr id="9" name="Text Box 11"/>
          <p:cNvSpPr txBox="1">
            <a:spLocks noChangeArrowheads="1"/>
          </p:cNvSpPr>
          <p:nvPr/>
        </p:nvSpPr>
        <p:spPr bwMode="auto">
          <a:xfrm>
            <a:off x="401913" y="5003132"/>
            <a:ext cx="11178939"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30000"/>
              </a:lnSpc>
              <a:spcBef>
                <a:spcPct val="0"/>
              </a:spcBef>
              <a:spcAft>
                <a:spcPct val="0"/>
              </a:spcAft>
            </a:pPr>
            <a:r>
              <a:rPr lang="zh-CN" altLang="en-US" sz="2400" b="0" i="0" dirty="0">
                <a:solidFill>
                  <a:srgbClr val="0F1115"/>
                </a:solidFill>
                <a:effectLst/>
                <a:latin typeface="黑体" panose="02010609060101010101" pitchFamily="49" charset="-122"/>
                <a:ea typeface="黑体" panose="02010609060101010101" pitchFamily="49" charset="-122"/>
              </a:rPr>
              <a:t>为获得基态能量的优良近似，需对诸多试探函数进行逐一测试，其目标在于寻得使变分积分达到极小的最优函数。</a:t>
            </a:r>
            <a:endParaRPr lang="en-US" altLang="zh-CN" sz="2400" i="1" dirty="0">
              <a:latin typeface="黑体" panose="02010609060101010101" pitchFamily="49" charset="-122"/>
              <a:ea typeface="黑体" panose="02010609060101010101" pitchFamily="49" charset="-122"/>
            </a:endParaRPr>
          </a:p>
        </p:txBody>
      </p:sp>
      <p:grpSp>
        <p:nvGrpSpPr>
          <p:cNvPr id="3" name="组合 2">
            <a:extLst>
              <a:ext uri="{FF2B5EF4-FFF2-40B4-BE49-F238E27FC236}">
                <a16:creationId xmlns:a16="http://schemas.microsoft.com/office/drawing/2014/main" id="{0C1D7CE4-AA99-149E-B16C-7C46D99AAEB4}"/>
              </a:ext>
            </a:extLst>
          </p:cNvPr>
          <p:cNvGrpSpPr/>
          <p:nvPr/>
        </p:nvGrpSpPr>
        <p:grpSpPr>
          <a:xfrm>
            <a:off x="4882120" y="705436"/>
            <a:ext cx="3135313" cy="1012825"/>
            <a:chOff x="4882120" y="705436"/>
            <a:chExt cx="3135313" cy="1012825"/>
          </a:xfrm>
        </p:grpSpPr>
        <p:graphicFrame>
          <p:nvGraphicFramePr>
            <p:cNvPr id="5" name="对象 4">
              <a:extLst>
                <a:ext uri="{FF2B5EF4-FFF2-40B4-BE49-F238E27FC236}">
                  <a16:creationId xmlns:a16="http://schemas.microsoft.com/office/drawing/2014/main" id="{D3804054-9FB9-44D5-B0ED-B41579D7CF80}"/>
                </a:ext>
              </a:extLst>
            </p:cNvPr>
            <p:cNvGraphicFramePr>
              <a:graphicFrameLocks noChangeAspect="1"/>
            </p:cNvGraphicFramePr>
            <p:nvPr>
              <p:extLst>
                <p:ext uri="{D42A27DB-BD31-4B8C-83A1-F6EECF244321}">
                  <p14:modId xmlns:p14="http://schemas.microsoft.com/office/powerpoint/2010/main" val="927155764"/>
                </p:ext>
              </p:extLst>
            </p:nvPr>
          </p:nvGraphicFramePr>
          <p:xfrm>
            <a:off x="4882120" y="705436"/>
            <a:ext cx="3135313" cy="1012825"/>
          </p:xfrm>
          <a:graphic>
            <a:graphicData uri="http://schemas.openxmlformats.org/presentationml/2006/ole">
              <mc:AlternateContent xmlns:mc="http://schemas.openxmlformats.org/markup-compatibility/2006">
                <mc:Choice xmlns:v="urn:schemas-microsoft-com:vml" Requires="v">
                  <p:oleObj name="Equation" r:id="rId8" imgW="1714320" imgH="558720" progId="Equation.DSMT4">
                    <p:embed/>
                  </p:oleObj>
                </mc:Choice>
                <mc:Fallback>
                  <p:oleObj name="Equation" r:id="rId8" imgW="1714320" imgH="558720" progId="Equation.DSMT4">
                    <p:embed/>
                    <p:pic>
                      <p:nvPicPr>
                        <p:cNvPr id="5" name="对象 4">
                          <a:extLst>
                            <a:ext uri="{FF2B5EF4-FFF2-40B4-BE49-F238E27FC236}">
                              <a16:creationId xmlns:a16="http://schemas.microsoft.com/office/drawing/2014/main" id="{D3804054-9FB9-44D5-B0ED-B41579D7CF80}"/>
                            </a:ext>
                          </a:extLst>
                        </p:cNvPr>
                        <p:cNvPicPr/>
                        <p:nvPr/>
                      </p:nvPicPr>
                      <p:blipFill>
                        <a:blip r:embed="rId9"/>
                        <a:stretch>
                          <a:fillRect/>
                        </a:stretch>
                      </p:blipFill>
                      <p:spPr>
                        <a:xfrm>
                          <a:off x="4882120" y="705436"/>
                          <a:ext cx="3135313" cy="1012825"/>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463A6634-22B7-80CD-75DB-3781399585E6}"/>
                </a:ext>
              </a:extLst>
            </p:cNvPr>
            <p:cNvSpPr txBox="1"/>
            <p:nvPr/>
          </p:nvSpPr>
          <p:spPr>
            <a:xfrm>
              <a:off x="5815306" y="808670"/>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2598873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EAE395A-39F5-40F8-9FAE-79D2969666D5}"/>
              </a:ext>
            </a:extLst>
          </p:cNvPr>
          <p:cNvSpPr/>
          <p:nvPr/>
        </p:nvSpPr>
        <p:spPr>
          <a:xfrm>
            <a:off x="2389830" y="182707"/>
            <a:ext cx="8118889"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6.3 Application of variation method for simple cases</a:t>
            </a:r>
            <a:endParaRPr lang="zh-CN" altLang="en-US" sz="2800" b="1" dirty="0">
              <a:latin typeface="Times New Roman" panose="02020603050405020304" pitchFamily="18" charset="0"/>
              <a:cs typeface="Times New Roman" panose="02020603050405020304" pitchFamily="18" charset="0"/>
            </a:endParaRPr>
          </a:p>
        </p:txBody>
      </p:sp>
      <p:sp>
        <p:nvSpPr>
          <p:cNvPr id="5" name="Line 2">
            <a:extLst>
              <a:ext uri="{FF2B5EF4-FFF2-40B4-BE49-F238E27FC236}">
                <a16:creationId xmlns:a16="http://schemas.microsoft.com/office/drawing/2014/main" id="{7FDF812A-C90B-4185-8CCF-F07EAD0C8FE5}"/>
              </a:ext>
            </a:extLst>
          </p:cNvPr>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9082B30-C2E4-46D6-9ABF-787FF1BCB425}"/>
              </a:ext>
            </a:extLst>
          </p:cNvPr>
          <p:cNvSpPr/>
          <p:nvPr/>
        </p:nvSpPr>
        <p:spPr>
          <a:xfrm>
            <a:off x="1661091" y="2259229"/>
            <a:ext cx="3363421" cy="1441228"/>
          </a:xfrm>
          <a:prstGeom prst="rect">
            <a:avLst/>
          </a:prstGeom>
        </p:spPr>
        <p:txBody>
          <a:bodyPr wrap="none">
            <a:spAutoFit/>
          </a:bodyPr>
          <a:lstStyle/>
          <a:p>
            <a:pPr marL="342900" indent="-342900">
              <a:lnSpc>
                <a:spcPct val="125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 particle in a box</a:t>
            </a:r>
          </a:p>
          <a:p>
            <a:pPr marL="342900" indent="-342900">
              <a:lnSpc>
                <a:spcPct val="125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the harmonic oscillator</a:t>
            </a:r>
          </a:p>
          <a:p>
            <a:pPr marL="342900" indent="-342900">
              <a:lnSpc>
                <a:spcPct val="125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multi-electron atoms</a:t>
            </a:r>
            <a:endParaRPr lang="zh-CN" altLang="en-US" sz="2400" dirty="0"/>
          </a:p>
        </p:txBody>
      </p:sp>
    </p:spTree>
    <p:extLst>
      <p:ext uri="{BB962C8B-B14F-4D97-AF65-F5344CB8AC3E}">
        <p14:creationId xmlns:p14="http://schemas.microsoft.com/office/powerpoint/2010/main" val="415501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28113" y="243055"/>
            <a:ext cx="6477094"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Variation principle for a particle in a box</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196731" y="918674"/>
                <a:ext cx="11374243" cy="1212511"/>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Suppose that we did not know the ground-state wavefunction for a particle in a box. Knowing that it has to be zero when </a:t>
                </a:r>
                <a14:m>
                  <m:oMath xmlns:m="http://schemas.openxmlformats.org/officeDocument/2006/math">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0</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𝑎</m:t>
                    </m:r>
                  </m:oMath>
                </a14:m>
                <a:r>
                  <a:rPr lang="en-US" altLang="zh-CN" sz="2400" dirty="0">
                    <a:latin typeface="Times New Roman" panose="02020603050405020304" pitchFamily="18" charset="0"/>
                    <a:ea typeface="SimSun"/>
                    <a:cs typeface="Times New Roman" panose="02020603050405020304" pitchFamily="18" charset="0"/>
                  </a:rPr>
                  <a:t>,</a:t>
                </a:r>
                <a:r>
                  <a:rPr lang="zh-CN" altLang="en-US" sz="2400" dirty="0">
                    <a:solidFill>
                      <a:srgbClr val="2926BF"/>
                    </a:solidFill>
                    <a:latin typeface="Times New Roman" panose="02020603050405020304" pitchFamily="18" charset="0"/>
                    <a:ea typeface="SimSun"/>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we might try the wavefunction </a:t>
                </a:r>
                <a14:m>
                  <m:oMath xmlns:m="http://schemas.openxmlformats.org/officeDocument/2006/math">
                    <m:acc>
                      <m:accPr>
                        <m:chr m:val="̃"/>
                        <m:ctrlPr>
                          <a:rPr lang="en-US" altLang="zh-CN" sz="2400" i="1">
                            <a:solidFill>
                              <a:srgbClr val="2926BF"/>
                            </a:solidFill>
                            <a:latin typeface="Cambria Math" panose="02040503050406030204" pitchFamily="18" charset="0"/>
                          </a:rPr>
                        </m:ctrlPr>
                      </m:accPr>
                      <m:e>
                        <m:r>
                          <a:rPr lang="zh-CN" altLang="en-US" sz="2400" i="1">
                            <a:solidFill>
                              <a:srgbClr val="2926BF"/>
                            </a:solidFill>
                            <a:latin typeface="Cambria Math" panose="02040503050406030204" pitchFamily="18" charset="0"/>
                          </a:rPr>
                          <m:t>𝜓</m:t>
                        </m:r>
                      </m:e>
                    </m:acc>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𝑎</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dirty="0">
                        <a:latin typeface="Cambria Math" panose="02040503050406030204" pitchFamily="18" charset="0"/>
                      </a:rPr>
                      <m:t>.</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For this wavefunction we find</a:t>
                </a:r>
              </a:p>
            </p:txBody>
          </p:sp>
        </mc:Choice>
        <mc:Fallback xmlns="">
          <p:sp>
            <p:nvSpPr>
              <p:cNvPr id="3" name="矩形 2"/>
              <p:cNvSpPr>
                <a:spLocks noRot="1" noChangeAspect="1" noMove="1" noResize="1" noEditPoints="1" noAdjustHandles="1" noChangeArrowheads="1" noChangeShapeType="1" noTextEdit="1"/>
              </p:cNvSpPr>
              <p:nvPr/>
            </p:nvSpPr>
            <p:spPr>
              <a:xfrm>
                <a:off x="196731" y="918674"/>
                <a:ext cx="11374243" cy="1212511"/>
              </a:xfrm>
              <a:prstGeom prst="rect">
                <a:avLst/>
              </a:prstGeom>
              <a:blipFill rotWithShape="0">
                <a:blip r:embed="rId3"/>
                <a:stretch>
                  <a:fillRect l="-804" t="-4020" b="-105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28510" y="4930332"/>
                <a:ext cx="11606816" cy="1433085"/>
              </a:xfrm>
              <a:prstGeom prst="rect">
                <a:avLst/>
              </a:prstGeom>
            </p:spPr>
            <p:txBody>
              <a:bodyPr wrap="square">
                <a:spAutoFit/>
              </a:bodyPr>
              <a:lstStyle/>
              <a:p>
                <a:pPr>
                  <a:lnSpc>
                    <a:spcPct val="121000"/>
                  </a:lnSpc>
                </a:pPr>
                <a:r>
                  <a:rPr lang="en-US" altLang="zh-CN" sz="2400" dirty="0">
                    <a:latin typeface="Times New Roman" panose="02020603050405020304" pitchFamily="18" charset="0"/>
                    <a:cs typeface="Times New Roman" panose="02020603050405020304" pitchFamily="18" charset="0"/>
                  </a:rPr>
                  <a:t>The exact energy for the ground state in this case is </a:t>
                </a:r>
                <a14:m>
                  <m:oMath xmlns:m="http://schemas.openxmlformats.org/officeDocument/2006/math">
                    <m:r>
                      <a:rPr lang="en-US" altLang="zh-CN" sz="2400" i="1" dirty="0">
                        <a:solidFill>
                          <a:srgbClr val="2926BF"/>
                        </a:solidFill>
                        <a:latin typeface="Cambria Math" panose="02040503050406030204" pitchFamily="18" charset="0"/>
                      </a:rPr>
                      <m:t>h</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8</m:t>
                    </m:r>
                    <m:r>
                      <a:rPr lang="en-US" altLang="zh-CN" sz="2400" i="1" dirty="0">
                        <a:solidFill>
                          <a:srgbClr val="2926BF"/>
                        </a:solidFill>
                        <a:latin typeface="Cambria Math" panose="02040503050406030204" pitchFamily="18" charset="0"/>
                      </a:rPr>
                      <m:t>𝑚𝑎</m:t>
                    </m:r>
                    <m:r>
                      <a:rPr lang="en-US" altLang="zh-CN" sz="2400" i="1" baseline="30000" dirty="0">
                        <a:solidFill>
                          <a:srgbClr val="2926BF"/>
                        </a:solidFill>
                        <a:latin typeface="Cambria Math" panose="02040503050406030204" pitchFamily="18" charset="0"/>
                      </a:rPr>
                      <m:t>2</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so the approximate result is higher than the exact one by a factor of </a:t>
                </a:r>
                <a14:m>
                  <m:oMath xmlns:m="http://schemas.openxmlformats.org/officeDocument/2006/math">
                    <m:r>
                      <a:rPr lang="en-US" altLang="zh-CN" sz="2400" i="1" cap="small" dirty="0">
                        <a:solidFill>
                          <a:srgbClr val="2926BF"/>
                        </a:solidFill>
                        <a:latin typeface="Cambria Math" panose="02040503050406030204" pitchFamily="18" charset="0"/>
                      </a:rPr>
                      <m:t>10</m:t>
                    </m:r>
                    <m:r>
                      <a:rPr lang="en-US" altLang="zh-CN" sz="2400" i="1" cap="small" dirty="0">
                        <a:solidFill>
                          <a:srgbClr val="2926BF"/>
                        </a:solidFill>
                        <a:latin typeface="Cambria Math" panose="02040503050406030204" pitchFamily="18" charset="0"/>
                      </a:rPr>
                      <m:t>/</m:t>
                    </m:r>
                    <m:r>
                      <a:rPr lang="zh-CN" altLang="en-US" sz="2400" i="1" cap="small" dirty="0">
                        <a:solidFill>
                          <a:srgbClr val="2926BF"/>
                        </a:solidFill>
                        <a:latin typeface="Cambria Math" panose="02040503050406030204" pitchFamily="18" charset="0"/>
                      </a:rPr>
                      <m:t>𝜋</m:t>
                    </m:r>
                    <m:r>
                      <a:rPr lang="en-US" altLang="zh-CN" sz="2400" i="1" cap="small"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 </m:t>
                    </m:r>
                    <m:r>
                      <a:rPr lang="en-US" altLang="zh-CN" sz="2400" i="1" dirty="0">
                        <a:solidFill>
                          <a:srgbClr val="2926BF"/>
                        </a:solidFill>
                        <a:latin typeface="Cambria Math" panose="02040503050406030204" pitchFamily="18" charset="0"/>
                      </a:rPr>
                      <m:t>1</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013</m:t>
                    </m:r>
                  </m:oMath>
                </a14:m>
                <a:r>
                  <a:rPr lang="en-US" altLang="zh-CN" sz="2400" dirty="0">
                    <a:latin typeface="Times New Roman" panose="02020603050405020304" pitchFamily="18" charset="0"/>
                    <a:cs typeface="Times New Roman" panose="02020603050405020304" pitchFamily="18" charset="0"/>
                  </a:rPr>
                  <a:t>. The wavefunction is not correct, but it gives a good estimate of the energy.</a:t>
                </a:r>
              </a:p>
            </p:txBody>
          </p:sp>
        </mc:Choice>
        <mc:Fallback xmlns="">
          <p:sp>
            <p:nvSpPr>
              <p:cNvPr id="6" name="矩形 5"/>
              <p:cNvSpPr>
                <a:spLocks noRot="1" noChangeAspect="1" noMove="1" noResize="1" noEditPoints="1" noAdjustHandles="1" noChangeArrowheads="1" noChangeShapeType="1" noTextEdit="1"/>
              </p:cNvSpPr>
              <p:nvPr/>
            </p:nvSpPr>
            <p:spPr>
              <a:xfrm>
                <a:off x="328510" y="4930332"/>
                <a:ext cx="11606816" cy="1433085"/>
              </a:xfrm>
              <a:prstGeom prst="rect">
                <a:avLst/>
              </a:prstGeom>
              <a:blipFill rotWithShape="0">
                <a:blip r:embed="rId8"/>
                <a:stretch>
                  <a:fillRect l="-840" t="-851" b="-6383"/>
                </a:stretch>
              </a:blipFill>
            </p:spPr>
            <p:txBody>
              <a:bodyPr/>
              <a:lstStyle/>
              <a:p>
                <a:r>
                  <a:rPr lang="zh-CN" altLang="en-US">
                    <a:noFill/>
                  </a:rPr>
                  <a:t> </a:t>
                </a:r>
              </a:p>
            </p:txBody>
          </p:sp>
        </mc:Fallback>
      </mc:AlternateContent>
      <p:sp>
        <p:nvSpPr>
          <p:cNvPr id="7"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8" name="Group 15"/>
          <p:cNvGrpSpPr>
            <a:grpSpLocks/>
          </p:cNvGrpSpPr>
          <p:nvPr/>
        </p:nvGrpSpPr>
        <p:grpSpPr bwMode="auto">
          <a:xfrm>
            <a:off x="8561336" y="2411826"/>
            <a:ext cx="2667000" cy="2514600"/>
            <a:chOff x="3456" y="768"/>
            <a:chExt cx="1680" cy="1584"/>
          </a:xfrm>
        </p:grpSpPr>
        <p:sp>
          <p:nvSpPr>
            <p:cNvPr id="9" name="Line 3"/>
            <p:cNvSpPr>
              <a:spLocks noChangeShapeType="1"/>
            </p:cNvSpPr>
            <p:nvPr/>
          </p:nvSpPr>
          <p:spPr bwMode="auto">
            <a:xfrm>
              <a:off x="3552" y="816"/>
              <a:ext cx="0" cy="115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effectLst/>
                <a:uLnTx/>
                <a:uFillTx/>
                <a:latin typeface="Times New Roman" pitchFamily="18" charset="0"/>
                <a:ea typeface="宋体" charset="-122"/>
              </a:endParaRPr>
            </a:p>
          </p:txBody>
        </p:sp>
        <p:sp>
          <p:nvSpPr>
            <p:cNvPr id="10" name="Line 4"/>
            <p:cNvSpPr>
              <a:spLocks noChangeShapeType="1"/>
            </p:cNvSpPr>
            <p:nvPr/>
          </p:nvSpPr>
          <p:spPr bwMode="auto">
            <a:xfrm>
              <a:off x="3552" y="1968"/>
              <a:ext cx="153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effectLst/>
                <a:uLnTx/>
                <a:uFillTx/>
                <a:latin typeface="Times New Roman" pitchFamily="18" charset="0"/>
                <a:ea typeface="宋体" charset="-122"/>
              </a:endParaRPr>
            </a:p>
          </p:txBody>
        </p:sp>
        <p:sp>
          <p:nvSpPr>
            <p:cNvPr id="11" name="Line 5"/>
            <p:cNvSpPr>
              <a:spLocks noChangeShapeType="1"/>
            </p:cNvSpPr>
            <p:nvPr/>
          </p:nvSpPr>
          <p:spPr bwMode="auto">
            <a:xfrm flipV="1">
              <a:off x="5088" y="768"/>
              <a:ext cx="0" cy="1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effectLst/>
                <a:uLnTx/>
                <a:uFillTx/>
                <a:latin typeface="Times New Roman" pitchFamily="18" charset="0"/>
                <a:ea typeface="宋体" charset="-122"/>
              </a:endParaRPr>
            </a:p>
          </p:txBody>
        </p:sp>
        <p:sp>
          <p:nvSpPr>
            <p:cNvPr id="12" name="Freeform 8"/>
            <p:cNvSpPr>
              <a:spLocks/>
            </p:cNvSpPr>
            <p:nvPr/>
          </p:nvSpPr>
          <p:spPr bwMode="auto">
            <a:xfrm>
              <a:off x="3552" y="1392"/>
              <a:ext cx="1536" cy="576"/>
            </a:xfrm>
            <a:custGeom>
              <a:avLst/>
              <a:gdLst>
                <a:gd name="T0" fmla="*/ 0 w 1536"/>
                <a:gd name="T1" fmla="*/ 576 h 576"/>
                <a:gd name="T2" fmla="*/ 768 w 1536"/>
                <a:gd name="T3" fmla="*/ 0 h 576"/>
                <a:gd name="T4" fmla="*/ 1536 w 1536"/>
                <a:gd name="T5" fmla="*/ 576 h 576"/>
                <a:gd name="T6" fmla="*/ 0 60000 65536"/>
                <a:gd name="T7" fmla="*/ 0 60000 65536"/>
                <a:gd name="T8" fmla="*/ 0 60000 65536"/>
                <a:gd name="T9" fmla="*/ 0 w 1536"/>
                <a:gd name="T10" fmla="*/ 0 h 576"/>
                <a:gd name="T11" fmla="*/ 1536 w 1536"/>
                <a:gd name="T12" fmla="*/ 576 h 576"/>
              </a:gdLst>
              <a:ahLst/>
              <a:cxnLst>
                <a:cxn ang="T6">
                  <a:pos x="T0" y="T1"/>
                </a:cxn>
                <a:cxn ang="T7">
                  <a:pos x="T2" y="T3"/>
                </a:cxn>
                <a:cxn ang="T8">
                  <a:pos x="T4" y="T5"/>
                </a:cxn>
              </a:cxnLst>
              <a:rect l="T9" t="T10" r="T11" b="T12"/>
              <a:pathLst>
                <a:path w="1536" h="576">
                  <a:moveTo>
                    <a:pt x="0" y="576"/>
                  </a:moveTo>
                  <a:cubicBezTo>
                    <a:pt x="256" y="288"/>
                    <a:pt x="512" y="0"/>
                    <a:pt x="768" y="0"/>
                  </a:cubicBezTo>
                  <a:cubicBezTo>
                    <a:pt x="1024" y="0"/>
                    <a:pt x="1392" y="472"/>
                    <a:pt x="1536" y="576"/>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a:ln>
                  <a:noFill/>
                </a:ln>
                <a:effectLst/>
                <a:uLnTx/>
                <a:uFillTx/>
                <a:latin typeface="Times New Roman" pitchFamily="18" charset="0"/>
                <a:ea typeface="宋体" charset="-122"/>
              </a:endParaRPr>
            </a:p>
          </p:txBody>
        </p:sp>
        <p:sp>
          <p:nvSpPr>
            <p:cNvPr id="13" name="Text Box 9"/>
            <p:cNvSpPr txBox="1">
              <a:spLocks noChangeArrowheads="1"/>
            </p:cNvSpPr>
            <p:nvPr/>
          </p:nvSpPr>
          <p:spPr bwMode="auto">
            <a:xfrm>
              <a:off x="3456" y="206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0" u="none" strike="noStrike" kern="0" cap="none" spc="0" normalizeH="0" baseline="0" noProof="0">
                  <a:ln>
                    <a:noFill/>
                  </a:ln>
                  <a:effectLst/>
                  <a:uLnTx/>
                  <a:uFillTx/>
                  <a:latin typeface="Times New Roman" pitchFamily="18" charset="0"/>
                  <a:ea typeface="宋体" charset="-122"/>
                </a:rPr>
                <a:t>0</a:t>
              </a:r>
            </a:p>
          </p:txBody>
        </p:sp>
        <p:sp>
          <p:nvSpPr>
            <p:cNvPr id="14" name="Text Box 10"/>
            <p:cNvSpPr txBox="1">
              <a:spLocks noChangeArrowheads="1"/>
            </p:cNvSpPr>
            <p:nvPr/>
          </p:nvSpPr>
          <p:spPr bwMode="auto">
            <a:xfrm>
              <a:off x="4944" y="206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0" i="1" u="none" strike="noStrike" kern="0" cap="none" spc="0" normalizeH="0" baseline="0" noProof="0">
                  <a:ln>
                    <a:noFill/>
                  </a:ln>
                  <a:effectLst/>
                  <a:uLnTx/>
                  <a:uFillTx/>
                  <a:latin typeface="Times New Roman" pitchFamily="18" charset="0"/>
                  <a:ea typeface="宋体" charset="-122"/>
                </a:rPr>
                <a:t>l</a:t>
              </a:r>
            </a:p>
          </p:txBody>
        </p:sp>
      </p:grpSp>
      <p:grpSp>
        <p:nvGrpSpPr>
          <p:cNvPr id="19" name="组合 18">
            <a:extLst>
              <a:ext uri="{FF2B5EF4-FFF2-40B4-BE49-F238E27FC236}">
                <a16:creationId xmlns:a16="http://schemas.microsoft.com/office/drawing/2014/main" id="{CD34C9C2-6611-AEA9-DC36-AF7BFD2E86DE}"/>
              </a:ext>
            </a:extLst>
          </p:cNvPr>
          <p:cNvGrpSpPr/>
          <p:nvPr/>
        </p:nvGrpSpPr>
        <p:grpSpPr>
          <a:xfrm>
            <a:off x="1144537" y="2335626"/>
            <a:ext cx="6350000" cy="1524000"/>
            <a:chOff x="1144537" y="2335626"/>
            <a:chExt cx="6350000" cy="1524000"/>
          </a:xfrm>
        </p:grpSpPr>
        <p:graphicFrame>
          <p:nvGraphicFramePr>
            <p:cNvPr id="4" name="对象 3">
              <a:extLst>
                <a:ext uri="{FF2B5EF4-FFF2-40B4-BE49-F238E27FC236}">
                  <a16:creationId xmlns:a16="http://schemas.microsoft.com/office/drawing/2014/main" id="{98E01D2E-4089-4DDE-A347-1D18E6BE1099}"/>
                </a:ext>
              </a:extLst>
            </p:cNvPr>
            <p:cNvGraphicFramePr>
              <a:graphicFrameLocks noChangeAspect="1"/>
            </p:cNvGraphicFramePr>
            <p:nvPr>
              <p:extLst>
                <p:ext uri="{D42A27DB-BD31-4B8C-83A1-F6EECF244321}">
                  <p14:modId xmlns:p14="http://schemas.microsoft.com/office/powerpoint/2010/main" val="2053433279"/>
                </p:ext>
              </p:extLst>
            </p:nvPr>
          </p:nvGraphicFramePr>
          <p:xfrm>
            <a:off x="1144537" y="2335626"/>
            <a:ext cx="6350000" cy="1524000"/>
          </p:xfrm>
          <a:graphic>
            <a:graphicData uri="http://schemas.openxmlformats.org/presentationml/2006/ole">
              <mc:AlternateContent xmlns:mc="http://schemas.openxmlformats.org/markup-compatibility/2006">
                <mc:Choice xmlns:v="urn:schemas-microsoft-com:vml" Requires="v">
                  <p:oleObj name="Equation" r:id="rId9" imgW="3174840" imgH="761760" progId="Equation.DSMT4">
                    <p:embed/>
                  </p:oleObj>
                </mc:Choice>
                <mc:Fallback>
                  <p:oleObj name="Equation" r:id="rId9" imgW="3174840" imgH="761760" progId="Equation.DSMT4">
                    <p:embed/>
                    <p:pic>
                      <p:nvPicPr>
                        <p:cNvPr id="4" name="对象 3">
                          <a:extLst>
                            <a:ext uri="{FF2B5EF4-FFF2-40B4-BE49-F238E27FC236}">
                              <a16:creationId xmlns:a16="http://schemas.microsoft.com/office/drawing/2014/main" id="{98E01D2E-4089-4DDE-A347-1D18E6BE1099}"/>
                            </a:ext>
                          </a:extLst>
                        </p:cNvPr>
                        <p:cNvPicPr/>
                        <p:nvPr/>
                      </p:nvPicPr>
                      <p:blipFill>
                        <a:blip r:embed="rId10"/>
                        <a:stretch>
                          <a:fillRect/>
                        </a:stretch>
                      </p:blipFill>
                      <p:spPr>
                        <a:xfrm>
                          <a:off x="1144537" y="2335626"/>
                          <a:ext cx="6350000" cy="1524000"/>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189D00DD-A040-2472-0053-162F563B3B69}"/>
                </a:ext>
              </a:extLst>
            </p:cNvPr>
            <p:cNvSpPr txBox="1"/>
            <p:nvPr/>
          </p:nvSpPr>
          <p:spPr>
            <a:xfrm>
              <a:off x="1643356" y="3280408"/>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grpSp>
        <p:nvGrpSpPr>
          <p:cNvPr id="18" name="组合 17">
            <a:extLst>
              <a:ext uri="{FF2B5EF4-FFF2-40B4-BE49-F238E27FC236}">
                <a16:creationId xmlns:a16="http://schemas.microsoft.com/office/drawing/2014/main" id="{EB484B7A-EC70-9F6F-83F0-3B73C4D6CF05}"/>
              </a:ext>
            </a:extLst>
          </p:cNvPr>
          <p:cNvGrpSpPr/>
          <p:nvPr/>
        </p:nvGrpSpPr>
        <p:grpSpPr>
          <a:xfrm>
            <a:off x="2160617" y="3986826"/>
            <a:ext cx="4317840" cy="939600"/>
            <a:chOff x="2160617" y="3986826"/>
            <a:chExt cx="4317840" cy="939600"/>
          </a:xfrm>
        </p:grpSpPr>
        <p:graphicFrame>
          <p:nvGraphicFramePr>
            <p:cNvPr id="5" name="对象 4">
              <a:extLst>
                <a:ext uri="{FF2B5EF4-FFF2-40B4-BE49-F238E27FC236}">
                  <a16:creationId xmlns:a16="http://schemas.microsoft.com/office/drawing/2014/main" id="{FED7102B-BBB6-4DAC-959D-B984CF4F467A}"/>
                </a:ext>
              </a:extLst>
            </p:cNvPr>
            <p:cNvGraphicFramePr>
              <a:graphicFrameLocks noChangeAspect="1"/>
            </p:cNvGraphicFramePr>
            <p:nvPr>
              <p:extLst>
                <p:ext uri="{D42A27DB-BD31-4B8C-83A1-F6EECF244321}">
                  <p14:modId xmlns:p14="http://schemas.microsoft.com/office/powerpoint/2010/main" val="1547045955"/>
                </p:ext>
              </p:extLst>
            </p:nvPr>
          </p:nvGraphicFramePr>
          <p:xfrm>
            <a:off x="2160617" y="3986826"/>
            <a:ext cx="4317840" cy="939600"/>
          </p:xfrm>
          <a:graphic>
            <a:graphicData uri="http://schemas.openxmlformats.org/presentationml/2006/ole">
              <mc:AlternateContent xmlns:mc="http://schemas.openxmlformats.org/markup-compatibility/2006">
                <mc:Choice xmlns:v="urn:schemas-microsoft-com:vml" Requires="v">
                  <p:oleObj name="Equation" r:id="rId11" imgW="2158920" imgH="469800" progId="Equation.DSMT4">
                    <p:embed/>
                  </p:oleObj>
                </mc:Choice>
                <mc:Fallback>
                  <p:oleObj name="Equation" r:id="rId11" imgW="2158920" imgH="469800" progId="Equation.DSMT4">
                    <p:embed/>
                    <p:pic>
                      <p:nvPicPr>
                        <p:cNvPr id="5" name="对象 4">
                          <a:extLst>
                            <a:ext uri="{FF2B5EF4-FFF2-40B4-BE49-F238E27FC236}">
                              <a16:creationId xmlns:a16="http://schemas.microsoft.com/office/drawing/2014/main" id="{FED7102B-BBB6-4DAC-959D-B984CF4F467A}"/>
                            </a:ext>
                          </a:extLst>
                        </p:cNvPr>
                        <p:cNvPicPr/>
                        <p:nvPr/>
                      </p:nvPicPr>
                      <p:blipFill>
                        <a:blip r:embed="rId12"/>
                        <a:stretch>
                          <a:fillRect/>
                        </a:stretch>
                      </p:blipFill>
                      <p:spPr>
                        <a:xfrm>
                          <a:off x="2160617" y="3986826"/>
                          <a:ext cx="4317840" cy="939600"/>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A1A3D650-1DA7-B43B-1E18-EE3D1365407B}"/>
                </a:ext>
              </a:extLst>
            </p:cNvPr>
            <p:cNvSpPr txBox="1"/>
            <p:nvPr/>
          </p:nvSpPr>
          <p:spPr>
            <a:xfrm>
              <a:off x="4000777" y="4013841"/>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sp>
          <p:nvSpPr>
            <p:cNvPr id="17" name="文本框 16">
              <a:extLst>
                <a:ext uri="{FF2B5EF4-FFF2-40B4-BE49-F238E27FC236}">
                  <a16:creationId xmlns:a16="http://schemas.microsoft.com/office/drawing/2014/main" id="{4BD7339F-BB23-AA66-7343-BC56D6FA5CC7}"/>
                </a:ext>
              </a:extLst>
            </p:cNvPr>
            <p:cNvSpPr txBox="1"/>
            <p:nvPr/>
          </p:nvSpPr>
          <p:spPr>
            <a:xfrm>
              <a:off x="2853018" y="4232919"/>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2032757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90870" y="253827"/>
            <a:ext cx="7140673"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Variation method for the harmonic oscillator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200764" y="979056"/>
                <a:ext cx="11864898" cy="1515608"/>
              </a:xfrm>
              <a:prstGeom prst="rect">
                <a:avLst/>
              </a:prstGeom>
            </p:spPr>
            <p:txBody>
              <a:bodyPr wrap="square">
                <a:spAutoFit/>
              </a:bodyPr>
              <a:lstStyle/>
              <a:p>
                <a:pPr>
                  <a:lnSpc>
                    <a:spcPct val="121000"/>
                  </a:lnSpc>
                </a:pPr>
                <a:r>
                  <a:rPr lang="en-US" altLang="zh-CN" sz="2400" dirty="0">
                    <a:latin typeface="Times New Roman" panose="02020603050405020304" pitchFamily="18" charset="0"/>
                    <a:cs typeface="Times New Roman" panose="02020603050405020304" pitchFamily="18" charset="0"/>
                  </a:rPr>
                  <a:t>Usually we use a trial function that contains one or more adjustable parameters, and minimize the energy with respect to the parameters. We can use the variation method in this way to find the harmonic oscillator ground state, using the trial function </a:t>
                </a:r>
                <a14:m>
                  <m:oMath xmlns:m="http://schemas.openxmlformats.org/officeDocument/2006/math">
                    <m:acc>
                      <m:accPr>
                        <m:chr m:val="̃"/>
                        <m:ctrlPr>
                          <a:rPr lang="en-US" altLang="zh-CN" sz="2400" i="1" smtClean="0">
                            <a:solidFill>
                              <a:srgbClr val="3333FF"/>
                            </a:solidFill>
                            <a:latin typeface="Cambria Math" panose="02040503050406030204" pitchFamily="18" charset="0"/>
                          </a:rPr>
                        </m:ctrlPr>
                      </m:accPr>
                      <m:e>
                        <m:r>
                          <a:rPr lang="zh-CN" altLang="en-US" sz="2400" i="1">
                            <a:solidFill>
                              <a:srgbClr val="3333FF"/>
                            </a:solidFill>
                            <a:latin typeface="Cambria Math" panose="02040503050406030204" pitchFamily="18" charset="0"/>
                          </a:rPr>
                          <m:t>𝜓</m:t>
                        </m:r>
                      </m:e>
                    </m:acc>
                    <m:r>
                      <a:rPr lang="en-US" altLang="zh-CN" sz="2400" i="1" dirty="0">
                        <a:solidFill>
                          <a:srgbClr val="3333FF"/>
                        </a:solidFill>
                        <a:latin typeface="Cambria Math" panose="02040503050406030204" pitchFamily="18" charset="0"/>
                      </a:rPr>
                      <m:t>=</m:t>
                    </m:r>
                    <m:sSup>
                      <m:sSupPr>
                        <m:ctrlPr>
                          <a:rPr lang="en-US" altLang="zh-CN" sz="2400" i="1" dirty="0">
                            <a:solidFill>
                              <a:srgbClr val="3333FF"/>
                            </a:solidFill>
                            <a:latin typeface="Cambria Math" panose="02040503050406030204" pitchFamily="18" charset="0"/>
                          </a:rPr>
                        </m:ctrlPr>
                      </m:sSupPr>
                      <m:e>
                        <m:r>
                          <m:rPr>
                            <m:sty m:val="p"/>
                          </m:rPr>
                          <a:rPr lang="en-US" altLang="zh-CN" sz="2400" dirty="0">
                            <a:solidFill>
                              <a:srgbClr val="3333FF"/>
                            </a:solidFill>
                            <a:latin typeface="Cambria Math" panose="02040503050406030204" pitchFamily="18" charset="0"/>
                          </a:rPr>
                          <m:t>e</m:t>
                        </m:r>
                      </m:e>
                      <m:sup>
                        <m:r>
                          <a:rPr lang="en-US" altLang="zh-CN" sz="2400" i="1" dirty="0">
                            <a:solidFill>
                              <a:srgbClr val="3333FF"/>
                            </a:solidFill>
                            <a:latin typeface="Cambria Math" panose="02040503050406030204" pitchFamily="18" charset="0"/>
                          </a:rPr>
                          <m:t>−</m:t>
                        </m:r>
                        <m:f>
                          <m:fPr>
                            <m:ctrlPr>
                              <a:rPr lang="en-US" altLang="zh-CN" sz="2400" i="1" dirty="0">
                                <a:solidFill>
                                  <a:srgbClr val="3333FF"/>
                                </a:solidFill>
                                <a:latin typeface="Cambria Math" panose="02040503050406030204" pitchFamily="18" charset="0"/>
                              </a:rPr>
                            </m:ctrlPr>
                          </m:fPr>
                          <m:num>
                            <m:r>
                              <a:rPr lang="en-US" altLang="zh-CN" sz="2400" i="1" dirty="0">
                                <a:solidFill>
                                  <a:srgbClr val="3333FF"/>
                                </a:solidFill>
                                <a:latin typeface="Cambria Math" panose="02040503050406030204" pitchFamily="18" charset="0"/>
                              </a:rPr>
                              <m:t>1</m:t>
                            </m:r>
                          </m:num>
                          <m:den>
                            <m:r>
                              <a:rPr lang="en-US" altLang="zh-CN" sz="2400" i="1" dirty="0">
                                <a:solidFill>
                                  <a:srgbClr val="3333FF"/>
                                </a:solidFill>
                                <a:latin typeface="Cambria Math" panose="02040503050406030204" pitchFamily="18" charset="0"/>
                              </a:rPr>
                              <m:t>2</m:t>
                            </m:r>
                          </m:den>
                        </m:f>
                        <m:r>
                          <a:rPr lang="zh-CN" altLang="en-US" sz="2400" i="1" dirty="0">
                            <a:solidFill>
                              <a:srgbClr val="3333FF"/>
                            </a:solidFill>
                            <a:latin typeface="Cambria Math" panose="02040503050406030204" pitchFamily="18" charset="0"/>
                          </a:rPr>
                          <m:t>𝛼</m:t>
                        </m:r>
                        <m:sSup>
                          <m:sSupPr>
                            <m:ctrlPr>
                              <a:rPr lang="en-US" altLang="zh-CN" sz="2400" i="1" dirty="0">
                                <a:solidFill>
                                  <a:srgbClr val="3333FF"/>
                                </a:solidFill>
                                <a:latin typeface="Cambria Math" panose="02040503050406030204" pitchFamily="18" charset="0"/>
                              </a:rPr>
                            </m:ctrlPr>
                          </m:sSupPr>
                          <m:e>
                            <m:r>
                              <a:rPr lang="en-US" altLang="zh-CN" sz="2400" i="1" dirty="0">
                                <a:solidFill>
                                  <a:srgbClr val="3333FF"/>
                                </a:solidFill>
                                <a:latin typeface="Cambria Math" panose="02040503050406030204" pitchFamily="18" charset="0"/>
                              </a:rPr>
                              <m:t>𝑥</m:t>
                            </m:r>
                          </m:e>
                          <m:sup>
                            <m:r>
                              <a:rPr lang="en-US" altLang="zh-CN" sz="2400" i="1" dirty="0">
                                <a:solidFill>
                                  <a:srgbClr val="3333FF"/>
                                </a:solidFill>
                                <a:latin typeface="Cambria Math" panose="02040503050406030204" pitchFamily="18" charset="0"/>
                              </a:rPr>
                              <m:t>2</m:t>
                            </m:r>
                          </m:sup>
                        </m:sSup>
                      </m:sup>
                    </m:sSup>
                  </m:oMath>
                </a14:m>
                <a:r>
                  <a:rPr lang="en-US" altLang="zh-CN" sz="2400" dirty="0">
                    <a:latin typeface="Times New Roman" panose="02020603050405020304" pitchFamily="18" charset="0"/>
                    <a:cs typeface="Times New Roman" panose="02020603050405020304" pitchFamily="18" charset="0"/>
                  </a:rPr>
                  <a:t>.</a:t>
                </a:r>
              </a:p>
            </p:txBody>
          </p:sp>
        </mc:Choice>
        <mc:Fallback xmlns="">
          <p:sp>
            <p:nvSpPr>
              <p:cNvPr id="3" name="矩形 2"/>
              <p:cNvSpPr>
                <a:spLocks noRot="1" noChangeAspect="1" noMove="1" noResize="1" noEditPoints="1" noAdjustHandles="1" noChangeArrowheads="1" noChangeShapeType="1" noTextEdit="1"/>
              </p:cNvSpPr>
              <p:nvPr/>
            </p:nvSpPr>
            <p:spPr>
              <a:xfrm>
                <a:off x="200764" y="979056"/>
                <a:ext cx="11864898" cy="1515608"/>
              </a:xfrm>
              <a:prstGeom prst="rect">
                <a:avLst/>
              </a:prstGeom>
              <a:blipFill>
                <a:blip r:embed="rId2"/>
                <a:stretch>
                  <a:fillRect l="-822" t="-806" b="-88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35125" y="4536302"/>
                <a:ext cx="3311356" cy="570605"/>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Also </a:t>
                </a:r>
                <a14:m>
                  <m:oMath xmlns:m="http://schemas.openxmlformats.org/officeDocument/2006/math">
                    <m:nary>
                      <m:naryPr>
                        <m:limLoc m:val="undOvr"/>
                        <m:subHide m:val="on"/>
                        <m:supHide m:val="on"/>
                        <m:ctrlPr>
                          <a:rPr lang="en-US" altLang="zh-CN" sz="2400" i="1" dirty="0" smtClean="0">
                            <a:solidFill>
                              <a:srgbClr val="3333FF"/>
                            </a:solidFill>
                            <a:latin typeface="Cambria Math" panose="02040503050406030204" pitchFamily="18" charset="0"/>
                          </a:rPr>
                        </m:ctrlPr>
                      </m:naryPr>
                      <m:sub/>
                      <m:sup/>
                      <m:e>
                        <m:acc>
                          <m:accPr>
                            <m:chr m:val="̃"/>
                            <m:ctrlPr>
                              <a:rPr lang="en-US" altLang="zh-CN" sz="2400" i="1">
                                <a:solidFill>
                                  <a:srgbClr val="3333FF"/>
                                </a:solidFill>
                                <a:latin typeface="Cambria Math" panose="02040503050406030204" pitchFamily="18" charset="0"/>
                              </a:rPr>
                            </m:ctrlPr>
                          </m:accPr>
                          <m:e>
                            <m:r>
                              <a:rPr lang="zh-CN" altLang="en-US" sz="2400" i="1">
                                <a:solidFill>
                                  <a:srgbClr val="3333FF"/>
                                </a:solidFill>
                                <a:latin typeface="Cambria Math" panose="02040503050406030204" pitchFamily="18" charset="0"/>
                              </a:rPr>
                              <m:t>𝜓</m:t>
                            </m:r>
                          </m:e>
                        </m:acc>
                        <m:r>
                          <a:rPr lang="en-US" altLang="zh-CN" sz="2400" i="1" baseline="30000">
                            <a:solidFill>
                              <a:srgbClr val="3333FF"/>
                            </a:solidFill>
                            <a:latin typeface="Cambria Math" panose="02040503050406030204" pitchFamily="18" charset="0"/>
                          </a:rPr>
                          <m:t>∗</m:t>
                        </m:r>
                        <m:acc>
                          <m:accPr>
                            <m:chr m:val="̃"/>
                            <m:ctrlPr>
                              <a:rPr lang="en-US" altLang="zh-CN" sz="2400" i="1">
                                <a:solidFill>
                                  <a:srgbClr val="3333FF"/>
                                </a:solidFill>
                                <a:latin typeface="Cambria Math" panose="02040503050406030204" pitchFamily="18" charset="0"/>
                              </a:rPr>
                            </m:ctrlPr>
                          </m:accPr>
                          <m:e>
                            <m:r>
                              <a:rPr lang="zh-CN" altLang="en-US" sz="2400" i="1">
                                <a:solidFill>
                                  <a:srgbClr val="3333FF"/>
                                </a:solidFill>
                                <a:latin typeface="Cambria Math" panose="02040503050406030204" pitchFamily="18" charset="0"/>
                              </a:rPr>
                              <m:t>𝜓</m:t>
                            </m:r>
                          </m:e>
                        </m:acc>
                      </m:e>
                    </m:nary>
                    <m:r>
                      <m:rPr>
                        <m:sty m:val="p"/>
                      </m:rPr>
                      <a:rPr lang="en-US" altLang="zh-CN" sz="2400" dirty="0" err="1">
                        <a:solidFill>
                          <a:srgbClr val="3333FF"/>
                        </a:solidFill>
                        <a:latin typeface="Cambria Math" panose="02040503050406030204" pitchFamily="18" charset="0"/>
                      </a:rPr>
                      <m:t>d</m:t>
                    </m:r>
                    <m:r>
                      <a:rPr lang="en-US" altLang="zh-CN" sz="2400" i="1" dirty="0" err="1">
                        <a:solidFill>
                          <a:srgbClr val="3333FF"/>
                        </a:solidFill>
                        <a:latin typeface="Cambria Math" panose="02040503050406030204" pitchFamily="18" charset="0"/>
                      </a:rPr>
                      <m:t>𝑥</m:t>
                    </m:r>
                    <m:r>
                      <a:rPr lang="en-US" altLang="zh-CN" sz="2400" i="1" dirty="0">
                        <a:solidFill>
                          <a:srgbClr val="3333FF"/>
                        </a:solidFill>
                        <a:latin typeface="Cambria Math" panose="02040503050406030204" pitchFamily="18" charset="0"/>
                      </a:rPr>
                      <m:t>=</m:t>
                    </m:r>
                    <m:rad>
                      <m:radPr>
                        <m:degHide m:val="on"/>
                        <m:ctrlPr>
                          <a:rPr lang="en-US" altLang="zh-CN" sz="2400" i="1" dirty="0">
                            <a:solidFill>
                              <a:srgbClr val="3333FF"/>
                            </a:solidFill>
                            <a:latin typeface="Cambria Math" panose="02040503050406030204" pitchFamily="18" charset="0"/>
                          </a:rPr>
                        </m:ctrlPr>
                      </m:radPr>
                      <m:deg/>
                      <m:e>
                        <m:r>
                          <a:rPr lang="zh-CN" altLang="en-US" sz="2400" i="1" dirty="0">
                            <a:solidFill>
                              <a:srgbClr val="3333FF"/>
                            </a:solidFill>
                            <a:latin typeface="Cambria Math" panose="02040503050406030204" pitchFamily="18" charset="0"/>
                          </a:rPr>
                          <m:t>𝜋</m:t>
                        </m:r>
                        <m:r>
                          <a:rPr lang="en-US" altLang="zh-CN" sz="2400" i="1" dirty="0">
                            <a:solidFill>
                              <a:srgbClr val="3333FF"/>
                            </a:solidFill>
                            <a:latin typeface="Cambria Math" panose="02040503050406030204" pitchFamily="18" charset="0"/>
                          </a:rPr>
                          <m:t>/</m:t>
                        </m:r>
                        <m:r>
                          <a:rPr lang="zh-CN" altLang="en-US" sz="2400" i="1" dirty="0">
                            <a:solidFill>
                              <a:srgbClr val="3333FF"/>
                            </a:solidFill>
                            <a:latin typeface="Cambria Math" panose="02040503050406030204" pitchFamily="18" charset="0"/>
                          </a:rPr>
                          <m:t>𝛼</m:t>
                        </m:r>
                      </m:e>
                    </m:rad>
                  </m:oMath>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435125" y="4536302"/>
                <a:ext cx="3311356" cy="570605"/>
              </a:xfrm>
              <a:prstGeom prst="rect">
                <a:avLst/>
              </a:prstGeom>
              <a:blipFill>
                <a:blip r:embed="rId3"/>
                <a:stretch>
                  <a:fillRect l="-2757" b="-13830"/>
                </a:stretch>
              </a:blipFill>
            </p:spPr>
            <p:txBody>
              <a:bodyPr/>
              <a:lstStyle/>
              <a:p>
                <a:r>
                  <a:rPr lang="zh-CN" altLang="en-US">
                    <a:noFill/>
                  </a:rPr>
                  <a:t> </a:t>
                </a:r>
              </a:p>
            </p:txBody>
          </p:sp>
        </mc:Fallback>
      </mc:AlternateContent>
      <p:sp>
        <p:nvSpPr>
          <p:cNvPr id="8"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8C2C8CAC-25D4-DADD-F99C-02E9BDE0710D}"/>
              </a:ext>
            </a:extLst>
          </p:cNvPr>
          <p:cNvGrpSpPr/>
          <p:nvPr/>
        </p:nvGrpSpPr>
        <p:grpSpPr>
          <a:xfrm>
            <a:off x="3971774" y="2647789"/>
            <a:ext cx="4114800" cy="964800"/>
            <a:chOff x="3971774" y="2647789"/>
            <a:chExt cx="4114800" cy="964800"/>
          </a:xfrm>
        </p:grpSpPr>
        <p:graphicFrame>
          <p:nvGraphicFramePr>
            <p:cNvPr id="4" name="对象 3">
              <a:extLst>
                <a:ext uri="{FF2B5EF4-FFF2-40B4-BE49-F238E27FC236}">
                  <a16:creationId xmlns:a16="http://schemas.microsoft.com/office/drawing/2014/main" id="{F217B526-8C4E-467B-8A50-F47BB576BC6A}"/>
                </a:ext>
              </a:extLst>
            </p:cNvPr>
            <p:cNvGraphicFramePr>
              <a:graphicFrameLocks noChangeAspect="1"/>
            </p:cNvGraphicFramePr>
            <p:nvPr>
              <p:extLst>
                <p:ext uri="{D42A27DB-BD31-4B8C-83A1-F6EECF244321}">
                  <p14:modId xmlns:p14="http://schemas.microsoft.com/office/powerpoint/2010/main" val="1580729009"/>
                </p:ext>
              </p:extLst>
            </p:nvPr>
          </p:nvGraphicFramePr>
          <p:xfrm>
            <a:off x="3971774" y="2647789"/>
            <a:ext cx="4114800" cy="964800"/>
          </p:xfrm>
          <a:graphic>
            <a:graphicData uri="http://schemas.openxmlformats.org/presentationml/2006/ole">
              <mc:AlternateContent xmlns:mc="http://schemas.openxmlformats.org/markup-compatibility/2006">
                <mc:Choice xmlns:v="urn:schemas-microsoft-com:vml" Requires="v">
                  <p:oleObj name="Equation" r:id="rId4" imgW="2057400" imgH="482400" progId="Equation.DSMT4">
                    <p:embed/>
                  </p:oleObj>
                </mc:Choice>
                <mc:Fallback>
                  <p:oleObj name="Equation" r:id="rId4" imgW="2057400" imgH="482400" progId="Equation.DSMT4">
                    <p:embed/>
                    <p:pic>
                      <p:nvPicPr>
                        <p:cNvPr id="4" name="对象 3">
                          <a:extLst>
                            <a:ext uri="{FF2B5EF4-FFF2-40B4-BE49-F238E27FC236}">
                              <a16:creationId xmlns:a16="http://schemas.microsoft.com/office/drawing/2014/main" id="{F217B526-8C4E-467B-8A50-F47BB576BC6A}"/>
                            </a:ext>
                          </a:extLst>
                        </p:cNvPr>
                        <p:cNvPicPr/>
                        <p:nvPr/>
                      </p:nvPicPr>
                      <p:blipFill>
                        <a:blip r:embed="rId5"/>
                        <a:stretch>
                          <a:fillRect/>
                        </a:stretch>
                      </p:blipFill>
                      <p:spPr>
                        <a:xfrm>
                          <a:off x="3971774" y="2647789"/>
                          <a:ext cx="4114800" cy="964800"/>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CCF6636D-BF85-F1F3-41E6-52BCF1A5803F}"/>
                </a:ext>
              </a:extLst>
            </p:cNvPr>
            <p:cNvSpPr txBox="1"/>
            <p:nvPr/>
          </p:nvSpPr>
          <p:spPr>
            <a:xfrm>
              <a:off x="3971774" y="2933953"/>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grpSp>
        <p:nvGrpSpPr>
          <p:cNvPr id="13" name="组合 12">
            <a:extLst>
              <a:ext uri="{FF2B5EF4-FFF2-40B4-BE49-F238E27FC236}">
                <a16:creationId xmlns:a16="http://schemas.microsoft.com/office/drawing/2014/main" id="{CBA135EC-2D71-75E6-479C-FCF27AD817F8}"/>
              </a:ext>
            </a:extLst>
          </p:cNvPr>
          <p:cNvGrpSpPr/>
          <p:nvPr/>
        </p:nvGrpSpPr>
        <p:grpSpPr>
          <a:xfrm>
            <a:off x="3753127" y="3555508"/>
            <a:ext cx="5816160" cy="964800"/>
            <a:chOff x="3753127" y="3555508"/>
            <a:chExt cx="5816160" cy="964800"/>
          </a:xfrm>
        </p:grpSpPr>
        <p:graphicFrame>
          <p:nvGraphicFramePr>
            <p:cNvPr id="5" name="对象 4">
              <a:extLst>
                <a:ext uri="{FF2B5EF4-FFF2-40B4-BE49-F238E27FC236}">
                  <a16:creationId xmlns:a16="http://schemas.microsoft.com/office/drawing/2014/main" id="{05C0F363-E6F6-4A64-9919-AEE05A08CE6F}"/>
                </a:ext>
              </a:extLst>
            </p:cNvPr>
            <p:cNvGraphicFramePr>
              <a:graphicFrameLocks noChangeAspect="1"/>
            </p:cNvGraphicFramePr>
            <p:nvPr>
              <p:extLst>
                <p:ext uri="{D42A27DB-BD31-4B8C-83A1-F6EECF244321}">
                  <p14:modId xmlns:p14="http://schemas.microsoft.com/office/powerpoint/2010/main" val="3880517540"/>
                </p:ext>
              </p:extLst>
            </p:nvPr>
          </p:nvGraphicFramePr>
          <p:xfrm>
            <a:off x="3753127" y="3555508"/>
            <a:ext cx="5816160" cy="964800"/>
          </p:xfrm>
          <a:graphic>
            <a:graphicData uri="http://schemas.openxmlformats.org/presentationml/2006/ole">
              <mc:AlternateContent xmlns:mc="http://schemas.openxmlformats.org/markup-compatibility/2006">
                <mc:Choice xmlns:v="urn:schemas-microsoft-com:vml" Requires="v">
                  <p:oleObj name="Equation" r:id="rId6" imgW="2908080" imgH="482400" progId="Equation.DSMT4">
                    <p:embed/>
                  </p:oleObj>
                </mc:Choice>
                <mc:Fallback>
                  <p:oleObj name="Equation" r:id="rId6" imgW="2908080" imgH="482400" progId="Equation.DSMT4">
                    <p:embed/>
                    <p:pic>
                      <p:nvPicPr>
                        <p:cNvPr id="5" name="对象 4">
                          <a:extLst>
                            <a:ext uri="{FF2B5EF4-FFF2-40B4-BE49-F238E27FC236}">
                              <a16:creationId xmlns:a16="http://schemas.microsoft.com/office/drawing/2014/main" id="{05C0F363-E6F6-4A64-9919-AEE05A08CE6F}"/>
                            </a:ext>
                          </a:extLst>
                        </p:cNvPr>
                        <p:cNvPicPr/>
                        <p:nvPr/>
                      </p:nvPicPr>
                      <p:blipFill>
                        <a:blip r:embed="rId7"/>
                        <a:stretch>
                          <a:fillRect/>
                        </a:stretch>
                      </p:blipFill>
                      <p:spPr>
                        <a:xfrm>
                          <a:off x="3753127" y="3555508"/>
                          <a:ext cx="5816160" cy="96480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DE028D99-4516-AADA-9E0D-632A80A6EA1E}"/>
                </a:ext>
              </a:extLst>
            </p:cNvPr>
            <p:cNvSpPr txBox="1"/>
            <p:nvPr/>
          </p:nvSpPr>
          <p:spPr>
            <a:xfrm>
              <a:off x="4252468" y="3841672"/>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grpSp>
        <p:nvGrpSpPr>
          <p:cNvPr id="14" name="组合 13">
            <a:extLst>
              <a:ext uri="{FF2B5EF4-FFF2-40B4-BE49-F238E27FC236}">
                <a16:creationId xmlns:a16="http://schemas.microsoft.com/office/drawing/2014/main" id="{F95434A6-337E-EB69-05CA-7345B09A18DD}"/>
              </a:ext>
            </a:extLst>
          </p:cNvPr>
          <p:cNvGrpSpPr/>
          <p:nvPr/>
        </p:nvGrpSpPr>
        <p:grpSpPr>
          <a:xfrm>
            <a:off x="3549727" y="5245537"/>
            <a:ext cx="6222960" cy="964800"/>
            <a:chOff x="3549727" y="5245537"/>
            <a:chExt cx="6222960" cy="964800"/>
          </a:xfrm>
        </p:grpSpPr>
        <p:graphicFrame>
          <p:nvGraphicFramePr>
            <p:cNvPr id="6" name="对象 5">
              <a:extLst>
                <a:ext uri="{FF2B5EF4-FFF2-40B4-BE49-F238E27FC236}">
                  <a16:creationId xmlns:a16="http://schemas.microsoft.com/office/drawing/2014/main" id="{45C514C1-8E74-4A15-9FC3-94DCA213E54D}"/>
                </a:ext>
              </a:extLst>
            </p:cNvPr>
            <p:cNvGraphicFramePr>
              <a:graphicFrameLocks noChangeAspect="1"/>
            </p:cNvGraphicFramePr>
            <p:nvPr>
              <p:extLst>
                <p:ext uri="{D42A27DB-BD31-4B8C-83A1-F6EECF244321}">
                  <p14:modId xmlns:p14="http://schemas.microsoft.com/office/powerpoint/2010/main" val="2309339318"/>
                </p:ext>
              </p:extLst>
            </p:nvPr>
          </p:nvGraphicFramePr>
          <p:xfrm>
            <a:off x="3549727" y="5245537"/>
            <a:ext cx="6222960" cy="964800"/>
          </p:xfrm>
          <a:graphic>
            <a:graphicData uri="http://schemas.openxmlformats.org/presentationml/2006/ole">
              <mc:AlternateContent xmlns:mc="http://schemas.openxmlformats.org/markup-compatibility/2006">
                <mc:Choice xmlns:v="urn:schemas-microsoft-com:vml" Requires="v">
                  <p:oleObj name="Equation" r:id="rId8" imgW="3111480" imgH="482400" progId="Equation.DSMT4">
                    <p:embed/>
                  </p:oleObj>
                </mc:Choice>
                <mc:Fallback>
                  <p:oleObj name="Equation" r:id="rId8" imgW="3111480" imgH="482400" progId="Equation.DSMT4">
                    <p:embed/>
                    <p:pic>
                      <p:nvPicPr>
                        <p:cNvPr id="6" name="对象 5">
                          <a:extLst>
                            <a:ext uri="{FF2B5EF4-FFF2-40B4-BE49-F238E27FC236}">
                              <a16:creationId xmlns:a16="http://schemas.microsoft.com/office/drawing/2014/main" id="{45C514C1-8E74-4A15-9FC3-94DCA213E54D}"/>
                            </a:ext>
                          </a:extLst>
                        </p:cNvPr>
                        <p:cNvPicPr/>
                        <p:nvPr/>
                      </p:nvPicPr>
                      <p:blipFill>
                        <a:blip r:embed="rId9"/>
                        <a:stretch>
                          <a:fillRect/>
                        </a:stretch>
                      </p:blipFill>
                      <p:spPr>
                        <a:xfrm>
                          <a:off x="3549727" y="5245537"/>
                          <a:ext cx="6222960" cy="96480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1E6ECBB6-1A7E-2DE9-D66F-AF97D3C5C31B}"/>
                </a:ext>
              </a:extLst>
            </p:cNvPr>
            <p:cNvSpPr txBox="1"/>
            <p:nvPr/>
          </p:nvSpPr>
          <p:spPr>
            <a:xfrm>
              <a:off x="4581803" y="5304485"/>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1595020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0379" y="3161526"/>
            <a:ext cx="7727789" cy="2249462"/>
          </a:xfrm>
          <a:prstGeom prst="rect">
            <a:avLst/>
          </a:prstGeom>
        </p:spPr>
        <p:txBody>
          <a:bodyPr wrap="square">
            <a:spAutoFit/>
          </a:bodyPr>
          <a:lstStyle/>
          <a:p>
            <a:pPr>
              <a:lnSpc>
                <a:spcPct val="120000"/>
              </a:lnSpc>
            </a:pPr>
            <a:r>
              <a:rPr lang="zh-CN" altLang="en-US" sz="2400" dirty="0">
                <a:latin typeface="黑体" panose="02010609060101010101" pitchFamily="49" charset="-122"/>
                <a:ea typeface="黑体" panose="02010609060101010101" pitchFamily="49" charset="-122"/>
              </a:rPr>
              <a:t>𝐸̃中的第一项是动能期望值</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𝑇</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，第二项是势能期望值</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𝑉</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。若𝛼值较大，我们会得到尖锐峰化的波函数𝜓̃，此时体系势能较低但动能较高。若𝛼值较小，波函数会变得平缓且在空间分布较广，其随</a:t>
            </a:r>
            <a:r>
              <a:rPr lang="en-US" altLang="zh-CN" sz="2400" dirty="0">
                <a:latin typeface="黑体" panose="02010609060101010101" pitchFamily="49" charset="-122"/>
                <a:ea typeface="黑体" panose="02010609060101010101" pitchFamily="49" charset="-122"/>
              </a:rPr>
              <a:t>x</a:t>
            </a:r>
            <a:r>
              <a:rPr lang="zh-CN" altLang="en-US" sz="2400" dirty="0">
                <a:latin typeface="黑体" panose="02010609060101010101" pitchFamily="49" charset="-122"/>
                <a:ea typeface="黑体" panose="02010609060101010101" pitchFamily="49" charset="-122"/>
              </a:rPr>
              <a:t>变化缓慢，因而</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𝑇</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较小，但波函数会延伸至势能较高的区域。</a:t>
            </a:r>
            <a:endParaRPr lang="en-US" altLang="zh-CN" sz="3200"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5BA7DCF7-E067-4A49-869E-72E78F4FFC0B}"/>
              </a:ext>
            </a:extLst>
          </p:cNvPr>
          <p:cNvPicPr>
            <a:picLocks noChangeAspect="1"/>
          </p:cNvPicPr>
          <p:nvPr/>
        </p:nvPicPr>
        <p:blipFill>
          <a:blip r:embed="rId2"/>
          <a:stretch>
            <a:fillRect/>
          </a:stretch>
        </p:blipFill>
        <p:spPr>
          <a:xfrm>
            <a:off x="8119721" y="3326851"/>
            <a:ext cx="3771900" cy="2847975"/>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8B91ACAB-CF43-4457-96C6-8493E3D1A933}"/>
                  </a:ext>
                </a:extLst>
              </p:cNvPr>
              <p:cNvSpPr/>
              <p:nvPr/>
            </p:nvSpPr>
            <p:spPr>
              <a:xfrm>
                <a:off x="7914639" y="2212355"/>
                <a:ext cx="1928860" cy="533929"/>
              </a:xfrm>
              <a:prstGeom prst="rect">
                <a:avLst/>
              </a:prstGeom>
            </p:spPr>
            <p:txBody>
              <a:bodyPr wrap="square">
                <a:spAutoFit/>
              </a:bodyPr>
              <a:lstStyle/>
              <a:p>
                <a:pPr>
                  <a:lnSpc>
                    <a:spcPct val="121000"/>
                  </a:lnSpc>
                  <a:spcAft>
                    <a:spcPts val="404"/>
                  </a:spcAft>
                </a:pPr>
                <a14:m>
                  <m:oMath xmlns:m="http://schemas.openxmlformats.org/officeDocument/2006/math">
                    <m:r>
                      <a:rPr lang="zh-CN" altLang="en-US" sz="2400" i="1" dirty="0" smtClean="0">
                        <a:solidFill>
                          <a:schemeClr val="tx1"/>
                        </a:solidFill>
                        <a:latin typeface="Cambria Math" panose="02040503050406030204" pitchFamily="18" charset="0"/>
                      </a:rPr>
                      <m:t>𝛼</m:t>
                    </m:r>
                    <m:r>
                      <a:rPr lang="en-US" altLang="zh-CN" sz="2400" i="1" dirty="0">
                        <a:solidFill>
                          <a:schemeClr val="tx1"/>
                        </a:solidFill>
                        <a:latin typeface="Cambria Math" panose="02040503050406030204" pitchFamily="18" charset="0"/>
                      </a:rPr>
                      <m:t>=</m:t>
                    </m:r>
                    <m:rad>
                      <m:radPr>
                        <m:degHide m:val="on"/>
                        <m:ctrlPr>
                          <a:rPr lang="en-US" altLang="zh-CN" sz="2400" i="1" dirty="0">
                            <a:solidFill>
                              <a:schemeClr val="tx1"/>
                            </a:solidFill>
                            <a:latin typeface="Cambria Math" panose="02040503050406030204" pitchFamily="18" charset="0"/>
                          </a:rPr>
                        </m:ctrlPr>
                      </m:radPr>
                      <m:deg/>
                      <m:e>
                        <m:r>
                          <a:rPr lang="en-US" altLang="zh-CN" sz="2400" i="1" dirty="0">
                            <a:solidFill>
                              <a:schemeClr val="tx1"/>
                            </a:solidFill>
                            <a:latin typeface="Cambria Math" panose="02040503050406030204" pitchFamily="18" charset="0"/>
                          </a:rPr>
                          <m:t>𝑘𝑚</m:t>
                        </m:r>
                      </m:e>
                    </m:rad>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ea typeface="Cambria Math" panose="02040503050406030204" pitchFamily="18" charset="0"/>
                      </a:rPr>
                      <m:t>ℏ</m:t>
                    </m:r>
                  </m:oMath>
                </a14:m>
                <a:r>
                  <a:rPr lang="en-US" altLang="zh-CN" sz="2400" dirty="0">
                    <a:solidFill>
                      <a:schemeClr val="tx1"/>
                    </a:solidFill>
                    <a:latin typeface="Times New Roman" panose="02020603050405020304" pitchFamily="18" charset="0"/>
                    <a:cs typeface="Times New Roman" panose="02020603050405020304" pitchFamily="18" charset="0"/>
                  </a:rPr>
                  <a:t>.</a:t>
                </a:r>
              </a:p>
            </p:txBody>
          </p:sp>
        </mc:Choice>
        <mc:Fallback xmlns="">
          <p:sp>
            <p:nvSpPr>
              <p:cNvPr id="5" name="矩形 4">
                <a:extLst>
                  <a:ext uri="{FF2B5EF4-FFF2-40B4-BE49-F238E27FC236}">
                    <a16:creationId xmlns:a16="http://schemas.microsoft.com/office/drawing/2014/main" id="{8B91ACAB-CF43-4457-96C6-8493E3D1A933}"/>
                  </a:ext>
                </a:extLst>
              </p:cNvPr>
              <p:cNvSpPr>
                <a:spLocks noRot="1" noChangeAspect="1" noMove="1" noResize="1" noEditPoints="1" noAdjustHandles="1" noChangeArrowheads="1" noChangeShapeType="1" noTextEdit="1"/>
              </p:cNvSpPr>
              <p:nvPr/>
            </p:nvSpPr>
            <p:spPr>
              <a:xfrm>
                <a:off x="7914639" y="2212355"/>
                <a:ext cx="1928860" cy="533929"/>
              </a:xfrm>
              <a:prstGeom prst="rect">
                <a:avLst/>
              </a:prstGeom>
              <a:blipFill>
                <a:blip r:embed="rId7"/>
                <a:stretch>
                  <a:fillRect b="-25000"/>
                </a:stretch>
              </a:blipFill>
            </p:spPr>
            <p:txBody>
              <a:bodyPr/>
              <a:lstStyle/>
              <a:p>
                <a:r>
                  <a:rPr lang="zh-CN" altLang="en-US">
                    <a:noFill/>
                  </a:rPr>
                  <a:t> </a:t>
                </a:r>
              </a:p>
            </p:txBody>
          </p:sp>
        </mc:Fallback>
      </mc:AlternateContent>
      <p:graphicFrame>
        <p:nvGraphicFramePr>
          <p:cNvPr id="6" name="对象 5">
            <a:extLst>
              <a:ext uri="{FF2B5EF4-FFF2-40B4-BE49-F238E27FC236}">
                <a16:creationId xmlns:a16="http://schemas.microsoft.com/office/drawing/2014/main" id="{39BFCEE1-8E8A-4CE1-82E1-E9B23771DB1A}"/>
              </a:ext>
            </a:extLst>
          </p:cNvPr>
          <p:cNvGraphicFramePr>
            <a:graphicFrameLocks noChangeAspect="1"/>
          </p:cNvGraphicFramePr>
          <p:nvPr/>
        </p:nvGraphicFramePr>
        <p:xfrm>
          <a:off x="4092032" y="1692201"/>
          <a:ext cx="2844800" cy="1295400"/>
        </p:xfrm>
        <a:graphic>
          <a:graphicData uri="http://schemas.openxmlformats.org/presentationml/2006/ole">
            <mc:AlternateContent xmlns:mc="http://schemas.openxmlformats.org/markup-compatibility/2006">
              <mc:Choice xmlns:v="urn:schemas-microsoft-com:vml" Requires="v">
                <p:oleObj name="Equation" r:id="rId8" imgW="1422360" imgH="647640" progId="Equation.DSMT4">
                  <p:embed/>
                </p:oleObj>
              </mc:Choice>
              <mc:Fallback>
                <p:oleObj name="Equation" r:id="rId8" imgW="1422360" imgH="647640" progId="Equation.DSMT4">
                  <p:embed/>
                  <p:pic>
                    <p:nvPicPr>
                      <p:cNvPr id="6" name="对象 5">
                        <a:extLst>
                          <a:ext uri="{FF2B5EF4-FFF2-40B4-BE49-F238E27FC236}">
                            <a16:creationId xmlns:a16="http://schemas.microsoft.com/office/drawing/2014/main" id="{39BFCEE1-8E8A-4CE1-82E1-E9B23771DB1A}"/>
                          </a:ext>
                        </a:extLst>
                      </p:cNvPr>
                      <p:cNvPicPr/>
                      <p:nvPr/>
                    </p:nvPicPr>
                    <p:blipFill>
                      <a:blip r:embed="rId9"/>
                      <a:stretch>
                        <a:fillRect/>
                      </a:stretch>
                    </p:blipFill>
                    <p:spPr>
                      <a:xfrm>
                        <a:off x="4092032" y="1692201"/>
                        <a:ext cx="2844800" cy="1295400"/>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E8AC8F68-4585-3F2F-317F-F5BFC8E80878}"/>
              </a:ext>
            </a:extLst>
          </p:cNvPr>
          <p:cNvSpPr txBox="1"/>
          <p:nvPr/>
        </p:nvSpPr>
        <p:spPr>
          <a:xfrm>
            <a:off x="2449286" y="5713161"/>
            <a:ext cx="4185761" cy="461665"/>
          </a:xfrm>
          <a:prstGeom prst="rect">
            <a:avLst/>
          </a:prstGeom>
          <a:noFill/>
        </p:spPr>
        <p:txBody>
          <a:bodyPr wrap="none" rtlCol="0">
            <a:spAutoFit/>
          </a:bodyPr>
          <a:lstStyle/>
          <a:p>
            <a:r>
              <a:rPr lang="zh-CN" altLang="en-US" sz="2400" dirty="0">
                <a:solidFill>
                  <a:srgbClr val="FF0000"/>
                </a:solidFill>
                <a:latin typeface="黑体" panose="02010609060101010101" pitchFamily="49" charset="-122"/>
                <a:ea typeface="黑体" panose="02010609060101010101" pitchFamily="49" charset="-122"/>
              </a:rPr>
              <a:t>波函数形貌与能量之间的关系</a:t>
            </a:r>
          </a:p>
        </p:txBody>
      </p:sp>
      <p:grpSp>
        <p:nvGrpSpPr>
          <p:cNvPr id="9" name="组合 8">
            <a:extLst>
              <a:ext uri="{FF2B5EF4-FFF2-40B4-BE49-F238E27FC236}">
                <a16:creationId xmlns:a16="http://schemas.microsoft.com/office/drawing/2014/main" id="{F5DF9ADE-387B-A43A-9ED5-30F4146C1024}"/>
              </a:ext>
            </a:extLst>
          </p:cNvPr>
          <p:cNvGrpSpPr/>
          <p:nvPr/>
        </p:nvGrpSpPr>
        <p:grpSpPr>
          <a:xfrm>
            <a:off x="2889630" y="411434"/>
            <a:ext cx="6222960" cy="964800"/>
            <a:chOff x="2889630" y="411434"/>
            <a:chExt cx="6222960" cy="964800"/>
          </a:xfrm>
        </p:grpSpPr>
        <p:graphicFrame>
          <p:nvGraphicFramePr>
            <p:cNvPr id="2" name="对象 1">
              <a:extLst>
                <a:ext uri="{FF2B5EF4-FFF2-40B4-BE49-F238E27FC236}">
                  <a16:creationId xmlns:a16="http://schemas.microsoft.com/office/drawing/2014/main" id="{20770480-F366-49A4-9650-71429994745C}"/>
                </a:ext>
              </a:extLst>
            </p:cNvPr>
            <p:cNvGraphicFramePr>
              <a:graphicFrameLocks noChangeAspect="1"/>
            </p:cNvGraphicFramePr>
            <p:nvPr>
              <p:extLst>
                <p:ext uri="{D42A27DB-BD31-4B8C-83A1-F6EECF244321}">
                  <p14:modId xmlns:p14="http://schemas.microsoft.com/office/powerpoint/2010/main" val="708275506"/>
                </p:ext>
              </p:extLst>
            </p:nvPr>
          </p:nvGraphicFramePr>
          <p:xfrm>
            <a:off x="2889630" y="411434"/>
            <a:ext cx="6222960" cy="964800"/>
          </p:xfrm>
          <a:graphic>
            <a:graphicData uri="http://schemas.openxmlformats.org/presentationml/2006/ole">
              <mc:AlternateContent xmlns:mc="http://schemas.openxmlformats.org/markup-compatibility/2006">
                <mc:Choice xmlns:v="urn:schemas-microsoft-com:vml" Requires="v">
                  <p:oleObj name="Equation" r:id="rId10" imgW="3111480" imgH="482400" progId="Equation.DSMT4">
                    <p:embed/>
                  </p:oleObj>
                </mc:Choice>
                <mc:Fallback>
                  <p:oleObj name="Equation" r:id="rId10" imgW="3111480" imgH="482400" progId="Equation.DSMT4">
                    <p:embed/>
                    <p:pic>
                      <p:nvPicPr>
                        <p:cNvPr id="2" name="对象 1">
                          <a:extLst>
                            <a:ext uri="{FF2B5EF4-FFF2-40B4-BE49-F238E27FC236}">
                              <a16:creationId xmlns:a16="http://schemas.microsoft.com/office/drawing/2014/main" id="{20770480-F366-49A4-9650-71429994745C}"/>
                            </a:ext>
                          </a:extLst>
                        </p:cNvPr>
                        <p:cNvPicPr/>
                        <p:nvPr/>
                      </p:nvPicPr>
                      <p:blipFill>
                        <a:blip r:embed="rId11"/>
                        <a:stretch>
                          <a:fillRect/>
                        </a:stretch>
                      </p:blipFill>
                      <p:spPr>
                        <a:xfrm>
                          <a:off x="2889630" y="411434"/>
                          <a:ext cx="6222960" cy="964800"/>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AB9F74C7-423D-AC24-C2F7-0C2749DB805C}"/>
                </a:ext>
              </a:extLst>
            </p:cNvPr>
            <p:cNvSpPr txBox="1"/>
            <p:nvPr/>
          </p:nvSpPr>
          <p:spPr>
            <a:xfrm>
              <a:off x="3919832" y="475295"/>
              <a:ext cx="280694" cy="369332"/>
            </a:xfrm>
            <a:prstGeom prst="rect">
              <a:avLst/>
            </a:prstGeom>
            <a:solidFill>
              <a:schemeClr val="bg1"/>
            </a:solidFill>
          </p:spPr>
          <p:txBody>
            <a:bodyPr wrap="square" lIns="0" tIns="0" rIns="0" bIns="0">
              <a:spAutoFit/>
            </a:bodyPr>
            <a:lstStyle/>
            <a:p>
              <a:r>
                <a:rPr lang="en-US" altLang="zh-CN" sz="2400" i="1" dirty="0">
                  <a:solidFill>
                    <a:srgbClr val="3333FF"/>
                  </a:solidFill>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1091583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9FD57750-40B9-41AE-981F-EEAC19540C5C}"/>
              </a:ext>
            </a:extLst>
          </p:cNvPr>
          <p:cNvGraphicFramePr>
            <a:graphicFrameLocks noChangeAspect="1"/>
          </p:cNvGraphicFramePr>
          <p:nvPr/>
        </p:nvGraphicFramePr>
        <p:xfrm>
          <a:off x="3494088" y="2011363"/>
          <a:ext cx="4241800" cy="836612"/>
        </p:xfrm>
        <a:graphic>
          <a:graphicData uri="http://schemas.openxmlformats.org/presentationml/2006/ole">
            <mc:AlternateContent xmlns:mc="http://schemas.openxmlformats.org/markup-compatibility/2006">
              <mc:Choice xmlns:v="urn:schemas-microsoft-com:vml" Requires="v">
                <p:oleObj name="Equation" r:id="rId2" imgW="2120760" imgH="419040" progId="Equation.DSMT4">
                  <p:embed/>
                </p:oleObj>
              </mc:Choice>
              <mc:Fallback>
                <p:oleObj name="Equation" r:id="rId2" imgW="2120760" imgH="419040" progId="Equation.DSMT4">
                  <p:embed/>
                  <p:pic>
                    <p:nvPicPr>
                      <p:cNvPr id="4" name="对象 3">
                        <a:extLst>
                          <a:ext uri="{FF2B5EF4-FFF2-40B4-BE49-F238E27FC236}">
                            <a16:creationId xmlns:a16="http://schemas.microsoft.com/office/drawing/2014/main" id="{9FD57750-40B9-41AE-981F-EEAC19540C5C}"/>
                          </a:ext>
                        </a:extLst>
                      </p:cNvPr>
                      <p:cNvPicPr/>
                      <p:nvPr/>
                    </p:nvPicPr>
                    <p:blipFill>
                      <a:blip r:embed="rId3"/>
                      <a:stretch>
                        <a:fillRect/>
                      </a:stretch>
                    </p:blipFill>
                    <p:spPr>
                      <a:xfrm>
                        <a:off x="3494088" y="2011363"/>
                        <a:ext cx="4241800" cy="836612"/>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5C66BE0D-67C3-4CEA-BC67-57EA28DA421E}"/>
              </a:ext>
            </a:extLst>
          </p:cNvPr>
          <p:cNvSpPr/>
          <p:nvPr/>
        </p:nvSpPr>
        <p:spPr>
          <a:xfrm>
            <a:off x="3090870" y="253827"/>
            <a:ext cx="538384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Variation method for the He atom</a:t>
            </a:r>
            <a:endParaRPr lang="zh-CN" altLang="en-US" sz="2800" b="1" dirty="0">
              <a:latin typeface="Times New Roman" panose="02020603050405020304" pitchFamily="18" charset="0"/>
              <a:cs typeface="Times New Roman" panose="02020603050405020304" pitchFamily="18" charset="0"/>
            </a:endParaRPr>
          </a:p>
        </p:txBody>
      </p:sp>
      <p:sp>
        <p:nvSpPr>
          <p:cNvPr id="6" name="Line 2">
            <a:extLst>
              <a:ext uri="{FF2B5EF4-FFF2-40B4-BE49-F238E27FC236}">
                <a16:creationId xmlns:a16="http://schemas.microsoft.com/office/drawing/2014/main" id="{380D684E-FA8E-4983-8CA7-215A1F863611}"/>
              </a:ext>
            </a:extLst>
          </p:cNvPr>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7" name="对象 6">
            <a:extLst>
              <a:ext uri="{FF2B5EF4-FFF2-40B4-BE49-F238E27FC236}">
                <a16:creationId xmlns:a16="http://schemas.microsoft.com/office/drawing/2014/main" id="{37478E23-6F91-4405-946F-B29584B21500}"/>
              </a:ext>
            </a:extLst>
          </p:cNvPr>
          <p:cNvGraphicFramePr>
            <a:graphicFrameLocks noChangeAspect="1"/>
          </p:cNvGraphicFramePr>
          <p:nvPr/>
        </p:nvGraphicFramePr>
        <p:xfrm>
          <a:off x="2001303" y="1020003"/>
          <a:ext cx="6883200" cy="964800"/>
        </p:xfrm>
        <a:graphic>
          <a:graphicData uri="http://schemas.openxmlformats.org/presentationml/2006/ole">
            <mc:AlternateContent xmlns:mc="http://schemas.openxmlformats.org/markup-compatibility/2006">
              <mc:Choice xmlns:v="urn:schemas-microsoft-com:vml" Requires="v">
                <p:oleObj name="Equation" r:id="rId4" imgW="3441600" imgH="482400" progId="Equation.DSMT4">
                  <p:embed/>
                </p:oleObj>
              </mc:Choice>
              <mc:Fallback>
                <p:oleObj name="Equation" r:id="rId4" imgW="3441600" imgH="482400" progId="Equation.DSMT4">
                  <p:embed/>
                  <p:pic>
                    <p:nvPicPr>
                      <p:cNvPr id="7" name="对象 6">
                        <a:extLst>
                          <a:ext uri="{FF2B5EF4-FFF2-40B4-BE49-F238E27FC236}">
                            <a16:creationId xmlns:a16="http://schemas.microsoft.com/office/drawing/2014/main" id="{37478E23-6F91-4405-946F-B29584B21500}"/>
                          </a:ext>
                        </a:extLst>
                      </p:cNvPr>
                      <p:cNvPicPr/>
                      <p:nvPr/>
                    </p:nvPicPr>
                    <p:blipFill>
                      <a:blip r:embed="rId5"/>
                      <a:stretch>
                        <a:fillRect/>
                      </a:stretch>
                    </p:blipFill>
                    <p:spPr>
                      <a:xfrm>
                        <a:off x="2001303" y="1020003"/>
                        <a:ext cx="6883200" cy="9648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DA2A3F7-4FFC-427E-89E4-F02621852F15}"/>
              </a:ext>
            </a:extLst>
          </p:cNvPr>
          <p:cNvGraphicFramePr>
            <a:graphicFrameLocks noChangeAspect="1"/>
          </p:cNvGraphicFramePr>
          <p:nvPr/>
        </p:nvGraphicFramePr>
        <p:xfrm>
          <a:off x="3494088" y="5175250"/>
          <a:ext cx="4673520" cy="914400"/>
        </p:xfrm>
        <a:graphic>
          <a:graphicData uri="http://schemas.openxmlformats.org/presentationml/2006/ole">
            <mc:AlternateContent xmlns:mc="http://schemas.openxmlformats.org/markup-compatibility/2006">
              <mc:Choice xmlns:v="urn:schemas-microsoft-com:vml" Requires="v">
                <p:oleObj name="Equation" r:id="rId6" imgW="2336760" imgH="457200" progId="Equation.DSMT4">
                  <p:embed/>
                </p:oleObj>
              </mc:Choice>
              <mc:Fallback>
                <p:oleObj name="Equation" r:id="rId6" imgW="2336760" imgH="457200" progId="Equation.DSMT4">
                  <p:embed/>
                  <p:pic>
                    <p:nvPicPr>
                      <p:cNvPr id="9" name="对象 8">
                        <a:extLst>
                          <a:ext uri="{FF2B5EF4-FFF2-40B4-BE49-F238E27FC236}">
                            <a16:creationId xmlns:a16="http://schemas.microsoft.com/office/drawing/2014/main" id="{4DA2A3F7-4FFC-427E-89E4-F02621852F15}"/>
                          </a:ext>
                        </a:extLst>
                      </p:cNvPr>
                      <p:cNvPicPr/>
                      <p:nvPr/>
                    </p:nvPicPr>
                    <p:blipFill>
                      <a:blip r:embed="rId7"/>
                      <a:stretch>
                        <a:fillRect/>
                      </a:stretch>
                    </p:blipFill>
                    <p:spPr>
                      <a:xfrm>
                        <a:off x="3494088" y="5175250"/>
                        <a:ext cx="4673520" cy="914400"/>
                      </a:xfrm>
                      <a:prstGeom prst="rect">
                        <a:avLst/>
                      </a:prstGeom>
                      <a:ln w="28575">
                        <a:solidFill>
                          <a:srgbClr val="FF0000"/>
                        </a:solidFill>
                      </a:ln>
                    </p:spPr>
                  </p:pic>
                </p:oleObj>
              </mc:Fallback>
            </mc:AlternateContent>
          </a:graphicData>
        </a:graphic>
      </p:graphicFrame>
      <p:grpSp>
        <p:nvGrpSpPr>
          <p:cNvPr id="3" name="组合 2">
            <a:extLst>
              <a:ext uri="{FF2B5EF4-FFF2-40B4-BE49-F238E27FC236}">
                <a16:creationId xmlns:a16="http://schemas.microsoft.com/office/drawing/2014/main" id="{58C0A501-426B-6049-3FFE-CAD6DC768B5F}"/>
              </a:ext>
            </a:extLst>
          </p:cNvPr>
          <p:cNvGrpSpPr/>
          <p:nvPr/>
        </p:nvGrpSpPr>
        <p:grpSpPr>
          <a:xfrm>
            <a:off x="1352080" y="2946647"/>
            <a:ext cx="8861425" cy="1771650"/>
            <a:chOff x="1352080" y="2946647"/>
            <a:chExt cx="8861425" cy="1771650"/>
          </a:xfrm>
        </p:grpSpPr>
        <p:graphicFrame>
          <p:nvGraphicFramePr>
            <p:cNvPr id="8" name="对象 7">
              <a:extLst>
                <a:ext uri="{FF2B5EF4-FFF2-40B4-BE49-F238E27FC236}">
                  <a16:creationId xmlns:a16="http://schemas.microsoft.com/office/drawing/2014/main" id="{8FC8F5F4-CD72-4E27-AD8C-4EEE9975D9EA}"/>
                </a:ext>
              </a:extLst>
            </p:cNvPr>
            <p:cNvGraphicFramePr>
              <a:graphicFrameLocks noChangeAspect="1"/>
            </p:cNvGraphicFramePr>
            <p:nvPr>
              <p:extLst>
                <p:ext uri="{D42A27DB-BD31-4B8C-83A1-F6EECF244321}">
                  <p14:modId xmlns:p14="http://schemas.microsoft.com/office/powerpoint/2010/main" val="3265342800"/>
                </p:ext>
              </p:extLst>
            </p:nvPr>
          </p:nvGraphicFramePr>
          <p:xfrm>
            <a:off x="1352080" y="2946647"/>
            <a:ext cx="8861425" cy="1771650"/>
          </p:xfrm>
          <a:graphic>
            <a:graphicData uri="http://schemas.openxmlformats.org/presentationml/2006/ole">
              <mc:AlternateContent xmlns:mc="http://schemas.openxmlformats.org/markup-compatibility/2006">
                <mc:Choice xmlns:v="urn:schemas-microsoft-com:vml" Requires="v">
                  <p:oleObj name="Equation" r:id="rId8" imgW="4431960" imgH="888840" progId="Equation.DSMT4">
                    <p:embed/>
                  </p:oleObj>
                </mc:Choice>
                <mc:Fallback>
                  <p:oleObj name="Equation" r:id="rId8" imgW="4431960" imgH="888840" progId="Equation.DSMT4">
                    <p:embed/>
                    <p:pic>
                      <p:nvPicPr>
                        <p:cNvPr id="8" name="对象 7">
                          <a:extLst>
                            <a:ext uri="{FF2B5EF4-FFF2-40B4-BE49-F238E27FC236}">
                              <a16:creationId xmlns:a16="http://schemas.microsoft.com/office/drawing/2014/main" id="{8FC8F5F4-CD72-4E27-AD8C-4EEE9975D9EA}"/>
                            </a:ext>
                          </a:extLst>
                        </p:cNvPr>
                        <p:cNvPicPr/>
                        <p:nvPr/>
                      </p:nvPicPr>
                      <p:blipFill>
                        <a:blip r:embed="rId9"/>
                        <a:stretch>
                          <a:fillRect/>
                        </a:stretch>
                      </p:blipFill>
                      <p:spPr>
                        <a:xfrm>
                          <a:off x="1352080" y="2946647"/>
                          <a:ext cx="8861425" cy="1771650"/>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566445C2-FCA5-4D48-9C61-26B8F393AC85}"/>
                </a:ext>
              </a:extLst>
            </p:cNvPr>
            <p:cNvSpPr txBox="1"/>
            <p:nvPr/>
          </p:nvSpPr>
          <p:spPr>
            <a:xfrm>
              <a:off x="1510006" y="3180396"/>
              <a:ext cx="280694" cy="369332"/>
            </a:xfrm>
            <a:prstGeom prst="rect">
              <a:avLst/>
            </a:prstGeom>
            <a:solidFill>
              <a:schemeClr val="bg1"/>
            </a:solidFill>
          </p:spPr>
          <p:txBody>
            <a:bodyPr wrap="square" lIns="0" tIns="0" rIns="0" bIns="0">
              <a:spAutoFit/>
            </a:bodyPr>
            <a:lstStyle/>
            <a:p>
              <a:r>
                <a:rPr lang="en-US" altLang="zh-CN" sz="2400" i="1" dirty="0">
                  <a:latin typeface="Times New Roman" panose="02020603050405020304" pitchFamily="18" charset="0"/>
                  <a:cs typeface="Times New Roman" panose="02020603050405020304" pitchFamily="18" charset="0"/>
                </a:rPr>
                <a:t>Ĥ</a:t>
              </a:r>
              <a:endParaRPr lang="zh-CN" altLang="en-US" sz="2400" dirty="0"/>
            </a:p>
          </p:txBody>
        </p:sp>
      </p:grpSp>
    </p:spTree>
    <p:extLst>
      <p:ext uri="{BB962C8B-B14F-4D97-AF65-F5344CB8AC3E}">
        <p14:creationId xmlns:p14="http://schemas.microsoft.com/office/powerpoint/2010/main" val="2423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6B8445A4-3CBA-4C64-B2D9-C8FB1AD157F4}"/>
              </a:ext>
            </a:extLst>
          </p:cNvPr>
          <p:cNvGraphicFramePr>
            <a:graphicFrameLocks noChangeAspect="1"/>
          </p:cNvGraphicFramePr>
          <p:nvPr/>
        </p:nvGraphicFramePr>
        <p:xfrm>
          <a:off x="2804191" y="423262"/>
          <a:ext cx="5969000" cy="1879600"/>
        </p:xfrm>
        <a:graphic>
          <a:graphicData uri="http://schemas.openxmlformats.org/presentationml/2006/ole">
            <mc:AlternateContent xmlns:mc="http://schemas.openxmlformats.org/markup-compatibility/2006">
              <mc:Choice xmlns:v="urn:schemas-microsoft-com:vml" Requires="v">
                <p:oleObj name="Equation" r:id="rId2" imgW="2984400" imgH="939600" progId="Equation.DSMT4">
                  <p:embed/>
                </p:oleObj>
              </mc:Choice>
              <mc:Fallback>
                <p:oleObj name="Equation" r:id="rId2" imgW="2984400" imgH="939600" progId="Equation.DSMT4">
                  <p:embed/>
                  <p:pic>
                    <p:nvPicPr>
                      <p:cNvPr id="4" name="对象 3">
                        <a:extLst>
                          <a:ext uri="{FF2B5EF4-FFF2-40B4-BE49-F238E27FC236}">
                            <a16:creationId xmlns:a16="http://schemas.microsoft.com/office/drawing/2014/main" id="{6B8445A4-3CBA-4C64-B2D9-C8FB1AD157F4}"/>
                          </a:ext>
                        </a:extLst>
                      </p:cNvPr>
                      <p:cNvPicPr/>
                      <p:nvPr/>
                    </p:nvPicPr>
                    <p:blipFill>
                      <a:blip r:embed="rId3"/>
                      <a:stretch>
                        <a:fillRect/>
                      </a:stretch>
                    </p:blipFill>
                    <p:spPr>
                      <a:xfrm>
                        <a:off x="2804191" y="423262"/>
                        <a:ext cx="5969000" cy="1879600"/>
                      </a:xfrm>
                      <a:prstGeom prst="rect">
                        <a:avLst/>
                      </a:prstGeom>
                    </p:spPr>
                  </p:pic>
                </p:oleObj>
              </mc:Fallback>
            </mc:AlternateContent>
          </a:graphicData>
        </a:graphic>
      </p:graphicFrame>
      <p:sp>
        <p:nvSpPr>
          <p:cNvPr id="5" name="Text Box 10">
            <a:extLst>
              <a:ext uri="{FF2B5EF4-FFF2-40B4-BE49-F238E27FC236}">
                <a16:creationId xmlns:a16="http://schemas.microsoft.com/office/drawing/2014/main" id="{CBCE3BC8-B196-414D-84F1-A9344EEC4422}"/>
              </a:ext>
            </a:extLst>
          </p:cNvPr>
          <p:cNvSpPr txBox="1">
            <a:spLocks noChangeArrowheads="1"/>
          </p:cNvSpPr>
          <p:nvPr/>
        </p:nvSpPr>
        <p:spPr bwMode="auto">
          <a:xfrm>
            <a:off x="6253480" y="2504439"/>
            <a:ext cx="1494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anose="02020603050405020304" pitchFamily="18" charset="0"/>
                <a:cs typeface="Times New Roman" panose="02020603050405020304" pitchFamily="18" charset="0"/>
              </a:rPr>
              <a:t>error 5.3%</a:t>
            </a:r>
          </a:p>
        </p:txBody>
      </p:sp>
      <p:sp>
        <p:nvSpPr>
          <p:cNvPr id="6" name="Text Box 11">
            <a:extLst>
              <a:ext uri="{FF2B5EF4-FFF2-40B4-BE49-F238E27FC236}">
                <a16:creationId xmlns:a16="http://schemas.microsoft.com/office/drawing/2014/main" id="{D2D8EB3D-C546-4FAA-8347-D4B15E9A2E57}"/>
              </a:ext>
            </a:extLst>
          </p:cNvPr>
          <p:cNvSpPr txBox="1">
            <a:spLocks noChangeArrowheads="1"/>
          </p:cNvSpPr>
          <p:nvPr/>
        </p:nvSpPr>
        <p:spPr bwMode="auto">
          <a:xfrm>
            <a:off x="1280160" y="2504440"/>
            <a:ext cx="3823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anose="02020603050405020304" pitchFamily="18" charset="0"/>
                <a:cs typeface="Times New Roman" panose="02020603050405020304" pitchFamily="18" charset="0"/>
              </a:rPr>
              <a:t>experimental value –79.01eV</a:t>
            </a:r>
          </a:p>
        </p:txBody>
      </p:sp>
      <p:sp>
        <p:nvSpPr>
          <p:cNvPr id="7" name="Text Box 4">
            <a:extLst>
              <a:ext uri="{FF2B5EF4-FFF2-40B4-BE49-F238E27FC236}">
                <a16:creationId xmlns:a16="http://schemas.microsoft.com/office/drawing/2014/main" id="{17AD8D65-EEBD-407F-92EA-23A496A2EB0D}"/>
              </a:ext>
            </a:extLst>
          </p:cNvPr>
          <p:cNvSpPr txBox="1">
            <a:spLocks noChangeArrowheads="1"/>
          </p:cNvSpPr>
          <p:nvPr/>
        </p:nvSpPr>
        <p:spPr bwMode="auto">
          <a:xfrm>
            <a:off x="401320" y="3656213"/>
            <a:ext cx="218502"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endParaRPr lang="zh-CN" altLang="zh-CN"/>
          </a:p>
        </p:txBody>
      </p:sp>
      <p:sp>
        <p:nvSpPr>
          <p:cNvPr id="8" name="Rectangle 5">
            <a:extLst>
              <a:ext uri="{FF2B5EF4-FFF2-40B4-BE49-F238E27FC236}">
                <a16:creationId xmlns:a16="http://schemas.microsoft.com/office/drawing/2014/main" id="{CFCCBF14-F6EC-4A59-BF04-290BD6DC653E}"/>
              </a:ext>
            </a:extLst>
          </p:cNvPr>
          <p:cNvSpPr>
            <a:spLocks noChangeArrowheads="1"/>
          </p:cNvSpPr>
          <p:nvPr/>
        </p:nvSpPr>
        <p:spPr bwMode="auto">
          <a:xfrm>
            <a:off x="510571" y="3334744"/>
            <a:ext cx="1055624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20000"/>
              </a:lnSpc>
            </a:pPr>
            <a:r>
              <a:rPr lang="en-US" altLang="zh-CN" sz="2400" dirty="0">
                <a:latin typeface="Times New Roman" panose="02020603050405020304" pitchFamily="18" charset="0"/>
                <a:cs typeface="Arial" panose="020B0604020202020204" pitchFamily="34" charset="0"/>
              </a:rPr>
              <a:t>In practice, one usually puts several </a:t>
            </a:r>
            <a:r>
              <a:rPr lang="en-US" altLang="zh-CN" sz="2400" dirty="0">
                <a:solidFill>
                  <a:srgbClr val="0000CC"/>
                </a:solidFill>
                <a:latin typeface="Times New Roman" panose="02020603050405020304" pitchFamily="18" charset="0"/>
                <a:cs typeface="Arial" panose="020B0604020202020204" pitchFamily="34" charset="0"/>
              </a:rPr>
              <a:t>parameters </a:t>
            </a:r>
            <a:r>
              <a:rPr lang="en-US" altLang="zh-CN" sz="2400" dirty="0">
                <a:latin typeface="Times New Roman" panose="02020603050405020304" pitchFamily="18" charset="0"/>
                <a:cs typeface="Arial" panose="020B0604020202020204" pitchFamily="34" charset="0"/>
              </a:rPr>
              <a:t>into the trial function, and then varies these parameters so as to minimize the variational integral.    </a:t>
            </a:r>
          </a:p>
        </p:txBody>
      </p:sp>
      <p:graphicFrame>
        <p:nvGraphicFramePr>
          <p:cNvPr id="10" name="对象 9">
            <a:extLst>
              <a:ext uri="{FF2B5EF4-FFF2-40B4-BE49-F238E27FC236}">
                <a16:creationId xmlns:a16="http://schemas.microsoft.com/office/drawing/2014/main" id="{56D80D0D-BD93-4782-A8A1-A30FA6FED6E8}"/>
              </a:ext>
            </a:extLst>
          </p:cNvPr>
          <p:cNvGraphicFramePr>
            <a:graphicFrameLocks noChangeAspect="1"/>
          </p:cNvGraphicFramePr>
          <p:nvPr/>
        </p:nvGraphicFramePr>
        <p:xfrm>
          <a:off x="1679258" y="4580538"/>
          <a:ext cx="7653337" cy="914400"/>
        </p:xfrm>
        <a:graphic>
          <a:graphicData uri="http://schemas.openxmlformats.org/presentationml/2006/ole">
            <mc:AlternateContent xmlns:mc="http://schemas.openxmlformats.org/markup-compatibility/2006">
              <mc:Choice xmlns:v="urn:schemas-microsoft-com:vml" Requires="v">
                <p:oleObj name="Equation" r:id="rId4" imgW="7653811" imgH="914433" progId="Equation.DSMT4">
                  <p:embed/>
                </p:oleObj>
              </mc:Choice>
              <mc:Fallback>
                <p:oleObj name="Equation" r:id="rId4" imgW="7653811" imgH="914433" progId="Equation.DSMT4">
                  <p:embed/>
                  <p:pic>
                    <p:nvPicPr>
                      <p:cNvPr id="10" name="对象 9">
                        <a:extLst>
                          <a:ext uri="{FF2B5EF4-FFF2-40B4-BE49-F238E27FC236}">
                            <a16:creationId xmlns:a16="http://schemas.microsoft.com/office/drawing/2014/main" id="{56D80D0D-BD93-4782-A8A1-A30FA6FED6E8}"/>
                          </a:ext>
                        </a:extLst>
                      </p:cNvPr>
                      <p:cNvPicPr/>
                      <p:nvPr/>
                    </p:nvPicPr>
                    <p:blipFill>
                      <a:blip r:embed="rId5"/>
                      <a:stretch>
                        <a:fillRect/>
                      </a:stretch>
                    </p:blipFill>
                    <p:spPr>
                      <a:xfrm>
                        <a:off x="1679258" y="4580538"/>
                        <a:ext cx="7653337" cy="914400"/>
                      </a:xfrm>
                      <a:prstGeom prst="rect">
                        <a:avLst/>
                      </a:prstGeom>
                    </p:spPr>
                  </p:pic>
                </p:oleObj>
              </mc:Fallback>
            </mc:AlternateContent>
          </a:graphicData>
        </a:graphic>
      </p:graphicFrame>
    </p:spTree>
    <p:extLst>
      <p:ext uri="{BB962C8B-B14F-4D97-AF65-F5344CB8AC3E}">
        <p14:creationId xmlns:p14="http://schemas.microsoft.com/office/powerpoint/2010/main" val="2742312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A820F855-8123-4A6A-B460-4387A2A02E34}"/>
              </a:ext>
            </a:extLst>
          </p:cNvPr>
          <p:cNvGraphicFramePr>
            <a:graphicFrameLocks noChangeAspect="1"/>
          </p:cNvGraphicFramePr>
          <p:nvPr/>
        </p:nvGraphicFramePr>
        <p:xfrm>
          <a:off x="3022918" y="392113"/>
          <a:ext cx="5130720" cy="964800"/>
        </p:xfrm>
        <a:graphic>
          <a:graphicData uri="http://schemas.openxmlformats.org/presentationml/2006/ole">
            <mc:AlternateContent xmlns:mc="http://schemas.openxmlformats.org/markup-compatibility/2006">
              <mc:Choice xmlns:v="urn:schemas-microsoft-com:vml" Requires="v">
                <p:oleObj name="Equation" r:id="rId2" imgW="2565360" imgH="482400" progId="Equation.DSMT4">
                  <p:embed/>
                </p:oleObj>
              </mc:Choice>
              <mc:Fallback>
                <p:oleObj name="Equation" r:id="rId2" imgW="2565360" imgH="482400" progId="Equation.DSMT4">
                  <p:embed/>
                  <p:pic>
                    <p:nvPicPr>
                      <p:cNvPr id="4" name="对象 3">
                        <a:extLst>
                          <a:ext uri="{FF2B5EF4-FFF2-40B4-BE49-F238E27FC236}">
                            <a16:creationId xmlns:a16="http://schemas.microsoft.com/office/drawing/2014/main" id="{A820F855-8123-4A6A-B460-4387A2A02E34}"/>
                          </a:ext>
                        </a:extLst>
                      </p:cNvPr>
                      <p:cNvPicPr/>
                      <p:nvPr/>
                    </p:nvPicPr>
                    <p:blipFill>
                      <a:blip r:embed="rId3"/>
                      <a:stretch>
                        <a:fillRect/>
                      </a:stretch>
                    </p:blipFill>
                    <p:spPr>
                      <a:xfrm>
                        <a:off x="3022918" y="392113"/>
                        <a:ext cx="5130720" cy="9648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6F01718C-9ABB-41EE-A081-A3A131E0B578}"/>
              </a:ext>
            </a:extLst>
          </p:cNvPr>
          <p:cNvGraphicFramePr>
            <a:graphicFrameLocks noChangeAspect="1"/>
          </p:cNvGraphicFramePr>
          <p:nvPr/>
        </p:nvGraphicFramePr>
        <p:xfrm>
          <a:off x="3833813" y="1594485"/>
          <a:ext cx="3276000" cy="786960"/>
        </p:xfrm>
        <a:graphic>
          <a:graphicData uri="http://schemas.openxmlformats.org/presentationml/2006/ole">
            <mc:AlternateContent xmlns:mc="http://schemas.openxmlformats.org/markup-compatibility/2006">
              <mc:Choice xmlns:v="urn:schemas-microsoft-com:vml" Requires="v">
                <p:oleObj name="Equation" r:id="rId4" imgW="1638000" imgH="393480" progId="Equation.DSMT4">
                  <p:embed/>
                </p:oleObj>
              </mc:Choice>
              <mc:Fallback>
                <p:oleObj name="Equation" r:id="rId4" imgW="1638000" imgH="393480" progId="Equation.DSMT4">
                  <p:embed/>
                  <p:pic>
                    <p:nvPicPr>
                      <p:cNvPr id="5" name="对象 4">
                        <a:extLst>
                          <a:ext uri="{FF2B5EF4-FFF2-40B4-BE49-F238E27FC236}">
                            <a16:creationId xmlns:a16="http://schemas.microsoft.com/office/drawing/2014/main" id="{6F01718C-9ABB-41EE-A081-A3A131E0B578}"/>
                          </a:ext>
                        </a:extLst>
                      </p:cNvPr>
                      <p:cNvPicPr/>
                      <p:nvPr/>
                    </p:nvPicPr>
                    <p:blipFill>
                      <a:blip r:embed="rId5"/>
                      <a:stretch>
                        <a:fillRect/>
                      </a:stretch>
                    </p:blipFill>
                    <p:spPr>
                      <a:xfrm>
                        <a:off x="3833813" y="1594485"/>
                        <a:ext cx="3276000" cy="78696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AF6C324C-D7EA-41FB-A488-488146A0EEF7}"/>
              </a:ext>
            </a:extLst>
          </p:cNvPr>
          <p:cNvGraphicFramePr>
            <a:graphicFrameLocks noChangeAspect="1"/>
          </p:cNvGraphicFramePr>
          <p:nvPr/>
        </p:nvGraphicFramePr>
        <p:xfrm>
          <a:off x="4369440" y="2929573"/>
          <a:ext cx="1726560" cy="406080"/>
        </p:xfrm>
        <a:graphic>
          <a:graphicData uri="http://schemas.openxmlformats.org/presentationml/2006/ole">
            <mc:AlternateContent xmlns:mc="http://schemas.openxmlformats.org/markup-compatibility/2006">
              <mc:Choice xmlns:v="urn:schemas-microsoft-com:vml" Requires="v">
                <p:oleObj name="Equation" r:id="rId6" imgW="863280" imgH="203040" progId="Equation.DSMT4">
                  <p:embed/>
                </p:oleObj>
              </mc:Choice>
              <mc:Fallback>
                <p:oleObj name="Equation" r:id="rId6" imgW="863280" imgH="203040" progId="Equation.DSMT4">
                  <p:embed/>
                  <p:pic>
                    <p:nvPicPr>
                      <p:cNvPr id="6" name="对象 5">
                        <a:extLst>
                          <a:ext uri="{FF2B5EF4-FFF2-40B4-BE49-F238E27FC236}">
                            <a16:creationId xmlns:a16="http://schemas.microsoft.com/office/drawing/2014/main" id="{AF6C324C-D7EA-41FB-A488-488146A0EEF7}"/>
                          </a:ext>
                        </a:extLst>
                      </p:cNvPr>
                      <p:cNvPicPr/>
                      <p:nvPr/>
                    </p:nvPicPr>
                    <p:blipFill>
                      <a:blip r:embed="rId7"/>
                      <a:stretch>
                        <a:fillRect/>
                      </a:stretch>
                    </p:blipFill>
                    <p:spPr>
                      <a:xfrm>
                        <a:off x="4369440" y="2929573"/>
                        <a:ext cx="1726560" cy="406080"/>
                      </a:xfrm>
                      <a:prstGeom prst="rect">
                        <a:avLst/>
                      </a:prstGeom>
                    </p:spPr>
                  </p:pic>
                </p:oleObj>
              </mc:Fallback>
            </mc:AlternateContent>
          </a:graphicData>
        </a:graphic>
      </p:graphicFrame>
      <p:graphicFrame>
        <p:nvGraphicFramePr>
          <p:cNvPr id="7" name="Object 46">
            <a:extLst>
              <a:ext uri="{FF2B5EF4-FFF2-40B4-BE49-F238E27FC236}">
                <a16:creationId xmlns:a16="http://schemas.microsoft.com/office/drawing/2014/main" id="{A38582EB-83D1-4501-BEA4-F2FD69B4CB4E}"/>
              </a:ext>
            </a:extLst>
          </p:cNvPr>
          <p:cNvGraphicFramePr>
            <a:graphicFrameLocks noChangeAspect="1"/>
          </p:cNvGraphicFramePr>
          <p:nvPr/>
        </p:nvGraphicFramePr>
        <p:xfrm>
          <a:off x="2296160" y="3883781"/>
          <a:ext cx="3700463" cy="457200"/>
        </p:xfrm>
        <a:graphic>
          <a:graphicData uri="http://schemas.openxmlformats.org/presentationml/2006/ole">
            <mc:AlternateContent xmlns:mc="http://schemas.openxmlformats.org/markup-compatibility/2006">
              <mc:Choice xmlns:v="urn:schemas-microsoft-com:vml" Requires="v">
                <p:oleObj name="Equation" r:id="rId8" imgW="1854000" imgH="228600" progId="Equation.DSMT4">
                  <p:embed/>
                </p:oleObj>
              </mc:Choice>
              <mc:Fallback>
                <p:oleObj name="Equation" r:id="rId8" imgW="1854000" imgH="228600" progId="Equation.DSMT4">
                  <p:embed/>
                  <p:pic>
                    <p:nvPicPr>
                      <p:cNvPr id="7" name="Object 46">
                        <a:extLst>
                          <a:ext uri="{FF2B5EF4-FFF2-40B4-BE49-F238E27FC236}">
                            <a16:creationId xmlns:a16="http://schemas.microsoft.com/office/drawing/2014/main" id="{A38582EB-83D1-4501-BEA4-F2FD69B4CB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6160" y="3883781"/>
                        <a:ext cx="37004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47">
            <a:extLst>
              <a:ext uri="{FF2B5EF4-FFF2-40B4-BE49-F238E27FC236}">
                <a16:creationId xmlns:a16="http://schemas.microsoft.com/office/drawing/2014/main" id="{9B6A96B0-FBB7-40E6-953F-15BF521DCE08}"/>
              </a:ext>
            </a:extLst>
          </p:cNvPr>
          <p:cNvGraphicFramePr>
            <a:graphicFrameLocks noChangeAspect="1"/>
          </p:cNvGraphicFramePr>
          <p:nvPr/>
        </p:nvGraphicFramePr>
        <p:xfrm>
          <a:off x="6563360" y="3920294"/>
          <a:ext cx="1368425" cy="404812"/>
        </p:xfrm>
        <a:graphic>
          <a:graphicData uri="http://schemas.openxmlformats.org/presentationml/2006/ole">
            <mc:AlternateContent xmlns:mc="http://schemas.openxmlformats.org/markup-compatibility/2006">
              <mc:Choice xmlns:v="urn:schemas-microsoft-com:vml" Requires="v">
                <p:oleObj name="Equation" r:id="rId10" imgW="685800" imgH="203040" progId="Equation.DSMT4">
                  <p:embed/>
                </p:oleObj>
              </mc:Choice>
              <mc:Fallback>
                <p:oleObj name="Equation" r:id="rId10" imgW="685800" imgH="203040" progId="Equation.DSMT4">
                  <p:embed/>
                  <p:pic>
                    <p:nvPicPr>
                      <p:cNvPr id="8" name="Object 47">
                        <a:extLst>
                          <a:ext uri="{FF2B5EF4-FFF2-40B4-BE49-F238E27FC236}">
                            <a16:creationId xmlns:a16="http://schemas.microsoft.com/office/drawing/2014/main" id="{9B6A96B0-FBB7-40E6-953F-15BF521DCE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63360" y="3920294"/>
                        <a:ext cx="1368425"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8">
            <a:extLst>
              <a:ext uri="{FF2B5EF4-FFF2-40B4-BE49-F238E27FC236}">
                <a16:creationId xmlns:a16="http://schemas.microsoft.com/office/drawing/2014/main" id="{E0EFE666-CD7A-42C0-8333-150D1FCA3478}"/>
              </a:ext>
            </a:extLst>
          </p:cNvPr>
          <p:cNvGraphicFramePr>
            <a:graphicFrameLocks noChangeAspect="1"/>
          </p:cNvGraphicFramePr>
          <p:nvPr/>
        </p:nvGraphicFramePr>
        <p:xfrm>
          <a:off x="2296160" y="4569581"/>
          <a:ext cx="3168650" cy="457200"/>
        </p:xfrm>
        <a:graphic>
          <a:graphicData uri="http://schemas.openxmlformats.org/presentationml/2006/ole">
            <mc:AlternateContent xmlns:mc="http://schemas.openxmlformats.org/markup-compatibility/2006">
              <mc:Choice xmlns:v="urn:schemas-microsoft-com:vml" Requires="v">
                <p:oleObj name="Equation" r:id="rId12" imgW="1587240" imgH="228600" progId="Equation.DSMT4">
                  <p:embed/>
                </p:oleObj>
              </mc:Choice>
              <mc:Fallback>
                <p:oleObj name="Equation" r:id="rId12" imgW="1587240" imgH="228600" progId="Equation.DSMT4">
                  <p:embed/>
                  <p:pic>
                    <p:nvPicPr>
                      <p:cNvPr id="9" name="Object 48">
                        <a:extLst>
                          <a:ext uri="{FF2B5EF4-FFF2-40B4-BE49-F238E27FC236}">
                            <a16:creationId xmlns:a16="http://schemas.microsoft.com/office/drawing/2014/main" id="{E0EFE666-CD7A-42C0-8333-150D1FCA347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6160" y="4569581"/>
                        <a:ext cx="31686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52649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88219" y="3005944"/>
            <a:ext cx="114155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defTabSz="914400" eaLnBrk="1" fontAlgn="base" hangingPunct="1">
              <a:spcBef>
                <a:spcPct val="50000"/>
              </a:spcBef>
              <a:spcAft>
                <a:spcPct val="0"/>
              </a:spcAft>
              <a:defRPr/>
            </a:pPr>
            <a:r>
              <a:rPr lang="en-US" altLang="zh-CN" b="0" i="1" kern="0" dirty="0">
                <a:solidFill>
                  <a:prstClr val="black"/>
                </a:solidFill>
              </a:rPr>
              <a:t>Based on this principle, the parameters are regulated by the minimization routine so as to obtain the wavefunction that corresponds to the minimum energy. This is taken to be the </a:t>
            </a:r>
            <a:r>
              <a:rPr lang="en-US" altLang="zh-CN" b="0" i="1" kern="0" dirty="0" err="1">
                <a:solidFill>
                  <a:prstClr val="black"/>
                </a:solidFill>
              </a:rPr>
              <a:t>wavefunction</a:t>
            </a:r>
            <a:r>
              <a:rPr lang="en-US" altLang="zh-CN" b="0" i="1" kern="0" dirty="0">
                <a:solidFill>
                  <a:prstClr val="black"/>
                </a:solidFill>
              </a:rPr>
              <a:t> that closely approximates the ground state.</a:t>
            </a:r>
          </a:p>
        </p:txBody>
      </p:sp>
      <p:sp>
        <p:nvSpPr>
          <p:cNvPr id="7" name="Rectangle 6"/>
          <p:cNvSpPr>
            <a:spLocks noChangeArrowheads="1"/>
          </p:cNvSpPr>
          <p:nvPr/>
        </p:nvSpPr>
        <p:spPr bwMode="auto">
          <a:xfrm>
            <a:off x="2627416" y="176727"/>
            <a:ext cx="6629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400" fontAlgn="base">
              <a:spcBef>
                <a:spcPct val="0"/>
              </a:spcBef>
              <a:spcAft>
                <a:spcPct val="0"/>
              </a:spcAft>
            </a:pPr>
            <a:r>
              <a:rPr kumimoji="1" lang="en-US" altLang="zh-CN" sz="2800" b="1" dirty="0">
                <a:solidFill>
                  <a:prstClr val="black"/>
                </a:solidFill>
                <a:latin typeface="Times New Roman" panose="02020603050405020304" pitchFamily="18" charset="0"/>
                <a:ea typeface="宋体" charset="-122"/>
                <a:cs typeface="Times New Roman" panose="02020603050405020304" pitchFamily="18" charset="0"/>
              </a:rPr>
              <a:t>6.5 Linear Variation Functions</a:t>
            </a:r>
          </a:p>
        </p:txBody>
      </p:sp>
      <p:graphicFrame>
        <p:nvGraphicFramePr>
          <p:cNvPr id="8" name="Object 7"/>
          <p:cNvGraphicFramePr>
            <a:graphicFrameLocks noChangeAspect="1"/>
          </p:cNvGraphicFramePr>
          <p:nvPr/>
        </p:nvGraphicFramePr>
        <p:xfrm>
          <a:off x="3638550" y="906463"/>
          <a:ext cx="4889500" cy="1023937"/>
        </p:xfrm>
        <a:graphic>
          <a:graphicData uri="http://schemas.openxmlformats.org/presentationml/2006/ole">
            <mc:AlternateContent xmlns:mc="http://schemas.openxmlformats.org/markup-compatibility/2006">
              <mc:Choice xmlns:v="urn:schemas-microsoft-com:vml" Requires="v">
                <p:oleObj name="Equation" r:id="rId2" imgW="2120760" imgH="444240" progId="Equation.DSMT4">
                  <p:embed/>
                </p:oleObj>
              </mc:Choice>
              <mc:Fallback>
                <p:oleObj name="Equation" r:id="rId2" imgW="2120760" imgH="444240" progId="Equation.DSMT4">
                  <p:embed/>
                  <p:pic>
                    <p:nvPicPr>
                      <p:cNvPr id="8" name="Object 7"/>
                      <p:cNvPicPr>
                        <a:picLocks noChangeAspect="1" noChangeArrowheads="1"/>
                      </p:cNvPicPr>
                      <p:nvPr/>
                    </p:nvPicPr>
                    <p:blipFill>
                      <a:blip r:embed="rId3"/>
                      <a:srcRect/>
                      <a:stretch>
                        <a:fillRect/>
                      </a:stretch>
                    </p:blipFill>
                    <p:spPr bwMode="auto">
                      <a:xfrm>
                        <a:off x="3638550" y="906463"/>
                        <a:ext cx="4889500" cy="1023937"/>
                      </a:xfrm>
                      <a:prstGeom prst="rect">
                        <a:avLst/>
                      </a:prstGeom>
                      <a:noFill/>
                      <a:ln>
                        <a:noFill/>
                      </a:ln>
                      <a:effectLst/>
                    </p:spPr>
                  </p:pic>
                </p:oleObj>
              </mc:Fallback>
            </mc:AlternateContent>
          </a:graphicData>
        </a:graphic>
      </p:graphicFrame>
      <p:sp>
        <p:nvSpPr>
          <p:cNvPr id="9" name="Text Box 8"/>
          <p:cNvSpPr txBox="1">
            <a:spLocks noChangeArrowheads="1"/>
          </p:cNvSpPr>
          <p:nvPr/>
        </p:nvSpPr>
        <p:spPr bwMode="auto">
          <a:xfrm>
            <a:off x="737441" y="1930293"/>
            <a:ext cx="10691446" cy="830997"/>
          </a:xfrm>
          <a:prstGeom prst="rect">
            <a:avLst/>
          </a:prstGeom>
          <a:noFill/>
          <a:ln w="9525">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dirty="0">
                <a:solidFill>
                  <a:prstClr val="black"/>
                </a:solidFill>
              </a:rPr>
              <a:t>A linear variation function is a linear combination of n linearly independent functions </a:t>
            </a:r>
            <a:r>
              <a:rPr lang="en-US" altLang="zh-CN" b="0" i="1" kern="0" dirty="0">
                <a:solidFill>
                  <a:prstClr val="black"/>
                </a:solidFill>
              </a:rPr>
              <a:t>f</a:t>
            </a:r>
            <a:r>
              <a:rPr lang="en-US" altLang="zh-CN" b="0" kern="0" baseline="-25000" dirty="0">
                <a:solidFill>
                  <a:prstClr val="black"/>
                </a:solidFill>
              </a:rPr>
              <a:t>1</a:t>
            </a:r>
            <a:r>
              <a:rPr lang="en-US" altLang="zh-CN" b="0" i="1" kern="0" dirty="0">
                <a:solidFill>
                  <a:prstClr val="black"/>
                </a:solidFill>
              </a:rPr>
              <a:t>, f</a:t>
            </a:r>
            <a:r>
              <a:rPr lang="en-US" altLang="zh-CN" b="0" kern="0" baseline="-25000" dirty="0">
                <a:solidFill>
                  <a:prstClr val="black"/>
                </a:solidFill>
              </a:rPr>
              <a:t>2</a:t>
            </a:r>
            <a:r>
              <a:rPr lang="en-US" altLang="zh-CN" b="0" i="1" kern="0" dirty="0">
                <a:solidFill>
                  <a:prstClr val="black"/>
                </a:solidFill>
              </a:rPr>
              <a:t>, …f</a:t>
            </a:r>
            <a:r>
              <a:rPr lang="en-US" altLang="zh-CN" b="0" kern="0" baseline="-25000" dirty="0">
                <a:solidFill>
                  <a:prstClr val="black"/>
                </a:solidFill>
              </a:rPr>
              <a:t>n</a:t>
            </a:r>
            <a:r>
              <a:rPr lang="en-US" altLang="zh-CN" b="0" kern="0" dirty="0">
                <a:solidFill>
                  <a:prstClr val="black"/>
                </a:solidFill>
              </a:rPr>
              <a:t>.</a:t>
            </a:r>
          </a:p>
        </p:txBody>
      </p:sp>
      <p:sp>
        <p:nvSpPr>
          <p:cNvPr id="11"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12" name="对象 11"/>
          <p:cNvGraphicFramePr>
            <a:graphicFrameLocks noChangeAspect="1"/>
          </p:cNvGraphicFramePr>
          <p:nvPr/>
        </p:nvGraphicFramePr>
        <p:xfrm>
          <a:off x="3188029" y="4257400"/>
          <a:ext cx="2486025" cy="889000"/>
        </p:xfrm>
        <a:graphic>
          <a:graphicData uri="http://schemas.openxmlformats.org/presentationml/2006/ole">
            <mc:AlternateContent xmlns:mc="http://schemas.openxmlformats.org/markup-compatibility/2006">
              <mc:Choice xmlns:v="urn:schemas-microsoft-com:vml" Requires="v">
                <p:oleObj name="Equation" r:id="rId4" imgW="1244520" imgH="444240" progId="Equation.DSMT4">
                  <p:embed/>
                </p:oleObj>
              </mc:Choice>
              <mc:Fallback>
                <p:oleObj name="Equation" r:id="rId4" imgW="1244520" imgH="444240" progId="Equation.DSMT4">
                  <p:embed/>
                  <p:pic>
                    <p:nvPicPr>
                      <p:cNvPr id="12" name="对象 11"/>
                      <p:cNvPicPr>
                        <a:picLocks noChangeAspect="1" noChangeArrowheads="1"/>
                      </p:cNvPicPr>
                      <p:nvPr/>
                    </p:nvPicPr>
                    <p:blipFill>
                      <a:blip r:embed="rId5"/>
                      <a:srcRect/>
                      <a:stretch>
                        <a:fillRect/>
                      </a:stretch>
                    </p:blipFill>
                    <p:spPr bwMode="auto">
                      <a:xfrm>
                        <a:off x="3188029" y="4257400"/>
                        <a:ext cx="2486025" cy="889000"/>
                      </a:xfrm>
                      <a:prstGeom prst="rect">
                        <a:avLst/>
                      </a:prstGeom>
                      <a:solidFill>
                        <a:srgbClr val="FFFFFF"/>
                      </a:solidFill>
                      <a:ln>
                        <a:noFill/>
                      </a:ln>
                      <a:effectLst/>
                    </p:spPr>
                  </p:pic>
                </p:oleObj>
              </mc:Fallback>
            </mc:AlternateContent>
          </a:graphicData>
        </a:graphic>
      </p:graphicFrame>
      <p:sp>
        <p:nvSpPr>
          <p:cNvPr id="13" name="Text Box 33"/>
          <p:cNvSpPr txBox="1">
            <a:spLocks noChangeArrowheads="1"/>
          </p:cNvSpPr>
          <p:nvPr/>
        </p:nvSpPr>
        <p:spPr bwMode="auto">
          <a:xfrm>
            <a:off x="7478042" y="4410319"/>
            <a:ext cx="26853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kumimoji="1" lang="en-US" altLang="zh-CN" sz="2400" b="1" dirty="0">
                <a:solidFill>
                  <a:prstClr val="black"/>
                </a:solidFill>
                <a:latin typeface="Times New Roman" pitchFamily="18" charset="0"/>
                <a:ea typeface="宋体" charset="-122"/>
              </a:rPr>
              <a:t>overlap integral </a:t>
            </a:r>
            <a:r>
              <a:rPr kumimoji="1" lang="en-US" altLang="zh-CN" sz="2400" b="1" i="1" dirty="0" err="1">
                <a:solidFill>
                  <a:prstClr val="black"/>
                </a:solidFill>
                <a:latin typeface="Times New Roman" pitchFamily="18" charset="0"/>
                <a:ea typeface="宋体" charset="-122"/>
              </a:rPr>
              <a:t>S</a:t>
            </a:r>
            <a:r>
              <a:rPr kumimoji="1" lang="en-US" altLang="zh-CN" sz="2400" b="1" i="1" baseline="-25000" dirty="0" err="1">
                <a:solidFill>
                  <a:prstClr val="black"/>
                </a:solidFill>
                <a:latin typeface="Times New Roman" pitchFamily="18" charset="0"/>
                <a:ea typeface="宋体" charset="-122"/>
              </a:rPr>
              <a:t>jk</a:t>
            </a:r>
            <a:endParaRPr kumimoji="1" lang="en-US" altLang="zh-CN" sz="2400" b="1" i="1" dirty="0">
              <a:solidFill>
                <a:prstClr val="black"/>
              </a:solidFill>
              <a:latin typeface="Times New Roman" pitchFamily="18" charset="0"/>
              <a:ea typeface="宋体" charset="-122"/>
            </a:endParaRPr>
          </a:p>
        </p:txBody>
      </p:sp>
      <p:graphicFrame>
        <p:nvGraphicFramePr>
          <p:cNvPr id="15" name="对象 14"/>
          <p:cNvGraphicFramePr>
            <a:graphicFrameLocks noChangeAspect="1"/>
          </p:cNvGraphicFramePr>
          <p:nvPr/>
        </p:nvGraphicFramePr>
        <p:xfrm>
          <a:off x="3061029" y="5197527"/>
          <a:ext cx="5226050" cy="889000"/>
        </p:xfrm>
        <a:graphic>
          <a:graphicData uri="http://schemas.openxmlformats.org/presentationml/2006/ole">
            <mc:AlternateContent xmlns:mc="http://schemas.openxmlformats.org/markup-compatibility/2006">
              <mc:Choice xmlns:v="urn:schemas-microsoft-com:vml" Requires="v">
                <p:oleObj name="Equation" r:id="rId6" imgW="2616120" imgH="444240" progId="Equation.DSMT4">
                  <p:embed/>
                </p:oleObj>
              </mc:Choice>
              <mc:Fallback>
                <p:oleObj name="Equation" r:id="rId6" imgW="2616120" imgH="444240" progId="Equation.DSMT4">
                  <p:embed/>
                  <p:pic>
                    <p:nvPicPr>
                      <p:cNvPr id="15" name="对象 14"/>
                      <p:cNvPicPr>
                        <a:picLocks noChangeAspect="1" noChangeArrowheads="1"/>
                      </p:cNvPicPr>
                      <p:nvPr/>
                    </p:nvPicPr>
                    <p:blipFill>
                      <a:blip r:embed="rId7"/>
                      <a:srcRect/>
                      <a:stretch>
                        <a:fillRect/>
                      </a:stretch>
                    </p:blipFill>
                    <p:spPr bwMode="auto">
                      <a:xfrm>
                        <a:off x="3061029" y="5197527"/>
                        <a:ext cx="5226050" cy="889000"/>
                      </a:xfrm>
                      <a:prstGeom prst="rect">
                        <a:avLst/>
                      </a:prstGeom>
                      <a:solidFill>
                        <a:srgbClr val="FFFFFF"/>
                      </a:solidFill>
                      <a:ln>
                        <a:noFill/>
                      </a:ln>
                      <a:effectLst/>
                    </p:spPr>
                  </p:pic>
                </p:oleObj>
              </mc:Fallback>
            </mc:AlternateContent>
          </a:graphicData>
        </a:graphic>
      </p:graphicFrame>
    </p:spTree>
    <p:extLst>
      <p:ext uri="{BB962C8B-B14F-4D97-AF65-F5344CB8AC3E}">
        <p14:creationId xmlns:p14="http://schemas.microsoft.com/office/powerpoint/2010/main" val="1840792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nvGraphicFramePr>
        <p:xfrm>
          <a:off x="4041091" y="248894"/>
          <a:ext cx="4013200" cy="1727200"/>
        </p:xfrm>
        <a:graphic>
          <a:graphicData uri="http://schemas.openxmlformats.org/presentationml/2006/ole">
            <mc:AlternateContent xmlns:mc="http://schemas.openxmlformats.org/markup-compatibility/2006">
              <mc:Choice xmlns:v="urn:schemas-microsoft-com:vml" Requires="v">
                <p:oleObj name="Equation" r:id="rId2" imgW="2005729" imgH="863225" progId="Equation.DSMT4">
                  <p:embed/>
                </p:oleObj>
              </mc:Choice>
              <mc:Fallback>
                <p:oleObj name="Equation" r:id="rId2" imgW="2005729" imgH="863225" progId="Equation.DSMT4">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1091" y="248894"/>
                        <a:ext cx="4013200" cy="1727200"/>
                      </a:xfrm>
                      <a:prstGeom prst="rect">
                        <a:avLst/>
                      </a:prstGeom>
                      <a:solidFill>
                        <a:srgbClr val="FFFFFF"/>
                      </a:solidFill>
                      <a:ln>
                        <a:noFill/>
                      </a:ln>
                      <a:effectLst/>
                    </p:spPr>
                  </p:pic>
                </p:oleObj>
              </mc:Fallback>
            </mc:AlternateContent>
          </a:graphicData>
        </a:graphic>
      </p:graphicFrame>
      <p:sp>
        <p:nvSpPr>
          <p:cNvPr id="8" name="Rectangle 29"/>
          <p:cNvSpPr>
            <a:spLocks noChangeArrowheads="1"/>
          </p:cNvSpPr>
          <p:nvPr/>
        </p:nvSpPr>
        <p:spPr bwMode="auto">
          <a:xfrm>
            <a:off x="239152" y="3080865"/>
            <a:ext cx="67832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indent="0" defTabSz="914400" fontAlgn="base">
              <a:spcAft>
                <a:spcPct val="0"/>
              </a:spcAft>
            </a:pPr>
            <a:r>
              <a:rPr kumimoji="1" lang="en-US" altLang="zh-CN" sz="2400" b="1" dirty="0">
                <a:solidFill>
                  <a:prstClr val="black"/>
                </a:solidFill>
                <a:latin typeface="Times New Roman" pitchFamily="18" charset="0"/>
                <a:cs typeface="Arial" pitchFamily="34" charset="0"/>
              </a:rPr>
              <a:t>A necessary condition for a minimum</a:t>
            </a:r>
          </a:p>
        </p:txBody>
      </p:sp>
      <p:graphicFrame>
        <p:nvGraphicFramePr>
          <p:cNvPr id="9" name="对象 8"/>
          <p:cNvGraphicFramePr>
            <a:graphicFrameLocks noChangeAspect="1"/>
          </p:cNvGraphicFramePr>
          <p:nvPr/>
        </p:nvGraphicFramePr>
        <p:xfrm>
          <a:off x="4095859" y="2082382"/>
          <a:ext cx="3903663" cy="889000"/>
        </p:xfrm>
        <a:graphic>
          <a:graphicData uri="http://schemas.openxmlformats.org/presentationml/2006/ole">
            <mc:AlternateContent xmlns:mc="http://schemas.openxmlformats.org/markup-compatibility/2006">
              <mc:Choice xmlns:v="urn:schemas-microsoft-com:vml" Requires="v">
                <p:oleObj name="Equation" r:id="rId4" imgW="1954951" imgH="444307" progId="Equation.DSMT4">
                  <p:embed/>
                </p:oleObj>
              </mc:Choice>
              <mc:Fallback>
                <p:oleObj name="Equation" r:id="rId4" imgW="1954951" imgH="444307" progId="Equation.DSMT4">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5859" y="2082382"/>
                        <a:ext cx="3903663" cy="889000"/>
                      </a:xfrm>
                      <a:prstGeom prst="rect">
                        <a:avLst/>
                      </a:prstGeom>
                      <a:solidFill>
                        <a:srgbClr val="FFFFFF"/>
                      </a:solidFill>
                      <a:ln>
                        <a:noFill/>
                      </a:ln>
                      <a:effectLst/>
                    </p:spPr>
                  </p:pic>
                </p:oleObj>
              </mc:Fallback>
            </mc:AlternateContent>
          </a:graphicData>
        </a:graphic>
      </p:graphicFrame>
      <p:graphicFrame>
        <p:nvGraphicFramePr>
          <p:cNvPr id="10" name="对象 9"/>
          <p:cNvGraphicFramePr>
            <a:graphicFrameLocks noChangeAspect="1"/>
          </p:cNvGraphicFramePr>
          <p:nvPr/>
        </p:nvGraphicFramePr>
        <p:xfrm>
          <a:off x="4610893" y="3777135"/>
          <a:ext cx="2970213" cy="863600"/>
        </p:xfrm>
        <a:graphic>
          <a:graphicData uri="http://schemas.openxmlformats.org/presentationml/2006/ole">
            <mc:AlternateContent xmlns:mc="http://schemas.openxmlformats.org/markup-compatibility/2006">
              <mc:Choice xmlns:v="urn:schemas-microsoft-com:vml" Requires="v">
                <p:oleObj name="Equation" r:id="rId6" imgW="1485900" imgH="431800" progId="Equation.DSMT4">
                  <p:embed/>
                </p:oleObj>
              </mc:Choice>
              <mc:Fallback>
                <p:oleObj name="Equation" r:id="rId6" imgW="1485900" imgH="431800" progId="Equation.DSMT4">
                  <p:embed/>
                  <p:pic>
                    <p:nvPicPr>
                      <p:cNvPr id="1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0893" y="3777135"/>
                        <a:ext cx="2970213" cy="863600"/>
                      </a:xfrm>
                      <a:prstGeom prst="rect">
                        <a:avLst/>
                      </a:prstGeom>
                      <a:solidFill>
                        <a:srgbClr val="FFFFFF"/>
                      </a:solidFill>
                      <a:ln>
                        <a:noFill/>
                      </a:ln>
                      <a:effectLst/>
                    </p:spPr>
                  </p:pic>
                </p:oleObj>
              </mc:Fallback>
            </mc:AlternateContent>
          </a:graphicData>
        </a:graphic>
      </p:graphicFrame>
      <p:graphicFrame>
        <p:nvGraphicFramePr>
          <p:cNvPr id="11" name="对象 10"/>
          <p:cNvGraphicFramePr>
            <a:graphicFrameLocks noChangeAspect="1"/>
          </p:cNvGraphicFramePr>
          <p:nvPr/>
        </p:nvGraphicFramePr>
        <p:xfrm>
          <a:off x="1540292" y="4881907"/>
          <a:ext cx="8763000" cy="889000"/>
        </p:xfrm>
        <a:graphic>
          <a:graphicData uri="http://schemas.openxmlformats.org/presentationml/2006/ole">
            <mc:AlternateContent xmlns:mc="http://schemas.openxmlformats.org/markup-compatibility/2006">
              <mc:Choice xmlns:v="urn:schemas-microsoft-com:vml" Requires="v">
                <p:oleObj name="Equation" r:id="rId8" imgW="4381200" imgH="444240" progId="Equation.DSMT4">
                  <p:embed/>
                </p:oleObj>
              </mc:Choice>
              <mc:Fallback>
                <p:oleObj name="Equation" r:id="rId8" imgW="4381200" imgH="444240" progId="Equation.DSMT4">
                  <p:embed/>
                  <p:pic>
                    <p:nvPicPr>
                      <p:cNvPr id="11" name="对象 10"/>
                      <p:cNvPicPr>
                        <a:picLocks noChangeAspect="1" noChangeArrowheads="1"/>
                      </p:cNvPicPr>
                      <p:nvPr/>
                    </p:nvPicPr>
                    <p:blipFill>
                      <a:blip r:embed="rId9"/>
                      <a:srcRect/>
                      <a:stretch>
                        <a:fillRect/>
                      </a:stretch>
                    </p:blipFill>
                    <p:spPr bwMode="auto">
                      <a:xfrm>
                        <a:off x="1540292" y="4881907"/>
                        <a:ext cx="8763000" cy="889000"/>
                      </a:xfrm>
                      <a:prstGeom prst="rect">
                        <a:avLst/>
                      </a:prstGeom>
                      <a:solidFill>
                        <a:srgbClr val="FFFFFF"/>
                      </a:solidFill>
                      <a:ln>
                        <a:noFill/>
                      </a:ln>
                      <a:effectLst/>
                    </p:spPr>
                  </p:pic>
                </p:oleObj>
              </mc:Fallback>
            </mc:AlternateContent>
          </a:graphicData>
        </a:graphic>
      </p:graphicFrame>
    </p:spTree>
    <p:extLst>
      <p:ext uri="{BB962C8B-B14F-4D97-AF65-F5344CB8AC3E}">
        <p14:creationId xmlns:p14="http://schemas.microsoft.com/office/powerpoint/2010/main" val="2561161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2940741" y="707961"/>
          <a:ext cx="5842000" cy="889000"/>
        </p:xfrm>
        <a:graphic>
          <a:graphicData uri="http://schemas.openxmlformats.org/presentationml/2006/ole">
            <mc:AlternateContent xmlns:mc="http://schemas.openxmlformats.org/markup-compatibility/2006">
              <mc:Choice xmlns:v="urn:schemas-microsoft-com:vml" Requires="v">
                <p:oleObj name="Equation" r:id="rId2" imgW="2921000" imgH="444500" progId="Equation.DSMT4">
                  <p:embed/>
                </p:oleObj>
              </mc:Choice>
              <mc:Fallback>
                <p:oleObj name="Equation" r:id="rId2" imgW="2921000" imgH="444500" progId="Equation.DSMT4">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741" y="707961"/>
                        <a:ext cx="5842000" cy="889000"/>
                      </a:xfrm>
                      <a:prstGeom prst="rect">
                        <a:avLst/>
                      </a:prstGeom>
                      <a:solidFill>
                        <a:schemeClr val="bg1"/>
                      </a:solidFill>
                      <a:ln>
                        <a:noFill/>
                      </a:ln>
                    </p:spPr>
                  </p:pic>
                </p:oleObj>
              </mc:Fallback>
            </mc:AlternateContent>
          </a:graphicData>
        </a:graphic>
      </p:graphicFrame>
      <p:graphicFrame>
        <p:nvGraphicFramePr>
          <p:cNvPr id="3" name="对象 2"/>
          <p:cNvGraphicFramePr>
            <a:graphicFrameLocks noChangeAspect="1"/>
          </p:cNvGraphicFramePr>
          <p:nvPr/>
        </p:nvGraphicFramePr>
        <p:xfrm>
          <a:off x="5010841" y="1698561"/>
          <a:ext cx="2438400" cy="889000"/>
        </p:xfrm>
        <a:graphic>
          <a:graphicData uri="http://schemas.openxmlformats.org/presentationml/2006/ole">
            <mc:AlternateContent xmlns:mc="http://schemas.openxmlformats.org/markup-compatibility/2006">
              <mc:Choice xmlns:v="urn:schemas-microsoft-com:vml" Requires="v">
                <p:oleObj name="Equation" r:id="rId4" imgW="1218671" imgH="444307" progId="Equation.DSMT4">
                  <p:embed/>
                </p:oleObj>
              </mc:Choice>
              <mc:Fallback>
                <p:oleObj name="Equation" r:id="rId4" imgW="1218671" imgH="444307" progId="Equation.DSMT4">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0841" y="1698561"/>
                        <a:ext cx="2438400" cy="889000"/>
                      </a:xfrm>
                      <a:prstGeom prst="rect">
                        <a:avLst/>
                      </a:prstGeom>
                      <a:solidFill>
                        <a:schemeClr val="bg1"/>
                      </a:solidFill>
                      <a:ln>
                        <a:noFill/>
                      </a:ln>
                    </p:spPr>
                  </p:pic>
                </p:oleObj>
              </mc:Fallback>
            </mc:AlternateContent>
          </a:graphicData>
        </a:graphic>
      </p:graphicFrame>
      <p:graphicFrame>
        <p:nvGraphicFramePr>
          <p:cNvPr id="4" name="对象 3"/>
          <p:cNvGraphicFramePr>
            <a:graphicFrameLocks noChangeAspect="1"/>
          </p:cNvGraphicFramePr>
          <p:nvPr/>
        </p:nvGraphicFramePr>
        <p:xfrm>
          <a:off x="5087041" y="2612961"/>
          <a:ext cx="1422400" cy="863600"/>
        </p:xfrm>
        <a:graphic>
          <a:graphicData uri="http://schemas.openxmlformats.org/presentationml/2006/ole">
            <mc:AlternateContent xmlns:mc="http://schemas.openxmlformats.org/markup-compatibility/2006">
              <mc:Choice xmlns:v="urn:schemas-microsoft-com:vml" Requires="v">
                <p:oleObj name="Equation" r:id="rId6" imgW="710891" imgH="431613" progId="Equation.DSMT4">
                  <p:embed/>
                </p:oleObj>
              </mc:Choice>
              <mc:Fallback>
                <p:oleObj name="Equation" r:id="rId6" imgW="710891" imgH="431613" progId="Equation.DSMT4">
                  <p:embed/>
                  <p:pic>
                    <p:nvPicPr>
                      <p:cNvPr id="4"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87041" y="2612961"/>
                        <a:ext cx="1422400" cy="863600"/>
                      </a:xfrm>
                      <a:prstGeom prst="rect">
                        <a:avLst/>
                      </a:prstGeom>
                      <a:solidFill>
                        <a:schemeClr val="bg1"/>
                      </a:solidFill>
                      <a:ln>
                        <a:noFill/>
                      </a:ln>
                    </p:spPr>
                  </p:pic>
                </p:oleObj>
              </mc:Fallback>
            </mc:AlternateContent>
          </a:graphicData>
        </a:graphic>
      </p:graphicFrame>
      <p:graphicFrame>
        <p:nvGraphicFramePr>
          <p:cNvPr id="5" name="对象 4"/>
          <p:cNvGraphicFramePr>
            <a:graphicFrameLocks noChangeAspect="1"/>
          </p:cNvGraphicFramePr>
          <p:nvPr/>
        </p:nvGraphicFramePr>
        <p:xfrm>
          <a:off x="4172641" y="3679761"/>
          <a:ext cx="3632200" cy="889000"/>
        </p:xfrm>
        <a:graphic>
          <a:graphicData uri="http://schemas.openxmlformats.org/presentationml/2006/ole">
            <mc:AlternateContent xmlns:mc="http://schemas.openxmlformats.org/markup-compatibility/2006">
              <mc:Choice xmlns:v="urn:schemas-microsoft-com:vml" Requires="v">
                <p:oleObj name="Equation" r:id="rId8" imgW="1815312" imgH="444307" progId="Equation.DSMT4">
                  <p:embed/>
                </p:oleObj>
              </mc:Choice>
              <mc:Fallback>
                <p:oleObj name="Equation" r:id="rId8" imgW="1815312" imgH="444307" progId="Equation.DSMT4">
                  <p:embed/>
                  <p:pic>
                    <p:nvPicPr>
                      <p:cNvPr id="5"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72641" y="3679761"/>
                        <a:ext cx="3632200" cy="889000"/>
                      </a:xfrm>
                      <a:prstGeom prst="rect">
                        <a:avLst/>
                      </a:prstGeom>
                      <a:solidFill>
                        <a:schemeClr val="bg1"/>
                      </a:solidFill>
                      <a:ln>
                        <a:noFill/>
                      </a:ln>
                    </p:spPr>
                  </p:pic>
                </p:oleObj>
              </mc:Fallback>
            </mc:AlternateContent>
          </a:graphicData>
        </a:graphic>
      </p:graphicFrame>
      <p:graphicFrame>
        <p:nvGraphicFramePr>
          <p:cNvPr id="6" name="对象 5"/>
          <p:cNvGraphicFramePr>
            <a:graphicFrameLocks noChangeAspect="1"/>
          </p:cNvGraphicFramePr>
          <p:nvPr/>
        </p:nvGraphicFramePr>
        <p:xfrm>
          <a:off x="3334441" y="4898961"/>
          <a:ext cx="4902200" cy="863600"/>
        </p:xfrm>
        <a:graphic>
          <a:graphicData uri="http://schemas.openxmlformats.org/presentationml/2006/ole">
            <mc:AlternateContent xmlns:mc="http://schemas.openxmlformats.org/markup-compatibility/2006">
              <mc:Choice xmlns:v="urn:schemas-microsoft-com:vml" Requires="v">
                <p:oleObj name="Equation" r:id="rId10" imgW="2451100" imgH="431800" progId="Equation.DSMT4">
                  <p:embed/>
                </p:oleObj>
              </mc:Choice>
              <mc:Fallback>
                <p:oleObj name="Equation" r:id="rId10" imgW="2451100" imgH="431800" progId="Equation.DSMT4">
                  <p:embed/>
                  <p:pic>
                    <p:nvPicPr>
                      <p:cNvPr id="6" name="对象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34441" y="4898961"/>
                        <a:ext cx="4902200" cy="863600"/>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712927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4612574" y="2555174"/>
          <a:ext cx="2387600" cy="482600"/>
        </p:xfrm>
        <a:graphic>
          <a:graphicData uri="http://schemas.openxmlformats.org/presentationml/2006/ole">
            <mc:AlternateContent xmlns:mc="http://schemas.openxmlformats.org/markup-compatibility/2006">
              <mc:Choice xmlns:v="urn:schemas-microsoft-com:vml" Requires="v">
                <p:oleObj name="Equation" r:id="rId2" imgW="1193800" imgH="241300" progId="Equation.DSMT4">
                  <p:embed/>
                </p:oleObj>
              </mc:Choice>
              <mc:Fallback>
                <p:oleObj name="Equation" r:id="rId2" imgW="1193800" imgH="241300"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2574" y="2555174"/>
                        <a:ext cx="2387600" cy="482600"/>
                      </a:xfrm>
                      <a:prstGeom prst="rect">
                        <a:avLst/>
                      </a:prstGeom>
                      <a:solidFill>
                        <a:schemeClr val="bg1"/>
                      </a:solidFill>
                      <a:ln>
                        <a:noFill/>
                      </a:ln>
                    </p:spPr>
                  </p:pic>
                </p:oleObj>
              </mc:Fallback>
            </mc:AlternateContent>
          </a:graphicData>
        </a:graphic>
      </p:graphicFrame>
      <p:graphicFrame>
        <p:nvGraphicFramePr>
          <p:cNvPr id="11" name="对象 10"/>
          <p:cNvGraphicFramePr>
            <a:graphicFrameLocks noChangeAspect="1"/>
          </p:cNvGraphicFramePr>
          <p:nvPr/>
        </p:nvGraphicFramePr>
        <p:xfrm>
          <a:off x="5526975" y="1183574"/>
          <a:ext cx="327025" cy="762000"/>
        </p:xfrm>
        <a:graphic>
          <a:graphicData uri="http://schemas.openxmlformats.org/presentationml/2006/ole">
            <mc:AlternateContent xmlns:mc="http://schemas.openxmlformats.org/markup-compatibility/2006">
              <mc:Choice xmlns:v="urn:schemas-microsoft-com:vml" Requires="v">
                <p:oleObj name="Equation" r:id="rId4" imgW="76035" imgH="177415" progId="Equation.DSMT4">
                  <p:embed/>
                </p:oleObj>
              </mc:Choice>
              <mc:Fallback>
                <p:oleObj name="Equation" r:id="rId4" imgW="76035" imgH="177415"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6975" y="1183574"/>
                        <a:ext cx="327025" cy="762000"/>
                      </a:xfrm>
                      <a:prstGeom prst="rect">
                        <a:avLst/>
                      </a:prstGeom>
                      <a:solidFill>
                        <a:schemeClr val="bg1"/>
                      </a:solidFill>
                      <a:ln>
                        <a:noFill/>
                      </a:ln>
                    </p:spPr>
                  </p:pic>
                </p:oleObj>
              </mc:Fallback>
            </mc:AlternateContent>
          </a:graphicData>
        </a:graphic>
      </p:graphicFrame>
      <p:graphicFrame>
        <p:nvGraphicFramePr>
          <p:cNvPr id="13" name="对象 12"/>
          <p:cNvGraphicFramePr>
            <a:graphicFrameLocks noChangeAspect="1"/>
          </p:cNvGraphicFramePr>
          <p:nvPr/>
        </p:nvGraphicFramePr>
        <p:xfrm>
          <a:off x="3469574" y="802574"/>
          <a:ext cx="4876800" cy="457200"/>
        </p:xfrm>
        <a:graphic>
          <a:graphicData uri="http://schemas.openxmlformats.org/presentationml/2006/ole">
            <mc:AlternateContent xmlns:mc="http://schemas.openxmlformats.org/markup-compatibility/2006">
              <mc:Choice xmlns:v="urn:schemas-microsoft-com:vml" Requires="v">
                <p:oleObj name="Equation" r:id="rId6" imgW="2438400" imgH="228600" progId="Equation.DSMT4">
                  <p:embed/>
                </p:oleObj>
              </mc:Choice>
              <mc:Fallback>
                <p:oleObj name="Equation" r:id="rId6" imgW="2438400" imgH="228600"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9574" y="802574"/>
                        <a:ext cx="4876800" cy="457200"/>
                      </a:xfrm>
                      <a:prstGeom prst="rect">
                        <a:avLst/>
                      </a:prstGeom>
                      <a:solidFill>
                        <a:schemeClr val="bg1"/>
                      </a:solidFill>
                      <a:ln>
                        <a:noFill/>
                      </a:ln>
                    </p:spPr>
                  </p:pic>
                </p:oleObj>
              </mc:Fallback>
            </mc:AlternateContent>
          </a:graphicData>
        </a:graphic>
      </p:graphicFrame>
      <p:graphicFrame>
        <p:nvGraphicFramePr>
          <p:cNvPr id="14" name="对象 13"/>
          <p:cNvGraphicFramePr>
            <a:graphicFrameLocks noChangeAspect="1"/>
          </p:cNvGraphicFramePr>
          <p:nvPr/>
        </p:nvGraphicFramePr>
        <p:xfrm>
          <a:off x="3545774" y="1869374"/>
          <a:ext cx="4927600" cy="457200"/>
        </p:xfrm>
        <a:graphic>
          <a:graphicData uri="http://schemas.openxmlformats.org/presentationml/2006/ole">
            <mc:AlternateContent xmlns:mc="http://schemas.openxmlformats.org/markup-compatibility/2006">
              <mc:Choice xmlns:v="urn:schemas-microsoft-com:vml" Requires="v">
                <p:oleObj name="Equation" r:id="rId8" imgW="2463800" imgH="228600" progId="Equation.DSMT4">
                  <p:embed/>
                </p:oleObj>
              </mc:Choice>
              <mc:Fallback>
                <p:oleObj name="Equation" r:id="rId8" imgW="2463800" imgH="228600" progId="Equation.DSMT4">
                  <p:embed/>
                  <p:pic>
                    <p:nvPicPr>
                      <p:cNvPr id="14" name="对象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5774" y="1869374"/>
                        <a:ext cx="4927600" cy="457200"/>
                      </a:xfrm>
                      <a:prstGeom prst="rect">
                        <a:avLst/>
                      </a:prstGeom>
                      <a:solidFill>
                        <a:schemeClr val="bg1"/>
                      </a:solidFill>
                      <a:ln>
                        <a:noFill/>
                      </a:ln>
                    </p:spPr>
                  </p:pic>
                </p:oleObj>
              </mc:Fallback>
            </mc:AlternateContent>
          </a:graphicData>
        </a:graphic>
      </p:graphicFrame>
      <p:graphicFrame>
        <p:nvGraphicFramePr>
          <p:cNvPr id="15" name="对象 14"/>
          <p:cNvGraphicFramePr>
            <a:graphicFrameLocks noChangeAspect="1"/>
          </p:cNvGraphicFramePr>
          <p:nvPr/>
        </p:nvGraphicFramePr>
        <p:xfrm>
          <a:off x="3238067" y="3401951"/>
          <a:ext cx="5867400" cy="1879600"/>
        </p:xfrm>
        <a:graphic>
          <a:graphicData uri="http://schemas.openxmlformats.org/presentationml/2006/ole">
            <mc:AlternateContent xmlns:mc="http://schemas.openxmlformats.org/markup-compatibility/2006">
              <mc:Choice xmlns:v="urn:schemas-microsoft-com:vml" Requires="v">
                <p:oleObj name="Equation" r:id="rId10" imgW="2933700" imgH="939800" progId="Equation.DSMT4">
                  <p:embed/>
                </p:oleObj>
              </mc:Choice>
              <mc:Fallback>
                <p:oleObj name="Equation" r:id="rId10" imgW="2933700" imgH="939800" progId="Equation.DSMT4">
                  <p:embed/>
                  <p:pic>
                    <p:nvPicPr>
                      <p:cNvPr id="15" name="对象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8067" y="3401951"/>
                        <a:ext cx="5867400" cy="1879600"/>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3236134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075"/>
          <p:cNvSpPr txBox="1">
            <a:spLocks noChangeArrowheads="1"/>
          </p:cNvSpPr>
          <p:nvPr/>
        </p:nvSpPr>
        <p:spPr bwMode="auto">
          <a:xfrm>
            <a:off x="481263" y="1503243"/>
            <a:ext cx="114540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buFontTx/>
              <a:buChar char="•"/>
              <a:defRPr/>
            </a:pPr>
            <a:r>
              <a:rPr lang="en-US" altLang="zh-CN" b="0" kern="0" dirty="0">
                <a:solidFill>
                  <a:prstClr val="black"/>
                </a:solidFill>
              </a:rPr>
              <a:t> From the variation theorem, we know that the lowest value of root is the upper bound for the system’s ground-state energy. </a:t>
            </a:r>
          </a:p>
        </p:txBody>
      </p:sp>
      <p:sp>
        <p:nvSpPr>
          <p:cNvPr id="5" name="Text Box 3076"/>
          <p:cNvSpPr txBox="1">
            <a:spLocks noChangeArrowheads="1"/>
          </p:cNvSpPr>
          <p:nvPr/>
        </p:nvSpPr>
        <p:spPr bwMode="auto">
          <a:xfrm>
            <a:off x="481263" y="2458444"/>
            <a:ext cx="1125416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defTabSz="914400" eaLnBrk="1" fontAlgn="base" hangingPunct="1">
              <a:spcBef>
                <a:spcPct val="50000"/>
              </a:spcBef>
              <a:spcAft>
                <a:spcPct val="0"/>
              </a:spcAft>
              <a:buFontTx/>
              <a:buChar char="•"/>
              <a:defRPr/>
            </a:pPr>
            <a:r>
              <a:rPr lang="en-US" altLang="zh-CN" b="0" kern="0" dirty="0">
                <a:solidFill>
                  <a:prstClr val="black"/>
                </a:solidFill>
              </a:rPr>
              <a:t> If approximation to the energies of more states are wanted, we add </a:t>
            </a:r>
            <a:r>
              <a:rPr lang="en-US" altLang="zh-CN" b="0" kern="0" dirty="0">
                <a:solidFill>
                  <a:srgbClr val="0000CC"/>
                </a:solidFill>
              </a:rPr>
              <a:t>more functions </a:t>
            </a:r>
            <a:r>
              <a:rPr lang="en-US" altLang="zh-CN" b="0" i="1" kern="0" dirty="0" err="1">
                <a:solidFill>
                  <a:srgbClr val="0000CC"/>
                </a:solidFill>
              </a:rPr>
              <a:t>f</a:t>
            </a:r>
            <a:r>
              <a:rPr lang="en-US" altLang="zh-CN" b="0" kern="0" baseline="-25000" dirty="0" err="1">
                <a:solidFill>
                  <a:srgbClr val="0000CC"/>
                </a:solidFill>
              </a:rPr>
              <a:t>k</a:t>
            </a:r>
            <a:r>
              <a:rPr lang="en-US" altLang="zh-CN" b="0" kern="0" dirty="0">
                <a:solidFill>
                  <a:srgbClr val="0000CC"/>
                </a:solidFill>
              </a:rPr>
              <a:t> </a:t>
            </a:r>
            <a:r>
              <a:rPr lang="en-US" altLang="zh-CN" b="0" kern="0" dirty="0">
                <a:solidFill>
                  <a:prstClr val="black"/>
                </a:solidFill>
              </a:rPr>
              <a:t>to the trial function </a:t>
            </a:r>
            <a:r>
              <a:rPr lang="en-US" altLang="zh-CN" b="0" kern="0" dirty="0">
                <a:solidFill>
                  <a:prstClr val="black"/>
                </a:solidFill>
                <a:sym typeface="Symbol" pitchFamily="18" charset="2"/>
              </a:rPr>
              <a:t></a:t>
            </a:r>
            <a:r>
              <a:rPr lang="en-US" altLang="zh-CN" b="0" kern="0" dirty="0">
                <a:solidFill>
                  <a:prstClr val="black"/>
                </a:solidFill>
              </a:rPr>
              <a:t>. </a:t>
            </a:r>
          </a:p>
          <a:p>
            <a:pPr algn="just" defTabSz="914400" eaLnBrk="1" fontAlgn="base" hangingPunct="1">
              <a:spcBef>
                <a:spcPct val="50000"/>
              </a:spcBef>
              <a:spcAft>
                <a:spcPct val="0"/>
              </a:spcAft>
              <a:buFontTx/>
              <a:buChar char="•"/>
              <a:defRPr/>
            </a:pPr>
            <a:r>
              <a:rPr lang="en-US" altLang="zh-CN" b="0" kern="0" dirty="0">
                <a:solidFill>
                  <a:prstClr val="black"/>
                </a:solidFill>
              </a:rPr>
              <a:t> The addition of more functions </a:t>
            </a:r>
            <a:r>
              <a:rPr lang="en-US" altLang="zh-CN" b="0" i="1" kern="0" dirty="0" err="1">
                <a:solidFill>
                  <a:prstClr val="black"/>
                </a:solidFill>
              </a:rPr>
              <a:t>f</a:t>
            </a:r>
            <a:r>
              <a:rPr lang="en-US" altLang="zh-CN" b="0" kern="0" baseline="-25000" dirty="0" err="1">
                <a:solidFill>
                  <a:prstClr val="black"/>
                </a:solidFill>
              </a:rPr>
              <a:t>k</a:t>
            </a:r>
            <a:r>
              <a:rPr lang="en-US" altLang="zh-CN" b="0" kern="0" baseline="-25000" dirty="0">
                <a:solidFill>
                  <a:prstClr val="black"/>
                </a:solidFill>
              </a:rPr>
              <a:t> </a:t>
            </a:r>
            <a:r>
              <a:rPr lang="en-US" altLang="zh-CN" b="0" kern="0" dirty="0">
                <a:solidFill>
                  <a:prstClr val="black"/>
                </a:solidFill>
              </a:rPr>
              <a:t>can be shown to increase the accuracy of the previously calculated energies.</a:t>
            </a:r>
          </a:p>
        </p:txBody>
      </p:sp>
    </p:spTree>
    <p:extLst>
      <p:ext uri="{BB962C8B-B14F-4D97-AF65-F5344CB8AC3E}">
        <p14:creationId xmlns:p14="http://schemas.microsoft.com/office/powerpoint/2010/main" val="300272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2198" y="204181"/>
            <a:ext cx="6003503"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Linear combination of atomic orbitals</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240084" y="1159622"/>
            <a:ext cx="11441151" cy="4741234"/>
          </a:xfrm>
          <a:prstGeom prst="rect">
            <a:avLst/>
          </a:prstGeom>
        </p:spPr>
        <p:txBody>
          <a:bodyPr wrap="square">
            <a:spAutoFit/>
          </a:bodyPr>
          <a:lstStyle/>
          <a:p>
            <a:pPr>
              <a:lnSpc>
                <a:spcPct val="121000"/>
              </a:lnSpc>
              <a:spcAft>
                <a:spcPts val="404"/>
              </a:spcAft>
            </a:pPr>
            <a:r>
              <a:rPr lang="en-US" altLang="zh-CN" sz="2400" dirty="0">
                <a:latin typeface="Times New Roman" panose="02020603050405020304" pitchFamily="18" charset="0"/>
                <a:cs typeface="Times New Roman" panose="02020603050405020304" pitchFamily="18" charset="0"/>
              </a:rPr>
              <a:t>Usually we choose a trial </a:t>
            </a:r>
            <a:r>
              <a:rPr lang="en-US" altLang="zh-CN" sz="2400" dirty="0" err="1">
                <a:latin typeface="Times New Roman" panose="02020603050405020304" pitchFamily="18" charset="0"/>
                <a:cs typeface="Times New Roman" panose="02020603050405020304" pitchFamily="18" charset="0"/>
              </a:rPr>
              <a:t>wavefunction</a:t>
            </a:r>
            <a:r>
              <a:rPr lang="en-US" altLang="zh-CN" sz="2400" dirty="0">
                <a:latin typeface="Times New Roman" panose="02020603050405020304" pitchFamily="18" charset="0"/>
                <a:cs typeface="Times New Roman" panose="02020603050405020304" pitchFamily="18" charset="0"/>
              </a:rPr>
              <a:t> that has one or more adjustable parameters in it, and choose values for the parameters that minimize the energy. An very important type of trial function is </a:t>
            </a:r>
            <a:r>
              <a:rPr lang="en-US" altLang="zh-CN" sz="2400" dirty="0">
                <a:solidFill>
                  <a:srgbClr val="FF0000"/>
                </a:solidFill>
                <a:latin typeface="Times New Roman" panose="02020603050405020304" pitchFamily="18" charset="0"/>
                <a:cs typeface="Times New Roman" panose="02020603050405020304" pitchFamily="18" charset="0"/>
              </a:rPr>
              <a:t>the </a:t>
            </a:r>
            <a:r>
              <a:rPr lang="en-US" altLang="zh-CN" sz="2400" i="1" dirty="0">
                <a:solidFill>
                  <a:srgbClr val="FF0000"/>
                </a:solidFill>
                <a:latin typeface="Times New Roman" panose="02020603050405020304" pitchFamily="18" charset="0"/>
                <a:cs typeface="Times New Roman" panose="02020603050405020304" pitchFamily="18" charset="0"/>
              </a:rPr>
              <a:t>linear combination of atomic orbitals</a:t>
            </a:r>
            <a:r>
              <a:rPr lang="en-US" altLang="zh-CN" sz="2400" dirty="0">
                <a:solidFill>
                  <a:srgbClr val="FF0000"/>
                </a:solidFill>
                <a:latin typeface="Times New Roman" panose="02020603050405020304" pitchFamily="18" charset="0"/>
                <a:cs typeface="Times New Roman" panose="02020603050405020304" pitchFamily="18" charset="0"/>
              </a:rPr>
              <a:t> (L.C.A.O.), </a:t>
            </a:r>
            <a:r>
              <a:rPr lang="en-US" altLang="zh-CN" sz="2400" dirty="0">
                <a:latin typeface="Times New Roman" panose="02020603050405020304" pitchFamily="18" charset="0"/>
                <a:cs typeface="Times New Roman" panose="02020603050405020304" pitchFamily="18" charset="0"/>
              </a:rPr>
              <a:t>which we can illustrate for the hydrogen molecule ion.</a:t>
            </a:r>
          </a:p>
          <a:p>
            <a:pPr>
              <a:lnSpc>
                <a:spcPct val="121000"/>
              </a:lnSpc>
              <a:spcAft>
                <a:spcPts val="404"/>
              </a:spcAft>
            </a:pPr>
            <a:r>
              <a:rPr lang="en-US" altLang="zh-CN" sz="2400" dirty="0">
                <a:latin typeface="Times New Roman" panose="02020603050405020304" pitchFamily="18" charset="0"/>
                <a:cs typeface="Times New Roman" panose="02020603050405020304" pitchFamily="18" charset="0"/>
              </a:rPr>
              <a:t>The wavefunction for an individual hydrogen atom is the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 for </a:t>
            </a:r>
            <a:r>
              <a:rPr lang="en-US" altLang="zh-CN" sz="2400" dirty="0">
                <a:solidFill>
                  <a:srgbClr val="FF0000"/>
                </a:solidFill>
                <a:latin typeface="Times New Roman" panose="02020603050405020304" pitchFamily="18" charset="0"/>
                <a:cs typeface="Times New Roman" panose="02020603050405020304" pitchFamily="18" charset="0"/>
              </a:rPr>
              <a:t>a hydrogen molecule cation </a:t>
            </a:r>
            <a:r>
              <a:rPr lang="en-US" altLang="zh-CN" sz="2400" dirty="0">
                <a:latin typeface="Times New Roman" panose="02020603050405020304" pitchFamily="18" charset="0"/>
                <a:cs typeface="Times New Roman" panose="02020603050405020304" pitchFamily="18" charset="0"/>
              </a:rPr>
              <a:t>we try the wavefunction</a:t>
            </a:r>
          </a:p>
          <a:p>
            <a:pPr algn="r">
              <a:lnSpc>
                <a:spcPct val="128000"/>
              </a:lnSpc>
              <a:spcAft>
                <a:spcPts val="404"/>
              </a:spcAft>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1000"/>
              </a:lnSpc>
            </a:pPr>
            <a:r>
              <a:rPr lang="en-US" altLang="zh-CN" sz="2400" dirty="0">
                <a:latin typeface="Times New Roman" panose="02020603050405020304" pitchFamily="18" charset="0"/>
                <a:cs typeface="Times New Roman" panose="02020603050405020304" pitchFamily="18" charset="0"/>
              </a:rPr>
              <a:t>where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a</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normalized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 for atom </a:t>
            </a:r>
            <a:r>
              <a:rPr lang="en-US" altLang="zh-CN" sz="2400" i="1" dirty="0">
                <a:solidFill>
                  <a:srgbClr val="2926BF"/>
                </a:solidFill>
                <a:latin typeface="Times New Roman" panose="02020603050405020304" pitchFamily="18" charset="0"/>
                <a:cs typeface="Times New Roman" panose="02020603050405020304" pitchFamily="18" charset="0"/>
              </a:rPr>
              <a:t>a</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b</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atom </a:t>
            </a:r>
            <a:r>
              <a:rPr lang="en-US" altLang="zh-CN" sz="2400" i="1" dirty="0">
                <a:solidFill>
                  <a:srgbClr val="2926BF"/>
                </a:solidFill>
                <a:latin typeface="Times New Roman" panose="02020603050405020304" pitchFamily="18" charset="0"/>
                <a:cs typeface="Times New Roman" panose="02020603050405020304" pitchFamily="18" charset="0"/>
              </a:rPr>
              <a:t>b,</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a:solidFill>
                  <a:srgbClr val="2926BF"/>
                </a:solidFill>
                <a:latin typeface="Times New Roman" panose="02020603050405020304" pitchFamily="18" charset="0"/>
                <a:cs typeface="Times New Roman" panose="02020603050405020304" pitchFamily="18" charset="0"/>
              </a:rPr>
              <a:t>c</a:t>
            </a:r>
            <a:r>
              <a:rPr lang="en-US" altLang="zh-CN" sz="2400" i="1" baseline="-25000" dirty="0">
                <a:solidFill>
                  <a:srgbClr val="2926BF"/>
                </a:solidFill>
                <a:latin typeface="Times New Roman" panose="02020603050405020304" pitchFamily="18" charset="0"/>
                <a:cs typeface="Times New Roman" panose="02020603050405020304" pitchFamily="18" charset="0"/>
              </a:rPr>
              <a:t>a</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err="1">
                <a:solidFill>
                  <a:srgbClr val="2926BF"/>
                </a:solidFill>
                <a:latin typeface="Times New Roman" panose="02020603050405020304" pitchFamily="18" charset="0"/>
                <a:cs typeface="Times New Roman" panose="02020603050405020304" pitchFamily="18" charset="0"/>
              </a:rPr>
              <a:t>c</a:t>
            </a:r>
            <a:r>
              <a:rPr lang="en-US" altLang="zh-CN" sz="2400" i="1" baseline="-25000" dirty="0" err="1">
                <a:solidFill>
                  <a:srgbClr val="2926BF"/>
                </a:solidFill>
                <a:latin typeface="Times New Roman" panose="02020603050405020304" pitchFamily="18" charset="0"/>
                <a:cs typeface="Times New Roman" panose="02020603050405020304" pitchFamily="18" charset="0"/>
              </a:rPr>
              <a:t>b</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numerical coefficients that we shall adjust to minimize the energy. This function behaves like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a</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near nucleus </a:t>
            </a:r>
            <a:r>
              <a:rPr lang="en-US" altLang="zh-CN" sz="2400" i="1" dirty="0">
                <a:solidFill>
                  <a:srgbClr val="2926BF"/>
                </a:solidFill>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where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b</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small, and like </a:t>
            </a:r>
            <a:r>
              <a:rPr lang="en-US" altLang="zh-CN" sz="2400" i="1" dirty="0" err="1">
                <a:solidFill>
                  <a:srgbClr val="2926BF"/>
                </a:solidFill>
                <a:latin typeface="Times New Roman" panose="02020603050405020304" pitchFamily="18" charset="0"/>
                <a:cs typeface="Times New Roman" panose="02020603050405020304" pitchFamily="18" charset="0"/>
              </a:rPr>
              <a:t>s</a:t>
            </a:r>
            <a:r>
              <a:rPr lang="en-US" altLang="zh-CN" sz="2400" i="1" baseline="-25000" dirty="0" err="1">
                <a:solidFill>
                  <a:srgbClr val="2926BF"/>
                </a:solidFill>
                <a:latin typeface="Times New Roman" panose="02020603050405020304" pitchFamily="18" charset="0"/>
                <a:cs typeface="Times New Roman" panose="02020603050405020304" pitchFamily="18" charset="0"/>
              </a:rPr>
              <a:t>b</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near nucleus </a:t>
            </a:r>
            <a:r>
              <a:rPr lang="en-US" altLang="zh-CN" sz="2400" i="1" dirty="0">
                <a:solidFill>
                  <a:srgbClr val="2926BF"/>
                </a:solidFill>
                <a:latin typeface="Times New Roman" panose="02020603050405020304" pitchFamily="18" charset="0"/>
                <a:cs typeface="Times New Roman" panose="02020603050405020304" pitchFamily="18" charset="0"/>
              </a:rPr>
              <a:t>b.</a:t>
            </a:r>
          </a:p>
        </p:txBody>
      </p:sp>
      <p:graphicFrame>
        <p:nvGraphicFramePr>
          <p:cNvPr id="4" name="对象 3">
            <a:extLst>
              <a:ext uri="{FF2B5EF4-FFF2-40B4-BE49-F238E27FC236}">
                <a16:creationId xmlns:a16="http://schemas.microsoft.com/office/drawing/2014/main" id="{159508A3-A39E-4FB3-AAD9-9B134CE6B30B}"/>
              </a:ext>
            </a:extLst>
          </p:cNvPr>
          <p:cNvGraphicFramePr>
            <a:graphicFrameLocks noChangeAspect="1"/>
          </p:cNvGraphicFramePr>
          <p:nvPr/>
        </p:nvGraphicFramePr>
        <p:xfrm>
          <a:off x="4963876" y="3967620"/>
          <a:ext cx="1828800" cy="457200"/>
        </p:xfrm>
        <a:graphic>
          <a:graphicData uri="http://schemas.openxmlformats.org/presentationml/2006/ole">
            <mc:AlternateContent xmlns:mc="http://schemas.openxmlformats.org/markup-compatibility/2006">
              <mc:Choice xmlns:v="urn:schemas-microsoft-com:vml" Requires="v">
                <p:oleObj name="Equation" r:id="rId2" imgW="914400" imgH="228600" progId="Equation.DSMT4">
                  <p:embed/>
                </p:oleObj>
              </mc:Choice>
              <mc:Fallback>
                <p:oleObj name="Equation" r:id="rId2" imgW="914400" imgH="228600" progId="Equation.DSMT4">
                  <p:embed/>
                  <p:pic>
                    <p:nvPicPr>
                      <p:cNvPr id="4" name="对象 3">
                        <a:extLst>
                          <a:ext uri="{FF2B5EF4-FFF2-40B4-BE49-F238E27FC236}">
                            <a16:creationId xmlns:a16="http://schemas.microsoft.com/office/drawing/2014/main" id="{159508A3-A39E-4FB3-AAD9-9B134CE6B30B}"/>
                          </a:ext>
                        </a:extLst>
                      </p:cNvPr>
                      <p:cNvPicPr/>
                      <p:nvPr/>
                    </p:nvPicPr>
                    <p:blipFill>
                      <a:blip r:embed="rId3"/>
                      <a:stretch>
                        <a:fillRect/>
                      </a:stretch>
                    </p:blipFill>
                    <p:spPr>
                      <a:xfrm>
                        <a:off x="4963876" y="3967620"/>
                        <a:ext cx="1828800" cy="457200"/>
                      </a:xfrm>
                      <a:prstGeom prst="rect">
                        <a:avLst/>
                      </a:prstGeom>
                    </p:spPr>
                  </p:pic>
                </p:oleObj>
              </mc:Fallback>
            </mc:AlternateContent>
          </a:graphicData>
        </a:graphic>
      </p:graphicFrame>
      <p:sp>
        <p:nvSpPr>
          <p:cNvPr id="5"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960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648993" y="495300"/>
                <a:ext cx="5917069" cy="468270"/>
              </a:xfrm>
              <a:prstGeom prst="rect">
                <a:avLst/>
              </a:prstGeom>
            </p:spPr>
            <p:txBody>
              <a:bodyPr wrap="none">
                <a:spAutoFit/>
              </a:bodyPr>
              <a:lstStyle/>
              <a:p>
                <a:pPr fontAlgn="ctr"/>
                <a:r>
                  <a:rPr lang="en-US" altLang="zh-CN" sz="2400" dirty="0">
                    <a:latin typeface="Times New Roman" panose="02020603050405020304" pitchFamily="18" charset="0"/>
                    <a:cs typeface="Times New Roman" panose="02020603050405020304" pitchFamily="18" charset="0"/>
                  </a:rPr>
                  <a:t>The energy </a:t>
                </a:r>
                <a14:m>
                  <m:oMath xmlns:m="http://schemas.openxmlformats.org/officeDocument/2006/math">
                    <m:acc>
                      <m:accPr>
                        <m:chr m:val="̃"/>
                        <m:ctrlPr>
                          <a:rPr lang="en-US" altLang="zh-CN" sz="2400" i="1">
                            <a:solidFill>
                              <a:srgbClr val="2926BF"/>
                            </a:solidFill>
                            <a:latin typeface="Cambria Math" panose="02040503050406030204" pitchFamily="18" charset="0"/>
                          </a:rPr>
                        </m:ctrlPr>
                      </m:accPr>
                      <m:e>
                        <m:r>
                          <a:rPr lang="en-US" altLang="zh-CN" sz="2400" i="1">
                            <a:solidFill>
                              <a:srgbClr val="2926BF"/>
                            </a:solidFill>
                            <a:latin typeface="Cambria Math" panose="02040503050406030204" pitchFamily="18" charset="0"/>
                          </a:rPr>
                          <m:t>𝐸</m:t>
                        </m:r>
                      </m:e>
                    </m:acc>
                  </m:oMath>
                </a14:m>
                <a:r>
                  <a:rPr lang="en-US" altLang="zh-CN" sz="2400" dirty="0">
                    <a:latin typeface="Times New Roman" panose="02020603050405020304" pitchFamily="18" charset="0"/>
                    <a:cs typeface="Times New Roman" panose="02020603050405020304" pitchFamily="18" charset="0"/>
                  </a:rPr>
                  <a:t> for the L.C.A.O. trial function is</a:t>
                </a:r>
              </a:p>
            </p:txBody>
          </p:sp>
        </mc:Choice>
        <mc:Fallback xmlns="">
          <p:sp>
            <p:nvSpPr>
              <p:cNvPr id="2" name="矩形 1"/>
              <p:cNvSpPr>
                <a:spLocks noRot="1" noChangeAspect="1" noMove="1" noResize="1" noEditPoints="1" noAdjustHandles="1" noChangeArrowheads="1" noChangeShapeType="1" noTextEdit="1"/>
              </p:cNvSpPr>
              <p:nvPr/>
            </p:nvSpPr>
            <p:spPr>
              <a:xfrm>
                <a:off x="648993" y="495300"/>
                <a:ext cx="5917069" cy="468270"/>
              </a:xfrm>
              <a:prstGeom prst="rect">
                <a:avLst/>
              </a:prstGeom>
              <a:blipFill>
                <a:blip r:embed="rId3"/>
                <a:stretch>
                  <a:fillRect l="-1545" t="-9091" r="-412" b="-28571"/>
                </a:stretch>
              </a:blipFill>
            </p:spPr>
            <p:txBody>
              <a:bodyPr/>
              <a:lstStyle/>
              <a:p>
                <a:r>
                  <a:rPr lang="zh-CN" altLang="en-US">
                    <a:noFill/>
                  </a:rPr>
                  <a:t> </a:t>
                </a:r>
              </a:p>
            </p:txBody>
          </p:sp>
        </mc:Fallback>
      </mc:AlternateContent>
      <p:graphicFrame>
        <p:nvGraphicFramePr>
          <p:cNvPr id="3" name="对象 2">
            <a:extLst>
              <a:ext uri="{FF2B5EF4-FFF2-40B4-BE49-F238E27FC236}">
                <a16:creationId xmlns:a16="http://schemas.microsoft.com/office/drawing/2014/main" id="{9EB5C8BF-8F2D-48CF-88B1-F87F57B2D1E5}"/>
              </a:ext>
            </a:extLst>
          </p:cNvPr>
          <p:cNvGraphicFramePr>
            <a:graphicFrameLocks noChangeAspect="1"/>
          </p:cNvGraphicFramePr>
          <p:nvPr/>
        </p:nvGraphicFramePr>
        <p:xfrm>
          <a:off x="1733894" y="1171918"/>
          <a:ext cx="8737200" cy="1117440"/>
        </p:xfrm>
        <a:graphic>
          <a:graphicData uri="http://schemas.openxmlformats.org/presentationml/2006/ole">
            <mc:AlternateContent xmlns:mc="http://schemas.openxmlformats.org/markup-compatibility/2006">
              <mc:Choice xmlns:v="urn:schemas-microsoft-com:vml" Requires="v">
                <p:oleObj name="Equation" r:id="rId4" imgW="4368600" imgH="558720" progId="Equation.DSMT4">
                  <p:embed/>
                </p:oleObj>
              </mc:Choice>
              <mc:Fallback>
                <p:oleObj name="Equation" r:id="rId4" imgW="4368600" imgH="558720" progId="Equation.DSMT4">
                  <p:embed/>
                  <p:pic>
                    <p:nvPicPr>
                      <p:cNvPr id="3" name="对象 2">
                        <a:extLst>
                          <a:ext uri="{FF2B5EF4-FFF2-40B4-BE49-F238E27FC236}">
                            <a16:creationId xmlns:a16="http://schemas.microsoft.com/office/drawing/2014/main" id="{9EB5C8BF-8F2D-48CF-88B1-F87F57B2D1E5}"/>
                          </a:ext>
                        </a:extLst>
                      </p:cNvPr>
                      <p:cNvPicPr/>
                      <p:nvPr/>
                    </p:nvPicPr>
                    <p:blipFill>
                      <a:blip r:embed="rId5"/>
                      <a:stretch>
                        <a:fillRect/>
                      </a:stretch>
                    </p:blipFill>
                    <p:spPr>
                      <a:xfrm>
                        <a:off x="1733894" y="1171918"/>
                        <a:ext cx="8737200" cy="111744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6DD1E0CD-3D6B-4C13-A404-7720EBA700B4}"/>
              </a:ext>
            </a:extLst>
          </p:cNvPr>
          <p:cNvGraphicFramePr>
            <a:graphicFrameLocks noChangeAspect="1"/>
          </p:cNvGraphicFramePr>
          <p:nvPr/>
        </p:nvGraphicFramePr>
        <p:xfrm>
          <a:off x="4136751" y="2497706"/>
          <a:ext cx="3301920" cy="1777680"/>
        </p:xfrm>
        <a:graphic>
          <a:graphicData uri="http://schemas.openxmlformats.org/presentationml/2006/ole">
            <mc:AlternateContent xmlns:mc="http://schemas.openxmlformats.org/markup-compatibility/2006">
              <mc:Choice xmlns:v="urn:schemas-microsoft-com:vml" Requires="v">
                <p:oleObj name="Equation" r:id="rId6" imgW="1650960" imgH="888840" progId="Equation.DSMT4">
                  <p:embed/>
                </p:oleObj>
              </mc:Choice>
              <mc:Fallback>
                <p:oleObj name="Equation" r:id="rId6" imgW="1650960" imgH="888840" progId="Equation.DSMT4">
                  <p:embed/>
                  <p:pic>
                    <p:nvPicPr>
                      <p:cNvPr id="4" name="对象 3">
                        <a:extLst>
                          <a:ext uri="{FF2B5EF4-FFF2-40B4-BE49-F238E27FC236}">
                            <a16:creationId xmlns:a16="http://schemas.microsoft.com/office/drawing/2014/main" id="{6DD1E0CD-3D6B-4C13-A404-7720EBA700B4}"/>
                          </a:ext>
                        </a:extLst>
                      </p:cNvPr>
                      <p:cNvPicPr/>
                      <p:nvPr/>
                    </p:nvPicPr>
                    <p:blipFill>
                      <a:blip r:embed="rId7"/>
                      <a:stretch>
                        <a:fillRect/>
                      </a:stretch>
                    </p:blipFill>
                    <p:spPr>
                      <a:xfrm>
                        <a:off x="4136751" y="2497706"/>
                        <a:ext cx="3301920" cy="177768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矩形 4"/>
              <p:cNvSpPr/>
              <p:nvPr/>
            </p:nvSpPr>
            <p:spPr>
              <a:xfrm>
                <a:off x="371707" y="4362974"/>
                <a:ext cx="11277599" cy="1569660"/>
              </a:xfrm>
              <a:prstGeom prst="rect">
                <a:avLst/>
              </a:prstGeom>
            </p:spPr>
            <p:txBody>
              <a:bodyPr wrap="square">
                <a:spAutoFit/>
              </a:bodyPr>
              <a:lstStyle/>
              <a:p>
                <a14:m>
                  <m:oMath xmlns:m="http://schemas.openxmlformats.org/officeDocument/2006/math">
                    <m:r>
                      <a:rPr lang="zh-CN" altLang="en-US" sz="2400" i="1" dirty="0">
                        <a:solidFill>
                          <a:srgbClr val="2926BF"/>
                        </a:solidFill>
                        <a:latin typeface="Cambria Math" panose="02040503050406030204" pitchFamily="18" charset="0"/>
                      </a:rPr>
                      <m:t>𝛼</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energy of the hydrogen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 somewhat modified because the Hamiltonian is for the molecule, not the atom. </a:t>
                </a:r>
                <a14:m>
                  <m:oMath xmlns:m="http://schemas.openxmlformats.org/officeDocument/2006/math">
                    <m:r>
                      <a:rPr lang="zh-CN" altLang="en-US" sz="2400" i="1" dirty="0">
                        <a:solidFill>
                          <a:srgbClr val="2926BF"/>
                        </a:solidFill>
                        <a:latin typeface="Cambria Math" panose="02040503050406030204" pitchFamily="18" charset="0"/>
                      </a:rPr>
                      <m:t>𝛽</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energy of the overlap density in the field of the molecule; it describes the strength of the bonding, and like </a:t>
                </a:r>
                <a14:m>
                  <m:oMath xmlns:m="http://schemas.openxmlformats.org/officeDocument/2006/math">
                    <m:r>
                      <a:rPr lang="zh-CN" altLang="en-US" sz="2400" i="1" dirty="0">
                        <a:solidFill>
                          <a:srgbClr val="2926BF"/>
                        </a:solidFill>
                        <a:latin typeface="Cambria Math" panose="02040503050406030204" pitchFamily="18" charset="0"/>
                      </a:rPr>
                      <m:t>𝛼</m:t>
                    </m:r>
                  </m:oMath>
                </a14:m>
                <a:r>
                  <a:rPr lang="en-US" altLang="zh-CN" sz="2400" dirty="0">
                    <a:latin typeface="Times New Roman" panose="02020603050405020304" pitchFamily="18" charset="0"/>
                    <a:cs typeface="Times New Roman" panose="02020603050405020304" pitchFamily="18" charset="0"/>
                  </a:rPr>
                  <a:t> it is negative.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a:t>
                </a:r>
                <a:r>
                  <a:rPr lang="en-US" altLang="zh-CN" sz="2400" i="1" dirty="0">
                    <a:solidFill>
                      <a:srgbClr val="B02B08"/>
                    </a:solidFill>
                    <a:latin typeface="Times New Roman" panose="02020603050405020304" pitchFamily="18" charset="0"/>
                    <a:cs typeface="Times New Roman" panose="02020603050405020304" pitchFamily="18" charset="0"/>
                  </a:rPr>
                  <a:t>overlap integral,</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for simplicity we neglect it.</a:t>
                </a:r>
              </a:p>
            </p:txBody>
          </p:sp>
        </mc:Choice>
        <mc:Fallback xmlns="">
          <p:sp>
            <p:nvSpPr>
              <p:cNvPr id="5" name="矩形 4"/>
              <p:cNvSpPr>
                <a:spLocks noRot="1" noChangeAspect="1" noMove="1" noResize="1" noEditPoints="1" noAdjustHandles="1" noChangeArrowheads="1" noChangeShapeType="1" noTextEdit="1"/>
              </p:cNvSpPr>
              <p:nvPr/>
            </p:nvSpPr>
            <p:spPr>
              <a:xfrm>
                <a:off x="371707" y="4362974"/>
                <a:ext cx="11277599" cy="1569660"/>
              </a:xfrm>
              <a:prstGeom prst="rect">
                <a:avLst/>
              </a:prstGeom>
              <a:blipFill>
                <a:blip r:embed="rId8"/>
                <a:stretch>
                  <a:fillRect l="-865" t="-3113" r="-1243" b="-81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3131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E5A42318-EF22-4B70-8350-E94AED8C03AF}"/>
              </a:ext>
            </a:extLst>
          </p:cNvPr>
          <p:cNvGraphicFramePr>
            <a:graphicFrameLocks noChangeAspect="1"/>
          </p:cNvGraphicFramePr>
          <p:nvPr/>
        </p:nvGraphicFramePr>
        <p:xfrm>
          <a:off x="2672688" y="1729790"/>
          <a:ext cx="8143875" cy="1663700"/>
        </p:xfrm>
        <a:graphic>
          <a:graphicData uri="http://schemas.openxmlformats.org/presentationml/2006/ole">
            <mc:AlternateContent xmlns:mc="http://schemas.openxmlformats.org/markup-compatibility/2006">
              <mc:Choice xmlns:v="urn:schemas-microsoft-com:vml" Requires="v">
                <p:oleObj name="Equation" r:id="rId2" imgW="3543120" imgH="723600" progId="Equation.DSMT4">
                  <p:embed/>
                </p:oleObj>
              </mc:Choice>
              <mc:Fallback>
                <p:oleObj name="Equation" r:id="rId2" imgW="3543120" imgH="723600" progId="Equation.DSMT4">
                  <p:embed/>
                  <p:pic>
                    <p:nvPicPr>
                      <p:cNvPr id="4" name="Object 3">
                        <a:extLst>
                          <a:ext uri="{FF2B5EF4-FFF2-40B4-BE49-F238E27FC236}">
                            <a16:creationId xmlns:a16="http://schemas.microsoft.com/office/drawing/2014/main" id="{E5A42318-EF22-4B70-8350-E94AED8C03AF}"/>
                          </a:ext>
                        </a:extLst>
                      </p:cNvPr>
                      <p:cNvPicPr>
                        <a:picLocks noChangeAspect="1" noChangeArrowheads="1"/>
                      </p:cNvPicPr>
                      <p:nvPr/>
                    </p:nvPicPr>
                    <p:blipFill>
                      <a:blip r:embed="rId3"/>
                      <a:srcRect/>
                      <a:stretch>
                        <a:fillRect/>
                      </a:stretch>
                    </p:blipFill>
                    <p:spPr bwMode="auto">
                      <a:xfrm>
                        <a:off x="2672688" y="1729790"/>
                        <a:ext cx="8143875" cy="1663700"/>
                      </a:xfrm>
                      <a:prstGeom prst="rect">
                        <a:avLst/>
                      </a:prstGeom>
                      <a:noFill/>
                      <a:ln>
                        <a:noFill/>
                      </a:ln>
                    </p:spPr>
                  </p:pic>
                </p:oleObj>
              </mc:Fallback>
            </mc:AlternateContent>
          </a:graphicData>
        </a:graphic>
      </p:graphicFrame>
      <p:sp>
        <p:nvSpPr>
          <p:cNvPr id="6" name="TextBox 1">
            <a:extLst>
              <a:ext uri="{FF2B5EF4-FFF2-40B4-BE49-F238E27FC236}">
                <a16:creationId xmlns:a16="http://schemas.microsoft.com/office/drawing/2014/main" id="{2466F23D-82DA-45E4-AE59-C3EF63A239EE}"/>
              </a:ext>
            </a:extLst>
          </p:cNvPr>
          <p:cNvSpPr txBox="1">
            <a:spLocks noChangeArrowheads="1"/>
          </p:cNvSpPr>
          <p:nvPr/>
        </p:nvSpPr>
        <p:spPr bwMode="auto">
          <a:xfrm>
            <a:off x="3640464" y="3464511"/>
            <a:ext cx="433168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400" b="0" i="0" u="none" strike="noStrike" kern="0" cap="none" spc="0" normalizeH="0" baseline="0" noProof="0" dirty="0">
                <a:ln>
                  <a:noFill/>
                </a:ln>
                <a:effectLst/>
                <a:uLnTx/>
                <a:uFillTx/>
                <a:latin typeface="Times New Roman" pitchFamily="18" charset="0"/>
                <a:ea typeface="宋体" pitchFamily="2" charset="-122"/>
              </a:rPr>
              <a:t>Note</a:t>
            </a:r>
            <a:r>
              <a:rPr kumimoji="1" lang="en-US" altLang="zh-CN" sz="2400" b="1" i="1" u="none" strike="noStrike" kern="0" cap="none" spc="0" normalizeH="0" baseline="0" noProof="0" dirty="0">
                <a:ln>
                  <a:noFill/>
                </a:ln>
                <a:effectLst/>
                <a:uLnTx/>
                <a:uFillTx/>
                <a:latin typeface="Times New Roman" pitchFamily="18" charset="0"/>
                <a:ea typeface="宋体" pitchFamily="2" charset="-122"/>
              </a:rPr>
              <a:t>   </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rPr>
              <a:t>S</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rPr>
              <a:t>aa</a:t>
            </a:r>
            <a:r>
              <a:rPr kumimoji="1" lang="en-US" altLang="zh-CN" sz="2400" b="1" i="1" u="none" strike="noStrike" kern="0" cap="none" spc="0" normalizeH="0" baseline="-25000" noProof="0" dirty="0">
                <a:ln>
                  <a:noFill/>
                </a:ln>
                <a:effectLst/>
                <a:uLnTx/>
                <a:uFillTx/>
                <a:latin typeface="Times New Roman" pitchFamily="18" charset="0"/>
                <a:ea typeface="宋体" pitchFamily="2" charset="-122"/>
              </a:rPr>
              <a:t> </a:t>
            </a:r>
            <a:r>
              <a:rPr kumimoji="1" lang="en-US" altLang="zh-CN" sz="2400" b="1" i="1" u="none" strike="noStrike" kern="0" cap="none" spc="0" normalizeH="0" baseline="0" noProof="0" dirty="0">
                <a:ln>
                  <a:noFill/>
                </a:ln>
                <a:effectLst/>
                <a:uLnTx/>
                <a:uFillTx/>
                <a:latin typeface="Times New Roman" pitchFamily="18" charset="0"/>
                <a:ea typeface="宋体" pitchFamily="2" charset="-122"/>
              </a:rPr>
              <a:t>= </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rPr>
              <a:t>S</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rPr>
              <a:t>bb</a:t>
            </a:r>
            <a:r>
              <a:rPr kumimoji="1" lang="en-US" altLang="zh-CN" sz="2400" b="1" i="1" u="none" strike="noStrike" kern="0" cap="none" spc="0" normalizeH="0" baseline="0" noProof="0" dirty="0">
                <a:ln>
                  <a:noFill/>
                </a:ln>
                <a:effectLst/>
                <a:uLnTx/>
                <a:uFillTx/>
                <a:latin typeface="Times New Roman" pitchFamily="18" charset="0"/>
                <a:ea typeface="宋体" pitchFamily="2" charset="-122"/>
              </a:rPr>
              <a:t> = </a:t>
            </a:r>
            <a:r>
              <a:rPr kumimoji="1" lang="en-US" altLang="zh-CN" sz="2400" b="1" u="none" strike="noStrike" kern="0" cap="none" spc="0" normalizeH="0" baseline="0" noProof="0" dirty="0">
                <a:ln>
                  <a:noFill/>
                </a:ln>
                <a:effectLst/>
                <a:uLnTx/>
                <a:uFillTx/>
                <a:latin typeface="Times New Roman" pitchFamily="18" charset="0"/>
                <a:ea typeface="宋体" pitchFamily="2" charset="-122"/>
              </a:rPr>
              <a:t>1</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400" b="0" i="0" u="none" strike="noStrike" kern="0" cap="none" spc="0" normalizeH="0" baseline="0" noProof="0" dirty="0">
                <a:ln>
                  <a:noFill/>
                </a:ln>
                <a:effectLst/>
                <a:uLnTx/>
                <a:uFillTx/>
                <a:latin typeface="Times New Roman" pitchFamily="18" charset="0"/>
                <a:ea typeface="宋体" pitchFamily="2" charset="-122"/>
              </a:rPr>
              <a:t>and define</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400" b="1" i="1" u="none" strike="noStrike" kern="0" cap="none" spc="0" normalizeH="0" baseline="0" noProof="0" dirty="0" err="1">
                <a:ln>
                  <a:noFill/>
                </a:ln>
                <a:effectLst/>
                <a:uLnTx/>
                <a:uFillTx/>
                <a:latin typeface="Times New Roman" pitchFamily="18" charset="0"/>
                <a:ea typeface="宋体" pitchFamily="2" charset="-122"/>
              </a:rPr>
              <a:t>H</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rPr>
              <a:t>aa</a:t>
            </a:r>
            <a:r>
              <a:rPr kumimoji="1" lang="en-US" altLang="zh-CN" sz="2400" b="1" i="1" u="none" strike="noStrike" kern="0" cap="none" spc="0" normalizeH="0" baseline="0" noProof="0" dirty="0">
                <a:ln>
                  <a:noFill/>
                </a:ln>
                <a:effectLst/>
                <a:uLnTx/>
                <a:uFillTx/>
                <a:latin typeface="Times New Roman" pitchFamily="18" charset="0"/>
                <a:ea typeface="宋体" pitchFamily="2" charset="-122"/>
              </a:rPr>
              <a:t> = </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rPr>
              <a:t>H</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rPr>
              <a:t>bb</a:t>
            </a:r>
            <a:r>
              <a:rPr kumimoji="1" lang="en-US" altLang="zh-CN" sz="2400" b="1" i="1" u="none" strike="noStrike" kern="0" cap="none" spc="0" normalizeH="0" baseline="0" noProof="0" dirty="0">
                <a:ln>
                  <a:noFill/>
                </a:ln>
                <a:effectLst/>
                <a:uLnTx/>
                <a:uFillTx/>
                <a:latin typeface="Times New Roman" pitchFamily="18" charset="0"/>
                <a:ea typeface="宋体" pitchFamily="2" charset="-122"/>
              </a:rPr>
              <a:t> = </a:t>
            </a: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400" b="1" i="1" u="none" strike="noStrike" kern="0" cap="none" spc="0" normalizeH="0" baseline="0" noProof="0" dirty="0" err="1">
                <a:ln>
                  <a:noFill/>
                </a:ln>
                <a:effectLst/>
                <a:uLnTx/>
                <a:uFillTx/>
                <a:latin typeface="Times New Roman" pitchFamily="18" charset="0"/>
                <a:ea typeface="宋体" pitchFamily="2" charset="-122"/>
                <a:sym typeface="Symbol" pitchFamily="18" charset="2"/>
              </a:rPr>
              <a:t>H</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sym typeface="Symbol" pitchFamily="18" charset="2"/>
              </a:rPr>
              <a:t>ab</a:t>
            </a: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 = </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sym typeface="Symbol" pitchFamily="18" charset="2"/>
              </a:rPr>
              <a:t>H</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sym typeface="Symbol" pitchFamily="18" charset="2"/>
              </a:rPr>
              <a:t>ba</a:t>
            </a: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 = </a:t>
            </a:r>
          </a:p>
          <a:p>
            <a:pPr marL="0" marR="0" lvl="0" indent="0" defTabSz="914400" eaLnBrk="1" fontAlgn="base" latinLnBrk="0" hangingPunct="1">
              <a:lnSpc>
                <a:spcPct val="150000"/>
              </a:lnSpc>
              <a:spcBef>
                <a:spcPct val="0"/>
              </a:spcBef>
              <a:spcAft>
                <a:spcPct val="0"/>
              </a:spcAft>
              <a:buClrTx/>
              <a:buSzTx/>
              <a:buFontTx/>
              <a:buNone/>
              <a:tabLst/>
              <a:defRPr/>
            </a:pP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S</a:t>
            </a:r>
            <a:r>
              <a:rPr kumimoji="1" lang="en-US" altLang="zh-CN" sz="2400" b="1" i="1" u="none" strike="noStrike" kern="0" cap="none" spc="0" normalizeH="0" baseline="-25000" noProof="0" dirty="0">
                <a:ln>
                  <a:noFill/>
                </a:ln>
                <a:effectLst/>
                <a:uLnTx/>
                <a:uFillTx/>
                <a:latin typeface="Times New Roman" pitchFamily="18" charset="0"/>
                <a:ea typeface="宋体" pitchFamily="2" charset="-122"/>
                <a:sym typeface="Symbol" pitchFamily="18" charset="2"/>
              </a:rPr>
              <a:t>ab</a:t>
            </a: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 = </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sym typeface="Symbol" pitchFamily="18" charset="2"/>
              </a:rPr>
              <a:t>S</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sym typeface="Symbol" pitchFamily="18" charset="2"/>
              </a:rPr>
              <a:t>ba</a:t>
            </a:r>
            <a:r>
              <a:rPr kumimoji="1" lang="en-US" altLang="zh-CN" sz="2400" b="1" i="1" u="none" strike="noStrike" kern="0" cap="none" spc="0" normalizeH="0" baseline="0" noProof="0" dirty="0">
                <a:ln>
                  <a:noFill/>
                </a:ln>
                <a:effectLst/>
                <a:uLnTx/>
                <a:uFillTx/>
                <a:latin typeface="Times New Roman" pitchFamily="18" charset="0"/>
                <a:ea typeface="宋体" pitchFamily="2" charset="-122"/>
                <a:sym typeface="Symbol" pitchFamily="18" charset="2"/>
              </a:rPr>
              <a:t> = S</a:t>
            </a:r>
            <a:endParaRPr kumimoji="1" lang="zh-CN" altLang="en-US" sz="2400" b="1" i="1" u="none" strike="noStrike" kern="0" cap="none" spc="0" normalizeH="0" baseline="0" noProof="0" dirty="0">
              <a:ln>
                <a:noFill/>
              </a:ln>
              <a:effectLst/>
              <a:uLnTx/>
              <a:uFillTx/>
              <a:latin typeface="Times New Roman" pitchFamily="18" charset="0"/>
              <a:ea typeface="宋体" pitchFamily="2" charset="-122"/>
            </a:endParaRPr>
          </a:p>
        </p:txBody>
      </p:sp>
      <p:graphicFrame>
        <p:nvGraphicFramePr>
          <p:cNvPr id="7" name="对象 2">
            <a:extLst>
              <a:ext uri="{FF2B5EF4-FFF2-40B4-BE49-F238E27FC236}">
                <a16:creationId xmlns:a16="http://schemas.microsoft.com/office/drawing/2014/main" id="{9BBFD793-BE1E-4F81-85E9-0C4BB78650C4}"/>
              </a:ext>
            </a:extLst>
          </p:cNvPr>
          <p:cNvGraphicFramePr>
            <a:graphicFrameLocks noChangeAspect="1"/>
          </p:cNvGraphicFramePr>
          <p:nvPr/>
        </p:nvGraphicFramePr>
        <p:xfrm>
          <a:off x="3499522" y="440175"/>
          <a:ext cx="4005263" cy="1093787"/>
        </p:xfrm>
        <a:graphic>
          <a:graphicData uri="http://schemas.openxmlformats.org/presentationml/2006/ole">
            <mc:AlternateContent xmlns:mc="http://schemas.openxmlformats.org/markup-compatibility/2006">
              <mc:Choice xmlns:v="urn:schemas-microsoft-com:vml" Requires="v">
                <p:oleObj name="Equation" r:id="rId4" imgW="1765080" imgH="482400" progId="Equation.DSMT4">
                  <p:embed/>
                </p:oleObj>
              </mc:Choice>
              <mc:Fallback>
                <p:oleObj name="Equation" r:id="rId4" imgW="1765080" imgH="482400" progId="Equation.DSMT4">
                  <p:embed/>
                  <p:pic>
                    <p:nvPicPr>
                      <p:cNvPr id="7" name="对象 2">
                        <a:extLst>
                          <a:ext uri="{FF2B5EF4-FFF2-40B4-BE49-F238E27FC236}">
                            <a16:creationId xmlns:a16="http://schemas.microsoft.com/office/drawing/2014/main" id="{9BBFD793-BE1E-4F81-85E9-0C4BB78650C4}"/>
                          </a:ext>
                        </a:extLst>
                      </p:cNvPr>
                      <p:cNvPicPr>
                        <a:picLocks noChangeAspect="1" noChangeArrowheads="1"/>
                      </p:cNvPicPr>
                      <p:nvPr/>
                    </p:nvPicPr>
                    <p:blipFill>
                      <a:blip r:embed="rId5"/>
                      <a:srcRect/>
                      <a:stretch>
                        <a:fillRect/>
                      </a:stretch>
                    </p:blipFill>
                    <p:spPr bwMode="auto">
                      <a:xfrm>
                        <a:off x="3499522" y="440175"/>
                        <a:ext cx="4005263" cy="1093787"/>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DC86A52-794F-4048-B7E5-29F08F72E84C}"/>
                  </a:ext>
                </a:extLst>
              </p:cNvPr>
              <p:cNvSpPr/>
              <p:nvPr/>
            </p:nvSpPr>
            <p:spPr>
              <a:xfrm>
                <a:off x="784383" y="440175"/>
                <a:ext cx="9932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solidFill>
                            <a:srgbClr val="2926BF"/>
                          </a:solidFill>
                          <a:latin typeface="Cambria Math" panose="02040503050406030204" pitchFamily="18" charset="0"/>
                        </a:rPr>
                        <m:t>𝑆</m:t>
                      </m:r>
                      <m:r>
                        <a:rPr lang="en-US" altLang="zh-CN" sz="2400" i="1" dirty="0" smtClean="0">
                          <a:solidFill>
                            <a:srgbClr val="2926BF"/>
                          </a:solidFill>
                          <a:latin typeface="Cambria Math" panose="02040503050406030204" pitchFamily="18" charset="0"/>
                          <a:ea typeface="Cambria Math" panose="02040503050406030204" pitchFamily="18" charset="0"/>
                        </a:rPr>
                        <m:t>≠</m:t>
                      </m:r>
                      <m:r>
                        <a:rPr lang="en-US" altLang="zh-CN" sz="2400" i="1" dirty="0">
                          <a:solidFill>
                            <a:srgbClr val="2926BF"/>
                          </a:solidFill>
                          <a:latin typeface="Cambria Math" panose="02040503050406030204" pitchFamily="18" charset="0"/>
                        </a:rPr>
                        <m:t>0</m:t>
                      </m:r>
                    </m:oMath>
                  </m:oMathPara>
                </a14:m>
                <a:endParaRPr lang="zh-CN" altLang="en-US" sz="2400" dirty="0"/>
              </a:p>
            </p:txBody>
          </p:sp>
        </mc:Choice>
        <mc:Fallback xmlns="">
          <p:sp>
            <p:nvSpPr>
              <p:cNvPr id="8" name="矩形 7">
                <a:extLst>
                  <a:ext uri="{FF2B5EF4-FFF2-40B4-BE49-F238E27FC236}">
                    <a16:creationId xmlns:a16="http://schemas.microsoft.com/office/drawing/2014/main" id="{2DC86A52-794F-4048-B7E5-29F08F72E84C}"/>
                  </a:ext>
                </a:extLst>
              </p:cNvPr>
              <p:cNvSpPr>
                <a:spLocks noRot="1" noChangeAspect="1" noMove="1" noResize="1" noEditPoints="1" noAdjustHandles="1" noChangeArrowheads="1" noChangeShapeType="1" noTextEdit="1"/>
              </p:cNvSpPr>
              <p:nvPr/>
            </p:nvSpPr>
            <p:spPr>
              <a:xfrm>
                <a:off x="784383" y="440175"/>
                <a:ext cx="993221" cy="461665"/>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528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BC3908CB-5727-4011-A834-291C76272B2D}"/>
              </a:ext>
            </a:extLst>
          </p:cNvPr>
          <p:cNvGraphicFramePr>
            <a:graphicFrameLocks noChangeAspect="1"/>
          </p:cNvGraphicFramePr>
          <p:nvPr>
            <p:extLst>
              <p:ext uri="{D42A27DB-BD31-4B8C-83A1-F6EECF244321}">
                <p14:modId xmlns:p14="http://schemas.microsoft.com/office/powerpoint/2010/main" val="3569217779"/>
              </p:ext>
            </p:extLst>
          </p:nvPr>
        </p:nvGraphicFramePr>
        <p:xfrm>
          <a:off x="3338742" y="576603"/>
          <a:ext cx="4879975" cy="3078163"/>
        </p:xfrm>
        <a:graphic>
          <a:graphicData uri="http://schemas.openxmlformats.org/presentationml/2006/ole">
            <mc:AlternateContent xmlns:mc="http://schemas.openxmlformats.org/markup-compatibility/2006">
              <mc:Choice xmlns:v="urn:schemas-microsoft-com:vml" Requires="v">
                <p:oleObj name="Equation" r:id="rId2" imgW="4880164" imgH="3078471" progId="Equation.DSMT4">
                  <p:embed/>
                </p:oleObj>
              </mc:Choice>
              <mc:Fallback>
                <p:oleObj name="Equation" r:id="rId2" imgW="4880164" imgH="3078471" progId="Equation.DSMT4">
                  <p:embed/>
                  <p:pic>
                    <p:nvPicPr>
                      <p:cNvPr id="4" name="对象 3">
                        <a:extLst>
                          <a:ext uri="{FF2B5EF4-FFF2-40B4-BE49-F238E27FC236}">
                            <a16:creationId xmlns:a16="http://schemas.microsoft.com/office/drawing/2014/main" id="{BC3908CB-5727-4011-A834-291C76272B2D}"/>
                          </a:ext>
                        </a:extLst>
                      </p:cNvPr>
                      <p:cNvPicPr/>
                      <p:nvPr/>
                    </p:nvPicPr>
                    <p:blipFill>
                      <a:blip r:embed="rId3"/>
                      <a:stretch>
                        <a:fillRect/>
                      </a:stretch>
                    </p:blipFill>
                    <p:spPr>
                      <a:xfrm>
                        <a:off x="3338742" y="576603"/>
                        <a:ext cx="4879975" cy="3078163"/>
                      </a:xfrm>
                      <a:prstGeom prst="rect">
                        <a:avLst/>
                      </a:prstGeom>
                    </p:spPr>
                  </p:pic>
                </p:oleObj>
              </mc:Fallback>
            </mc:AlternateContent>
          </a:graphicData>
        </a:graphic>
      </p:graphicFrame>
      <p:graphicFrame>
        <p:nvGraphicFramePr>
          <p:cNvPr id="2" name="Object 2">
            <a:extLst>
              <a:ext uri="{FF2B5EF4-FFF2-40B4-BE49-F238E27FC236}">
                <a16:creationId xmlns:a16="http://schemas.microsoft.com/office/drawing/2014/main" id="{756D199F-6F96-4D6A-9C46-3237A6B08065}"/>
              </a:ext>
            </a:extLst>
          </p:cNvPr>
          <p:cNvGraphicFramePr>
            <a:graphicFrameLocks noChangeAspect="1"/>
          </p:cNvGraphicFramePr>
          <p:nvPr>
            <p:extLst>
              <p:ext uri="{D42A27DB-BD31-4B8C-83A1-F6EECF244321}">
                <p14:modId xmlns:p14="http://schemas.microsoft.com/office/powerpoint/2010/main" val="1198991033"/>
              </p:ext>
            </p:extLst>
          </p:nvPr>
        </p:nvGraphicFramePr>
        <p:xfrm>
          <a:off x="1889125" y="4059829"/>
          <a:ext cx="8413750" cy="1714500"/>
        </p:xfrm>
        <a:graphic>
          <a:graphicData uri="http://schemas.openxmlformats.org/presentationml/2006/ole">
            <mc:AlternateContent xmlns:mc="http://schemas.openxmlformats.org/markup-compatibility/2006">
              <mc:Choice xmlns:v="urn:schemas-microsoft-com:vml" Requires="v">
                <p:oleObj name="Equation" r:id="rId4" imgW="3365280" imgH="685800" progId="Equation.DSMT4">
                  <p:embed/>
                </p:oleObj>
              </mc:Choice>
              <mc:Fallback>
                <p:oleObj name="Equation" r:id="rId4" imgW="3365280" imgH="685800" progId="Equation.DSMT4">
                  <p:embed/>
                  <p:pic>
                    <p:nvPicPr>
                      <p:cNvPr id="4" name="Object 2">
                        <a:extLst>
                          <a:ext uri="{FF2B5EF4-FFF2-40B4-BE49-F238E27FC236}">
                            <a16:creationId xmlns:a16="http://schemas.microsoft.com/office/drawing/2014/main" id="{756D199F-6F96-4D6A-9C46-3237A6B08065}"/>
                          </a:ext>
                        </a:extLst>
                      </p:cNvPr>
                      <p:cNvPicPr>
                        <a:picLocks noChangeAspect="1" noChangeArrowheads="1"/>
                      </p:cNvPicPr>
                      <p:nvPr/>
                    </p:nvPicPr>
                    <p:blipFill>
                      <a:blip r:embed="rId5"/>
                      <a:srcRect/>
                      <a:stretch>
                        <a:fillRect/>
                      </a:stretch>
                    </p:blipFill>
                    <p:spPr bwMode="auto">
                      <a:xfrm>
                        <a:off x="1889125" y="4059829"/>
                        <a:ext cx="8413750" cy="17145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50076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E040D8A6-20A2-48AD-AA52-8AD6B8620C9B}"/>
              </a:ext>
            </a:extLst>
          </p:cNvPr>
          <p:cNvGraphicFramePr>
            <a:graphicFrameLocks noChangeAspect="1"/>
          </p:cNvGraphicFramePr>
          <p:nvPr>
            <p:extLst>
              <p:ext uri="{D42A27DB-BD31-4B8C-83A1-F6EECF244321}">
                <p14:modId xmlns:p14="http://schemas.microsoft.com/office/powerpoint/2010/main" val="3022439782"/>
              </p:ext>
            </p:extLst>
          </p:nvPr>
        </p:nvGraphicFramePr>
        <p:xfrm>
          <a:off x="2455182" y="946834"/>
          <a:ext cx="7715250" cy="3397250"/>
        </p:xfrm>
        <a:graphic>
          <a:graphicData uri="http://schemas.openxmlformats.org/presentationml/2006/ole">
            <mc:AlternateContent xmlns:mc="http://schemas.openxmlformats.org/markup-compatibility/2006">
              <mc:Choice xmlns:v="urn:schemas-microsoft-com:vml" Requires="v">
                <p:oleObj name="Equation" r:id="rId2" imgW="3085920" imgH="1358640" progId="Equation.DSMT4">
                  <p:embed/>
                </p:oleObj>
              </mc:Choice>
              <mc:Fallback>
                <p:oleObj name="Equation" r:id="rId2" imgW="3085920" imgH="1358640" progId="Equation.DSMT4">
                  <p:embed/>
                  <p:pic>
                    <p:nvPicPr>
                      <p:cNvPr id="5" name="Object 4">
                        <a:extLst>
                          <a:ext uri="{FF2B5EF4-FFF2-40B4-BE49-F238E27FC236}">
                            <a16:creationId xmlns:a16="http://schemas.microsoft.com/office/drawing/2014/main" id="{E040D8A6-20A2-48AD-AA52-8AD6B8620C9B}"/>
                          </a:ext>
                        </a:extLst>
                      </p:cNvPr>
                      <p:cNvPicPr>
                        <a:picLocks noChangeAspect="1" noChangeArrowheads="1"/>
                      </p:cNvPicPr>
                      <p:nvPr/>
                    </p:nvPicPr>
                    <p:blipFill>
                      <a:blip r:embed="rId3"/>
                      <a:srcRect/>
                      <a:stretch>
                        <a:fillRect/>
                      </a:stretch>
                    </p:blipFill>
                    <p:spPr bwMode="auto">
                      <a:xfrm>
                        <a:off x="2455182" y="946834"/>
                        <a:ext cx="7715250" cy="3397250"/>
                      </a:xfrm>
                      <a:prstGeom prst="rect">
                        <a:avLst/>
                      </a:prstGeom>
                      <a:noFill/>
                      <a:ln>
                        <a:noFill/>
                      </a:ln>
                    </p:spPr>
                  </p:pic>
                </p:oleObj>
              </mc:Fallback>
            </mc:AlternateContent>
          </a:graphicData>
        </a:graphic>
      </p:graphicFrame>
      <p:sp>
        <p:nvSpPr>
          <p:cNvPr id="6" name="TextBox 1">
            <a:extLst>
              <a:ext uri="{FF2B5EF4-FFF2-40B4-BE49-F238E27FC236}">
                <a16:creationId xmlns:a16="http://schemas.microsoft.com/office/drawing/2014/main" id="{6CC0763B-EB9E-4956-9BE5-E709486D4F7F}"/>
              </a:ext>
            </a:extLst>
          </p:cNvPr>
          <p:cNvSpPr txBox="1">
            <a:spLocks noChangeArrowheads="1"/>
          </p:cNvSpPr>
          <p:nvPr/>
        </p:nvSpPr>
        <p:spPr bwMode="auto">
          <a:xfrm>
            <a:off x="3731804" y="4894329"/>
            <a:ext cx="30623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66"/>
                </a:solidFill>
                <a:effectLst/>
                <a:uLnTx/>
                <a:uFillTx/>
                <a:latin typeface="Times New Roman" pitchFamily="18" charset="0"/>
                <a:ea typeface="宋体" pitchFamily="2" charset="-122"/>
              </a:rPr>
              <a:t>How to achieve </a:t>
            </a:r>
            <a:r>
              <a:rPr kumimoji="1" lang="en-US" altLang="zh-CN" sz="2400" b="1" i="1" u="none" strike="noStrike" kern="0" cap="none" spc="0" normalizeH="0" baseline="0" noProof="0" dirty="0">
                <a:ln>
                  <a:noFill/>
                </a:ln>
                <a:solidFill>
                  <a:srgbClr val="000066"/>
                </a:solidFill>
                <a:effectLst/>
                <a:uLnTx/>
                <a:uFillTx/>
                <a:latin typeface="Times New Roman" pitchFamily="18" charset="0"/>
                <a:ea typeface="宋体" pitchFamily="2" charset="-122"/>
              </a:rPr>
              <a:t>c</a:t>
            </a:r>
            <a:r>
              <a:rPr kumimoji="1" lang="en-US" altLang="zh-CN" sz="2400" b="1" i="1" u="none" strike="noStrike" kern="0" cap="none" spc="0" normalizeH="0" baseline="-25000" noProof="0" dirty="0">
                <a:ln>
                  <a:noFill/>
                </a:ln>
                <a:solidFill>
                  <a:srgbClr val="000066"/>
                </a:solidFill>
                <a:effectLst/>
                <a:uLnTx/>
                <a:uFillTx/>
                <a:latin typeface="Times New Roman" pitchFamily="18" charset="0"/>
                <a:ea typeface="宋体" pitchFamily="2" charset="-122"/>
              </a:rPr>
              <a:t>a</a:t>
            </a:r>
            <a:r>
              <a:rPr kumimoji="1" lang="en-US" altLang="zh-CN" sz="2400" b="1" i="0" u="none" strike="noStrike" kern="0" cap="none" spc="0" normalizeH="0" baseline="0" noProof="0" dirty="0">
                <a:ln>
                  <a:noFill/>
                </a:ln>
                <a:solidFill>
                  <a:srgbClr val="000066"/>
                </a:solidFill>
                <a:effectLst/>
                <a:uLnTx/>
                <a:uFillTx/>
                <a:latin typeface="Times New Roman" pitchFamily="18" charset="0"/>
                <a:ea typeface="宋体" pitchFamily="2" charset="-122"/>
              </a:rPr>
              <a:t> ?</a:t>
            </a:r>
            <a:endParaRPr kumimoji="1" lang="zh-CN" altLang="en-US" sz="2400" b="1" i="0" u="none" strike="noStrike" kern="0" cap="none" spc="0" normalizeH="0" baseline="0" noProof="0" dirty="0">
              <a:ln>
                <a:noFill/>
              </a:ln>
              <a:solidFill>
                <a:srgbClr val="000066"/>
              </a:solidFill>
              <a:effectLst/>
              <a:uLnTx/>
              <a:uFillTx/>
              <a:latin typeface="Times New Roman" pitchFamily="18" charset="0"/>
              <a:ea typeface="宋体" pitchFamily="2" charset="-122"/>
            </a:endParaRPr>
          </a:p>
        </p:txBody>
      </p:sp>
    </p:spTree>
    <p:extLst>
      <p:ext uri="{BB962C8B-B14F-4D97-AF65-F5344CB8AC3E}">
        <p14:creationId xmlns:p14="http://schemas.microsoft.com/office/powerpoint/2010/main" val="116308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5B3EE2EC-9EC3-4849-B85E-C1A0BC54E49D}"/>
              </a:ext>
            </a:extLst>
          </p:cNvPr>
          <p:cNvGraphicFramePr>
            <a:graphicFrameLocks noChangeAspect="1"/>
          </p:cNvGraphicFramePr>
          <p:nvPr/>
        </p:nvGraphicFramePr>
        <p:xfrm>
          <a:off x="2510631" y="147638"/>
          <a:ext cx="7170737" cy="3281362"/>
        </p:xfrm>
        <a:graphic>
          <a:graphicData uri="http://schemas.openxmlformats.org/presentationml/2006/ole">
            <mc:AlternateContent xmlns:mc="http://schemas.openxmlformats.org/markup-compatibility/2006">
              <mc:Choice xmlns:v="urn:schemas-microsoft-com:vml" Requires="v">
                <p:oleObj name="公式" r:id="rId2" imgW="3162300" imgH="1447800" progId="Equation.3">
                  <p:embed/>
                </p:oleObj>
              </mc:Choice>
              <mc:Fallback>
                <p:oleObj name="公式" r:id="rId2" imgW="3162300" imgH="1447800" progId="Equation.3">
                  <p:embed/>
                  <p:pic>
                    <p:nvPicPr>
                      <p:cNvPr id="4" name="对象 3">
                        <a:extLst>
                          <a:ext uri="{FF2B5EF4-FFF2-40B4-BE49-F238E27FC236}">
                            <a16:creationId xmlns:a16="http://schemas.microsoft.com/office/drawing/2014/main" id="{5B3EE2EC-9EC3-4849-B85E-C1A0BC54E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0631" y="147638"/>
                        <a:ext cx="7170737" cy="3281362"/>
                      </a:xfrm>
                      <a:prstGeom prst="rect">
                        <a:avLst/>
                      </a:prstGeom>
                      <a:noFill/>
                      <a:ln>
                        <a:solidFill>
                          <a:schemeClr val="accent1"/>
                        </a:solidFill>
                      </a:ln>
                    </p:spPr>
                  </p:pic>
                </p:oleObj>
              </mc:Fallback>
            </mc:AlternateContent>
          </a:graphicData>
        </a:graphic>
      </p:graphicFrame>
      <p:graphicFrame>
        <p:nvGraphicFramePr>
          <p:cNvPr id="5" name="对象 4">
            <a:extLst>
              <a:ext uri="{FF2B5EF4-FFF2-40B4-BE49-F238E27FC236}">
                <a16:creationId xmlns:a16="http://schemas.microsoft.com/office/drawing/2014/main" id="{D36B1FC0-77FA-4275-9004-BEE1AC9863CB}"/>
              </a:ext>
            </a:extLst>
          </p:cNvPr>
          <p:cNvGraphicFramePr>
            <a:graphicFrameLocks noChangeAspect="1"/>
          </p:cNvGraphicFramePr>
          <p:nvPr/>
        </p:nvGraphicFramePr>
        <p:xfrm>
          <a:off x="2790563" y="3639064"/>
          <a:ext cx="5616575" cy="2838450"/>
        </p:xfrm>
        <a:graphic>
          <a:graphicData uri="http://schemas.openxmlformats.org/presentationml/2006/ole">
            <mc:AlternateContent xmlns:mc="http://schemas.openxmlformats.org/markup-compatibility/2006">
              <mc:Choice xmlns:v="urn:schemas-microsoft-com:vml" Requires="v">
                <p:oleObj name="公式" r:id="rId4" imgW="2336800" imgH="1181100" progId="Equation.3">
                  <p:embed/>
                </p:oleObj>
              </mc:Choice>
              <mc:Fallback>
                <p:oleObj name="公式" r:id="rId4" imgW="2336800" imgH="1181100" progId="Equation.3">
                  <p:embed/>
                  <p:pic>
                    <p:nvPicPr>
                      <p:cNvPr id="5" name="对象 4">
                        <a:extLst>
                          <a:ext uri="{FF2B5EF4-FFF2-40B4-BE49-F238E27FC236}">
                            <a16:creationId xmlns:a16="http://schemas.microsoft.com/office/drawing/2014/main" id="{D36B1FC0-77FA-4275-9004-BEE1AC9863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0563" y="3639064"/>
                        <a:ext cx="5616575" cy="2838450"/>
                      </a:xfrm>
                      <a:prstGeom prst="rect">
                        <a:avLst/>
                      </a:prstGeom>
                      <a:noFill/>
                      <a:ln>
                        <a:solidFill>
                          <a:schemeClr val="accent1"/>
                        </a:solidFill>
                      </a:ln>
                    </p:spPr>
                  </p:pic>
                </p:oleObj>
              </mc:Fallback>
            </mc:AlternateContent>
          </a:graphicData>
        </a:graphic>
      </p:graphicFrame>
    </p:spTree>
    <p:extLst>
      <p:ext uri="{BB962C8B-B14F-4D97-AF65-F5344CB8AC3E}">
        <p14:creationId xmlns:p14="http://schemas.microsoft.com/office/powerpoint/2010/main" val="229622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nvGraphicFramePr>
        <p:xfrm>
          <a:off x="6544114" y="2291554"/>
          <a:ext cx="131762" cy="250825"/>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114" y="2291554"/>
                        <a:ext cx="131762"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 name="Picture 4" descr="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772" y="2095508"/>
            <a:ext cx="3886575" cy="23793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 descr="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4347" y="2095508"/>
            <a:ext cx="5137425" cy="2496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111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3"/>
          <p:cNvSpPr txBox="1">
            <a:spLocks noChangeArrowheads="1"/>
          </p:cNvSpPr>
          <p:nvPr/>
        </p:nvSpPr>
        <p:spPr bwMode="auto">
          <a:xfrm>
            <a:off x="5425441" y="2562096"/>
            <a:ext cx="62280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b="0" dirty="0">
                <a:solidFill>
                  <a:srgbClr val="000066"/>
                </a:solidFill>
                <a:cs typeface="Times New Roman" panose="02020603050405020304" pitchFamily="18" charset="0"/>
              </a:rPr>
              <a:t>A molecular orbital energy level diagram for orbitals constructed from the overlap of H1</a:t>
            </a:r>
            <a:r>
              <a:rPr kumimoji="0" lang="en-GB" altLang="en-US" b="0" i="1" dirty="0">
                <a:solidFill>
                  <a:srgbClr val="000066"/>
                </a:solidFill>
                <a:cs typeface="Times New Roman" panose="02020603050405020304" pitchFamily="18" charset="0"/>
              </a:rPr>
              <a:t>s</a:t>
            </a:r>
            <a:r>
              <a:rPr kumimoji="0" lang="en-GB" altLang="en-US" b="0" dirty="0">
                <a:solidFill>
                  <a:srgbClr val="000066"/>
                </a:solidFill>
                <a:cs typeface="Times New Roman" panose="02020603050405020304" pitchFamily="18" charset="0"/>
              </a:rPr>
              <a:t> orbitals; the separation  of the levels corresponds to  that found at the equilibrium bond length. </a:t>
            </a:r>
            <a:endParaRPr kumimoji="0" lang="en-US" altLang="en-US" b="0" dirty="0">
              <a:solidFill>
                <a:srgbClr val="000066"/>
              </a:solidFill>
              <a:cs typeface="Times New Roman" panose="02020603050405020304" pitchFamily="18" charset="0"/>
            </a:endParaRPr>
          </a:p>
        </p:txBody>
      </p:sp>
      <p:pic>
        <p:nvPicPr>
          <p:cNvPr id="19" name="Picture 6" descr="FIG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675" y="2076926"/>
            <a:ext cx="41910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7"/>
          <p:cNvSpPr>
            <a:spLocks noChangeArrowheads="1"/>
          </p:cNvSpPr>
          <p:nvPr/>
        </p:nvSpPr>
        <p:spPr bwMode="auto">
          <a:xfrm>
            <a:off x="2326464" y="4810123"/>
            <a:ext cx="1828800" cy="9144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1" name="Oval 8"/>
          <p:cNvSpPr>
            <a:spLocks noChangeArrowheads="1"/>
          </p:cNvSpPr>
          <p:nvPr/>
        </p:nvSpPr>
        <p:spPr bwMode="auto">
          <a:xfrm>
            <a:off x="2859865" y="5268911"/>
            <a:ext cx="74613" cy="74612"/>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2" name="Oval 9"/>
          <p:cNvSpPr>
            <a:spLocks noChangeArrowheads="1"/>
          </p:cNvSpPr>
          <p:nvPr/>
        </p:nvSpPr>
        <p:spPr bwMode="auto">
          <a:xfrm>
            <a:off x="3545665" y="5267324"/>
            <a:ext cx="74613" cy="74613"/>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3" name="Text Box 10"/>
          <p:cNvSpPr txBox="1">
            <a:spLocks noChangeArrowheads="1"/>
          </p:cNvSpPr>
          <p:nvPr/>
        </p:nvSpPr>
        <p:spPr bwMode="auto">
          <a:xfrm>
            <a:off x="3088465" y="4919661"/>
            <a:ext cx="441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a:solidFill>
                  <a:srgbClr val="000066"/>
                </a:solidFill>
              </a:rPr>
              <a:t>+</a:t>
            </a:r>
          </a:p>
        </p:txBody>
      </p:sp>
      <p:sp>
        <p:nvSpPr>
          <p:cNvPr id="24" name="Oval 11"/>
          <p:cNvSpPr>
            <a:spLocks noChangeArrowheads="1"/>
          </p:cNvSpPr>
          <p:nvPr/>
        </p:nvSpPr>
        <p:spPr bwMode="auto">
          <a:xfrm>
            <a:off x="2297888" y="1252539"/>
            <a:ext cx="762000" cy="5334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5" name="Oval 12"/>
          <p:cNvSpPr>
            <a:spLocks noChangeArrowheads="1"/>
          </p:cNvSpPr>
          <p:nvPr/>
        </p:nvSpPr>
        <p:spPr bwMode="auto">
          <a:xfrm>
            <a:off x="3288488" y="1252539"/>
            <a:ext cx="762000" cy="5334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6" name="Oval 13"/>
          <p:cNvSpPr>
            <a:spLocks noChangeArrowheads="1"/>
          </p:cNvSpPr>
          <p:nvPr/>
        </p:nvSpPr>
        <p:spPr bwMode="auto">
          <a:xfrm>
            <a:off x="2831288" y="1481139"/>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sp>
        <p:nvSpPr>
          <p:cNvPr id="27" name="Oval 14"/>
          <p:cNvSpPr>
            <a:spLocks noChangeArrowheads="1"/>
          </p:cNvSpPr>
          <p:nvPr/>
        </p:nvSpPr>
        <p:spPr bwMode="auto">
          <a:xfrm>
            <a:off x="3440888" y="1481139"/>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solidFill>
                <a:srgbClr val="000066"/>
              </a:solidFill>
              <a:latin typeface="Times New Roman" pitchFamily="18" charset="0"/>
              <a:ea typeface="宋体" charset="-122"/>
            </a:endParaRPr>
          </a:p>
        </p:txBody>
      </p:sp>
      <p:graphicFrame>
        <p:nvGraphicFramePr>
          <p:cNvPr id="28" name="Object 15"/>
          <p:cNvGraphicFramePr>
            <a:graphicFrameLocks noChangeAspect="1"/>
          </p:cNvGraphicFramePr>
          <p:nvPr/>
        </p:nvGraphicFramePr>
        <p:xfrm>
          <a:off x="4231464" y="4886324"/>
          <a:ext cx="1600200" cy="885825"/>
        </p:xfrm>
        <a:graphic>
          <a:graphicData uri="http://schemas.openxmlformats.org/presentationml/2006/ole">
            <mc:AlternateContent xmlns:mc="http://schemas.openxmlformats.org/markup-compatibility/2006">
              <mc:Choice xmlns:v="urn:schemas-microsoft-com:vml" Requires="v">
                <p:oleObj name="Equation" r:id="rId3" imgW="711000" imgH="393480" progId="Equation.3">
                  <p:embed/>
                </p:oleObj>
              </mc:Choice>
              <mc:Fallback>
                <p:oleObj name="Equation" r:id="rId3" imgW="711000" imgH="393480" progId="Equation.3">
                  <p:embed/>
                  <p:pic>
                    <p:nvPicPr>
                      <p:cNvPr id="2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1464" y="4886324"/>
                        <a:ext cx="1600200" cy="8858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6"/>
          <p:cNvGraphicFramePr>
            <a:graphicFrameLocks noChangeAspect="1"/>
          </p:cNvGraphicFramePr>
          <p:nvPr/>
        </p:nvGraphicFramePr>
        <p:xfrm>
          <a:off x="4202889" y="1023940"/>
          <a:ext cx="1628775" cy="887413"/>
        </p:xfrm>
        <a:graphic>
          <a:graphicData uri="http://schemas.openxmlformats.org/presentationml/2006/ole">
            <mc:AlternateContent xmlns:mc="http://schemas.openxmlformats.org/markup-compatibility/2006">
              <mc:Choice xmlns:v="urn:schemas-microsoft-com:vml" Requires="v">
                <p:oleObj name="Equation" r:id="rId5" imgW="723600" imgH="393480" progId="Equation.3">
                  <p:embed/>
                </p:oleObj>
              </mc:Choice>
              <mc:Fallback>
                <p:oleObj name="Equation" r:id="rId5" imgW="723600" imgH="393480" progId="Equation.3">
                  <p:embed/>
                  <p:pic>
                    <p:nvPicPr>
                      <p:cNvPr id="29"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2889" y="1023940"/>
                        <a:ext cx="1628775" cy="8874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7985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vertic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p:cNvPicPr>
            <a:picLocks noChangeAspect="1" noChangeArrowheads="1"/>
          </p:cNvPicPr>
          <p:nvPr/>
        </p:nvPicPr>
        <p:blipFill>
          <a:blip r:embed="rId2">
            <a:lum bright="-30000" contrast="30000"/>
            <a:extLst>
              <a:ext uri="{28A0092B-C50C-407E-A947-70E740481C1C}">
                <a14:useLocalDpi xmlns:a14="http://schemas.microsoft.com/office/drawing/2010/main" val="0"/>
              </a:ext>
            </a:extLst>
          </a:blip>
          <a:srcRect/>
          <a:stretch>
            <a:fillRect/>
          </a:stretch>
        </p:blipFill>
        <p:spPr bwMode="auto">
          <a:xfrm>
            <a:off x="1718909" y="762000"/>
            <a:ext cx="4138613"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3"/>
          <p:cNvGraphicFramePr>
            <a:graphicFrameLocks noChangeAspect="1"/>
          </p:cNvGraphicFramePr>
          <p:nvPr/>
        </p:nvGraphicFramePr>
        <p:xfrm>
          <a:off x="6997700" y="152400"/>
          <a:ext cx="368300" cy="406400"/>
        </p:xfrm>
        <a:graphic>
          <a:graphicData uri="http://schemas.openxmlformats.org/presentationml/2006/ole">
            <mc:AlternateContent xmlns:mc="http://schemas.openxmlformats.org/markup-compatibility/2006">
              <mc:Choice xmlns:v="urn:schemas-microsoft-com:vml" Requires="v">
                <p:oleObj name="Equation" r:id="rId3" imgW="368300" imgH="406400" progId="Equation.3">
                  <p:embed/>
                </p:oleObj>
              </mc:Choice>
              <mc:Fallback>
                <p:oleObj name="Equation" r:id="rId3" imgW="368300" imgH="406400" progId="Equation.3">
                  <p:embed/>
                  <p:pic>
                    <p:nvPicPr>
                      <p:cNvPr id="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700" y="152400"/>
                        <a:ext cx="368300" cy="406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5"/>
          <p:cNvSpPr txBox="1">
            <a:spLocks noChangeArrowheads="1"/>
          </p:cNvSpPr>
          <p:nvPr/>
        </p:nvSpPr>
        <p:spPr bwMode="auto">
          <a:xfrm>
            <a:off x="6165251" y="2314436"/>
            <a:ext cx="48551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dirty="0">
                <a:cs typeface="Times New Roman" panose="02020603050405020304" pitchFamily="18" charset="0"/>
              </a:rPr>
              <a:t>The calculated and experimental molecular potential energy curves for a hydrogen molecule-ion.</a:t>
            </a:r>
            <a:endParaRPr kumimoji="0" lang="en-US" altLang="en-US" dirty="0">
              <a:cs typeface="Times New Roman" panose="02020603050405020304" pitchFamily="18" charset="0"/>
            </a:endParaRPr>
          </a:p>
        </p:txBody>
      </p:sp>
    </p:spTree>
    <p:extLst>
      <p:ext uri="{BB962C8B-B14F-4D97-AF65-F5344CB8AC3E}">
        <p14:creationId xmlns:p14="http://schemas.microsoft.com/office/powerpoint/2010/main" val="219840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6997700" y="152400"/>
          <a:ext cx="368300" cy="406400"/>
        </p:xfrm>
        <a:graphic>
          <a:graphicData uri="http://schemas.openxmlformats.org/presentationml/2006/ole">
            <mc:AlternateContent xmlns:mc="http://schemas.openxmlformats.org/markup-compatibility/2006">
              <mc:Choice xmlns:v="urn:schemas-microsoft-com:vml" Requires="v">
                <p:oleObj name="Equation" r:id="rId2" imgW="368300" imgH="406400" progId="Equation.3">
                  <p:embed/>
                </p:oleObj>
              </mc:Choice>
              <mc:Fallback>
                <p:oleObj name="Equation" r:id="rId2" imgW="368300" imgH="406400" progId="Equation.3">
                  <p:embed/>
                  <p:pic>
                    <p:nvPicPr>
                      <p:cNvPr id="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7700" y="152400"/>
                        <a:ext cx="368300" cy="406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5"/>
          <p:cNvSpPr txBox="1">
            <a:spLocks noChangeArrowheads="1"/>
          </p:cNvSpPr>
          <p:nvPr/>
        </p:nvSpPr>
        <p:spPr bwMode="auto">
          <a:xfrm>
            <a:off x="5842000" y="1955800"/>
            <a:ext cx="588264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b="0" dirty="0">
                <a:cs typeface="Times New Roman" panose="02020603050405020304" pitchFamily="18" charset="0"/>
              </a:rPr>
              <a:t>A representation of the constructive interference that occurs when two H 1</a:t>
            </a:r>
            <a:r>
              <a:rPr kumimoji="0" lang="en-GB" altLang="en-US" b="0" i="1" dirty="0">
                <a:cs typeface="Times New Roman" panose="02020603050405020304" pitchFamily="18" charset="0"/>
              </a:rPr>
              <a:t>s</a:t>
            </a:r>
            <a:r>
              <a:rPr kumimoji="0" lang="en-GB" altLang="en-US" b="0" dirty="0">
                <a:cs typeface="Times New Roman" panose="02020603050405020304" pitchFamily="18" charset="0"/>
              </a:rPr>
              <a:t> orbitals overlap and form a bonding </a:t>
            </a:r>
            <a:r>
              <a:rPr kumimoji="0" lang="en-GB" altLang="en-US" b="0" i="1" dirty="0">
                <a:cs typeface="Times New Roman" panose="02020603050405020304" pitchFamily="18" charset="0"/>
                <a:sym typeface="Symbol" pitchFamily="18" charset="2"/>
              </a:rPr>
              <a:t></a:t>
            </a:r>
            <a:r>
              <a:rPr kumimoji="0" lang="en-GB" altLang="en-US" b="0" i="1" dirty="0">
                <a:cs typeface="Times New Roman" panose="02020603050405020304" pitchFamily="18" charset="0"/>
              </a:rPr>
              <a:t>  </a:t>
            </a:r>
            <a:r>
              <a:rPr kumimoji="0" lang="en-GB" altLang="en-US" b="0" dirty="0">
                <a:cs typeface="Times New Roman" panose="02020603050405020304" pitchFamily="18" charset="0"/>
              </a:rPr>
              <a:t>orbital.</a:t>
            </a:r>
            <a:endParaRPr kumimoji="0" lang="en-US" altLang="en-US" b="0" dirty="0">
              <a:cs typeface="Times New Roman" panose="02020603050405020304" pitchFamily="18" charset="0"/>
            </a:endParaRPr>
          </a:p>
        </p:txBody>
      </p:sp>
      <p:graphicFrame>
        <p:nvGraphicFramePr>
          <p:cNvPr id="5" name="Object 9"/>
          <p:cNvGraphicFramePr>
            <a:graphicFrameLocks noChangeAspect="1"/>
          </p:cNvGraphicFramePr>
          <p:nvPr/>
        </p:nvGraphicFramePr>
        <p:xfrm>
          <a:off x="6908800" y="5118100"/>
          <a:ext cx="3046413" cy="896938"/>
        </p:xfrm>
        <a:graphic>
          <a:graphicData uri="http://schemas.openxmlformats.org/presentationml/2006/ole">
            <mc:AlternateContent xmlns:mc="http://schemas.openxmlformats.org/markup-compatibility/2006">
              <mc:Choice xmlns:v="urn:schemas-microsoft-com:vml" Requires="v">
                <p:oleObj name="Equation" r:id="rId4" imgW="1511280" imgH="444240" progId="Equation.DSMT4">
                  <p:embed/>
                </p:oleObj>
              </mc:Choice>
              <mc:Fallback>
                <p:oleObj name="Equation" r:id="rId4" imgW="1511280" imgH="444240" progId="Equation.DSMT4">
                  <p:embed/>
                  <p:pic>
                    <p:nvPicPr>
                      <p:cNvPr id="5" name="Object 9"/>
                      <p:cNvPicPr>
                        <a:picLocks noChangeAspect="1" noChangeArrowheads="1"/>
                      </p:cNvPicPr>
                      <p:nvPr/>
                    </p:nvPicPr>
                    <p:blipFill>
                      <a:blip r:embed="rId5"/>
                      <a:srcRect/>
                      <a:stretch>
                        <a:fillRect/>
                      </a:stretch>
                    </p:blipFill>
                    <p:spPr bwMode="auto">
                      <a:xfrm>
                        <a:off x="6908800" y="5118100"/>
                        <a:ext cx="3046413" cy="896938"/>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11"/>
          <p:cNvSpPr>
            <a:spLocks noChangeArrowheads="1"/>
          </p:cNvSpPr>
          <p:nvPr/>
        </p:nvSpPr>
        <p:spPr bwMode="auto">
          <a:xfrm>
            <a:off x="2336800" y="5384800"/>
            <a:ext cx="2667000" cy="10668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7" name="Oval 12"/>
          <p:cNvSpPr>
            <a:spLocks noChangeArrowheads="1"/>
          </p:cNvSpPr>
          <p:nvPr/>
        </p:nvSpPr>
        <p:spPr bwMode="auto">
          <a:xfrm>
            <a:off x="2946400" y="5918200"/>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8" name="Oval 13"/>
          <p:cNvSpPr>
            <a:spLocks noChangeArrowheads="1"/>
          </p:cNvSpPr>
          <p:nvPr/>
        </p:nvSpPr>
        <p:spPr bwMode="auto">
          <a:xfrm>
            <a:off x="4318000" y="5918200"/>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9" name="Text Box 14"/>
          <p:cNvSpPr txBox="1">
            <a:spLocks noChangeArrowheads="1"/>
          </p:cNvSpPr>
          <p:nvPr/>
        </p:nvSpPr>
        <p:spPr bwMode="auto">
          <a:xfrm>
            <a:off x="3479800" y="5537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a:t>+</a:t>
            </a:r>
          </a:p>
        </p:txBody>
      </p:sp>
      <p:sp>
        <p:nvSpPr>
          <p:cNvPr id="10" name="Text Box 15"/>
          <p:cNvSpPr txBox="1">
            <a:spLocks noChangeArrowheads="1"/>
          </p:cNvSpPr>
          <p:nvPr/>
        </p:nvSpPr>
        <p:spPr bwMode="auto">
          <a:xfrm>
            <a:off x="5232400" y="59182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kern="0" dirty="0">
                <a:sym typeface="Symbol" pitchFamily="18" charset="2"/>
              </a:rPr>
              <a:t></a:t>
            </a:r>
            <a:r>
              <a:rPr lang="en-US" altLang="zh-CN" kern="0" baseline="-25000" dirty="0"/>
              <a:t>s</a:t>
            </a:r>
          </a:p>
        </p:txBody>
      </p:sp>
      <p:pic>
        <p:nvPicPr>
          <p:cNvPr id="11" name="Picture 17"/>
          <p:cNvPicPr>
            <a:picLocks noChangeAspect="1" noChangeArrowheads="1"/>
          </p:cNvPicPr>
          <p:nvPr/>
        </p:nvPicPr>
        <p:blipFill>
          <a:blip r:embed="rId6">
            <a:lum bright="-48000" contrast="48000"/>
            <a:extLst>
              <a:ext uri="{28A0092B-C50C-407E-A947-70E740481C1C}">
                <a14:useLocalDpi xmlns:a14="http://schemas.microsoft.com/office/drawing/2010/main" val="0"/>
              </a:ext>
            </a:extLst>
          </a:blip>
          <a:srcRect/>
          <a:stretch>
            <a:fillRect/>
          </a:stretch>
        </p:blipFill>
        <p:spPr bwMode="auto">
          <a:xfrm>
            <a:off x="1476375" y="762000"/>
            <a:ext cx="41719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1059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6997700" y="152400"/>
          <a:ext cx="368300" cy="406400"/>
        </p:xfrm>
        <a:graphic>
          <a:graphicData uri="http://schemas.openxmlformats.org/presentationml/2006/ole">
            <mc:AlternateContent xmlns:mc="http://schemas.openxmlformats.org/markup-compatibility/2006">
              <mc:Choice xmlns:v="urn:schemas-microsoft-com:vml" Requires="v">
                <p:oleObj name="Equation" r:id="rId2" imgW="368300" imgH="406400" progId="Equation.3">
                  <p:embed/>
                </p:oleObj>
              </mc:Choice>
              <mc:Fallback>
                <p:oleObj name="Equation" r:id="rId2" imgW="368300" imgH="406400" progId="Equation.3">
                  <p:embed/>
                  <p:pic>
                    <p:nvPicPr>
                      <p:cNvPr id="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7700" y="152400"/>
                        <a:ext cx="368300" cy="406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5"/>
          <p:cNvSpPr txBox="1">
            <a:spLocks noChangeArrowheads="1"/>
          </p:cNvSpPr>
          <p:nvPr/>
        </p:nvSpPr>
        <p:spPr bwMode="auto">
          <a:xfrm>
            <a:off x="6522530" y="1828800"/>
            <a:ext cx="517315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b="0" dirty="0">
                <a:cs typeface="Times New Roman" panose="02020603050405020304" pitchFamily="18" charset="0"/>
              </a:rPr>
              <a:t>The electron density calculated by forming the square of the </a:t>
            </a:r>
            <a:r>
              <a:rPr kumimoji="0" lang="en-GB" altLang="en-US" b="0" dirty="0" err="1">
                <a:cs typeface="Times New Roman" panose="02020603050405020304" pitchFamily="18" charset="0"/>
              </a:rPr>
              <a:t>wavefunction</a:t>
            </a:r>
            <a:r>
              <a:rPr kumimoji="0" lang="en-GB" altLang="en-US" b="0" dirty="0">
                <a:cs typeface="Times New Roman" panose="02020603050405020304" pitchFamily="18" charset="0"/>
              </a:rPr>
              <a:t>. </a:t>
            </a:r>
          </a:p>
          <a:p>
            <a:pPr fontAlgn="base">
              <a:spcBef>
                <a:spcPct val="0"/>
              </a:spcBef>
              <a:spcAft>
                <a:spcPct val="0"/>
              </a:spcAft>
            </a:pPr>
            <a:r>
              <a:rPr kumimoji="0" lang="en-GB" altLang="en-US" b="0" dirty="0">
                <a:cs typeface="Times New Roman" panose="02020603050405020304" pitchFamily="18" charset="0"/>
              </a:rPr>
              <a:t>Note the accumulation of electron density in the internuclear region.</a:t>
            </a:r>
            <a:endParaRPr kumimoji="0" lang="en-US" altLang="en-US" b="0" dirty="0">
              <a:cs typeface="Times New Roman" panose="02020603050405020304" pitchFamily="18" charset="0"/>
            </a:endParaRPr>
          </a:p>
        </p:txBody>
      </p:sp>
      <p:graphicFrame>
        <p:nvGraphicFramePr>
          <p:cNvPr id="5" name="Object 8"/>
          <p:cNvGraphicFramePr>
            <a:graphicFrameLocks noChangeAspect="1"/>
          </p:cNvGraphicFramePr>
          <p:nvPr/>
        </p:nvGraphicFramePr>
        <p:xfrm>
          <a:off x="3059145" y="5180013"/>
          <a:ext cx="6049962" cy="819150"/>
        </p:xfrm>
        <a:graphic>
          <a:graphicData uri="http://schemas.openxmlformats.org/presentationml/2006/ole">
            <mc:AlternateContent xmlns:mc="http://schemas.openxmlformats.org/markup-compatibility/2006">
              <mc:Choice xmlns:v="urn:schemas-microsoft-com:vml" Requires="v">
                <p:oleObj name="公式" r:id="rId4" imgW="3377880" imgH="457200" progId="Equation.3">
                  <p:embed/>
                </p:oleObj>
              </mc:Choice>
              <mc:Fallback>
                <p:oleObj name="公式" r:id="rId4" imgW="3377880" imgH="457200" progId="Equation.3">
                  <p:embed/>
                  <p:pic>
                    <p:nvPicPr>
                      <p:cNvPr id="5" name="Object 8"/>
                      <p:cNvPicPr>
                        <a:picLocks noChangeAspect="1" noChangeArrowheads="1"/>
                      </p:cNvPicPr>
                      <p:nvPr/>
                    </p:nvPicPr>
                    <p:blipFill>
                      <a:blip r:embed="rId5"/>
                      <a:srcRect/>
                      <a:stretch>
                        <a:fillRect/>
                      </a:stretch>
                    </p:blipFill>
                    <p:spPr bwMode="auto">
                      <a:xfrm>
                        <a:off x="3059145" y="5180013"/>
                        <a:ext cx="6049962" cy="819150"/>
                      </a:xfrm>
                      <a:prstGeom prst="rect">
                        <a:avLst/>
                      </a:prstGeom>
                      <a:solidFill>
                        <a:srgbClr val="FF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Picture 9"/>
          <p:cNvPicPr>
            <a:picLocks noChangeAspect="1" noChangeArrowheads="1"/>
          </p:cNvPicPr>
          <p:nvPr/>
        </p:nvPicPr>
        <p:blipFill>
          <a:blip r:embed="rId6">
            <a:lum bright="-36000" contrast="48000"/>
            <a:extLst>
              <a:ext uri="{28A0092B-C50C-407E-A947-70E740481C1C}">
                <a14:useLocalDpi xmlns:a14="http://schemas.microsoft.com/office/drawing/2010/main" val="0"/>
              </a:ext>
            </a:extLst>
          </a:blip>
          <a:srcRect/>
          <a:stretch>
            <a:fillRect/>
          </a:stretch>
        </p:blipFill>
        <p:spPr bwMode="auto">
          <a:xfrm>
            <a:off x="1524000" y="1143000"/>
            <a:ext cx="4648200"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7"/>
          <p:cNvSpPr>
            <a:spLocks noChangeShapeType="1"/>
          </p:cNvSpPr>
          <p:nvPr/>
        </p:nvSpPr>
        <p:spPr bwMode="auto">
          <a:xfrm flipH="1" flipV="1">
            <a:off x="4800600" y="1828800"/>
            <a:ext cx="2197100" cy="31944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kumimoji="1" lang="zh-CN" altLang="en-US" sz="2400" b="1">
              <a:solidFill>
                <a:srgbClr val="FFFFFF"/>
              </a:solidFill>
              <a:latin typeface="Times New Roman" pitchFamily="18" charset="0"/>
              <a:ea typeface="宋体" charset="-122"/>
            </a:endParaRPr>
          </a:p>
        </p:txBody>
      </p:sp>
    </p:spTree>
    <p:extLst>
      <p:ext uri="{BB962C8B-B14F-4D97-AF65-F5344CB8AC3E}">
        <p14:creationId xmlns:p14="http://schemas.microsoft.com/office/powerpoint/2010/main" val="3884375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
          <p:cNvGraphicFramePr>
            <a:graphicFrameLocks noChangeAspect="1"/>
          </p:cNvGraphicFramePr>
          <p:nvPr/>
        </p:nvGraphicFramePr>
        <p:xfrm>
          <a:off x="6997700" y="152400"/>
          <a:ext cx="368300" cy="406400"/>
        </p:xfrm>
        <a:graphic>
          <a:graphicData uri="http://schemas.openxmlformats.org/presentationml/2006/ole">
            <mc:AlternateContent xmlns:mc="http://schemas.openxmlformats.org/markup-compatibility/2006">
              <mc:Choice xmlns:v="urn:schemas-microsoft-com:vml" Requires="v">
                <p:oleObj name="Equation" r:id="rId2" imgW="368300" imgH="406400" progId="Equation.3">
                  <p:embed/>
                </p:oleObj>
              </mc:Choice>
              <mc:Fallback>
                <p:oleObj name="Equation" r:id="rId2" imgW="368300" imgH="406400" progId="Equation.3">
                  <p:embed/>
                  <p:pic>
                    <p:nvPicPr>
                      <p:cNvPr id="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7700" y="152400"/>
                        <a:ext cx="368300" cy="406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5"/>
          <p:cNvSpPr txBox="1">
            <a:spLocks noChangeArrowheads="1"/>
          </p:cNvSpPr>
          <p:nvPr/>
        </p:nvSpPr>
        <p:spPr bwMode="auto">
          <a:xfrm>
            <a:off x="5486400" y="2113340"/>
            <a:ext cx="618744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b="0" dirty="0">
                <a:cs typeface="Times New Roman" panose="02020603050405020304" pitchFamily="18" charset="0"/>
              </a:rPr>
              <a:t>A representation of the destructive interference that occurs when two H1</a:t>
            </a:r>
            <a:r>
              <a:rPr kumimoji="0" lang="en-GB" altLang="en-US" b="0" i="1" dirty="0">
                <a:cs typeface="Times New Roman" panose="02020603050405020304" pitchFamily="18" charset="0"/>
              </a:rPr>
              <a:t>s</a:t>
            </a:r>
            <a:r>
              <a:rPr kumimoji="0" lang="en-GB" altLang="en-US" b="0" dirty="0">
                <a:cs typeface="Times New Roman" panose="02020603050405020304" pitchFamily="18" charset="0"/>
              </a:rPr>
              <a:t> orbitals overlap and form an antibonding </a:t>
            </a:r>
            <a:r>
              <a:rPr kumimoji="0" lang="en-GB" altLang="en-US" b="0" i="1" dirty="0">
                <a:cs typeface="Times New Roman" panose="02020603050405020304" pitchFamily="18" charset="0"/>
                <a:sym typeface="Symbol" pitchFamily="18" charset="2"/>
              </a:rPr>
              <a:t></a:t>
            </a:r>
            <a:r>
              <a:rPr kumimoji="0" lang="en-GB" altLang="en-US" b="0" dirty="0">
                <a:cs typeface="Times New Roman" panose="02020603050405020304" pitchFamily="18" charset="0"/>
              </a:rPr>
              <a:t>* orbital. </a:t>
            </a:r>
          </a:p>
        </p:txBody>
      </p:sp>
      <p:graphicFrame>
        <p:nvGraphicFramePr>
          <p:cNvPr id="5" name="Object 7"/>
          <p:cNvGraphicFramePr>
            <a:graphicFrameLocks noChangeAspect="1"/>
          </p:cNvGraphicFramePr>
          <p:nvPr/>
        </p:nvGraphicFramePr>
        <p:xfrm>
          <a:off x="6440488" y="4324350"/>
          <a:ext cx="3071812" cy="895350"/>
        </p:xfrm>
        <a:graphic>
          <a:graphicData uri="http://schemas.openxmlformats.org/presentationml/2006/ole">
            <mc:AlternateContent xmlns:mc="http://schemas.openxmlformats.org/markup-compatibility/2006">
              <mc:Choice xmlns:v="urn:schemas-microsoft-com:vml" Requires="v">
                <p:oleObj name="Equation" r:id="rId4" imgW="1523880" imgH="444240" progId="Equation.DSMT4">
                  <p:embed/>
                </p:oleObj>
              </mc:Choice>
              <mc:Fallback>
                <p:oleObj name="Equation" r:id="rId4" imgW="1523880" imgH="444240" progId="Equation.DSMT4">
                  <p:embed/>
                  <p:pic>
                    <p:nvPicPr>
                      <p:cNvPr id="5" name="Object 7"/>
                      <p:cNvPicPr>
                        <a:picLocks noChangeAspect="1" noChangeArrowheads="1"/>
                      </p:cNvPicPr>
                      <p:nvPr/>
                    </p:nvPicPr>
                    <p:blipFill>
                      <a:blip r:embed="rId5"/>
                      <a:srcRect/>
                      <a:stretch>
                        <a:fillRect/>
                      </a:stretch>
                    </p:blipFill>
                    <p:spPr bwMode="auto">
                      <a:xfrm>
                        <a:off x="6440488" y="4324350"/>
                        <a:ext cx="3071812" cy="895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9"/>
          <p:cNvSpPr>
            <a:spLocks noChangeArrowheads="1"/>
          </p:cNvSpPr>
          <p:nvPr/>
        </p:nvSpPr>
        <p:spPr bwMode="auto">
          <a:xfrm>
            <a:off x="2595880" y="5708940"/>
            <a:ext cx="762000" cy="5334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7" name="Oval 11"/>
          <p:cNvSpPr>
            <a:spLocks noChangeArrowheads="1"/>
          </p:cNvSpPr>
          <p:nvPr/>
        </p:nvSpPr>
        <p:spPr bwMode="auto">
          <a:xfrm>
            <a:off x="3586480" y="5708940"/>
            <a:ext cx="762000" cy="533400"/>
          </a:xfrm>
          <a:prstGeom prst="ellipse">
            <a:avLst/>
          </a:prstGeom>
          <a:solidFill>
            <a:srgbClr val="FF9900"/>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8" name="Oval 12"/>
          <p:cNvSpPr>
            <a:spLocks noChangeArrowheads="1"/>
          </p:cNvSpPr>
          <p:nvPr/>
        </p:nvSpPr>
        <p:spPr bwMode="auto">
          <a:xfrm>
            <a:off x="3129280" y="5937540"/>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9" name="Oval 13"/>
          <p:cNvSpPr>
            <a:spLocks noChangeArrowheads="1"/>
          </p:cNvSpPr>
          <p:nvPr/>
        </p:nvSpPr>
        <p:spPr bwMode="auto">
          <a:xfrm>
            <a:off x="3738880" y="5937540"/>
            <a:ext cx="76200" cy="76200"/>
          </a:xfrm>
          <a:prstGeom prst="ellipse">
            <a:avLst/>
          </a:prstGeom>
          <a:solidFill>
            <a:srgbClr val="FFFFFF"/>
          </a:solidFill>
          <a:ln w="9525">
            <a:solidFill>
              <a:srgbClr val="FFFFFF"/>
            </a:solidFill>
            <a:round/>
            <a:headEnd/>
            <a:tailEnd/>
          </a:ln>
        </p:spPr>
        <p:txBody>
          <a:bodyPr wrap="none" anchor="ctr"/>
          <a:lstStyle/>
          <a:p>
            <a:pPr defTabSz="914400" fontAlgn="base">
              <a:spcBef>
                <a:spcPct val="0"/>
              </a:spcBef>
              <a:spcAft>
                <a:spcPct val="0"/>
              </a:spcAft>
              <a:defRPr/>
            </a:pPr>
            <a:endParaRPr kumimoji="1" lang="zh-CN" altLang="en-US" sz="2400" b="1" kern="0">
              <a:latin typeface="Times New Roman" pitchFamily="18" charset="0"/>
              <a:ea typeface="宋体" charset="-122"/>
            </a:endParaRPr>
          </a:p>
        </p:txBody>
      </p:sp>
      <p:sp>
        <p:nvSpPr>
          <p:cNvPr id="10" name="Text Box 14"/>
          <p:cNvSpPr txBox="1">
            <a:spLocks noChangeArrowheads="1"/>
          </p:cNvSpPr>
          <p:nvPr/>
        </p:nvSpPr>
        <p:spPr bwMode="auto">
          <a:xfrm>
            <a:off x="2748280" y="586134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a:t>+</a:t>
            </a:r>
          </a:p>
        </p:txBody>
      </p:sp>
      <p:sp>
        <p:nvSpPr>
          <p:cNvPr id="11" name="Text Box 15"/>
          <p:cNvSpPr txBox="1">
            <a:spLocks noChangeArrowheads="1"/>
          </p:cNvSpPr>
          <p:nvPr/>
        </p:nvSpPr>
        <p:spPr bwMode="auto">
          <a:xfrm>
            <a:off x="3891280" y="586134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a:t>-</a:t>
            </a:r>
          </a:p>
        </p:txBody>
      </p:sp>
      <p:sp>
        <p:nvSpPr>
          <p:cNvPr id="12" name="Text Box 16"/>
          <p:cNvSpPr txBox="1">
            <a:spLocks noChangeArrowheads="1"/>
          </p:cNvSpPr>
          <p:nvPr/>
        </p:nvSpPr>
        <p:spPr bwMode="auto">
          <a:xfrm>
            <a:off x="5415280" y="578514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defTabSz="914400" eaLnBrk="1" fontAlgn="base" hangingPunct="1">
              <a:spcBef>
                <a:spcPct val="50000"/>
              </a:spcBef>
              <a:spcAft>
                <a:spcPct val="0"/>
              </a:spcAft>
              <a:defRPr/>
            </a:pPr>
            <a:r>
              <a:rPr lang="en-US" altLang="zh-CN" b="0" kern="0">
                <a:sym typeface="Symbol" pitchFamily="18" charset="2"/>
              </a:rPr>
              <a:t></a:t>
            </a:r>
            <a:r>
              <a:rPr lang="en-US" altLang="zh-CN" b="0" kern="0" baseline="-25000"/>
              <a:t>s</a:t>
            </a:r>
            <a:r>
              <a:rPr lang="en-US" altLang="zh-CN" b="0" kern="0" baseline="30000"/>
              <a:t>*</a:t>
            </a:r>
          </a:p>
        </p:txBody>
      </p:sp>
      <p:pic>
        <p:nvPicPr>
          <p:cNvPr id="13" name="Picture 17"/>
          <p:cNvPicPr>
            <a:picLocks noChangeAspect="1" noChangeArrowheads="1"/>
          </p:cNvPicPr>
          <p:nvPr/>
        </p:nvPicPr>
        <p:blipFill>
          <a:blip r:embed="rId6">
            <a:lum bright="-42000" contrast="48000"/>
            <a:extLst>
              <a:ext uri="{28A0092B-C50C-407E-A947-70E740481C1C}">
                <a14:useLocalDpi xmlns:a14="http://schemas.microsoft.com/office/drawing/2010/main" val="0"/>
              </a:ext>
            </a:extLst>
          </a:blip>
          <a:srcRect/>
          <a:stretch>
            <a:fillRect/>
          </a:stretch>
        </p:blipFill>
        <p:spPr bwMode="auto">
          <a:xfrm>
            <a:off x="1624806" y="695960"/>
            <a:ext cx="3608388"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0040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6997700" y="152400"/>
          <a:ext cx="368300" cy="406400"/>
        </p:xfrm>
        <a:graphic>
          <a:graphicData uri="http://schemas.openxmlformats.org/presentationml/2006/ole">
            <mc:AlternateContent xmlns:mc="http://schemas.openxmlformats.org/markup-compatibility/2006">
              <mc:Choice xmlns:v="urn:schemas-microsoft-com:vml" Requires="v">
                <p:oleObj name="Equation" r:id="rId2" imgW="368300" imgH="406400" progId="Equation.3">
                  <p:embed/>
                </p:oleObj>
              </mc:Choice>
              <mc:Fallback>
                <p:oleObj name="Equation" r:id="rId2" imgW="368300" imgH="406400" progId="Equation.3">
                  <p:embed/>
                  <p:pic>
                    <p:nvPicPr>
                      <p:cNvPr id="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7700" y="152400"/>
                        <a:ext cx="368300" cy="406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5"/>
          <p:cNvSpPr txBox="1">
            <a:spLocks noChangeArrowheads="1"/>
          </p:cNvSpPr>
          <p:nvPr/>
        </p:nvSpPr>
        <p:spPr bwMode="auto">
          <a:xfrm>
            <a:off x="5704204" y="1859340"/>
            <a:ext cx="586803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fontAlgn="base">
              <a:spcBef>
                <a:spcPct val="0"/>
              </a:spcBef>
              <a:spcAft>
                <a:spcPct val="0"/>
              </a:spcAft>
            </a:pPr>
            <a:r>
              <a:rPr kumimoji="0" lang="en-GB" altLang="en-US" b="0" dirty="0">
                <a:cs typeface="Times New Roman" panose="02020603050405020304" pitchFamily="18" charset="0"/>
              </a:rPr>
              <a:t>The electron density calculated by forming the square of the wavefunction. Note the elimination of electron density from the </a:t>
            </a:r>
            <a:r>
              <a:rPr kumimoji="0" lang="en-GB" altLang="en-US" b="0" dirty="0" err="1">
                <a:cs typeface="Times New Roman" panose="02020603050405020304" pitchFamily="18" charset="0"/>
              </a:rPr>
              <a:t>internuclear</a:t>
            </a:r>
            <a:r>
              <a:rPr kumimoji="0" lang="en-GB" altLang="en-US" b="0" dirty="0">
                <a:cs typeface="Times New Roman" panose="02020603050405020304" pitchFamily="18" charset="0"/>
              </a:rPr>
              <a:t> region.</a:t>
            </a:r>
            <a:endParaRPr kumimoji="0" lang="en-US" altLang="en-US" b="0" dirty="0">
              <a:cs typeface="Times New Roman" panose="02020603050405020304" pitchFamily="18" charset="0"/>
            </a:endParaRPr>
          </a:p>
        </p:txBody>
      </p:sp>
      <p:graphicFrame>
        <p:nvGraphicFramePr>
          <p:cNvPr id="5" name="Object 7"/>
          <p:cNvGraphicFramePr>
            <a:graphicFrameLocks noChangeAspect="1"/>
          </p:cNvGraphicFramePr>
          <p:nvPr/>
        </p:nvGraphicFramePr>
        <p:xfrm>
          <a:off x="3733051" y="5314507"/>
          <a:ext cx="6026150" cy="819150"/>
        </p:xfrm>
        <a:graphic>
          <a:graphicData uri="http://schemas.openxmlformats.org/presentationml/2006/ole">
            <mc:AlternateContent xmlns:mc="http://schemas.openxmlformats.org/markup-compatibility/2006">
              <mc:Choice xmlns:v="urn:schemas-microsoft-com:vml" Requires="v">
                <p:oleObj name="公式" r:id="rId4" imgW="3365280" imgH="457200" progId="Equation.3">
                  <p:embed/>
                </p:oleObj>
              </mc:Choice>
              <mc:Fallback>
                <p:oleObj name="公式" r:id="rId4" imgW="3365280" imgH="457200" progId="Equation.3">
                  <p:embed/>
                  <p:pic>
                    <p:nvPicPr>
                      <p:cNvPr id="5" name="Object 7"/>
                      <p:cNvPicPr>
                        <a:picLocks noChangeAspect="1" noChangeArrowheads="1"/>
                      </p:cNvPicPr>
                      <p:nvPr/>
                    </p:nvPicPr>
                    <p:blipFill>
                      <a:blip r:embed="rId5"/>
                      <a:srcRect/>
                      <a:stretch>
                        <a:fillRect/>
                      </a:stretch>
                    </p:blipFill>
                    <p:spPr bwMode="auto">
                      <a:xfrm>
                        <a:off x="3733051" y="5314507"/>
                        <a:ext cx="6026150" cy="819150"/>
                      </a:xfrm>
                      <a:prstGeom prst="rect">
                        <a:avLst/>
                      </a:prstGeom>
                      <a:solidFill>
                        <a:srgbClr val="FF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Picture 8"/>
          <p:cNvPicPr>
            <a:picLocks noChangeAspect="1" noChangeArrowheads="1"/>
          </p:cNvPicPr>
          <p:nvPr/>
        </p:nvPicPr>
        <p:blipFill>
          <a:blip r:embed="rId6">
            <a:lum bright="-30000" contrast="42000"/>
            <a:extLst>
              <a:ext uri="{28A0092B-C50C-407E-A947-70E740481C1C}">
                <a14:useLocalDpi xmlns:a14="http://schemas.microsoft.com/office/drawing/2010/main" val="0"/>
              </a:ext>
            </a:extLst>
          </a:blip>
          <a:srcRect/>
          <a:stretch>
            <a:fillRect/>
          </a:stretch>
        </p:blipFill>
        <p:spPr bwMode="auto">
          <a:xfrm>
            <a:off x="1647825" y="894907"/>
            <a:ext cx="39243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2131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58938" y="211388"/>
            <a:ext cx="5902513"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Molecular orbitals of lithium hydride</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317241" y="1152531"/>
            <a:ext cx="11756572" cy="830997"/>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Often we need to deal with </a:t>
            </a:r>
            <a:r>
              <a:rPr lang="en-US" altLang="zh-CN" sz="2400" dirty="0" err="1">
                <a:latin typeface="Times New Roman" panose="02020603050405020304" pitchFamily="18" charset="0"/>
                <a:cs typeface="Times New Roman" panose="02020603050405020304" pitchFamily="18" charset="0"/>
              </a:rPr>
              <a:t>heteronuclear</a:t>
            </a:r>
            <a:r>
              <a:rPr lang="en-US" altLang="zh-CN" sz="2400" dirty="0">
                <a:latin typeface="Times New Roman" panose="02020603050405020304" pitchFamily="18" charset="0"/>
                <a:cs typeface="Times New Roman" panose="02020603050405020304" pitchFamily="18" charset="0"/>
              </a:rPr>
              <a:t> molecules, of which </a:t>
            </a:r>
            <a:r>
              <a:rPr lang="en-US" altLang="zh-CN" sz="2400" dirty="0" err="1">
                <a:latin typeface="Times New Roman" panose="02020603050405020304" pitchFamily="18" charset="0"/>
                <a:cs typeface="Times New Roman" panose="02020603050405020304" pitchFamily="18" charset="0"/>
              </a:rPr>
              <a:t>LiH</a:t>
            </a:r>
            <a:r>
              <a:rPr lang="en-US" altLang="zh-CN" sz="2400" dirty="0">
                <a:latin typeface="Times New Roman" panose="02020603050405020304" pitchFamily="18" charset="0"/>
                <a:cs typeface="Times New Roman" panose="02020603050405020304" pitchFamily="18" charset="0"/>
              </a:rPr>
              <a:t> is the simplest example. Here the two valence orbitals, Li </a:t>
            </a:r>
            <a:r>
              <a:rPr lang="en-US" altLang="zh-CN" sz="2400" dirty="0">
                <a:solidFill>
                  <a:srgbClr val="2926BF"/>
                </a:solidFill>
                <a:latin typeface="Times New Roman" panose="02020603050405020304" pitchFamily="18" charset="0"/>
                <a:cs typeface="Times New Roman" panose="02020603050405020304" pitchFamily="18" charset="0"/>
              </a:rPr>
              <a:t>2</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H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have different energies</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7866006F-7DE2-41ED-8532-FDA682123E4F}"/>
              </a:ext>
            </a:extLst>
          </p:cNvPr>
          <p:cNvGraphicFramePr>
            <a:graphicFrameLocks noChangeAspect="1"/>
          </p:cNvGraphicFramePr>
          <p:nvPr/>
        </p:nvGraphicFramePr>
        <p:xfrm>
          <a:off x="3695880" y="2173646"/>
          <a:ext cx="4800240" cy="558720"/>
        </p:xfrm>
        <a:graphic>
          <a:graphicData uri="http://schemas.openxmlformats.org/presentationml/2006/ole">
            <mc:AlternateContent xmlns:mc="http://schemas.openxmlformats.org/markup-compatibility/2006">
              <mc:Choice xmlns:v="urn:schemas-microsoft-com:vml" Requires="v">
                <p:oleObj name="Equation" r:id="rId2" imgW="2400120" imgH="279360" progId="Equation.DSMT4">
                  <p:embed/>
                </p:oleObj>
              </mc:Choice>
              <mc:Fallback>
                <p:oleObj name="Equation" r:id="rId2" imgW="2400120" imgH="279360" progId="Equation.DSMT4">
                  <p:embed/>
                  <p:pic>
                    <p:nvPicPr>
                      <p:cNvPr id="4" name="对象 3">
                        <a:extLst>
                          <a:ext uri="{FF2B5EF4-FFF2-40B4-BE49-F238E27FC236}">
                            <a16:creationId xmlns:a16="http://schemas.microsoft.com/office/drawing/2014/main" id="{7866006F-7DE2-41ED-8532-FDA682123E4F}"/>
                          </a:ext>
                        </a:extLst>
                      </p:cNvPr>
                      <p:cNvPicPr/>
                      <p:nvPr/>
                    </p:nvPicPr>
                    <p:blipFill>
                      <a:blip r:embed="rId3"/>
                      <a:stretch>
                        <a:fillRect/>
                      </a:stretch>
                    </p:blipFill>
                    <p:spPr>
                      <a:xfrm>
                        <a:off x="3695880" y="2173646"/>
                        <a:ext cx="4800240" cy="558720"/>
                      </a:xfrm>
                      <a:prstGeom prst="rect">
                        <a:avLst/>
                      </a:prstGeom>
                    </p:spPr>
                  </p:pic>
                </p:oleObj>
              </mc:Fallback>
            </mc:AlternateContent>
          </a:graphicData>
        </a:graphic>
      </p:graphicFrame>
      <p:sp>
        <p:nvSpPr>
          <p:cNvPr id="5" name="矩形 4"/>
          <p:cNvSpPr/>
          <p:nvPr/>
        </p:nvSpPr>
        <p:spPr>
          <a:xfrm>
            <a:off x="317241" y="2960442"/>
            <a:ext cx="3897221" cy="461665"/>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The secular equations become</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6" name="对象 5">
            <a:extLst>
              <a:ext uri="{FF2B5EF4-FFF2-40B4-BE49-F238E27FC236}">
                <a16:creationId xmlns:a16="http://schemas.microsoft.com/office/drawing/2014/main" id="{85DFBC5B-07FF-48E7-A57E-0F3779272CDE}"/>
              </a:ext>
            </a:extLst>
          </p:cNvPr>
          <p:cNvGraphicFramePr>
            <a:graphicFrameLocks noChangeAspect="1"/>
          </p:cNvGraphicFramePr>
          <p:nvPr/>
        </p:nvGraphicFramePr>
        <p:xfrm>
          <a:off x="4900247" y="3422107"/>
          <a:ext cx="2590560" cy="1167840"/>
        </p:xfrm>
        <a:graphic>
          <a:graphicData uri="http://schemas.openxmlformats.org/presentationml/2006/ole">
            <mc:AlternateContent xmlns:mc="http://schemas.openxmlformats.org/markup-compatibility/2006">
              <mc:Choice xmlns:v="urn:schemas-microsoft-com:vml" Requires="v">
                <p:oleObj name="Equation" r:id="rId4" imgW="1295280" imgH="583920" progId="Equation.DSMT4">
                  <p:embed/>
                </p:oleObj>
              </mc:Choice>
              <mc:Fallback>
                <p:oleObj name="Equation" r:id="rId4" imgW="1295280" imgH="583920" progId="Equation.DSMT4">
                  <p:embed/>
                  <p:pic>
                    <p:nvPicPr>
                      <p:cNvPr id="6" name="对象 5">
                        <a:extLst>
                          <a:ext uri="{FF2B5EF4-FFF2-40B4-BE49-F238E27FC236}">
                            <a16:creationId xmlns:a16="http://schemas.microsoft.com/office/drawing/2014/main" id="{85DFBC5B-07FF-48E7-A57E-0F3779272CDE}"/>
                          </a:ext>
                        </a:extLst>
                      </p:cNvPr>
                      <p:cNvPicPr/>
                      <p:nvPr/>
                    </p:nvPicPr>
                    <p:blipFill>
                      <a:blip r:embed="rId5"/>
                      <a:stretch>
                        <a:fillRect/>
                      </a:stretch>
                    </p:blipFill>
                    <p:spPr>
                      <a:xfrm>
                        <a:off x="4900247" y="3422107"/>
                        <a:ext cx="2590560" cy="116784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9294B38-A7C0-404F-B7FD-939A35BF6708}"/>
              </a:ext>
            </a:extLst>
          </p:cNvPr>
          <p:cNvGraphicFramePr>
            <a:graphicFrameLocks noChangeAspect="1"/>
          </p:cNvGraphicFramePr>
          <p:nvPr/>
        </p:nvGraphicFramePr>
        <p:xfrm>
          <a:off x="4661313" y="4818454"/>
          <a:ext cx="3301920" cy="964800"/>
        </p:xfrm>
        <a:graphic>
          <a:graphicData uri="http://schemas.openxmlformats.org/presentationml/2006/ole">
            <mc:AlternateContent xmlns:mc="http://schemas.openxmlformats.org/markup-compatibility/2006">
              <mc:Choice xmlns:v="urn:schemas-microsoft-com:vml" Requires="v">
                <p:oleObj name="Equation" r:id="rId6" imgW="1650960" imgH="482400" progId="Equation.DSMT4">
                  <p:embed/>
                </p:oleObj>
              </mc:Choice>
              <mc:Fallback>
                <p:oleObj name="Equation" r:id="rId6" imgW="1650960" imgH="482400" progId="Equation.DSMT4">
                  <p:embed/>
                  <p:pic>
                    <p:nvPicPr>
                      <p:cNvPr id="7" name="对象 6">
                        <a:extLst>
                          <a:ext uri="{FF2B5EF4-FFF2-40B4-BE49-F238E27FC236}">
                            <a16:creationId xmlns:a16="http://schemas.microsoft.com/office/drawing/2014/main" id="{59294B38-A7C0-404F-B7FD-939A35BF6708}"/>
                          </a:ext>
                        </a:extLst>
                      </p:cNvPr>
                      <p:cNvPicPr/>
                      <p:nvPr/>
                    </p:nvPicPr>
                    <p:blipFill>
                      <a:blip r:embed="rId7"/>
                      <a:stretch>
                        <a:fillRect/>
                      </a:stretch>
                    </p:blipFill>
                    <p:spPr>
                      <a:xfrm>
                        <a:off x="4661313" y="4818454"/>
                        <a:ext cx="3301920" cy="964800"/>
                      </a:xfrm>
                      <a:prstGeom prst="rect">
                        <a:avLst/>
                      </a:prstGeom>
                    </p:spPr>
                  </p:pic>
                </p:oleObj>
              </mc:Fallback>
            </mc:AlternateContent>
          </a:graphicData>
        </a:graphic>
      </p:graphicFrame>
      <p:sp>
        <p:nvSpPr>
          <p:cNvPr id="8"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0150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84F913F0-1561-4A8B-9495-355A9616BD59}"/>
              </a:ext>
            </a:extLst>
          </p:cNvPr>
          <p:cNvGraphicFramePr>
            <a:graphicFrameLocks noChangeAspect="1"/>
          </p:cNvGraphicFramePr>
          <p:nvPr/>
        </p:nvGraphicFramePr>
        <p:xfrm>
          <a:off x="4216629" y="407174"/>
          <a:ext cx="3301920" cy="964800"/>
        </p:xfrm>
        <a:graphic>
          <a:graphicData uri="http://schemas.openxmlformats.org/presentationml/2006/ole">
            <mc:AlternateContent xmlns:mc="http://schemas.openxmlformats.org/markup-compatibility/2006">
              <mc:Choice xmlns:v="urn:schemas-microsoft-com:vml" Requires="v">
                <p:oleObj name="Equation" r:id="rId2" imgW="1650960" imgH="482400" progId="Equation.DSMT4">
                  <p:embed/>
                </p:oleObj>
              </mc:Choice>
              <mc:Fallback>
                <p:oleObj name="Equation" r:id="rId2" imgW="1650960" imgH="482400" progId="Equation.DSMT4">
                  <p:embed/>
                  <p:pic>
                    <p:nvPicPr>
                      <p:cNvPr id="2" name="对象 1">
                        <a:extLst>
                          <a:ext uri="{FF2B5EF4-FFF2-40B4-BE49-F238E27FC236}">
                            <a16:creationId xmlns:a16="http://schemas.microsoft.com/office/drawing/2014/main" id="{84F913F0-1561-4A8B-9495-355A9616BD59}"/>
                          </a:ext>
                        </a:extLst>
                      </p:cNvPr>
                      <p:cNvPicPr/>
                      <p:nvPr/>
                    </p:nvPicPr>
                    <p:blipFill>
                      <a:blip r:embed="rId3"/>
                      <a:stretch>
                        <a:fillRect/>
                      </a:stretch>
                    </p:blipFill>
                    <p:spPr>
                      <a:xfrm>
                        <a:off x="4216629" y="407174"/>
                        <a:ext cx="3301920" cy="9648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A7CC492B-0664-4D47-BBFF-43A6669C2792}"/>
              </a:ext>
            </a:extLst>
          </p:cNvPr>
          <p:cNvGraphicFramePr>
            <a:graphicFrameLocks noChangeAspect="1"/>
          </p:cNvGraphicFramePr>
          <p:nvPr/>
        </p:nvGraphicFramePr>
        <p:xfrm>
          <a:off x="4216629" y="1730269"/>
          <a:ext cx="3987360" cy="2108160"/>
        </p:xfrm>
        <a:graphic>
          <a:graphicData uri="http://schemas.openxmlformats.org/presentationml/2006/ole">
            <mc:AlternateContent xmlns:mc="http://schemas.openxmlformats.org/markup-compatibility/2006">
              <mc:Choice xmlns:v="urn:schemas-microsoft-com:vml" Requires="v">
                <p:oleObj name="Equation" r:id="rId4" imgW="1993680" imgH="1054080" progId="Equation.DSMT4">
                  <p:embed/>
                </p:oleObj>
              </mc:Choice>
              <mc:Fallback>
                <p:oleObj name="Equation" r:id="rId4" imgW="1993680" imgH="1054080" progId="Equation.DSMT4">
                  <p:embed/>
                  <p:pic>
                    <p:nvPicPr>
                      <p:cNvPr id="3" name="对象 2">
                        <a:extLst>
                          <a:ext uri="{FF2B5EF4-FFF2-40B4-BE49-F238E27FC236}">
                            <a16:creationId xmlns:a16="http://schemas.microsoft.com/office/drawing/2014/main" id="{A7CC492B-0664-4D47-BBFF-43A6669C2792}"/>
                          </a:ext>
                        </a:extLst>
                      </p:cNvPr>
                      <p:cNvPicPr/>
                      <p:nvPr/>
                    </p:nvPicPr>
                    <p:blipFill>
                      <a:blip r:embed="rId5"/>
                      <a:stretch>
                        <a:fillRect/>
                      </a:stretch>
                    </p:blipFill>
                    <p:spPr>
                      <a:xfrm>
                        <a:off x="4216629" y="1730269"/>
                        <a:ext cx="3987360" cy="210816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E0601153-5219-4BE8-9DC6-1B47B4847F61}"/>
              </a:ext>
            </a:extLst>
          </p:cNvPr>
          <p:cNvGraphicFramePr>
            <a:graphicFrameLocks noChangeAspect="1"/>
          </p:cNvGraphicFramePr>
          <p:nvPr/>
        </p:nvGraphicFramePr>
        <p:xfrm>
          <a:off x="3820629" y="3981390"/>
          <a:ext cx="4749120" cy="786960"/>
        </p:xfrm>
        <a:graphic>
          <a:graphicData uri="http://schemas.openxmlformats.org/presentationml/2006/ole">
            <mc:AlternateContent xmlns:mc="http://schemas.openxmlformats.org/markup-compatibility/2006">
              <mc:Choice xmlns:v="urn:schemas-microsoft-com:vml" Requires="v">
                <p:oleObj name="Equation" r:id="rId6" imgW="2374560" imgH="393480" progId="Equation.DSMT4">
                  <p:embed/>
                </p:oleObj>
              </mc:Choice>
              <mc:Fallback>
                <p:oleObj name="Equation" r:id="rId6" imgW="2374560" imgH="393480" progId="Equation.DSMT4">
                  <p:embed/>
                  <p:pic>
                    <p:nvPicPr>
                      <p:cNvPr id="4" name="对象 3">
                        <a:extLst>
                          <a:ext uri="{FF2B5EF4-FFF2-40B4-BE49-F238E27FC236}">
                            <a16:creationId xmlns:a16="http://schemas.microsoft.com/office/drawing/2014/main" id="{E0601153-5219-4BE8-9DC6-1B47B4847F61}"/>
                          </a:ext>
                        </a:extLst>
                      </p:cNvPr>
                      <p:cNvPicPr/>
                      <p:nvPr/>
                    </p:nvPicPr>
                    <p:blipFill>
                      <a:blip r:embed="rId7"/>
                      <a:stretch>
                        <a:fillRect/>
                      </a:stretch>
                    </p:blipFill>
                    <p:spPr>
                      <a:xfrm>
                        <a:off x="3820629" y="3981390"/>
                        <a:ext cx="4749120" cy="786960"/>
                      </a:xfrm>
                      <a:prstGeom prst="rect">
                        <a:avLst/>
                      </a:prstGeom>
                    </p:spPr>
                  </p:pic>
                </p:oleObj>
              </mc:Fallback>
            </mc:AlternateContent>
          </a:graphicData>
        </a:graphic>
      </p:graphicFrame>
      <p:sp>
        <p:nvSpPr>
          <p:cNvPr id="5" name="矩形 4"/>
          <p:cNvSpPr/>
          <p:nvPr/>
        </p:nvSpPr>
        <p:spPr>
          <a:xfrm>
            <a:off x="258359" y="4911311"/>
            <a:ext cx="11515492" cy="830997"/>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In general, we find the orbital coefficients, </a:t>
            </a:r>
            <a:r>
              <a:rPr lang="en-US" altLang="zh-CN" sz="2400" i="1" dirty="0">
                <a:solidFill>
                  <a:srgbClr val="2926BF"/>
                </a:solidFill>
                <a:latin typeface="Times New Roman" panose="02020603050405020304" pitchFamily="18" charset="0"/>
                <a:cs typeface="Times New Roman" panose="02020603050405020304" pitchFamily="18" charset="0"/>
              </a:rPr>
              <a:t>c</a:t>
            </a:r>
            <a:r>
              <a:rPr lang="en-US" altLang="zh-CN" sz="2400" i="1" baseline="-25000" dirty="0">
                <a:solidFill>
                  <a:srgbClr val="2926BF"/>
                </a:solidFill>
                <a:latin typeface="Times New Roman" panose="02020603050405020304" pitchFamily="18" charset="0"/>
                <a:cs typeface="Times New Roman" panose="02020603050405020304" pitchFamily="18" charset="0"/>
              </a:rPr>
              <a:t>a</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err="1">
                <a:solidFill>
                  <a:srgbClr val="2926BF"/>
                </a:solidFill>
                <a:latin typeface="Times New Roman" panose="02020603050405020304" pitchFamily="18" charset="0"/>
                <a:cs typeface="Times New Roman" panose="02020603050405020304" pitchFamily="18" charset="0"/>
              </a:rPr>
              <a:t>c</a:t>
            </a:r>
            <a:r>
              <a:rPr lang="en-US" altLang="zh-CN" sz="2400" i="1" baseline="-25000" dirty="0" err="1">
                <a:solidFill>
                  <a:srgbClr val="2926BF"/>
                </a:solidFill>
                <a:latin typeface="Times New Roman" panose="02020603050405020304" pitchFamily="18" charset="0"/>
                <a:cs typeface="Times New Roman" panose="02020603050405020304" pitchFamily="18" charset="0"/>
              </a:rPr>
              <a:t>b</a:t>
            </a:r>
            <a:r>
              <a:rPr lang="zh-CN" altLang="en-US" sz="2400" dirty="0">
                <a:solidFill>
                  <a:srgbClr val="2926BF"/>
                </a:solidFill>
                <a:latin typeface="Times New Roman" panose="02020603050405020304" pitchFamily="18" charset="0"/>
                <a:ea typeface="Arial"/>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this case, by substituting the energy back into the secular equations and solving for the coefficients.</a:t>
            </a:r>
          </a:p>
        </p:txBody>
      </p:sp>
    </p:spTree>
    <p:extLst>
      <p:ext uri="{BB962C8B-B14F-4D97-AF65-F5344CB8AC3E}">
        <p14:creationId xmlns:p14="http://schemas.microsoft.com/office/powerpoint/2010/main" val="658321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431180" y="606306"/>
                <a:ext cx="10838986" cy="2054473"/>
              </a:xfrm>
              <a:prstGeom prst="rect">
                <a:avLst/>
              </a:prstGeom>
            </p:spPr>
            <p:txBody>
              <a:bodyPr wrap="square">
                <a:spAutoFit/>
              </a:bodyPr>
              <a:lstStyle/>
              <a:p>
                <a:pPr algn="just">
                  <a:lnSpc>
                    <a:spcPct val="126000"/>
                  </a:lnSpc>
                  <a:spcAft>
                    <a:spcPts val="718"/>
                  </a:spcAft>
                </a:pPr>
                <a:r>
                  <a:rPr lang="en-US" altLang="zh-CN" sz="2400" dirty="0">
                    <a:latin typeface="Times New Roman" panose="02020603050405020304" pitchFamily="18" charset="0"/>
                    <a:cs typeface="Times New Roman" panose="02020603050405020304" pitchFamily="18" charset="0"/>
                  </a:rPr>
                  <a:t>The essential features of the orbital coefficients are that if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𝑎</m:t>
                    </m:r>
                    <m:r>
                      <a:rPr lang="en-US" altLang="zh-CN" sz="2400" i="1" dirty="0">
                        <a:solidFill>
                          <a:srgbClr val="2926BF"/>
                        </a:solidFill>
                        <a:latin typeface="Cambria Math" panose="02040503050406030204" pitchFamily="18" charset="0"/>
                      </a:rPr>
                      <m:t>&gt;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𝑏</m:t>
                    </m:r>
                  </m:oMath>
                </a14:m>
                <a:r>
                  <a:rPr lang="en-US" altLang="zh-CN" sz="2400" dirty="0">
                    <a:latin typeface="Times New Roman" panose="02020603050405020304" pitchFamily="18" charset="0"/>
                    <a:ea typeface="MingLiU"/>
                    <a:cs typeface="Times New Roman" panose="02020603050405020304" pitchFamily="18" charset="0"/>
                  </a:rPr>
                  <a:t>,</a:t>
                </a:r>
                <a:endParaRPr lang="zh-CN" altLang="en-US" sz="2400" dirty="0">
                  <a:latin typeface="Times New Roman" panose="02020603050405020304" pitchFamily="18" charset="0"/>
                  <a:ea typeface="MingLiU"/>
                  <a:cs typeface="Times New Roman" panose="02020603050405020304" pitchFamily="18" charset="0"/>
                </a:endParaRPr>
              </a:p>
              <a:p>
                <a:pPr marL="801442" indent="-342900" algn="just">
                  <a:lnSpc>
                    <a:spcPct val="132000"/>
                  </a:lnSpc>
                  <a:spcAft>
                    <a:spcPts val="224"/>
                  </a:spcAft>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the bonding orbital has </a:t>
                </a:r>
                <a14:m>
                  <m:oMath xmlns:m="http://schemas.openxmlformats.org/officeDocument/2006/math">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𝑐𝑏</m:t>
                    </m:r>
                    <m:r>
                      <a:rPr lang="en-US" altLang="zh-CN" sz="2400" i="1" dirty="0">
                        <a:solidFill>
                          <a:srgbClr val="2926BF"/>
                        </a:solidFill>
                        <a:latin typeface="Cambria Math" panose="02040503050406030204" pitchFamily="18" charset="0"/>
                      </a:rPr>
                      <m:t>|&gt;|</m:t>
                    </m:r>
                    <m:r>
                      <a:rPr lang="en-US" altLang="zh-CN" sz="2400" i="1" dirty="0">
                        <a:solidFill>
                          <a:srgbClr val="2926BF"/>
                        </a:solidFill>
                        <a:latin typeface="Cambria Math" panose="02040503050406030204" pitchFamily="18" charset="0"/>
                      </a:rPr>
                      <m:t>𝑐𝑎</m:t>
                    </m:r>
                    <m:r>
                      <a:rPr lang="en-US" altLang="zh-CN" sz="2400" i="1" dirty="0">
                        <a:solidFill>
                          <a:srgbClr val="2926BF"/>
                        </a:solidFill>
                        <a:latin typeface="Cambria Math" panose="02040503050406030204" pitchFamily="18" charset="0"/>
                      </a:rPr>
                      <m:t>|</m:t>
                    </m:r>
                  </m:oMath>
                </a14:m>
                <a:r>
                  <a:rPr lang="en-US" altLang="zh-CN" sz="2400" dirty="0">
                    <a:latin typeface="Times New Roman" panose="02020603050405020304" pitchFamily="18" charset="0"/>
                    <a:cs typeface="Times New Roman" panose="02020603050405020304" pitchFamily="18" charset="0"/>
                  </a:rPr>
                  <a:t> and the antibonding orbital has </a:t>
                </a:r>
                <a14:m>
                  <m:oMath xmlns:m="http://schemas.openxmlformats.org/officeDocument/2006/math">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𝑐𝑏</m:t>
                    </m:r>
                    <m:r>
                      <a:rPr lang="en-US" altLang="zh-CN" sz="2400" i="1" dirty="0">
                        <a:solidFill>
                          <a:srgbClr val="2926BF"/>
                        </a:solidFill>
                        <a:latin typeface="Cambria Math" panose="02040503050406030204" pitchFamily="18" charset="0"/>
                      </a:rPr>
                      <m:t>|&lt;|</m:t>
                    </m:r>
                    <m:r>
                      <a:rPr lang="en-US" altLang="zh-CN" sz="2400" i="1" dirty="0">
                        <a:solidFill>
                          <a:srgbClr val="2926BF"/>
                        </a:solidFill>
                        <a:latin typeface="Cambria Math" panose="02040503050406030204" pitchFamily="18" charset="0"/>
                      </a:rPr>
                      <m:t>𝑐𝑎</m:t>
                    </m:r>
                    <m:r>
                      <a:rPr lang="en-US" altLang="zh-CN" sz="2400" i="1" dirty="0">
                        <a:solidFill>
                          <a:srgbClr val="2926BF"/>
                        </a:solidFill>
                        <a:latin typeface="Cambria Math" panose="02040503050406030204" pitchFamily="18" charset="0"/>
                      </a:rPr>
                      <m:t>|</m:t>
                    </m:r>
                  </m:oMath>
                </a14:m>
                <a:r>
                  <a:rPr lang="en-US" altLang="zh-CN" sz="2400" dirty="0">
                    <a:latin typeface="Times New Roman" panose="02020603050405020304" pitchFamily="18" charset="0"/>
                    <a:cs typeface="Times New Roman" panose="02020603050405020304" pitchFamily="18" charset="0"/>
                  </a:rPr>
                  <a:t>. </a:t>
                </a:r>
                <a:endParaRPr lang="en-US" altLang="zh-CN" sz="2400" i="1" dirty="0">
                  <a:solidFill>
                    <a:srgbClr val="2926BF"/>
                  </a:solidFill>
                  <a:latin typeface="Times New Roman" panose="02020603050405020304" pitchFamily="18" charset="0"/>
                  <a:cs typeface="Times New Roman" panose="02020603050405020304" pitchFamily="18" charset="0"/>
                </a:endParaRPr>
              </a:p>
              <a:p>
                <a:pPr marL="801442" indent="-342900" algn="just">
                  <a:lnSpc>
                    <a:spcPct val="121000"/>
                  </a:lnSpc>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The coefficients have the same sign for the bonding orbital, and opposite signs for the antibonding one.</a:t>
                </a:r>
              </a:p>
            </p:txBody>
          </p:sp>
        </mc:Choice>
        <mc:Fallback xmlns="">
          <p:sp>
            <p:nvSpPr>
              <p:cNvPr id="2" name="矩形 1"/>
              <p:cNvSpPr>
                <a:spLocks noRot="1" noChangeAspect="1" noMove="1" noResize="1" noEditPoints="1" noAdjustHandles="1" noChangeArrowheads="1" noChangeShapeType="1" noTextEdit="1"/>
              </p:cNvSpPr>
              <p:nvPr/>
            </p:nvSpPr>
            <p:spPr>
              <a:xfrm>
                <a:off x="431180" y="606306"/>
                <a:ext cx="10838986" cy="2054473"/>
              </a:xfrm>
              <a:prstGeom prst="rect">
                <a:avLst/>
              </a:prstGeom>
              <a:blipFill>
                <a:blip r:embed="rId2"/>
                <a:stretch>
                  <a:fillRect l="-900" r="-1575" b="-4154"/>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75871309-D996-4160-BDE0-D4A08E5659C5}"/>
              </a:ext>
            </a:extLst>
          </p:cNvPr>
          <p:cNvPicPr>
            <a:picLocks noChangeAspect="1"/>
          </p:cNvPicPr>
          <p:nvPr/>
        </p:nvPicPr>
        <p:blipFill>
          <a:blip r:embed="rId3"/>
          <a:stretch>
            <a:fillRect/>
          </a:stretch>
        </p:blipFill>
        <p:spPr>
          <a:xfrm>
            <a:off x="3233497" y="3183856"/>
            <a:ext cx="5953125" cy="2524125"/>
          </a:xfrm>
          <a:prstGeom prst="rect">
            <a:avLst/>
          </a:prstGeom>
        </p:spPr>
      </p:pic>
    </p:spTree>
    <p:extLst>
      <p:ext uri="{BB962C8B-B14F-4D97-AF65-F5344CB8AC3E}">
        <p14:creationId xmlns:p14="http://schemas.microsoft.com/office/powerpoint/2010/main" val="41941828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63820" y="266431"/>
            <a:ext cx="6883487"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General features of the two-orbital problem</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390116" y="1078342"/>
                <a:ext cx="11589835" cy="1672253"/>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We can deduce some general results from the energy expression:</a:t>
                </a:r>
              </a:p>
              <a:p>
                <a:pPr indent="122187">
                  <a:spcAft>
                    <a:spcPts val="449"/>
                  </a:spcAft>
                </a:pPr>
                <a:r>
                  <a:rPr lang="en-US" altLang="zh-CN" sz="2400" i="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If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𝑎</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𝑏</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oMath>
                </a14:m>
                <a:r>
                  <a:rPr lang="en-US" altLang="zh-CN" sz="2400" dirty="0">
                    <a:latin typeface="Times New Roman" panose="02020603050405020304" pitchFamily="18" charset="0"/>
                    <a:cs typeface="Times New Roman" panose="02020603050405020304" pitchFamily="18" charset="0"/>
                  </a:rPr>
                  <a:t> we get energies </a:t>
                </a:r>
                <a14:m>
                  <m:oMath xmlns:m="http://schemas.openxmlformats.org/officeDocument/2006/math">
                    <m:r>
                      <a:rPr lang="en-US" altLang="zh-TW" sz="2400" i="1" dirty="0">
                        <a:solidFill>
                          <a:srgbClr val="2926BF"/>
                        </a:solidFill>
                        <a:latin typeface="Cambria Math" panose="02040503050406030204" pitchFamily="18" charset="0"/>
                        <a:ea typeface="Arial"/>
                      </a:rPr>
                      <m:t>𝐸</m:t>
                    </m:r>
                    <m:r>
                      <a:rPr lang="en-US" altLang="zh-TW" sz="2400" i="1" dirty="0">
                        <a:solidFill>
                          <a:srgbClr val="2926BF"/>
                        </a:solidFill>
                        <a:latin typeface="Cambria Math" panose="02040503050406030204" pitchFamily="18" charset="0"/>
                        <a:ea typeface="Arial"/>
                      </a:rPr>
                      <m:t>=</m:t>
                    </m:r>
                    <m:r>
                      <a:rPr lang="zh-TW" altLang="en-US" sz="2400" i="1" dirty="0">
                        <a:solidFill>
                          <a:srgbClr val="2926BF"/>
                        </a:solidFill>
                        <a:latin typeface="Cambria Math" panose="02040503050406030204" pitchFamily="18" charset="0"/>
                        <a:ea typeface="Arial"/>
                      </a:rPr>
                      <m:t>𝛼</m:t>
                    </m:r>
                    <m:r>
                      <a:rPr lang="en-US" altLang="zh-TW" sz="2400" i="1" dirty="0">
                        <a:solidFill>
                          <a:srgbClr val="2926BF"/>
                        </a:solidFill>
                        <a:latin typeface="Cambria Math" panose="02040503050406030204" pitchFamily="18" charset="0"/>
                        <a:ea typeface="Cambria Math" panose="02040503050406030204" pitchFamily="18" charset="0"/>
                      </a:rPr>
                      <m:t>±</m:t>
                    </m:r>
                    <m:r>
                      <a:rPr lang="zh-TW" altLang="en-US" sz="2400" i="1" dirty="0">
                        <a:solidFill>
                          <a:srgbClr val="2926BF"/>
                        </a:solidFill>
                        <a:latin typeface="Cambria Math" panose="02040503050406030204" pitchFamily="18" charset="0"/>
                        <a:ea typeface="Arial"/>
                      </a:rPr>
                      <m:t>𝛽</m:t>
                    </m:r>
                  </m:oMath>
                </a14:m>
                <a:r>
                  <a:rPr lang="en-US" altLang="zh-CN" sz="2400" dirty="0">
                    <a:latin typeface="Times New Roman" panose="02020603050405020304" pitchFamily="18" charset="0"/>
                    <a:cs typeface="Times New Roman" panose="02020603050405020304" pitchFamily="18" charset="0"/>
                  </a:rPr>
                  <a:t> as before.</a:t>
                </a:r>
              </a:p>
              <a:p>
                <a:pPr indent="122187">
                  <a:spcAft>
                    <a:spcPts val="449"/>
                  </a:spcAft>
                </a:pPr>
                <a:r>
                  <a:rPr lang="en-US" altLang="zh-CN" sz="2400" dirty="0">
                    <a:latin typeface="Times New Roman" panose="02020603050405020304" pitchFamily="18" charset="0"/>
                    <a:cs typeface="Times New Roman" panose="02020603050405020304" pitchFamily="18" charset="0"/>
                  </a:rPr>
                  <a:t>• If </a:t>
                </a:r>
                <a14:m>
                  <m:oMath xmlns:m="http://schemas.openxmlformats.org/officeDocument/2006/math">
                    <m:r>
                      <a:rPr lang="zh-CN" altLang="en-US" sz="2400" i="1" dirty="0">
                        <a:solidFill>
                          <a:srgbClr val="2926BF"/>
                        </a:solidFill>
                        <a:latin typeface="Cambria Math" panose="02040503050406030204" pitchFamily="18" charset="0"/>
                      </a:rPr>
                      <m:t>𝛽</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0</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there is no interaction and the energies are </a:t>
                </a:r>
                <a14:m>
                  <m:oMath xmlns:m="http://schemas.openxmlformats.org/officeDocument/2006/math">
                    <m:r>
                      <a:rPr lang="en-US" altLang="zh-CN" sz="2400" i="1" dirty="0">
                        <a:solidFill>
                          <a:srgbClr val="2926BF"/>
                        </a:solidFill>
                        <a:latin typeface="Cambria Math" panose="02040503050406030204" pitchFamily="18" charset="0"/>
                      </a:rPr>
                      <m:t>𝐸</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𝑎</m:t>
                    </m:r>
                  </m:oMath>
                </a14:m>
                <a:r>
                  <a:rPr lang="en-US" altLang="zh-CN" sz="24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CN" sz="2400" i="1" dirty="0">
                        <a:solidFill>
                          <a:srgbClr val="2926BF"/>
                        </a:solidFill>
                        <a:latin typeface="Cambria Math" panose="02040503050406030204" pitchFamily="18" charset="0"/>
                      </a:rPr>
                      <m:t>𝐸</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𝑏</m:t>
                    </m:r>
                  </m:oMath>
                </a14:m>
                <a:r>
                  <a:rPr lang="en-US" altLang="zh-TW" sz="2400" i="1" dirty="0">
                    <a:latin typeface="Times New Roman" panose="02020603050405020304" pitchFamily="18" charset="0"/>
                    <a:ea typeface="Arial"/>
                    <a:cs typeface="Times New Roman" panose="02020603050405020304" pitchFamily="18" charset="0"/>
                  </a:rPr>
                  <a:t>.</a:t>
                </a:r>
              </a:p>
              <a:p>
                <a:pPr indent="122187">
                  <a:spcAft>
                    <a:spcPts val="90"/>
                  </a:spcAft>
                </a:pPr>
                <a:r>
                  <a:rPr lang="en-US" altLang="zh-CN" sz="2400" dirty="0">
                    <a:latin typeface="Times New Roman" panose="02020603050405020304" pitchFamily="18" charset="0"/>
                    <a:cs typeface="Times New Roman" panose="02020603050405020304" pitchFamily="18" charset="0"/>
                  </a:rPr>
                  <a:t>• For a fixed value </a:t>
                </a:r>
                <a:r>
                  <a:rPr lang="en-US" altLang="zh-CN" sz="2400" dirty="0">
                    <a:solidFill>
                      <a:srgbClr val="121055"/>
                    </a:solidFill>
                    <a:latin typeface="Times New Roman" panose="02020603050405020304" pitchFamily="18" charset="0"/>
                    <a:cs typeface="Times New Roman" panose="02020603050405020304" pitchFamily="18" charset="0"/>
                  </a:rPr>
                  <a:t>of </a:t>
                </a:r>
                <a14:m>
                  <m:oMath xmlns:m="http://schemas.openxmlformats.org/officeDocument/2006/math">
                    <m:r>
                      <a:rPr lang="zh-CN" altLang="en-US" sz="2400" i="1" dirty="0">
                        <a:solidFill>
                          <a:srgbClr val="2926BF"/>
                        </a:solidFill>
                        <a:latin typeface="Cambria Math" panose="02040503050406030204" pitchFamily="18" charset="0"/>
                      </a:rPr>
                      <m:t>𝛽</m:t>
                    </m:r>
                  </m:oMath>
                </a14:m>
                <a:r>
                  <a:rPr lang="en-US" altLang="zh-CN" sz="2400" dirty="0">
                    <a:latin typeface="Times New Roman" panose="02020603050405020304" pitchFamily="18" charset="0"/>
                    <a:cs typeface="Times New Roman" panose="02020603050405020304" pitchFamily="18" charset="0"/>
                  </a:rPr>
                  <a:t>, the bonding orbital is stabilized most when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𝑎</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𝑏</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90116" y="1078342"/>
                <a:ext cx="11589835" cy="1672253"/>
              </a:xfrm>
              <a:prstGeom prst="rect">
                <a:avLst/>
              </a:prstGeom>
              <a:blipFill>
                <a:blip r:embed="rId3"/>
                <a:stretch>
                  <a:fillRect l="-842" t="-2920" b="-7664"/>
                </a:stretch>
              </a:blipFill>
            </p:spPr>
            <p:txBody>
              <a:bodyPr/>
              <a:lstStyle/>
              <a:p>
                <a:r>
                  <a:rPr lang="zh-CN" altLang="en-US">
                    <a:noFill/>
                  </a:rPr>
                  <a:t> </a:t>
                </a:r>
              </a:p>
            </p:txBody>
          </p:sp>
        </mc:Fallback>
      </mc:AlternateContent>
      <p:sp>
        <p:nvSpPr>
          <p:cNvPr id="7"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8" name="Text Box 22"/>
          <p:cNvSpPr txBox="1">
            <a:spLocks noChangeArrowheads="1"/>
          </p:cNvSpPr>
          <p:nvPr/>
        </p:nvSpPr>
        <p:spPr bwMode="auto">
          <a:xfrm>
            <a:off x="5527383" y="4934643"/>
            <a:ext cx="33807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lvl="0" defTabSz="914400" eaLnBrk="1" fontAlgn="base" hangingPunct="1">
              <a:spcBef>
                <a:spcPct val="50000"/>
              </a:spcBef>
              <a:spcAft>
                <a:spcPct val="0"/>
              </a:spcAft>
              <a:defRPr/>
            </a:pPr>
            <a:r>
              <a:rPr kumimoji="1" lang="en-US" altLang="zh-CN" sz="2400" b="0" i="1" u="none" strike="noStrike" kern="0" cap="none" spc="0" normalizeH="0" baseline="0" noProof="0" dirty="0">
                <a:ln>
                  <a:noFill/>
                </a:ln>
                <a:solidFill>
                  <a:srgbClr val="3333FF"/>
                </a:solidFill>
                <a:effectLst/>
                <a:uLnTx/>
                <a:uFillTx/>
                <a:sym typeface="Symbol" pitchFamily="18" charset="2"/>
              </a:rPr>
              <a:t>E</a:t>
            </a:r>
            <a:r>
              <a:rPr kumimoji="1" lang="en-US" altLang="zh-CN" sz="2400" b="0" i="0" u="none" strike="noStrike" kern="0" cap="none" spc="0" normalizeH="0" baseline="-25000" noProof="0" dirty="0">
                <a:ln>
                  <a:noFill/>
                </a:ln>
                <a:solidFill>
                  <a:srgbClr val="3333FF"/>
                </a:solidFill>
                <a:effectLst/>
                <a:uLnTx/>
                <a:uFillTx/>
                <a:sym typeface="Symbol" pitchFamily="18" charset="2"/>
              </a:rPr>
              <a:t>1 </a:t>
            </a:r>
            <a:r>
              <a:rPr kumimoji="1" lang="en-US" altLang="zh-CN" sz="2400" b="0" i="0" u="none" strike="noStrike" kern="0" cap="none" spc="0" normalizeH="0" baseline="0" noProof="0" dirty="0">
                <a:ln>
                  <a:noFill/>
                </a:ln>
                <a:solidFill>
                  <a:srgbClr val="3333FF"/>
                </a:solidFill>
                <a:effectLst/>
                <a:uLnTx/>
                <a:uFillTx/>
                <a:sym typeface="Symbol" pitchFamily="18" charset="2"/>
              </a:rPr>
              <a:t>= </a:t>
            </a:r>
            <a:r>
              <a:rPr lang="en-US" altLang="zh-CN" b="0" i="1" kern="0" dirty="0">
                <a:solidFill>
                  <a:srgbClr val="3333FF"/>
                </a:solidFill>
                <a:sym typeface="Symbol" panose="05050102010706020507" pitchFamily="18" charset="2"/>
              </a:rPr>
              <a:t></a:t>
            </a:r>
            <a:r>
              <a:rPr kumimoji="1" lang="en-US" altLang="zh-CN" sz="2400" b="0" i="1" u="none" strike="noStrike" kern="0" cap="none" spc="0" normalizeH="0" baseline="-25000" noProof="0" dirty="0">
                <a:ln>
                  <a:noFill/>
                </a:ln>
                <a:solidFill>
                  <a:srgbClr val="3333FF"/>
                </a:solidFill>
                <a:effectLst/>
                <a:uLnTx/>
                <a:uFillTx/>
                <a:sym typeface="Symbol" pitchFamily="18" charset="2"/>
              </a:rPr>
              <a:t>a</a:t>
            </a:r>
            <a:r>
              <a:rPr kumimoji="1" lang="en-US" altLang="zh-CN" sz="2400" b="0" i="0" u="none" strike="noStrike" kern="0" cap="none" spc="0" normalizeH="0" baseline="-25000" noProof="0" dirty="0">
                <a:ln>
                  <a:noFill/>
                </a:ln>
                <a:solidFill>
                  <a:srgbClr val="3333FF"/>
                </a:solidFill>
                <a:effectLst/>
                <a:uLnTx/>
                <a:uFillTx/>
                <a:sym typeface="Symbol" pitchFamily="18" charset="2"/>
              </a:rPr>
              <a:t> </a:t>
            </a:r>
            <a:r>
              <a:rPr kumimoji="1" lang="en-US" altLang="zh-CN" sz="2400" b="0" i="0" u="none" strike="noStrike" kern="0" cap="none" spc="0" normalizeH="0" noProof="0" dirty="0">
                <a:ln>
                  <a:noFill/>
                </a:ln>
                <a:solidFill>
                  <a:srgbClr val="3333FF"/>
                </a:solidFill>
                <a:effectLst/>
                <a:uLnTx/>
                <a:uFillTx/>
                <a:sym typeface="Symbol" panose="05050102010706020507" pitchFamily="18" charset="2"/>
              </a:rPr>
              <a:t></a:t>
            </a:r>
            <a:r>
              <a:rPr kumimoji="1" lang="en-US" altLang="zh-CN" sz="2400" b="0" i="0" u="none" strike="noStrike" kern="0" cap="none" spc="0" normalizeH="0" baseline="0" noProof="0" dirty="0">
                <a:ln>
                  <a:noFill/>
                </a:ln>
                <a:solidFill>
                  <a:srgbClr val="3333FF"/>
                </a:solidFill>
                <a:effectLst/>
                <a:uLnTx/>
                <a:uFillTx/>
                <a:sym typeface="Symbol" pitchFamily="18" charset="2"/>
              </a:rPr>
              <a:t> |</a:t>
            </a:r>
            <a:r>
              <a:rPr kumimoji="1" lang="en-US" altLang="zh-CN" sz="2400" b="0" i="1" u="none" strike="noStrike" kern="0" cap="none" spc="0" normalizeH="0" baseline="0" noProof="0" dirty="0">
                <a:ln>
                  <a:noFill/>
                </a:ln>
                <a:solidFill>
                  <a:srgbClr val="3333FF"/>
                </a:solidFill>
                <a:effectLst/>
                <a:uLnTx/>
                <a:uFillTx/>
                <a:sym typeface="Symbol" pitchFamily="18" charset="2"/>
              </a:rPr>
              <a:t></a:t>
            </a:r>
            <a:r>
              <a:rPr kumimoji="1" lang="en-US" altLang="zh-CN" sz="2400" b="0" i="0" u="none" strike="noStrike" kern="0" cap="none" spc="0" normalizeH="0" baseline="0" noProof="0" dirty="0">
                <a:ln>
                  <a:noFill/>
                </a:ln>
                <a:solidFill>
                  <a:srgbClr val="3333FF"/>
                </a:solidFill>
                <a:effectLst/>
                <a:uLnTx/>
                <a:uFillTx/>
                <a:sym typeface="Symbol" pitchFamily="18" charset="2"/>
              </a:rPr>
              <a:t>|, </a:t>
            </a:r>
            <a:r>
              <a:rPr kumimoji="1" lang="en-US" altLang="zh-CN" sz="2400" b="0" i="1" u="none" strike="noStrike" kern="0" cap="none" spc="0" normalizeH="0" baseline="0" noProof="0" dirty="0">
                <a:ln>
                  <a:noFill/>
                </a:ln>
                <a:solidFill>
                  <a:srgbClr val="3333FF"/>
                </a:solidFill>
                <a:effectLst/>
                <a:uLnTx/>
                <a:uFillTx/>
                <a:sym typeface="Symbol" pitchFamily="18" charset="2"/>
              </a:rPr>
              <a:t>E</a:t>
            </a:r>
            <a:r>
              <a:rPr kumimoji="1" lang="en-US" altLang="zh-CN" sz="2400" b="0" i="0" u="none" strike="noStrike" kern="0" cap="none" spc="0" normalizeH="0" baseline="-25000" noProof="0" dirty="0">
                <a:ln>
                  <a:noFill/>
                </a:ln>
                <a:solidFill>
                  <a:srgbClr val="3333FF"/>
                </a:solidFill>
                <a:effectLst/>
                <a:uLnTx/>
                <a:uFillTx/>
                <a:sym typeface="Symbol" pitchFamily="18" charset="2"/>
              </a:rPr>
              <a:t>2 </a:t>
            </a:r>
            <a:r>
              <a:rPr kumimoji="1" lang="en-US" altLang="zh-CN" sz="2400" b="0" i="0" u="none" strike="noStrike" kern="0" cap="none" spc="0" normalizeH="0" baseline="0" noProof="0" dirty="0">
                <a:ln>
                  <a:noFill/>
                </a:ln>
                <a:solidFill>
                  <a:srgbClr val="3333FF"/>
                </a:solidFill>
                <a:effectLst/>
                <a:uLnTx/>
                <a:uFillTx/>
                <a:sym typeface="Symbol" pitchFamily="18" charset="2"/>
              </a:rPr>
              <a:t> </a:t>
            </a:r>
            <a:r>
              <a:rPr lang="en-US" altLang="zh-CN" b="0" i="1" kern="0" dirty="0">
                <a:solidFill>
                  <a:srgbClr val="3333FF"/>
                </a:solidFill>
                <a:sym typeface="Symbol" panose="05050102010706020507" pitchFamily="18" charset="2"/>
              </a:rPr>
              <a:t></a:t>
            </a:r>
            <a:r>
              <a:rPr kumimoji="1" lang="en-US" altLang="zh-CN" sz="2400" b="0" i="1" u="none" strike="noStrike" kern="0" cap="none" spc="0" normalizeH="0" baseline="-25000" noProof="0" dirty="0">
                <a:ln>
                  <a:noFill/>
                </a:ln>
                <a:solidFill>
                  <a:srgbClr val="3333FF"/>
                </a:solidFill>
                <a:effectLst/>
                <a:uLnTx/>
                <a:uFillTx/>
                <a:sym typeface="Symbol" pitchFamily="18" charset="2"/>
              </a:rPr>
              <a:t>b</a:t>
            </a:r>
            <a:r>
              <a:rPr kumimoji="1" lang="en-US" altLang="zh-CN" sz="2400" b="0" i="0" u="none" strike="noStrike" kern="0" cap="none" spc="0" normalizeH="0" baseline="-25000" noProof="0" dirty="0">
                <a:ln>
                  <a:noFill/>
                </a:ln>
                <a:solidFill>
                  <a:srgbClr val="3333FF"/>
                </a:solidFill>
                <a:effectLst/>
                <a:uLnTx/>
                <a:uFillTx/>
                <a:sym typeface="Symbol" pitchFamily="18" charset="2"/>
              </a:rPr>
              <a:t> </a:t>
            </a:r>
            <a:r>
              <a:rPr kumimoji="1" lang="en-US" altLang="zh-CN" sz="2400" b="0" i="0" u="none" strike="noStrike" kern="0" cap="none" spc="0" normalizeH="0" baseline="0" noProof="0" dirty="0">
                <a:ln>
                  <a:noFill/>
                </a:ln>
                <a:solidFill>
                  <a:srgbClr val="3333FF"/>
                </a:solidFill>
                <a:effectLst/>
                <a:uLnTx/>
                <a:uFillTx/>
                <a:sym typeface="Symbol" pitchFamily="18" charset="2"/>
              </a:rPr>
              <a:t>+|</a:t>
            </a:r>
            <a:r>
              <a:rPr kumimoji="1" lang="en-US" altLang="zh-CN" sz="2400" b="0" i="1" u="none" strike="noStrike" kern="0" cap="none" spc="0" normalizeH="0" baseline="0" noProof="0" dirty="0">
                <a:ln>
                  <a:noFill/>
                </a:ln>
                <a:solidFill>
                  <a:srgbClr val="3333FF"/>
                </a:solidFill>
                <a:effectLst/>
                <a:uLnTx/>
                <a:uFillTx/>
                <a:sym typeface="Symbol" pitchFamily="18" charset="2"/>
              </a:rPr>
              <a:t></a:t>
            </a:r>
            <a:r>
              <a:rPr kumimoji="1" lang="en-US" altLang="zh-CN" sz="2400" b="0" i="0" u="none" strike="noStrike" kern="0" cap="none" spc="0" normalizeH="0" baseline="0" noProof="0" dirty="0">
                <a:ln>
                  <a:noFill/>
                </a:ln>
                <a:solidFill>
                  <a:srgbClr val="3333FF"/>
                </a:solidFill>
                <a:effectLst/>
                <a:uLnTx/>
                <a:uFillTx/>
                <a:sym typeface="Symbol" pitchFamily="18" charset="2"/>
              </a:rPr>
              <a:t>|</a:t>
            </a:r>
          </a:p>
        </p:txBody>
      </p:sp>
      <p:sp>
        <p:nvSpPr>
          <p:cNvPr id="9" name="矩形 8"/>
          <p:cNvSpPr/>
          <p:nvPr/>
        </p:nvSpPr>
        <p:spPr>
          <a:xfrm>
            <a:off x="3358390" y="5661058"/>
            <a:ext cx="5318187" cy="461665"/>
          </a:xfrm>
          <a:prstGeom prst="rect">
            <a:avLst/>
          </a:prstGeom>
        </p:spPr>
        <p:txBody>
          <a:bodyPr wrap="none">
            <a:spAutoFit/>
          </a:bodyPr>
          <a:lstStyle/>
          <a:p>
            <a:r>
              <a:rPr kumimoji="1" lang="en-US" altLang="zh-CN" sz="2400" dirty="0">
                <a:latin typeface="Times New Roman" pitchFamily="18" charset="0"/>
                <a:ea typeface="宋体" charset="-122"/>
                <a:sym typeface="Symbol" pitchFamily="18" charset="2"/>
              </a:rPr>
              <a:t>The AOs should have comparable energy.</a:t>
            </a:r>
            <a:endParaRPr lang="zh-CN" altLang="en-US" sz="2400" dirty="0"/>
          </a:p>
        </p:txBody>
      </p:sp>
      <p:graphicFrame>
        <p:nvGraphicFramePr>
          <p:cNvPr id="10" name="对象 9">
            <a:extLst>
              <a:ext uri="{FF2B5EF4-FFF2-40B4-BE49-F238E27FC236}">
                <a16:creationId xmlns:a16="http://schemas.microsoft.com/office/drawing/2014/main" id="{E0601153-5219-4BE8-9DC6-1B47B4847F61}"/>
              </a:ext>
            </a:extLst>
          </p:cNvPr>
          <p:cNvGraphicFramePr>
            <a:graphicFrameLocks noChangeAspect="1"/>
          </p:cNvGraphicFramePr>
          <p:nvPr/>
        </p:nvGraphicFramePr>
        <p:xfrm>
          <a:off x="3436906" y="3016351"/>
          <a:ext cx="4749120" cy="786960"/>
        </p:xfrm>
        <a:graphic>
          <a:graphicData uri="http://schemas.openxmlformats.org/presentationml/2006/ole">
            <mc:AlternateContent xmlns:mc="http://schemas.openxmlformats.org/markup-compatibility/2006">
              <mc:Choice xmlns:v="urn:schemas-microsoft-com:vml" Requires="v">
                <p:oleObj name="Equation" r:id="rId4" imgW="2374560" imgH="393480" progId="Equation.DSMT4">
                  <p:embed/>
                </p:oleObj>
              </mc:Choice>
              <mc:Fallback>
                <p:oleObj name="Equation" r:id="rId4" imgW="2374560" imgH="393480" progId="Equation.DSMT4">
                  <p:embed/>
                  <p:pic>
                    <p:nvPicPr>
                      <p:cNvPr id="10" name="对象 9">
                        <a:extLst>
                          <a:ext uri="{FF2B5EF4-FFF2-40B4-BE49-F238E27FC236}">
                            <a16:creationId xmlns:a16="http://schemas.microsoft.com/office/drawing/2014/main" id="{E0601153-5219-4BE8-9DC6-1B47B4847F61}"/>
                          </a:ext>
                        </a:extLst>
                      </p:cNvPr>
                      <p:cNvPicPr/>
                      <p:nvPr/>
                    </p:nvPicPr>
                    <p:blipFill>
                      <a:blip r:embed="rId5"/>
                      <a:stretch>
                        <a:fillRect/>
                      </a:stretch>
                    </p:blipFill>
                    <p:spPr>
                      <a:xfrm>
                        <a:off x="3436906" y="3016351"/>
                        <a:ext cx="4749120" cy="78696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E0601153-5219-4BE8-9DC6-1B47B4847F61}"/>
              </a:ext>
            </a:extLst>
          </p:cNvPr>
          <p:cNvGraphicFramePr>
            <a:graphicFrameLocks noChangeAspect="1"/>
          </p:cNvGraphicFramePr>
          <p:nvPr/>
        </p:nvGraphicFramePr>
        <p:xfrm>
          <a:off x="1708501" y="4234200"/>
          <a:ext cx="1701800" cy="506412"/>
        </p:xfrm>
        <a:graphic>
          <a:graphicData uri="http://schemas.openxmlformats.org/presentationml/2006/ole">
            <mc:AlternateContent xmlns:mc="http://schemas.openxmlformats.org/markup-compatibility/2006">
              <mc:Choice xmlns:v="urn:schemas-microsoft-com:vml" Requires="v">
                <p:oleObj name="Equation" r:id="rId6" imgW="850680" imgH="253800" progId="Equation.DSMT4">
                  <p:embed/>
                </p:oleObj>
              </mc:Choice>
              <mc:Fallback>
                <p:oleObj name="Equation" r:id="rId6" imgW="850680" imgH="253800" progId="Equation.DSMT4">
                  <p:embed/>
                  <p:pic>
                    <p:nvPicPr>
                      <p:cNvPr id="11" name="对象 10">
                        <a:extLst>
                          <a:ext uri="{FF2B5EF4-FFF2-40B4-BE49-F238E27FC236}">
                            <a16:creationId xmlns:a16="http://schemas.microsoft.com/office/drawing/2014/main" id="{E0601153-5219-4BE8-9DC6-1B47B4847F61}"/>
                          </a:ext>
                        </a:extLst>
                      </p:cNvPr>
                      <p:cNvPicPr/>
                      <p:nvPr/>
                    </p:nvPicPr>
                    <p:blipFill>
                      <a:blip r:embed="rId7"/>
                      <a:stretch>
                        <a:fillRect/>
                      </a:stretch>
                    </p:blipFill>
                    <p:spPr>
                      <a:xfrm>
                        <a:off x="1708501" y="4234200"/>
                        <a:ext cx="1701800" cy="506412"/>
                      </a:xfrm>
                      <a:prstGeom prst="rect">
                        <a:avLst/>
                      </a:prstGeom>
                    </p:spPr>
                  </p:pic>
                </p:oleObj>
              </mc:Fallback>
            </mc:AlternateContent>
          </a:graphicData>
        </a:graphic>
      </p:graphicFrame>
      <p:sp>
        <p:nvSpPr>
          <p:cNvPr id="12" name="文本框 11"/>
          <p:cNvSpPr txBox="1"/>
          <p:nvPr/>
        </p:nvSpPr>
        <p:spPr>
          <a:xfrm>
            <a:off x="977382" y="4195102"/>
            <a:ext cx="389850"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If</a:t>
            </a:r>
            <a:endParaRPr lang="zh-CN" altLang="en-US" sz="2400" dirty="0">
              <a:latin typeface="Times New Roman" panose="02020603050405020304" pitchFamily="18" charset="0"/>
              <a:cs typeface="Times New Roman" panose="02020603050405020304" pitchFamily="18" charset="0"/>
            </a:endParaRPr>
          </a:p>
        </p:txBody>
      </p:sp>
      <p:sp>
        <p:nvSpPr>
          <p:cNvPr id="13" name="矩形 12"/>
          <p:cNvSpPr/>
          <p:nvPr/>
        </p:nvSpPr>
        <p:spPr>
          <a:xfrm>
            <a:off x="5527383" y="4234200"/>
            <a:ext cx="2156360" cy="461665"/>
          </a:xfrm>
          <a:prstGeom prst="rect">
            <a:avLst/>
          </a:prstGeom>
        </p:spPr>
        <p:txBody>
          <a:bodyPr wrap="none">
            <a:spAutoFit/>
          </a:bodyPr>
          <a:lstStyle/>
          <a:p>
            <a:r>
              <a:rPr kumimoji="1" lang="en-US" altLang="zh-CN" sz="2400" i="1" kern="0" dirty="0">
                <a:solidFill>
                  <a:srgbClr val="3333FF"/>
                </a:solidFill>
                <a:latin typeface="Times New Roman" pitchFamily="18" charset="0"/>
                <a:ea typeface="宋体" charset="-122"/>
                <a:sym typeface="Symbol" pitchFamily="18" charset="2"/>
              </a:rPr>
              <a:t>E</a:t>
            </a:r>
            <a:r>
              <a:rPr kumimoji="1" lang="en-US" altLang="zh-CN" sz="2400" kern="0" baseline="-25000" dirty="0">
                <a:solidFill>
                  <a:srgbClr val="3333FF"/>
                </a:solidFill>
                <a:latin typeface="Times New Roman" pitchFamily="18" charset="0"/>
                <a:ea typeface="宋体" charset="-122"/>
                <a:sym typeface="Symbol" pitchFamily="18" charset="2"/>
              </a:rPr>
              <a:t>1 </a:t>
            </a:r>
            <a:r>
              <a:rPr kumimoji="1" lang="en-US" altLang="zh-CN" sz="2400" kern="0" dirty="0">
                <a:solidFill>
                  <a:srgbClr val="3333FF"/>
                </a:solidFill>
                <a:latin typeface="Times New Roman" pitchFamily="18" charset="0"/>
                <a:ea typeface="宋体" charset="-122"/>
                <a:sym typeface="Symbol" pitchFamily="18" charset="2"/>
              </a:rPr>
              <a:t> </a:t>
            </a:r>
            <a:r>
              <a:rPr kumimoji="1" lang="en-US" altLang="zh-CN" sz="2400" i="1" kern="0" dirty="0">
                <a:solidFill>
                  <a:srgbClr val="3333FF"/>
                </a:solidFill>
                <a:latin typeface="Times New Roman" pitchFamily="18" charset="0"/>
                <a:ea typeface="宋体" charset="-122"/>
                <a:sym typeface="Symbol" pitchFamily="18" charset="2"/>
              </a:rPr>
              <a:t></a:t>
            </a:r>
            <a:r>
              <a:rPr kumimoji="1" lang="en-US" altLang="zh-CN" sz="2400" i="1" kern="0" baseline="-25000" dirty="0">
                <a:solidFill>
                  <a:srgbClr val="3333FF"/>
                </a:solidFill>
                <a:latin typeface="Times New Roman" pitchFamily="18" charset="0"/>
                <a:ea typeface="宋体" charset="-122"/>
                <a:sym typeface="Symbol" pitchFamily="18" charset="2"/>
              </a:rPr>
              <a:t>a</a:t>
            </a:r>
            <a:r>
              <a:rPr kumimoji="1" lang="en-US" altLang="zh-CN" sz="2400" kern="0" dirty="0">
                <a:solidFill>
                  <a:srgbClr val="3333FF"/>
                </a:solidFill>
                <a:latin typeface="Times New Roman" pitchFamily="18" charset="0"/>
                <a:ea typeface="宋体" charset="-122"/>
                <a:sym typeface="Symbol" pitchFamily="18" charset="2"/>
              </a:rPr>
              <a:t>, </a:t>
            </a:r>
            <a:r>
              <a:rPr kumimoji="1" lang="en-US" altLang="zh-CN" sz="2400" i="1" kern="0" dirty="0">
                <a:solidFill>
                  <a:srgbClr val="3333FF"/>
                </a:solidFill>
                <a:latin typeface="Times New Roman" pitchFamily="18" charset="0"/>
                <a:ea typeface="宋体" charset="-122"/>
                <a:sym typeface="Symbol" pitchFamily="18" charset="2"/>
              </a:rPr>
              <a:t>E</a:t>
            </a:r>
            <a:r>
              <a:rPr kumimoji="1" lang="en-US" altLang="zh-CN" sz="2400" kern="0" baseline="-25000" dirty="0">
                <a:solidFill>
                  <a:srgbClr val="3333FF"/>
                </a:solidFill>
                <a:latin typeface="Times New Roman" pitchFamily="18" charset="0"/>
                <a:ea typeface="宋体" charset="-122"/>
                <a:sym typeface="Symbol" pitchFamily="18" charset="2"/>
              </a:rPr>
              <a:t>2  </a:t>
            </a:r>
            <a:r>
              <a:rPr kumimoji="1" lang="en-US" altLang="zh-CN" sz="2400" kern="0" dirty="0">
                <a:solidFill>
                  <a:srgbClr val="3333FF"/>
                </a:solidFill>
                <a:latin typeface="Times New Roman" pitchFamily="18" charset="0"/>
                <a:ea typeface="宋体" charset="-122"/>
                <a:sym typeface="Symbol" pitchFamily="18" charset="2"/>
              </a:rPr>
              <a:t> </a:t>
            </a:r>
            <a:r>
              <a:rPr kumimoji="1" lang="en-US" altLang="zh-CN" sz="2400" i="1" kern="0" dirty="0">
                <a:solidFill>
                  <a:srgbClr val="3333FF"/>
                </a:solidFill>
                <a:latin typeface="Times New Roman" pitchFamily="18" charset="0"/>
                <a:ea typeface="宋体" charset="-122"/>
                <a:sym typeface="Symbol" pitchFamily="18" charset="2"/>
              </a:rPr>
              <a:t></a:t>
            </a:r>
            <a:r>
              <a:rPr kumimoji="1" lang="en-US" altLang="zh-CN" sz="2400" kern="0" baseline="-25000" dirty="0">
                <a:solidFill>
                  <a:srgbClr val="3333FF"/>
                </a:solidFill>
                <a:latin typeface="Times New Roman" pitchFamily="18" charset="0"/>
                <a:ea typeface="宋体" charset="-122"/>
                <a:sym typeface="Symbol" pitchFamily="18" charset="2"/>
              </a:rPr>
              <a:t>b</a:t>
            </a:r>
            <a:endParaRPr lang="zh-CN" altLang="en-US" sz="2400" dirty="0">
              <a:solidFill>
                <a:srgbClr val="3333FF"/>
              </a:solidFill>
            </a:endParaRPr>
          </a:p>
        </p:txBody>
      </p:sp>
      <p:graphicFrame>
        <p:nvGraphicFramePr>
          <p:cNvPr id="14" name="对象 13">
            <a:extLst>
              <a:ext uri="{FF2B5EF4-FFF2-40B4-BE49-F238E27FC236}">
                <a16:creationId xmlns:a16="http://schemas.microsoft.com/office/drawing/2014/main" id="{E0601153-5219-4BE8-9DC6-1B47B4847F61}"/>
              </a:ext>
            </a:extLst>
          </p:cNvPr>
          <p:cNvGraphicFramePr>
            <a:graphicFrameLocks noChangeAspect="1"/>
          </p:cNvGraphicFramePr>
          <p:nvPr/>
        </p:nvGraphicFramePr>
        <p:xfrm>
          <a:off x="1708501" y="4934643"/>
          <a:ext cx="1447800" cy="506413"/>
        </p:xfrm>
        <a:graphic>
          <a:graphicData uri="http://schemas.openxmlformats.org/presentationml/2006/ole">
            <mc:AlternateContent xmlns:mc="http://schemas.openxmlformats.org/markup-compatibility/2006">
              <mc:Choice xmlns:v="urn:schemas-microsoft-com:vml" Requires="v">
                <p:oleObj name="Equation" r:id="rId8" imgW="723600" imgH="253800" progId="Equation.DSMT4">
                  <p:embed/>
                </p:oleObj>
              </mc:Choice>
              <mc:Fallback>
                <p:oleObj name="Equation" r:id="rId8" imgW="723600" imgH="253800" progId="Equation.DSMT4">
                  <p:embed/>
                  <p:pic>
                    <p:nvPicPr>
                      <p:cNvPr id="14" name="对象 13">
                        <a:extLst>
                          <a:ext uri="{FF2B5EF4-FFF2-40B4-BE49-F238E27FC236}">
                            <a16:creationId xmlns:a16="http://schemas.microsoft.com/office/drawing/2014/main" id="{E0601153-5219-4BE8-9DC6-1B47B4847F61}"/>
                          </a:ext>
                        </a:extLst>
                      </p:cNvPr>
                      <p:cNvPicPr/>
                      <p:nvPr/>
                    </p:nvPicPr>
                    <p:blipFill>
                      <a:blip r:embed="rId9"/>
                      <a:stretch>
                        <a:fillRect/>
                      </a:stretch>
                    </p:blipFill>
                    <p:spPr>
                      <a:xfrm>
                        <a:off x="1708501" y="4934643"/>
                        <a:ext cx="1447800" cy="506413"/>
                      </a:xfrm>
                      <a:prstGeom prst="rect">
                        <a:avLst/>
                      </a:prstGeom>
                    </p:spPr>
                  </p:pic>
                </p:oleObj>
              </mc:Fallback>
            </mc:AlternateContent>
          </a:graphicData>
        </a:graphic>
      </p:graphicFrame>
      <p:sp>
        <p:nvSpPr>
          <p:cNvPr id="15" name="文本框 14"/>
          <p:cNvSpPr txBox="1"/>
          <p:nvPr/>
        </p:nvSpPr>
        <p:spPr>
          <a:xfrm>
            <a:off x="977382" y="4934643"/>
            <a:ext cx="389850"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If</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619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44825" y="258749"/>
            <a:ext cx="5750164"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Lithium hydride: a better approach </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267168" y="974880"/>
            <a:ext cx="11508058" cy="1366528"/>
          </a:xfrm>
          <a:prstGeom prst="rect">
            <a:avLst/>
          </a:prstGeom>
        </p:spPr>
        <p:txBody>
          <a:bodyPr wrap="square">
            <a:spAutoFit/>
          </a:bodyPr>
          <a:lstStyle/>
          <a:p>
            <a:pPr>
              <a:lnSpc>
                <a:spcPct val="115000"/>
              </a:lnSpc>
              <a:spcAft>
                <a:spcPts val="359"/>
              </a:spcAft>
            </a:pPr>
            <a:r>
              <a:rPr lang="en-US" altLang="zh-CN" sz="2400" dirty="0">
                <a:latin typeface="Times New Roman" panose="02020603050405020304" pitchFamily="18" charset="0"/>
                <a:cs typeface="Times New Roman" panose="02020603050405020304" pitchFamily="18" charset="0"/>
              </a:rPr>
              <a:t>How do we know that the Li orbital in this molecule is an </a:t>
            </a:r>
            <a:r>
              <a:rPr lang="en-US" altLang="zh-CN" sz="2400" i="1" dirty="0" err="1">
                <a:solidFill>
                  <a:srgbClr val="2926BF"/>
                </a:solidFill>
                <a:latin typeface="Times New Roman" panose="02020603050405020304" pitchFamily="18" charset="0"/>
                <a:cs typeface="Times New Roman" panose="02020603050405020304" pitchFamily="18" charset="0"/>
              </a:rPr>
              <a:t>sp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hybrid? We allow the </a:t>
            </a:r>
            <a:r>
              <a:rPr lang="en-US" altLang="zh-CN" sz="2400" dirty="0">
                <a:solidFill>
                  <a:srgbClr val="2926BF"/>
                </a:solidFill>
                <a:latin typeface="Times New Roman" panose="02020603050405020304" pitchFamily="18" charset="0"/>
                <a:cs typeface="Times New Roman" panose="02020603050405020304" pitchFamily="18" charset="0"/>
              </a:rPr>
              <a:t>2</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2926BF"/>
                </a:solidFill>
                <a:latin typeface="Times New Roman" panose="02020603050405020304" pitchFamily="18" charset="0"/>
                <a:cs typeface="Times New Roman" panose="02020603050405020304" pitchFamily="18" charset="0"/>
              </a:rPr>
              <a:t>2</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i="1" baseline="-25000"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to contribute independently to the </a:t>
            </a:r>
            <a:r>
              <a:rPr lang="en-US" altLang="zh-CN" sz="2400" dirty="0" err="1">
                <a:latin typeface="Times New Roman" panose="02020603050405020304" pitchFamily="18" charset="0"/>
                <a:cs typeface="Times New Roman" panose="02020603050405020304" pitchFamily="18" charset="0"/>
              </a:rPr>
              <a:t>wavefunction</a:t>
            </a:r>
            <a:r>
              <a:rPr lang="en-US" altLang="zh-CN" sz="2400" dirty="0">
                <a:latin typeface="Times New Roman" panose="02020603050405020304" pitchFamily="18" charset="0"/>
                <a:cs typeface="Times New Roman" panose="02020603050405020304" pitchFamily="18" charset="0"/>
              </a:rPr>
              <a:t>, and let the variation principle find the answer.</a:t>
            </a:r>
          </a:p>
        </p:txBody>
      </p:sp>
      <p:graphicFrame>
        <p:nvGraphicFramePr>
          <p:cNvPr id="4" name="对象 3">
            <a:extLst>
              <a:ext uri="{FF2B5EF4-FFF2-40B4-BE49-F238E27FC236}">
                <a16:creationId xmlns:a16="http://schemas.microsoft.com/office/drawing/2014/main" id="{858CCE30-1F0C-412A-8AEF-C363F6837358}"/>
              </a:ext>
            </a:extLst>
          </p:cNvPr>
          <p:cNvGraphicFramePr>
            <a:graphicFrameLocks noChangeAspect="1"/>
          </p:cNvGraphicFramePr>
          <p:nvPr/>
        </p:nvGraphicFramePr>
        <p:xfrm>
          <a:off x="3364813" y="2289307"/>
          <a:ext cx="5536800" cy="482400"/>
        </p:xfrm>
        <a:graphic>
          <a:graphicData uri="http://schemas.openxmlformats.org/presentationml/2006/ole">
            <mc:AlternateContent xmlns:mc="http://schemas.openxmlformats.org/markup-compatibility/2006">
              <mc:Choice xmlns:v="urn:schemas-microsoft-com:vml" Requires="v">
                <p:oleObj name="Equation" r:id="rId2" imgW="2768400" imgH="241200" progId="Equation.DSMT4">
                  <p:embed/>
                </p:oleObj>
              </mc:Choice>
              <mc:Fallback>
                <p:oleObj name="Equation" r:id="rId2" imgW="2768400" imgH="241200" progId="Equation.DSMT4">
                  <p:embed/>
                  <p:pic>
                    <p:nvPicPr>
                      <p:cNvPr id="4" name="对象 3">
                        <a:extLst>
                          <a:ext uri="{FF2B5EF4-FFF2-40B4-BE49-F238E27FC236}">
                            <a16:creationId xmlns:a16="http://schemas.microsoft.com/office/drawing/2014/main" id="{858CCE30-1F0C-412A-8AEF-C363F6837358}"/>
                          </a:ext>
                        </a:extLst>
                      </p:cNvPr>
                      <p:cNvPicPr/>
                      <p:nvPr/>
                    </p:nvPicPr>
                    <p:blipFill>
                      <a:blip r:embed="rId3"/>
                      <a:stretch>
                        <a:fillRect/>
                      </a:stretch>
                    </p:blipFill>
                    <p:spPr>
                      <a:xfrm>
                        <a:off x="3364813" y="2289307"/>
                        <a:ext cx="5536800" cy="4824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矩形 4"/>
              <p:cNvSpPr/>
              <p:nvPr/>
            </p:nvSpPr>
            <p:spPr>
              <a:xfrm>
                <a:off x="304800" y="2890482"/>
                <a:ext cx="11582400" cy="1366528"/>
              </a:xfrm>
              <a:prstGeom prst="rect">
                <a:avLst/>
              </a:prstGeom>
            </p:spPr>
            <p:txBody>
              <a:bodyPr wrap="square">
                <a:spAutoFit/>
              </a:bodyPr>
              <a:lstStyle/>
              <a:p>
                <a:pPr>
                  <a:lnSpc>
                    <a:spcPct val="115000"/>
                  </a:lnSpc>
                </a:pPr>
                <a:r>
                  <a:rPr lang="en-US" altLang="zh-CN" sz="2400" dirty="0">
                    <a:latin typeface="Times New Roman" panose="02020603050405020304" pitchFamily="18" charset="0"/>
                    <a:cs typeface="Times New Roman" panose="02020603050405020304" pitchFamily="18" charset="0"/>
                  </a:rPr>
                  <a:t>We have more </a:t>
                </a:r>
                <a14:m>
                  <m:oMath xmlns:m="http://schemas.openxmlformats.org/officeDocument/2006/math">
                    <m:r>
                      <a:rPr lang="zh-CN" altLang="en-US" sz="2400" i="1" dirty="0">
                        <a:solidFill>
                          <a:srgbClr val="2926BF"/>
                        </a:solidFill>
                        <a:latin typeface="Cambria Math" panose="02040503050406030204" pitchFamily="18" charset="0"/>
                      </a:rPr>
                      <m:t>𝛼</m:t>
                    </m:r>
                  </m:oMath>
                </a14:m>
                <a:r>
                  <a:rPr lang="en-US" altLang="zh-CN" sz="2400" dirty="0">
                    <a:latin typeface="Times New Roman" panose="02020603050405020304" pitchFamily="18" charset="0"/>
                    <a:cs typeface="Times New Roman" panose="02020603050405020304" pitchFamily="18" charset="0"/>
                  </a:rPr>
                  <a:t>s</a:t>
                </a:r>
                <a:r>
                  <a:rPr lang="en-US" altLang="zh-CN" sz="2400" dirty="0">
                    <a:solidFill>
                      <a:srgbClr val="1D1A83"/>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CN" altLang="en-US" sz="2400" i="1" dirty="0">
                        <a:solidFill>
                          <a:srgbClr val="2926BF"/>
                        </a:solidFill>
                        <a:latin typeface="Cambria Math" panose="02040503050406030204" pitchFamily="18" charset="0"/>
                      </a:rPr>
                      <m:t>𝛽</m:t>
                    </m:r>
                  </m:oMath>
                </a14:m>
                <a:r>
                  <a:rPr lang="en-US" altLang="zh-CN" sz="2400" dirty="0">
                    <a:latin typeface="Times New Roman" panose="02020603050405020304" pitchFamily="18" charset="0"/>
                    <a:cs typeface="Times New Roman" panose="02020603050405020304" pitchFamily="18" charset="0"/>
                  </a:rPr>
                  <a:t>s</a:t>
                </a:r>
                <a:r>
                  <a:rPr lang="en-US" altLang="zh-CN" sz="2400" dirty="0">
                    <a:solidFill>
                      <a:srgbClr val="1D1A83"/>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this problem. In a real calculation the computer would calculate them. For illustration we assume that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𝑝</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𝛼</m:t>
                    </m:r>
                  </m:oMath>
                </a14:m>
                <a:r>
                  <a:rPr lang="en-US" altLang="zh-CN" sz="2400" dirty="0">
                    <a:latin typeface="Times New Roman" panose="02020603050405020304" pitchFamily="18" charset="0"/>
                    <a:cs typeface="Times New Roman" panose="02020603050405020304" pitchFamily="18" charset="0"/>
                  </a:rPr>
                  <a:t>, </a:t>
                </a:r>
                <a14:m>
                  <m:oMath xmlns:m="http://schemas.openxmlformats.org/officeDocument/2006/math">
                    <m:r>
                      <a:rPr lang="zh-CN" altLang="en-US" sz="2400" i="1" dirty="0">
                        <a:solidFill>
                          <a:srgbClr val="2926BF"/>
                        </a:solidFill>
                        <a:latin typeface="Cambria Math" panose="02040503050406030204" pitchFamily="18" charset="0"/>
                      </a:rPr>
                      <m:t>𝛼</m:t>
                    </m:r>
                    <m:r>
                      <a:rPr lang="en-US" altLang="zh-CN" sz="2400" i="1" baseline="-25000" dirty="0">
                        <a:solidFill>
                          <a:srgbClr val="2926BF"/>
                        </a:solidFill>
                        <a:latin typeface="Cambria Math" panose="02040503050406030204" pitchFamily="18" charset="0"/>
                      </a:rPr>
                      <m:t>h</m:t>
                    </m:r>
                    <m:r>
                      <a:rPr lang="en-US" altLang="zh-TW" sz="2400" i="1" dirty="0">
                        <a:solidFill>
                          <a:srgbClr val="2926BF"/>
                        </a:solidFill>
                        <a:latin typeface="Cambria Math" panose="02040503050406030204" pitchFamily="18" charset="0"/>
                        <a:ea typeface="Arial"/>
                      </a:rPr>
                      <m:t>=</m:t>
                    </m:r>
                    <m:r>
                      <a:rPr lang="zh-TW" altLang="en-US" sz="2400" i="1" dirty="0">
                        <a:solidFill>
                          <a:srgbClr val="2926BF"/>
                        </a:solidFill>
                        <a:latin typeface="Cambria Math" panose="02040503050406030204" pitchFamily="18" charset="0"/>
                        <a:ea typeface="Arial"/>
                      </a:rPr>
                      <m:t>𝛼</m:t>
                    </m:r>
                    <m:r>
                      <a:rPr lang="en-US" altLang="zh-TW" sz="2400" i="1" dirty="0">
                        <a:solidFill>
                          <a:srgbClr val="2926BF"/>
                        </a:solidFill>
                        <a:latin typeface="Cambria Math" panose="02040503050406030204" pitchFamily="18" charset="0"/>
                        <a:ea typeface="Arial"/>
                      </a:rPr>
                      <m:t>+</m:t>
                    </m:r>
                    <m:r>
                      <a:rPr lang="zh-TW" altLang="en-US" sz="2400" i="1" dirty="0">
                        <a:solidFill>
                          <a:srgbClr val="2926BF"/>
                        </a:solidFill>
                        <a:latin typeface="Cambria Math" panose="02040503050406030204" pitchFamily="18" charset="0"/>
                        <a:ea typeface="Arial"/>
                      </a:rPr>
                      <m:t>𝛽</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zh-TW" altLang="en-US" sz="2400" i="1" dirty="0">
                        <a:solidFill>
                          <a:srgbClr val="2926BF"/>
                        </a:solidFill>
                        <a:latin typeface="Cambria Math" panose="02040503050406030204" pitchFamily="18" charset="0"/>
                        <a:ea typeface="Arial"/>
                      </a:rPr>
                      <m:t>𝛽</m:t>
                    </m:r>
                    <m:r>
                      <a:rPr lang="en-US" altLang="zh-CN" sz="2400" i="1" baseline="-25000" dirty="0">
                        <a:solidFill>
                          <a:srgbClr val="2926BF"/>
                        </a:solidFill>
                        <a:latin typeface="Cambria Math" panose="02040503050406030204" pitchFamily="18" charset="0"/>
                      </a:rPr>
                      <m:t>𝑠h</m:t>
                    </m:r>
                    <m:r>
                      <a:rPr lang="en-US" altLang="zh-CN" sz="2400" i="1" dirty="0">
                        <a:solidFill>
                          <a:srgbClr val="2926BF"/>
                        </a:solidFill>
                        <a:latin typeface="Cambria Math" panose="02040503050406030204" pitchFamily="18" charset="0"/>
                      </a:rPr>
                      <m:t>=</m:t>
                    </m:r>
                    <m:r>
                      <a:rPr lang="zh-TW" altLang="en-US" sz="2400" i="1" dirty="0">
                        <a:solidFill>
                          <a:srgbClr val="2926BF"/>
                        </a:solidFill>
                        <a:latin typeface="Cambria Math" panose="02040503050406030204" pitchFamily="18" charset="0"/>
                        <a:ea typeface="Arial"/>
                      </a:rPr>
                      <m:t>𝛽</m:t>
                    </m:r>
                    <m:r>
                      <a:rPr lang="en-US" altLang="zh-CN" sz="2400" i="1" baseline="-25000" dirty="0">
                        <a:solidFill>
                          <a:srgbClr val="2926BF"/>
                        </a:solidFill>
                        <a:latin typeface="Cambria Math" panose="02040503050406030204" pitchFamily="18" charset="0"/>
                      </a:rPr>
                      <m:t>𝑝h</m:t>
                    </m:r>
                    <m:r>
                      <a:rPr lang="en-US" altLang="zh-CN" sz="2400" i="1" dirty="0">
                        <a:solidFill>
                          <a:srgbClr val="2926BF"/>
                        </a:solidFill>
                        <a:latin typeface="Cambria Math" panose="02040503050406030204" pitchFamily="18" charset="0"/>
                      </a:rPr>
                      <m:t>=</m:t>
                    </m:r>
                    <m:r>
                      <a:rPr lang="zh-TW" altLang="en-US" sz="2400" i="1" dirty="0">
                        <a:solidFill>
                          <a:srgbClr val="2926BF"/>
                        </a:solidFill>
                        <a:latin typeface="Cambria Math" panose="02040503050406030204" pitchFamily="18" charset="0"/>
                        <a:ea typeface="Arial"/>
                      </a:rPr>
                      <m:t>𝛽</m:t>
                    </m:r>
                  </m:oMath>
                </a14:m>
                <a:r>
                  <a:rPr lang="en-US" altLang="zh-CN" sz="2400" i="1" dirty="0">
                    <a:latin typeface="Times New Roman" panose="02020603050405020304" pitchFamily="18" charset="0"/>
                    <a:cs typeface="Times New Roman" panose="02020603050405020304" pitchFamily="18" charset="0"/>
                  </a:rPr>
                  <a:t>. </a:t>
                </a:r>
                <a14:m>
                  <m:oMath xmlns:m="http://schemas.openxmlformats.org/officeDocument/2006/math">
                    <m:r>
                      <a:rPr lang="zh-TW" altLang="en-US" sz="2400" i="1" dirty="0">
                        <a:solidFill>
                          <a:srgbClr val="2926BF"/>
                        </a:solidFill>
                        <a:latin typeface="Cambria Math" panose="02040503050406030204" pitchFamily="18" charset="0"/>
                        <a:ea typeface="Arial"/>
                      </a:rPr>
                      <m:t>𝛽</m:t>
                    </m:r>
                    <m:r>
                      <a:rPr lang="en-US" altLang="zh-CN" sz="2400" i="1" baseline="-25000" dirty="0">
                        <a:solidFill>
                          <a:srgbClr val="2926BF"/>
                        </a:solidFill>
                        <a:latin typeface="Cambria Math" panose="02040503050406030204" pitchFamily="18" charset="0"/>
                      </a:rPr>
                      <m:t>𝑠𝑝</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zero by symmetry. The secular equation becomes</a:t>
                </a:r>
              </a:p>
            </p:txBody>
          </p:sp>
        </mc:Choice>
        <mc:Fallback xmlns="">
          <p:sp>
            <p:nvSpPr>
              <p:cNvPr id="5" name="矩形 4"/>
              <p:cNvSpPr>
                <a:spLocks noRot="1" noChangeAspect="1" noMove="1" noResize="1" noEditPoints="1" noAdjustHandles="1" noChangeArrowheads="1" noChangeShapeType="1" noTextEdit="1"/>
              </p:cNvSpPr>
              <p:nvPr/>
            </p:nvSpPr>
            <p:spPr>
              <a:xfrm>
                <a:off x="304800" y="2890482"/>
                <a:ext cx="11582400" cy="1366528"/>
              </a:xfrm>
              <a:prstGeom prst="rect">
                <a:avLst/>
              </a:prstGeom>
              <a:blipFill>
                <a:blip r:embed="rId5"/>
                <a:stretch>
                  <a:fillRect l="-789" t="-1786" b="-7143"/>
                </a:stretch>
              </a:blipFill>
            </p:spPr>
            <p:txBody>
              <a:bodyPr/>
              <a:lstStyle/>
              <a:p>
                <a:r>
                  <a:rPr lang="zh-CN" altLang="en-US">
                    <a:noFill/>
                  </a:rPr>
                  <a:t> </a:t>
                </a:r>
              </a:p>
            </p:txBody>
          </p:sp>
        </mc:Fallback>
      </mc:AlternateContent>
      <p:sp>
        <p:nvSpPr>
          <p:cNvPr id="8"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A1F21B67-E10A-4CF7-A883-B384729ED780}"/>
              </a:ext>
            </a:extLst>
          </p:cNvPr>
          <p:cNvGraphicFramePr>
            <a:graphicFrameLocks noChangeAspect="1"/>
          </p:cNvGraphicFramePr>
          <p:nvPr/>
        </p:nvGraphicFramePr>
        <p:xfrm>
          <a:off x="3735197" y="4410000"/>
          <a:ext cx="4572000" cy="1473120"/>
        </p:xfrm>
        <a:graphic>
          <a:graphicData uri="http://schemas.openxmlformats.org/presentationml/2006/ole">
            <mc:AlternateContent xmlns:mc="http://schemas.openxmlformats.org/markup-compatibility/2006">
              <mc:Choice xmlns:v="urn:schemas-microsoft-com:vml" Requires="v">
                <p:oleObj name="Equation" r:id="rId6" imgW="2286000" imgH="736560" progId="Equation.DSMT4">
                  <p:embed/>
                </p:oleObj>
              </mc:Choice>
              <mc:Fallback>
                <p:oleObj name="Equation" r:id="rId6" imgW="2286000" imgH="736560" progId="Equation.DSMT4">
                  <p:embed/>
                  <p:pic>
                    <p:nvPicPr>
                      <p:cNvPr id="9" name="对象 8">
                        <a:extLst>
                          <a:ext uri="{FF2B5EF4-FFF2-40B4-BE49-F238E27FC236}">
                            <a16:creationId xmlns:a16="http://schemas.microsoft.com/office/drawing/2014/main" id="{A1F21B67-E10A-4CF7-A883-B384729ED780}"/>
                          </a:ext>
                        </a:extLst>
                      </p:cNvPr>
                      <p:cNvPicPr/>
                      <p:nvPr/>
                    </p:nvPicPr>
                    <p:blipFill>
                      <a:blip r:embed="rId7"/>
                      <a:stretch>
                        <a:fillRect/>
                      </a:stretch>
                    </p:blipFill>
                    <p:spPr>
                      <a:xfrm>
                        <a:off x="3735197" y="4410000"/>
                        <a:ext cx="4572000" cy="1473120"/>
                      </a:xfrm>
                      <a:prstGeom prst="rect">
                        <a:avLst/>
                      </a:prstGeom>
                    </p:spPr>
                  </p:pic>
                </p:oleObj>
              </mc:Fallback>
            </mc:AlternateContent>
          </a:graphicData>
        </a:graphic>
      </p:graphicFrame>
    </p:spTree>
    <p:extLst>
      <p:ext uri="{BB962C8B-B14F-4D97-AF65-F5344CB8AC3E}">
        <p14:creationId xmlns:p14="http://schemas.microsoft.com/office/powerpoint/2010/main" val="2624128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矩形 11"/>
              <p:cNvSpPr/>
              <p:nvPr/>
            </p:nvSpPr>
            <p:spPr>
              <a:xfrm>
                <a:off x="724362" y="3367958"/>
                <a:ext cx="10901580" cy="15762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The usual procedure is to substitute </a:t>
                </a:r>
                <a14:m>
                  <m:oMath xmlns:m="http://schemas.openxmlformats.org/officeDocument/2006/math">
                    <m:r>
                      <m:rPr>
                        <m:sty m:val="p"/>
                      </m:rPr>
                      <a:rPr lang="el-GR" altLang="zh-CN" sz="2400" i="1" dirty="0">
                        <a:solidFill>
                          <a:srgbClr val="2926BF"/>
                        </a:solidFill>
                        <a:latin typeface="Cambria Math" panose="02040503050406030204" pitchFamily="18" charset="0"/>
                        <a:ea typeface="Cambria Math" panose="02040503050406030204" pitchFamily="18" charset="0"/>
                      </a:rPr>
                      <m:t>α</m:t>
                    </m:r>
                    <m:r>
                      <a:rPr lang="en-US" altLang="zh-CN" sz="2400" i="1" dirty="0">
                        <a:solidFill>
                          <a:srgbClr val="2926BF"/>
                        </a:solidFill>
                        <a:latin typeface="Cambria Math" panose="02040503050406030204" pitchFamily="18" charset="0"/>
                        <a:ea typeface="Cambria Math" panose="02040503050406030204" pitchFamily="18" charset="0"/>
                      </a:rPr>
                      <m:t>−</m:t>
                    </m:r>
                    <m:acc>
                      <m:accPr>
                        <m:chr m:val="̃"/>
                        <m:ctrlPr>
                          <a:rPr lang="el-GR" altLang="zh-CN" sz="2400" i="1" dirty="0">
                            <a:solidFill>
                              <a:srgbClr val="2926BF"/>
                            </a:solidFill>
                            <a:latin typeface="Cambria Math" panose="02040503050406030204" pitchFamily="18" charset="0"/>
                            <a:ea typeface="Cambria Math" panose="02040503050406030204" pitchFamily="18" charset="0"/>
                          </a:rPr>
                        </m:ctrlPr>
                      </m:accPr>
                      <m:e>
                        <m:r>
                          <a:rPr lang="en-US" altLang="zh-CN" sz="2400" i="1" dirty="0">
                            <a:solidFill>
                              <a:srgbClr val="2926BF"/>
                            </a:solidFill>
                            <a:latin typeface="Cambria Math" panose="02040503050406030204" pitchFamily="18" charset="0"/>
                            <a:ea typeface="Cambria Math" panose="02040503050406030204" pitchFamily="18" charset="0"/>
                          </a:rPr>
                          <m:t>𝐸</m:t>
                        </m:r>
                      </m:e>
                    </m:acc>
                    <m:r>
                      <a:rPr lang="en-US" altLang="zh-CN" sz="2400" i="1" dirty="0">
                        <a:solidFill>
                          <a:srgbClr val="2926BF"/>
                        </a:solidFill>
                        <a:latin typeface="Cambria Math" panose="02040503050406030204" pitchFamily="18" charset="0"/>
                      </a:rPr>
                      <m:t>= </m:t>
                    </m:r>
                    <m:r>
                      <a:rPr lang="en-US" altLang="zh-CN" sz="2400" i="1" dirty="0">
                        <a:solidFill>
                          <a:srgbClr val="2926BF"/>
                        </a:solidFill>
                        <a:latin typeface="Cambria Math" panose="02040503050406030204" pitchFamily="18" charset="0"/>
                      </a:rPr>
                      <m:t>𝑥</m:t>
                    </m:r>
                    <m:r>
                      <a:rPr lang="zh-CN" altLang="en-US" sz="2400" i="1" dirty="0">
                        <a:solidFill>
                          <a:srgbClr val="2926BF"/>
                        </a:solidFill>
                        <a:latin typeface="Cambria Math" panose="02040503050406030204" pitchFamily="18" charset="0"/>
                      </a:rPr>
                      <m:t>𝛽</m:t>
                    </m:r>
                  </m:oMath>
                </a14:m>
                <a:r>
                  <a:rPr lang="en-US" altLang="zh-CN" sz="2400" dirty="0">
                    <a:latin typeface="Times New Roman" panose="02020603050405020304" pitchFamily="18" charset="0"/>
                    <a:cs typeface="Times New Roman" panose="02020603050405020304" pitchFamily="18" charset="0"/>
                  </a:rPr>
                  <a:t> in the secular determinant, and factorize </a:t>
                </a:r>
                <a14:m>
                  <m:oMath xmlns:m="http://schemas.openxmlformats.org/officeDocument/2006/math">
                    <m:r>
                      <a:rPr lang="zh-CN" altLang="en-US" sz="2400" i="1" dirty="0">
                        <a:solidFill>
                          <a:srgbClr val="2926BF"/>
                        </a:solidFill>
                        <a:latin typeface="Cambria Math" panose="02040503050406030204" pitchFamily="18" charset="0"/>
                      </a:rPr>
                      <m:t>𝛽</m:t>
                    </m:r>
                  </m:oMath>
                </a14:m>
                <a:r>
                  <a:rPr lang="en-US" altLang="zh-CN" sz="2400" dirty="0">
                    <a:latin typeface="Times New Roman" panose="02020603050405020304" pitchFamily="18" charset="0"/>
                    <a:cs typeface="Times New Roman" panose="02020603050405020304" pitchFamily="18" charset="0"/>
                  </a:rPr>
                  <a:t> out of each row. This gives a simple cubic equation for </a:t>
                </a:r>
                <a:r>
                  <a:rPr lang="en-US" altLang="zh-CN" sz="2400" i="1" dirty="0">
                    <a:solidFill>
                      <a:srgbClr val="2926BF"/>
                    </a:solidFill>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It is now quite easy to show that </a:t>
                </a:r>
                <a:r>
                  <a:rPr lang="en-US" altLang="zh-CN" sz="2400" i="1" dirty="0">
                    <a:solidFill>
                      <a:srgbClr val="2926BF"/>
                    </a:solidFill>
                    <a:latin typeface="Times New Roman" panose="02020603050405020304" pitchFamily="18" charset="0"/>
                    <a:cs typeface="Times New Roman" panose="02020603050405020304" pitchFamily="18" charset="0"/>
                  </a:rPr>
                  <a:t>c</a:t>
                </a:r>
                <a:r>
                  <a:rPr lang="en-US" altLang="zh-CN" sz="2400" i="1" baseline="-25000" dirty="0">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 = c</a:t>
                </a:r>
                <a:r>
                  <a:rPr lang="en-US" altLang="zh-CN" sz="2400" i="1" baseline="-25000"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two of the solutions (giving an </a:t>
                </a:r>
                <a:r>
                  <a:rPr lang="en-US" altLang="zh-CN" sz="2400" i="1" dirty="0" err="1">
                    <a:solidFill>
                      <a:srgbClr val="2926BF"/>
                    </a:solidFill>
                    <a:latin typeface="Times New Roman" panose="02020603050405020304" pitchFamily="18" charset="0"/>
                    <a:cs typeface="Times New Roman" panose="02020603050405020304" pitchFamily="18" charset="0"/>
                  </a:rPr>
                  <a:t>sp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hybrid </a:t>
                </a:r>
                <a14:m>
                  <m:oMath xmlns:m="http://schemas.openxmlformats.org/officeDocument/2006/math">
                    <m:r>
                      <a:rPr lang="zh-TW" altLang="en-US" sz="2400" i="1" dirty="0">
                        <a:solidFill>
                          <a:srgbClr val="2926BF"/>
                        </a:solidFill>
                        <a:latin typeface="Cambria Math" panose="02040503050406030204" pitchFamily="18" charset="0"/>
                        <a:ea typeface="Arial"/>
                      </a:rPr>
                      <m:t>𝜑</m:t>
                    </m:r>
                    <m:r>
                      <m:rPr>
                        <m:nor/>
                      </m:rPr>
                      <a:rPr lang="en-US" altLang="zh-CN" sz="2400" baseline="-25000" dirty="0">
                        <a:solidFill>
                          <a:srgbClr val="2926BF"/>
                        </a:solidFill>
                        <a:latin typeface="Times New Roman" panose="02020603050405020304" pitchFamily="18" charset="0"/>
                        <a:cs typeface="Times New Roman" panose="02020603050405020304" pitchFamily="18" charset="0"/>
                      </a:rPr>
                      <m:t>Li</m:t>
                    </m:r>
                    <m:r>
                      <a:rPr lang="en-US" altLang="zh-CN" sz="2400" i="1" baseline="-25000" dirty="0">
                        <a:solidFill>
                          <a:srgbClr val="2926BF"/>
                        </a:solidFill>
                        <a:latin typeface="Cambria Math" panose="02040503050406030204" pitchFamily="18" charset="0"/>
                      </a:rPr>
                      <m:t>2</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m:t>
                    </m:r>
                    <m:r>
                      <a:rPr lang="zh-TW" altLang="en-US" sz="2400" i="1" dirty="0">
                        <a:solidFill>
                          <a:srgbClr val="2926BF"/>
                        </a:solidFill>
                        <a:latin typeface="Cambria Math" panose="02040503050406030204" pitchFamily="18" charset="0"/>
                        <a:ea typeface="Arial"/>
                      </a:rPr>
                      <m:t>𝜑</m:t>
                    </m:r>
                    <m:r>
                      <m:rPr>
                        <m:nor/>
                      </m:rPr>
                      <a:rPr lang="en-US" altLang="zh-CN" sz="2400" baseline="-25000" dirty="0">
                        <a:solidFill>
                          <a:srgbClr val="2926BF"/>
                        </a:solidFill>
                        <a:latin typeface="Times New Roman" panose="02020603050405020304" pitchFamily="18" charset="0"/>
                        <a:cs typeface="Times New Roman" panose="02020603050405020304" pitchFamily="18" charset="0"/>
                      </a:rPr>
                      <m:t>Li</m:t>
                    </m:r>
                    <m:r>
                      <a:rPr lang="en-US" altLang="zh-CN" sz="2400" i="1" baseline="-25000" dirty="0">
                        <a:solidFill>
                          <a:srgbClr val="2926BF"/>
                        </a:solidFill>
                        <a:latin typeface="Cambria Math" panose="02040503050406030204" pitchFamily="18" charset="0"/>
                      </a:rPr>
                      <m:t>2</m:t>
                    </m:r>
                    <m:r>
                      <a:rPr lang="en-US" altLang="zh-CN" sz="2400" i="1" baseline="-25000" dirty="0">
                        <a:solidFill>
                          <a:srgbClr val="2926BF"/>
                        </a:solidFill>
                        <a:latin typeface="Cambria Math" panose="02040503050406030204" pitchFamily="18" charset="0"/>
                      </a:rPr>
                      <m:t>𝑝𝑧</m:t>
                    </m:r>
                  </m:oMath>
                </a14:m>
                <a:r>
                  <a:rPr lang="en-US" altLang="zh-CN" sz="2400" dirty="0">
                    <a:latin typeface="Times New Roman" panose="02020603050405020304" pitchFamily="18" charset="0"/>
                    <a:cs typeface="Times New Roman" panose="02020603050405020304" pitchFamily="18" charset="0"/>
                  </a:rPr>
                  <a:t>) and </a:t>
                </a:r>
                <a:r>
                  <a:rPr lang="en-US" altLang="zh-CN" sz="2400" i="1" dirty="0">
                    <a:solidFill>
                      <a:srgbClr val="2926BF"/>
                    </a:solidFill>
                    <a:latin typeface="Times New Roman" panose="02020603050405020304" pitchFamily="18" charset="0"/>
                    <a:cs typeface="Times New Roman" panose="02020603050405020304" pitchFamily="18" charset="0"/>
                  </a:rPr>
                  <a:t>c</a:t>
                </a:r>
                <a:r>
                  <a:rPr lang="en-US" altLang="zh-CN" sz="2400" i="1" baseline="-25000" dirty="0">
                    <a:solidFill>
                      <a:srgbClr val="2926BF"/>
                    </a:solidFill>
                    <a:latin typeface="Times New Roman" panose="02020603050405020304" pitchFamily="18" charset="0"/>
                    <a:cs typeface="Times New Roman" panose="02020603050405020304" pitchFamily="18" charset="0"/>
                  </a:rPr>
                  <a:t>s</a:t>
                </a:r>
                <a:r>
                  <a:rPr lang="en-US" altLang="zh-CN" sz="2400" i="1" dirty="0">
                    <a:solidFill>
                      <a:srgbClr val="2926BF"/>
                    </a:solidFill>
                    <a:latin typeface="Times New Roman" panose="02020603050405020304" pitchFamily="18" charset="0"/>
                    <a:cs typeface="Times New Roman" panose="02020603050405020304" pitchFamily="18" charset="0"/>
                  </a:rPr>
                  <a:t> = -c</a:t>
                </a:r>
                <a:r>
                  <a:rPr lang="en-US" altLang="zh-CN" sz="2400" i="1" baseline="-25000"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 the other (giving another </a:t>
                </a:r>
                <a:r>
                  <a:rPr lang="en-US" altLang="zh-CN" sz="2400" i="1" dirty="0" err="1">
                    <a:solidFill>
                      <a:srgbClr val="2926BF"/>
                    </a:solidFill>
                    <a:latin typeface="Times New Roman" panose="02020603050405020304" pitchFamily="18" charset="0"/>
                    <a:cs typeface="Times New Roman" panose="02020603050405020304" pitchFamily="18" charset="0"/>
                  </a:rPr>
                  <a:t>sp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hybrid).</a:t>
                </a:r>
              </a:p>
            </p:txBody>
          </p:sp>
        </mc:Choice>
        <mc:Fallback xmlns="">
          <p:sp>
            <p:nvSpPr>
              <p:cNvPr id="12" name="矩形 11"/>
              <p:cNvSpPr>
                <a:spLocks noRot="1" noChangeAspect="1" noMove="1" noResize="1" noEditPoints="1" noAdjustHandles="1" noChangeArrowheads="1" noChangeShapeType="1" noTextEdit="1"/>
              </p:cNvSpPr>
              <p:nvPr/>
            </p:nvSpPr>
            <p:spPr>
              <a:xfrm>
                <a:off x="724362" y="3367958"/>
                <a:ext cx="10901580" cy="1576265"/>
              </a:xfrm>
              <a:prstGeom prst="rect">
                <a:avLst/>
              </a:prstGeom>
              <a:blipFill rotWithShape="1">
                <a:blip r:embed="rId3"/>
                <a:stretch>
                  <a:fillRect l="-895" t="-2703" r="-1398" b="-7722"/>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nvGraphicFramePr>
        <p:xfrm>
          <a:off x="3543300" y="1104673"/>
          <a:ext cx="4572000" cy="1473200"/>
        </p:xfrm>
        <a:graphic>
          <a:graphicData uri="http://schemas.openxmlformats.org/presentationml/2006/ole">
            <mc:AlternateContent xmlns:mc="http://schemas.openxmlformats.org/markup-compatibility/2006">
              <mc:Choice xmlns:v="urn:schemas-microsoft-com:vml" Requires="v">
                <p:oleObj name="Equation" r:id="rId4" imgW="2286000" imgH="736560" progId="Equation.DSMT4">
                  <p:embed/>
                </p:oleObj>
              </mc:Choice>
              <mc:Fallback>
                <p:oleObj name="Equation" r:id="rId4" imgW="2286000" imgH="736560" progId="Equation.DSMT4">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3300" y="1104673"/>
                        <a:ext cx="4572000"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04445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D1B9283-C3AF-EADE-F3F8-0B4B32967ABE}"/>
              </a:ext>
            </a:extLst>
          </p:cNvPr>
          <p:cNvSpPr txBox="1"/>
          <p:nvPr/>
        </p:nvSpPr>
        <p:spPr>
          <a:xfrm>
            <a:off x="419101" y="901788"/>
            <a:ext cx="11136084" cy="2308324"/>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基于线性变分法，哈密顿算符在尝试波函数表象下表达为哈密顿矩阵。通过引入库仑积分</a:t>
            </a:r>
            <a:r>
              <a:rPr lang="en-US" altLang="zh-CN" sz="2400" dirty="0">
                <a:latin typeface="黑体" panose="02010609060101010101" pitchFamily="49" charset="-122"/>
                <a:ea typeface="黑体" panose="02010609060101010101" pitchFamily="49" charset="-122"/>
              </a:rPr>
              <a:t>α</a:t>
            </a:r>
            <a:r>
              <a:rPr lang="zh-CN" altLang="en-US" sz="2400" dirty="0">
                <a:latin typeface="黑体" panose="02010609060101010101" pitchFamily="49" charset="-122"/>
                <a:ea typeface="黑体" panose="02010609060101010101" pitchFamily="49" charset="-122"/>
              </a:rPr>
              <a:t>和共振积分</a:t>
            </a:r>
            <a:r>
              <a:rPr lang="en-US" altLang="zh-CN" sz="2400" dirty="0">
                <a:latin typeface="黑体" panose="02010609060101010101" pitchFamily="49" charset="-122"/>
                <a:ea typeface="黑体" panose="02010609060101010101" pitchFamily="49" charset="-122"/>
              </a:rPr>
              <a:t>β</a:t>
            </a:r>
            <a:r>
              <a:rPr lang="zh-CN" altLang="en-US" sz="2400" dirty="0">
                <a:latin typeface="黑体" panose="02010609060101010101" pitchFamily="49" charset="-122"/>
                <a:ea typeface="黑体" panose="02010609060101010101" pitchFamily="49" charset="-122"/>
              </a:rPr>
              <a:t>来构建久期方程，从而定性讨论分子的成键、反键轨道和能级关系。我们称之为简单分子轨道理论。</a:t>
            </a:r>
            <a:endParaRPr lang="en-US" altLang="zh-CN" sz="2400" dirty="0">
              <a:latin typeface="黑体" panose="02010609060101010101" pitchFamily="49" charset="-122"/>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基于此，引入库仑积分</a:t>
            </a:r>
            <a:r>
              <a:rPr lang="en-US" altLang="zh-CN" sz="2400" dirty="0">
                <a:latin typeface="黑体" panose="02010609060101010101" pitchFamily="49" charset="-122"/>
                <a:ea typeface="黑体" panose="02010609060101010101" pitchFamily="49" charset="-122"/>
              </a:rPr>
              <a:t>α</a:t>
            </a:r>
            <a:r>
              <a:rPr lang="zh-CN" altLang="en-US" sz="2400" dirty="0">
                <a:latin typeface="黑体" panose="02010609060101010101" pitchFamily="49" charset="-122"/>
                <a:ea typeface="黑体" panose="02010609060101010101" pitchFamily="49" charset="-122"/>
              </a:rPr>
              <a:t>和共振积分</a:t>
            </a:r>
            <a:r>
              <a:rPr lang="en-US" altLang="zh-CN" sz="2400" dirty="0">
                <a:latin typeface="黑体" panose="02010609060101010101" pitchFamily="49" charset="-122"/>
                <a:ea typeface="黑体" panose="02010609060101010101" pitchFamily="49" charset="-122"/>
              </a:rPr>
              <a:t>β</a:t>
            </a:r>
            <a:r>
              <a:rPr lang="zh-CN" altLang="en-US" sz="2400" dirty="0">
                <a:latin typeface="黑体" panose="02010609060101010101" pitchFamily="49" charset="-122"/>
                <a:ea typeface="黑体" panose="02010609060101010101" pitchFamily="49" charset="-122"/>
              </a:rPr>
              <a:t>近似，忽略重叠积分，应用于</a:t>
            </a:r>
            <a:r>
              <a:rPr lang="el-GR" altLang="zh-CN" sz="2400" dirty="0">
                <a:latin typeface="黑体" panose="02010609060101010101" pitchFamily="49" charset="-122"/>
                <a:ea typeface="黑体" panose="02010609060101010101" pitchFamily="49" charset="-122"/>
              </a:rPr>
              <a:t>π</a:t>
            </a:r>
            <a:r>
              <a:rPr lang="zh-CN" altLang="en-US" sz="2400" dirty="0">
                <a:latin typeface="黑体" panose="02010609060101010101" pitchFamily="49" charset="-122"/>
                <a:ea typeface="黑体" panose="02010609060101010101" pitchFamily="49" charset="-122"/>
              </a:rPr>
              <a:t>电子体系，跳过对哈密顿矩阵元的具体计算，直接求解久期方程我们称之为休克尔分子轨道理论 （化学理论</a:t>
            </a:r>
            <a:r>
              <a:rPr lang="en-US" altLang="zh-CN" sz="2400" dirty="0">
                <a:latin typeface="黑体" panose="02010609060101010101" pitchFamily="49" charset="-122"/>
                <a:ea typeface="黑体" panose="02010609060101010101" pitchFamily="49" charset="-122"/>
              </a:rPr>
              <a:t>IB </a:t>
            </a:r>
            <a:r>
              <a:rPr lang="zh-CN" altLang="en-US" sz="2400" dirty="0">
                <a:latin typeface="黑体" panose="02010609060101010101" pitchFamily="49" charset="-122"/>
                <a:ea typeface="黑体" panose="02010609060101010101" pitchFamily="49" charset="-122"/>
              </a:rPr>
              <a:t>）</a:t>
            </a:r>
          </a:p>
        </p:txBody>
      </p:sp>
      <p:sp>
        <p:nvSpPr>
          <p:cNvPr id="3" name="文本框 2">
            <a:extLst>
              <a:ext uri="{FF2B5EF4-FFF2-40B4-BE49-F238E27FC236}">
                <a16:creationId xmlns:a16="http://schemas.microsoft.com/office/drawing/2014/main" id="{85B9AFB5-8F73-11DA-D058-C2941CFEEF8C}"/>
              </a:ext>
            </a:extLst>
          </p:cNvPr>
          <p:cNvSpPr txBox="1"/>
          <p:nvPr/>
        </p:nvSpPr>
        <p:spPr>
          <a:xfrm>
            <a:off x="419101" y="3820495"/>
            <a:ext cx="10912929" cy="830997"/>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库仑积分</a:t>
            </a:r>
            <a:r>
              <a:rPr lang="en-US" altLang="zh-CN" sz="2400" dirty="0">
                <a:latin typeface="黑体" panose="02010609060101010101" pitchFamily="49" charset="-122"/>
                <a:ea typeface="黑体" panose="02010609060101010101" pitchFamily="49" charset="-122"/>
              </a:rPr>
              <a:t>α</a:t>
            </a:r>
            <a:r>
              <a:rPr lang="zh-CN" altLang="en-US" sz="2400" dirty="0">
                <a:latin typeface="黑体" panose="02010609060101010101" pitchFamily="49" charset="-122"/>
                <a:ea typeface="黑体" panose="02010609060101010101" pitchFamily="49" charset="-122"/>
              </a:rPr>
              <a:t>和共振积分</a:t>
            </a:r>
            <a:r>
              <a:rPr lang="en-US" altLang="zh-CN" sz="2400" dirty="0">
                <a:latin typeface="黑体" panose="02010609060101010101" pitchFamily="49" charset="-122"/>
                <a:ea typeface="黑体" panose="02010609060101010101" pitchFamily="49" charset="-122"/>
              </a:rPr>
              <a:t>β</a:t>
            </a:r>
            <a:r>
              <a:rPr lang="zh-CN" altLang="en-US" sz="2400" dirty="0">
                <a:latin typeface="黑体" panose="02010609060101010101" pitchFamily="49" charset="-122"/>
                <a:ea typeface="黑体" panose="02010609060101010101" pitchFamily="49" charset="-122"/>
              </a:rPr>
              <a:t>如何确定？参数化！精度和可推广性无法满足定量计算要求</a:t>
            </a:r>
            <a:endParaRPr lang="en-US" altLang="zh-CN" sz="24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FBD8A77D-9F25-00B9-4275-D1935627D1ED}"/>
              </a:ext>
            </a:extLst>
          </p:cNvPr>
          <p:cNvSpPr txBox="1"/>
          <p:nvPr/>
        </p:nvSpPr>
        <p:spPr>
          <a:xfrm>
            <a:off x="3445329" y="4792616"/>
            <a:ext cx="4334841"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改造哈密顿算符</a:t>
            </a:r>
            <a:r>
              <a:rPr lang="zh-CN" altLang="en-US" sz="2400" dirty="0">
                <a:latin typeface="黑体" panose="02010609060101010101" pitchFamily="49" charset="-122"/>
                <a:ea typeface="黑体" panose="02010609060101010101" pitchFamily="49" charset="-122"/>
                <a:sym typeface="Symbol" panose="05050102010706020507" pitchFamily="18" charset="2"/>
              </a:rPr>
              <a:t> 中心场近似</a:t>
            </a:r>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3335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05373" y="189246"/>
            <a:ext cx="5117042"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6.6 Central field approximation </a:t>
            </a:r>
            <a:endParaRPr lang="zh-CN" altLang="en-US" sz="2800" b="1" dirty="0">
              <a:latin typeface="Times New Roman" panose="02020603050405020304" pitchFamily="18" charset="0"/>
              <a:cs typeface="Times New Roman" panose="02020603050405020304" pitchFamily="18" charset="0"/>
            </a:endParaRPr>
          </a:p>
        </p:txBody>
      </p:sp>
      <p:sp>
        <p:nvSpPr>
          <p:cNvPr id="7"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8" name="Text Box 13"/>
          <p:cNvSpPr txBox="1">
            <a:spLocks noChangeArrowheads="1"/>
          </p:cNvSpPr>
          <p:nvPr/>
        </p:nvSpPr>
        <p:spPr bwMode="auto">
          <a:xfrm>
            <a:off x="353559" y="967333"/>
            <a:ext cx="9181171"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2400" dirty="0">
                <a:latin typeface="Times New Roman" panose="02020603050405020304" pitchFamily="18" charset="0"/>
                <a:cs typeface="Times New Roman" panose="02020603050405020304" pitchFamily="18" charset="0"/>
              </a:rPr>
              <a:t>Suppose that a system is composed of the noninteracting particles 1 and 2   </a:t>
            </a:r>
          </a:p>
        </p:txBody>
      </p:sp>
      <p:graphicFrame>
        <p:nvGraphicFramePr>
          <p:cNvPr id="10" name="Object 22"/>
          <p:cNvGraphicFramePr>
            <a:graphicFrameLocks noChangeAspect="1"/>
          </p:cNvGraphicFramePr>
          <p:nvPr/>
        </p:nvGraphicFramePr>
        <p:xfrm>
          <a:off x="3943537" y="1585553"/>
          <a:ext cx="2601912" cy="536575"/>
        </p:xfrm>
        <a:graphic>
          <a:graphicData uri="http://schemas.openxmlformats.org/presentationml/2006/ole">
            <mc:AlternateContent xmlns:mc="http://schemas.openxmlformats.org/markup-compatibility/2006">
              <mc:Choice xmlns:v="urn:schemas-microsoft-com:vml" Requires="v">
                <p:oleObj name="Equation" r:id="rId2" imgW="31089600" imgH="6096000" progId="Equation.DSMT4">
                  <p:embed/>
                </p:oleObj>
              </mc:Choice>
              <mc:Fallback>
                <p:oleObj name="Equation" r:id="rId2" imgW="31089600" imgH="6096000" progId="Equation.DSMT4">
                  <p:embed/>
                  <p:pic>
                    <p:nvPicPr>
                      <p:cNvPr id="10" name="Object 22"/>
                      <p:cNvPicPr>
                        <a:picLocks noChangeAspect="1" noChangeArrowheads="1"/>
                      </p:cNvPicPr>
                      <p:nvPr/>
                    </p:nvPicPr>
                    <p:blipFill>
                      <a:blip r:embed="rId3"/>
                      <a:srcRect/>
                      <a:stretch>
                        <a:fillRect/>
                      </a:stretch>
                    </p:blipFill>
                    <p:spPr bwMode="auto">
                      <a:xfrm>
                        <a:off x="3943537" y="1585553"/>
                        <a:ext cx="2601912" cy="536575"/>
                      </a:xfrm>
                      <a:prstGeom prst="rect">
                        <a:avLst/>
                      </a:prstGeom>
                      <a:noFill/>
                      <a:ln>
                        <a:solidFill>
                          <a:srgbClr val="FF0000"/>
                        </a:solidFill>
                      </a:ln>
                    </p:spPr>
                  </p:pic>
                </p:oleObj>
              </mc:Fallback>
            </mc:AlternateContent>
          </a:graphicData>
        </a:graphic>
      </p:graphicFrame>
      <p:graphicFrame>
        <p:nvGraphicFramePr>
          <p:cNvPr id="11" name="Object 23"/>
          <p:cNvGraphicFramePr>
            <a:graphicFrameLocks noChangeAspect="1"/>
          </p:cNvGraphicFramePr>
          <p:nvPr/>
        </p:nvGraphicFramePr>
        <p:xfrm>
          <a:off x="3579873" y="2254546"/>
          <a:ext cx="3967162" cy="530225"/>
        </p:xfrm>
        <a:graphic>
          <a:graphicData uri="http://schemas.openxmlformats.org/presentationml/2006/ole">
            <mc:AlternateContent xmlns:mc="http://schemas.openxmlformats.org/markup-compatibility/2006">
              <mc:Choice xmlns:v="urn:schemas-microsoft-com:vml" Requires="v">
                <p:oleObj name="Equation" r:id="rId4" imgW="47244000" imgH="6096000" progId="Equation.DSMT4">
                  <p:embed/>
                </p:oleObj>
              </mc:Choice>
              <mc:Fallback>
                <p:oleObj name="Equation" r:id="rId4" imgW="47244000" imgH="6096000" progId="Equation.DSMT4">
                  <p:embed/>
                  <p:pic>
                    <p:nvPicPr>
                      <p:cNvPr id="11" name="Object 23"/>
                      <p:cNvPicPr>
                        <a:picLocks noChangeAspect="1" noChangeArrowheads="1"/>
                      </p:cNvPicPr>
                      <p:nvPr/>
                    </p:nvPicPr>
                    <p:blipFill>
                      <a:blip r:embed="rId5"/>
                      <a:srcRect/>
                      <a:stretch>
                        <a:fillRect/>
                      </a:stretch>
                    </p:blipFill>
                    <p:spPr bwMode="auto">
                      <a:xfrm>
                        <a:off x="3579873" y="2254546"/>
                        <a:ext cx="3967162" cy="530225"/>
                      </a:xfrm>
                      <a:prstGeom prst="rect">
                        <a:avLst/>
                      </a:prstGeom>
                      <a:noFill/>
                      <a:ln>
                        <a:noFill/>
                      </a:ln>
                    </p:spPr>
                  </p:pic>
                </p:oleObj>
              </mc:Fallback>
            </mc:AlternateContent>
          </a:graphicData>
        </a:graphic>
      </p:graphicFrame>
      <p:graphicFrame>
        <p:nvGraphicFramePr>
          <p:cNvPr id="12" name="Object 24"/>
          <p:cNvGraphicFramePr>
            <a:graphicFrameLocks noChangeAspect="1"/>
          </p:cNvGraphicFramePr>
          <p:nvPr/>
        </p:nvGraphicFramePr>
        <p:xfrm>
          <a:off x="8722415" y="2172740"/>
          <a:ext cx="2944813" cy="482600"/>
        </p:xfrm>
        <a:graphic>
          <a:graphicData uri="http://schemas.openxmlformats.org/presentationml/2006/ole">
            <mc:AlternateContent xmlns:mc="http://schemas.openxmlformats.org/markup-compatibility/2006">
              <mc:Choice xmlns:v="urn:schemas-microsoft-com:vml" Requires="v">
                <p:oleObj r:id="rId6" imgW="1471930" imgH="237490" progId="Equation.3">
                  <p:embed/>
                </p:oleObj>
              </mc:Choice>
              <mc:Fallback>
                <p:oleObj r:id="rId6" imgW="1471930" imgH="237490" progId="Equation.3">
                  <p:embed/>
                  <p:pic>
                    <p:nvPicPr>
                      <p:cNvPr id="12"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2415" y="2172740"/>
                        <a:ext cx="2944813" cy="482600"/>
                      </a:xfrm>
                      <a:prstGeom prst="rect">
                        <a:avLst/>
                      </a:prstGeom>
                      <a:noFill/>
                      <a:ln>
                        <a:solidFill>
                          <a:srgbClr val="FF0000"/>
                        </a:solidFill>
                      </a:ln>
                    </p:spPr>
                  </p:pic>
                </p:oleObj>
              </mc:Fallback>
            </mc:AlternateContent>
          </a:graphicData>
        </a:graphic>
      </p:graphicFrame>
      <p:graphicFrame>
        <p:nvGraphicFramePr>
          <p:cNvPr id="13" name="Object 25"/>
          <p:cNvGraphicFramePr>
            <a:graphicFrameLocks noChangeAspect="1"/>
          </p:cNvGraphicFramePr>
          <p:nvPr/>
        </p:nvGraphicFramePr>
        <p:xfrm>
          <a:off x="1934160" y="2844979"/>
          <a:ext cx="6294438" cy="530225"/>
        </p:xfrm>
        <a:graphic>
          <a:graphicData uri="http://schemas.openxmlformats.org/presentationml/2006/ole">
            <mc:AlternateContent xmlns:mc="http://schemas.openxmlformats.org/markup-compatibility/2006">
              <mc:Choice xmlns:v="urn:schemas-microsoft-com:vml" Requires="v">
                <p:oleObj name="Equation" r:id="rId8" imgW="75285600" imgH="6096000" progId="Equation.DSMT4">
                  <p:embed/>
                </p:oleObj>
              </mc:Choice>
              <mc:Fallback>
                <p:oleObj name="Equation" r:id="rId8" imgW="75285600" imgH="6096000" progId="Equation.DSMT4">
                  <p:embed/>
                  <p:pic>
                    <p:nvPicPr>
                      <p:cNvPr id="13" name="Object 25"/>
                      <p:cNvPicPr>
                        <a:picLocks noChangeAspect="1" noChangeArrowheads="1"/>
                      </p:cNvPicPr>
                      <p:nvPr/>
                    </p:nvPicPr>
                    <p:blipFill>
                      <a:blip r:embed="rId9"/>
                      <a:srcRect/>
                      <a:stretch>
                        <a:fillRect/>
                      </a:stretch>
                    </p:blipFill>
                    <p:spPr bwMode="auto">
                      <a:xfrm>
                        <a:off x="1934160" y="2844979"/>
                        <a:ext cx="62944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9"/>
          <p:cNvGraphicFramePr>
            <a:graphicFrameLocks noChangeAspect="1"/>
          </p:cNvGraphicFramePr>
          <p:nvPr/>
        </p:nvGraphicFramePr>
        <p:xfrm>
          <a:off x="4365417" y="3332725"/>
          <a:ext cx="2311400" cy="963613"/>
        </p:xfrm>
        <a:graphic>
          <a:graphicData uri="http://schemas.openxmlformats.org/presentationml/2006/ole">
            <mc:AlternateContent xmlns:mc="http://schemas.openxmlformats.org/markup-compatibility/2006">
              <mc:Choice xmlns:v="urn:schemas-microsoft-com:vml" Requires="v">
                <p:oleObj name="Equation" r:id="rId10" imgW="27432000" imgH="11277600" progId="Equation.DSMT4">
                  <p:embed/>
                </p:oleObj>
              </mc:Choice>
              <mc:Fallback>
                <p:oleObj name="Equation" r:id="rId10" imgW="27432000" imgH="11277600" progId="Equation.DSMT4">
                  <p:embed/>
                  <p:pic>
                    <p:nvPicPr>
                      <p:cNvPr id="14" name="Object 9"/>
                      <p:cNvPicPr>
                        <a:picLocks noChangeAspect="1" noChangeArrowheads="1"/>
                      </p:cNvPicPr>
                      <p:nvPr/>
                    </p:nvPicPr>
                    <p:blipFill>
                      <a:blip r:embed="rId11"/>
                      <a:srcRect/>
                      <a:stretch>
                        <a:fillRect/>
                      </a:stretch>
                    </p:blipFill>
                    <p:spPr bwMode="auto">
                      <a:xfrm>
                        <a:off x="4365417" y="3332725"/>
                        <a:ext cx="23114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33"/>
          <p:cNvGraphicFramePr>
            <a:graphicFrameLocks noChangeAspect="1"/>
          </p:cNvGraphicFramePr>
          <p:nvPr>
            <p:extLst>
              <p:ext uri="{D42A27DB-BD31-4B8C-83A1-F6EECF244321}">
                <p14:modId xmlns:p14="http://schemas.microsoft.com/office/powerpoint/2010/main" val="486556122"/>
              </p:ext>
            </p:extLst>
          </p:nvPr>
        </p:nvGraphicFramePr>
        <p:xfrm>
          <a:off x="3049838" y="4434726"/>
          <a:ext cx="1349375" cy="963612"/>
        </p:xfrm>
        <a:graphic>
          <a:graphicData uri="http://schemas.openxmlformats.org/presentationml/2006/ole">
            <mc:AlternateContent xmlns:mc="http://schemas.openxmlformats.org/markup-compatibility/2006">
              <mc:Choice xmlns:v="urn:schemas-microsoft-com:vml" Requires="v">
                <p:oleObj name="Equation" r:id="rId12" imgW="15849600" imgH="11277600" progId="Equation.DSMT4">
                  <p:embed/>
                </p:oleObj>
              </mc:Choice>
              <mc:Fallback>
                <p:oleObj name="Equation" r:id="rId12" imgW="15849600" imgH="11277600" progId="Equation.DSMT4">
                  <p:embed/>
                  <p:pic>
                    <p:nvPicPr>
                      <p:cNvPr id="15" name="Object 33"/>
                      <p:cNvPicPr>
                        <a:picLocks noChangeAspect="1" noChangeArrowheads="1"/>
                      </p:cNvPicPr>
                      <p:nvPr/>
                    </p:nvPicPr>
                    <p:blipFill>
                      <a:blip r:embed="rId13"/>
                      <a:srcRect/>
                      <a:stretch>
                        <a:fillRect/>
                      </a:stretch>
                    </p:blipFill>
                    <p:spPr bwMode="auto">
                      <a:xfrm>
                        <a:off x="3049838" y="4434726"/>
                        <a:ext cx="1349375" cy="963612"/>
                      </a:xfrm>
                      <a:prstGeom prst="rect">
                        <a:avLst/>
                      </a:prstGeom>
                      <a:noFill/>
                      <a:ln>
                        <a:solidFill>
                          <a:srgbClr val="FF0000"/>
                        </a:solidFill>
                      </a:ln>
                    </p:spPr>
                  </p:pic>
                </p:oleObj>
              </mc:Fallback>
            </mc:AlternateContent>
          </a:graphicData>
        </a:graphic>
      </p:graphicFrame>
      <p:graphicFrame>
        <p:nvGraphicFramePr>
          <p:cNvPr id="16" name="Object 34"/>
          <p:cNvGraphicFramePr>
            <a:graphicFrameLocks noChangeAspect="1"/>
          </p:cNvGraphicFramePr>
          <p:nvPr>
            <p:extLst>
              <p:ext uri="{D42A27DB-BD31-4B8C-83A1-F6EECF244321}">
                <p14:modId xmlns:p14="http://schemas.microsoft.com/office/powerpoint/2010/main" val="746401252"/>
              </p:ext>
            </p:extLst>
          </p:nvPr>
        </p:nvGraphicFramePr>
        <p:xfrm>
          <a:off x="4944144" y="4433138"/>
          <a:ext cx="1444625" cy="965200"/>
        </p:xfrm>
        <a:graphic>
          <a:graphicData uri="http://schemas.openxmlformats.org/presentationml/2006/ole">
            <mc:AlternateContent xmlns:mc="http://schemas.openxmlformats.org/markup-compatibility/2006">
              <mc:Choice xmlns:v="urn:schemas-microsoft-com:vml" Requires="v">
                <p:oleObj name="Equation" r:id="rId14" imgW="17068800" imgH="11277600" progId="Equation.DSMT4">
                  <p:embed/>
                </p:oleObj>
              </mc:Choice>
              <mc:Fallback>
                <p:oleObj name="Equation" r:id="rId14" imgW="17068800" imgH="11277600" progId="Equation.DSMT4">
                  <p:embed/>
                  <p:pic>
                    <p:nvPicPr>
                      <p:cNvPr id="16" name="Object 34"/>
                      <p:cNvPicPr>
                        <a:picLocks noChangeAspect="1" noChangeArrowheads="1"/>
                      </p:cNvPicPr>
                      <p:nvPr/>
                    </p:nvPicPr>
                    <p:blipFill>
                      <a:blip r:embed="rId15"/>
                      <a:srcRect/>
                      <a:stretch>
                        <a:fillRect/>
                      </a:stretch>
                    </p:blipFill>
                    <p:spPr bwMode="auto">
                      <a:xfrm>
                        <a:off x="4944144" y="4433138"/>
                        <a:ext cx="1444625" cy="965200"/>
                      </a:xfrm>
                      <a:prstGeom prst="rect">
                        <a:avLst/>
                      </a:prstGeom>
                      <a:noFill/>
                      <a:ln>
                        <a:solidFill>
                          <a:srgbClr val="FF0000"/>
                        </a:solidFill>
                      </a:ln>
                    </p:spPr>
                  </p:pic>
                </p:oleObj>
              </mc:Fallback>
            </mc:AlternateContent>
          </a:graphicData>
        </a:graphic>
      </p:graphicFrame>
      <p:graphicFrame>
        <p:nvGraphicFramePr>
          <p:cNvPr id="17" name="Object 35"/>
          <p:cNvGraphicFramePr>
            <a:graphicFrameLocks noChangeAspect="1"/>
          </p:cNvGraphicFramePr>
          <p:nvPr>
            <p:extLst>
              <p:ext uri="{D42A27DB-BD31-4B8C-83A1-F6EECF244321}">
                <p14:modId xmlns:p14="http://schemas.microsoft.com/office/powerpoint/2010/main" val="2593341271"/>
              </p:ext>
            </p:extLst>
          </p:nvPr>
        </p:nvGraphicFramePr>
        <p:xfrm>
          <a:off x="7040388" y="4635950"/>
          <a:ext cx="1447800" cy="482600"/>
        </p:xfrm>
        <a:graphic>
          <a:graphicData uri="http://schemas.openxmlformats.org/presentationml/2006/ole">
            <mc:AlternateContent xmlns:mc="http://schemas.openxmlformats.org/markup-compatibility/2006">
              <mc:Choice xmlns:v="urn:schemas-microsoft-com:vml" Requires="v">
                <p:oleObj r:id="rId16" imgW="722630" imgH="237490" progId="Equation.3">
                  <p:embed/>
                </p:oleObj>
              </mc:Choice>
              <mc:Fallback>
                <p:oleObj r:id="rId16" imgW="722630" imgH="237490" progId="Equation.3">
                  <p:embed/>
                  <p:pic>
                    <p:nvPicPr>
                      <p:cNvPr id="17" name="Object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40388" y="4635950"/>
                        <a:ext cx="14478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36"/>
          <p:cNvGraphicFramePr>
            <a:graphicFrameLocks noChangeAspect="1"/>
          </p:cNvGraphicFramePr>
          <p:nvPr>
            <p:extLst>
              <p:ext uri="{D42A27DB-BD31-4B8C-83A1-F6EECF244321}">
                <p14:modId xmlns:p14="http://schemas.microsoft.com/office/powerpoint/2010/main" val="3876361649"/>
              </p:ext>
            </p:extLst>
          </p:nvPr>
        </p:nvGraphicFramePr>
        <p:xfrm>
          <a:off x="2968558" y="5468018"/>
          <a:ext cx="5905500" cy="517525"/>
        </p:xfrm>
        <a:graphic>
          <a:graphicData uri="http://schemas.openxmlformats.org/presentationml/2006/ole">
            <mc:AlternateContent xmlns:mc="http://schemas.openxmlformats.org/markup-compatibility/2006">
              <mc:Choice xmlns:v="urn:schemas-microsoft-com:vml" Requires="v">
                <p:oleObj name="Equation" r:id="rId18" imgW="70713600" imgH="6096000" progId="Equation.DSMT4">
                  <p:embed/>
                </p:oleObj>
              </mc:Choice>
              <mc:Fallback>
                <p:oleObj name="Equation" r:id="rId18" imgW="70713600" imgH="6096000" progId="Equation.DSMT4">
                  <p:embed/>
                  <p:pic>
                    <p:nvPicPr>
                      <p:cNvPr id="18" name="Object 36"/>
                      <p:cNvPicPr>
                        <a:picLocks noChangeAspect="1" noChangeArrowheads="1"/>
                      </p:cNvPicPr>
                      <p:nvPr/>
                    </p:nvPicPr>
                    <p:blipFill>
                      <a:blip r:embed="rId19"/>
                      <a:srcRect/>
                      <a:stretch>
                        <a:fillRect/>
                      </a:stretch>
                    </p:blipFill>
                    <p:spPr bwMode="auto">
                      <a:xfrm>
                        <a:off x="2968558" y="5468018"/>
                        <a:ext cx="59055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 name="Rectangle 30"/>
          <p:cNvSpPr>
            <a:spLocks noChangeArrowheads="1"/>
          </p:cNvSpPr>
          <p:nvPr/>
        </p:nvSpPr>
        <p:spPr bwMode="auto">
          <a:xfrm>
            <a:off x="348560" y="5995083"/>
            <a:ext cx="10226372" cy="604838"/>
          </a:xfrm>
          <a:prstGeom prst="rect">
            <a:avLst/>
          </a:prstGeom>
          <a:noFill/>
          <a:ln>
            <a:noFill/>
          </a:ln>
          <a:effectLst/>
        </p:spPr>
        <p:txBody>
          <a:bodyPr/>
          <a:lstStyle/>
          <a:p>
            <a:pPr marL="342900" indent="-342900">
              <a:lnSpc>
                <a:spcPct val="130000"/>
              </a:lnSpc>
              <a:spcBef>
                <a:spcPct val="20000"/>
              </a:spcBef>
              <a:defRPr/>
            </a:pP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0000FF"/>
                </a:solidFill>
                <a:latin typeface="Times New Roman" panose="02020603050405020304" pitchFamily="18" charset="0"/>
                <a:cs typeface="Times New Roman" panose="02020603050405020304" pitchFamily="18" charset="0"/>
              </a:rPr>
              <a:t>we reduce the two-particle problem to two separate one-particle problems.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ChangeArrowheads="1"/>
          </p:cNvSpPr>
          <p:nvPr/>
        </p:nvSpPr>
        <p:spPr>
          <a:xfrm>
            <a:off x="360556" y="315119"/>
            <a:ext cx="4495800" cy="604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Tx/>
              <a:buNone/>
            </a:pPr>
            <a:r>
              <a:rPr lang="en-US" altLang="zh-CN" sz="2400" dirty="0">
                <a:latin typeface="Times New Roman" panose="02020603050405020304" pitchFamily="18" charset="0"/>
                <a:cs typeface="Times New Roman" panose="02020603050405020304" pitchFamily="18" charset="0"/>
              </a:rPr>
              <a:t> For </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-particle systems</a:t>
            </a:r>
          </a:p>
        </p:txBody>
      </p:sp>
      <p:graphicFrame>
        <p:nvGraphicFramePr>
          <p:cNvPr id="4" name="Object 5"/>
          <p:cNvGraphicFramePr>
            <a:graphicFrameLocks noChangeAspect="1"/>
          </p:cNvGraphicFramePr>
          <p:nvPr>
            <p:extLst>
              <p:ext uri="{D42A27DB-BD31-4B8C-83A1-F6EECF244321}">
                <p14:modId xmlns:p14="http://schemas.microsoft.com/office/powerpoint/2010/main" val="2114958604"/>
              </p:ext>
            </p:extLst>
          </p:nvPr>
        </p:nvGraphicFramePr>
        <p:xfrm>
          <a:off x="4332742" y="1267133"/>
          <a:ext cx="2573337" cy="479425"/>
        </p:xfrm>
        <a:graphic>
          <a:graphicData uri="http://schemas.openxmlformats.org/presentationml/2006/ole">
            <mc:AlternateContent xmlns:mc="http://schemas.openxmlformats.org/markup-compatibility/2006">
              <mc:Choice xmlns:v="urn:schemas-microsoft-com:vml" Requires="v">
                <p:oleObj name="Equation" r:id="rId2" imgW="33832800" imgH="6096000" progId="Equation.DSMT4">
                  <p:embed/>
                </p:oleObj>
              </mc:Choice>
              <mc:Fallback>
                <p:oleObj name="Equation" r:id="rId2" imgW="33832800" imgH="6096000" progId="Equation.DSMT4">
                  <p:embed/>
                  <p:pic>
                    <p:nvPicPr>
                      <p:cNvPr id="4" name="Object 5"/>
                      <p:cNvPicPr>
                        <a:picLocks noChangeAspect="1" noChangeArrowheads="1"/>
                      </p:cNvPicPr>
                      <p:nvPr/>
                    </p:nvPicPr>
                    <p:blipFill>
                      <a:blip r:embed="rId3"/>
                      <a:srcRect/>
                      <a:stretch>
                        <a:fillRect/>
                      </a:stretch>
                    </p:blipFill>
                    <p:spPr bwMode="auto">
                      <a:xfrm>
                        <a:off x="4332742" y="1267133"/>
                        <a:ext cx="25733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Object 6"/>
          <p:cNvGraphicFramePr>
            <a:graphicFrameLocks noChangeAspect="1"/>
          </p:cNvGraphicFramePr>
          <p:nvPr>
            <p:extLst>
              <p:ext uri="{D42A27DB-BD31-4B8C-83A1-F6EECF244321}">
                <p14:modId xmlns:p14="http://schemas.microsoft.com/office/powerpoint/2010/main" val="3543581200"/>
              </p:ext>
            </p:extLst>
          </p:nvPr>
        </p:nvGraphicFramePr>
        <p:xfrm>
          <a:off x="3003617" y="2106920"/>
          <a:ext cx="4794250" cy="482600"/>
        </p:xfrm>
        <a:graphic>
          <a:graphicData uri="http://schemas.openxmlformats.org/presentationml/2006/ole">
            <mc:AlternateContent xmlns:mc="http://schemas.openxmlformats.org/markup-compatibility/2006">
              <mc:Choice xmlns:v="urn:schemas-microsoft-com:vml" Requires="v">
                <p:oleObj r:id="rId4" imgW="2395855" imgH="237490" progId="Equation.3">
                  <p:embed/>
                </p:oleObj>
              </mc:Choice>
              <mc:Fallback>
                <p:oleObj r:id="rId4" imgW="2395855" imgH="237490" progId="Equation.3">
                  <p:embed/>
                  <p:pic>
                    <p:nvPicPr>
                      <p:cNvPr id="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3617" y="2106920"/>
                        <a:ext cx="47942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24"/>
          <p:cNvGraphicFramePr>
            <a:graphicFrameLocks noChangeAspect="1"/>
          </p:cNvGraphicFramePr>
          <p:nvPr>
            <p:extLst>
              <p:ext uri="{D42A27DB-BD31-4B8C-83A1-F6EECF244321}">
                <p14:modId xmlns:p14="http://schemas.microsoft.com/office/powerpoint/2010/main" val="1799597750"/>
              </p:ext>
            </p:extLst>
          </p:nvPr>
        </p:nvGraphicFramePr>
        <p:xfrm>
          <a:off x="4396241" y="2883207"/>
          <a:ext cx="2509838" cy="482600"/>
        </p:xfrm>
        <a:graphic>
          <a:graphicData uri="http://schemas.openxmlformats.org/presentationml/2006/ole">
            <mc:AlternateContent xmlns:mc="http://schemas.openxmlformats.org/markup-compatibility/2006">
              <mc:Choice xmlns:v="urn:schemas-microsoft-com:vml" Requires="v">
                <p:oleObj r:id="rId6" imgW="1252855" imgH="237490" progId="Equation.3">
                  <p:embed/>
                </p:oleObj>
              </mc:Choice>
              <mc:Fallback>
                <p:oleObj r:id="rId6" imgW="1252855" imgH="237490" progId="Equation.3">
                  <p:embed/>
                  <p:pic>
                    <p:nvPicPr>
                      <p:cNvPr id="6"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6241" y="2883207"/>
                        <a:ext cx="25098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25"/>
          <p:cNvGraphicFramePr>
            <a:graphicFrameLocks noChangeAspect="1"/>
          </p:cNvGraphicFramePr>
          <p:nvPr>
            <p:extLst>
              <p:ext uri="{D42A27DB-BD31-4B8C-83A1-F6EECF244321}">
                <p14:modId xmlns:p14="http://schemas.microsoft.com/office/powerpoint/2010/main" val="1873089338"/>
              </p:ext>
            </p:extLst>
          </p:nvPr>
        </p:nvGraphicFramePr>
        <p:xfrm>
          <a:off x="4210504" y="3659494"/>
          <a:ext cx="3575050" cy="584200"/>
        </p:xfrm>
        <a:graphic>
          <a:graphicData uri="http://schemas.openxmlformats.org/presentationml/2006/ole">
            <mc:AlternateContent xmlns:mc="http://schemas.openxmlformats.org/markup-compatibility/2006">
              <mc:Choice xmlns:v="urn:schemas-microsoft-com:vml" Requires="v">
                <p:oleObj r:id="rId8" imgW="1791970" imgH="292735" progId="Equation.3">
                  <p:embed/>
                </p:oleObj>
              </mc:Choice>
              <mc:Fallback>
                <p:oleObj r:id="rId8" imgW="1791970" imgH="292735" progId="Equation.3">
                  <p:embed/>
                  <p:pic>
                    <p:nvPicPr>
                      <p:cNvPr id="7"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0504" y="3659494"/>
                        <a:ext cx="3575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Text Box 26"/>
          <p:cNvSpPr txBox="1">
            <a:spLocks noChangeArrowheads="1"/>
          </p:cNvSpPr>
          <p:nvPr/>
        </p:nvSpPr>
        <p:spPr bwMode="auto">
          <a:xfrm>
            <a:off x="360556" y="4482671"/>
            <a:ext cx="112478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对于一个</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无相互作用</a:t>
            </a:r>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的多粒子系统，能量是每个粒子的个体能量之和，波函数是每个粒子的波函数的乘积。</a:t>
            </a:r>
            <a:endParaRPr lang="en-US" altLang="zh-CN"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35540" y="1179625"/>
            <a:ext cx="11148252" cy="830997"/>
          </a:xfrm>
          <a:prstGeom prst="rect">
            <a:avLst/>
          </a:prstGeom>
        </p:spPr>
        <p:txBody>
          <a:bodyPr wrap="square">
            <a:spAutoFit/>
          </a:bodyPr>
          <a:lstStyle/>
          <a:p>
            <a:pPr defTabSz="914400"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Each electron in an atom moves independently in a central potential due to the Coulomb attraction of the nucleus and the average effect of the other electrons in the atom.</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7" name="TextBox 1"/>
          <p:cNvSpPr txBox="1"/>
          <p:nvPr/>
        </p:nvSpPr>
        <p:spPr>
          <a:xfrm>
            <a:off x="170590" y="607671"/>
            <a:ext cx="9428415" cy="461665"/>
          </a:xfrm>
          <a:prstGeom prst="rect">
            <a:avLst/>
          </a:prstGeom>
          <a:noFill/>
        </p:spPr>
        <p:txBody>
          <a:bodyPr wrap="none" rtlCol="0">
            <a:spAutoFit/>
          </a:bodyPr>
          <a:lstStyle/>
          <a:p>
            <a:pPr algn="ctr" defTabSz="914400"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For a multi-electron atoms, the potential acting on the electron is spherical</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11" name="Text Box 56"/>
          <p:cNvSpPr txBox="1">
            <a:spLocks noChangeArrowheads="1"/>
          </p:cNvSpPr>
          <p:nvPr/>
        </p:nvSpPr>
        <p:spPr bwMode="auto">
          <a:xfrm>
            <a:off x="340022" y="3234386"/>
            <a:ext cx="1608133" cy="523220"/>
          </a:xfrm>
          <a:prstGeom prst="rect">
            <a:avLst/>
          </a:prstGeom>
          <a:noFill/>
          <a:ln>
            <a:solidFill>
              <a:srgbClr val="FF0000"/>
            </a:solidFill>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Arial Unicode MS" pitchFamily="34" charset="-122"/>
                <a:cs typeface="Arial Unicode MS" pitchFamily="34" charset="-122"/>
              </a:rPr>
              <a:t>electron 1</a:t>
            </a:r>
          </a:p>
        </p:txBody>
      </p:sp>
      <p:graphicFrame>
        <p:nvGraphicFramePr>
          <p:cNvPr id="17" name="Object 33"/>
          <p:cNvGraphicFramePr>
            <a:graphicFrameLocks noChangeAspect="1"/>
          </p:cNvGraphicFramePr>
          <p:nvPr>
            <p:extLst>
              <p:ext uri="{D42A27DB-BD31-4B8C-83A1-F6EECF244321}">
                <p14:modId xmlns:p14="http://schemas.microsoft.com/office/powerpoint/2010/main" val="2466993804"/>
              </p:ext>
            </p:extLst>
          </p:nvPr>
        </p:nvGraphicFramePr>
        <p:xfrm>
          <a:off x="7782832" y="2392816"/>
          <a:ext cx="2184400" cy="482600"/>
        </p:xfrm>
        <a:graphic>
          <a:graphicData uri="http://schemas.openxmlformats.org/presentationml/2006/ole">
            <mc:AlternateContent xmlns:mc="http://schemas.openxmlformats.org/markup-compatibility/2006">
              <mc:Choice xmlns:v="urn:schemas-microsoft-com:vml" Requires="v">
                <p:oleObj name="Equation" r:id="rId2" imgW="26212800" imgH="5791200" progId="Equation.DSMT4">
                  <p:embed/>
                </p:oleObj>
              </mc:Choice>
              <mc:Fallback>
                <p:oleObj name="Equation" r:id="rId2" imgW="26212800" imgH="5791200" progId="Equation.DSMT4">
                  <p:embed/>
                  <p:pic>
                    <p:nvPicPr>
                      <p:cNvPr id="17" name="Object 33"/>
                      <p:cNvPicPr>
                        <a:picLocks noChangeAspect="1" noChangeArrowheads="1"/>
                      </p:cNvPicPr>
                      <p:nvPr/>
                    </p:nvPicPr>
                    <p:blipFill>
                      <a:blip r:embed="rId3"/>
                      <a:srcRect/>
                      <a:stretch>
                        <a:fillRect/>
                      </a:stretch>
                    </p:blipFill>
                    <p:spPr bwMode="auto">
                      <a:xfrm>
                        <a:off x="7782832" y="2392816"/>
                        <a:ext cx="2184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44"/>
          <p:cNvGraphicFramePr>
            <a:graphicFrameLocks noChangeAspect="1"/>
          </p:cNvGraphicFramePr>
          <p:nvPr>
            <p:extLst>
              <p:ext uri="{D42A27DB-BD31-4B8C-83A1-F6EECF244321}">
                <p14:modId xmlns:p14="http://schemas.microsoft.com/office/powerpoint/2010/main" val="2849631962"/>
              </p:ext>
            </p:extLst>
          </p:nvPr>
        </p:nvGraphicFramePr>
        <p:xfrm>
          <a:off x="2060729" y="2419428"/>
          <a:ext cx="5104800" cy="457200"/>
        </p:xfrm>
        <a:graphic>
          <a:graphicData uri="http://schemas.openxmlformats.org/presentationml/2006/ole">
            <mc:AlternateContent xmlns:mc="http://schemas.openxmlformats.org/markup-compatibility/2006">
              <mc:Choice xmlns:v="urn:schemas-microsoft-com:vml" Requires="v">
                <p:oleObj name="Equation" r:id="rId4" imgW="2552700" imgH="228600" progId="Equation.DSMT4">
                  <p:embed/>
                </p:oleObj>
              </mc:Choice>
              <mc:Fallback>
                <p:oleObj name="Equation" r:id="rId4" imgW="2552700" imgH="228600" progId="Equation.DSMT4">
                  <p:embed/>
                  <p:pic>
                    <p:nvPicPr>
                      <p:cNvPr id="19"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0729" y="2419428"/>
                        <a:ext cx="510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2"/>
          <p:cNvGraphicFramePr>
            <a:graphicFrameLocks noChangeAspect="1"/>
          </p:cNvGraphicFramePr>
          <p:nvPr>
            <p:extLst>
              <p:ext uri="{D42A27DB-BD31-4B8C-83A1-F6EECF244321}">
                <p14:modId xmlns:p14="http://schemas.microsoft.com/office/powerpoint/2010/main" val="2200009791"/>
              </p:ext>
            </p:extLst>
          </p:nvPr>
        </p:nvGraphicFramePr>
        <p:xfrm>
          <a:off x="3311752" y="4395012"/>
          <a:ext cx="2336800" cy="863600"/>
        </p:xfrm>
        <a:graphic>
          <a:graphicData uri="http://schemas.openxmlformats.org/presentationml/2006/ole">
            <mc:AlternateContent xmlns:mc="http://schemas.openxmlformats.org/markup-compatibility/2006">
              <mc:Choice xmlns:v="urn:schemas-microsoft-com:vml" Requires="v">
                <p:oleObj name="Equation" r:id="rId6" imgW="28041600" imgH="10363200" progId="Equation.DSMT4">
                  <p:embed/>
                </p:oleObj>
              </mc:Choice>
              <mc:Fallback>
                <p:oleObj name="Equation" r:id="rId6" imgW="28041600" imgH="10363200" progId="Equation.DSMT4">
                  <p:embed/>
                  <p:pic>
                    <p:nvPicPr>
                      <p:cNvPr id="20" name="Object 22"/>
                      <p:cNvPicPr>
                        <a:picLocks noChangeAspect="1" noChangeArrowheads="1"/>
                      </p:cNvPicPr>
                      <p:nvPr/>
                    </p:nvPicPr>
                    <p:blipFill>
                      <a:blip r:embed="rId7"/>
                      <a:srcRect/>
                      <a:stretch>
                        <a:fillRect/>
                      </a:stretch>
                    </p:blipFill>
                    <p:spPr bwMode="auto">
                      <a:xfrm>
                        <a:off x="3311752" y="4395012"/>
                        <a:ext cx="2336800" cy="863600"/>
                      </a:xfrm>
                      <a:prstGeom prst="rect">
                        <a:avLst/>
                      </a:prstGeom>
                      <a:noFill/>
                      <a:ln>
                        <a:noFill/>
                      </a:ln>
                      <a:effectLst/>
                    </p:spPr>
                  </p:pic>
                </p:oleObj>
              </mc:Fallback>
            </mc:AlternateContent>
          </a:graphicData>
        </a:graphic>
      </p:graphicFrame>
      <p:graphicFrame>
        <p:nvGraphicFramePr>
          <p:cNvPr id="21" name="Object 37"/>
          <p:cNvGraphicFramePr>
            <a:graphicFrameLocks noChangeAspect="1"/>
          </p:cNvGraphicFramePr>
          <p:nvPr>
            <p:extLst>
              <p:ext uri="{D42A27DB-BD31-4B8C-83A1-F6EECF244321}">
                <p14:modId xmlns:p14="http://schemas.microsoft.com/office/powerpoint/2010/main" val="4062774250"/>
              </p:ext>
            </p:extLst>
          </p:nvPr>
        </p:nvGraphicFramePr>
        <p:xfrm>
          <a:off x="5623152" y="4369612"/>
          <a:ext cx="1905000" cy="914400"/>
        </p:xfrm>
        <a:graphic>
          <a:graphicData uri="http://schemas.openxmlformats.org/presentationml/2006/ole">
            <mc:AlternateContent xmlns:mc="http://schemas.openxmlformats.org/markup-compatibility/2006">
              <mc:Choice xmlns:v="urn:schemas-microsoft-com:vml" Requires="v">
                <p:oleObj name="Equation" r:id="rId8" imgW="22860000" imgH="10972800" progId="Equation.DSMT4">
                  <p:embed/>
                </p:oleObj>
              </mc:Choice>
              <mc:Fallback>
                <p:oleObj name="Equation" r:id="rId8" imgW="22860000" imgH="10972800" progId="Equation.DSMT4">
                  <p:embed/>
                  <p:pic>
                    <p:nvPicPr>
                      <p:cNvPr id="21" name="Object 37"/>
                      <p:cNvPicPr>
                        <a:picLocks noChangeAspect="1" noChangeArrowheads="1"/>
                      </p:cNvPicPr>
                      <p:nvPr/>
                    </p:nvPicPr>
                    <p:blipFill>
                      <a:blip r:embed="rId9"/>
                      <a:srcRect/>
                      <a:stretch>
                        <a:fillRect/>
                      </a:stretch>
                    </p:blipFill>
                    <p:spPr bwMode="auto">
                      <a:xfrm>
                        <a:off x="5623152" y="4369612"/>
                        <a:ext cx="1905000" cy="914400"/>
                      </a:xfrm>
                      <a:prstGeom prst="rect">
                        <a:avLst/>
                      </a:prstGeom>
                      <a:noFill/>
                      <a:ln>
                        <a:noFill/>
                      </a:ln>
                      <a:effectLst/>
                    </p:spPr>
                  </p:pic>
                </p:oleObj>
              </mc:Fallback>
            </mc:AlternateContent>
          </a:graphicData>
        </a:graphic>
      </p:graphicFrame>
      <p:graphicFrame>
        <p:nvGraphicFramePr>
          <p:cNvPr id="23" name="Object 60"/>
          <p:cNvGraphicFramePr>
            <a:graphicFrameLocks noChangeAspect="1"/>
          </p:cNvGraphicFramePr>
          <p:nvPr>
            <p:extLst>
              <p:ext uri="{D42A27DB-BD31-4B8C-83A1-F6EECF244321}">
                <p14:modId xmlns:p14="http://schemas.microsoft.com/office/powerpoint/2010/main" val="62742385"/>
              </p:ext>
            </p:extLst>
          </p:nvPr>
        </p:nvGraphicFramePr>
        <p:xfrm>
          <a:off x="3324708" y="3674167"/>
          <a:ext cx="1625040" cy="457200"/>
        </p:xfrm>
        <a:graphic>
          <a:graphicData uri="http://schemas.openxmlformats.org/presentationml/2006/ole">
            <mc:AlternateContent xmlns:mc="http://schemas.openxmlformats.org/markup-compatibility/2006">
              <mc:Choice xmlns:v="urn:schemas-microsoft-com:vml" Requires="v">
                <p:oleObj name="Equation" r:id="rId10" imgW="812165" imgH="228600" progId="Equation.DSMT4">
                  <p:embed/>
                </p:oleObj>
              </mc:Choice>
              <mc:Fallback>
                <p:oleObj name="Equation" r:id="rId10" imgW="812165" imgH="228600" progId="Equation.DSMT4">
                  <p:embed/>
                  <p:pic>
                    <p:nvPicPr>
                      <p:cNvPr id="23" name="Object 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24708" y="3674167"/>
                        <a:ext cx="1625040" cy="457200"/>
                      </a:xfrm>
                      <a:prstGeom prst="rect">
                        <a:avLst/>
                      </a:prstGeom>
                      <a:noFill/>
                      <a:ln>
                        <a:noFill/>
                      </a:ln>
                      <a:effectLst/>
                    </p:spPr>
                  </p:pic>
                </p:oleObj>
              </mc:Fallback>
            </mc:AlternateContent>
          </a:graphicData>
        </a:graphic>
      </p:graphicFrame>
      <p:grpSp>
        <p:nvGrpSpPr>
          <p:cNvPr id="4" name="组合 3">
            <a:extLst>
              <a:ext uri="{FF2B5EF4-FFF2-40B4-BE49-F238E27FC236}">
                <a16:creationId xmlns:a16="http://schemas.microsoft.com/office/drawing/2014/main" id="{EB1BAB4C-19D0-4AC9-B4F5-3333AEEA5E22}"/>
              </a:ext>
            </a:extLst>
          </p:cNvPr>
          <p:cNvGrpSpPr/>
          <p:nvPr/>
        </p:nvGrpSpPr>
        <p:grpSpPr>
          <a:xfrm>
            <a:off x="8354845" y="4334848"/>
            <a:ext cx="1244160" cy="898044"/>
            <a:chOff x="8365731" y="4886486"/>
            <a:chExt cx="1244160" cy="898044"/>
          </a:xfrm>
        </p:grpSpPr>
        <p:graphicFrame>
          <p:nvGraphicFramePr>
            <p:cNvPr id="22" name="Object 54"/>
            <p:cNvGraphicFramePr>
              <a:graphicFrameLocks noChangeAspect="1"/>
            </p:cNvGraphicFramePr>
            <p:nvPr/>
          </p:nvGraphicFramePr>
          <p:xfrm>
            <a:off x="8365731" y="4921250"/>
            <a:ext cx="1244160" cy="863280"/>
          </p:xfrm>
          <a:graphic>
            <a:graphicData uri="http://schemas.openxmlformats.org/presentationml/2006/ole">
              <mc:AlternateContent xmlns:mc="http://schemas.openxmlformats.org/markup-compatibility/2006">
                <mc:Choice xmlns:v="urn:schemas-microsoft-com:vml" Requires="v">
                  <p:oleObj name="Equation" r:id="rId12" imgW="622300" imgH="431800" progId="Equation.DSMT4">
                    <p:embed/>
                  </p:oleObj>
                </mc:Choice>
                <mc:Fallback>
                  <p:oleObj name="Equation" r:id="rId12" imgW="622300" imgH="431800" progId="Equation.DSMT4">
                    <p:embed/>
                    <p:pic>
                      <p:nvPicPr>
                        <p:cNvPr id="22" name="Object 5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65731" y="4921250"/>
                          <a:ext cx="1244160" cy="863280"/>
                        </a:xfrm>
                        <a:prstGeom prst="rect">
                          <a:avLst/>
                        </a:prstGeom>
                        <a:noFill/>
                        <a:ln>
                          <a:solidFill>
                            <a:schemeClr val="accent1"/>
                          </a:solidFill>
                        </a:ln>
                        <a:effectLst/>
                      </p:spPr>
                    </p:pic>
                  </p:oleObj>
                </mc:Fallback>
              </mc:AlternateContent>
            </a:graphicData>
          </a:graphic>
        </p:graphicFrame>
        <p:sp>
          <p:nvSpPr>
            <p:cNvPr id="2" name="文本框 1">
              <a:extLst>
                <a:ext uri="{FF2B5EF4-FFF2-40B4-BE49-F238E27FC236}">
                  <a16:creationId xmlns:a16="http://schemas.microsoft.com/office/drawing/2014/main" id="{5CC3D5B4-AC5A-4772-9A33-BE38A0196153}"/>
                </a:ext>
              </a:extLst>
            </p:cNvPr>
            <p:cNvSpPr txBox="1"/>
            <p:nvPr/>
          </p:nvSpPr>
          <p:spPr>
            <a:xfrm>
              <a:off x="8542296" y="5040375"/>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2</a:t>
              </a:r>
              <a:endParaRPr lang="zh-CN" altLang="en-US" sz="12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F31609F1-50A5-4E67-BC98-E777AF687D7D}"/>
                </a:ext>
              </a:extLst>
            </p:cNvPr>
            <p:cNvSpPr/>
            <p:nvPr/>
          </p:nvSpPr>
          <p:spPr>
            <a:xfrm>
              <a:off x="9243485" y="4886486"/>
              <a:ext cx="274434" cy="307777"/>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2</a:t>
              </a:r>
              <a:endParaRPr lang="zh-CN" altLang="en-US" sz="1400" dirty="0">
                <a:latin typeface="Times New Roman" panose="02020603050405020304" pitchFamily="18" charset="0"/>
                <a:cs typeface="Times New Roman" panose="02020603050405020304" pitchFamily="18" charset="0"/>
              </a:endParaRPr>
            </a:p>
          </p:txBody>
        </p:sp>
      </p:grpSp>
      <p:graphicFrame>
        <p:nvGraphicFramePr>
          <p:cNvPr id="5" name="对象 4"/>
          <p:cNvGraphicFramePr>
            <a:graphicFrameLocks noChangeAspect="1"/>
          </p:cNvGraphicFramePr>
          <p:nvPr>
            <p:extLst>
              <p:ext uri="{D42A27DB-BD31-4B8C-83A1-F6EECF244321}">
                <p14:modId xmlns:p14="http://schemas.microsoft.com/office/powerpoint/2010/main" val="4063112645"/>
              </p:ext>
            </p:extLst>
          </p:nvPr>
        </p:nvGraphicFramePr>
        <p:xfrm>
          <a:off x="3362552" y="5504590"/>
          <a:ext cx="4521200" cy="965200"/>
        </p:xfrm>
        <a:graphic>
          <a:graphicData uri="http://schemas.openxmlformats.org/presentationml/2006/ole">
            <mc:AlternateContent xmlns:mc="http://schemas.openxmlformats.org/markup-compatibility/2006">
              <mc:Choice xmlns:v="urn:schemas-microsoft-com:vml" Requires="v">
                <p:oleObj name="Equation" r:id="rId14" imgW="54254400" imgH="11582400" progId="Equation.DSMT4">
                  <p:embed/>
                </p:oleObj>
              </mc:Choice>
              <mc:Fallback>
                <p:oleObj name="Equation" r:id="rId14" imgW="54254400" imgH="11582400" progId="Equation.DSMT4">
                  <p:embed/>
                  <p:pic>
                    <p:nvPicPr>
                      <p:cNvPr id="4" name="对象 3"/>
                      <p:cNvPicPr>
                        <a:picLocks noChangeAspect="1" noChangeArrowheads="1"/>
                      </p:cNvPicPr>
                      <p:nvPr/>
                    </p:nvPicPr>
                    <p:blipFill>
                      <a:blip r:embed="rId15"/>
                      <a:srcRect/>
                      <a:stretch>
                        <a:fillRect/>
                      </a:stretch>
                    </p:blipFill>
                    <p:spPr bwMode="auto">
                      <a:xfrm>
                        <a:off x="3362552" y="5504590"/>
                        <a:ext cx="4521200" cy="965200"/>
                      </a:xfrm>
                      <a:prstGeom prst="rect">
                        <a:avLst/>
                      </a:prstGeom>
                      <a:noFill/>
                      <a:ln>
                        <a:noFill/>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0"/>
          <p:cNvGraphicFramePr>
            <a:graphicFrameLocks noChangeAspect="1"/>
          </p:cNvGraphicFramePr>
          <p:nvPr>
            <p:extLst>
              <p:ext uri="{D42A27DB-BD31-4B8C-83A1-F6EECF244321}">
                <p14:modId xmlns:p14="http://schemas.microsoft.com/office/powerpoint/2010/main" val="367135413"/>
              </p:ext>
            </p:extLst>
          </p:nvPr>
        </p:nvGraphicFramePr>
        <p:xfrm>
          <a:off x="3365500" y="633320"/>
          <a:ext cx="5461000" cy="965200"/>
        </p:xfrm>
        <a:graphic>
          <a:graphicData uri="http://schemas.openxmlformats.org/presentationml/2006/ole">
            <mc:AlternateContent xmlns:mc="http://schemas.openxmlformats.org/markup-compatibility/2006">
              <mc:Choice xmlns:v="urn:schemas-microsoft-com:vml" Requires="v">
                <p:oleObj name="Equation" r:id="rId2" imgW="65532000" imgH="11582400" progId="Equation.DSMT4">
                  <p:embed/>
                </p:oleObj>
              </mc:Choice>
              <mc:Fallback>
                <p:oleObj name="Equation" r:id="rId2" imgW="65532000" imgH="11582400" progId="Equation.DSMT4">
                  <p:embed/>
                  <p:pic>
                    <p:nvPicPr>
                      <p:cNvPr id="5" name="Object 0"/>
                      <p:cNvPicPr>
                        <a:picLocks noChangeAspect="1" noChangeArrowheads="1"/>
                      </p:cNvPicPr>
                      <p:nvPr/>
                    </p:nvPicPr>
                    <p:blipFill>
                      <a:blip r:embed="rId3"/>
                      <a:srcRect/>
                      <a:stretch>
                        <a:fillRect/>
                      </a:stretch>
                    </p:blipFill>
                    <p:spPr bwMode="auto">
                      <a:xfrm>
                        <a:off x="3365500" y="633320"/>
                        <a:ext cx="54610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3"/>
          <p:cNvGraphicFramePr>
            <a:graphicFrameLocks noChangeAspect="1"/>
          </p:cNvGraphicFramePr>
          <p:nvPr>
            <p:extLst>
              <p:ext uri="{D42A27DB-BD31-4B8C-83A1-F6EECF244321}">
                <p14:modId xmlns:p14="http://schemas.microsoft.com/office/powerpoint/2010/main" val="1321203208"/>
              </p:ext>
            </p:extLst>
          </p:nvPr>
        </p:nvGraphicFramePr>
        <p:xfrm>
          <a:off x="3912569" y="1598520"/>
          <a:ext cx="3910013" cy="965200"/>
        </p:xfrm>
        <a:graphic>
          <a:graphicData uri="http://schemas.openxmlformats.org/presentationml/2006/ole">
            <mc:AlternateContent xmlns:mc="http://schemas.openxmlformats.org/markup-compatibility/2006">
              <mc:Choice xmlns:v="urn:schemas-microsoft-com:vml" Requires="v">
                <p:oleObj name="Equation" r:id="rId4" imgW="1955520" imgH="482400" progId="Equation.DSMT4">
                  <p:embed/>
                </p:oleObj>
              </mc:Choice>
              <mc:Fallback>
                <p:oleObj name="Equation" r:id="rId4" imgW="1955520" imgH="482400" progId="Equation.DSMT4">
                  <p:embed/>
                  <p:pic>
                    <p:nvPicPr>
                      <p:cNvPr id="6" name="Object 43"/>
                      <p:cNvPicPr>
                        <a:picLocks noChangeAspect="1" noChangeArrowheads="1"/>
                      </p:cNvPicPr>
                      <p:nvPr/>
                    </p:nvPicPr>
                    <p:blipFill>
                      <a:blip r:embed="rId5"/>
                      <a:srcRect/>
                      <a:stretch>
                        <a:fillRect/>
                      </a:stretch>
                    </p:blipFill>
                    <p:spPr bwMode="auto">
                      <a:xfrm>
                        <a:off x="3912569" y="1598520"/>
                        <a:ext cx="3910013"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6"/>
          <p:cNvSpPr/>
          <p:nvPr/>
        </p:nvSpPr>
        <p:spPr>
          <a:xfrm>
            <a:off x="477520" y="2692592"/>
            <a:ext cx="11236960" cy="830997"/>
          </a:xfrm>
          <a:prstGeom prst="rect">
            <a:avLst/>
          </a:prstGeom>
        </p:spPr>
        <p:txBody>
          <a:bodyPr wrap="square">
            <a:spAutoFit/>
          </a:bodyPr>
          <a:lstStyle/>
          <a:p>
            <a:pPr lvl="0" defTabSz="914400" fontAlgn="base">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Go to electron 2 and regard it as moving in a charge cloud of density due to the other electrons:</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116740871"/>
              </p:ext>
            </p:extLst>
          </p:nvPr>
        </p:nvGraphicFramePr>
        <p:xfrm>
          <a:off x="4081415" y="3297964"/>
          <a:ext cx="3174480" cy="1726560"/>
        </p:xfrm>
        <a:graphic>
          <a:graphicData uri="http://schemas.openxmlformats.org/presentationml/2006/ole">
            <mc:AlternateContent xmlns:mc="http://schemas.openxmlformats.org/markup-compatibility/2006">
              <mc:Choice xmlns:v="urn:schemas-microsoft-com:vml" Requires="v">
                <p:oleObj name="Equation" r:id="rId6" imgW="1587240" imgH="863280" progId="Equation.DSMT4">
                  <p:embed/>
                </p:oleObj>
              </mc:Choice>
              <mc:Fallback>
                <p:oleObj name="Equation" r:id="rId6" imgW="1587240" imgH="863280" progId="Equation.DSMT4">
                  <p:embed/>
                  <p:pic>
                    <p:nvPicPr>
                      <p:cNvPr id="8" name="对象 7"/>
                      <p:cNvPicPr/>
                      <p:nvPr/>
                    </p:nvPicPr>
                    <p:blipFill>
                      <a:blip r:embed="rId7"/>
                      <a:stretch>
                        <a:fillRect/>
                      </a:stretch>
                    </p:blipFill>
                    <p:spPr>
                      <a:xfrm>
                        <a:off x="4081415" y="3297964"/>
                        <a:ext cx="3174480" cy="1726560"/>
                      </a:xfrm>
                      <a:prstGeom prst="rect">
                        <a:avLst/>
                      </a:prstGeom>
                      <a:ln>
                        <a:solidFill>
                          <a:srgbClr val="FF0000"/>
                        </a:solidFill>
                      </a:ln>
                    </p:spPr>
                  </p:pic>
                </p:oleObj>
              </mc:Fallback>
            </mc:AlternateContent>
          </a:graphicData>
        </a:graphic>
      </p:graphicFrame>
      <p:sp>
        <p:nvSpPr>
          <p:cNvPr id="2" name="文本框 1">
            <a:extLst>
              <a:ext uri="{FF2B5EF4-FFF2-40B4-BE49-F238E27FC236}">
                <a16:creationId xmlns:a16="http://schemas.microsoft.com/office/drawing/2014/main" id="{88A092DF-BD89-D7DE-E95C-B0F01BC2199C}"/>
              </a:ext>
            </a:extLst>
          </p:cNvPr>
          <p:cNvSpPr txBox="1"/>
          <p:nvPr/>
        </p:nvSpPr>
        <p:spPr>
          <a:xfrm>
            <a:off x="887538" y="5292235"/>
            <a:ext cx="9562233"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改造哈密顿算符</a:t>
            </a:r>
            <a:r>
              <a:rPr lang="zh-CN" altLang="en-US" sz="2400" dirty="0">
                <a:latin typeface="黑体" panose="02010609060101010101" pitchFamily="49" charset="-122"/>
                <a:ea typeface="黑体" panose="02010609060101010101" pitchFamily="49" charset="-122"/>
                <a:sym typeface="Symbol" panose="05050102010706020507" pitchFamily="18" charset="2"/>
              </a:rPr>
              <a:t> 中心场近似 单粒子算符（算符里含有波函数） </a:t>
            </a:r>
            <a:endParaRPr lang="zh-CN" altLang="en-US" sz="2400" dirty="0">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18FFEE55-7F61-5D4F-D455-C32AAFA99A1B}"/>
              </a:ext>
            </a:extLst>
          </p:cNvPr>
          <p:cNvSpPr txBox="1"/>
          <p:nvPr/>
        </p:nvSpPr>
        <p:spPr>
          <a:xfrm>
            <a:off x="2383971" y="5858325"/>
            <a:ext cx="7424057" cy="510717"/>
          </a:xfrm>
          <a:prstGeom prst="rect">
            <a:avLst/>
          </a:prstGeom>
          <a:noFill/>
        </p:spPr>
        <p:txBody>
          <a:bodyPr wrap="square">
            <a:spAutoFit/>
          </a:bodyPr>
          <a:lstStyle/>
          <a:p>
            <a:pPr indent="97790">
              <a:lnSpc>
                <a:spcPct val="125000"/>
              </a:lnSpc>
            </a:pPr>
            <a:r>
              <a:rPr lang="en-US" altLang="zh-CN" sz="2400" dirty="0">
                <a:latin typeface="Times New Roman" panose="02020603050405020304" pitchFamily="18" charset="0"/>
                <a:cs typeface="Times New Roman" panose="02020603050405020304" pitchFamily="18" charset="0"/>
              </a:rPr>
              <a:t>This is called the </a:t>
            </a:r>
            <a:r>
              <a:rPr lang="en-US" altLang="zh-CN" sz="2400" i="1" dirty="0">
                <a:solidFill>
                  <a:srgbClr val="B02B08"/>
                </a:solidFill>
                <a:latin typeface="Times New Roman" panose="02020603050405020304" pitchFamily="18" charset="0"/>
                <a:cs typeface="Times New Roman" panose="02020603050405020304" pitchFamily="18" charset="0"/>
              </a:rPr>
              <a:t>Self-Consistent Field</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 </a:t>
            </a:r>
            <a:r>
              <a:rPr lang="en-US" altLang="zh-CN" sz="2400" i="1" dirty="0">
                <a:solidFill>
                  <a:srgbClr val="B02B08"/>
                </a:solidFill>
                <a:latin typeface="Times New Roman" panose="02020603050405020304" pitchFamily="18" charset="0"/>
                <a:cs typeface="Times New Roman" panose="02020603050405020304" pitchFamily="18" charset="0"/>
              </a:rPr>
              <a:t>SCF</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method.</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9B918702-0BA7-4503-972D-3B29818992FC}" type="slidenum">
              <a:rPr lang="en-US" altLang="zh-CN">
                <a:solidFill>
                  <a:srgbClr val="000000"/>
                </a:solidFill>
              </a:rPr>
              <a:pPr>
                <a:defRPr/>
              </a:pPr>
              <a:t>48</a:t>
            </a:fld>
            <a:endParaRPr lang="en-US" altLang="zh-CN">
              <a:solidFill>
                <a:srgbClr val="000000"/>
              </a:solidFill>
            </a:endParaRPr>
          </a:p>
        </p:txBody>
      </p:sp>
      <p:sp>
        <p:nvSpPr>
          <p:cNvPr id="210948" name="Text Box 4"/>
          <p:cNvSpPr txBox="1">
            <a:spLocks noChangeArrowheads="1"/>
          </p:cNvSpPr>
          <p:nvPr/>
        </p:nvSpPr>
        <p:spPr bwMode="auto">
          <a:xfrm>
            <a:off x="1889511" y="174280"/>
            <a:ext cx="8353425" cy="51911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a:defRPr/>
            </a:pPr>
            <a:r>
              <a:rPr lang="en-US" altLang="zh-CN" sz="2800" b="1" dirty="0">
                <a:latin typeface="Times New Roman" panose="02020603050405020304" pitchFamily="18" charset="0"/>
                <a:ea typeface="Arial Unicode MS" pitchFamily="34" charset="-122"/>
                <a:cs typeface="Times New Roman" panose="02020603050405020304" pitchFamily="18" charset="0"/>
              </a:rPr>
              <a:t>6.7 The Hartree-Fock SCF method*</a:t>
            </a:r>
          </a:p>
        </p:txBody>
      </p:sp>
      <p:sp>
        <p:nvSpPr>
          <p:cNvPr id="9" name="矩形 8"/>
          <p:cNvSpPr/>
          <p:nvPr/>
        </p:nvSpPr>
        <p:spPr>
          <a:xfrm>
            <a:off x="309834" y="1226482"/>
            <a:ext cx="11592560" cy="904863"/>
          </a:xfrm>
          <a:prstGeom prst="rect">
            <a:avLst/>
          </a:prstGeom>
        </p:spPr>
        <p:txBody>
          <a:bodyPr wrap="square">
            <a:spAutoFit/>
          </a:bodyPr>
          <a:lstStyle/>
          <a:p>
            <a:pPr>
              <a:spcBef>
                <a:spcPct val="20000"/>
              </a:spcBef>
              <a:defRPr/>
            </a:pPr>
            <a:r>
              <a:rPr lang="en-US" altLang="zh-CN" sz="2400" dirty="0">
                <a:latin typeface="Times New Roman" panose="02020603050405020304" pitchFamily="18" charset="0"/>
                <a:ea typeface="Arial Unicode MS" pitchFamily="34" charset="-122"/>
                <a:cs typeface="Times New Roman" panose="02020603050405020304" pitchFamily="18" charset="0"/>
              </a:rPr>
              <a:t>To vary the functional F(</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(x)</a:t>
            </a:r>
            <a:r>
              <a:rPr lang="en-US" altLang="zh-CN" sz="2400" dirty="0">
                <a:latin typeface="Times New Roman" panose="02020603050405020304" pitchFamily="18" charset="0"/>
                <a:ea typeface="Arial Unicode MS" pitchFamily="34" charset="-122"/>
                <a:cs typeface="Times New Roman" panose="02020603050405020304" pitchFamily="18" charset="0"/>
              </a:rPr>
              <a:t>) with respect to </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(x) </a:t>
            </a:r>
            <a:r>
              <a:rPr lang="en-US" altLang="zh-CN" sz="2400" dirty="0">
                <a:latin typeface="Times New Roman" panose="02020603050405020304" pitchFamily="18" charset="0"/>
                <a:ea typeface="Arial Unicode MS" pitchFamily="34" charset="-122"/>
                <a:cs typeface="Times New Roman" panose="02020603050405020304" pitchFamily="18" charset="0"/>
              </a:rPr>
              <a:t>subject to G(</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(x)</a:t>
            </a:r>
            <a:r>
              <a:rPr lang="en-US" altLang="zh-CN" sz="2400" dirty="0">
                <a:latin typeface="Times New Roman" panose="02020603050405020304" pitchFamily="18" charset="0"/>
                <a:ea typeface="Arial Unicode MS" pitchFamily="34" charset="-122"/>
                <a:cs typeface="Times New Roman" panose="02020603050405020304" pitchFamily="18" charset="0"/>
              </a:rPr>
              <a:t>)=0,</a:t>
            </a:r>
            <a:r>
              <a:rPr lang="zh-CN" altLang="en-US" sz="2400" dirty="0">
                <a:latin typeface="Times New Roman" panose="02020603050405020304" pitchFamily="18" charset="0"/>
                <a:ea typeface="Arial Unicode MS" pitchFamily="34" charset="-122"/>
                <a:cs typeface="Times New Roman" panose="02020603050405020304" pitchFamily="18" charset="0"/>
              </a:rPr>
              <a:t> </a:t>
            </a:r>
            <a:endParaRPr lang="en-US" altLang="zh-CN" sz="2400" dirty="0">
              <a:latin typeface="Times New Roman" panose="02020603050405020304" pitchFamily="18" charset="0"/>
              <a:ea typeface="Arial Unicode MS" pitchFamily="34" charset="-122"/>
              <a:cs typeface="Times New Roman" panose="02020603050405020304" pitchFamily="18" charset="0"/>
            </a:endParaRPr>
          </a:p>
          <a:p>
            <a:pPr>
              <a:spcBef>
                <a:spcPct val="20000"/>
              </a:spcBef>
              <a:defRPr/>
            </a:pPr>
            <a:r>
              <a:rPr lang="en-US" altLang="zh-CN" sz="2400" dirty="0">
                <a:latin typeface="Times New Roman" panose="02020603050405020304" pitchFamily="18" charset="0"/>
                <a:ea typeface="Arial Unicode MS" pitchFamily="34" charset="-122"/>
                <a:cs typeface="Times New Roman" panose="02020603050405020304" pitchFamily="18" charset="0"/>
              </a:rPr>
              <a:t>Solve:  </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a:t>
            </a:r>
            <a:r>
              <a:rPr lang="en-US" altLang="zh-CN" sz="2400" dirty="0">
                <a:latin typeface="Times New Roman" panose="02020603050405020304" pitchFamily="18" charset="0"/>
                <a:ea typeface="Arial Unicode MS" pitchFamily="34" charset="-122"/>
                <a:cs typeface="Times New Roman" panose="02020603050405020304" pitchFamily="18" charset="0"/>
              </a:rPr>
              <a:t>F + </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a:t>
            </a:r>
            <a:r>
              <a:rPr lang="en-US" altLang="zh-CN" sz="2400" dirty="0">
                <a:latin typeface="Times New Roman" panose="02020603050405020304" pitchFamily="18" charset="0"/>
                <a:ea typeface="Arial Unicode MS" pitchFamily="34" charset="-122"/>
                <a:cs typeface="Times New Roman" panose="02020603050405020304" pitchFamily="18" charset="0"/>
              </a:rPr>
              <a:t>G = 0</a:t>
            </a:r>
            <a:endParaRPr lang="zh-CN" altLang="en-US" sz="2400" dirty="0">
              <a:latin typeface="Times New Roman" panose="02020603050405020304" pitchFamily="18" charset="0"/>
              <a:ea typeface="Arial Unicode MS" pitchFamily="34" charset="-122"/>
              <a:cs typeface="Times New Roman" panose="02020603050405020304" pitchFamily="18" charset="0"/>
            </a:endParaRPr>
          </a:p>
        </p:txBody>
      </p:sp>
      <p:sp>
        <p:nvSpPr>
          <p:cNvPr id="10" name="矩形 9"/>
          <p:cNvSpPr/>
          <p:nvPr/>
        </p:nvSpPr>
        <p:spPr>
          <a:xfrm>
            <a:off x="309834" y="2300302"/>
            <a:ext cx="9327129" cy="461665"/>
          </a:xfrm>
          <a:prstGeom prst="rect">
            <a:avLst/>
          </a:prstGeom>
        </p:spPr>
        <p:txBody>
          <a:bodyPr wrap="square">
            <a:spAutoFit/>
          </a:bodyPr>
          <a:lstStyle/>
          <a:p>
            <a:pPr>
              <a:spcBef>
                <a:spcPct val="20000"/>
              </a:spcBef>
              <a:defRPr/>
            </a:pPr>
            <a:r>
              <a:rPr lang="en-US" altLang="zh-CN" sz="2400" dirty="0">
                <a:latin typeface="Times New Roman" panose="02020603050405020304" pitchFamily="18" charset="0"/>
                <a:ea typeface="Arial Unicode MS" pitchFamily="34" charset="-122"/>
                <a:cs typeface="Times New Roman" panose="02020603050405020304" pitchFamily="18" charset="0"/>
              </a:rPr>
              <a:t>We then obtain </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(x, ) </a:t>
            </a:r>
            <a:r>
              <a:rPr lang="en-US" altLang="zh-CN" sz="2400" dirty="0">
                <a:latin typeface="Times New Roman" panose="02020603050405020304" pitchFamily="18" charset="0"/>
                <a:ea typeface="Arial Unicode MS" pitchFamily="34" charset="-122"/>
                <a:cs typeface="Times New Roman" panose="02020603050405020304" pitchFamily="18" charset="0"/>
              </a:rPr>
              <a:t>and fix λ by requiring G(</a:t>
            </a:r>
            <a:r>
              <a:rPr lang="en-US" altLang="zh-CN" sz="2400" dirty="0">
                <a:latin typeface="Times New Roman" panose="02020603050405020304" pitchFamily="18" charset="0"/>
                <a:ea typeface="Arial Unicode MS" pitchFamily="34" charset="-122"/>
                <a:cs typeface="Times New Roman" panose="02020603050405020304" pitchFamily="18" charset="0"/>
                <a:sym typeface="Symbol"/>
              </a:rPr>
              <a:t>(x, )</a:t>
            </a:r>
            <a:r>
              <a:rPr lang="en-US" altLang="zh-CN" sz="2400" dirty="0">
                <a:latin typeface="Times New Roman" panose="02020603050405020304" pitchFamily="18" charset="0"/>
                <a:ea typeface="Arial Unicode MS" pitchFamily="34" charset="-122"/>
                <a:cs typeface="Times New Roman" panose="02020603050405020304" pitchFamily="18" charset="0"/>
              </a:rPr>
              <a:t>) = 0</a:t>
            </a:r>
            <a:endParaRPr lang="zh-CN" altLang="en-US" sz="2400" dirty="0">
              <a:latin typeface="Times New Roman" panose="02020603050405020304" pitchFamily="18" charset="0"/>
              <a:ea typeface="Arial Unicode MS" pitchFamily="34" charset="-122"/>
              <a:cs typeface="Times New Roman" panose="02020603050405020304" pitchFamily="18" charset="0"/>
            </a:endParaRPr>
          </a:p>
        </p:txBody>
      </p:sp>
      <p:sp>
        <p:nvSpPr>
          <p:cNvPr id="7" name="Line 2"/>
          <p:cNvSpPr>
            <a:spLocks noChangeShapeType="1"/>
          </p:cNvSpPr>
          <p:nvPr/>
        </p:nvSpPr>
        <p:spPr bwMode="auto">
          <a:xfrm flipV="1">
            <a:off x="47328"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C8A68A78-AF9A-44B9-BE3F-69BA146B533A}"/>
              </a:ext>
            </a:extLst>
          </p:cNvPr>
          <p:cNvSpPr/>
          <p:nvPr/>
        </p:nvSpPr>
        <p:spPr>
          <a:xfrm>
            <a:off x="309834" y="3008057"/>
            <a:ext cx="4867037" cy="461665"/>
          </a:xfrm>
          <a:prstGeom prst="rect">
            <a:avLst/>
          </a:prstGeom>
        </p:spPr>
        <p:txBody>
          <a:bodyPr wrap="none">
            <a:spAutoFit/>
          </a:bodyPr>
          <a:lstStyle/>
          <a:p>
            <a:pPr algn="ctr">
              <a:spcBef>
                <a:spcPct val="20000"/>
              </a:spcBef>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For </a:t>
            </a:r>
            <a:r>
              <a:rPr lang="en-US" altLang="zh-CN" sz="2400" dirty="0">
                <a:solidFill>
                  <a:srgbClr val="0000CC"/>
                </a:solidFill>
                <a:latin typeface="Times New Roman" panose="02020603050405020304" pitchFamily="18" charset="0"/>
                <a:ea typeface="Arial Unicode MS" pitchFamily="34" charset="-122"/>
                <a:cs typeface="Times New Roman" panose="02020603050405020304" pitchFamily="18" charset="0"/>
              </a:rPr>
              <a:t>Slater one-determinant function </a:t>
            </a:r>
            <a:r>
              <a:rPr lang="el-GR"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ψ</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graphicFrame>
        <p:nvGraphicFramePr>
          <p:cNvPr id="13" name="对象 12">
            <a:extLst>
              <a:ext uri="{FF2B5EF4-FFF2-40B4-BE49-F238E27FC236}">
                <a16:creationId xmlns:a16="http://schemas.microsoft.com/office/drawing/2014/main" id="{FE5AE763-4543-4382-9641-7558ABC9CD22}"/>
              </a:ext>
            </a:extLst>
          </p:cNvPr>
          <p:cNvGraphicFramePr>
            <a:graphicFrameLocks noChangeAspect="1"/>
          </p:cNvGraphicFramePr>
          <p:nvPr>
            <p:extLst>
              <p:ext uri="{D42A27DB-BD31-4B8C-83A1-F6EECF244321}">
                <p14:modId xmlns:p14="http://schemas.microsoft.com/office/powerpoint/2010/main" val="95333489"/>
              </p:ext>
            </p:extLst>
          </p:nvPr>
        </p:nvGraphicFramePr>
        <p:xfrm>
          <a:off x="3560801" y="4825770"/>
          <a:ext cx="3659188" cy="614363"/>
        </p:xfrm>
        <a:graphic>
          <a:graphicData uri="http://schemas.openxmlformats.org/presentationml/2006/ole">
            <mc:AlternateContent xmlns:mc="http://schemas.openxmlformats.org/markup-compatibility/2006">
              <mc:Choice xmlns:v="urn:schemas-microsoft-com:vml" Requires="v">
                <p:oleObj name="Equation" r:id="rId2" imgW="1663560" imgH="279360" progId="Equation.DSMT4">
                  <p:embed/>
                </p:oleObj>
              </mc:Choice>
              <mc:Fallback>
                <p:oleObj name="Equation" r:id="rId2" imgW="1663560" imgH="279360" progId="Equation.DSMT4">
                  <p:embed/>
                  <p:pic>
                    <p:nvPicPr>
                      <p:cNvPr id="13" name="对象 12">
                        <a:extLst>
                          <a:ext uri="{FF2B5EF4-FFF2-40B4-BE49-F238E27FC236}">
                            <a16:creationId xmlns:a16="http://schemas.microsoft.com/office/drawing/2014/main" id="{FE5AE763-4543-4382-9641-7558ABC9CD22}"/>
                          </a:ext>
                        </a:extLst>
                      </p:cNvPr>
                      <p:cNvPicPr/>
                      <p:nvPr/>
                    </p:nvPicPr>
                    <p:blipFill>
                      <a:blip r:embed="rId3"/>
                      <a:stretch>
                        <a:fillRect/>
                      </a:stretch>
                    </p:blipFill>
                    <p:spPr>
                      <a:xfrm>
                        <a:off x="3560801" y="4825770"/>
                        <a:ext cx="3659188" cy="61436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59025B22-905C-4905-9764-C47435286E05}"/>
              </a:ext>
            </a:extLst>
          </p:cNvPr>
          <p:cNvGraphicFramePr>
            <a:graphicFrameLocks noChangeAspect="1"/>
          </p:cNvGraphicFramePr>
          <p:nvPr>
            <p:extLst>
              <p:ext uri="{D42A27DB-BD31-4B8C-83A1-F6EECF244321}">
                <p14:modId xmlns:p14="http://schemas.microsoft.com/office/powerpoint/2010/main" val="2114286106"/>
              </p:ext>
            </p:extLst>
          </p:nvPr>
        </p:nvGraphicFramePr>
        <p:xfrm>
          <a:off x="3187495" y="5486829"/>
          <a:ext cx="5837237" cy="949325"/>
        </p:xfrm>
        <a:graphic>
          <a:graphicData uri="http://schemas.openxmlformats.org/presentationml/2006/ole">
            <mc:AlternateContent xmlns:mc="http://schemas.openxmlformats.org/markup-compatibility/2006">
              <mc:Choice xmlns:v="urn:schemas-microsoft-com:vml" Requires="v">
                <p:oleObj name="Equation" r:id="rId4" imgW="2654280" imgH="431640" progId="Equation.DSMT4">
                  <p:embed/>
                </p:oleObj>
              </mc:Choice>
              <mc:Fallback>
                <p:oleObj name="Equation" r:id="rId4" imgW="2654280" imgH="431640" progId="Equation.DSMT4">
                  <p:embed/>
                  <p:pic>
                    <p:nvPicPr>
                      <p:cNvPr id="14" name="对象 13">
                        <a:extLst>
                          <a:ext uri="{FF2B5EF4-FFF2-40B4-BE49-F238E27FC236}">
                            <a16:creationId xmlns:a16="http://schemas.microsoft.com/office/drawing/2014/main" id="{59025B22-905C-4905-9764-C47435286E05}"/>
                          </a:ext>
                        </a:extLst>
                      </p:cNvPr>
                      <p:cNvPicPr>
                        <a:picLocks noChangeAspect="1" noChangeArrowheads="1"/>
                      </p:cNvPicPr>
                      <p:nvPr/>
                    </p:nvPicPr>
                    <p:blipFill>
                      <a:blip r:embed="rId5"/>
                      <a:srcRect/>
                      <a:stretch>
                        <a:fillRect/>
                      </a:stretch>
                    </p:blipFill>
                    <p:spPr bwMode="auto">
                      <a:xfrm>
                        <a:off x="3187495" y="5486829"/>
                        <a:ext cx="5837237"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a:extLst>
              <a:ext uri="{FF2B5EF4-FFF2-40B4-BE49-F238E27FC236}">
                <a16:creationId xmlns:a16="http://schemas.microsoft.com/office/drawing/2014/main" id="{66274CAA-B3C2-4AFA-B63F-00A17B3606BA}"/>
              </a:ext>
            </a:extLst>
          </p:cNvPr>
          <p:cNvGraphicFramePr>
            <a:graphicFrameLocks noChangeAspect="1"/>
          </p:cNvGraphicFramePr>
          <p:nvPr>
            <p:extLst>
              <p:ext uri="{D42A27DB-BD31-4B8C-83A1-F6EECF244321}">
                <p14:modId xmlns:p14="http://schemas.microsoft.com/office/powerpoint/2010/main" val="1483618290"/>
              </p:ext>
            </p:extLst>
          </p:nvPr>
        </p:nvGraphicFramePr>
        <p:xfrm>
          <a:off x="2399318" y="3715812"/>
          <a:ext cx="7803845" cy="1011018"/>
        </p:xfrm>
        <a:graphic>
          <a:graphicData uri="http://schemas.openxmlformats.org/presentationml/2006/ole">
            <mc:AlternateContent xmlns:mc="http://schemas.openxmlformats.org/markup-compatibility/2006">
              <mc:Choice xmlns:v="urn:schemas-microsoft-com:vml" Requires="v">
                <p:oleObj name="Equation" r:id="rId6" imgW="3429000" imgH="444240" progId="Equation.DSMT4">
                  <p:embed/>
                </p:oleObj>
              </mc:Choice>
              <mc:Fallback>
                <p:oleObj name="Equation" r:id="rId6" imgW="3429000" imgH="444240" progId="Equation.DSMT4">
                  <p:embed/>
                  <p:pic>
                    <p:nvPicPr>
                      <p:cNvPr id="2" name="对象 1">
                        <a:extLst>
                          <a:ext uri="{FF2B5EF4-FFF2-40B4-BE49-F238E27FC236}">
                            <a16:creationId xmlns:a16="http://schemas.microsoft.com/office/drawing/2014/main" id="{66274CAA-B3C2-4AFA-B63F-00A17B3606BA}"/>
                          </a:ext>
                        </a:extLst>
                      </p:cNvPr>
                      <p:cNvPicPr/>
                      <p:nvPr/>
                    </p:nvPicPr>
                    <p:blipFill>
                      <a:blip r:embed="rId7"/>
                      <a:stretch>
                        <a:fillRect/>
                      </a:stretch>
                    </p:blipFill>
                    <p:spPr>
                      <a:xfrm>
                        <a:off x="2399318" y="3715812"/>
                        <a:ext cx="7803845" cy="1011018"/>
                      </a:xfrm>
                      <a:prstGeom prst="rect">
                        <a:avLst/>
                      </a:prstGeom>
                    </p:spPr>
                  </p:pic>
                </p:oleObj>
              </mc:Fallback>
            </mc:AlternateContent>
          </a:graphicData>
        </a:graphic>
      </p:graphicFrame>
    </p:spTree>
    <p:extLst>
      <p:ext uri="{BB962C8B-B14F-4D97-AF65-F5344CB8AC3E}">
        <p14:creationId xmlns:p14="http://schemas.microsoft.com/office/powerpoint/2010/main" val="356343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0164" y="1341964"/>
            <a:ext cx="8280920" cy="461665"/>
          </a:xfrm>
          <a:prstGeom prst="rect">
            <a:avLst/>
          </a:prstGeom>
        </p:spPr>
        <p:txBody>
          <a:bodyPr wrap="square">
            <a:spAutoFit/>
          </a:bodyPr>
          <a:lstStyle/>
          <a:p>
            <a:pPr algn="ctr">
              <a:spcBef>
                <a:spcPct val="20000"/>
              </a:spcBef>
              <a:defRPr/>
            </a:pP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Condition: the </a:t>
            </a:r>
            <a:r>
              <a:rPr lang="en-US" altLang="zh-CN" sz="2400" b="1" dirty="0" err="1">
                <a:solidFill>
                  <a:srgbClr val="000000"/>
                </a:solidFill>
                <a:latin typeface="Times New Roman" panose="02020603050405020304" pitchFamily="18" charset="0"/>
                <a:ea typeface="Arial Unicode MS" pitchFamily="34" charset="-122"/>
                <a:cs typeface="Times New Roman" panose="02020603050405020304" pitchFamily="18" charset="0"/>
              </a:rPr>
              <a:t>orthonormality</a:t>
            </a: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 of the </a:t>
            </a:r>
            <a:r>
              <a:rPr lang="en-US" altLang="zh-CN" sz="2400" b="1" dirty="0" err="1">
                <a:solidFill>
                  <a:srgbClr val="000000"/>
                </a:solidFill>
                <a:latin typeface="Times New Roman" panose="02020603050405020304" pitchFamily="18" charset="0"/>
                <a:ea typeface="Arial Unicode MS" pitchFamily="34" charset="-122"/>
                <a:cs typeface="Times New Roman" panose="02020603050405020304" pitchFamily="18" charset="0"/>
              </a:rPr>
              <a:t>spinorbitals</a:t>
            </a: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a:t>
            </a:r>
            <a:endParaRPr lang="zh-CN" altLang="en-US" sz="2400" b="1"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
        <p:nvSpPr>
          <p:cNvPr id="8" name="矩形 7"/>
          <p:cNvSpPr/>
          <p:nvPr/>
        </p:nvSpPr>
        <p:spPr>
          <a:xfrm>
            <a:off x="1803884" y="2924945"/>
            <a:ext cx="8136904" cy="830997"/>
          </a:xfrm>
          <a:prstGeom prst="rect">
            <a:avLst/>
          </a:prstGeom>
        </p:spPr>
        <p:txBody>
          <a:bodyPr wrap="square">
            <a:spAutoFit/>
          </a:bodyPr>
          <a:lstStyle/>
          <a:p>
            <a:pPr algn="ctr">
              <a:spcBef>
                <a:spcPct val="20000"/>
              </a:spcBef>
              <a:defRPr/>
            </a:pP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The necessary condition for the minimum is that the variation is zero according to differential.</a:t>
            </a:r>
            <a:endParaRPr lang="zh-CN" altLang="en-US" sz="2400" b="1"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graphicFrame>
        <p:nvGraphicFramePr>
          <p:cNvPr id="2" name="对象 1">
            <a:extLst>
              <a:ext uri="{FF2B5EF4-FFF2-40B4-BE49-F238E27FC236}">
                <a16:creationId xmlns:a16="http://schemas.microsoft.com/office/drawing/2014/main" id="{9485AE4C-4AF6-4A93-B567-EB64834FDD19}"/>
              </a:ext>
            </a:extLst>
          </p:cNvPr>
          <p:cNvGraphicFramePr>
            <a:graphicFrameLocks noChangeAspect="1"/>
          </p:cNvGraphicFramePr>
          <p:nvPr/>
        </p:nvGraphicFramePr>
        <p:xfrm>
          <a:off x="3575720" y="2110486"/>
          <a:ext cx="3860640" cy="507600"/>
        </p:xfrm>
        <a:graphic>
          <a:graphicData uri="http://schemas.openxmlformats.org/presentationml/2006/ole">
            <mc:AlternateContent xmlns:mc="http://schemas.openxmlformats.org/markup-compatibility/2006">
              <mc:Choice xmlns:v="urn:schemas-microsoft-com:vml" Requires="v">
                <p:oleObj name="Equation" r:id="rId2" imgW="1930320" imgH="253800" progId="Equation.DSMT4">
                  <p:embed/>
                </p:oleObj>
              </mc:Choice>
              <mc:Fallback>
                <p:oleObj name="Equation" r:id="rId2" imgW="1930320" imgH="253800" progId="Equation.DSMT4">
                  <p:embed/>
                  <p:pic>
                    <p:nvPicPr>
                      <p:cNvPr id="2" name="对象 1">
                        <a:extLst>
                          <a:ext uri="{FF2B5EF4-FFF2-40B4-BE49-F238E27FC236}">
                            <a16:creationId xmlns:a16="http://schemas.microsoft.com/office/drawing/2014/main" id="{9485AE4C-4AF6-4A93-B567-EB64834FDD19}"/>
                          </a:ext>
                        </a:extLst>
                      </p:cNvPr>
                      <p:cNvPicPr/>
                      <p:nvPr/>
                    </p:nvPicPr>
                    <p:blipFill>
                      <a:blip r:embed="rId3"/>
                      <a:stretch>
                        <a:fillRect/>
                      </a:stretch>
                    </p:blipFill>
                    <p:spPr>
                      <a:xfrm>
                        <a:off x="3575720" y="2110486"/>
                        <a:ext cx="3860640" cy="5076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9BE9B02C-5A81-4C46-A543-2CFDC5C682FD}"/>
              </a:ext>
            </a:extLst>
          </p:cNvPr>
          <p:cNvGraphicFramePr>
            <a:graphicFrameLocks noChangeAspect="1"/>
          </p:cNvGraphicFramePr>
          <p:nvPr/>
        </p:nvGraphicFramePr>
        <p:xfrm>
          <a:off x="4730035" y="3993235"/>
          <a:ext cx="2539440" cy="710640"/>
        </p:xfrm>
        <a:graphic>
          <a:graphicData uri="http://schemas.openxmlformats.org/presentationml/2006/ole">
            <mc:AlternateContent xmlns:mc="http://schemas.openxmlformats.org/markup-compatibility/2006">
              <mc:Choice xmlns:v="urn:schemas-microsoft-com:vml" Requires="v">
                <p:oleObj name="公式" r:id="rId4" imgW="1269720" imgH="355320" progId="Equation.3">
                  <p:embed/>
                </p:oleObj>
              </mc:Choice>
              <mc:Fallback>
                <p:oleObj name="公式" r:id="rId4" imgW="1269720" imgH="355320" progId="Equation.3">
                  <p:embed/>
                  <p:pic>
                    <p:nvPicPr>
                      <p:cNvPr id="3" name="对象 2">
                        <a:extLst>
                          <a:ext uri="{FF2B5EF4-FFF2-40B4-BE49-F238E27FC236}">
                            <a16:creationId xmlns:a16="http://schemas.microsoft.com/office/drawing/2014/main" id="{9BE9B02C-5A81-4C46-A543-2CFDC5C682FD}"/>
                          </a:ext>
                        </a:extLst>
                      </p:cNvPr>
                      <p:cNvPicPr/>
                      <p:nvPr/>
                    </p:nvPicPr>
                    <p:blipFill>
                      <a:blip r:embed="rId5"/>
                      <a:stretch>
                        <a:fillRect/>
                      </a:stretch>
                    </p:blipFill>
                    <p:spPr>
                      <a:xfrm>
                        <a:off x="4730035" y="3993235"/>
                        <a:ext cx="2539440" cy="71064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3A3243F-9268-4BF1-9987-CD5AAC2AC037}"/>
              </a:ext>
            </a:extLst>
          </p:cNvPr>
          <p:cNvGraphicFramePr>
            <a:graphicFrameLocks noChangeAspect="1"/>
          </p:cNvGraphicFramePr>
          <p:nvPr/>
        </p:nvGraphicFramePr>
        <p:xfrm>
          <a:off x="4267200" y="4797425"/>
          <a:ext cx="3606800" cy="965200"/>
        </p:xfrm>
        <a:graphic>
          <a:graphicData uri="http://schemas.openxmlformats.org/presentationml/2006/ole">
            <mc:AlternateContent xmlns:mc="http://schemas.openxmlformats.org/markup-compatibility/2006">
              <mc:Choice xmlns:v="urn:schemas-microsoft-com:vml" Requires="v">
                <p:oleObj name="Equation" r:id="rId6" imgW="1803240" imgH="482400" progId="Equation.DSMT4">
                  <p:embed/>
                </p:oleObj>
              </mc:Choice>
              <mc:Fallback>
                <p:oleObj name="Equation" r:id="rId6" imgW="1803240" imgH="482400" progId="Equation.DSMT4">
                  <p:embed/>
                  <p:pic>
                    <p:nvPicPr>
                      <p:cNvPr id="11" name="对象 10">
                        <a:extLst>
                          <a:ext uri="{FF2B5EF4-FFF2-40B4-BE49-F238E27FC236}">
                            <a16:creationId xmlns:a16="http://schemas.microsoft.com/office/drawing/2014/main" id="{A3A3243F-9268-4BF1-9987-CD5AAC2AC037}"/>
                          </a:ext>
                        </a:extLst>
                      </p:cNvPr>
                      <p:cNvPicPr/>
                      <p:nvPr/>
                    </p:nvPicPr>
                    <p:blipFill>
                      <a:blip r:embed="rId7"/>
                      <a:stretch>
                        <a:fillRect/>
                      </a:stretch>
                    </p:blipFill>
                    <p:spPr>
                      <a:xfrm>
                        <a:off x="4267200" y="4797425"/>
                        <a:ext cx="3606800" cy="965200"/>
                      </a:xfrm>
                      <a:prstGeom prst="rect">
                        <a:avLst/>
                      </a:prstGeom>
                    </p:spPr>
                  </p:pic>
                </p:oleObj>
              </mc:Fallback>
            </mc:AlternateContent>
          </a:graphicData>
        </a:graphic>
      </p:graphicFrame>
      <p:sp>
        <p:nvSpPr>
          <p:cNvPr id="9" name="Line 2">
            <a:extLst>
              <a:ext uri="{FF2B5EF4-FFF2-40B4-BE49-F238E27FC236}">
                <a16:creationId xmlns:a16="http://schemas.microsoft.com/office/drawing/2014/main" id="{B1A05782-6831-4187-8D97-282B696442A0}"/>
              </a:ext>
            </a:extLst>
          </p:cNvPr>
          <p:cNvSpPr>
            <a:spLocks noChangeShapeType="1"/>
          </p:cNvSpPr>
          <p:nvPr/>
        </p:nvSpPr>
        <p:spPr bwMode="auto">
          <a:xfrm flipV="1">
            <a:off x="47328"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5A647D5F-E585-487F-B12A-B3B495D3DF92}"/>
              </a:ext>
            </a:extLst>
          </p:cNvPr>
          <p:cNvSpPr/>
          <p:nvPr/>
        </p:nvSpPr>
        <p:spPr>
          <a:xfrm>
            <a:off x="2410014" y="220648"/>
            <a:ext cx="6758390" cy="523220"/>
          </a:xfrm>
          <a:prstGeom prst="rect">
            <a:avLst/>
          </a:prstGeom>
        </p:spPr>
        <p:txBody>
          <a:bodyPr wrap="none">
            <a:spAutoFit/>
          </a:bodyPr>
          <a:lstStyle/>
          <a:p>
            <a:pPr algn="ctr">
              <a:spcBef>
                <a:spcPct val="20000"/>
              </a:spcBef>
              <a:defRPr/>
            </a:pPr>
            <a:r>
              <a:rPr lang="en-US" altLang="zh-CN" sz="2800" b="1" dirty="0">
                <a:latin typeface="Times New Roman" panose="02020603050405020304" pitchFamily="18" charset="0"/>
                <a:ea typeface="Arial Unicode MS" pitchFamily="34" charset="-122"/>
                <a:cs typeface="Times New Roman" panose="02020603050405020304" pitchFamily="18" charset="0"/>
              </a:rPr>
              <a:t>The Search for the conditional Extremum*</a:t>
            </a:r>
            <a:endParaRPr lang="zh-CN" altLang="en-US" sz="2800" dirty="0">
              <a:latin typeface="Times New Roman" panose="02020603050405020304" pitchFamily="18" charset="0"/>
              <a:ea typeface="Arial Unicode MS" pitchFamily="34" charset="-122"/>
              <a:cs typeface="Times New Roman" panose="02020603050405020304" pitchFamily="18" charset="0"/>
            </a:endParaRPr>
          </a:p>
        </p:txBody>
      </p:sp>
    </p:spTree>
    <p:extLst>
      <p:ext uri="{BB962C8B-B14F-4D97-AF65-F5344CB8AC3E}">
        <p14:creationId xmlns:p14="http://schemas.microsoft.com/office/powerpoint/2010/main" val="434449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7" name="Object 5"/>
          <p:cNvGraphicFramePr>
            <a:graphicFrameLocks noChangeAspect="1"/>
          </p:cNvGraphicFramePr>
          <p:nvPr/>
        </p:nvGraphicFramePr>
        <p:xfrm>
          <a:off x="3646488" y="978096"/>
          <a:ext cx="2743200" cy="630237"/>
        </p:xfrm>
        <a:graphic>
          <a:graphicData uri="http://schemas.openxmlformats.org/presentationml/2006/ole">
            <mc:AlternateContent xmlns:mc="http://schemas.openxmlformats.org/markup-compatibility/2006">
              <mc:Choice xmlns:v="urn:schemas-microsoft-com:vml" Requires="v">
                <p:oleObj name="Equation" r:id="rId3" imgW="1104840" imgH="253800" progId="Equation.DSMT4">
                  <p:embed/>
                </p:oleObj>
              </mc:Choice>
              <mc:Fallback>
                <p:oleObj name="Equation" r:id="rId3" imgW="1104840" imgH="253800" progId="Equation.DSMT4">
                  <p:embed/>
                  <p:pic>
                    <p:nvPicPr>
                      <p:cNvPr id="8197" name="Object 5"/>
                      <p:cNvPicPr>
                        <a:picLocks noChangeAspect="1" noChangeArrowheads="1"/>
                      </p:cNvPicPr>
                      <p:nvPr/>
                    </p:nvPicPr>
                    <p:blipFill>
                      <a:blip r:embed="rId4"/>
                      <a:srcRect/>
                      <a:stretch>
                        <a:fillRect/>
                      </a:stretch>
                    </p:blipFill>
                    <p:spPr bwMode="auto">
                      <a:xfrm>
                        <a:off x="3646488" y="978096"/>
                        <a:ext cx="2743200" cy="63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Text Box 6"/>
          <p:cNvSpPr txBox="1">
            <a:spLocks noChangeArrowheads="1"/>
          </p:cNvSpPr>
          <p:nvPr/>
        </p:nvSpPr>
        <p:spPr bwMode="auto">
          <a:xfrm>
            <a:off x="3101013" y="1962594"/>
            <a:ext cx="1330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2400">
                <a:solidFill>
                  <a:srgbClr val="002060"/>
                </a:solidFill>
                <a:latin typeface="Times New Roman" panose="02020603050405020304" pitchFamily="18" charset="0"/>
                <a:ea typeface="Arial Unicode MS" pitchFamily="34" charset="-122"/>
                <a:cs typeface="Times New Roman" panose="02020603050405020304" pitchFamily="18" charset="0"/>
              </a:rPr>
              <a:t>Fock Op.</a:t>
            </a:r>
          </a:p>
        </p:txBody>
      </p:sp>
      <p:sp>
        <p:nvSpPr>
          <p:cNvPr id="8199" name="Text Box 7"/>
          <p:cNvSpPr txBox="1">
            <a:spLocks noChangeArrowheads="1"/>
          </p:cNvSpPr>
          <p:nvPr/>
        </p:nvSpPr>
        <p:spPr bwMode="auto">
          <a:xfrm>
            <a:off x="5030657" y="1962594"/>
            <a:ext cx="18943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2400">
                <a:solidFill>
                  <a:srgbClr val="002060"/>
                </a:solidFill>
                <a:latin typeface="Times New Roman" panose="02020603050405020304" pitchFamily="18" charset="0"/>
                <a:ea typeface="Arial Unicode MS" pitchFamily="34" charset="-122"/>
                <a:cs typeface="Times New Roman" panose="02020603050405020304" pitchFamily="18" charset="0"/>
              </a:rPr>
              <a:t>orbital energy</a:t>
            </a:r>
          </a:p>
        </p:txBody>
      </p:sp>
      <p:sp>
        <p:nvSpPr>
          <p:cNvPr id="8200" name="AutoShape 8"/>
          <p:cNvSpPr>
            <a:spLocks noChangeArrowheads="1"/>
          </p:cNvSpPr>
          <p:nvPr/>
        </p:nvSpPr>
        <p:spPr bwMode="auto">
          <a:xfrm rot="1882380">
            <a:off x="3837856" y="1581594"/>
            <a:ext cx="228600" cy="381000"/>
          </a:xfrm>
          <a:prstGeom prst="downArrow">
            <a:avLst>
              <a:gd name="adj1" fmla="val 50000"/>
              <a:gd name="adj2" fmla="val 41667"/>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a:solidFill>
                <a:srgbClr val="002060"/>
              </a:solidFill>
              <a:latin typeface="Arial" charset="0"/>
              <a:ea typeface="Arial Unicode MS" pitchFamily="34" charset="-122"/>
              <a:cs typeface="Arial Unicode MS" pitchFamily="34" charset="-122"/>
            </a:endParaRPr>
          </a:p>
        </p:txBody>
      </p:sp>
      <p:sp>
        <p:nvSpPr>
          <p:cNvPr id="8201" name="AutoShape 9"/>
          <p:cNvSpPr>
            <a:spLocks noChangeArrowheads="1"/>
          </p:cNvSpPr>
          <p:nvPr/>
        </p:nvSpPr>
        <p:spPr bwMode="auto">
          <a:xfrm rot="21599999">
            <a:off x="5361856" y="1581594"/>
            <a:ext cx="228600" cy="381000"/>
          </a:xfrm>
          <a:prstGeom prst="downArrow">
            <a:avLst>
              <a:gd name="adj1" fmla="val 50000"/>
              <a:gd name="adj2" fmla="val 41667"/>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a:solidFill>
                <a:srgbClr val="002060"/>
              </a:solidFill>
              <a:latin typeface="Arial" charset="0"/>
              <a:ea typeface="Arial Unicode MS" pitchFamily="34" charset="-122"/>
              <a:cs typeface="Arial Unicode MS" pitchFamily="34" charset="-122"/>
            </a:endParaRPr>
          </a:p>
        </p:txBody>
      </p:sp>
      <p:sp>
        <p:nvSpPr>
          <p:cNvPr id="8209" name="AutoShape 17"/>
          <p:cNvSpPr>
            <a:spLocks noChangeArrowheads="1"/>
          </p:cNvSpPr>
          <p:nvPr/>
        </p:nvSpPr>
        <p:spPr bwMode="auto">
          <a:xfrm rot="16200000">
            <a:off x="6509619" y="1130744"/>
            <a:ext cx="228600" cy="381000"/>
          </a:xfrm>
          <a:prstGeom prst="downArrow">
            <a:avLst>
              <a:gd name="adj1" fmla="val 50000"/>
              <a:gd name="adj2" fmla="val 41667"/>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a:solidFill>
                <a:srgbClr val="002060"/>
              </a:solidFill>
              <a:latin typeface="Arial" charset="0"/>
              <a:ea typeface="Arial Unicode MS" pitchFamily="34" charset="-122"/>
              <a:cs typeface="Arial Unicode MS" pitchFamily="34" charset="-122"/>
            </a:endParaRPr>
          </a:p>
        </p:txBody>
      </p:sp>
      <p:sp>
        <p:nvSpPr>
          <p:cNvPr id="8210" name="Text Box 18"/>
          <p:cNvSpPr txBox="1">
            <a:spLocks noChangeArrowheads="1"/>
          </p:cNvSpPr>
          <p:nvPr/>
        </p:nvSpPr>
        <p:spPr bwMode="auto">
          <a:xfrm>
            <a:off x="6805361" y="1106933"/>
            <a:ext cx="34820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2400" b="1" dirty="0">
                <a:solidFill>
                  <a:srgbClr val="FF0000"/>
                </a:solidFill>
                <a:latin typeface="Arial" charset="0"/>
                <a:ea typeface="Arial Unicode MS" pitchFamily="34" charset="-122"/>
                <a:cs typeface="Arial Unicode MS" pitchFamily="34" charset="-122"/>
              </a:rPr>
              <a:t>Canonical </a:t>
            </a:r>
            <a:r>
              <a:rPr lang="en-US" altLang="zh-CN" sz="2400" b="1" dirty="0" err="1">
                <a:solidFill>
                  <a:srgbClr val="FF0000"/>
                </a:solidFill>
                <a:latin typeface="Arial" charset="0"/>
                <a:ea typeface="Arial Unicode MS" pitchFamily="34" charset="-122"/>
                <a:cs typeface="Arial Unicode MS" pitchFamily="34" charset="-122"/>
              </a:rPr>
              <a:t>spinorbitals</a:t>
            </a:r>
            <a:endParaRPr lang="en-US" altLang="zh-CN" sz="2400" b="1" dirty="0">
              <a:solidFill>
                <a:srgbClr val="FF0000"/>
              </a:solidFill>
              <a:latin typeface="Arial" charset="0"/>
              <a:ea typeface="Arial Unicode MS" pitchFamily="34" charset="-122"/>
              <a:cs typeface="Arial Unicode MS" pitchFamily="34" charset="-122"/>
            </a:endParaRPr>
          </a:p>
        </p:txBody>
      </p:sp>
      <p:sp>
        <p:nvSpPr>
          <p:cNvPr id="2" name="矩形 1"/>
          <p:cNvSpPr/>
          <p:nvPr/>
        </p:nvSpPr>
        <p:spPr>
          <a:xfrm>
            <a:off x="323765" y="2503303"/>
            <a:ext cx="11308080" cy="830997"/>
          </a:xfrm>
          <a:prstGeom prst="rect">
            <a:avLst/>
          </a:prstGeom>
        </p:spPr>
        <p:txBody>
          <a:bodyPr wrap="square">
            <a:spAutoFit/>
          </a:bodyPr>
          <a:lstStyle/>
          <a:p>
            <a:pPr>
              <a:spcBef>
                <a:spcPct val="20000"/>
              </a:spcBef>
              <a:defRPr/>
            </a:pP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Both the </a:t>
            </a:r>
            <a:r>
              <a:rPr lang="en-US" altLang="zh-CN" sz="2400" b="1" dirty="0" err="1">
                <a:solidFill>
                  <a:srgbClr val="000000"/>
                </a:solidFill>
                <a:latin typeface="Times New Roman" panose="02020603050405020304" pitchFamily="18" charset="0"/>
                <a:ea typeface="Arial Unicode MS" pitchFamily="34" charset="-122"/>
                <a:cs typeface="Times New Roman" panose="02020603050405020304" pitchFamily="18" charset="0"/>
              </a:rPr>
              <a:t>Fock</a:t>
            </a:r>
            <a:r>
              <a:rPr lang="en-US" altLang="zh-CN" sz="2400" b="1" dirty="0">
                <a:solidFill>
                  <a:srgbClr val="000000"/>
                </a:solidFill>
                <a:latin typeface="Times New Roman" panose="02020603050405020304" pitchFamily="18" charset="0"/>
                <a:ea typeface="Arial Unicode MS" pitchFamily="34" charset="-122"/>
                <a:cs typeface="Times New Roman" panose="02020603050405020304" pitchFamily="18" charset="0"/>
              </a:rPr>
              <a:t> operator and the molecular spin orbital depend on the coordinates of one electron only.</a:t>
            </a:r>
            <a:endParaRPr lang="zh-CN" altLang="en-US" sz="2400" b="1"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75854539"/>
              </p:ext>
            </p:extLst>
          </p:nvPr>
        </p:nvGraphicFramePr>
        <p:xfrm>
          <a:off x="3631724" y="4177666"/>
          <a:ext cx="1346200" cy="506413"/>
        </p:xfrm>
        <a:graphic>
          <a:graphicData uri="http://schemas.openxmlformats.org/presentationml/2006/ole">
            <mc:AlternateContent xmlns:mc="http://schemas.openxmlformats.org/markup-compatibility/2006">
              <mc:Choice xmlns:v="urn:schemas-microsoft-com:vml" Requires="v">
                <p:oleObj name="Equation" r:id="rId5" imgW="672840" imgH="253800" progId="Equation.DSMT4">
                  <p:embed/>
                </p:oleObj>
              </mc:Choice>
              <mc:Fallback>
                <p:oleObj name="Equation" r:id="rId5" imgW="672840" imgH="253800" progId="Equation.DSMT4">
                  <p:embed/>
                  <p:pic>
                    <p:nvPicPr>
                      <p:cNvPr id="5" name="对象 4"/>
                      <p:cNvPicPr>
                        <a:picLocks noChangeAspect="1" noChangeArrowheads="1"/>
                      </p:cNvPicPr>
                      <p:nvPr/>
                    </p:nvPicPr>
                    <p:blipFill>
                      <a:blip r:embed="rId6"/>
                      <a:srcRect/>
                      <a:stretch>
                        <a:fillRect/>
                      </a:stretch>
                    </p:blipFill>
                    <p:spPr bwMode="auto">
                      <a:xfrm>
                        <a:off x="3631724" y="4177666"/>
                        <a:ext cx="13462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对象 2">
            <a:extLst>
              <a:ext uri="{FF2B5EF4-FFF2-40B4-BE49-F238E27FC236}">
                <a16:creationId xmlns:a16="http://schemas.microsoft.com/office/drawing/2014/main" id="{2617E0B4-351C-47E6-965B-180942E58955}"/>
              </a:ext>
            </a:extLst>
          </p:cNvPr>
          <p:cNvGraphicFramePr>
            <a:graphicFrameLocks noChangeAspect="1"/>
          </p:cNvGraphicFramePr>
          <p:nvPr>
            <p:extLst>
              <p:ext uri="{D42A27DB-BD31-4B8C-83A1-F6EECF244321}">
                <p14:modId xmlns:p14="http://schemas.microsoft.com/office/powerpoint/2010/main" val="1382817175"/>
              </p:ext>
            </p:extLst>
          </p:nvPr>
        </p:nvGraphicFramePr>
        <p:xfrm>
          <a:off x="3631724" y="4862384"/>
          <a:ext cx="1447800" cy="508000"/>
        </p:xfrm>
        <a:graphic>
          <a:graphicData uri="http://schemas.openxmlformats.org/presentationml/2006/ole">
            <mc:AlternateContent xmlns:mc="http://schemas.openxmlformats.org/markup-compatibility/2006">
              <mc:Choice xmlns:v="urn:schemas-microsoft-com:vml" Requires="v">
                <p:oleObj name="Equation" r:id="rId7" imgW="723600" imgH="253800" progId="Equation.DSMT4">
                  <p:embed/>
                </p:oleObj>
              </mc:Choice>
              <mc:Fallback>
                <p:oleObj name="Equation" r:id="rId7" imgW="723600" imgH="253800" progId="Equation.DSMT4">
                  <p:embed/>
                  <p:pic>
                    <p:nvPicPr>
                      <p:cNvPr id="3" name="对象 2">
                        <a:extLst>
                          <a:ext uri="{FF2B5EF4-FFF2-40B4-BE49-F238E27FC236}">
                            <a16:creationId xmlns:a16="http://schemas.microsoft.com/office/drawing/2014/main" id="{2617E0B4-351C-47E6-965B-180942E58955}"/>
                          </a:ext>
                        </a:extLst>
                      </p:cNvPr>
                      <p:cNvPicPr/>
                      <p:nvPr/>
                    </p:nvPicPr>
                    <p:blipFill>
                      <a:blip r:embed="rId8"/>
                      <a:stretch>
                        <a:fillRect/>
                      </a:stretch>
                    </p:blipFill>
                    <p:spPr>
                      <a:xfrm>
                        <a:off x="3631724" y="4862384"/>
                        <a:ext cx="1447800" cy="5080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DC83DF71-3FF1-469B-A9E7-76BC1E03B8C9}"/>
              </a:ext>
            </a:extLst>
          </p:cNvPr>
          <p:cNvGraphicFramePr>
            <a:graphicFrameLocks noChangeAspect="1"/>
          </p:cNvGraphicFramePr>
          <p:nvPr>
            <p:extLst>
              <p:ext uri="{D42A27DB-BD31-4B8C-83A1-F6EECF244321}">
                <p14:modId xmlns:p14="http://schemas.microsoft.com/office/powerpoint/2010/main" val="1677891159"/>
              </p:ext>
            </p:extLst>
          </p:nvPr>
        </p:nvGraphicFramePr>
        <p:xfrm>
          <a:off x="3631724" y="3235022"/>
          <a:ext cx="1346200" cy="863600"/>
        </p:xfrm>
        <a:graphic>
          <a:graphicData uri="http://schemas.openxmlformats.org/presentationml/2006/ole">
            <mc:AlternateContent xmlns:mc="http://schemas.openxmlformats.org/markup-compatibility/2006">
              <mc:Choice xmlns:v="urn:schemas-microsoft-com:vml" Requires="v">
                <p:oleObj name="Equation" r:id="rId9" imgW="672840" imgH="431640" progId="Equation.DSMT4">
                  <p:embed/>
                </p:oleObj>
              </mc:Choice>
              <mc:Fallback>
                <p:oleObj name="Equation" r:id="rId9" imgW="672840" imgH="431640" progId="Equation.DSMT4">
                  <p:embed/>
                  <p:pic>
                    <p:nvPicPr>
                      <p:cNvPr id="6" name="对象 5">
                        <a:extLst>
                          <a:ext uri="{FF2B5EF4-FFF2-40B4-BE49-F238E27FC236}">
                            <a16:creationId xmlns:a16="http://schemas.microsoft.com/office/drawing/2014/main" id="{DC83DF71-3FF1-469B-A9E7-76BC1E03B8C9}"/>
                          </a:ext>
                        </a:extLst>
                      </p:cNvPr>
                      <p:cNvPicPr/>
                      <p:nvPr/>
                    </p:nvPicPr>
                    <p:blipFill>
                      <a:blip r:embed="rId10"/>
                      <a:stretch>
                        <a:fillRect/>
                      </a:stretch>
                    </p:blipFill>
                    <p:spPr>
                      <a:xfrm>
                        <a:off x="3631724" y="3235022"/>
                        <a:ext cx="1346200" cy="8636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AC8669B-2A54-4B27-B464-BA625573AAA7}"/>
              </a:ext>
            </a:extLst>
          </p:cNvPr>
          <p:cNvGraphicFramePr>
            <a:graphicFrameLocks noChangeAspect="1"/>
          </p:cNvGraphicFramePr>
          <p:nvPr>
            <p:extLst>
              <p:ext uri="{D42A27DB-BD31-4B8C-83A1-F6EECF244321}">
                <p14:modId xmlns:p14="http://schemas.microsoft.com/office/powerpoint/2010/main" val="4175436101"/>
              </p:ext>
            </p:extLst>
          </p:nvPr>
        </p:nvGraphicFramePr>
        <p:xfrm>
          <a:off x="5434554" y="3947984"/>
          <a:ext cx="2741613" cy="914400"/>
        </p:xfrm>
        <a:graphic>
          <a:graphicData uri="http://schemas.openxmlformats.org/presentationml/2006/ole">
            <mc:AlternateContent xmlns:mc="http://schemas.openxmlformats.org/markup-compatibility/2006">
              <mc:Choice xmlns:v="urn:schemas-microsoft-com:vml" Requires="v">
                <p:oleObj name="Equation" r:id="rId11" imgW="1371600" imgH="457200" progId="Equation.DSMT4">
                  <p:embed/>
                </p:oleObj>
              </mc:Choice>
              <mc:Fallback>
                <p:oleObj name="Equation" r:id="rId11" imgW="1371600" imgH="457200" progId="Equation.DSMT4">
                  <p:embed/>
                  <p:pic>
                    <p:nvPicPr>
                      <p:cNvPr id="7" name="对象 6">
                        <a:extLst>
                          <a:ext uri="{FF2B5EF4-FFF2-40B4-BE49-F238E27FC236}">
                            <a16:creationId xmlns:a16="http://schemas.microsoft.com/office/drawing/2014/main" id="{6AC8669B-2A54-4B27-B464-BA625573AAA7}"/>
                          </a:ext>
                        </a:extLst>
                      </p:cNvPr>
                      <p:cNvPicPr/>
                      <p:nvPr/>
                    </p:nvPicPr>
                    <p:blipFill>
                      <a:blip r:embed="rId12"/>
                      <a:stretch>
                        <a:fillRect/>
                      </a:stretch>
                    </p:blipFill>
                    <p:spPr>
                      <a:xfrm>
                        <a:off x="5434554" y="3947984"/>
                        <a:ext cx="2741613" cy="914400"/>
                      </a:xfrm>
                      <a:prstGeom prst="rect">
                        <a:avLst/>
                      </a:prstGeom>
                    </p:spPr>
                  </p:pic>
                </p:oleObj>
              </mc:Fallback>
            </mc:AlternateContent>
          </a:graphicData>
        </a:graphic>
      </p:graphicFrame>
      <p:sp>
        <p:nvSpPr>
          <p:cNvPr id="18" name="Line 2">
            <a:extLst>
              <a:ext uri="{FF2B5EF4-FFF2-40B4-BE49-F238E27FC236}">
                <a16:creationId xmlns:a16="http://schemas.microsoft.com/office/drawing/2014/main" id="{CBD67924-5B62-4E7D-AB8A-E61F96646FDD}"/>
              </a:ext>
            </a:extLst>
          </p:cNvPr>
          <p:cNvSpPr>
            <a:spLocks noChangeShapeType="1"/>
          </p:cNvSpPr>
          <p:nvPr/>
        </p:nvSpPr>
        <p:spPr bwMode="auto">
          <a:xfrm flipV="1">
            <a:off x="47328"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9A06A412-CE48-4C67-B086-E6C1497ECD35}"/>
              </a:ext>
            </a:extLst>
          </p:cNvPr>
          <p:cNvSpPr/>
          <p:nvPr/>
        </p:nvSpPr>
        <p:spPr>
          <a:xfrm>
            <a:off x="4515464" y="220648"/>
            <a:ext cx="2547493" cy="523220"/>
          </a:xfrm>
          <a:prstGeom prst="rect">
            <a:avLst/>
          </a:prstGeom>
        </p:spPr>
        <p:txBody>
          <a:bodyPr wrap="none">
            <a:spAutoFit/>
          </a:bodyPr>
          <a:lstStyle/>
          <a:p>
            <a:pPr algn="ctr">
              <a:spcBef>
                <a:spcPct val="20000"/>
              </a:spcBef>
              <a:defRPr/>
            </a:pPr>
            <a:r>
              <a:rPr lang="en-US" altLang="zh-CN" sz="2800" b="1" dirty="0" err="1">
                <a:latin typeface="Times New Roman" panose="02020603050405020304" pitchFamily="18" charset="0"/>
                <a:ea typeface="Arial Unicode MS" pitchFamily="34" charset="-122"/>
                <a:cs typeface="Times New Roman" panose="02020603050405020304" pitchFamily="18" charset="0"/>
              </a:rPr>
              <a:t>Fock</a:t>
            </a:r>
            <a:r>
              <a:rPr lang="en-US" altLang="zh-CN" sz="2800" b="1" dirty="0">
                <a:latin typeface="Times New Roman" panose="02020603050405020304" pitchFamily="18" charset="0"/>
                <a:ea typeface="Arial Unicode MS" pitchFamily="34" charset="-122"/>
                <a:cs typeface="Times New Roman" panose="02020603050405020304" pitchFamily="18" charset="0"/>
              </a:rPr>
              <a:t> operator*</a:t>
            </a:r>
            <a:endParaRPr lang="zh-CN" altLang="en-US" sz="2800" dirty="0">
              <a:latin typeface="Times New Roman" panose="02020603050405020304" pitchFamily="18" charset="0"/>
              <a:ea typeface="Arial Unicode MS" pitchFamily="34" charset="-122"/>
              <a:cs typeface="Times New Roman" panose="02020603050405020304" pitchFamily="18" charset="0"/>
            </a:endParaRPr>
          </a:p>
        </p:txBody>
      </p:sp>
      <p:sp>
        <p:nvSpPr>
          <p:cNvPr id="4" name="Rectangle 5">
            <a:extLst>
              <a:ext uri="{FF2B5EF4-FFF2-40B4-BE49-F238E27FC236}">
                <a16:creationId xmlns:a16="http://schemas.microsoft.com/office/drawing/2014/main" id="{177A3636-EEDC-F781-8DF8-2968C443B9C2}"/>
              </a:ext>
            </a:extLst>
          </p:cNvPr>
          <p:cNvSpPr>
            <a:spLocks noChangeArrowheads="1"/>
          </p:cNvSpPr>
          <p:nvPr/>
        </p:nvSpPr>
        <p:spPr bwMode="auto">
          <a:xfrm>
            <a:off x="493337" y="5429864"/>
            <a:ext cx="109689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zh-CN" sz="2400" i="1" dirty="0">
                <a:solidFill>
                  <a:srgbClr val="000000"/>
                </a:solidFill>
                <a:latin typeface="Times New Roman" panose="02020603050405020304" pitchFamily="18" charset="0"/>
                <a:ea typeface="Arial Unicode MS" pitchFamily="34" charset="-122"/>
                <a:cs typeface="Times New Roman" panose="02020603050405020304" pitchFamily="18" charset="0"/>
              </a:rPr>
              <a:t>Ĵ </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and </a:t>
            </a:r>
            <a:r>
              <a:rPr lang="en-US" altLang="zh-CN" sz="2400" i="1" dirty="0">
                <a:solidFill>
                  <a:srgbClr val="000000"/>
                </a:solidFill>
                <a:latin typeface="Times New Roman" panose="02020603050405020304" pitchFamily="18" charset="0"/>
                <a:ea typeface="Arial Unicode MS" pitchFamily="34" charset="-122"/>
                <a:cs typeface="Times New Roman" panose="02020603050405020304" pitchFamily="18" charset="0"/>
              </a:rPr>
              <a:t>K </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operators are connected with the potential energy of the interaction of electron 1 with all electrons in the system. They are defined via the action on any function of the position of electron 1.</a:t>
            </a:r>
          </a:p>
        </p:txBody>
      </p:sp>
    </p:spTree>
    <p:extLst>
      <p:ext uri="{BB962C8B-B14F-4D97-AF65-F5344CB8AC3E}">
        <p14:creationId xmlns:p14="http://schemas.microsoft.com/office/powerpoint/2010/main" val="6271176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808783" y="3275319"/>
            <a:ext cx="1836264" cy="1346197"/>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3" name="Text Box 2"/>
          <p:cNvSpPr txBox="1">
            <a:spLocks noChangeArrowheads="1"/>
          </p:cNvSpPr>
          <p:nvPr/>
        </p:nvSpPr>
        <p:spPr bwMode="auto">
          <a:xfrm>
            <a:off x="553215" y="1490952"/>
            <a:ext cx="1108557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marL="0" indent="0" eaLnBrk="1" fontAlgn="base" hangingPunct="1">
              <a:spcAft>
                <a:spcPct val="0"/>
              </a:spcAft>
              <a:defRPr/>
            </a:pPr>
            <a:r>
              <a:rPr lang="en-US" altLang="zh-CN" b="0" kern="0" dirty="0">
                <a:solidFill>
                  <a:prstClr val="black"/>
                </a:solidFill>
                <a:cs typeface="Times New Roman" panose="02020603050405020304" pitchFamily="18" charset="0"/>
              </a:rPr>
              <a:t>Every electron in a molecule is in an average potential field of the nuclei and the other electrons. The state of electron </a:t>
            </a:r>
            <a:r>
              <a:rPr lang="en-US" altLang="zh-CN" b="0" kern="0" dirty="0" err="1">
                <a:solidFill>
                  <a:prstClr val="black"/>
                </a:solidFill>
                <a:cs typeface="Times New Roman" panose="02020603050405020304" pitchFamily="18" charset="0"/>
              </a:rPr>
              <a:t>i</a:t>
            </a:r>
            <a:r>
              <a:rPr lang="en-US" altLang="zh-CN" b="0" kern="0" dirty="0">
                <a:solidFill>
                  <a:prstClr val="black"/>
                </a:solidFill>
                <a:cs typeface="Times New Roman" panose="02020603050405020304" pitchFamily="18" charset="0"/>
              </a:rPr>
              <a:t> is described by the </a:t>
            </a:r>
            <a:r>
              <a:rPr lang="en-US" altLang="zh-CN" b="0" kern="0" dirty="0">
                <a:solidFill>
                  <a:prstClr val="black"/>
                </a:solidFill>
                <a:cs typeface="Times New Roman" panose="02020603050405020304" pitchFamily="18" charset="0"/>
                <a:sym typeface="Symbol" pitchFamily="18" charset="2"/>
              </a:rPr>
              <a:t></a:t>
            </a:r>
            <a:r>
              <a:rPr lang="en-US" altLang="zh-CN" b="0" kern="0" baseline="-25000" dirty="0" err="1">
                <a:solidFill>
                  <a:prstClr val="black"/>
                </a:solidFill>
                <a:cs typeface="Times New Roman" panose="02020603050405020304" pitchFamily="18" charset="0"/>
                <a:sym typeface="Symbol" pitchFamily="18" charset="2"/>
              </a:rPr>
              <a:t>i</a:t>
            </a:r>
            <a:r>
              <a:rPr lang="en-US" altLang="zh-CN" b="0" kern="0" dirty="0">
                <a:solidFill>
                  <a:prstClr val="black"/>
                </a:solidFill>
                <a:cs typeface="Times New Roman" panose="02020603050405020304" pitchFamily="18" charset="0"/>
                <a:sym typeface="Symbol" pitchFamily="18" charset="2"/>
              </a:rPr>
              <a:t> wavefunction, the one-electron wavefunction</a:t>
            </a:r>
            <a:endParaRPr lang="en-US" altLang="zh-CN" b="0" kern="0" dirty="0">
              <a:solidFill>
                <a:prstClr val="black"/>
              </a:solidFill>
              <a:cs typeface="Times New Roman" panose="02020603050405020304" pitchFamily="18" charset="0"/>
            </a:endParaRPr>
          </a:p>
        </p:txBody>
      </p:sp>
      <p:sp>
        <p:nvSpPr>
          <p:cNvPr id="14" name="TextBox 3"/>
          <p:cNvSpPr txBox="1">
            <a:spLocks noChangeArrowheads="1"/>
          </p:cNvSpPr>
          <p:nvPr/>
        </p:nvSpPr>
        <p:spPr bwMode="auto">
          <a:xfrm>
            <a:off x="8808783" y="3275319"/>
            <a:ext cx="2263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宋体" charset="-122"/>
              </a:defRPr>
            </a:lvl1pPr>
            <a:lvl2pPr marL="742950" indent="-285750" eaLnBrk="0" hangingPunct="0">
              <a:spcBef>
                <a:spcPct val="20000"/>
              </a:spcBef>
              <a:buChar char="–"/>
              <a:defRPr kumimoji="1" sz="2800">
                <a:solidFill>
                  <a:schemeClr val="tx1"/>
                </a:solidFill>
                <a:latin typeface="Times New Roman" pitchFamily="18" charset="0"/>
                <a:ea typeface="宋体" charset="-122"/>
              </a:defRPr>
            </a:lvl2pPr>
            <a:lvl3pPr marL="1143000" indent="-228600" eaLnBrk="0" hangingPunct="0">
              <a:spcBef>
                <a:spcPct val="20000"/>
              </a:spcBef>
              <a:buChar char="•"/>
              <a:defRPr kumimoji="1" sz="2400">
                <a:solidFill>
                  <a:schemeClr val="tx1"/>
                </a:solidFill>
                <a:latin typeface="Times New Roman" pitchFamily="18" charset="0"/>
                <a:ea typeface="宋体" charset="-122"/>
              </a:defRPr>
            </a:lvl3pPr>
            <a:lvl4pPr marL="1600200" indent="-228600" eaLnBrk="0" hangingPunct="0">
              <a:spcBef>
                <a:spcPct val="20000"/>
              </a:spcBef>
              <a:buChar char="–"/>
              <a:defRPr kumimoji="1" sz="2000">
                <a:solidFill>
                  <a:schemeClr val="tx1"/>
                </a:solidFill>
                <a:latin typeface="Times New Roman" pitchFamily="18" charset="0"/>
                <a:ea typeface="宋体" charset="-122"/>
              </a:defRPr>
            </a:lvl4pPr>
            <a:lvl5pPr marL="2057400" indent="-228600" eaLnBrk="0" hangingPunct="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prstClr val="black"/>
                </a:solidFill>
                <a:effectLst/>
                <a:uLnTx/>
                <a:uFillTx/>
                <a:latin typeface="Times New Roman" pitchFamily="18" charset="0"/>
                <a:ea typeface="宋体" charset="-122"/>
              </a:rPr>
              <a:t>LCAO-MO:      </a:t>
            </a:r>
            <a:endParaRPr kumimoji="1" lang="zh-CN" altLang="en-US" sz="2400" b="1" i="0" u="none" strike="noStrike" kern="0" cap="none" spc="0" normalizeH="0" baseline="0" noProof="0" dirty="0">
              <a:ln>
                <a:noFill/>
              </a:ln>
              <a:solidFill>
                <a:prstClr val="black"/>
              </a:solidFill>
              <a:effectLst/>
              <a:uLnTx/>
              <a:uFillTx/>
              <a:latin typeface="Times New Roman" pitchFamily="18" charset="0"/>
              <a:ea typeface="宋体" charset="-122"/>
            </a:endParaRPr>
          </a:p>
        </p:txBody>
      </p:sp>
      <p:pic>
        <p:nvPicPr>
          <p:cNvPr id="15" name="图片 14"/>
          <p:cNvPicPr>
            <a:picLocks noChangeAspect="1"/>
          </p:cNvPicPr>
          <p:nvPr/>
        </p:nvPicPr>
        <p:blipFill>
          <a:blip r:embed="rId2"/>
          <a:stretch>
            <a:fillRect/>
          </a:stretch>
        </p:blipFill>
        <p:spPr>
          <a:xfrm>
            <a:off x="9433504" y="3953306"/>
            <a:ext cx="914659" cy="655689"/>
          </a:xfrm>
          <a:prstGeom prst="rect">
            <a:avLst/>
          </a:prstGeom>
        </p:spPr>
      </p:pic>
      <p:sp>
        <p:nvSpPr>
          <p:cNvPr id="16" name="文本框 15"/>
          <p:cNvSpPr txBox="1"/>
          <p:nvPr/>
        </p:nvSpPr>
        <p:spPr>
          <a:xfrm>
            <a:off x="9037242" y="3954114"/>
            <a:ext cx="396262" cy="650223"/>
          </a:xfrm>
          <a:prstGeom prst="rect">
            <a:avLst/>
          </a:prstGeom>
          <a:solidFill>
            <a:sysClr val="window" lastClr="FFFFFF"/>
          </a:solidFill>
        </p:spPr>
        <p:txBody>
          <a:bodyPr wrap="none"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sym typeface="Symbol" panose="05050102010706020507" pitchFamily="18" charset="2"/>
              </a:rPr>
              <a:t></a:t>
            </a:r>
            <a:endParaRPr kumimoji="0" lang="zh-CN" altLang="en-US" sz="2400" b="0" i="0" u="none" strike="noStrike" kern="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graphicFrame>
        <p:nvGraphicFramePr>
          <p:cNvPr id="17" name="Object 3"/>
          <p:cNvGraphicFramePr>
            <a:graphicFrameLocks noChangeAspect="1"/>
          </p:cNvGraphicFramePr>
          <p:nvPr>
            <p:extLst>
              <p:ext uri="{D42A27DB-BD31-4B8C-83A1-F6EECF244321}">
                <p14:modId xmlns:p14="http://schemas.microsoft.com/office/powerpoint/2010/main" val="1462534922"/>
              </p:ext>
            </p:extLst>
          </p:nvPr>
        </p:nvGraphicFramePr>
        <p:xfrm>
          <a:off x="1975124" y="3275319"/>
          <a:ext cx="5816600" cy="2336800"/>
        </p:xfrm>
        <a:graphic>
          <a:graphicData uri="http://schemas.openxmlformats.org/presentationml/2006/ole">
            <mc:AlternateContent xmlns:mc="http://schemas.openxmlformats.org/markup-compatibility/2006">
              <mc:Choice xmlns:v="urn:schemas-microsoft-com:vml" Requires="v">
                <p:oleObj name="Equation" r:id="rId3" imgW="2908080" imgH="1168200" progId="Equation.DSMT4">
                  <p:embed/>
                </p:oleObj>
              </mc:Choice>
              <mc:Fallback>
                <p:oleObj name="Equation" r:id="rId3" imgW="2908080" imgH="1168200" progId="Equation.DSMT4">
                  <p:embed/>
                  <p:pic>
                    <p:nvPicPr>
                      <p:cNvPr id="17" name="Object 3"/>
                      <p:cNvPicPr>
                        <a:picLocks noChangeAspect="1" noChangeArrowheads="1"/>
                      </p:cNvPicPr>
                      <p:nvPr/>
                    </p:nvPicPr>
                    <p:blipFill>
                      <a:blip r:embed="rId4"/>
                      <a:srcRect/>
                      <a:stretch>
                        <a:fillRect/>
                      </a:stretch>
                    </p:blipFill>
                    <p:spPr bwMode="auto">
                      <a:xfrm>
                        <a:off x="1975124" y="3275319"/>
                        <a:ext cx="5816600" cy="2336800"/>
                      </a:xfrm>
                      <a:prstGeom prst="rect">
                        <a:avLst/>
                      </a:prstGeom>
                      <a:noFill/>
                      <a:ln>
                        <a:noFill/>
                      </a:ln>
                      <a:effectLst/>
                    </p:spPr>
                  </p:pic>
                </p:oleObj>
              </mc:Fallback>
            </mc:AlternateContent>
          </a:graphicData>
        </a:graphic>
      </p:graphicFrame>
      <p:sp>
        <p:nvSpPr>
          <p:cNvPr id="20" name="Line 2"/>
          <p:cNvSpPr>
            <a:spLocks noChangeShapeType="1"/>
          </p:cNvSpPr>
          <p:nvPr/>
        </p:nvSpPr>
        <p:spPr bwMode="auto">
          <a:xfrm flipV="1">
            <a:off x="74427" y="853754"/>
            <a:ext cx="12117573" cy="53161"/>
          </a:xfrm>
          <a:prstGeom prst="line">
            <a:avLst/>
          </a:prstGeom>
          <a:noFill/>
          <a:ln w="19050">
            <a:solidFill>
              <a:srgbClr val="3333FF"/>
            </a:solidFill>
            <a:round/>
            <a:headEnd/>
            <a:tailE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2" name="矩形 1"/>
          <p:cNvSpPr/>
          <p:nvPr/>
        </p:nvSpPr>
        <p:spPr>
          <a:xfrm>
            <a:off x="3900900" y="254105"/>
            <a:ext cx="5136342" cy="480131"/>
          </a:xfrm>
          <a:prstGeom prst="rect">
            <a:avLst/>
          </a:prstGeom>
        </p:spPr>
        <p:txBody>
          <a:bodyPr wrap="none">
            <a:spAutoFit/>
          </a:bodyPr>
          <a:lstStyle/>
          <a:p>
            <a:pPr>
              <a:lnSpc>
                <a:spcPct val="90000"/>
              </a:lnSpc>
              <a:spcBef>
                <a:spcPct val="40000"/>
              </a:spcBef>
              <a:defRPr/>
            </a:pPr>
            <a:r>
              <a:rPr lang="en-US" altLang="zh-CN" sz="2800" b="1" kern="0" dirty="0">
                <a:solidFill>
                  <a:prstClr val="black"/>
                </a:solidFill>
                <a:latin typeface="Times New Roman"/>
                <a:ea typeface="宋体"/>
              </a:rPr>
              <a:t>Molecular Orbital (MO) Theory</a:t>
            </a:r>
          </a:p>
        </p:txBody>
      </p:sp>
    </p:spTree>
    <p:extLst>
      <p:ext uri="{BB962C8B-B14F-4D97-AF65-F5344CB8AC3E}">
        <p14:creationId xmlns:p14="http://schemas.microsoft.com/office/powerpoint/2010/main" val="19581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529620" y="731177"/>
            <a:ext cx="109041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In mean field methods, </a:t>
            </a:r>
            <a:r>
              <a:rPr lang="en-US" altLang="zh-CN" sz="2400" i="1" dirty="0">
                <a:solidFill>
                  <a:srgbClr val="000000"/>
                </a:solidFill>
                <a:latin typeface="Times New Roman" panose="02020603050405020304" pitchFamily="18" charset="0"/>
                <a:ea typeface="Arial Unicode MS" pitchFamily="34" charset="-122"/>
                <a:cs typeface="Times New Roman" panose="02020603050405020304" pitchFamily="18" charset="0"/>
              </a:rPr>
              <a:t>instead of watching the motion of other objects in details</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a:t>
            </a:r>
            <a:r>
              <a:rPr lang="en-US" altLang="zh-CN" sz="2400" i="1" dirty="0">
                <a:solidFill>
                  <a:srgbClr val="000000"/>
                </a:solidFill>
                <a:latin typeface="Times New Roman" panose="02020603050405020304" pitchFamily="18" charset="0"/>
                <a:ea typeface="Arial Unicode MS" pitchFamily="34" charset="-122"/>
                <a:cs typeface="Times New Roman" panose="02020603050405020304" pitchFamily="18" charset="0"/>
              </a:rPr>
              <a:t>we average </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these motions, and the problem simplifies.</a:t>
            </a:r>
          </a:p>
        </p:txBody>
      </p:sp>
      <p:sp>
        <p:nvSpPr>
          <p:cNvPr id="5" name="矩形 4"/>
          <p:cNvSpPr/>
          <p:nvPr/>
        </p:nvSpPr>
        <p:spPr>
          <a:xfrm>
            <a:off x="773460" y="2138173"/>
            <a:ext cx="8746460" cy="3564053"/>
          </a:xfrm>
          <a:prstGeom prst="rect">
            <a:avLst/>
          </a:prstGeom>
        </p:spPr>
        <p:txBody>
          <a:bodyPr wrap="square">
            <a:spAutoFit/>
          </a:bodyPr>
          <a:lstStyle/>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one-determinant approximation,</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one-electron approximation,</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one-particle approximation,</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molecular orbital method,</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independent-particle approximation,</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mean field approximation,</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a:t>
            </a:r>
            <a:r>
              <a:rPr lang="en-US" altLang="zh-CN" sz="2400" dirty="0" err="1">
                <a:solidFill>
                  <a:srgbClr val="000000"/>
                </a:solidFill>
                <a:latin typeface="Times New Roman" panose="02020603050405020304" pitchFamily="18" charset="0"/>
                <a:ea typeface="Arial Unicode MS" pitchFamily="34" charset="-122"/>
                <a:cs typeface="Times New Roman" panose="02020603050405020304" pitchFamily="18" charset="0"/>
              </a:rPr>
              <a:t>Hartree</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a:t>
            </a:r>
            <a:r>
              <a:rPr lang="en-US" altLang="zh-CN" sz="2400" dirty="0" err="1">
                <a:solidFill>
                  <a:srgbClr val="000000"/>
                </a:solidFill>
                <a:latin typeface="Times New Roman" panose="02020603050405020304" pitchFamily="18" charset="0"/>
                <a:ea typeface="Arial Unicode MS" pitchFamily="34" charset="-122"/>
                <a:cs typeface="Times New Roman" panose="02020603050405020304" pitchFamily="18" charset="0"/>
              </a:rPr>
              <a:t>Fock</a:t>
            </a: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method,</a:t>
            </a:r>
          </a:p>
          <a:p>
            <a:pPr fontAlgn="base">
              <a:spcBef>
                <a:spcPct val="20000"/>
              </a:spcBef>
              <a:spcAft>
                <a:spcPct val="0"/>
              </a:spcAft>
              <a:defRPr/>
            </a:pPr>
            <a:r>
              <a:rPr lang="en-US" altLang="zh-CN" sz="2400" dirty="0">
                <a:solidFill>
                  <a:srgbClr val="000000"/>
                </a:solidFill>
                <a:latin typeface="Times New Roman" panose="02020603050405020304" pitchFamily="18" charset="0"/>
                <a:ea typeface="Arial Unicode MS" pitchFamily="34" charset="-122"/>
                <a:cs typeface="Times New Roman" panose="02020603050405020304" pitchFamily="18" charset="0"/>
              </a:rPr>
              <a:t>• self-consistent field method (as regards practical solutions).</a:t>
            </a:r>
            <a:endParaRPr lang="zh-CN" altLang="en-US" sz="2400" dirty="0">
              <a:solidFill>
                <a:srgbClr val="000000"/>
              </a:solidFill>
              <a:latin typeface="Times New Roman" panose="02020603050405020304" pitchFamily="18" charset="0"/>
              <a:ea typeface="Arial Unicode MS" pitchFamily="34" charset="-122"/>
              <a:cs typeface="Times New Roman" panose="02020603050405020304" pitchFamily="18" charset="0"/>
            </a:endParaRPr>
          </a:p>
        </p:txBody>
      </p:sp>
    </p:spTree>
    <p:extLst>
      <p:ext uri="{BB962C8B-B14F-4D97-AF65-F5344CB8AC3E}">
        <p14:creationId xmlns:p14="http://schemas.microsoft.com/office/powerpoint/2010/main" val="315803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EFF2E07-A166-6351-A2E5-F632E62BA556}"/>
              </a:ext>
            </a:extLst>
          </p:cNvPr>
          <p:cNvSpPr txBox="1"/>
          <p:nvPr/>
        </p:nvSpPr>
        <p:spPr>
          <a:xfrm>
            <a:off x="2794706" y="569509"/>
            <a:ext cx="5884944" cy="1440010"/>
          </a:xfrm>
          <a:prstGeom prst="rect">
            <a:avLst/>
          </a:prstGeom>
          <a:noFill/>
          <a:ln>
            <a:solidFill>
              <a:schemeClr val="accent1"/>
            </a:solidFill>
          </a:ln>
        </p:spPr>
        <p:txBody>
          <a:bodyPr wrap="none" rtlCol="0">
            <a:spAutoFit/>
          </a:bodyPr>
          <a:lstStyle/>
          <a:p>
            <a:pPr marL="342900" indent="-342900">
              <a:lnSpc>
                <a:spcPct val="125000"/>
              </a:lnSpc>
              <a:buAutoNum type="arabicPeriod"/>
            </a:pPr>
            <a:r>
              <a:rPr lang="zh-CN" altLang="en-US" sz="2400" dirty="0"/>
              <a:t>找一个尝试波函数</a:t>
            </a:r>
            <a:r>
              <a:rPr lang="zh-CN" altLang="en-US" sz="2400" dirty="0">
                <a:sym typeface="Symbol" panose="05050102010706020507" pitchFamily="18" charset="2"/>
              </a:rPr>
              <a:t></a:t>
            </a:r>
            <a:r>
              <a:rPr lang="en-US" altLang="zh-CN" sz="2400" dirty="0">
                <a:sym typeface="Symbol" panose="05050102010706020507" pitchFamily="18" charset="2"/>
              </a:rPr>
              <a:t>(</a:t>
            </a:r>
            <a:r>
              <a:rPr lang="en-US" altLang="zh-CN" sz="2400" baseline="-25000" dirty="0">
                <a:sym typeface="Symbol" panose="05050102010706020507" pitchFamily="18" charset="2"/>
              </a:rPr>
              <a:t>1</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n</a:t>
            </a:r>
            <a:r>
              <a:rPr lang="en-US" altLang="zh-CN" sz="2400" dirty="0">
                <a:sym typeface="Symbol" panose="05050102010706020507" pitchFamily="18" charset="2"/>
              </a:rPr>
              <a:t>)</a:t>
            </a:r>
          </a:p>
          <a:p>
            <a:pPr marL="342900" indent="-342900">
              <a:lnSpc>
                <a:spcPct val="125000"/>
              </a:lnSpc>
              <a:buFontTx/>
              <a:buAutoNum type="arabicPeriod"/>
            </a:pPr>
            <a:r>
              <a:rPr lang="en-US" altLang="zh-CN" sz="2400" dirty="0">
                <a:sym typeface="Symbol" panose="05050102010706020507" pitchFamily="18" charset="2"/>
              </a:rPr>
              <a:t>E = &lt;</a:t>
            </a:r>
            <a:r>
              <a:rPr lang="zh-CN" altLang="en-US" sz="2400" dirty="0">
                <a:sym typeface="Symbol" panose="05050102010706020507" pitchFamily="18" charset="2"/>
              </a:rPr>
              <a:t></a:t>
            </a:r>
            <a:r>
              <a:rPr lang="en-US" altLang="zh-CN" sz="2400" dirty="0">
                <a:sym typeface="Symbol" panose="05050102010706020507" pitchFamily="18" charset="2"/>
              </a:rPr>
              <a:t>(</a:t>
            </a:r>
            <a:r>
              <a:rPr lang="en-US" altLang="zh-CN" sz="2400" baseline="-25000" dirty="0">
                <a:sym typeface="Symbol" panose="05050102010706020507" pitchFamily="18" charset="2"/>
              </a:rPr>
              <a:t>1</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n</a:t>
            </a:r>
            <a:r>
              <a:rPr lang="en-US" altLang="zh-CN" sz="2400" dirty="0">
                <a:sym typeface="Symbol" panose="05050102010706020507" pitchFamily="18" charset="2"/>
              </a:rPr>
              <a:t>)|H|</a:t>
            </a:r>
            <a:r>
              <a:rPr lang="zh-CN" altLang="en-US" sz="2400" dirty="0">
                <a:sym typeface="Symbol" panose="05050102010706020507" pitchFamily="18" charset="2"/>
              </a:rPr>
              <a:t></a:t>
            </a:r>
            <a:r>
              <a:rPr lang="en-US" altLang="zh-CN" sz="2400" dirty="0">
                <a:sym typeface="Symbol" panose="05050102010706020507" pitchFamily="18" charset="2"/>
              </a:rPr>
              <a:t>(</a:t>
            </a:r>
            <a:r>
              <a:rPr lang="en-US" altLang="zh-CN" sz="2400" baseline="-25000" dirty="0">
                <a:sym typeface="Symbol" panose="05050102010706020507" pitchFamily="18" charset="2"/>
              </a:rPr>
              <a:t>1</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n</a:t>
            </a:r>
            <a:r>
              <a:rPr lang="en-US" altLang="zh-CN" sz="2400" dirty="0">
                <a:sym typeface="Symbol" panose="05050102010706020507" pitchFamily="18" charset="2"/>
              </a:rPr>
              <a:t>)&gt;</a:t>
            </a:r>
          </a:p>
          <a:p>
            <a:pPr marL="342900" indent="-342900">
              <a:lnSpc>
                <a:spcPct val="125000"/>
              </a:lnSpc>
              <a:buFontTx/>
              <a:buAutoNum type="arabicPeriod"/>
            </a:pPr>
            <a:r>
              <a:rPr lang="en-US" altLang="zh-CN" sz="2400" dirty="0">
                <a:sym typeface="Symbol" panose="05050102010706020507" pitchFamily="18" charset="2"/>
              </a:rPr>
              <a:t>E/</a:t>
            </a:r>
            <a:r>
              <a:rPr lang="en-US" altLang="zh-CN" sz="2400" baseline="-25000" dirty="0">
                <a:sym typeface="Symbol" panose="05050102010706020507" pitchFamily="18" charset="2"/>
              </a:rPr>
              <a:t>n</a:t>
            </a:r>
            <a:endParaRPr lang="en-US" altLang="zh-CN" sz="2400" dirty="0">
              <a:sym typeface="Symbol" panose="05050102010706020507" pitchFamily="18" charset="2"/>
            </a:endParaRPr>
          </a:p>
        </p:txBody>
      </p:sp>
      <p:sp>
        <p:nvSpPr>
          <p:cNvPr id="7" name="文本框 6">
            <a:extLst>
              <a:ext uri="{FF2B5EF4-FFF2-40B4-BE49-F238E27FC236}">
                <a16:creationId xmlns:a16="http://schemas.microsoft.com/office/drawing/2014/main" id="{3946EAD2-0D43-4274-A8C2-12128E3B16BF}"/>
              </a:ext>
            </a:extLst>
          </p:cNvPr>
          <p:cNvSpPr txBox="1"/>
          <p:nvPr/>
        </p:nvSpPr>
        <p:spPr>
          <a:xfrm>
            <a:off x="1629922" y="2883911"/>
            <a:ext cx="8682377" cy="982257"/>
          </a:xfrm>
          <a:prstGeom prst="rect">
            <a:avLst/>
          </a:prstGeom>
          <a:noFill/>
        </p:spPr>
        <p:txBody>
          <a:bodyPr wrap="square" rtlCol="0">
            <a:spAutoFit/>
          </a:bodyPr>
          <a:lstStyle/>
          <a:p>
            <a:pPr marL="342900" indent="-342900">
              <a:lnSpc>
                <a:spcPct val="125000"/>
              </a:lnSpc>
              <a:buAutoNum type="arabicPeriod"/>
            </a:pPr>
            <a:r>
              <a:rPr lang="zh-CN" altLang="en-US" sz="2400" dirty="0"/>
              <a:t>多电子波函数</a:t>
            </a:r>
            <a:r>
              <a:rPr lang="zh-CN" altLang="en-US" sz="2400" dirty="0">
                <a:sym typeface="Symbol" panose="05050102010706020507" pitchFamily="18" charset="2"/>
              </a:rPr>
              <a:t></a:t>
            </a:r>
            <a:r>
              <a:rPr lang="en-US" altLang="zh-CN" sz="2400" dirty="0">
                <a:sym typeface="Symbol" panose="05050102010706020507" pitchFamily="18" charset="2"/>
              </a:rPr>
              <a:t>(</a:t>
            </a:r>
            <a:r>
              <a:rPr lang="en-US" altLang="zh-CN" sz="2400" baseline="-25000" dirty="0">
                <a:sym typeface="Symbol" panose="05050102010706020507" pitchFamily="18" charset="2"/>
              </a:rPr>
              <a:t>1</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2</a:t>
            </a:r>
            <a:r>
              <a:rPr lang="en-US" altLang="zh-CN" sz="2400" dirty="0">
                <a:sym typeface="Symbol" panose="05050102010706020507" pitchFamily="18" charset="2"/>
              </a:rPr>
              <a:t>… </a:t>
            </a:r>
            <a:r>
              <a:rPr lang="en-US" altLang="zh-CN" sz="2400" baseline="-25000" dirty="0">
                <a:sym typeface="Symbol" panose="05050102010706020507" pitchFamily="18" charset="2"/>
              </a:rPr>
              <a:t>n</a:t>
            </a:r>
            <a:r>
              <a:rPr lang="en-US" altLang="zh-CN" sz="2400" dirty="0">
                <a:sym typeface="Symbol" panose="05050102010706020507" pitchFamily="18" charset="2"/>
              </a:rPr>
              <a:t>)</a:t>
            </a:r>
            <a:r>
              <a:rPr lang="zh-CN" altLang="en-US" sz="2400" dirty="0">
                <a:sym typeface="Symbol" panose="05050102010706020507" pitchFamily="18" charset="2"/>
              </a:rPr>
              <a:t>要满足反对称化 </a:t>
            </a:r>
            <a:r>
              <a:rPr lang="en-US" altLang="zh-CN" sz="2400" dirty="0">
                <a:sym typeface="Symbol" panose="05050102010706020507" pitchFamily="18" charset="2"/>
              </a:rPr>
              <a:t>=&gt; Slater</a:t>
            </a:r>
            <a:r>
              <a:rPr lang="zh-CN" altLang="en-US" sz="2400" dirty="0">
                <a:sym typeface="Symbol" panose="05050102010706020507" pitchFamily="18" charset="2"/>
              </a:rPr>
              <a:t>行列式</a:t>
            </a:r>
            <a:endParaRPr lang="en-US" altLang="zh-CN" sz="2400" dirty="0">
              <a:sym typeface="Symbol" panose="05050102010706020507" pitchFamily="18" charset="2"/>
            </a:endParaRPr>
          </a:p>
          <a:p>
            <a:pPr marL="342900" indent="-342900">
              <a:lnSpc>
                <a:spcPct val="125000"/>
              </a:lnSpc>
              <a:buFontTx/>
              <a:buAutoNum type="arabicPeriod"/>
            </a:pPr>
            <a:r>
              <a:rPr lang="zh-CN" altLang="en-US" sz="2400" dirty="0">
                <a:sym typeface="Symbol" panose="05050102010706020507" pitchFamily="18" charset="2"/>
              </a:rPr>
              <a:t>单粒子轨道正交归一 </a:t>
            </a:r>
            <a:r>
              <a:rPr lang="en-US" altLang="zh-CN" sz="2400" dirty="0">
                <a:sym typeface="Symbol" panose="05050102010706020507" pitchFamily="18" charset="2"/>
              </a:rPr>
              <a:t>=&gt; </a:t>
            </a:r>
            <a:r>
              <a:rPr lang="zh-CN" altLang="en-US" sz="2400" dirty="0">
                <a:sym typeface="Symbol" panose="05050102010706020507" pitchFamily="18" charset="2"/>
              </a:rPr>
              <a:t>拉格朗日乘子法（条件求极值）</a:t>
            </a:r>
            <a:endParaRPr lang="en-US" altLang="zh-CN" sz="2400" dirty="0">
              <a:sym typeface="Symbol" panose="05050102010706020507" pitchFamily="18" charset="2"/>
            </a:endParaRPr>
          </a:p>
        </p:txBody>
      </p:sp>
      <p:sp>
        <p:nvSpPr>
          <p:cNvPr id="8" name="箭头: 下 7">
            <a:extLst>
              <a:ext uri="{FF2B5EF4-FFF2-40B4-BE49-F238E27FC236}">
                <a16:creationId xmlns:a16="http://schemas.microsoft.com/office/drawing/2014/main" id="{41640ACF-E65C-3CFC-1E49-351DC8FAE63F}"/>
              </a:ext>
            </a:extLst>
          </p:cNvPr>
          <p:cNvSpPr/>
          <p:nvPr/>
        </p:nvSpPr>
        <p:spPr>
          <a:xfrm>
            <a:off x="5236825" y="2197586"/>
            <a:ext cx="245326" cy="538975"/>
          </a:xfrm>
          <a:prstGeom prst="downArrow">
            <a:avLst/>
          </a:prstGeom>
          <a:solidFill>
            <a:srgbClr val="006666"/>
          </a:solidFill>
          <a:ln>
            <a:solidFill>
              <a:srgbClr val="00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5028E4A-DA55-E70B-38A7-C30D3D590A6C}"/>
              </a:ext>
            </a:extLst>
          </p:cNvPr>
          <p:cNvSpPr txBox="1"/>
          <p:nvPr/>
        </p:nvSpPr>
        <p:spPr>
          <a:xfrm>
            <a:off x="5846425" y="2282407"/>
            <a:ext cx="1723549" cy="400110"/>
          </a:xfrm>
          <a:prstGeom prst="rect">
            <a:avLst/>
          </a:prstGeom>
          <a:noFill/>
        </p:spPr>
        <p:txBody>
          <a:bodyPr wrap="none" rtlCol="0">
            <a:spAutoFit/>
          </a:bodyPr>
          <a:lstStyle/>
          <a:p>
            <a:r>
              <a:rPr lang="zh-CN" altLang="en-US" sz="2000" b="1" dirty="0">
                <a:solidFill>
                  <a:srgbClr val="006666"/>
                </a:solidFill>
                <a:latin typeface="黑体" panose="02010609060101010101" pitchFamily="49" charset="-122"/>
                <a:ea typeface="黑体" panose="02010609060101010101" pitchFamily="49" charset="-122"/>
              </a:rPr>
              <a:t>独立粒子近似</a:t>
            </a:r>
          </a:p>
        </p:txBody>
      </p:sp>
      <p:sp>
        <p:nvSpPr>
          <p:cNvPr id="10" name="箭头: 下 9">
            <a:extLst>
              <a:ext uri="{FF2B5EF4-FFF2-40B4-BE49-F238E27FC236}">
                <a16:creationId xmlns:a16="http://schemas.microsoft.com/office/drawing/2014/main" id="{F2D48216-BC51-F89B-8AB3-E74B0DD4167C}"/>
              </a:ext>
            </a:extLst>
          </p:cNvPr>
          <p:cNvSpPr/>
          <p:nvPr/>
        </p:nvSpPr>
        <p:spPr>
          <a:xfrm>
            <a:off x="5270278" y="4630001"/>
            <a:ext cx="245326" cy="538975"/>
          </a:xfrm>
          <a:prstGeom prst="downArrow">
            <a:avLst/>
          </a:prstGeom>
          <a:solidFill>
            <a:srgbClr val="006666"/>
          </a:solidFill>
          <a:ln>
            <a:solidFill>
              <a:srgbClr val="0066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64B9241-A0BE-9178-C226-DF56BA75C689}"/>
              </a:ext>
            </a:extLst>
          </p:cNvPr>
          <p:cNvSpPr txBox="1"/>
          <p:nvPr/>
        </p:nvSpPr>
        <p:spPr>
          <a:xfrm>
            <a:off x="6800215" y="4540505"/>
            <a:ext cx="2236510" cy="400110"/>
          </a:xfrm>
          <a:prstGeom prst="rect">
            <a:avLst/>
          </a:prstGeom>
          <a:noFill/>
        </p:spPr>
        <p:txBody>
          <a:bodyPr wrap="none" rtlCol="0">
            <a:spAutoFit/>
          </a:bodyPr>
          <a:lstStyle/>
          <a:p>
            <a:r>
              <a:rPr lang="en-US" altLang="zh-CN" sz="2000" b="1" dirty="0">
                <a:solidFill>
                  <a:srgbClr val="006666"/>
                </a:solidFill>
                <a:latin typeface="Arial" panose="020B0604020202020204" pitchFamily="34" charset="0"/>
                <a:ea typeface="黑体" panose="02010609060101010101" pitchFamily="49" charset="-122"/>
                <a:cs typeface="Arial" panose="020B0604020202020204" pitchFamily="34" charset="0"/>
              </a:rPr>
              <a:t>HK</a:t>
            </a:r>
            <a:r>
              <a:rPr lang="zh-CN" altLang="en-US" sz="2000" b="1" dirty="0">
                <a:solidFill>
                  <a:srgbClr val="006666"/>
                </a:solidFill>
                <a:latin typeface="Arial" panose="020B0604020202020204" pitchFamily="34" charset="0"/>
                <a:ea typeface="黑体" panose="02010609060101010101" pitchFamily="49" charset="-122"/>
                <a:cs typeface="Arial" panose="020B0604020202020204" pitchFamily="34" charset="0"/>
              </a:rPr>
              <a:t>定理 </a:t>
            </a:r>
            <a:r>
              <a:rPr lang="en-US" altLang="zh-CN" sz="2000" b="1" dirty="0">
                <a:solidFill>
                  <a:srgbClr val="006666"/>
                </a:solidFill>
                <a:latin typeface="Arial" panose="020B0604020202020204" pitchFamily="34" charset="0"/>
                <a:ea typeface="黑体" panose="02010609060101010101" pitchFamily="49" charset="-122"/>
                <a:cs typeface="Arial" panose="020B0604020202020204" pitchFamily="34" charset="0"/>
              </a:rPr>
              <a:t>+ KS</a:t>
            </a:r>
            <a:r>
              <a:rPr lang="zh-CN" altLang="en-US" sz="2000" b="1" dirty="0">
                <a:solidFill>
                  <a:srgbClr val="006666"/>
                </a:solidFill>
                <a:latin typeface="Arial" panose="020B0604020202020204" pitchFamily="34" charset="0"/>
                <a:ea typeface="黑体" panose="02010609060101010101" pitchFamily="49" charset="-122"/>
                <a:cs typeface="Arial" panose="020B0604020202020204" pitchFamily="34" charset="0"/>
              </a:rPr>
              <a:t>近似</a:t>
            </a:r>
          </a:p>
        </p:txBody>
      </p:sp>
      <p:sp>
        <p:nvSpPr>
          <p:cNvPr id="12" name="文本框 11">
            <a:extLst>
              <a:ext uri="{FF2B5EF4-FFF2-40B4-BE49-F238E27FC236}">
                <a16:creationId xmlns:a16="http://schemas.microsoft.com/office/drawing/2014/main" id="{BA3D45BF-7B86-921B-C7A8-61098C35BF49}"/>
              </a:ext>
            </a:extLst>
          </p:cNvPr>
          <p:cNvSpPr txBox="1"/>
          <p:nvPr/>
        </p:nvSpPr>
        <p:spPr>
          <a:xfrm>
            <a:off x="4825561" y="5404827"/>
            <a:ext cx="1313180" cy="461665"/>
          </a:xfrm>
          <a:prstGeom prst="rect">
            <a:avLst/>
          </a:prstGeom>
          <a:noFill/>
        </p:spPr>
        <p:txBody>
          <a:bodyPr wrap="none" rtlCol="0">
            <a:spAutoFit/>
          </a:bodyPr>
          <a:lstStyle/>
          <a:p>
            <a:r>
              <a:rPr lang="en-US" altLang="zh-CN" sz="2400" b="1" dirty="0">
                <a:solidFill>
                  <a:srgbClr val="006666"/>
                </a:solidFill>
                <a:latin typeface="Times New Roman" panose="02020603050405020304" pitchFamily="18" charset="0"/>
                <a:cs typeface="Times New Roman" panose="02020603050405020304" pitchFamily="18" charset="0"/>
              </a:rPr>
              <a:t>KS-DFT</a:t>
            </a:r>
            <a:endParaRPr lang="zh-CN" altLang="en-US" sz="2400" b="1" dirty="0">
              <a:solidFill>
                <a:srgbClr val="006666"/>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DFE017A9-1430-A120-3CD4-F620469218BB}"/>
              </a:ext>
            </a:extLst>
          </p:cNvPr>
          <p:cNvSpPr txBox="1"/>
          <p:nvPr/>
        </p:nvSpPr>
        <p:spPr>
          <a:xfrm>
            <a:off x="4529982" y="3972527"/>
            <a:ext cx="1971245" cy="461665"/>
          </a:xfrm>
          <a:prstGeom prst="rect">
            <a:avLst/>
          </a:prstGeom>
          <a:noFill/>
        </p:spPr>
        <p:txBody>
          <a:bodyPr wrap="none" rtlCol="0">
            <a:spAutoFit/>
          </a:bodyPr>
          <a:lstStyle/>
          <a:p>
            <a:r>
              <a:rPr lang="en-US" altLang="zh-CN" sz="2400" b="1" dirty="0">
                <a:solidFill>
                  <a:srgbClr val="006666"/>
                </a:solidFill>
                <a:latin typeface="Times New Roman" panose="02020603050405020304" pitchFamily="18" charset="0"/>
                <a:cs typeface="Times New Roman" panose="02020603050405020304" pitchFamily="18" charset="0"/>
              </a:rPr>
              <a:t>Hartree-</a:t>
            </a:r>
            <a:r>
              <a:rPr lang="en-US" altLang="zh-CN" sz="2400" b="1" dirty="0" err="1">
                <a:solidFill>
                  <a:srgbClr val="006666"/>
                </a:solidFill>
                <a:latin typeface="Times New Roman" panose="02020603050405020304" pitchFamily="18" charset="0"/>
                <a:cs typeface="Times New Roman" panose="02020603050405020304" pitchFamily="18" charset="0"/>
              </a:rPr>
              <a:t>Fock</a:t>
            </a:r>
            <a:endParaRPr lang="zh-CN" altLang="en-US" sz="2400" b="1" dirty="0">
              <a:solidFill>
                <a:srgbClr val="006666"/>
              </a:solidFill>
              <a:latin typeface="Times New Roman" panose="02020603050405020304" pitchFamily="18" charset="0"/>
              <a:cs typeface="Times New Roman" panose="02020603050405020304" pitchFamily="18" charset="0"/>
            </a:endParaRPr>
          </a:p>
        </p:txBody>
      </p:sp>
      <p:sp>
        <p:nvSpPr>
          <p:cNvPr id="14" name="Text Box 2">
            <a:extLst>
              <a:ext uri="{FF2B5EF4-FFF2-40B4-BE49-F238E27FC236}">
                <a16:creationId xmlns:a16="http://schemas.microsoft.com/office/drawing/2014/main" id="{D0BE941B-0290-F935-E609-C873F7ED29A2}"/>
              </a:ext>
            </a:extLst>
          </p:cNvPr>
          <p:cNvSpPr txBox="1">
            <a:spLocks noChangeArrowheads="1"/>
          </p:cNvSpPr>
          <p:nvPr/>
        </p:nvSpPr>
        <p:spPr bwMode="auto">
          <a:xfrm>
            <a:off x="5959021" y="4882896"/>
            <a:ext cx="419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n-US" altLang="zh-CN" sz="2400" i="1" dirty="0">
                <a:solidFill>
                  <a:srgbClr val="000000"/>
                </a:solidFill>
                <a:latin typeface="Times New Roman" pitchFamily="18" charset="0"/>
                <a:ea typeface="黑体" pitchFamily="49" charset="-122"/>
                <a:sym typeface="Symbol" pitchFamily="18" charset="2"/>
              </a:rPr>
              <a:t></a:t>
            </a:r>
            <a:r>
              <a:rPr lang="en-US" altLang="zh-CN" sz="2400" baseline="-25000" dirty="0">
                <a:solidFill>
                  <a:srgbClr val="000000"/>
                </a:solidFill>
                <a:latin typeface="Times New Roman" pitchFamily="18" charset="0"/>
                <a:ea typeface="黑体" pitchFamily="49" charset="-122"/>
                <a:sym typeface="Symbol" pitchFamily="18" charset="2"/>
              </a:rPr>
              <a:t>s</a:t>
            </a:r>
            <a:r>
              <a:rPr lang="en-US" altLang="zh-CN" sz="2400" dirty="0">
                <a:solidFill>
                  <a:srgbClr val="000000"/>
                </a:solidFill>
                <a:latin typeface="Times New Roman" pitchFamily="18" charset="0"/>
                <a:ea typeface="黑体" pitchFamily="49" charset="-122"/>
                <a:sym typeface="Symbol" pitchFamily="18" charset="2"/>
              </a:rPr>
              <a:t>(r) defined  </a:t>
            </a:r>
            <a:r>
              <a:rPr lang="en-US" altLang="zh-CN" sz="2400" i="1" dirty="0">
                <a:solidFill>
                  <a:srgbClr val="000000"/>
                </a:solidFill>
                <a:latin typeface="Times New Roman" pitchFamily="18" charset="0"/>
                <a:ea typeface="黑体" pitchFamily="49" charset="-122"/>
                <a:sym typeface="Symbol" pitchFamily="18" charset="2"/>
              </a:rPr>
              <a:t>v</a:t>
            </a:r>
            <a:r>
              <a:rPr lang="en-US" altLang="zh-CN" sz="2400" baseline="-25000" dirty="0">
                <a:solidFill>
                  <a:srgbClr val="000000"/>
                </a:solidFill>
                <a:latin typeface="Times New Roman" pitchFamily="18" charset="0"/>
                <a:ea typeface="黑体" pitchFamily="49" charset="-122"/>
                <a:sym typeface="Symbol" pitchFamily="18" charset="2"/>
              </a:rPr>
              <a:t>s</a:t>
            </a:r>
            <a:r>
              <a:rPr lang="en-US" altLang="zh-CN" sz="2400" dirty="0">
                <a:solidFill>
                  <a:srgbClr val="000000"/>
                </a:solidFill>
                <a:latin typeface="Times New Roman" pitchFamily="18" charset="0"/>
                <a:ea typeface="黑体" pitchFamily="49" charset="-122"/>
                <a:sym typeface="Symbol" pitchFamily="18" charset="2"/>
              </a:rPr>
              <a:t>(</a:t>
            </a:r>
            <a:r>
              <a:rPr lang="en-US" altLang="zh-CN" sz="2400" dirty="0" err="1">
                <a:solidFill>
                  <a:srgbClr val="000000"/>
                </a:solidFill>
                <a:latin typeface="Times New Roman" pitchFamily="18" charset="0"/>
                <a:ea typeface="黑体" pitchFamily="49" charset="-122"/>
                <a:sym typeface="Symbol" pitchFamily="18" charset="2"/>
              </a:rPr>
              <a:t>r</a:t>
            </a:r>
            <a:r>
              <a:rPr lang="en-US" altLang="zh-CN" sz="2400" baseline="-25000" dirty="0" err="1">
                <a:solidFill>
                  <a:srgbClr val="000000"/>
                </a:solidFill>
                <a:latin typeface="Times New Roman" pitchFamily="18" charset="0"/>
                <a:ea typeface="黑体" pitchFamily="49" charset="-122"/>
                <a:sym typeface="Symbol" pitchFamily="18" charset="2"/>
              </a:rPr>
              <a:t>i</a:t>
            </a:r>
            <a:r>
              <a:rPr lang="en-US" altLang="zh-CN" sz="2400" dirty="0">
                <a:solidFill>
                  <a:srgbClr val="000000"/>
                </a:solidFill>
                <a:latin typeface="Times New Roman" pitchFamily="18" charset="0"/>
                <a:ea typeface="黑体" pitchFamily="49" charset="-122"/>
                <a:sym typeface="Symbol" pitchFamily="18" charset="2"/>
              </a:rPr>
              <a:t>) determined</a:t>
            </a:r>
            <a:endParaRPr lang="en-US" altLang="en-US" sz="2400" baseline="-25000" dirty="0">
              <a:solidFill>
                <a:srgbClr val="000000"/>
              </a:solidFill>
              <a:latin typeface="Times New Roman" pitchFamily="18" charset="0"/>
              <a:ea typeface="黑体" pitchFamily="49" charset="-122"/>
              <a:sym typeface="Symbol" pitchFamily="18" charset="2"/>
            </a:endParaRPr>
          </a:p>
        </p:txBody>
      </p:sp>
    </p:spTree>
    <p:extLst>
      <p:ext uri="{BB962C8B-B14F-4D97-AF65-F5344CB8AC3E}">
        <p14:creationId xmlns:p14="http://schemas.microsoft.com/office/powerpoint/2010/main" val="3477306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7" name="Line 2"/>
          <p:cNvSpPr>
            <a:spLocks noChangeShapeType="1"/>
          </p:cNvSpPr>
          <p:nvPr/>
        </p:nvSpPr>
        <p:spPr bwMode="auto">
          <a:xfrm flipV="1">
            <a:off x="24685" y="866205"/>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997391" y="260752"/>
            <a:ext cx="3895618"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6.8. Perturbation theory</a:t>
            </a:r>
          </a:p>
        </p:txBody>
      </p:sp>
      <p:pic>
        <p:nvPicPr>
          <p:cNvPr id="5" name="图片 4">
            <a:extLst>
              <a:ext uri="{FF2B5EF4-FFF2-40B4-BE49-F238E27FC236}">
                <a16:creationId xmlns:a16="http://schemas.microsoft.com/office/drawing/2014/main" id="{2693777B-45CE-B14C-A22A-5F7AF7EE0A0C}"/>
              </a:ext>
            </a:extLst>
          </p:cNvPr>
          <p:cNvPicPr>
            <a:picLocks noChangeAspect="1"/>
          </p:cNvPicPr>
          <p:nvPr/>
        </p:nvPicPr>
        <p:blipFill>
          <a:blip r:embed="rId3"/>
          <a:stretch>
            <a:fillRect/>
          </a:stretch>
        </p:blipFill>
        <p:spPr>
          <a:xfrm>
            <a:off x="2990690" y="2956722"/>
            <a:ext cx="6210619" cy="162568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矩形 4"/>
          <p:cNvSpPr/>
          <p:nvPr/>
        </p:nvSpPr>
        <p:spPr>
          <a:xfrm>
            <a:off x="456939" y="1224090"/>
            <a:ext cx="11278120" cy="952184"/>
          </a:xfrm>
          <a:prstGeom prst="rect">
            <a:avLst/>
          </a:prstGeom>
        </p:spPr>
        <p:txBody>
          <a:bodyPr wrap="square">
            <a:spAutoFit/>
          </a:bodyPr>
          <a:lstStyle/>
          <a:p>
            <a:pPr lvl="0" defTabSz="914400" fontAlgn="base">
              <a:lnSpc>
                <a:spcPct val="125000"/>
              </a:lnSpc>
              <a:spcBef>
                <a:spcPct val="0"/>
              </a:spcBef>
              <a:spcAft>
                <a:spcPct val="0"/>
              </a:spcAft>
              <a:defRPr/>
            </a:pPr>
            <a:r>
              <a:rPr lang="zh-CN" altLang="en-US" sz="2400" dirty="0">
                <a:latin typeface="黑体" panose="02010609060101010101" pitchFamily="49" charset="-122"/>
                <a:ea typeface="黑体" panose="02010609060101010101" pitchFamily="49" charset="-122"/>
              </a:rPr>
              <a:t>微扰理论为解决一类特殊体系的薛定谔方程提供了方法：当某个体系的特性与已知精确解的体系仅有微小差异时，该理论能通过近似计算获得其波动方程的解。</a:t>
            </a:r>
            <a:endParaRPr kumimoji="0" lang="en-US" altLang="zh-CN" sz="32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7" name="Line 2"/>
          <p:cNvSpPr>
            <a:spLocks noChangeShapeType="1"/>
          </p:cNvSpPr>
          <p:nvPr/>
        </p:nvSpPr>
        <p:spPr bwMode="auto">
          <a:xfrm flipV="1">
            <a:off x="24685" y="866205"/>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456680" y="2368464"/>
            <a:ext cx="8280920"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Verdana" panose="020B0604030504040204" pitchFamily="34" charset="0"/>
                <a:cs typeface="Times New Roman" panose="02020603050405020304" pitchFamily="18" charset="0"/>
              </a:rPr>
              <a:t>The Hamiltonian operator for the system is given by</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p:cNvSpPr/>
          <p:nvPr/>
        </p:nvSpPr>
        <p:spPr>
          <a:xfrm>
            <a:off x="456680" y="4014184"/>
            <a:ext cx="11590874"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We suppose that the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Verdana" panose="020B0604030504040204" pitchFamily="34" charset="0"/>
                <a:cs typeface="Times New Roman" panose="02020603050405020304" pitchFamily="18" charset="0"/>
              </a:rPr>
              <a:t>Schrödinge</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r equation for this Hamiltonian operator</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矩形 9"/>
          <p:cNvSpPr/>
          <p:nvPr/>
        </p:nvSpPr>
        <p:spPr>
          <a:xfrm>
            <a:off x="551384" y="5225393"/>
            <a:ext cx="8352928"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cannot be solved </a:t>
            </a: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exactly</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1" name="Object 45"/>
          <p:cNvGraphicFramePr>
            <a:graphicFrameLocks noChangeAspect="1"/>
          </p:cNvGraphicFramePr>
          <p:nvPr/>
        </p:nvGraphicFramePr>
        <p:xfrm>
          <a:off x="4704137" y="4505567"/>
          <a:ext cx="2032000" cy="635000"/>
        </p:xfrm>
        <a:graphic>
          <a:graphicData uri="http://schemas.openxmlformats.org/presentationml/2006/ole">
            <mc:AlternateContent xmlns:mc="http://schemas.openxmlformats.org/markup-compatibility/2006">
              <mc:Choice xmlns:v="urn:schemas-microsoft-com:vml" Requires="v">
                <p:oleObj name="Equation" r:id="rId3" imgW="19507200" imgH="6096000" progId="Equation.DSMT4">
                  <p:embed/>
                </p:oleObj>
              </mc:Choice>
              <mc:Fallback>
                <p:oleObj name="Equation" r:id="rId3" imgW="19507200" imgH="6096000" progId="Equation.DSMT4">
                  <p:embed/>
                  <p:pic>
                    <p:nvPicPr>
                      <p:cNvPr id="11" name="Object 45"/>
                      <p:cNvPicPr>
                        <a:picLocks noChangeAspect="1" noChangeArrowheads="1"/>
                      </p:cNvPicPr>
                      <p:nvPr/>
                    </p:nvPicPr>
                    <p:blipFill>
                      <a:blip r:embed="rId4"/>
                      <a:srcRect/>
                      <a:stretch>
                        <a:fillRect/>
                      </a:stretch>
                    </p:blipFill>
                    <p:spPr bwMode="auto">
                      <a:xfrm>
                        <a:off x="4704137" y="4505567"/>
                        <a:ext cx="20320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45"/>
          <p:cNvGraphicFramePr>
            <a:graphicFrameLocks noChangeAspect="1"/>
          </p:cNvGraphicFramePr>
          <p:nvPr/>
        </p:nvGraphicFramePr>
        <p:xfrm>
          <a:off x="3503712" y="2902934"/>
          <a:ext cx="4984750" cy="1111250"/>
        </p:xfrm>
        <a:graphic>
          <a:graphicData uri="http://schemas.openxmlformats.org/presentationml/2006/ole">
            <mc:AlternateContent xmlns:mc="http://schemas.openxmlformats.org/markup-compatibility/2006">
              <mc:Choice xmlns:v="urn:schemas-microsoft-com:vml" Requires="v">
                <p:oleObj name="Equation" r:id="rId5" imgW="47853600" imgH="10668000" progId="Equation.DSMT4">
                  <p:embed/>
                </p:oleObj>
              </mc:Choice>
              <mc:Fallback>
                <p:oleObj name="Equation" r:id="rId5" imgW="47853600" imgH="10668000" progId="Equation.DSMT4">
                  <p:embed/>
                  <p:pic>
                    <p:nvPicPr>
                      <p:cNvPr id="12" name="Object 45"/>
                      <p:cNvPicPr>
                        <a:picLocks noChangeAspect="1" noChangeArrowheads="1"/>
                      </p:cNvPicPr>
                      <p:nvPr/>
                    </p:nvPicPr>
                    <p:blipFill>
                      <a:blip r:embed="rId6"/>
                      <a:srcRect/>
                      <a:stretch>
                        <a:fillRect/>
                      </a:stretch>
                    </p:blipFill>
                    <p:spPr bwMode="auto">
                      <a:xfrm>
                        <a:off x="3503712" y="2902934"/>
                        <a:ext cx="4984750"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3"/>
          <p:cNvSpPr txBox="1"/>
          <p:nvPr/>
        </p:nvSpPr>
        <p:spPr>
          <a:xfrm>
            <a:off x="3831029" y="5225392"/>
            <a:ext cx="3623621"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However, we exactly know:</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Object 45"/>
          <p:cNvGraphicFramePr>
            <a:graphicFrameLocks noChangeAspect="1"/>
          </p:cNvGraphicFramePr>
          <p:nvPr/>
        </p:nvGraphicFramePr>
        <p:xfrm>
          <a:off x="4439816" y="5794705"/>
          <a:ext cx="2921000" cy="635000"/>
        </p:xfrm>
        <a:graphic>
          <a:graphicData uri="http://schemas.openxmlformats.org/presentationml/2006/ole">
            <mc:AlternateContent xmlns:mc="http://schemas.openxmlformats.org/markup-compatibility/2006">
              <mc:Choice xmlns:v="urn:schemas-microsoft-com:vml" Requires="v">
                <p:oleObj name="Equation" r:id="rId7" imgW="28041600" imgH="6096000" progId="Equation.DSMT4">
                  <p:embed/>
                </p:oleObj>
              </mc:Choice>
              <mc:Fallback>
                <p:oleObj name="Equation" r:id="rId7" imgW="28041600" imgH="6096000" progId="Equation.DSMT4">
                  <p:embed/>
                  <p:pic>
                    <p:nvPicPr>
                      <p:cNvPr id="14" name="Object 45"/>
                      <p:cNvPicPr>
                        <a:picLocks noChangeAspect="1" noChangeArrowheads="1"/>
                      </p:cNvPicPr>
                      <p:nvPr/>
                    </p:nvPicPr>
                    <p:blipFill>
                      <a:blip r:embed="rId8"/>
                      <a:srcRect/>
                      <a:stretch>
                        <a:fillRect/>
                      </a:stretch>
                    </p:blipFill>
                    <p:spPr bwMode="auto">
                      <a:xfrm>
                        <a:off x="4439816" y="5794705"/>
                        <a:ext cx="29210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p:cNvSpPr/>
          <p:nvPr/>
        </p:nvSpPr>
        <p:spPr>
          <a:xfrm>
            <a:off x="4462379" y="222770"/>
            <a:ext cx="3267241"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Perturbation theory</a:t>
            </a:r>
          </a:p>
        </p:txBody>
      </p:sp>
      <p:sp>
        <p:nvSpPr>
          <p:cNvPr id="15" name="TextBox 5">
            <a:extLst>
              <a:ext uri="{FF2B5EF4-FFF2-40B4-BE49-F238E27FC236}">
                <a16:creationId xmlns:a16="http://schemas.microsoft.com/office/drawing/2014/main" id="{03EA21A1-87CE-4BF5-9E51-5F75354441FC}"/>
              </a:ext>
            </a:extLst>
          </p:cNvPr>
          <p:cNvSpPr txBox="1"/>
          <p:nvPr/>
        </p:nvSpPr>
        <p:spPr>
          <a:xfrm>
            <a:off x="695400" y="5814178"/>
            <a:ext cx="1518364"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Known</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a:t>
            </a:r>
          </a:p>
        </p:txBody>
      </p:sp>
      <p:sp>
        <p:nvSpPr>
          <p:cNvPr id="16" name="TextBox 5">
            <a:extLst>
              <a:ext uri="{FF2B5EF4-FFF2-40B4-BE49-F238E27FC236}">
                <a16:creationId xmlns:a16="http://schemas.microsoft.com/office/drawing/2014/main" id="{949E4266-98A2-4647-959B-48C034BAF0F5}"/>
              </a:ext>
            </a:extLst>
          </p:cNvPr>
          <p:cNvSpPr txBox="1"/>
          <p:nvPr/>
        </p:nvSpPr>
        <p:spPr>
          <a:xfrm>
            <a:off x="692424" y="4590516"/>
            <a:ext cx="1877437"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Unknown</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a:t>
            </a:r>
          </a:p>
        </p:txBody>
      </p:sp>
    </p:spTree>
    <p:extLst>
      <p:ext uri="{BB962C8B-B14F-4D97-AF65-F5344CB8AC3E}">
        <p14:creationId xmlns:p14="http://schemas.microsoft.com/office/powerpoint/2010/main" val="13174402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79832" y="689020"/>
            <a:ext cx="11305256"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In perturbation theory we assume that </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Ĥ</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may be expanded in terms of a </a:t>
            </a: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small</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parameter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2654541" y="3785363"/>
            <a:ext cx="7128792"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The operator is called the perturbation (small)</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下箭头 12"/>
          <p:cNvSpPr/>
          <p:nvPr/>
        </p:nvSpPr>
        <p:spPr bwMode="auto">
          <a:xfrm>
            <a:off x="5752440" y="3058425"/>
            <a:ext cx="144016" cy="608862"/>
          </a:xfrm>
          <a:prstGeom prst="downArrow">
            <a:avLst/>
          </a:prstGeom>
          <a:solidFill>
            <a:schemeClr val="accent2">
              <a:lumMod val="50000"/>
            </a:schemeClr>
          </a:solidFill>
          <a:ln>
            <a:noFill/>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14" name="矩形 13"/>
          <p:cNvSpPr/>
          <p:nvPr/>
        </p:nvSpPr>
        <p:spPr>
          <a:xfrm>
            <a:off x="601180" y="4415129"/>
            <a:ext cx="10981220" cy="830997"/>
          </a:xfrm>
          <a:prstGeom prst="rect">
            <a:avLst/>
          </a:prstGeom>
          <a:noFill/>
        </p:spPr>
        <p:style>
          <a:lnRef idx="3">
            <a:schemeClr val="lt1"/>
          </a:lnRef>
          <a:fillRef idx="1">
            <a:schemeClr val="dk1"/>
          </a:fillRef>
          <a:effectRef idx="1">
            <a:schemeClr val="dk1"/>
          </a:effectRef>
          <a:fontRef idx="minor">
            <a:schemeClr val="lt1"/>
          </a:fontRef>
        </p:style>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The operator </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Ĥ</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differs only slightly from </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Ĥ</a:t>
            </a:r>
            <a:r>
              <a:rPr kumimoji="0" lang="en-US" altLang="zh-CN" sz="2400" b="0" i="0" u="none" strike="noStrike" kern="1200" cap="none" spc="0" normalizeH="0" baseline="30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the </a:t>
            </a:r>
            <a:r>
              <a:rPr kumimoji="0" lang="en-US" altLang="zh-CN" sz="2400" b="0" i="0" u="none" strike="noStrike" kern="1200" cap="none" spc="0" normalizeH="0" baseline="0" noProof="0" dirty="0" err="1">
                <a:ln>
                  <a:noFill/>
                </a:ln>
                <a:solidFill>
                  <a:srgbClr val="000000"/>
                </a:solidFill>
                <a:effectLst/>
                <a:uLnTx/>
                <a:uFillTx/>
                <a:latin typeface="Times New Roman" panose="02020603050405020304" pitchFamily="18" charset="0"/>
                <a:ea typeface="宋体"/>
                <a:cs typeface="Times New Roman" panose="02020603050405020304" pitchFamily="18" charset="0"/>
              </a:rPr>
              <a:t>eigenfunctions</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and eigenvalues of </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Ĥ</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do not differ greatly from those of the unperturbed Hamiltonian operator </a:t>
            </a:r>
            <a:r>
              <a:rPr kumimoji="0"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Ĥ</a:t>
            </a:r>
            <a:r>
              <a:rPr kumimoji="0" lang="en-US" altLang="zh-CN" sz="2400" b="0" i="0" u="none" strike="noStrike" kern="1200" cap="none" spc="0" normalizeH="0" baseline="3000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graphicFrame>
        <p:nvGraphicFramePr>
          <p:cNvPr id="10" name="Object 45"/>
          <p:cNvGraphicFramePr>
            <a:graphicFrameLocks noChangeAspect="1"/>
          </p:cNvGraphicFramePr>
          <p:nvPr/>
        </p:nvGraphicFramePr>
        <p:xfrm>
          <a:off x="2966117" y="1380236"/>
          <a:ext cx="6508750" cy="539750"/>
        </p:xfrm>
        <a:graphic>
          <a:graphicData uri="http://schemas.openxmlformats.org/presentationml/2006/ole">
            <mc:AlternateContent xmlns:mc="http://schemas.openxmlformats.org/markup-compatibility/2006">
              <mc:Choice xmlns:v="urn:schemas-microsoft-com:vml" Requires="v">
                <p:oleObj name="Equation" r:id="rId2" imgW="62484000" imgH="5181600" progId="Equation.DSMT4">
                  <p:embed/>
                </p:oleObj>
              </mc:Choice>
              <mc:Fallback>
                <p:oleObj name="Equation" r:id="rId2" imgW="62484000" imgH="5181600" progId="Equation.DSMT4">
                  <p:embed/>
                  <p:pic>
                    <p:nvPicPr>
                      <p:cNvPr id="10" name="Object 45"/>
                      <p:cNvPicPr>
                        <a:picLocks noChangeAspect="1" noChangeArrowheads="1"/>
                      </p:cNvPicPr>
                      <p:nvPr/>
                    </p:nvPicPr>
                    <p:blipFill>
                      <a:blip r:embed="rId3"/>
                      <a:srcRect/>
                      <a:stretch>
                        <a:fillRect/>
                      </a:stretch>
                    </p:blipFill>
                    <p:spPr bwMode="auto">
                      <a:xfrm>
                        <a:off x="2966117" y="1380236"/>
                        <a:ext cx="650875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45"/>
          <p:cNvGraphicFramePr>
            <a:graphicFrameLocks noChangeAspect="1"/>
          </p:cNvGraphicFramePr>
          <p:nvPr/>
        </p:nvGraphicFramePr>
        <p:xfrm>
          <a:off x="3991456" y="2149537"/>
          <a:ext cx="3810000" cy="539750"/>
        </p:xfrm>
        <a:graphic>
          <a:graphicData uri="http://schemas.openxmlformats.org/presentationml/2006/ole">
            <mc:AlternateContent xmlns:mc="http://schemas.openxmlformats.org/markup-compatibility/2006">
              <mc:Choice xmlns:v="urn:schemas-microsoft-com:vml" Requires="v">
                <p:oleObj name="Equation" r:id="rId4" imgW="36576000" imgH="5181600" progId="Equation.DSMT4">
                  <p:embed/>
                </p:oleObj>
              </mc:Choice>
              <mc:Fallback>
                <p:oleObj name="Equation" r:id="rId4" imgW="36576000" imgH="5181600" progId="Equation.DSMT4">
                  <p:embed/>
                  <p:pic>
                    <p:nvPicPr>
                      <p:cNvPr id="11" name="Object 45"/>
                      <p:cNvPicPr>
                        <a:picLocks noChangeAspect="1" noChangeArrowheads="1"/>
                      </p:cNvPicPr>
                      <p:nvPr/>
                    </p:nvPicPr>
                    <p:blipFill>
                      <a:blip r:embed="rId5"/>
                      <a:srcRect/>
                      <a:stretch>
                        <a:fillRect/>
                      </a:stretch>
                    </p:blipFill>
                    <p:spPr bwMode="auto">
                      <a:xfrm>
                        <a:off x="3991456" y="2149537"/>
                        <a:ext cx="3810000" cy="539750"/>
                      </a:xfrm>
                      <a:prstGeom prst="rect">
                        <a:avLst/>
                      </a:prstGeom>
                      <a:noFill/>
                      <a:ln w="28575">
                        <a:solidFill>
                          <a:srgbClr val="FF0000"/>
                        </a:solidFill>
                      </a:ln>
                      <a:effec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7366" name="Object 22"/>
          <p:cNvGraphicFramePr>
            <a:graphicFrameLocks noChangeAspect="1"/>
          </p:cNvGraphicFramePr>
          <p:nvPr/>
        </p:nvGraphicFramePr>
        <p:xfrm>
          <a:off x="5255236" y="2652058"/>
          <a:ext cx="2158200" cy="571500"/>
        </p:xfrm>
        <a:graphic>
          <a:graphicData uri="http://schemas.openxmlformats.org/presentationml/2006/ole">
            <mc:AlternateContent xmlns:mc="http://schemas.openxmlformats.org/markup-compatibility/2006">
              <mc:Choice xmlns:v="urn:schemas-microsoft-com:vml" Requires="v">
                <p:oleObj name="Equation" r:id="rId3" imgW="862965" imgH="228600" progId="Equation.DSMT4">
                  <p:embed/>
                </p:oleObj>
              </mc:Choice>
              <mc:Fallback>
                <p:oleObj name="Equation" r:id="rId3" imgW="862965" imgH="228600" progId="Equation.DSMT4">
                  <p:embed/>
                  <p:pic>
                    <p:nvPicPr>
                      <p:cNvPr id="57366"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5236" y="2652058"/>
                        <a:ext cx="21582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77" name="Object 33"/>
          <p:cNvGraphicFramePr>
            <a:graphicFrameLocks noChangeAspect="1"/>
          </p:cNvGraphicFramePr>
          <p:nvPr/>
        </p:nvGraphicFramePr>
        <p:xfrm>
          <a:off x="5365202" y="3420692"/>
          <a:ext cx="1809000" cy="571500"/>
        </p:xfrm>
        <a:graphic>
          <a:graphicData uri="http://schemas.openxmlformats.org/presentationml/2006/ole">
            <mc:AlternateContent xmlns:mc="http://schemas.openxmlformats.org/markup-compatibility/2006">
              <mc:Choice xmlns:v="urn:schemas-microsoft-com:vml" Requires="v">
                <p:oleObj name="Equation" r:id="rId5" imgW="723900" imgH="228600" progId="Equation.DSMT4">
                  <p:embed/>
                </p:oleObj>
              </mc:Choice>
              <mc:Fallback>
                <p:oleObj name="Equation" r:id="rId5" imgW="723900" imgH="228600" progId="Equation.DSMT4">
                  <p:embed/>
                  <p:pic>
                    <p:nvPicPr>
                      <p:cNvPr id="57377"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5202" y="3420692"/>
                        <a:ext cx="18090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1" name="Object 37"/>
          <p:cNvGraphicFramePr>
            <a:graphicFrameLocks noChangeAspect="1"/>
          </p:cNvGraphicFramePr>
          <p:nvPr/>
        </p:nvGraphicFramePr>
        <p:xfrm>
          <a:off x="2063552" y="4149080"/>
          <a:ext cx="6667200" cy="603000"/>
        </p:xfrm>
        <a:graphic>
          <a:graphicData uri="http://schemas.openxmlformats.org/presentationml/2006/ole">
            <mc:AlternateContent xmlns:mc="http://schemas.openxmlformats.org/markup-compatibility/2006">
              <mc:Choice xmlns:v="urn:schemas-microsoft-com:vml" Requires="v">
                <p:oleObj name="Equation" r:id="rId7" imgW="2667000" imgH="241300" progId="Equation.DSMT4">
                  <p:embed/>
                </p:oleObj>
              </mc:Choice>
              <mc:Fallback>
                <p:oleObj name="Equation" r:id="rId7" imgW="2667000" imgH="241300" progId="Equation.DSMT4">
                  <p:embed/>
                  <p:pic>
                    <p:nvPicPr>
                      <p:cNvPr id="57381"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552" y="4149080"/>
                        <a:ext cx="6667200" cy="60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8" name="Object 44"/>
          <p:cNvGraphicFramePr>
            <a:graphicFrameLocks noChangeAspect="1"/>
          </p:cNvGraphicFramePr>
          <p:nvPr/>
        </p:nvGraphicFramePr>
        <p:xfrm>
          <a:off x="4261920" y="1907123"/>
          <a:ext cx="4699000" cy="635000"/>
        </p:xfrm>
        <a:graphic>
          <a:graphicData uri="http://schemas.openxmlformats.org/presentationml/2006/ole">
            <mc:AlternateContent xmlns:mc="http://schemas.openxmlformats.org/markup-compatibility/2006">
              <mc:Choice xmlns:v="urn:schemas-microsoft-com:vml" Requires="v">
                <p:oleObj name="Equation" r:id="rId9" imgW="1879560" imgH="253800" progId="Equation.DSMT4">
                  <p:embed/>
                </p:oleObj>
              </mc:Choice>
              <mc:Fallback>
                <p:oleObj name="Equation" r:id="rId9" imgW="1879560" imgH="253800" progId="Equation.DSMT4">
                  <p:embed/>
                  <p:pic>
                    <p:nvPicPr>
                      <p:cNvPr id="57388" name="Object 44"/>
                      <p:cNvPicPr>
                        <a:picLocks noChangeAspect="1" noChangeArrowheads="1"/>
                      </p:cNvPicPr>
                      <p:nvPr/>
                    </p:nvPicPr>
                    <p:blipFill>
                      <a:blip r:embed="rId10"/>
                      <a:srcRect/>
                      <a:stretch>
                        <a:fillRect/>
                      </a:stretch>
                    </p:blipFill>
                    <p:spPr bwMode="auto">
                      <a:xfrm>
                        <a:off x="4261920" y="1907123"/>
                        <a:ext cx="46990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9" name="Object 45"/>
          <p:cNvGraphicFramePr>
            <a:graphicFrameLocks noChangeAspect="1"/>
          </p:cNvGraphicFramePr>
          <p:nvPr/>
        </p:nvGraphicFramePr>
        <p:xfrm>
          <a:off x="4943872" y="1149630"/>
          <a:ext cx="2921000" cy="635000"/>
        </p:xfrm>
        <a:graphic>
          <a:graphicData uri="http://schemas.openxmlformats.org/presentationml/2006/ole">
            <mc:AlternateContent xmlns:mc="http://schemas.openxmlformats.org/markup-compatibility/2006">
              <mc:Choice xmlns:v="urn:schemas-microsoft-com:vml" Requires="v">
                <p:oleObj name="Equation" r:id="rId11" imgW="28041600" imgH="6096000" progId="Equation.DSMT4">
                  <p:embed/>
                </p:oleObj>
              </mc:Choice>
              <mc:Fallback>
                <p:oleObj name="Equation" r:id="rId11" imgW="28041600" imgH="6096000" progId="Equation.DSMT4">
                  <p:embed/>
                  <p:pic>
                    <p:nvPicPr>
                      <p:cNvPr id="57389" name="Object 45"/>
                      <p:cNvPicPr>
                        <a:picLocks noChangeAspect="1" noChangeArrowheads="1"/>
                      </p:cNvPicPr>
                      <p:nvPr/>
                    </p:nvPicPr>
                    <p:blipFill>
                      <a:blip r:embed="rId12"/>
                      <a:srcRect/>
                      <a:stretch>
                        <a:fillRect/>
                      </a:stretch>
                    </p:blipFill>
                    <p:spPr bwMode="auto">
                      <a:xfrm>
                        <a:off x="4943872" y="1149630"/>
                        <a:ext cx="2921000"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98" name="Object 54"/>
          <p:cNvGraphicFramePr>
            <a:graphicFrameLocks noChangeAspect="1"/>
          </p:cNvGraphicFramePr>
          <p:nvPr/>
        </p:nvGraphicFramePr>
        <p:xfrm>
          <a:off x="2063552" y="5013176"/>
          <a:ext cx="6603300" cy="603000"/>
        </p:xfrm>
        <a:graphic>
          <a:graphicData uri="http://schemas.openxmlformats.org/presentationml/2006/ole">
            <mc:AlternateContent xmlns:mc="http://schemas.openxmlformats.org/markup-compatibility/2006">
              <mc:Choice xmlns:v="urn:schemas-microsoft-com:vml" Requires="v">
                <p:oleObj name="Equation" r:id="rId13" imgW="2641600" imgH="241300" progId="Equation.DSMT4">
                  <p:embed/>
                </p:oleObj>
              </mc:Choice>
              <mc:Fallback>
                <p:oleObj name="Equation" r:id="rId13" imgW="2641600" imgH="241300" progId="Equation.DSMT4">
                  <p:embed/>
                  <p:pic>
                    <p:nvPicPr>
                      <p:cNvPr id="57398"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552" y="5013176"/>
                        <a:ext cx="6603300" cy="60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矩形 14"/>
          <p:cNvSpPr/>
          <p:nvPr/>
        </p:nvSpPr>
        <p:spPr>
          <a:xfrm>
            <a:off x="514954" y="5739837"/>
            <a:ext cx="11687939"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Meiryo UI" panose="020B0604030504040204" pitchFamily="34" charset="-128"/>
                <a:cs typeface="Times New Roman" panose="02020603050405020304" pitchFamily="18" charset="0"/>
              </a:rPr>
              <a:t>In the limit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Meiryo UI" panose="020B0604030504040204" pitchFamily="34" charset="-128"/>
                <a:cs typeface="Times New Roman" panose="02020603050405020304" pitchFamily="18" charset="0"/>
                <a:sym typeface="Symbol" panose="05050102010706020507"/>
              </a:rPr>
              <a:t>0</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Meiryo UI" panose="020B0604030504040204" pitchFamily="34" charset="-128"/>
                <a:cs typeface="Times New Roman" panose="02020603050405020304" pitchFamily="18" charset="0"/>
              </a:rPr>
              <a:t>, the perturbed system reduces to the unperturbed system.</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eiryo UI" panose="020B0604030504040204" pitchFamily="34" charset="-128"/>
              <a:cs typeface="Times New Roman" panose="02020603050405020304" pitchFamily="18" charset="0"/>
            </a:endParaRPr>
          </a:p>
        </p:txBody>
      </p:sp>
      <p:sp>
        <p:nvSpPr>
          <p:cNvPr id="2" name="TextBox 1"/>
          <p:cNvSpPr txBox="1"/>
          <p:nvPr/>
        </p:nvSpPr>
        <p:spPr>
          <a:xfrm>
            <a:off x="8976321" y="4278412"/>
            <a:ext cx="854721" cy="120032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lang="zh-CN" altLang="en-US" sz="2400" dirty="0">
                <a:solidFill>
                  <a:srgbClr val="000000"/>
                </a:solidFill>
                <a:latin typeface="Verdana" panose="020B0604030504040204" pitchFamily="34" charset="0"/>
                <a:ea typeface="宋体" panose="02010600030101010101" pitchFamily="2" charset="-122"/>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endPar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12" name="Line 2"/>
          <p:cNvSpPr>
            <a:spLocks noChangeShapeType="1"/>
          </p:cNvSpPr>
          <p:nvPr/>
        </p:nvSpPr>
        <p:spPr bwMode="auto">
          <a:xfrm flipV="1">
            <a:off x="24685" y="866205"/>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4"/>
          <p:cNvSpPr/>
          <p:nvPr/>
        </p:nvSpPr>
        <p:spPr>
          <a:xfrm>
            <a:off x="2567608" y="188068"/>
            <a:ext cx="8160568" cy="52322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Nondegenerate Perturbation Theory</a:t>
            </a:r>
          </a:p>
        </p:txBody>
      </p:sp>
      <p:sp>
        <p:nvSpPr>
          <p:cNvPr id="13" name="TextBox 5">
            <a:extLst>
              <a:ext uri="{FF2B5EF4-FFF2-40B4-BE49-F238E27FC236}">
                <a16:creationId xmlns:a16="http://schemas.microsoft.com/office/drawing/2014/main" id="{CC377E05-AD65-40CD-A904-0603E45129C1}"/>
              </a:ext>
            </a:extLst>
          </p:cNvPr>
          <p:cNvSpPr txBox="1"/>
          <p:nvPr/>
        </p:nvSpPr>
        <p:spPr>
          <a:xfrm>
            <a:off x="1415480" y="1180462"/>
            <a:ext cx="1518364"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Known</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a:t>
            </a:r>
          </a:p>
        </p:txBody>
      </p:sp>
      <p:sp>
        <p:nvSpPr>
          <p:cNvPr id="14" name="TextBox 5">
            <a:extLst>
              <a:ext uri="{FF2B5EF4-FFF2-40B4-BE49-F238E27FC236}">
                <a16:creationId xmlns:a16="http://schemas.microsoft.com/office/drawing/2014/main" id="{C4B24579-7CDC-4869-9A0E-61B7ECB733C2}"/>
              </a:ext>
            </a:extLst>
          </p:cNvPr>
          <p:cNvSpPr txBox="1"/>
          <p:nvPr/>
        </p:nvSpPr>
        <p:spPr>
          <a:xfrm>
            <a:off x="1420618" y="1942010"/>
            <a:ext cx="1877437"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Unknown</a:t>
            </a:r>
            <a:r>
              <a:rPr kumimoji="0" lang="zh-CN" altLang="en-US" sz="2400" b="1" i="0" u="none" strike="noStrike" kern="1200" cap="none" spc="0" normalizeH="0" baseline="0" noProof="0" dirty="0">
                <a:ln>
                  <a:noFill/>
                </a:ln>
                <a:solidFill>
                  <a:srgbClr val="3333FF"/>
                </a:solidFill>
                <a:effectLst/>
                <a:uLnTx/>
                <a:uFillTx/>
                <a:latin typeface="Arial" panose="020B0604020202020204" pitchFamily="34" charset="0"/>
                <a:ea typeface="宋体" panose="02010600030101010101" pitchFamily="2" charset="-122"/>
                <a:cs typeface="+mn-cs"/>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39"/>
          <p:cNvGraphicFramePr>
            <a:graphicFrameLocks noChangeAspect="1"/>
          </p:cNvGraphicFramePr>
          <p:nvPr/>
        </p:nvGraphicFramePr>
        <p:xfrm>
          <a:off x="1774825" y="188913"/>
          <a:ext cx="9018588" cy="2087562"/>
        </p:xfrm>
        <a:graphic>
          <a:graphicData uri="http://schemas.openxmlformats.org/presentationml/2006/ole">
            <mc:AlternateContent xmlns:mc="http://schemas.openxmlformats.org/markup-compatibility/2006">
              <mc:Choice xmlns:v="urn:schemas-microsoft-com:vml" Requires="v">
                <p:oleObj name="Equation" r:id="rId3" imgW="3619500" imgH="838200" progId="Equation.DSMT4">
                  <p:embed/>
                </p:oleObj>
              </mc:Choice>
              <mc:Fallback>
                <p:oleObj name="Equation" r:id="rId3" imgW="3619500" imgH="838200" progId="Equation.DSMT4">
                  <p:embed/>
                  <p:pic>
                    <p:nvPicPr>
                      <p:cNvPr id="7"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188913"/>
                        <a:ext cx="9018588" cy="2087562"/>
                      </a:xfrm>
                      <a:prstGeom prst="rect">
                        <a:avLst/>
                      </a:prstGeom>
                      <a:noFill/>
                      <a:ln>
                        <a:noFill/>
                      </a:ln>
                      <a:effectLst/>
                    </p:spPr>
                  </p:pic>
                </p:oleObj>
              </mc:Fallback>
            </mc:AlternateContent>
          </a:graphicData>
        </a:graphic>
      </p:graphicFrame>
      <p:sp>
        <p:nvSpPr>
          <p:cNvPr id="9" name="Line 41"/>
          <p:cNvSpPr>
            <a:spLocks noChangeShapeType="1"/>
          </p:cNvSpPr>
          <p:nvPr/>
        </p:nvSpPr>
        <p:spPr bwMode="auto">
          <a:xfrm>
            <a:off x="3575720" y="1052736"/>
            <a:ext cx="2592288"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10" name="Line 42"/>
          <p:cNvSpPr>
            <a:spLocks noChangeShapeType="1"/>
          </p:cNvSpPr>
          <p:nvPr/>
        </p:nvSpPr>
        <p:spPr bwMode="auto">
          <a:xfrm>
            <a:off x="5015880" y="1628800"/>
            <a:ext cx="2736304" cy="0"/>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11" name="Line 43"/>
          <p:cNvSpPr>
            <a:spLocks noChangeShapeType="1"/>
          </p:cNvSpPr>
          <p:nvPr/>
        </p:nvSpPr>
        <p:spPr bwMode="auto">
          <a:xfrm>
            <a:off x="1919536" y="1052736"/>
            <a:ext cx="762000"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12" name="Line 44"/>
          <p:cNvSpPr>
            <a:spLocks noChangeShapeType="1"/>
          </p:cNvSpPr>
          <p:nvPr/>
        </p:nvSpPr>
        <p:spPr bwMode="auto">
          <a:xfrm>
            <a:off x="3317776" y="1628800"/>
            <a:ext cx="762000" cy="0"/>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graphicFrame>
        <p:nvGraphicFramePr>
          <p:cNvPr id="14" name="Object 29"/>
          <p:cNvGraphicFramePr>
            <a:graphicFrameLocks noChangeAspect="1"/>
          </p:cNvGraphicFramePr>
          <p:nvPr/>
        </p:nvGraphicFramePr>
        <p:xfrm>
          <a:off x="2113243" y="4326938"/>
          <a:ext cx="8483040" cy="609120"/>
        </p:xfrm>
        <a:graphic>
          <a:graphicData uri="http://schemas.openxmlformats.org/presentationml/2006/ole">
            <mc:AlternateContent xmlns:mc="http://schemas.openxmlformats.org/markup-compatibility/2006">
              <mc:Choice xmlns:v="urn:schemas-microsoft-com:vml" Requires="v">
                <p:oleObj name="Equation" r:id="rId5" imgW="4241520" imgH="304560" progId="Equation.DSMT4">
                  <p:embed/>
                </p:oleObj>
              </mc:Choice>
              <mc:Fallback>
                <p:oleObj name="Equation" r:id="rId5" imgW="4241520" imgH="304560" progId="Equation.DSMT4">
                  <p:embed/>
                  <p:pic>
                    <p:nvPicPr>
                      <p:cNvPr id="14" name="Object 29"/>
                      <p:cNvPicPr>
                        <a:picLocks noChangeAspect="1" noChangeArrowheads="1"/>
                      </p:cNvPicPr>
                      <p:nvPr/>
                    </p:nvPicPr>
                    <p:blipFill>
                      <a:blip r:embed="rId6"/>
                      <a:srcRect/>
                      <a:stretch>
                        <a:fillRect/>
                      </a:stretch>
                    </p:blipFill>
                    <p:spPr bwMode="auto">
                      <a:xfrm>
                        <a:off x="2113243" y="4326938"/>
                        <a:ext cx="8483040" cy="609120"/>
                      </a:xfrm>
                      <a:prstGeom prst="rect">
                        <a:avLst/>
                      </a:prstGeom>
                      <a:noFill/>
                      <a:ln>
                        <a:solidFill>
                          <a:srgbClr val="3333FF"/>
                        </a:solidFill>
                      </a:ln>
                      <a:effectLst/>
                    </p:spPr>
                  </p:pic>
                </p:oleObj>
              </mc:Fallback>
            </mc:AlternateContent>
          </a:graphicData>
        </a:graphic>
      </p:graphicFrame>
      <p:graphicFrame>
        <p:nvGraphicFramePr>
          <p:cNvPr id="15" name="Object 39"/>
          <p:cNvGraphicFramePr>
            <a:graphicFrameLocks noChangeAspect="1"/>
          </p:cNvGraphicFramePr>
          <p:nvPr/>
        </p:nvGraphicFramePr>
        <p:xfrm>
          <a:off x="3870660" y="2823050"/>
          <a:ext cx="4394160" cy="507600"/>
        </p:xfrm>
        <a:graphic>
          <a:graphicData uri="http://schemas.openxmlformats.org/presentationml/2006/ole">
            <mc:AlternateContent xmlns:mc="http://schemas.openxmlformats.org/markup-compatibility/2006">
              <mc:Choice xmlns:v="urn:schemas-microsoft-com:vml" Requires="v">
                <p:oleObj name="Equation" r:id="rId7" imgW="2197080" imgH="253800" progId="Equation.DSMT4">
                  <p:embed/>
                </p:oleObj>
              </mc:Choice>
              <mc:Fallback>
                <p:oleObj name="Equation" r:id="rId7" imgW="2197080" imgH="253800" progId="Equation.DSMT4">
                  <p:embed/>
                  <p:pic>
                    <p:nvPicPr>
                      <p:cNvPr id="15" name="Object 39"/>
                      <p:cNvPicPr>
                        <a:picLocks noChangeAspect="1" noChangeArrowheads="1"/>
                      </p:cNvPicPr>
                      <p:nvPr/>
                    </p:nvPicPr>
                    <p:blipFill>
                      <a:blip r:embed="rId8"/>
                      <a:srcRect/>
                      <a:stretch>
                        <a:fillRect/>
                      </a:stretch>
                    </p:blipFill>
                    <p:spPr bwMode="auto">
                      <a:xfrm>
                        <a:off x="3870660" y="2823050"/>
                        <a:ext cx="4394160" cy="507600"/>
                      </a:xfrm>
                      <a:prstGeom prst="rect">
                        <a:avLst/>
                      </a:prstGeom>
                      <a:noFill/>
                      <a:ln>
                        <a:solidFill>
                          <a:srgbClr val="3333FF"/>
                        </a:solidFill>
                      </a:ln>
                      <a:effectLst/>
                    </p:spPr>
                  </p:pic>
                </p:oleObj>
              </mc:Fallback>
            </mc:AlternateContent>
          </a:graphicData>
        </a:graphic>
      </p:graphicFrame>
      <p:graphicFrame>
        <p:nvGraphicFramePr>
          <p:cNvPr id="16" name="Object 41"/>
          <p:cNvGraphicFramePr>
            <a:graphicFrameLocks noChangeAspect="1"/>
          </p:cNvGraphicFramePr>
          <p:nvPr/>
        </p:nvGraphicFramePr>
        <p:xfrm>
          <a:off x="3870660" y="3551382"/>
          <a:ext cx="4394160" cy="507600"/>
        </p:xfrm>
        <a:graphic>
          <a:graphicData uri="http://schemas.openxmlformats.org/presentationml/2006/ole">
            <mc:AlternateContent xmlns:mc="http://schemas.openxmlformats.org/markup-compatibility/2006">
              <mc:Choice xmlns:v="urn:schemas-microsoft-com:vml" Requires="v">
                <p:oleObj name="Equation" r:id="rId9" imgW="2197080" imgH="253800" progId="Equation.DSMT4">
                  <p:embed/>
                </p:oleObj>
              </mc:Choice>
              <mc:Fallback>
                <p:oleObj name="Equation" r:id="rId9" imgW="2197080" imgH="253800" progId="Equation.DSMT4">
                  <p:embed/>
                  <p:pic>
                    <p:nvPicPr>
                      <p:cNvPr id="16" name="Object 41"/>
                      <p:cNvPicPr>
                        <a:picLocks noChangeAspect="1" noChangeArrowheads="1"/>
                      </p:cNvPicPr>
                      <p:nvPr/>
                    </p:nvPicPr>
                    <p:blipFill>
                      <a:blip r:embed="rId10"/>
                      <a:srcRect/>
                      <a:stretch>
                        <a:fillRect/>
                      </a:stretch>
                    </p:blipFill>
                    <p:spPr bwMode="auto">
                      <a:xfrm>
                        <a:off x="3870660" y="3551382"/>
                        <a:ext cx="4394160" cy="507600"/>
                      </a:xfrm>
                      <a:prstGeom prst="rect">
                        <a:avLst/>
                      </a:prstGeom>
                      <a:noFill/>
                      <a:ln>
                        <a:solidFill>
                          <a:srgbClr val="3333FF"/>
                        </a:solidFill>
                      </a:ln>
                      <a:effectLst/>
                    </p:spPr>
                  </p:pic>
                </p:oleObj>
              </mc:Fallback>
            </mc:AlternateContent>
          </a:graphicData>
        </a:graphic>
      </p:graphicFrame>
      <p:sp>
        <p:nvSpPr>
          <p:cNvPr id="17" name="TextBox 16"/>
          <p:cNvSpPr txBox="1"/>
          <p:nvPr/>
        </p:nvSpPr>
        <p:spPr>
          <a:xfrm>
            <a:off x="737592" y="2201850"/>
            <a:ext cx="570990" cy="461665"/>
          </a:xfrm>
          <a:prstGeom prst="rect">
            <a:avLst/>
          </a:prstGeom>
          <a:noFill/>
          <a:ln>
            <a:solidFill>
              <a:srgbClr val="FF0000"/>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sym typeface="Symbol" panose="05050102010706020507"/>
              </a:rPr>
              <a:t> </a:t>
            </a:r>
            <a:endPar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endParaRPr>
          </a:p>
        </p:txBody>
      </p:sp>
      <p:graphicFrame>
        <p:nvGraphicFramePr>
          <p:cNvPr id="3" name="对象 2"/>
          <p:cNvGraphicFramePr>
            <a:graphicFrameLocks noChangeAspect="1"/>
          </p:cNvGraphicFramePr>
          <p:nvPr/>
        </p:nvGraphicFramePr>
        <p:xfrm>
          <a:off x="1444980" y="5310264"/>
          <a:ext cx="4851360" cy="507600"/>
        </p:xfrm>
        <a:graphic>
          <a:graphicData uri="http://schemas.openxmlformats.org/presentationml/2006/ole">
            <mc:AlternateContent xmlns:mc="http://schemas.openxmlformats.org/markup-compatibility/2006">
              <mc:Choice xmlns:v="urn:schemas-microsoft-com:vml" Requires="v">
                <p:oleObj name="Equation" r:id="rId11" imgW="2425680" imgH="253800" progId="Equation.DSMT4">
                  <p:embed/>
                </p:oleObj>
              </mc:Choice>
              <mc:Fallback>
                <p:oleObj name="Equation" r:id="rId11" imgW="2425680" imgH="253800" progId="Equation.DSMT4">
                  <p:embed/>
                  <p:pic>
                    <p:nvPicPr>
                      <p:cNvPr id="3" name="对象 2"/>
                      <p:cNvPicPr>
                        <a:picLocks noChangeAspect="1" noChangeArrowheads="1"/>
                      </p:cNvPicPr>
                      <p:nvPr/>
                    </p:nvPicPr>
                    <p:blipFill>
                      <a:blip r:embed="rId12"/>
                      <a:srcRect/>
                      <a:stretch>
                        <a:fillRect/>
                      </a:stretch>
                    </p:blipFill>
                    <p:spPr bwMode="auto">
                      <a:xfrm>
                        <a:off x="1444980" y="5310264"/>
                        <a:ext cx="4851360" cy="50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6337480" y="5341692"/>
          <a:ext cx="4800240" cy="482400"/>
        </p:xfrm>
        <a:graphic>
          <a:graphicData uri="http://schemas.openxmlformats.org/presentationml/2006/ole">
            <mc:AlternateContent xmlns:mc="http://schemas.openxmlformats.org/markup-compatibility/2006">
              <mc:Choice xmlns:v="urn:schemas-microsoft-com:vml" Requires="v">
                <p:oleObj name="Equation" r:id="rId13" imgW="2400120" imgH="241200" progId="Equation.DSMT4">
                  <p:embed/>
                </p:oleObj>
              </mc:Choice>
              <mc:Fallback>
                <p:oleObj name="Equation" r:id="rId13" imgW="2400120" imgH="241200" progId="Equation.DSMT4">
                  <p:embed/>
                  <p:pic>
                    <p:nvPicPr>
                      <p:cNvPr id="4" name="对象 3"/>
                      <p:cNvPicPr>
                        <a:picLocks noChangeAspect="1" noChangeArrowheads="1"/>
                      </p:cNvPicPr>
                      <p:nvPr/>
                    </p:nvPicPr>
                    <p:blipFill>
                      <a:blip r:embed="rId14"/>
                      <a:srcRect/>
                      <a:stretch>
                        <a:fillRect/>
                      </a:stretch>
                    </p:blipFill>
                    <p:spPr bwMode="auto">
                      <a:xfrm>
                        <a:off x="6337480" y="5341692"/>
                        <a:ext cx="4800240" cy="48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Line 42">
            <a:extLst>
              <a:ext uri="{FF2B5EF4-FFF2-40B4-BE49-F238E27FC236}">
                <a16:creationId xmlns:a16="http://schemas.microsoft.com/office/drawing/2014/main" id="{F1C32831-23C8-4137-AB85-C1075A8FBE55}"/>
              </a:ext>
            </a:extLst>
          </p:cNvPr>
          <p:cNvSpPr>
            <a:spLocks noChangeShapeType="1"/>
          </p:cNvSpPr>
          <p:nvPr/>
        </p:nvSpPr>
        <p:spPr bwMode="auto">
          <a:xfrm>
            <a:off x="1631504" y="6021288"/>
            <a:ext cx="95062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0-#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whoosh.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0-#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0-#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whoosh.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9" presetClass="entr" presetSubtype="1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p:cTn id="41" dur="5000" fill="hold"/>
                                        <p:tgtEl>
                                          <p:spTgt spid="16"/>
                                        </p:tgtEl>
                                        <p:attrNameLst>
                                          <p:attrName>ppt_w</p:attrName>
                                        </p:attrNameLst>
                                      </p:cBhvr>
                                      <p:tavLst>
                                        <p:tav tm="0" fmla="#ppt_w*sin(2.5*pi*$)">
                                          <p:val>
                                            <p:fltVal val="0"/>
                                          </p:val>
                                        </p:tav>
                                        <p:tav tm="100000">
                                          <p:val>
                                            <p:fltVal val="1"/>
                                          </p:val>
                                        </p:tav>
                                      </p:tavLst>
                                    </p:anim>
                                    <p:anim calcmode="lin" valueType="num">
                                      <p:cBhvr>
                                        <p:cTn id="42" dur="5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arn(outHorizontal)">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 calcmode="lin" valueType="num">
                                      <p:cBhvr additive="base">
                                        <p:cTn id="52" dur="500" fill="hold"/>
                                        <p:tgtEl>
                                          <p:spTgt spid="3"/>
                                        </p:tgtEl>
                                        <p:attrNameLst>
                                          <p:attrName>ppt_x</p:attrName>
                                        </p:attrNameLst>
                                      </p:cBhvr>
                                      <p:tavLst>
                                        <p:tav tm="0">
                                          <p:val>
                                            <p:strVal val="0-#ppt_w/2"/>
                                          </p:val>
                                        </p:tav>
                                        <p:tav tm="100000">
                                          <p:val>
                                            <p:strVal val="#ppt_x"/>
                                          </p:val>
                                        </p:tav>
                                      </p:tavLst>
                                    </p:anim>
                                    <p:anim calcmode="lin" valueType="num">
                                      <p:cBhvr additive="base">
                                        <p:cTn id="5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additive="base">
                                        <p:cTn id="58" dur="500" fill="hold"/>
                                        <p:tgtEl>
                                          <p:spTgt spid="4"/>
                                        </p:tgtEl>
                                        <p:attrNameLst>
                                          <p:attrName>ppt_x</p:attrName>
                                        </p:attrNameLst>
                                      </p:cBhvr>
                                      <p:tavLst>
                                        <p:tav tm="0">
                                          <p:val>
                                            <p:strVal val="0-#ppt_w/2"/>
                                          </p:val>
                                        </p:tav>
                                        <p:tav tm="100000">
                                          <p:val>
                                            <p:strVal val="#ppt_x"/>
                                          </p:val>
                                        </p:tav>
                                      </p:tavLst>
                                    </p:anim>
                                    <p:anim calcmode="lin" valueType="num">
                                      <p:cBhvr additive="base">
                                        <p:cTn id="59" dur="5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2" name="whoosh.wav"/>
                                        </p:tgtEl>
                                      </p:cMediaNode>
                                    </p:audio>
                                  </p:sub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0-#ppt_w/2"/>
                                          </p:val>
                                        </p:tav>
                                        <p:tav tm="100000">
                                          <p:val>
                                            <p:strVal val="#ppt_x"/>
                                          </p:val>
                                        </p:tav>
                                      </p:tavLst>
                                    </p:anim>
                                    <p:anim calcmode="lin" valueType="num">
                                      <p:cBhvr additive="base">
                                        <p:cTn id="65" dur="500" fill="hold"/>
                                        <p:tgtEl>
                                          <p:spTgt spid="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2"/>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6" name="Object 2"/>
          <p:cNvGraphicFramePr>
            <a:graphicFrameLocks noChangeAspect="1"/>
          </p:cNvGraphicFramePr>
          <p:nvPr/>
        </p:nvGraphicFramePr>
        <p:xfrm>
          <a:off x="911424" y="404664"/>
          <a:ext cx="9239250" cy="698500"/>
        </p:xfrm>
        <a:graphic>
          <a:graphicData uri="http://schemas.openxmlformats.org/presentationml/2006/ole">
            <mc:AlternateContent xmlns:mc="http://schemas.openxmlformats.org/markup-compatibility/2006">
              <mc:Choice xmlns:v="urn:schemas-microsoft-com:vml" Requires="v">
                <p:oleObj name="Equation" r:id="rId2" imgW="88696800" imgH="6705600" progId="Equation.DSMT4">
                  <p:embed/>
                </p:oleObj>
              </mc:Choice>
              <mc:Fallback>
                <p:oleObj name="Equation" r:id="rId2" imgW="88696800" imgH="6705600" progId="Equation.DSMT4">
                  <p:embed/>
                  <p:pic>
                    <p:nvPicPr>
                      <p:cNvPr id="134146" name="Object 2"/>
                      <p:cNvPicPr>
                        <a:picLocks noChangeAspect="1" noChangeArrowheads="1"/>
                      </p:cNvPicPr>
                      <p:nvPr/>
                    </p:nvPicPr>
                    <p:blipFill>
                      <a:blip r:embed="rId3"/>
                      <a:srcRect/>
                      <a:stretch>
                        <a:fillRect/>
                      </a:stretch>
                    </p:blipFill>
                    <p:spPr bwMode="auto">
                      <a:xfrm>
                        <a:off x="911424" y="404664"/>
                        <a:ext cx="92392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47" name="Object 3"/>
          <p:cNvGraphicFramePr>
            <a:graphicFrameLocks noChangeAspect="1"/>
          </p:cNvGraphicFramePr>
          <p:nvPr/>
        </p:nvGraphicFramePr>
        <p:xfrm>
          <a:off x="1641674" y="1393549"/>
          <a:ext cx="7778750" cy="698500"/>
        </p:xfrm>
        <a:graphic>
          <a:graphicData uri="http://schemas.openxmlformats.org/presentationml/2006/ole">
            <mc:AlternateContent xmlns:mc="http://schemas.openxmlformats.org/markup-compatibility/2006">
              <mc:Choice xmlns:v="urn:schemas-microsoft-com:vml" Requires="v">
                <p:oleObj name="Equation" r:id="rId4" imgW="74676000" imgH="6705600" progId="Equation.DSMT4">
                  <p:embed/>
                </p:oleObj>
              </mc:Choice>
              <mc:Fallback>
                <p:oleObj name="Equation" r:id="rId4" imgW="74676000" imgH="6705600" progId="Equation.DSMT4">
                  <p:embed/>
                  <p:pic>
                    <p:nvPicPr>
                      <p:cNvPr id="134147" name="Object 3"/>
                      <p:cNvPicPr>
                        <a:picLocks noChangeAspect="1" noChangeArrowheads="1"/>
                      </p:cNvPicPr>
                      <p:nvPr/>
                    </p:nvPicPr>
                    <p:blipFill>
                      <a:blip r:embed="rId5"/>
                      <a:srcRect/>
                      <a:stretch>
                        <a:fillRect/>
                      </a:stretch>
                    </p:blipFill>
                    <p:spPr bwMode="auto">
                      <a:xfrm>
                        <a:off x="1641674" y="1393549"/>
                        <a:ext cx="77787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矩形 9"/>
          <p:cNvSpPr/>
          <p:nvPr/>
        </p:nvSpPr>
        <p:spPr>
          <a:xfrm>
            <a:off x="623144" y="2255887"/>
            <a:ext cx="10585176"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The first-order equation is one equation with two unknowns. </a:t>
            </a: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7DBB3F-1BF1-467E-A4AF-05185A2DBC96}"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6" name="Rectangle 7"/>
          <p:cNvSpPr>
            <a:spLocks noChangeArrowheads="1"/>
          </p:cNvSpPr>
          <p:nvPr/>
        </p:nvSpPr>
        <p:spPr bwMode="auto">
          <a:xfrm>
            <a:off x="610561" y="5297290"/>
            <a:ext cx="110041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The first-order correction to the energy is an average of the perturbation operator over the unperturbed wave function</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Text Box 4"/>
          <p:cNvSpPr txBox="1">
            <a:spLocks noChangeArrowheads="1"/>
          </p:cNvSpPr>
          <p:nvPr/>
        </p:nvSpPr>
        <p:spPr bwMode="auto">
          <a:xfrm>
            <a:off x="1922418" y="3998934"/>
            <a:ext cx="11320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FF0000"/>
                </a:solidFill>
                <a:effectLst/>
                <a:uLnTx/>
                <a:uFillTx/>
                <a:latin typeface="Arial"/>
                <a:ea typeface="宋体" panose="02010600030101010101" pitchFamily="2" charset="-122"/>
                <a:cs typeface="+mn-cs"/>
              </a:rPr>
              <a:t>m </a:t>
            </a:r>
            <a:r>
              <a:rPr kumimoji="0" lang="en-US" altLang="zh-CN" sz="2800" b="1" i="0" u="none" strike="noStrike" kern="1200" cap="none" spc="0" normalizeH="0" baseline="0" noProof="0" dirty="0">
                <a:ln>
                  <a:noFill/>
                </a:ln>
                <a:solidFill>
                  <a:srgbClr val="FF0000"/>
                </a:solidFill>
                <a:effectLst/>
                <a:uLnTx/>
                <a:uFillTx/>
                <a:latin typeface="Arial"/>
                <a:ea typeface="宋体" panose="02010600030101010101" pitchFamily="2" charset="-122"/>
                <a:cs typeface="+mn-cs"/>
              </a:rPr>
              <a:t>= </a:t>
            </a:r>
            <a:r>
              <a:rPr kumimoji="0" lang="en-US" altLang="zh-CN" sz="2800" b="1" i="1" u="none" strike="noStrike" kern="1200" cap="none" spc="0" normalizeH="0" baseline="0" noProof="0" dirty="0">
                <a:ln>
                  <a:noFill/>
                </a:ln>
                <a:solidFill>
                  <a:srgbClr val="FF0000"/>
                </a:solidFill>
                <a:effectLst/>
                <a:uLnTx/>
                <a:uFillTx/>
                <a:latin typeface="Arial"/>
                <a:ea typeface="宋体" panose="02010600030101010101" pitchFamily="2" charset="-122"/>
                <a:cs typeface="+mn-cs"/>
              </a:rPr>
              <a:t>n</a:t>
            </a:r>
          </a:p>
        </p:txBody>
      </p:sp>
      <p:sp>
        <p:nvSpPr>
          <p:cNvPr id="8" name="矩形 7"/>
          <p:cNvSpPr/>
          <p:nvPr/>
        </p:nvSpPr>
        <p:spPr>
          <a:xfrm>
            <a:off x="634042" y="3140968"/>
            <a:ext cx="11089232" cy="46166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Use the condition of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kumimoji="0" lang="en-US" altLang="zh-CN" sz="2400" b="0" i="0" u="none" strike="noStrike" kern="120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mn</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 the first order energy correction can be: </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 name="对象 8"/>
          <p:cNvGraphicFramePr>
            <a:graphicFrameLocks noChangeAspect="1"/>
          </p:cNvGraphicFramePr>
          <p:nvPr/>
        </p:nvGraphicFramePr>
        <p:xfrm>
          <a:off x="3362578" y="3849886"/>
          <a:ext cx="5743575" cy="600075"/>
        </p:xfrm>
        <a:graphic>
          <a:graphicData uri="http://schemas.openxmlformats.org/presentationml/2006/ole">
            <mc:AlternateContent xmlns:mc="http://schemas.openxmlformats.org/markup-compatibility/2006">
              <mc:Choice xmlns:v="urn:schemas-microsoft-com:vml" Requires="v">
                <p:oleObj name="公式" r:id="rId6" imgW="5740400" imgH="596900" progId="Equation.3">
                  <p:embed/>
                </p:oleObj>
              </mc:Choice>
              <mc:Fallback>
                <p:oleObj name="公式" r:id="rId6" imgW="5740400" imgH="596900" progId="Equation.3">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2578" y="3849886"/>
                        <a:ext cx="5743575"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3219702" y="4530083"/>
          <a:ext cx="6029325" cy="542925"/>
        </p:xfrm>
        <a:graphic>
          <a:graphicData uri="http://schemas.openxmlformats.org/presentationml/2006/ole">
            <mc:AlternateContent xmlns:mc="http://schemas.openxmlformats.org/markup-compatibility/2006">
              <mc:Choice xmlns:v="urn:schemas-microsoft-com:vml" Requires="v">
                <p:oleObj name="公式" r:id="rId8" imgW="6032500" imgH="546100" progId="Equation.3">
                  <p:embed/>
                </p:oleObj>
              </mc:Choice>
              <mc:Fallback>
                <p:oleObj name="公式" r:id="rId8" imgW="6032500" imgH="546100" progId="Equation.3">
                  <p:embed/>
                  <p:pic>
                    <p:nvPicPr>
                      <p:cNvPr id="11" name="对象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9702" y="4530083"/>
                        <a:ext cx="60293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圆角矩形 2"/>
          <p:cNvSpPr/>
          <p:nvPr/>
        </p:nvSpPr>
        <p:spPr bwMode="auto">
          <a:xfrm>
            <a:off x="407368" y="3068960"/>
            <a:ext cx="11449272" cy="3176265"/>
          </a:xfrm>
          <a:prstGeom prst="roundRect">
            <a:avLst/>
          </a:prstGeom>
          <a:noFill/>
          <a:ln w="19050">
            <a:solidFill>
              <a:srgbClr val="FF0000"/>
            </a:solidFill>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FC33685-D5CC-410C-A3CF-BBFA07022285}" type="slidenum">
              <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132103" name="Text Box 7"/>
          <p:cNvSpPr txBox="1">
            <a:spLocks noChangeArrowheads="1"/>
          </p:cNvSpPr>
          <p:nvPr/>
        </p:nvSpPr>
        <p:spPr bwMode="auto">
          <a:xfrm>
            <a:off x="805961" y="489147"/>
            <a:ext cx="1827744" cy="52322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宋体"/>
                <a:cs typeface="+mn-cs"/>
              </a:rPr>
              <a:t>Example 1:</a:t>
            </a:r>
          </a:p>
        </p:txBody>
      </p:sp>
      <p:sp>
        <p:nvSpPr>
          <p:cNvPr id="132099" name="Rectangle 3"/>
          <p:cNvSpPr>
            <a:spLocks noChangeArrowheads="1"/>
          </p:cNvSpPr>
          <p:nvPr/>
        </p:nvSpPr>
        <p:spPr bwMode="auto">
          <a:xfrm>
            <a:off x="223333" y="1425876"/>
            <a:ext cx="4724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132101" name="Object 5"/>
          <p:cNvGraphicFramePr>
            <a:graphicFrameLocks noChangeAspect="1"/>
          </p:cNvGraphicFramePr>
          <p:nvPr/>
        </p:nvGraphicFramePr>
        <p:xfrm>
          <a:off x="5939365" y="1108713"/>
          <a:ext cx="3047400" cy="1206000"/>
        </p:xfrm>
        <a:graphic>
          <a:graphicData uri="http://schemas.openxmlformats.org/presentationml/2006/ole">
            <mc:AlternateContent xmlns:mc="http://schemas.openxmlformats.org/markup-compatibility/2006">
              <mc:Choice xmlns:v="urn:schemas-microsoft-com:vml" Requires="v">
                <p:oleObj name="Equation" r:id="rId3" imgW="1218565" imgH="482600" progId="Equation.DSMT4">
                  <p:embed/>
                </p:oleObj>
              </mc:Choice>
              <mc:Fallback>
                <p:oleObj name="Equation" r:id="rId3" imgW="1218565" imgH="482600" progId="Equation.DSMT4">
                  <p:embed/>
                  <p:pic>
                    <p:nvPicPr>
                      <p:cNvPr id="1321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9365" y="1108713"/>
                        <a:ext cx="3047400" cy="120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5" name="Object 9"/>
          <p:cNvGraphicFramePr>
            <a:graphicFrameLocks noChangeAspect="1"/>
          </p:cNvGraphicFramePr>
          <p:nvPr/>
        </p:nvGraphicFramePr>
        <p:xfrm>
          <a:off x="2568575" y="2408238"/>
          <a:ext cx="3460750" cy="762000"/>
        </p:xfrm>
        <a:graphic>
          <a:graphicData uri="http://schemas.openxmlformats.org/presentationml/2006/ole">
            <mc:AlternateContent xmlns:mc="http://schemas.openxmlformats.org/markup-compatibility/2006">
              <mc:Choice xmlns:v="urn:schemas-microsoft-com:vml" Requires="v">
                <p:oleObj name="Equation" r:id="rId5" imgW="1384200" imgH="304560" progId="Equation.DSMT4">
                  <p:embed/>
                </p:oleObj>
              </mc:Choice>
              <mc:Fallback>
                <p:oleObj name="Equation" r:id="rId5" imgW="1384200" imgH="304560" progId="Equation.DSMT4">
                  <p:embed/>
                  <p:pic>
                    <p:nvPicPr>
                      <p:cNvPr id="132105" name="Object 9"/>
                      <p:cNvPicPr>
                        <a:picLocks noChangeAspect="1" noChangeArrowheads="1"/>
                      </p:cNvPicPr>
                      <p:nvPr/>
                    </p:nvPicPr>
                    <p:blipFill>
                      <a:blip r:embed="rId6"/>
                      <a:srcRect/>
                      <a:stretch>
                        <a:fillRect/>
                      </a:stretch>
                    </p:blipFill>
                    <p:spPr bwMode="auto">
                      <a:xfrm>
                        <a:off x="2568575" y="2408238"/>
                        <a:ext cx="346075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6" name="Object 10"/>
          <p:cNvGraphicFramePr>
            <a:graphicFrameLocks noChangeAspect="1"/>
          </p:cNvGraphicFramePr>
          <p:nvPr/>
        </p:nvGraphicFramePr>
        <p:xfrm>
          <a:off x="1017588" y="1395413"/>
          <a:ext cx="3810000" cy="539750"/>
        </p:xfrm>
        <a:graphic>
          <a:graphicData uri="http://schemas.openxmlformats.org/presentationml/2006/ole">
            <mc:AlternateContent xmlns:mc="http://schemas.openxmlformats.org/markup-compatibility/2006">
              <mc:Choice xmlns:v="urn:schemas-microsoft-com:vml" Requires="v">
                <p:oleObj name="Equation" r:id="rId7" imgW="1523880" imgH="215640" progId="Equation.DSMT4">
                  <p:embed/>
                </p:oleObj>
              </mc:Choice>
              <mc:Fallback>
                <p:oleObj name="Equation" r:id="rId7" imgW="1523880" imgH="215640" progId="Equation.DSMT4">
                  <p:embed/>
                  <p:pic>
                    <p:nvPicPr>
                      <p:cNvPr id="132106" name="Object 10"/>
                      <p:cNvPicPr>
                        <a:picLocks noChangeAspect="1" noChangeArrowheads="1"/>
                      </p:cNvPicPr>
                      <p:nvPr/>
                    </p:nvPicPr>
                    <p:blipFill>
                      <a:blip r:embed="rId8"/>
                      <a:srcRect/>
                      <a:stretch>
                        <a:fillRect/>
                      </a:stretch>
                    </p:blipFill>
                    <p:spPr bwMode="auto">
                      <a:xfrm>
                        <a:off x="1017588" y="1395413"/>
                        <a:ext cx="381000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p:cNvSpPr txBox="1"/>
          <p:nvPr/>
        </p:nvSpPr>
        <p:spPr>
          <a:xfrm>
            <a:off x="2855640" y="564262"/>
            <a:ext cx="4264309"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High level of harmonic oscillator</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9" name="对象 8"/>
          <p:cNvGraphicFramePr>
            <a:graphicFrameLocks noChangeAspect="1"/>
          </p:cNvGraphicFramePr>
          <p:nvPr/>
        </p:nvGraphicFramePr>
        <p:xfrm>
          <a:off x="3082434" y="3948065"/>
          <a:ext cx="4667250" cy="1206500"/>
        </p:xfrm>
        <a:graphic>
          <a:graphicData uri="http://schemas.openxmlformats.org/presentationml/2006/ole">
            <mc:AlternateContent xmlns:mc="http://schemas.openxmlformats.org/markup-compatibility/2006">
              <mc:Choice xmlns:v="urn:schemas-microsoft-com:vml" Requires="v">
                <p:oleObj name="Equation" r:id="rId9" imgW="1866900" imgH="482600" progId="Equation.DSMT4">
                  <p:embed/>
                </p:oleObj>
              </mc:Choice>
              <mc:Fallback>
                <p:oleObj name="Equation" r:id="rId9" imgW="1866900" imgH="482600" progId="Equation.DSMT4">
                  <p:embed/>
                  <p:pic>
                    <p:nvPicPr>
                      <p:cNvPr id="9" name="对象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2434" y="3948065"/>
                        <a:ext cx="4667250"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对象 9"/>
          <p:cNvGraphicFramePr>
            <a:graphicFrameLocks noChangeAspect="1"/>
          </p:cNvGraphicFramePr>
          <p:nvPr/>
        </p:nvGraphicFramePr>
        <p:xfrm>
          <a:off x="7893324" y="4059403"/>
          <a:ext cx="1079033" cy="983823"/>
        </p:xfrm>
        <a:graphic>
          <a:graphicData uri="http://schemas.openxmlformats.org/presentationml/2006/ole">
            <mc:AlternateContent xmlns:mc="http://schemas.openxmlformats.org/markup-compatibility/2006">
              <mc:Choice xmlns:v="urn:schemas-microsoft-com:vml" Requires="v">
                <p:oleObj name="Equation" r:id="rId11" imgW="431800" imgH="393700" progId="Equation.DSMT4">
                  <p:embed/>
                </p:oleObj>
              </mc:Choice>
              <mc:Fallback>
                <p:oleObj name="Equation" r:id="rId11" imgW="431800" imgH="393700" progId="Equation.DSMT4">
                  <p:embed/>
                  <p:pic>
                    <p:nvPicPr>
                      <p:cNvPr id="10" name="对象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93324" y="4059403"/>
                        <a:ext cx="1079033" cy="9838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对象 10"/>
          <p:cNvGraphicFramePr>
            <a:graphicFrameLocks noChangeAspect="1"/>
          </p:cNvGraphicFramePr>
          <p:nvPr/>
        </p:nvGraphicFramePr>
        <p:xfrm>
          <a:off x="3125165" y="3178832"/>
          <a:ext cx="3968750" cy="698500"/>
        </p:xfrm>
        <a:graphic>
          <a:graphicData uri="http://schemas.openxmlformats.org/presentationml/2006/ole">
            <mc:AlternateContent xmlns:mc="http://schemas.openxmlformats.org/markup-compatibility/2006">
              <mc:Choice xmlns:v="urn:schemas-microsoft-com:vml" Requires="v">
                <p:oleObj name="Equation" r:id="rId13" imgW="38100000" imgH="6705600" progId="Equation.DSMT4">
                  <p:embed/>
                </p:oleObj>
              </mc:Choice>
              <mc:Fallback>
                <p:oleObj name="Equation" r:id="rId13" imgW="38100000" imgH="6705600" progId="Equation.DSMT4">
                  <p:embed/>
                  <p:pic>
                    <p:nvPicPr>
                      <p:cNvPr id="11" name="对象 10"/>
                      <p:cNvPicPr>
                        <a:picLocks noChangeAspect="1" noChangeArrowheads="1"/>
                      </p:cNvPicPr>
                      <p:nvPr/>
                    </p:nvPicPr>
                    <p:blipFill>
                      <a:blip r:embed="rId14"/>
                      <a:srcRect/>
                      <a:stretch>
                        <a:fillRect/>
                      </a:stretch>
                    </p:blipFill>
                    <p:spPr bwMode="auto">
                      <a:xfrm>
                        <a:off x="3125165" y="3178832"/>
                        <a:ext cx="39687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610410" y="468977"/>
            <a:ext cx="1827744" cy="52322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宋体"/>
                <a:cs typeface="+mn-cs"/>
              </a:rPr>
              <a:t>Example 2:</a:t>
            </a:r>
          </a:p>
        </p:txBody>
      </p:sp>
      <p:sp>
        <p:nvSpPr>
          <p:cNvPr id="8" name="TextBox 7"/>
          <p:cNvSpPr txBox="1"/>
          <p:nvPr/>
        </p:nvSpPr>
        <p:spPr>
          <a:xfrm>
            <a:off x="551384" y="1196752"/>
            <a:ext cx="11233248" cy="1384995"/>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If the </a:t>
            </a:r>
            <a:r>
              <a:rPr kumimoji="0" lang="en-US" altLang="zh-CN" sz="28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perturbated</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Hamiltonian is a constant amount, V</a:t>
            </a:r>
            <a:r>
              <a:rPr kumimoji="0" lang="en-US" altLang="zh-CN" sz="2800" b="0"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What is the first order correction</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1A97D28-3A0C-4131-B144-633F1367F278}" type="slidenum">
              <a:rPr kumimoji="0" lang="en-US" altLang="zh-CN" sz="1400" b="0" i="0" u="none" strike="noStrike" kern="1200" cap="none" spc="0" normalizeH="0" baseline="0" noProof="0" smtClean="0">
                <a:ln>
                  <a:noFill/>
                </a:ln>
                <a:solidFill>
                  <a:srgbClr val="000000"/>
                </a:solidFill>
                <a:effectLst/>
                <a:uLnTx/>
                <a:uFillTx/>
                <a:latin typeface="Arial"/>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zh-CN" sz="1400" b="0" i="0" u="none" strike="noStrike" kern="1200" cap="none" spc="0" normalizeH="0" baseline="0" noProof="0">
              <a:ln>
                <a:noFill/>
              </a:ln>
              <a:solidFill>
                <a:srgbClr val="000000"/>
              </a:solidFill>
              <a:effectLst/>
              <a:uLnTx/>
              <a:uFillTx/>
              <a:latin typeface="Arial"/>
              <a:ea typeface="宋体" panose="02010600030101010101" pitchFamily="2" charset="-122"/>
              <a:cs typeface="+mn-cs"/>
            </a:endParaRPr>
          </a:p>
        </p:txBody>
      </p:sp>
      <p:sp>
        <p:nvSpPr>
          <p:cNvPr id="5" name="Text Box 7"/>
          <p:cNvSpPr txBox="1">
            <a:spLocks noChangeArrowheads="1"/>
          </p:cNvSpPr>
          <p:nvPr/>
        </p:nvSpPr>
        <p:spPr bwMode="auto">
          <a:xfrm>
            <a:off x="609574" y="3056012"/>
            <a:ext cx="1827744" cy="523220"/>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宋体"/>
                <a:cs typeface="+mn-cs"/>
              </a:rPr>
              <a:t>Example 3:</a:t>
            </a:r>
          </a:p>
        </p:txBody>
      </p:sp>
      <p:sp>
        <p:nvSpPr>
          <p:cNvPr id="6" name="TextBox 7"/>
          <p:cNvSpPr txBox="1"/>
          <p:nvPr/>
        </p:nvSpPr>
        <p:spPr>
          <a:xfrm>
            <a:off x="575638" y="3809290"/>
            <a:ext cx="11074598" cy="1708160"/>
          </a:xfrm>
          <a:prstGeom prst="rect">
            <a:avLst/>
          </a:prstGeom>
          <a:noFill/>
        </p:spPr>
        <p:txBody>
          <a:bodyPr wrap="square" rtlCol="0">
            <a:spAutoFit/>
          </a:body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 1-dimensional box potential is </a:t>
            </a:r>
            <a:r>
              <a:rPr kumimoji="0" lang="en-US" altLang="zh-CN" sz="28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perturbated</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so that it is raised by a constant amount, a, in the half of the box, and lowered by a in the right half. What is the first order change in energy for the lowest energy state </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1?</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3aea453-348a-4847-adc9-751cc0b78bed"/>
  <p:tag name="COMMONDATA" val="eyJoZGlkIjoiOTQyOThlNDJhZDY5MDdlNzJmMmU1YWI3ZWJjZTYwM2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4296</TotalTime>
  <Words>3061</Words>
  <Application>Microsoft Office PowerPoint</Application>
  <PresentationFormat>宽屏</PresentationFormat>
  <Paragraphs>236</Paragraphs>
  <Slides>61</Slides>
  <Notes>5</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3</vt:i4>
      </vt:variant>
      <vt:variant>
        <vt:lpstr>幻灯片标题</vt:lpstr>
      </vt:variant>
      <vt:variant>
        <vt:i4>61</vt:i4>
      </vt:variant>
    </vt:vector>
  </HeadingPairs>
  <TitlesOfParts>
    <vt:vector size="76" baseType="lpstr">
      <vt:lpstr>quote-cjk-patch</vt:lpstr>
      <vt:lpstr>等线</vt:lpstr>
      <vt:lpstr>黑体</vt:lpstr>
      <vt:lpstr>Arial</vt:lpstr>
      <vt:lpstr>Calibri</vt:lpstr>
      <vt:lpstr>Calibri Light</vt:lpstr>
      <vt:lpstr>Cambria Math</vt:lpstr>
      <vt:lpstr>Symbol</vt:lpstr>
      <vt:lpstr>Times New Roman</vt:lpstr>
      <vt:lpstr>Verdana</vt:lpstr>
      <vt:lpstr>Office 主题​​</vt:lpstr>
      <vt:lpstr>默认设计模板</vt:lpstr>
      <vt:lpstr>Equation</vt:lpstr>
      <vt:lpstr>公式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Xiamen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Peifeng Su</dc:creator>
  <cp:lastModifiedBy>8618150104212</cp:lastModifiedBy>
  <cp:revision>311</cp:revision>
  <dcterms:created xsi:type="dcterms:W3CDTF">2020-09-01T09:11:00Z</dcterms:created>
  <dcterms:modified xsi:type="dcterms:W3CDTF">2025-10-14T15:05:53Z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0ED42559EDBC4B75B4E906DB13DE9579</vt:lpwstr>
  </property>
  <property fmtid="{D5CDD505-2E9C-101B-9397-08002B2CF9AE}" pid="3" name="KSOProductBuildVer">
    <vt:lpwstr>2052-11.1.0.12358</vt:lpwstr>
  </property>
</Properties>
</file>