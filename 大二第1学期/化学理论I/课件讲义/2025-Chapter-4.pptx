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341" r:id="rId3"/>
    <p:sldId id="320" r:id="rId4"/>
    <p:sldId id="346" r:id="rId5"/>
    <p:sldId id="342" r:id="rId6"/>
    <p:sldId id="267" r:id="rId8"/>
    <p:sldId id="324" r:id="rId9"/>
    <p:sldId id="343" r:id="rId10"/>
    <p:sldId id="607" r:id="rId11"/>
    <p:sldId id="281" r:id="rId12"/>
    <p:sldId id="318" r:id="rId13"/>
    <p:sldId id="310" r:id="rId14"/>
    <p:sldId id="282" r:id="rId15"/>
    <p:sldId id="283" r:id="rId16"/>
    <p:sldId id="284" r:id="rId17"/>
    <p:sldId id="285" r:id="rId18"/>
    <p:sldId id="286" r:id="rId19"/>
    <p:sldId id="311" r:id="rId20"/>
    <p:sldId id="319" r:id="rId21"/>
    <p:sldId id="315" r:id="rId22"/>
    <p:sldId id="312" r:id="rId23"/>
    <p:sldId id="287" r:id="rId24"/>
    <p:sldId id="288" r:id="rId25"/>
    <p:sldId id="308" r:id="rId26"/>
    <p:sldId id="309" r:id="rId27"/>
    <p:sldId id="301" r:id="rId28"/>
    <p:sldId id="302" r:id="rId29"/>
    <p:sldId id="314" r:id="rId30"/>
    <p:sldId id="316" r:id="rId31"/>
    <p:sldId id="304" r:id="rId32"/>
    <p:sldId id="289" r:id="rId33"/>
    <p:sldId id="290" r:id="rId34"/>
    <p:sldId id="291" r:id="rId35"/>
    <p:sldId id="306" r:id="rId36"/>
    <p:sldId id="292" r:id="rId37"/>
    <p:sldId id="293" r:id="rId38"/>
    <p:sldId id="307" r:id="rId39"/>
    <p:sldId id="294" r:id="rId40"/>
    <p:sldId id="295" r:id="rId41"/>
    <p:sldId id="317" r:id="rId42"/>
  </p:sldIdLst>
  <p:sldSz cx="12192000" cy="6858000"/>
  <p:notesSz cx="6858000" cy="9144000"/>
  <p:custDataLst>
    <p:tags r:id="rId4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6" Type="http://schemas.openxmlformats.org/officeDocument/2006/relationships/tags" Target="tags/tag7.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4" Type="http://schemas.openxmlformats.org/officeDocument/2006/relationships/image" Target="../media/image4.wmf"/><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5" Type="http://schemas.openxmlformats.org/officeDocument/2006/relationships/image" Target="../media/image9.wmf"/><Relationship Id="rId4" Type="http://schemas.openxmlformats.org/officeDocument/2006/relationships/image" Target="../media/image8.wmf"/><Relationship Id="rId3" Type="http://schemas.openxmlformats.org/officeDocument/2006/relationships/image" Target="../media/image7.wmf"/><Relationship Id="rId2" Type="http://schemas.openxmlformats.org/officeDocument/2006/relationships/image" Target="../media/image6.e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7" Type="http://schemas.openxmlformats.org/officeDocument/2006/relationships/image" Target="../media/image16.wmf"/><Relationship Id="rId6" Type="http://schemas.openxmlformats.org/officeDocument/2006/relationships/image" Target="../media/image15.wmf"/><Relationship Id="rId5" Type="http://schemas.openxmlformats.org/officeDocument/2006/relationships/image" Target="../media/image14.wmf"/><Relationship Id="rId4" Type="http://schemas.openxmlformats.org/officeDocument/2006/relationships/image" Target="../media/image13.wmf"/><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27.emf"/><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4" Type="http://schemas.openxmlformats.org/officeDocument/2006/relationships/image" Target="../media/image32.wmf"/><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8.vml.rels><?xml version="1.0" encoding="UTF-8" standalone="yes"?>
<Relationships xmlns="http://schemas.openxmlformats.org/package/2006/relationships"><Relationship Id="rId6" Type="http://schemas.openxmlformats.org/officeDocument/2006/relationships/image" Target="../media/image38.wmf"/><Relationship Id="rId5" Type="http://schemas.openxmlformats.org/officeDocument/2006/relationships/image" Target="../media/image37.wmf"/><Relationship Id="rId4" Type="http://schemas.openxmlformats.org/officeDocument/2006/relationships/image" Target="../media/image36.wmf"/><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9.vml.rels><?xml version="1.0" encoding="UTF-8" standalone="yes"?>
<Relationships xmlns="http://schemas.openxmlformats.org/package/2006/relationships"><Relationship Id="rId4" Type="http://schemas.openxmlformats.org/officeDocument/2006/relationships/image" Target="../media/image43.wmf"/><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drawings/_rels/vmlDrawing10.vml.rels><?xml version="1.0" encoding="UTF-8" standalone="yes"?>
<Relationships xmlns="http://schemas.openxmlformats.org/package/2006/relationships"><Relationship Id="rId5" Type="http://schemas.openxmlformats.org/officeDocument/2006/relationships/image" Target="../media/image48.emf"/><Relationship Id="rId4" Type="http://schemas.openxmlformats.org/officeDocument/2006/relationships/image" Target="../media/image47.emf"/><Relationship Id="rId3" Type="http://schemas.openxmlformats.org/officeDocument/2006/relationships/image" Target="../media/image46.emf"/><Relationship Id="rId2" Type="http://schemas.openxmlformats.org/officeDocument/2006/relationships/image" Target="../media/image45.emf"/><Relationship Id="rId1" Type="http://schemas.openxmlformats.org/officeDocument/2006/relationships/image" Target="../media/image44.emf"/></Relationships>
</file>

<file path=ppt/drawings/_rels/vmlDrawing11.vml.rels><?xml version="1.0" encoding="UTF-8" standalone="yes"?>
<Relationships xmlns="http://schemas.openxmlformats.org/package/2006/relationships"><Relationship Id="rId7" Type="http://schemas.openxmlformats.org/officeDocument/2006/relationships/image" Target="../media/image56.wmf"/><Relationship Id="rId6" Type="http://schemas.openxmlformats.org/officeDocument/2006/relationships/image" Target="../media/image55.wmf"/><Relationship Id="rId5" Type="http://schemas.openxmlformats.org/officeDocument/2006/relationships/image" Target="../media/image54.wmf"/><Relationship Id="rId4" Type="http://schemas.openxmlformats.org/officeDocument/2006/relationships/image" Target="../media/image53.wmf"/><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s>
</file>

<file path=ppt/drawings/_rels/vmlDrawing13.vml.rels><?xml version="1.0" encoding="UTF-8" standalone="yes"?>
<Relationships xmlns="http://schemas.openxmlformats.org/package/2006/relationships"><Relationship Id="rId4" Type="http://schemas.openxmlformats.org/officeDocument/2006/relationships/image" Target="../media/image67.wmf"/><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70.wmf"/><Relationship Id="rId1" Type="http://schemas.openxmlformats.org/officeDocument/2006/relationships/image" Target="../media/image69.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70.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76.wmf"/><Relationship Id="rId1" Type="http://schemas.openxmlformats.org/officeDocument/2006/relationships/image" Target="../media/image74.wmf"/></Relationships>
</file>

<file path=ppt/drawings/_rels/vmlDrawing17.vml.rels><?xml version="1.0" encoding="UTF-8" standalone="yes"?>
<Relationships xmlns="http://schemas.openxmlformats.org/package/2006/relationships"><Relationship Id="rId4" Type="http://schemas.openxmlformats.org/officeDocument/2006/relationships/image" Target="../media/image80.wmf"/><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83.wmf"/><Relationship Id="rId1" Type="http://schemas.openxmlformats.org/officeDocument/2006/relationships/image" Target="../media/image82.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85.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89.wmf"/></Relationships>
</file>

<file path=ppt/drawings/_rels/vmlDrawing21.vml.rels><?xml version="1.0" encoding="UTF-8" standalone="yes"?>
<Relationships xmlns="http://schemas.openxmlformats.org/package/2006/relationships"><Relationship Id="rId4" Type="http://schemas.openxmlformats.org/officeDocument/2006/relationships/image" Target="../media/image95.wmf"/><Relationship Id="rId3" Type="http://schemas.openxmlformats.org/officeDocument/2006/relationships/image" Target="../media/image94.wmf"/><Relationship Id="rId2" Type="http://schemas.openxmlformats.org/officeDocument/2006/relationships/image" Target="../media/image93.wmf"/><Relationship Id="rId1" Type="http://schemas.openxmlformats.org/officeDocument/2006/relationships/image" Target="../media/image92.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105.wmf"/><Relationship Id="rId1" Type="http://schemas.openxmlformats.org/officeDocument/2006/relationships/image" Target="../media/image103.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09.wmf"/><Relationship Id="rId2" Type="http://schemas.openxmlformats.org/officeDocument/2006/relationships/image" Target="../media/image108.wmf"/><Relationship Id="rId1" Type="http://schemas.openxmlformats.org/officeDocument/2006/relationships/image" Target="../media/image107.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14.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18.wmf"/><Relationship Id="rId2" Type="http://schemas.openxmlformats.org/officeDocument/2006/relationships/image" Target="../media/image117.wmf"/><Relationship Id="rId1" Type="http://schemas.openxmlformats.org/officeDocument/2006/relationships/image" Target="../media/image116.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22.wmf"/><Relationship Id="rId2" Type="http://schemas.openxmlformats.org/officeDocument/2006/relationships/image" Target="../media/image121.wmf"/><Relationship Id="rId1" Type="http://schemas.openxmlformats.org/officeDocument/2006/relationships/image" Target="../media/image120.wmf"/></Relationships>
</file>

<file path=ppt/drawings/_rels/vmlDrawing28.vml.rels><?xml version="1.0" encoding="UTF-8" standalone="yes"?>
<Relationships xmlns="http://schemas.openxmlformats.org/package/2006/relationships"><Relationship Id="rId6" Type="http://schemas.openxmlformats.org/officeDocument/2006/relationships/image" Target="../media/image129.wmf"/><Relationship Id="rId5" Type="http://schemas.openxmlformats.org/officeDocument/2006/relationships/image" Target="../media/image128.wmf"/><Relationship Id="rId4" Type="http://schemas.openxmlformats.org/officeDocument/2006/relationships/image" Target="../media/image127.wmf"/><Relationship Id="rId3" Type="http://schemas.openxmlformats.org/officeDocument/2006/relationships/image" Target="../media/image126.wmf"/><Relationship Id="rId2" Type="http://schemas.openxmlformats.org/officeDocument/2006/relationships/image" Target="../media/image124.wmf"/><Relationship Id="rId1" Type="http://schemas.openxmlformats.org/officeDocument/2006/relationships/image" Target="../media/image123.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32.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34.wmf"/></Relationships>
</file>

<file path=ppt/drawings/_rels/vmlDrawing31.vml.rels><?xml version="1.0" encoding="UTF-8" standalone="yes"?>
<Relationships xmlns="http://schemas.openxmlformats.org/package/2006/relationships"><Relationship Id="rId5" Type="http://schemas.openxmlformats.org/officeDocument/2006/relationships/image" Target="../media/image143.wmf"/><Relationship Id="rId4" Type="http://schemas.openxmlformats.org/officeDocument/2006/relationships/image" Target="../media/image142.wmf"/><Relationship Id="rId3" Type="http://schemas.openxmlformats.org/officeDocument/2006/relationships/image" Target="../media/image141.wmf"/><Relationship Id="rId2" Type="http://schemas.openxmlformats.org/officeDocument/2006/relationships/image" Target="../media/image140.wmf"/><Relationship Id="rId1" Type="http://schemas.openxmlformats.org/officeDocument/2006/relationships/image" Target="../media/image13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F5B332-1B88-42DC-9C21-F15B5F752BE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9512DF-487B-4BF8-8ED0-F93305C696F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D51FAC-898F-4C4F-A271-9BDA9A824A8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2719E6-3560-4DBA-B75B-794490B1FB52}"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19512DF-487B-4BF8-8ED0-F93305C696F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1D6B8DD7-CE72-4535-9E01-9E96680D1563}"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6747B4F-A7B4-49A1-AC54-04FFE958FEF4}"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fld id="{CD6EA1B8-30CC-4635-989C-137A0CFF58CA}"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9D05DBAD-F24D-44F2-866E-998AE401FA73}"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FE9FEC0F-700D-4F82-83AB-87DB5269A623}" type="datetime1">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D1280A8-DF7A-4873-BD8B-E5A0B54113C7}" type="datetime1">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73BA3F-1F77-4783-8222-244727B14706}" type="datetime1">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6623F3F7-16F6-4FE5-B2A7-432E527D9257}"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9555C5F7-BF64-4678-AEC2-CC602CD2377D}"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63106D3B-83D8-4ACD-BEAA-44C7B087202E}"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99308B1A-911A-443F-B030-F9D790C74AAD}"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247699-A823-45FE-A199-7B3C8B073807}" type="datetime1">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9849EA-18B3-4CA7-9730-C7EE55E9A15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wmf"/><Relationship Id="rId7" Type="http://schemas.openxmlformats.org/officeDocument/2006/relationships/oleObject" Target="../embeddings/oleObject4.bin"/><Relationship Id="rId6" Type="http://schemas.openxmlformats.org/officeDocument/2006/relationships/image" Target="../media/image3.wmf"/><Relationship Id="rId5" Type="http://schemas.openxmlformats.org/officeDocument/2006/relationships/oleObject" Target="../embeddings/oleObject3.bin"/><Relationship Id="rId4" Type="http://schemas.openxmlformats.org/officeDocument/2006/relationships/image" Target="../media/image2.wmf"/><Relationship Id="rId3" Type="http://schemas.openxmlformats.org/officeDocument/2006/relationships/oleObject" Target="../embeddings/oleObject2.bin"/><Relationship Id="rId2" Type="http://schemas.openxmlformats.org/officeDocument/2006/relationships/image" Target="../media/image1.wmf"/><Relationship Id="rId10" Type="http://schemas.openxmlformats.org/officeDocument/2006/relationships/vmlDrawing" Target="../drawings/vmlDrawing1.vml"/><Relationship Id="rId1"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9" Type="http://schemas.openxmlformats.org/officeDocument/2006/relationships/oleObject" Target="../embeddings/oleObject9.bin"/><Relationship Id="rId8" Type="http://schemas.openxmlformats.org/officeDocument/2006/relationships/image" Target="../media/image8.wmf"/><Relationship Id="rId7" Type="http://schemas.openxmlformats.org/officeDocument/2006/relationships/oleObject" Target="../embeddings/oleObject8.bin"/><Relationship Id="rId6" Type="http://schemas.openxmlformats.org/officeDocument/2006/relationships/image" Target="../media/image7.wmf"/><Relationship Id="rId5" Type="http://schemas.openxmlformats.org/officeDocument/2006/relationships/oleObject" Target="../embeddings/oleObject7.bin"/><Relationship Id="rId4" Type="http://schemas.openxmlformats.org/officeDocument/2006/relationships/image" Target="../media/image6.emf"/><Relationship Id="rId3" Type="http://schemas.openxmlformats.org/officeDocument/2006/relationships/oleObject" Target="../embeddings/oleObject6.bin"/><Relationship Id="rId2" Type="http://schemas.openxmlformats.org/officeDocument/2006/relationships/image" Target="../media/image5.wmf"/><Relationship Id="rId12" Type="http://schemas.openxmlformats.org/officeDocument/2006/relationships/vmlDrawing" Target="../drawings/vmlDrawing2.vml"/><Relationship Id="rId11" Type="http://schemas.openxmlformats.org/officeDocument/2006/relationships/slideLayout" Target="../slideLayouts/slideLayout2.xml"/><Relationship Id="rId10" Type="http://schemas.openxmlformats.org/officeDocument/2006/relationships/image" Target="../media/image9.wmf"/><Relationship Id="rId1" Type="http://schemas.openxmlformats.org/officeDocument/2006/relationships/oleObject" Target="../embeddings/oleObject5.bin"/></Relationships>
</file>

<file path=ppt/slides/_rels/slide3.xml.rels><?xml version="1.0" encoding="UTF-8" standalone="yes"?>
<Relationships xmlns="http://schemas.openxmlformats.org/package/2006/relationships"><Relationship Id="rId9" Type="http://schemas.openxmlformats.org/officeDocument/2006/relationships/oleObject" Target="../embeddings/oleObject14.bin"/><Relationship Id="rId8" Type="http://schemas.openxmlformats.org/officeDocument/2006/relationships/image" Target="../media/image13.wmf"/><Relationship Id="rId7" Type="http://schemas.openxmlformats.org/officeDocument/2006/relationships/oleObject" Target="../embeddings/oleObject13.bin"/><Relationship Id="rId6" Type="http://schemas.openxmlformats.org/officeDocument/2006/relationships/image" Target="../media/image12.wmf"/><Relationship Id="rId5" Type="http://schemas.openxmlformats.org/officeDocument/2006/relationships/oleObject" Target="../embeddings/oleObject12.bin"/><Relationship Id="rId4" Type="http://schemas.openxmlformats.org/officeDocument/2006/relationships/image" Target="../media/image11.wmf"/><Relationship Id="rId3" Type="http://schemas.openxmlformats.org/officeDocument/2006/relationships/oleObject" Target="../embeddings/oleObject11.bin"/><Relationship Id="rId2" Type="http://schemas.openxmlformats.org/officeDocument/2006/relationships/image" Target="../media/image10.wmf"/><Relationship Id="rId16" Type="http://schemas.openxmlformats.org/officeDocument/2006/relationships/vmlDrawing" Target="../drawings/vmlDrawing3.vml"/><Relationship Id="rId15" Type="http://schemas.openxmlformats.org/officeDocument/2006/relationships/slideLayout" Target="../slideLayouts/slideLayout7.xml"/><Relationship Id="rId14" Type="http://schemas.openxmlformats.org/officeDocument/2006/relationships/image" Target="../media/image16.wmf"/><Relationship Id="rId13" Type="http://schemas.openxmlformats.org/officeDocument/2006/relationships/oleObject" Target="../embeddings/oleObject16.bin"/><Relationship Id="rId12" Type="http://schemas.openxmlformats.org/officeDocument/2006/relationships/image" Target="../media/image15.wmf"/><Relationship Id="rId11" Type="http://schemas.openxmlformats.org/officeDocument/2006/relationships/oleObject" Target="../embeddings/oleObject15.bin"/><Relationship Id="rId10" Type="http://schemas.openxmlformats.org/officeDocument/2006/relationships/image" Target="../media/image14.wmf"/><Relationship Id="rId1" Type="http://schemas.openxmlformats.org/officeDocument/2006/relationships/oleObject" Target="../embeddings/oleObject10.bin"/></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vmlDrawing" Target="../drawings/vmlDrawing4.vml"/><Relationship Id="rId7"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wmf"/><Relationship Id="rId3" Type="http://schemas.openxmlformats.org/officeDocument/2006/relationships/oleObject" Target="../embeddings/oleObject18.bin"/><Relationship Id="rId2" Type="http://schemas.openxmlformats.org/officeDocument/2006/relationships/image" Target="../media/image17.wmf"/><Relationship Id="rId1" Type="http://schemas.openxmlformats.org/officeDocument/2006/relationships/oleObject" Target="../embeddings/oleObject17.bin"/></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vmlDrawing" Target="../drawings/vmlDrawing5.vml"/><Relationship Id="rId6" Type="http://schemas.openxmlformats.org/officeDocument/2006/relationships/slideLayout" Target="../slideLayouts/slideLayout1.xml"/><Relationship Id="rId5" Type="http://schemas.openxmlformats.org/officeDocument/2006/relationships/image" Target="../media/image23.wmf"/><Relationship Id="rId4" Type="http://schemas.openxmlformats.org/officeDocument/2006/relationships/oleObject" Target="../embeddings/oleObject20.bin"/><Relationship Id="rId3" Type="http://schemas.openxmlformats.org/officeDocument/2006/relationships/image" Target="../media/image22.wmf"/><Relationship Id="rId2" Type="http://schemas.openxmlformats.org/officeDocument/2006/relationships/oleObject" Target="../embeddings/oleObject19.bin"/><Relationship Id="rId1" Type="http://schemas.openxmlformats.org/officeDocument/2006/relationships/image" Target="../media/image21.pn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7.emf"/><Relationship Id="rId7" Type="http://schemas.openxmlformats.org/officeDocument/2006/relationships/oleObject" Target="../embeddings/oleObject24.bin"/><Relationship Id="rId6" Type="http://schemas.openxmlformats.org/officeDocument/2006/relationships/image" Target="../media/image26.wmf"/><Relationship Id="rId5" Type="http://schemas.openxmlformats.org/officeDocument/2006/relationships/oleObject" Target="../embeddings/oleObject23.bin"/><Relationship Id="rId4" Type="http://schemas.openxmlformats.org/officeDocument/2006/relationships/image" Target="../media/image25.wmf"/><Relationship Id="rId3" Type="http://schemas.openxmlformats.org/officeDocument/2006/relationships/oleObject" Target="../embeddings/oleObject22.bin"/><Relationship Id="rId2" Type="http://schemas.openxmlformats.org/officeDocument/2006/relationships/image" Target="../media/image24.wmf"/><Relationship Id="rId10" Type="http://schemas.openxmlformats.org/officeDocument/2006/relationships/vmlDrawing" Target="../drawings/vmlDrawing6.vml"/><Relationship Id="rId1" Type="http://schemas.openxmlformats.org/officeDocument/2006/relationships/oleObject" Target="../embeddings/oleObject21.bin"/></Relationships>
</file>

<file path=ppt/slides/_rels/slide7.xml.rels><?xml version="1.0" encoding="UTF-8" standalone="yes"?>
<Relationships xmlns="http://schemas.openxmlformats.org/package/2006/relationships"><Relationship Id="rId9" Type="http://schemas.openxmlformats.org/officeDocument/2006/relationships/image" Target="../media/image32.wmf"/><Relationship Id="rId8" Type="http://schemas.openxmlformats.org/officeDocument/2006/relationships/oleObject" Target="../embeddings/oleObject28.bin"/><Relationship Id="rId7" Type="http://schemas.openxmlformats.org/officeDocument/2006/relationships/image" Target="../media/image31.wmf"/><Relationship Id="rId6" Type="http://schemas.openxmlformats.org/officeDocument/2006/relationships/oleObject" Target="../embeddings/oleObject27.bin"/><Relationship Id="rId5" Type="http://schemas.openxmlformats.org/officeDocument/2006/relationships/image" Target="../media/image30.wmf"/><Relationship Id="rId4" Type="http://schemas.openxmlformats.org/officeDocument/2006/relationships/oleObject" Target="../embeddings/oleObject26.bin"/><Relationship Id="rId3" Type="http://schemas.openxmlformats.org/officeDocument/2006/relationships/image" Target="../media/image29.wmf"/><Relationship Id="rId2" Type="http://schemas.openxmlformats.org/officeDocument/2006/relationships/oleObject" Target="../embeddings/oleObject25.bin"/><Relationship Id="rId11" Type="http://schemas.openxmlformats.org/officeDocument/2006/relationships/vmlDrawing" Target="../drawings/vmlDrawing7.vml"/><Relationship Id="rId10" Type="http://schemas.openxmlformats.org/officeDocument/2006/relationships/slideLayout" Target="../slideLayouts/slideLayout2.xml"/><Relationship Id="rId1" Type="http://schemas.openxmlformats.org/officeDocument/2006/relationships/image" Target="../media/image28.png"/></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33.bin"/><Relationship Id="rId8" Type="http://schemas.openxmlformats.org/officeDocument/2006/relationships/image" Target="../media/image36.wmf"/><Relationship Id="rId7" Type="http://schemas.openxmlformats.org/officeDocument/2006/relationships/oleObject" Target="../embeddings/oleObject32.bin"/><Relationship Id="rId6" Type="http://schemas.openxmlformats.org/officeDocument/2006/relationships/image" Target="../media/image35.wmf"/><Relationship Id="rId5" Type="http://schemas.openxmlformats.org/officeDocument/2006/relationships/oleObject" Target="../embeddings/oleObject31.bin"/><Relationship Id="rId4" Type="http://schemas.openxmlformats.org/officeDocument/2006/relationships/image" Target="../media/image34.wmf"/><Relationship Id="rId3" Type="http://schemas.openxmlformats.org/officeDocument/2006/relationships/oleObject" Target="../embeddings/oleObject30.bin"/><Relationship Id="rId2" Type="http://schemas.openxmlformats.org/officeDocument/2006/relationships/image" Target="../media/image33.wmf"/><Relationship Id="rId14" Type="http://schemas.openxmlformats.org/officeDocument/2006/relationships/vmlDrawing" Target="../drawings/vmlDrawing8.vml"/><Relationship Id="rId13" Type="http://schemas.openxmlformats.org/officeDocument/2006/relationships/slideLayout" Target="../slideLayouts/slideLayout2.xml"/><Relationship Id="rId12" Type="http://schemas.openxmlformats.org/officeDocument/2006/relationships/image" Target="../media/image38.wmf"/><Relationship Id="rId11" Type="http://schemas.openxmlformats.org/officeDocument/2006/relationships/oleObject" Target="../embeddings/oleObject34.bin"/><Relationship Id="rId10" Type="http://schemas.openxmlformats.org/officeDocument/2006/relationships/image" Target="../media/image37.wmf"/><Relationship Id="rId1" Type="http://schemas.openxmlformats.org/officeDocument/2006/relationships/oleObject" Target="../embeddings/oleObject29.bin"/></Relationships>
</file>

<file path=ppt/slides/_rels/slide9.xml.rels><?xml version="1.0" encoding="UTF-8" standalone="yes"?>
<Relationships xmlns="http://schemas.openxmlformats.org/package/2006/relationships"><Relationship Id="rId9" Type="http://schemas.openxmlformats.org/officeDocument/2006/relationships/image" Target="../media/image43.wmf"/><Relationship Id="rId8" Type="http://schemas.openxmlformats.org/officeDocument/2006/relationships/oleObject" Target="../embeddings/oleObject38.bin"/><Relationship Id="rId7" Type="http://schemas.openxmlformats.org/officeDocument/2006/relationships/image" Target="../media/image42.wmf"/><Relationship Id="rId6" Type="http://schemas.openxmlformats.org/officeDocument/2006/relationships/oleObject" Target="../embeddings/oleObject37.bin"/><Relationship Id="rId5" Type="http://schemas.openxmlformats.org/officeDocument/2006/relationships/image" Target="../media/image41.wmf"/><Relationship Id="rId4" Type="http://schemas.openxmlformats.org/officeDocument/2006/relationships/oleObject" Target="../embeddings/oleObject36.bin"/><Relationship Id="rId3" Type="http://schemas.openxmlformats.org/officeDocument/2006/relationships/image" Target="../media/image40.wmf"/><Relationship Id="rId2" Type="http://schemas.openxmlformats.org/officeDocument/2006/relationships/oleObject" Target="../embeddings/oleObject35.bin"/><Relationship Id="rId11" Type="http://schemas.openxmlformats.org/officeDocument/2006/relationships/vmlDrawing" Target="../drawings/vmlDrawing9.vml"/><Relationship Id="rId10" Type="http://schemas.openxmlformats.org/officeDocument/2006/relationships/slideLayout" Target="../slideLayouts/slideLayout2.xml"/><Relationship Id="rId1" Type="http://schemas.openxmlformats.org/officeDocument/2006/relationships/image" Target="../media/image39.png"/></Relationships>
</file>

<file path=ppt/slides/_rels/slide10.xml.rels><?xml version="1.0" encoding="UTF-8" standalone="yes"?>
<Relationships xmlns="http://schemas.openxmlformats.org/package/2006/relationships"><Relationship Id="rId9" Type="http://schemas.openxmlformats.org/officeDocument/2006/relationships/image" Target="../media/image46.emf"/><Relationship Id="rId8" Type="http://schemas.openxmlformats.org/officeDocument/2006/relationships/oleObject" Target="../embeddings/oleObject41.bin"/><Relationship Id="rId7" Type="http://schemas.openxmlformats.org/officeDocument/2006/relationships/tags" Target="../tags/tag3.xml"/><Relationship Id="rId6" Type="http://schemas.openxmlformats.org/officeDocument/2006/relationships/image" Target="../media/image45.emf"/><Relationship Id="rId5" Type="http://schemas.openxmlformats.org/officeDocument/2006/relationships/oleObject" Target="../embeddings/oleObject40.bin"/><Relationship Id="rId4" Type="http://schemas.openxmlformats.org/officeDocument/2006/relationships/tags" Target="../tags/tag2.xml"/><Relationship Id="rId3" Type="http://schemas.openxmlformats.org/officeDocument/2006/relationships/image" Target="../media/image44.emf"/><Relationship Id="rId2" Type="http://schemas.openxmlformats.org/officeDocument/2006/relationships/oleObject" Target="../embeddings/oleObject39.bin"/><Relationship Id="rId19" Type="http://schemas.openxmlformats.org/officeDocument/2006/relationships/vmlDrawing" Target="../drawings/vmlDrawing10.vml"/><Relationship Id="rId18" Type="http://schemas.openxmlformats.org/officeDocument/2006/relationships/slideLayout" Target="../slideLayouts/slideLayout2.xml"/><Relationship Id="rId17" Type="http://schemas.openxmlformats.org/officeDocument/2006/relationships/image" Target="../media/image49.jpeg"/><Relationship Id="rId16" Type="http://schemas.openxmlformats.org/officeDocument/2006/relationships/tags" Target="../tags/tag6.xml"/><Relationship Id="rId15" Type="http://schemas.openxmlformats.org/officeDocument/2006/relationships/image" Target="../media/image48.emf"/><Relationship Id="rId14" Type="http://schemas.openxmlformats.org/officeDocument/2006/relationships/oleObject" Target="../embeddings/oleObject43.bin"/><Relationship Id="rId13" Type="http://schemas.openxmlformats.org/officeDocument/2006/relationships/tags" Target="../tags/tag5.xml"/><Relationship Id="rId12" Type="http://schemas.openxmlformats.org/officeDocument/2006/relationships/image" Target="../media/image47.emf"/><Relationship Id="rId11" Type="http://schemas.openxmlformats.org/officeDocument/2006/relationships/oleObject" Target="../embeddings/oleObject42.bin"/><Relationship Id="rId10" Type="http://schemas.openxmlformats.org/officeDocument/2006/relationships/tags" Target="../tags/tag4.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48.bin"/><Relationship Id="rId8" Type="http://schemas.openxmlformats.org/officeDocument/2006/relationships/image" Target="../media/image53.wmf"/><Relationship Id="rId7" Type="http://schemas.openxmlformats.org/officeDocument/2006/relationships/oleObject" Target="../embeddings/oleObject47.bin"/><Relationship Id="rId6" Type="http://schemas.openxmlformats.org/officeDocument/2006/relationships/image" Target="../media/image52.wmf"/><Relationship Id="rId5" Type="http://schemas.openxmlformats.org/officeDocument/2006/relationships/oleObject" Target="../embeddings/oleObject46.bin"/><Relationship Id="rId4" Type="http://schemas.openxmlformats.org/officeDocument/2006/relationships/image" Target="../media/image51.wmf"/><Relationship Id="rId3" Type="http://schemas.openxmlformats.org/officeDocument/2006/relationships/oleObject" Target="../embeddings/oleObject45.bin"/><Relationship Id="rId2" Type="http://schemas.openxmlformats.org/officeDocument/2006/relationships/image" Target="../media/image50.wmf"/><Relationship Id="rId17" Type="http://schemas.openxmlformats.org/officeDocument/2006/relationships/notesSlide" Target="../notesSlides/notesSlide3.xml"/><Relationship Id="rId16" Type="http://schemas.openxmlformats.org/officeDocument/2006/relationships/vmlDrawing" Target="../drawings/vmlDrawing11.vml"/><Relationship Id="rId15" Type="http://schemas.openxmlformats.org/officeDocument/2006/relationships/slideLayout" Target="../slideLayouts/slideLayout2.xml"/><Relationship Id="rId14" Type="http://schemas.openxmlformats.org/officeDocument/2006/relationships/image" Target="../media/image56.wmf"/><Relationship Id="rId13" Type="http://schemas.openxmlformats.org/officeDocument/2006/relationships/oleObject" Target="../embeddings/oleObject50.bin"/><Relationship Id="rId12" Type="http://schemas.openxmlformats.org/officeDocument/2006/relationships/image" Target="../media/image55.wmf"/><Relationship Id="rId11" Type="http://schemas.openxmlformats.org/officeDocument/2006/relationships/oleObject" Target="../embeddings/oleObject49.bin"/><Relationship Id="rId10" Type="http://schemas.openxmlformats.org/officeDocument/2006/relationships/image" Target="../media/image54.wmf"/><Relationship Id="rId1" Type="http://schemas.openxmlformats.org/officeDocument/2006/relationships/oleObject" Target="../embeddings/oleObject44.bin"/></Relationships>
</file>

<file path=ppt/slides/_rels/slide12.xml.rels><?xml version="1.0" encoding="UTF-8" standalone="yes"?>
<Relationships xmlns="http://schemas.openxmlformats.org/package/2006/relationships"><Relationship Id="rId9" Type="http://schemas.openxmlformats.org/officeDocument/2006/relationships/vmlDrawing" Target="../drawings/vmlDrawing12.vml"/><Relationship Id="rId8" Type="http://schemas.openxmlformats.org/officeDocument/2006/relationships/slideLayout" Target="../slideLayouts/slideLayout2.xml"/><Relationship Id="rId7" Type="http://schemas.openxmlformats.org/officeDocument/2006/relationships/image" Target="../media/image60.wmf"/><Relationship Id="rId6" Type="http://schemas.openxmlformats.org/officeDocument/2006/relationships/oleObject" Target="../embeddings/oleObject53.bin"/><Relationship Id="rId5" Type="http://schemas.openxmlformats.org/officeDocument/2006/relationships/image" Target="../media/image59.wmf"/><Relationship Id="rId4" Type="http://schemas.openxmlformats.org/officeDocument/2006/relationships/oleObject" Target="../embeddings/oleObject52.bin"/><Relationship Id="rId3" Type="http://schemas.openxmlformats.org/officeDocument/2006/relationships/image" Target="../media/image58.wmf"/><Relationship Id="rId2" Type="http://schemas.openxmlformats.org/officeDocument/2006/relationships/oleObject" Target="../embeddings/oleObject51.bin"/><Relationship Id="rId1" Type="http://schemas.openxmlformats.org/officeDocument/2006/relationships/image" Target="../media/image57.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2.png"/><Relationship Id="rId1" Type="http://schemas.openxmlformats.org/officeDocument/2006/relationships/image" Target="../media/image61.png"/></Relationships>
</file>

<file path=ppt/slides/_rels/slide14.xml.rels><?xml version="1.0" encoding="UTF-8" standalone="yes"?>
<Relationships xmlns="http://schemas.openxmlformats.org/package/2006/relationships"><Relationship Id="rId9" Type="http://schemas.openxmlformats.org/officeDocument/2006/relationships/image" Target="../media/image67.wmf"/><Relationship Id="rId8" Type="http://schemas.openxmlformats.org/officeDocument/2006/relationships/oleObject" Target="../embeddings/oleObject57.bin"/><Relationship Id="rId7" Type="http://schemas.openxmlformats.org/officeDocument/2006/relationships/image" Target="../media/image66.wmf"/><Relationship Id="rId6" Type="http://schemas.openxmlformats.org/officeDocument/2006/relationships/oleObject" Target="../embeddings/oleObject56.bin"/><Relationship Id="rId5" Type="http://schemas.openxmlformats.org/officeDocument/2006/relationships/image" Target="../media/image65.wmf"/><Relationship Id="rId4" Type="http://schemas.openxmlformats.org/officeDocument/2006/relationships/oleObject" Target="../embeddings/oleObject55.bin"/><Relationship Id="rId3" Type="http://schemas.openxmlformats.org/officeDocument/2006/relationships/image" Target="../media/image64.wmf"/><Relationship Id="rId2" Type="http://schemas.openxmlformats.org/officeDocument/2006/relationships/oleObject" Target="../embeddings/oleObject54.bin"/><Relationship Id="rId11" Type="http://schemas.openxmlformats.org/officeDocument/2006/relationships/vmlDrawing" Target="../drawings/vmlDrawing13.vml"/><Relationship Id="rId10" Type="http://schemas.openxmlformats.org/officeDocument/2006/relationships/slideLayout" Target="../slideLayouts/slideLayout2.xml"/><Relationship Id="rId1" Type="http://schemas.openxmlformats.org/officeDocument/2006/relationships/image" Target="../media/image63.png"/></Relationships>
</file>

<file path=ppt/slides/_rels/slide15.xml.rels><?xml version="1.0" encoding="UTF-8" standalone="yes"?>
<Relationships xmlns="http://schemas.openxmlformats.org/package/2006/relationships"><Relationship Id="rId7" Type="http://schemas.openxmlformats.org/officeDocument/2006/relationships/vmlDrawing" Target="../drawings/vmlDrawing14.vml"/><Relationship Id="rId6" Type="http://schemas.openxmlformats.org/officeDocument/2006/relationships/slideLayout" Target="../slideLayouts/slideLayout2.xml"/><Relationship Id="rId5" Type="http://schemas.openxmlformats.org/officeDocument/2006/relationships/image" Target="../media/image70.wmf"/><Relationship Id="rId4" Type="http://schemas.openxmlformats.org/officeDocument/2006/relationships/oleObject" Target="../embeddings/oleObject59.bin"/><Relationship Id="rId3" Type="http://schemas.openxmlformats.org/officeDocument/2006/relationships/image" Target="../media/image69.wmf"/><Relationship Id="rId2" Type="http://schemas.openxmlformats.org/officeDocument/2006/relationships/oleObject" Target="../embeddings/oleObject58.bin"/><Relationship Id="rId1" Type="http://schemas.openxmlformats.org/officeDocument/2006/relationships/image" Target="../media/image68.png"/></Relationships>
</file>

<file path=ppt/slides/_rels/slide16.xml.rels><?xml version="1.0" encoding="UTF-8" standalone="yes"?>
<Relationships xmlns="http://schemas.openxmlformats.org/package/2006/relationships"><Relationship Id="rId9" Type="http://schemas.openxmlformats.org/officeDocument/2006/relationships/vmlDrawing" Target="../drawings/vmlDrawing15.vml"/><Relationship Id="rId8" Type="http://schemas.openxmlformats.org/officeDocument/2006/relationships/slideLayout" Target="../slideLayouts/slideLayout2.xml"/><Relationship Id="rId7" Type="http://schemas.openxmlformats.org/officeDocument/2006/relationships/image" Target="../media/image73.wmf"/><Relationship Id="rId6" Type="http://schemas.openxmlformats.org/officeDocument/2006/relationships/oleObject" Target="../embeddings/oleObject62.bin"/><Relationship Id="rId5" Type="http://schemas.openxmlformats.org/officeDocument/2006/relationships/image" Target="../media/image72.wmf"/><Relationship Id="rId4" Type="http://schemas.openxmlformats.org/officeDocument/2006/relationships/oleObject" Target="../embeddings/oleObject61.bin"/><Relationship Id="rId3" Type="http://schemas.openxmlformats.org/officeDocument/2006/relationships/image" Target="../media/image71.png"/><Relationship Id="rId2" Type="http://schemas.openxmlformats.org/officeDocument/2006/relationships/image" Target="../media/image70.wmf"/><Relationship Id="rId1" Type="http://schemas.openxmlformats.org/officeDocument/2006/relationships/oleObject" Target="../embeddings/oleObject60.bin"/></Relationships>
</file>

<file path=ppt/slides/_rels/slide17.xml.rels><?xml version="1.0" encoding="UTF-8" standalone="yes"?>
<Relationships xmlns="http://schemas.openxmlformats.org/package/2006/relationships"><Relationship Id="rId7" Type="http://schemas.openxmlformats.org/officeDocument/2006/relationships/vmlDrawing" Target="../drawings/vmlDrawing16.vml"/><Relationship Id="rId6" Type="http://schemas.openxmlformats.org/officeDocument/2006/relationships/slideLayout" Target="../slideLayouts/slideLayout2.xml"/><Relationship Id="rId5" Type="http://schemas.openxmlformats.org/officeDocument/2006/relationships/image" Target="../media/image76.wmf"/><Relationship Id="rId4" Type="http://schemas.openxmlformats.org/officeDocument/2006/relationships/oleObject" Target="../embeddings/oleObject64.bin"/><Relationship Id="rId3" Type="http://schemas.openxmlformats.org/officeDocument/2006/relationships/image" Target="../media/image75.png"/><Relationship Id="rId2" Type="http://schemas.openxmlformats.org/officeDocument/2006/relationships/image" Target="../media/image74.wmf"/><Relationship Id="rId1" Type="http://schemas.openxmlformats.org/officeDocument/2006/relationships/oleObject" Target="../embeddings/oleObject63.bin"/></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80.wmf"/><Relationship Id="rId7" Type="http://schemas.openxmlformats.org/officeDocument/2006/relationships/oleObject" Target="../embeddings/oleObject68.bin"/><Relationship Id="rId6" Type="http://schemas.openxmlformats.org/officeDocument/2006/relationships/image" Target="../media/image79.wmf"/><Relationship Id="rId5" Type="http://schemas.openxmlformats.org/officeDocument/2006/relationships/oleObject" Target="../embeddings/oleObject67.bin"/><Relationship Id="rId4" Type="http://schemas.openxmlformats.org/officeDocument/2006/relationships/image" Target="../media/image78.wmf"/><Relationship Id="rId3" Type="http://schemas.openxmlformats.org/officeDocument/2006/relationships/oleObject" Target="../embeddings/oleObject66.bin"/><Relationship Id="rId2" Type="http://schemas.openxmlformats.org/officeDocument/2006/relationships/image" Target="../media/image77.wmf"/><Relationship Id="rId10" Type="http://schemas.openxmlformats.org/officeDocument/2006/relationships/vmlDrawing" Target="../drawings/vmlDrawing17.vml"/><Relationship Id="rId1" Type="http://schemas.openxmlformats.org/officeDocument/2006/relationships/oleObject" Target="../embeddings/oleObject65.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7" Type="http://schemas.openxmlformats.org/officeDocument/2006/relationships/vmlDrawing" Target="../drawings/vmlDrawing18.vml"/><Relationship Id="rId6" Type="http://schemas.openxmlformats.org/officeDocument/2006/relationships/slideLayout" Target="../slideLayouts/slideLayout7.xml"/><Relationship Id="rId5" Type="http://schemas.openxmlformats.org/officeDocument/2006/relationships/image" Target="../media/image83.wmf"/><Relationship Id="rId4" Type="http://schemas.openxmlformats.org/officeDocument/2006/relationships/oleObject" Target="../embeddings/oleObject70.bin"/><Relationship Id="rId3" Type="http://schemas.openxmlformats.org/officeDocument/2006/relationships/image" Target="../media/image82.wmf"/><Relationship Id="rId2" Type="http://schemas.openxmlformats.org/officeDocument/2006/relationships/oleObject" Target="../embeddings/oleObject69.bin"/><Relationship Id="rId1" Type="http://schemas.openxmlformats.org/officeDocument/2006/relationships/image" Target="../media/image81.png"/></Relationships>
</file>

<file path=ppt/slides/_rels/slide21.xml.rels><?xml version="1.0" encoding="UTF-8" standalone="yes"?>
<Relationships xmlns="http://schemas.openxmlformats.org/package/2006/relationships"><Relationship Id="rId5" Type="http://schemas.openxmlformats.org/officeDocument/2006/relationships/vmlDrawing" Target="../drawings/vmlDrawing19.vml"/><Relationship Id="rId4" Type="http://schemas.openxmlformats.org/officeDocument/2006/relationships/slideLayout" Target="../slideLayouts/slideLayout2.xml"/><Relationship Id="rId3" Type="http://schemas.openxmlformats.org/officeDocument/2006/relationships/image" Target="../media/image85.wmf"/><Relationship Id="rId2" Type="http://schemas.openxmlformats.org/officeDocument/2006/relationships/oleObject" Target="../embeddings/oleObject71.bin"/><Relationship Id="rId1" Type="http://schemas.openxmlformats.org/officeDocument/2006/relationships/image" Target="../media/image84.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7.png"/><Relationship Id="rId1" Type="http://schemas.openxmlformats.org/officeDocument/2006/relationships/image" Target="../media/image86.png"/></Relationships>
</file>

<file path=ppt/slides/_rels/slide23.xml.rels><?xml version="1.0" encoding="UTF-8" standalone="yes"?>
<Relationships xmlns="http://schemas.openxmlformats.org/package/2006/relationships"><Relationship Id="rId5" Type="http://schemas.openxmlformats.org/officeDocument/2006/relationships/vmlDrawing" Target="../drawings/vmlDrawing20.vml"/><Relationship Id="rId4" Type="http://schemas.openxmlformats.org/officeDocument/2006/relationships/slideLayout" Target="../slideLayouts/slideLayout2.xml"/><Relationship Id="rId3" Type="http://schemas.openxmlformats.org/officeDocument/2006/relationships/image" Target="../media/image89.wmf"/><Relationship Id="rId2" Type="http://schemas.openxmlformats.org/officeDocument/2006/relationships/oleObject" Target="../embeddings/oleObject72.bin"/><Relationship Id="rId1" Type="http://schemas.openxmlformats.org/officeDocument/2006/relationships/image" Target="../media/image88.png"/></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76.bin"/><Relationship Id="rId8" Type="http://schemas.openxmlformats.org/officeDocument/2006/relationships/image" Target="../media/image94.wmf"/><Relationship Id="rId7" Type="http://schemas.openxmlformats.org/officeDocument/2006/relationships/oleObject" Target="../embeddings/oleObject75.bin"/><Relationship Id="rId6" Type="http://schemas.openxmlformats.org/officeDocument/2006/relationships/image" Target="../media/image93.wmf"/><Relationship Id="rId5" Type="http://schemas.openxmlformats.org/officeDocument/2006/relationships/oleObject" Target="../embeddings/oleObject74.bin"/><Relationship Id="rId4" Type="http://schemas.openxmlformats.org/officeDocument/2006/relationships/image" Target="../media/image92.wmf"/><Relationship Id="rId3" Type="http://schemas.openxmlformats.org/officeDocument/2006/relationships/oleObject" Target="../embeddings/oleObject73.bin"/><Relationship Id="rId2" Type="http://schemas.openxmlformats.org/officeDocument/2006/relationships/image" Target="../media/image91.png"/><Relationship Id="rId12" Type="http://schemas.openxmlformats.org/officeDocument/2006/relationships/vmlDrawing" Target="../drawings/vmlDrawing21.vml"/><Relationship Id="rId11" Type="http://schemas.openxmlformats.org/officeDocument/2006/relationships/slideLayout" Target="../slideLayouts/slideLayout2.xml"/><Relationship Id="rId10" Type="http://schemas.openxmlformats.org/officeDocument/2006/relationships/image" Target="../media/image95.wmf"/><Relationship Id="rId1" Type="http://schemas.openxmlformats.org/officeDocument/2006/relationships/image" Target="../media/image90.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7.png"/><Relationship Id="rId1" Type="http://schemas.openxmlformats.org/officeDocument/2006/relationships/image" Target="../media/image96.jpeg"/></Relationships>
</file>

<file path=ppt/slides/_rels/slide2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02.png"/><Relationship Id="rId7" Type="http://schemas.openxmlformats.org/officeDocument/2006/relationships/image" Target="../media/image101.wmf"/><Relationship Id="rId6" Type="http://schemas.openxmlformats.org/officeDocument/2006/relationships/oleObject" Target="../embeddings/oleObject79.bin"/><Relationship Id="rId5" Type="http://schemas.openxmlformats.org/officeDocument/2006/relationships/image" Target="../media/image100.wmf"/><Relationship Id="rId4" Type="http://schemas.openxmlformats.org/officeDocument/2006/relationships/oleObject" Target="../embeddings/oleObject78.bin"/><Relationship Id="rId3" Type="http://schemas.openxmlformats.org/officeDocument/2006/relationships/image" Target="../media/image99.wmf"/><Relationship Id="rId2" Type="http://schemas.openxmlformats.org/officeDocument/2006/relationships/oleObject" Target="../embeddings/oleObject77.bin"/><Relationship Id="rId10" Type="http://schemas.openxmlformats.org/officeDocument/2006/relationships/vmlDrawing" Target="../drawings/vmlDrawing22.vml"/><Relationship Id="rId1" Type="http://schemas.openxmlformats.org/officeDocument/2006/relationships/image" Target="../media/image98.png"/></Relationships>
</file>

<file path=ppt/slides/_rels/slide27.xml.rels><?xml version="1.0" encoding="UTF-8" standalone="yes"?>
<Relationships xmlns="http://schemas.openxmlformats.org/package/2006/relationships"><Relationship Id="rId7" Type="http://schemas.openxmlformats.org/officeDocument/2006/relationships/vmlDrawing" Target="../drawings/vmlDrawing23.vml"/><Relationship Id="rId6" Type="http://schemas.openxmlformats.org/officeDocument/2006/relationships/slideLayout" Target="../slideLayouts/slideLayout2.xml"/><Relationship Id="rId5" Type="http://schemas.openxmlformats.org/officeDocument/2006/relationships/image" Target="../media/image105.wmf"/><Relationship Id="rId4" Type="http://schemas.openxmlformats.org/officeDocument/2006/relationships/oleObject" Target="../embeddings/oleObject81.bin"/><Relationship Id="rId3" Type="http://schemas.openxmlformats.org/officeDocument/2006/relationships/image" Target="../media/image104.png"/><Relationship Id="rId2" Type="http://schemas.openxmlformats.org/officeDocument/2006/relationships/image" Target="../media/image103.wmf"/><Relationship Id="rId1" Type="http://schemas.openxmlformats.org/officeDocument/2006/relationships/oleObject" Target="../embeddings/oleObject80.bin"/></Relationships>
</file>

<file path=ppt/slides/_rels/slide28.xml.rels><?xml version="1.0" encoding="UTF-8" standalone="yes"?>
<Relationships xmlns="http://schemas.openxmlformats.org/package/2006/relationships"><Relationship Id="rId9" Type="http://schemas.openxmlformats.org/officeDocument/2006/relationships/vmlDrawing" Target="../drawings/vmlDrawing24.vml"/><Relationship Id="rId8" Type="http://schemas.openxmlformats.org/officeDocument/2006/relationships/slideLayout" Target="../slideLayouts/slideLayout2.xml"/><Relationship Id="rId7" Type="http://schemas.openxmlformats.org/officeDocument/2006/relationships/image" Target="../media/image109.wmf"/><Relationship Id="rId6" Type="http://schemas.openxmlformats.org/officeDocument/2006/relationships/oleObject" Target="../embeddings/oleObject84.bin"/><Relationship Id="rId5" Type="http://schemas.openxmlformats.org/officeDocument/2006/relationships/image" Target="../media/image108.wmf"/><Relationship Id="rId4" Type="http://schemas.openxmlformats.org/officeDocument/2006/relationships/oleObject" Target="../embeddings/oleObject83.bin"/><Relationship Id="rId3" Type="http://schemas.openxmlformats.org/officeDocument/2006/relationships/image" Target="../media/image107.wmf"/><Relationship Id="rId2" Type="http://schemas.openxmlformats.org/officeDocument/2006/relationships/oleObject" Target="../embeddings/oleObject82.bin"/><Relationship Id="rId1" Type="http://schemas.openxmlformats.org/officeDocument/2006/relationships/image" Target="../media/image106.jpe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11.png"/><Relationship Id="rId1" Type="http://schemas.openxmlformats.org/officeDocument/2006/relationships/image" Target="../media/image110.png"/></Relationships>
</file>

<file path=ppt/slides/_rels/slide30.xml.rels><?xml version="1.0" encoding="UTF-8" standalone="yes"?>
<Relationships xmlns="http://schemas.openxmlformats.org/package/2006/relationships"><Relationship Id="rId6" Type="http://schemas.openxmlformats.org/officeDocument/2006/relationships/vmlDrawing" Target="../drawings/vmlDrawing25.vml"/><Relationship Id="rId5" Type="http://schemas.openxmlformats.org/officeDocument/2006/relationships/slideLayout" Target="../slideLayouts/slideLayout2.xml"/><Relationship Id="rId4" Type="http://schemas.openxmlformats.org/officeDocument/2006/relationships/image" Target="../media/image114.wmf"/><Relationship Id="rId3" Type="http://schemas.openxmlformats.org/officeDocument/2006/relationships/oleObject" Target="../embeddings/oleObject85.bin"/><Relationship Id="rId2" Type="http://schemas.openxmlformats.org/officeDocument/2006/relationships/image" Target="../media/image113.png"/><Relationship Id="rId1" Type="http://schemas.openxmlformats.org/officeDocument/2006/relationships/image" Target="../media/image112.png"/></Relationships>
</file>

<file path=ppt/slides/_rels/slide31.xml.rels><?xml version="1.0" encoding="UTF-8" standalone="yes"?>
<Relationships xmlns="http://schemas.openxmlformats.org/package/2006/relationships"><Relationship Id="rId9" Type="http://schemas.openxmlformats.org/officeDocument/2006/relationships/vmlDrawing" Target="../drawings/vmlDrawing26.vml"/><Relationship Id="rId8" Type="http://schemas.openxmlformats.org/officeDocument/2006/relationships/slideLayout" Target="../slideLayouts/slideLayout2.xml"/><Relationship Id="rId7" Type="http://schemas.openxmlformats.org/officeDocument/2006/relationships/image" Target="../media/image118.wmf"/><Relationship Id="rId6" Type="http://schemas.openxmlformats.org/officeDocument/2006/relationships/oleObject" Target="../embeddings/oleObject88.bin"/><Relationship Id="rId5" Type="http://schemas.openxmlformats.org/officeDocument/2006/relationships/image" Target="../media/image117.wmf"/><Relationship Id="rId4" Type="http://schemas.openxmlformats.org/officeDocument/2006/relationships/oleObject" Target="../embeddings/oleObject87.bin"/><Relationship Id="rId3" Type="http://schemas.openxmlformats.org/officeDocument/2006/relationships/image" Target="../media/image116.wmf"/><Relationship Id="rId2" Type="http://schemas.openxmlformats.org/officeDocument/2006/relationships/oleObject" Target="../embeddings/oleObject86.bin"/><Relationship Id="rId1" Type="http://schemas.openxmlformats.org/officeDocument/2006/relationships/image" Target="../media/image115.png"/></Relationships>
</file>

<file path=ppt/slides/_rels/slide32.xml.rels><?xml version="1.0" encoding="UTF-8" standalone="yes"?>
<Relationships xmlns="http://schemas.openxmlformats.org/package/2006/relationships"><Relationship Id="rId9" Type="http://schemas.openxmlformats.org/officeDocument/2006/relationships/vmlDrawing" Target="../drawings/vmlDrawing27.vml"/><Relationship Id="rId8" Type="http://schemas.openxmlformats.org/officeDocument/2006/relationships/slideLayout" Target="../slideLayouts/slideLayout2.xml"/><Relationship Id="rId7" Type="http://schemas.openxmlformats.org/officeDocument/2006/relationships/image" Target="../media/image122.wmf"/><Relationship Id="rId6" Type="http://schemas.openxmlformats.org/officeDocument/2006/relationships/oleObject" Target="../embeddings/oleObject91.bin"/><Relationship Id="rId5" Type="http://schemas.openxmlformats.org/officeDocument/2006/relationships/image" Target="../media/image121.wmf"/><Relationship Id="rId4" Type="http://schemas.openxmlformats.org/officeDocument/2006/relationships/oleObject" Target="../embeddings/oleObject90.bin"/><Relationship Id="rId3" Type="http://schemas.openxmlformats.org/officeDocument/2006/relationships/image" Target="../media/image120.wmf"/><Relationship Id="rId2" Type="http://schemas.openxmlformats.org/officeDocument/2006/relationships/oleObject" Target="../embeddings/oleObject89.bin"/><Relationship Id="rId1" Type="http://schemas.openxmlformats.org/officeDocument/2006/relationships/image" Target="../media/image119.png"/></Relationships>
</file>

<file path=ppt/slides/_rels/slide33.xml.rels><?xml version="1.0" encoding="UTF-8" standalone="yes"?>
<Relationships xmlns="http://schemas.openxmlformats.org/package/2006/relationships"><Relationship Id="rId9" Type="http://schemas.openxmlformats.org/officeDocument/2006/relationships/image" Target="../media/image127.wmf"/><Relationship Id="rId8" Type="http://schemas.openxmlformats.org/officeDocument/2006/relationships/oleObject" Target="../embeddings/oleObject95.bin"/><Relationship Id="rId7" Type="http://schemas.openxmlformats.org/officeDocument/2006/relationships/image" Target="../media/image126.wmf"/><Relationship Id="rId6" Type="http://schemas.openxmlformats.org/officeDocument/2006/relationships/oleObject" Target="../embeddings/oleObject94.bin"/><Relationship Id="rId5" Type="http://schemas.openxmlformats.org/officeDocument/2006/relationships/image" Target="../media/image125.png"/><Relationship Id="rId4" Type="http://schemas.openxmlformats.org/officeDocument/2006/relationships/image" Target="../media/image124.wmf"/><Relationship Id="rId3" Type="http://schemas.openxmlformats.org/officeDocument/2006/relationships/oleObject" Target="../embeddings/oleObject93.bin"/><Relationship Id="rId2" Type="http://schemas.openxmlformats.org/officeDocument/2006/relationships/image" Target="../media/image123.wmf"/><Relationship Id="rId16" Type="http://schemas.openxmlformats.org/officeDocument/2006/relationships/vmlDrawing" Target="../drawings/vmlDrawing28.vml"/><Relationship Id="rId15" Type="http://schemas.openxmlformats.org/officeDocument/2006/relationships/slideLayout" Target="../slideLayouts/slideLayout2.xml"/><Relationship Id="rId14" Type="http://schemas.openxmlformats.org/officeDocument/2006/relationships/image" Target="../media/image130.png"/><Relationship Id="rId13" Type="http://schemas.openxmlformats.org/officeDocument/2006/relationships/image" Target="../media/image129.wmf"/><Relationship Id="rId12" Type="http://schemas.openxmlformats.org/officeDocument/2006/relationships/oleObject" Target="../embeddings/oleObject97.bin"/><Relationship Id="rId11" Type="http://schemas.openxmlformats.org/officeDocument/2006/relationships/image" Target="../media/image128.wmf"/><Relationship Id="rId10" Type="http://schemas.openxmlformats.org/officeDocument/2006/relationships/oleObject" Target="../embeddings/oleObject96.bin"/><Relationship Id="rId1" Type="http://schemas.openxmlformats.org/officeDocument/2006/relationships/oleObject" Target="../embeddings/oleObject92.bin"/></Relationships>
</file>

<file path=ppt/slides/_rels/slide34.xml.rels><?xml version="1.0" encoding="UTF-8" standalone="yes"?>
<Relationships xmlns="http://schemas.openxmlformats.org/package/2006/relationships"><Relationship Id="rId5" Type="http://schemas.openxmlformats.org/officeDocument/2006/relationships/vmlDrawing" Target="../drawings/vmlDrawing29.vml"/><Relationship Id="rId4" Type="http://schemas.openxmlformats.org/officeDocument/2006/relationships/slideLayout" Target="../slideLayouts/slideLayout2.xml"/><Relationship Id="rId3" Type="http://schemas.openxmlformats.org/officeDocument/2006/relationships/image" Target="../media/image132.wmf"/><Relationship Id="rId2" Type="http://schemas.openxmlformats.org/officeDocument/2006/relationships/oleObject" Target="../embeddings/oleObject98.bin"/><Relationship Id="rId1" Type="http://schemas.openxmlformats.org/officeDocument/2006/relationships/image" Target="../media/image131.png"/></Relationships>
</file>

<file path=ppt/slides/_rels/slide35.xml.rels><?xml version="1.0" encoding="UTF-8" standalone="yes"?>
<Relationships xmlns="http://schemas.openxmlformats.org/package/2006/relationships"><Relationship Id="rId8" Type="http://schemas.openxmlformats.org/officeDocument/2006/relationships/vmlDrawing" Target="../drawings/vmlDrawing30.vml"/><Relationship Id="rId7" Type="http://schemas.openxmlformats.org/officeDocument/2006/relationships/slideLayout" Target="../slideLayouts/slideLayout2.xml"/><Relationship Id="rId6" Type="http://schemas.openxmlformats.org/officeDocument/2006/relationships/image" Target="../media/image137.png"/><Relationship Id="rId5" Type="http://schemas.openxmlformats.org/officeDocument/2006/relationships/image" Target="../media/image136.png"/><Relationship Id="rId4" Type="http://schemas.openxmlformats.org/officeDocument/2006/relationships/image" Target="../media/image135.png"/><Relationship Id="rId3" Type="http://schemas.openxmlformats.org/officeDocument/2006/relationships/image" Target="../media/image134.wmf"/><Relationship Id="rId2" Type="http://schemas.openxmlformats.org/officeDocument/2006/relationships/oleObject" Target="../embeddings/oleObject99.bin"/><Relationship Id="rId1" Type="http://schemas.openxmlformats.org/officeDocument/2006/relationships/image" Target="../media/image133.png"/></Relationships>
</file>

<file path=ppt/slides/_rels/slide36.xml.rels><?xml version="1.0" encoding="UTF-8" standalone="yes"?>
<Relationships xmlns="http://schemas.openxmlformats.org/package/2006/relationships"><Relationship Id="rId9" Type="http://schemas.openxmlformats.org/officeDocument/2006/relationships/image" Target="../media/image142.wmf"/><Relationship Id="rId8" Type="http://schemas.openxmlformats.org/officeDocument/2006/relationships/oleObject" Target="../embeddings/oleObject103.bin"/><Relationship Id="rId7" Type="http://schemas.openxmlformats.org/officeDocument/2006/relationships/image" Target="../media/image141.wmf"/><Relationship Id="rId6" Type="http://schemas.openxmlformats.org/officeDocument/2006/relationships/oleObject" Target="../embeddings/oleObject102.bin"/><Relationship Id="rId5" Type="http://schemas.openxmlformats.org/officeDocument/2006/relationships/image" Target="../media/image140.wmf"/><Relationship Id="rId4" Type="http://schemas.openxmlformats.org/officeDocument/2006/relationships/oleObject" Target="../embeddings/oleObject101.bin"/><Relationship Id="rId3" Type="http://schemas.openxmlformats.org/officeDocument/2006/relationships/image" Target="../media/image139.wmf"/><Relationship Id="rId2" Type="http://schemas.openxmlformats.org/officeDocument/2006/relationships/oleObject" Target="../embeddings/oleObject100.bin"/><Relationship Id="rId18" Type="http://schemas.openxmlformats.org/officeDocument/2006/relationships/vmlDrawing" Target="../drawings/vmlDrawing31.vml"/><Relationship Id="rId17" Type="http://schemas.openxmlformats.org/officeDocument/2006/relationships/slideLayout" Target="../slideLayouts/slideLayout2.xml"/><Relationship Id="rId16" Type="http://schemas.openxmlformats.org/officeDocument/2006/relationships/oleObject" Target="../embeddings/oleObject109.bin"/><Relationship Id="rId15" Type="http://schemas.openxmlformats.org/officeDocument/2006/relationships/oleObject" Target="../embeddings/oleObject108.bin"/><Relationship Id="rId14" Type="http://schemas.openxmlformats.org/officeDocument/2006/relationships/oleObject" Target="../embeddings/oleObject107.bin"/><Relationship Id="rId13" Type="http://schemas.openxmlformats.org/officeDocument/2006/relationships/oleObject" Target="../embeddings/oleObject106.bin"/><Relationship Id="rId12" Type="http://schemas.openxmlformats.org/officeDocument/2006/relationships/oleObject" Target="../embeddings/oleObject105.bin"/><Relationship Id="rId11" Type="http://schemas.openxmlformats.org/officeDocument/2006/relationships/image" Target="../media/image143.wmf"/><Relationship Id="rId10" Type="http://schemas.openxmlformats.org/officeDocument/2006/relationships/oleObject" Target="../embeddings/oleObject104.bin"/><Relationship Id="rId1" Type="http://schemas.openxmlformats.org/officeDocument/2006/relationships/image" Target="../media/image138.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4.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6.png"/><Relationship Id="rId1" Type="http://schemas.openxmlformats.org/officeDocument/2006/relationships/image" Target="../media/image14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694989" y="227716"/>
            <a:ext cx="6647688" cy="523220"/>
          </a:xfrm>
          <a:prstGeom prst="rect">
            <a:avLst/>
          </a:prstGeom>
        </p:spPr>
        <p:txBody>
          <a:bodyPr wrap="square">
            <a:spAutoFit/>
          </a:bodyPr>
          <a:lstStyle/>
          <a:p>
            <a:pPr>
              <a:defRPr/>
            </a:pPr>
            <a:r>
              <a:rPr lang="en-US" altLang="zh-CN" sz="2800" b="1" dirty="0">
                <a:solidFill>
                  <a:prstClr val="black"/>
                </a:solidFill>
                <a:latin typeface="Times New Roman" panose="02020603050405020304" pitchFamily="18" charset="0"/>
                <a:ea typeface="等线" panose="02010600030101010101" pitchFamily="2" charset="-122"/>
                <a:cs typeface="Times New Roman" panose="02020603050405020304" pitchFamily="18" charset="0"/>
              </a:rPr>
              <a:t>Quantization of translation</a:t>
            </a:r>
            <a:endParaRPr lang="en-US" altLang="zh-CN" sz="2800" b="1" dirty="0">
              <a:solidFill>
                <a:prstClr val="black"/>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4" name="矩形 3"/>
          <p:cNvSpPr/>
          <p:nvPr/>
        </p:nvSpPr>
        <p:spPr>
          <a:xfrm>
            <a:off x="638176" y="2771476"/>
            <a:ext cx="11553824" cy="2712859"/>
          </a:xfrm>
          <a:prstGeom prst="rect">
            <a:avLst/>
          </a:prstGeom>
        </p:spPr>
        <p:txBody>
          <a:bodyPr wrap="square">
            <a:spAutoFit/>
          </a:bodyPr>
          <a:lstStyle/>
          <a:p>
            <a:pPr>
              <a:lnSpc>
                <a:spcPct val="120000"/>
              </a:lnSpc>
              <a:defRPr/>
            </a:pPr>
            <a:r>
              <a:rPr lang="en-US" altLang="zh-CN" sz="2400" dirty="0">
                <a:solidFill>
                  <a:prstClr val="black"/>
                </a:solidFill>
                <a:latin typeface="Times New Roman" panose="02020603050405020304" pitchFamily="18" charset="0"/>
                <a:ea typeface="等线" panose="02010600030101010101" pitchFamily="2" charset="-122"/>
                <a:cs typeface="Times New Roman" panose="02020603050405020304" pitchFamily="18" charset="0"/>
              </a:rPr>
              <a:t>wavefunctions for the particle in a box are</a:t>
            </a:r>
            <a:endParaRPr lang="en-US" altLang="zh-CN" sz="2400" dirty="0">
              <a:solidFill>
                <a:prstClr val="black"/>
              </a:solidFill>
              <a:latin typeface="Times New Roman" panose="02020603050405020304" pitchFamily="18" charset="0"/>
              <a:ea typeface="等线" panose="02010600030101010101" pitchFamily="2" charset="-122"/>
              <a:cs typeface="Times New Roman" panose="02020603050405020304" pitchFamily="18" charset="0"/>
            </a:endParaRPr>
          </a:p>
          <a:p>
            <a:pPr>
              <a:lnSpc>
                <a:spcPct val="120000"/>
              </a:lnSpc>
              <a:defRPr/>
            </a:pPr>
            <a:endParaRPr lang="en-US" altLang="zh-CN" sz="2400" dirty="0">
              <a:solidFill>
                <a:prstClr val="black"/>
              </a:solidFill>
              <a:latin typeface="Times New Roman" panose="02020603050405020304" pitchFamily="18" charset="0"/>
              <a:ea typeface="等线" panose="02010600030101010101" pitchFamily="2" charset="-122"/>
              <a:cs typeface="Times New Roman" panose="02020603050405020304" pitchFamily="18" charset="0"/>
            </a:endParaRPr>
          </a:p>
          <a:p>
            <a:pPr>
              <a:lnSpc>
                <a:spcPct val="120000"/>
              </a:lnSpc>
              <a:defRPr/>
            </a:pPr>
            <a:endParaRPr lang="en-US" altLang="zh-CN" sz="2400" dirty="0">
              <a:solidFill>
                <a:prstClr val="black"/>
              </a:solidFill>
              <a:latin typeface="Times New Roman" panose="02020603050405020304" pitchFamily="18" charset="0"/>
              <a:ea typeface="等线" panose="02010600030101010101" pitchFamily="2" charset="-122"/>
              <a:cs typeface="Times New Roman" panose="02020603050405020304" pitchFamily="18" charset="0"/>
            </a:endParaRPr>
          </a:p>
          <a:p>
            <a:pPr>
              <a:lnSpc>
                <a:spcPct val="120000"/>
              </a:lnSpc>
              <a:defRPr/>
            </a:pPr>
            <a:r>
              <a:rPr lang="en-US" altLang="zh-CN" sz="2400" dirty="0">
                <a:solidFill>
                  <a:prstClr val="black"/>
                </a:solidFill>
                <a:latin typeface="Times New Roman" panose="02020603050405020304" pitchFamily="18" charset="0"/>
                <a:ea typeface="等线" panose="02010600030101010101" pitchFamily="2" charset="-122"/>
                <a:cs typeface="Times New Roman" panose="02020603050405020304" pitchFamily="18" charset="0"/>
              </a:rPr>
              <a:t>for integer </a:t>
            </a:r>
            <a:r>
              <a:rPr lang="en-US" altLang="zh-CN" sz="2400" i="1" dirty="0">
                <a:solidFill>
                  <a:srgbClr val="0C0CFE"/>
                </a:solidFill>
                <a:latin typeface="Times New Roman" panose="02020603050405020304" pitchFamily="18" charset="0"/>
                <a:ea typeface="等线" panose="02010600030101010101" pitchFamily="2" charset="-122"/>
                <a:cs typeface="Times New Roman" panose="02020603050405020304" pitchFamily="18" charset="0"/>
              </a:rPr>
              <a:t>n</a:t>
            </a:r>
            <a:r>
              <a:rPr lang="en-US" altLang="zh-CN" sz="2400" dirty="0">
                <a:solidFill>
                  <a:srgbClr val="0C0CFE"/>
                </a:solidFill>
                <a:latin typeface="Times New Roman" panose="02020603050405020304" pitchFamily="18" charset="0"/>
                <a:ea typeface="等线" panose="02010600030101010101" pitchFamily="2" charset="-122"/>
                <a:cs typeface="Times New Roman" panose="02020603050405020304" pitchFamily="18" charset="0"/>
              </a:rPr>
              <a:t> &gt; 0</a:t>
            </a:r>
            <a:r>
              <a:rPr lang="en-US" altLang="zh-CN" sz="2400" dirty="0">
                <a:solidFill>
                  <a:prstClr val="black"/>
                </a:solidFill>
                <a:latin typeface="Times New Roman" panose="02020603050405020304" pitchFamily="18" charset="0"/>
                <a:ea typeface="等线" panose="02010600030101010101" pitchFamily="2" charset="-122"/>
                <a:cs typeface="Times New Roman" panose="02020603050405020304" pitchFamily="18" charset="0"/>
              </a:rPr>
              <a:t>, and the corresponding energies are</a:t>
            </a:r>
            <a:endParaRPr lang="en-US" altLang="zh-CN" sz="2400" dirty="0">
              <a:solidFill>
                <a:prstClr val="black"/>
              </a:solidFill>
              <a:latin typeface="Times New Roman" panose="02020603050405020304" pitchFamily="18" charset="0"/>
              <a:ea typeface="等线" panose="02010600030101010101" pitchFamily="2" charset="-122"/>
              <a:cs typeface="Times New Roman" panose="02020603050405020304" pitchFamily="18" charset="0"/>
            </a:endParaRPr>
          </a:p>
          <a:p>
            <a:pPr>
              <a:lnSpc>
                <a:spcPct val="120000"/>
              </a:lnSpc>
              <a:defRPr/>
            </a:pPr>
            <a:endParaRPr lang="en-US" altLang="zh-CN" sz="2400" dirty="0">
              <a:solidFill>
                <a:prstClr val="black"/>
              </a:solidFill>
              <a:latin typeface="Times New Roman" panose="02020603050405020304" pitchFamily="18" charset="0"/>
              <a:ea typeface="等线" panose="02010600030101010101" pitchFamily="2" charset="-122"/>
              <a:cs typeface="Times New Roman" panose="02020603050405020304" pitchFamily="18" charset="0"/>
            </a:endParaRPr>
          </a:p>
          <a:p>
            <a:pPr>
              <a:lnSpc>
                <a:spcPct val="120000"/>
              </a:lnSpc>
              <a:defRPr/>
            </a:pPr>
            <a:endParaRPr lang="en-US" altLang="zh-CN" sz="2400" dirty="0">
              <a:solidFill>
                <a:prstClr val="black"/>
              </a:solidFill>
              <a:latin typeface="Times New Roman" panose="02020603050405020304" pitchFamily="18" charset="0"/>
              <a:ea typeface="等线" panose="02010600030101010101" pitchFamily="2" charset="-122"/>
              <a:cs typeface="Times New Roman" panose="02020603050405020304" pitchFamily="18" charset="0"/>
            </a:endParaRPr>
          </a:p>
        </p:txBody>
      </p:sp>
      <p:graphicFrame>
        <p:nvGraphicFramePr>
          <p:cNvPr id="6" name="对象 5"/>
          <p:cNvGraphicFramePr>
            <a:graphicFrameLocks noChangeAspect="1"/>
          </p:cNvGraphicFramePr>
          <p:nvPr/>
        </p:nvGraphicFramePr>
        <p:xfrm>
          <a:off x="3999789" y="4710907"/>
          <a:ext cx="2158560" cy="838080"/>
        </p:xfrm>
        <a:graphic>
          <a:graphicData uri="http://schemas.openxmlformats.org/presentationml/2006/ole">
            <mc:AlternateContent xmlns:mc="http://schemas.openxmlformats.org/markup-compatibility/2006">
              <mc:Choice xmlns:v="urn:schemas-microsoft-com:vml" Requires="v">
                <p:oleObj spid="_x0000_s0" name="Equation" r:id="rId1" imgW="25908000" imgH="10058400" progId="Equation.DSMT4">
                  <p:embed/>
                </p:oleObj>
              </mc:Choice>
              <mc:Fallback>
                <p:oleObj name="Equation" r:id="rId1" imgW="25908000" imgH="10058400" progId="Equation.DSMT4">
                  <p:embed/>
                  <p:pic>
                    <p:nvPicPr>
                      <p:cNvPr id="0" name="对象 5"/>
                      <p:cNvPicPr/>
                      <p:nvPr/>
                    </p:nvPicPr>
                    <p:blipFill>
                      <a:blip r:embed="rId2"/>
                      <a:stretch>
                        <a:fillRect/>
                      </a:stretch>
                    </p:blipFill>
                    <p:spPr>
                      <a:xfrm>
                        <a:off x="3999789" y="4710907"/>
                        <a:ext cx="2158560" cy="838080"/>
                      </a:xfrm>
                      <a:prstGeom prst="rect">
                        <a:avLst/>
                      </a:prstGeom>
                    </p:spPr>
                  </p:pic>
                </p:oleObj>
              </mc:Fallback>
            </mc:AlternateContent>
          </a:graphicData>
        </a:graphic>
      </p:graphicFrame>
      <p:sp>
        <p:nvSpPr>
          <p:cNvPr id="9" name="Line 2"/>
          <p:cNvSpPr>
            <a:spLocks noChangeShapeType="1"/>
          </p:cNvSpPr>
          <p:nvPr/>
        </p:nvSpPr>
        <p:spPr bwMode="auto">
          <a:xfrm flipV="1">
            <a:off x="0" y="905259"/>
            <a:ext cx="12192000" cy="9143"/>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0" name="Object 6"/>
          <p:cNvGraphicFramePr>
            <a:graphicFrameLocks noChangeAspect="1"/>
          </p:cNvGraphicFramePr>
          <p:nvPr/>
        </p:nvGraphicFramePr>
        <p:xfrm>
          <a:off x="3084513" y="3282950"/>
          <a:ext cx="3922712" cy="890588"/>
        </p:xfrm>
        <a:graphic>
          <a:graphicData uri="http://schemas.openxmlformats.org/presentationml/2006/ole">
            <mc:AlternateContent xmlns:mc="http://schemas.openxmlformats.org/markup-compatibility/2006">
              <mc:Choice xmlns:v="urn:schemas-microsoft-com:vml" Requires="v">
                <p:oleObj spid="_x0000_s2" name="Equation" r:id="rId3" imgW="46939200" imgH="10668000" progId="Equation.DSMT4">
                  <p:embed/>
                </p:oleObj>
              </mc:Choice>
              <mc:Fallback>
                <p:oleObj name="Equation" r:id="rId3" imgW="46939200" imgH="10668000" progId="Equation.DSMT4">
                  <p:embed/>
                  <p:pic>
                    <p:nvPicPr>
                      <p:cNvPr id="0" name="Object 6"/>
                      <p:cNvPicPr>
                        <a:picLocks noChangeAspect="1" noChangeArrowheads="1"/>
                      </p:cNvPicPr>
                      <p:nvPr/>
                    </p:nvPicPr>
                    <p:blipFill>
                      <a:blip r:embed="rId4"/>
                      <a:srcRect/>
                      <a:stretch>
                        <a:fillRect/>
                      </a:stretch>
                    </p:blipFill>
                    <p:spPr bwMode="auto">
                      <a:xfrm>
                        <a:off x="3084513" y="3282950"/>
                        <a:ext cx="3922712" cy="890588"/>
                      </a:xfrm>
                      <a:prstGeom prst="rect">
                        <a:avLst/>
                      </a:prstGeom>
                      <a:noFill/>
                      <a:ln>
                        <a:noFill/>
                      </a:ln>
                      <a:effectLst/>
                    </p:spPr>
                  </p:pic>
                </p:oleObj>
              </mc:Fallback>
            </mc:AlternateContent>
          </a:graphicData>
        </a:graphic>
      </p:graphicFrame>
      <p:graphicFrame>
        <p:nvGraphicFramePr>
          <p:cNvPr id="5" name="Object 1025"/>
          <p:cNvGraphicFramePr>
            <a:graphicFrameLocks noChangeAspect="1"/>
          </p:cNvGraphicFramePr>
          <p:nvPr/>
        </p:nvGraphicFramePr>
        <p:xfrm>
          <a:off x="1879600" y="1670050"/>
          <a:ext cx="3414713" cy="831850"/>
        </p:xfrm>
        <a:graphic>
          <a:graphicData uri="http://schemas.openxmlformats.org/presentationml/2006/ole">
            <mc:AlternateContent xmlns:mc="http://schemas.openxmlformats.org/markup-compatibility/2006">
              <mc:Choice xmlns:v="urn:schemas-microsoft-com:vml" Requires="v">
                <p:oleObj spid="_x0000_s7" name="Equation" r:id="rId5" imgW="41148000" imgH="10058400" progId="Equation.DSMT4">
                  <p:embed/>
                </p:oleObj>
              </mc:Choice>
              <mc:Fallback>
                <p:oleObj name="Equation" r:id="rId5" imgW="41148000" imgH="10058400" progId="Equation.DSMT4">
                  <p:embed/>
                  <p:pic>
                    <p:nvPicPr>
                      <p:cNvPr id="0" name="Object 1025"/>
                      <p:cNvPicPr>
                        <a:picLocks noChangeAspect="1" noChangeArrowheads="1"/>
                      </p:cNvPicPr>
                      <p:nvPr/>
                    </p:nvPicPr>
                    <p:blipFill>
                      <a:blip r:embed="rId6"/>
                      <a:srcRect/>
                      <a:stretch>
                        <a:fillRect/>
                      </a:stretch>
                    </p:blipFill>
                    <p:spPr bwMode="auto">
                      <a:xfrm>
                        <a:off x="1879600" y="1670050"/>
                        <a:ext cx="3414713" cy="831850"/>
                      </a:xfrm>
                      <a:prstGeom prst="rect">
                        <a:avLst/>
                      </a:prstGeom>
                      <a:noFill/>
                      <a:ln>
                        <a:noFill/>
                      </a:ln>
                      <a:effectLst/>
                    </p:spPr>
                  </p:pic>
                </p:oleObj>
              </mc:Fallback>
            </mc:AlternateContent>
          </a:graphicData>
        </a:graphic>
      </p:graphicFrame>
      <p:graphicFrame>
        <p:nvGraphicFramePr>
          <p:cNvPr id="8" name="对象 7"/>
          <p:cNvGraphicFramePr>
            <a:graphicFrameLocks noChangeAspect="1"/>
          </p:cNvGraphicFramePr>
          <p:nvPr/>
        </p:nvGraphicFramePr>
        <p:xfrm>
          <a:off x="6158349" y="1578015"/>
          <a:ext cx="4723920" cy="1015920"/>
        </p:xfrm>
        <a:graphic>
          <a:graphicData uri="http://schemas.openxmlformats.org/presentationml/2006/ole">
            <mc:AlternateContent xmlns:mc="http://schemas.openxmlformats.org/markup-compatibility/2006">
              <mc:Choice xmlns:v="urn:schemas-microsoft-com:vml" Requires="v">
                <p:oleObj spid="_x0000_s11" name="Equation" r:id="rId7" imgW="56692800" imgH="12192000" progId="Equation.DSMT4">
                  <p:embed/>
                </p:oleObj>
              </mc:Choice>
              <mc:Fallback>
                <p:oleObj name="Equation" r:id="rId7" imgW="56692800" imgH="12192000" progId="Equation.DSMT4">
                  <p:embed/>
                  <p:pic>
                    <p:nvPicPr>
                      <p:cNvPr id="0" name="对象 4"/>
                      <p:cNvPicPr/>
                      <p:nvPr/>
                    </p:nvPicPr>
                    <p:blipFill>
                      <a:blip r:embed="rId8"/>
                      <a:stretch>
                        <a:fillRect/>
                      </a:stretch>
                    </p:blipFill>
                    <p:spPr>
                      <a:xfrm>
                        <a:off x="6158349" y="1578015"/>
                        <a:ext cx="4723920" cy="1015920"/>
                      </a:xfrm>
                      <a:prstGeom prst="rect">
                        <a:avLst/>
                      </a:prstGeom>
                    </p:spPr>
                  </p:pic>
                </p:oleObj>
              </mc:Fallback>
            </mc:AlternateContent>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168106" y="297247"/>
            <a:ext cx="3321743"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“Particle on a cycle”</a:t>
            </a:r>
            <a:endParaRPr lang="en-US" altLang="zh-CN" sz="2800" b="1" kern="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Line 2"/>
          <p:cNvSpPr>
            <a:spLocks noChangeShapeType="1"/>
          </p:cNvSpPr>
          <p:nvPr/>
        </p:nvSpPr>
        <p:spPr bwMode="auto">
          <a:xfrm flipV="1">
            <a:off x="0" y="905259"/>
            <a:ext cx="12192000" cy="9143"/>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椭圆 12"/>
          <p:cNvSpPr/>
          <p:nvPr/>
        </p:nvSpPr>
        <p:spPr>
          <a:xfrm>
            <a:off x="9537700" y="1123309"/>
            <a:ext cx="2121468" cy="2088232"/>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14" name="直接箭头连接符 13"/>
          <p:cNvCxnSpPr>
            <a:endCxn id="13" idx="3"/>
          </p:cNvCxnSpPr>
          <p:nvPr/>
        </p:nvCxnSpPr>
        <p:spPr>
          <a:xfrm flipH="1">
            <a:off x="9848382" y="2167425"/>
            <a:ext cx="750052" cy="73830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endCxn id="13" idx="5"/>
          </p:cNvCxnSpPr>
          <p:nvPr/>
        </p:nvCxnSpPr>
        <p:spPr>
          <a:xfrm>
            <a:off x="10598434" y="2167425"/>
            <a:ext cx="750052" cy="73830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10436059" y="2336521"/>
            <a:ext cx="340158" cy="400110"/>
          </a:xfrm>
          <a:prstGeom prst="rect">
            <a:avLst/>
          </a:prstGeom>
          <a:noFill/>
        </p:spPr>
        <p:txBody>
          <a:bodyPr wrap="none" rtlCol="0">
            <a:spAutoFit/>
          </a:bodyPr>
          <a:lstStyle/>
          <a:p>
            <a:r>
              <a:rPr lang="zh-CN" altLang="en-US" sz="2000" b="1" dirty="0">
                <a:solidFill>
                  <a:srgbClr val="FFFF00"/>
                </a:solidFill>
                <a:sym typeface="Symbol" panose="05050102010706020507" pitchFamily="18" charset="2"/>
              </a:rPr>
              <a:t></a:t>
            </a:r>
            <a:endParaRPr lang="zh-CN" altLang="en-US" sz="2000" b="1" dirty="0">
              <a:solidFill>
                <a:srgbClr val="FFFF00"/>
              </a:solidFill>
            </a:endParaRPr>
          </a:p>
        </p:txBody>
      </p:sp>
      <p:sp>
        <p:nvSpPr>
          <p:cNvPr id="17" name="弧形 16"/>
          <p:cNvSpPr/>
          <p:nvPr/>
        </p:nvSpPr>
        <p:spPr>
          <a:xfrm rot="8287007">
            <a:off x="10197006" y="2573081"/>
            <a:ext cx="982980" cy="834390"/>
          </a:xfrm>
          <a:prstGeom prst="arc">
            <a:avLst/>
          </a:prstGeom>
          <a:ln w="28575">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p:cNvSpPr txBox="1"/>
          <p:nvPr/>
        </p:nvSpPr>
        <p:spPr>
          <a:xfrm>
            <a:off x="10879685" y="2151855"/>
            <a:ext cx="317716" cy="369332"/>
          </a:xfrm>
          <a:prstGeom prst="rect">
            <a:avLst/>
          </a:prstGeom>
          <a:noFill/>
        </p:spPr>
        <p:txBody>
          <a:bodyPr wrap="none" rtlCol="0">
            <a:spAutoFit/>
          </a:bodyPr>
          <a:lstStyle/>
          <a:p>
            <a:r>
              <a:rPr lang="en-US" altLang="zh-CN" dirty="0">
                <a:solidFill>
                  <a:srgbClr val="FFFF00"/>
                </a:solidFill>
              </a:rPr>
              <a:t>R</a:t>
            </a:r>
            <a:endParaRPr lang="zh-CN" altLang="en-US" dirty="0">
              <a:solidFill>
                <a:srgbClr val="FFFF00"/>
              </a:solidFill>
            </a:endParaRPr>
          </a:p>
        </p:txBody>
      </p:sp>
      <p:sp>
        <p:nvSpPr>
          <p:cNvPr id="19" name="文本框 18"/>
          <p:cNvSpPr txBox="1"/>
          <p:nvPr/>
        </p:nvSpPr>
        <p:spPr>
          <a:xfrm>
            <a:off x="10489163" y="3488178"/>
            <a:ext cx="410228" cy="461665"/>
          </a:xfrm>
          <a:prstGeom prst="rect">
            <a:avLst/>
          </a:prstGeom>
          <a:noFill/>
        </p:spPr>
        <p:txBody>
          <a:bodyPr wrap="square">
            <a:spAutoFit/>
          </a:bodyPr>
          <a:lstStyle/>
          <a:p>
            <a:r>
              <a:rPr lang="en-US" altLang="zh-CN" sz="2400" dirty="0">
                <a:solidFill>
                  <a:srgbClr val="3333FF"/>
                </a:solidFill>
                <a:latin typeface="Times New Roman" panose="02020603050405020304" pitchFamily="18" charset="0"/>
                <a:cs typeface="Times New Roman" panose="02020603050405020304" pitchFamily="18" charset="0"/>
              </a:rPr>
              <a:t>x</a:t>
            </a:r>
            <a:endParaRPr lang="zh-CN" altLang="en-US" sz="2400" dirty="0"/>
          </a:p>
        </p:txBody>
      </p:sp>
      <p:graphicFrame>
        <p:nvGraphicFramePr>
          <p:cNvPr id="20" name="对象 19"/>
          <p:cNvGraphicFramePr>
            <a:graphicFrameLocks noChangeAspect="1"/>
          </p:cNvGraphicFramePr>
          <p:nvPr/>
        </p:nvGraphicFramePr>
        <p:xfrm>
          <a:off x="7079037" y="1622176"/>
          <a:ext cx="1752480" cy="914400"/>
        </p:xfrm>
        <a:graphic>
          <a:graphicData uri="http://schemas.openxmlformats.org/presentationml/2006/ole">
            <mc:AlternateContent xmlns:mc="http://schemas.openxmlformats.org/markup-compatibility/2006">
              <mc:Choice xmlns:v="urn:schemas-microsoft-com:vml" Requires="v">
                <p:oleObj spid="_x0000_s0" name="Equation" r:id="rId1" imgW="21031200" imgH="10972800" progId="Equation.DSMT4">
                  <p:embed/>
                </p:oleObj>
              </mc:Choice>
              <mc:Fallback>
                <p:oleObj name="Equation" r:id="rId1" imgW="21031200" imgH="10972800" progId="Equation.DSMT4">
                  <p:embed/>
                  <p:pic>
                    <p:nvPicPr>
                      <p:cNvPr id="0" name="对象 19"/>
                      <p:cNvPicPr/>
                      <p:nvPr/>
                    </p:nvPicPr>
                    <p:blipFill>
                      <a:blip r:embed="rId2"/>
                      <a:stretch>
                        <a:fillRect/>
                      </a:stretch>
                    </p:blipFill>
                    <p:spPr>
                      <a:xfrm>
                        <a:off x="7079037" y="1622176"/>
                        <a:ext cx="1752480" cy="914400"/>
                      </a:xfrm>
                      <a:prstGeom prst="rect">
                        <a:avLst/>
                      </a:prstGeom>
                    </p:spPr>
                  </p:pic>
                </p:oleObj>
              </mc:Fallback>
            </mc:AlternateContent>
          </a:graphicData>
        </a:graphic>
      </p:graphicFrame>
      <p:graphicFrame>
        <p:nvGraphicFramePr>
          <p:cNvPr id="2" name="对象 1"/>
          <p:cNvGraphicFramePr>
            <a:graphicFrameLocks noChangeAspect="1"/>
          </p:cNvGraphicFramePr>
          <p:nvPr/>
        </p:nvGraphicFramePr>
        <p:xfrm>
          <a:off x="1058987" y="1622176"/>
          <a:ext cx="2743200" cy="889000"/>
        </p:xfrm>
        <a:graphic>
          <a:graphicData uri="http://schemas.openxmlformats.org/presentationml/2006/ole">
            <mc:AlternateContent xmlns:mc="http://schemas.openxmlformats.org/markup-compatibility/2006">
              <mc:Choice xmlns:v="urn:schemas-microsoft-com:vml" Requires="v">
                <p:oleObj spid="_x0000_s3" name="Equation" r:id="rId3" imgW="2744470" imgH="890270" progId="Equation.DSMT4">
                  <p:embed/>
                </p:oleObj>
              </mc:Choice>
              <mc:Fallback>
                <p:oleObj name="Equation" r:id="rId3" imgW="2744470" imgH="890270" progId="Equation.DSMT4">
                  <p:embed/>
                  <p:pic>
                    <p:nvPicPr>
                      <p:cNvPr id="0" name="图片 2"/>
                      <p:cNvPicPr/>
                      <p:nvPr/>
                    </p:nvPicPr>
                    <p:blipFill>
                      <a:blip r:embed="rId4"/>
                      <a:stretch>
                        <a:fillRect/>
                      </a:stretch>
                    </p:blipFill>
                    <p:spPr>
                      <a:xfrm>
                        <a:off x="1058987" y="1622176"/>
                        <a:ext cx="2743200" cy="889000"/>
                      </a:xfrm>
                      <a:prstGeom prst="rect">
                        <a:avLst/>
                      </a:prstGeom>
                    </p:spPr>
                  </p:pic>
                </p:oleObj>
              </mc:Fallback>
            </mc:AlternateContent>
          </a:graphicData>
        </a:graphic>
      </p:graphicFrame>
      <p:graphicFrame>
        <p:nvGraphicFramePr>
          <p:cNvPr id="27" name="对象 26"/>
          <p:cNvGraphicFramePr>
            <a:graphicFrameLocks noChangeAspect="1"/>
          </p:cNvGraphicFramePr>
          <p:nvPr/>
        </p:nvGraphicFramePr>
        <p:xfrm>
          <a:off x="1547441" y="2883751"/>
          <a:ext cx="3886200" cy="889000"/>
        </p:xfrm>
        <a:graphic>
          <a:graphicData uri="http://schemas.openxmlformats.org/presentationml/2006/ole">
            <mc:AlternateContent xmlns:mc="http://schemas.openxmlformats.org/markup-compatibility/2006">
              <mc:Choice xmlns:v="urn:schemas-microsoft-com:vml" Requires="v">
                <p:oleObj spid="_x0000_s6" name="Equation" r:id="rId5" imgW="46634400" imgH="10668000" progId="Equation.DSMT4">
                  <p:embed/>
                </p:oleObj>
              </mc:Choice>
              <mc:Fallback>
                <p:oleObj name="Equation" r:id="rId5" imgW="46634400" imgH="10668000" progId="Equation.DSMT4">
                  <p:embed/>
                  <p:pic>
                    <p:nvPicPr>
                      <p:cNvPr id="0" name="对象 8"/>
                      <p:cNvPicPr/>
                      <p:nvPr/>
                    </p:nvPicPr>
                    <p:blipFill>
                      <a:blip r:embed="rId6"/>
                      <a:stretch>
                        <a:fillRect/>
                      </a:stretch>
                    </p:blipFill>
                    <p:spPr>
                      <a:xfrm>
                        <a:off x="1547441" y="2883751"/>
                        <a:ext cx="3886200" cy="889000"/>
                      </a:xfrm>
                      <a:prstGeom prst="rect">
                        <a:avLst/>
                      </a:prstGeom>
                    </p:spPr>
                  </p:pic>
                </p:oleObj>
              </mc:Fallback>
            </mc:AlternateContent>
          </a:graphicData>
        </a:graphic>
      </p:graphicFrame>
      <p:graphicFrame>
        <p:nvGraphicFramePr>
          <p:cNvPr id="28" name="对象 27"/>
          <p:cNvGraphicFramePr>
            <a:graphicFrameLocks noChangeAspect="1"/>
          </p:cNvGraphicFramePr>
          <p:nvPr/>
        </p:nvGraphicFramePr>
        <p:xfrm>
          <a:off x="1534741" y="3988651"/>
          <a:ext cx="5561013" cy="889000"/>
        </p:xfrm>
        <a:graphic>
          <a:graphicData uri="http://schemas.openxmlformats.org/presentationml/2006/ole">
            <mc:AlternateContent xmlns:mc="http://schemas.openxmlformats.org/markup-compatibility/2006">
              <mc:Choice xmlns:v="urn:schemas-microsoft-com:vml" Requires="v">
                <p:oleObj spid="_x0000_s7" name="Equation" r:id="rId7" imgW="66751200" imgH="10668000" progId="Equation.DSMT4">
                  <p:embed/>
                </p:oleObj>
              </mc:Choice>
              <mc:Fallback>
                <p:oleObj name="Equation" r:id="rId7" imgW="66751200" imgH="10668000" progId="Equation.DSMT4">
                  <p:embed/>
                  <p:pic>
                    <p:nvPicPr>
                      <p:cNvPr id="0" name="对象 9"/>
                      <p:cNvPicPr/>
                      <p:nvPr/>
                    </p:nvPicPr>
                    <p:blipFill>
                      <a:blip r:embed="rId8"/>
                      <a:stretch>
                        <a:fillRect/>
                      </a:stretch>
                    </p:blipFill>
                    <p:spPr>
                      <a:xfrm>
                        <a:off x="1534741" y="3988651"/>
                        <a:ext cx="5561013" cy="889000"/>
                      </a:xfrm>
                      <a:prstGeom prst="rect">
                        <a:avLst/>
                      </a:prstGeom>
                    </p:spPr>
                  </p:pic>
                </p:oleObj>
              </mc:Fallback>
            </mc:AlternateContent>
          </a:graphicData>
        </a:graphic>
      </p:graphicFrame>
      <p:graphicFrame>
        <p:nvGraphicFramePr>
          <p:cNvPr id="29" name="对象 28"/>
          <p:cNvGraphicFramePr>
            <a:graphicFrameLocks noChangeAspect="1"/>
          </p:cNvGraphicFramePr>
          <p:nvPr/>
        </p:nvGraphicFramePr>
        <p:xfrm>
          <a:off x="1849797" y="4963165"/>
          <a:ext cx="1980720" cy="838080"/>
        </p:xfrm>
        <a:graphic>
          <a:graphicData uri="http://schemas.openxmlformats.org/presentationml/2006/ole">
            <mc:AlternateContent xmlns:mc="http://schemas.openxmlformats.org/markup-compatibility/2006">
              <mc:Choice xmlns:v="urn:schemas-microsoft-com:vml" Requires="v">
                <p:oleObj spid="_x0000_s8" name="Equation" r:id="rId9" imgW="23774400" imgH="10058400" progId="Equation.DSMT4">
                  <p:embed/>
                </p:oleObj>
              </mc:Choice>
              <mc:Fallback>
                <p:oleObj name="Equation" r:id="rId9" imgW="23774400" imgH="10058400" progId="Equation.DSMT4">
                  <p:embed/>
                  <p:pic>
                    <p:nvPicPr>
                      <p:cNvPr id="0" name="对象 10"/>
                      <p:cNvPicPr/>
                      <p:nvPr/>
                    </p:nvPicPr>
                    <p:blipFill>
                      <a:blip r:embed="rId10"/>
                      <a:stretch>
                        <a:fillRect/>
                      </a:stretch>
                    </p:blipFill>
                    <p:spPr>
                      <a:xfrm>
                        <a:off x="1849797" y="4963165"/>
                        <a:ext cx="1980720" cy="838080"/>
                      </a:xfrm>
                      <a:prstGeom prst="rect">
                        <a:avLst/>
                      </a:prstGeom>
                    </p:spPr>
                  </p:pic>
                </p:oleObj>
              </mc:Fallback>
            </mc:AlternateContent>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nvGraphicFramePr>
        <p:xfrm>
          <a:off x="3543300" y="581025"/>
          <a:ext cx="2590800" cy="506413"/>
        </p:xfrm>
        <a:graphic>
          <a:graphicData uri="http://schemas.openxmlformats.org/presentationml/2006/ole">
            <mc:AlternateContent xmlns:mc="http://schemas.openxmlformats.org/markup-compatibility/2006">
              <mc:Choice xmlns:v="urn:schemas-microsoft-com:vml" Requires="v">
                <p:oleObj spid="_x0000_s0" name="Equation" r:id="rId1" imgW="31089600" imgH="6096000" progId="Equation.DSMT4">
                  <p:embed/>
                </p:oleObj>
              </mc:Choice>
              <mc:Fallback>
                <p:oleObj name="Equation" r:id="rId1" imgW="31089600" imgH="6096000" progId="Equation.DSMT4">
                  <p:embed/>
                  <p:pic>
                    <p:nvPicPr>
                      <p:cNvPr id="0" name="对象 1"/>
                      <p:cNvPicPr/>
                      <p:nvPr/>
                    </p:nvPicPr>
                    <p:blipFill>
                      <a:blip r:embed="rId2"/>
                      <a:stretch>
                        <a:fillRect/>
                      </a:stretch>
                    </p:blipFill>
                    <p:spPr>
                      <a:xfrm>
                        <a:off x="3543300" y="581025"/>
                        <a:ext cx="2590800" cy="506413"/>
                      </a:xfrm>
                      <a:prstGeom prst="rect">
                        <a:avLst/>
                      </a:prstGeom>
                    </p:spPr>
                  </p:pic>
                </p:oleObj>
              </mc:Fallback>
            </mc:AlternateContent>
          </a:graphicData>
        </a:graphic>
      </p:graphicFrame>
      <p:sp>
        <p:nvSpPr>
          <p:cNvPr id="3" name="文本框 2"/>
          <p:cNvSpPr txBox="1"/>
          <p:nvPr/>
        </p:nvSpPr>
        <p:spPr>
          <a:xfrm>
            <a:off x="457200" y="1137282"/>
            <a:ext cx="2797561" cy="461665"/>
          </a:xfrm>
          <a:prstGeom prst="rect">
            <a:avLst/>
          </a:prstGeom>
          <a:noFill/>
        </p:spPr>
        <p:txBody>
          <a:bodyPr wrap="none" rtlCol="0">
            <a:spAutoFit/>
          </a:bodyPr>
          <a:lstStyle/>
          <a:p>
            <a:r>
              <a:rPr lang="en-US" altLang="zh-CN" sz="2400" dirty="0">
                <a:latin typeface="Times New Roman" panose="02020603050405020304" pitchFamily="18" charset="0"/>
                <a:cs typeface="Times New Roman" panose="02020603050405020304" pitchFamily="18" charset="0"/>
              </a:rPr>
              <a:t>Boundary condition: </a:t>
            </a:r>
            <a:endParaRPr lang="zh-CN" altLang="en-US" sz="2400" dirty="0">
              <a:latin typeface="Times New Roman" panose="02020603050405020304" pitchFamily="18" charset="0"/>
              <a:cs typeface="Times New Roman" panose="02020603050405020304" pitchFamily="18" charset="0"/>
            </a:endParaRPr>
          </a:p>
        </p:txBody>
      </p:sp>
      <p:graphicFrame>
        <p:nvGraphicFramePr>
          <p:cNvPr id="4" name="对象 3"/>
          <p:cNvGraphicFramePr>
            <a:graphicFrameLocks noChangeAspect="1"/>
          </p:cNvGraphicFramePr>
          <p:nvPr/>
        </p:nvGraphicFramePr>
        <p:xfrm>
          <a:off x="3543300" y="1603375"/>
          <a:ext cx="2413000" cy="508000"/>
        </p:xfrm>
        <a:graphic>
          <a:graphicData uri="http://schemas.openxmlformats.org/presentationml/2006/ole">
            <mc:AlternateContent xmlns:mc="http://schemas.openxmlformats.org/markup-compatibility/2006">
              <mc:Choice xmlns:v="urn:schemas-microsoft-com:vml" Requires="v">
                <p:oleObj spid="_x0000_s5" name="Equation" r:id="rId3" imgW="28956000" imgH="6096000" progId="Equation.DSMT4">
                  <p:embed/>
                </p:oleObj>
              </mc:Choice>
              <mc:Fallback>
                <p:oleObj name="Equation" r:id="rId3" imgW="28956000" imgH="6096000" progId="Equation.DSMT4">
                  <p:embed/>
                  <p:pic>
                    <p:nvPicPr>
                      <p:cNvPr id="0" name="对象 3"/>
                      <p:cNvPicPr/>
                      <p:nvPr/>
                    </p:nvPicPr>
                    <p:blipFill>
                      <a:blip r:embed="rId4"/>
                      <a:stretch>
                        <a:fillRect/>
                      </a:stretch>
                    </p:blipFill>
                    <p:spPr>
                      <a:xfrm>
                        <a:off x="3543300" y="1603375"/>
                        <a:ext cx="2413000" cy="50800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3784800" y="2439594"/>
          <a:ext cx="1930320" cy="507600"/>
        </p:xfrm>
        <a:graphic>
          <a:graphicData uri="http://schemas.openxmlformats.org/presentationml/2006/ole">
            <mc:AlternateContent xmlns:mc="http://schemas.openxmlformats.org/markup-compatibility/2006">
              <mc:Choice xmlns:v="urn:schemas-microsoft-com:vml" Requires="v">
                <p:oleObj spid="_x0000_s7" name="Equation" r:id="rId5" imgW="23164800" imgH="6096000" progId="Equation.DSMT4">
                  <p:embed/>
                </p:oleObj>
              </mc:Choice>
              <mc:Fallback>
                <p:oleObj name="Equation" r:id="rId5" imgW="23164800" imgH="6096000" progId="Equation.DSMT4">
                  <p:embed/>
                  <p:pic>
                    <p:nvPicPr>
                      <p:cNvPr id="0" name="对象 4"/>
                      <p:cNvPicPr/>
                      <p:nvPr/>
                    </p:nvPicPr>
                    <p:blipFill>
                      <a:blip r:embed="rId6"/>
                      <a:stretch>
                        <a:fillRect/>
                      </a:stretch>
                    </p:blipFill>
                    <p:spPr>
                      <a:xfrm>
                        <a:off x="3784800" y="2439594"/>
                        <a:ext cx="1930320" cy="5076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6367980" y="2489994"/>
          <a:ext cx="2057040" cy="457200"/>
        </p:xfrm>
        <a:graphic>
          <a:graphicData uri="http://schemas.openxmlformats.org/presentationml/2006/ole">
            <mc:AlternateContent xmlns:mc="http://schemas.openxmlformats.org/markup-compatibility/2006">
              <mc:Choice xmlns:v="urn:schemas-microsoft-com:vml" Requires="v">
                <p:oleObj spid="_x0000_s9" name="Equation" r:id="rId7" imgW="24688800" imgH="5486400" progId="Equation.DSMT4">
                  <p:embed/>
                </p:oleObj>
              </mc:Choice>
              <mc:Fallback>
                <p:oleObj name="Equation" r:id="rId7" imgW="24688800" imgH="5486400" progId="Equation.DSMT4">
                  <p:embed/>
                  <p:pic>
                    <p:nvPicPr>
                      <p:cNvPr id="0" name="对象 5"/>
                      <p:cNvPicPr/>
                      <p:nvPr/>
                    </p:nvPicPr>
                    <p:blipFill>
                      <a:blip r:embed="rId8"/>
                      <a:stretch>
                        <a:fillRect/>
                      </a:stretch>
                    </p:blipFill>
                    <p:spPr>
                      <a:xfrm>
                        <a:off x="6367980" y="2489994"/>
                        <a:ext cx="2057040" cy="457200"/>
                      </a:xfrm>
                      <a:prstGeom prst="rect">
                        <a:avLst/>
                      </a:prstGeom>
                    </p:spPr>
                  </p:pic>
                </p:oleObj>
              </mc:Fallback>
            </mc:AlternateContent>
          </a:graphicData>
        </a:graphic>
      </p:graphicFrame>
      <p:sp>
        <p:nvSpPr>
          <p:cNvPr id="10" name="矩形 9"/>
          <p:cNvSpPr/>
          <p:nvPr/>
        </p:nvSpPr>
        <p:spPr>
          <a:xfrm>
            <a:off x="655114" y="3275416"/>
            <a:ext cx="9374968" cy="461665"/>
          </a:xfrm>
          <a:prstGeom prst="rect">
            <a:avLst/>
          </a:prstGeom>
        </p:spPr>
        <p:txBody>
          <a:bodyPr wrap="square">
            <a:spAutoFit/>
          </a:bodyPr>
          <a:lstStyle/>
          <a:p>
            <a:r>
              <a:rPr lang="en-US" altLang="zh-CN" sz="2400" dirty="0">
                <a:latin typeface="Times New Roman" panose="02020603050405020304" pitchFamily="18" charset="0"/>
                <a:cs typeface="Times New Roman" panose="02020603050405020304" pitchFamily="18" charset="0"/>
              </a:rPr>
              <a:t>A can be determined by applying normalization condition to function</a:t>
            </a:r>
            <a:endParaRPr lang="zh-CN" altLang="en-US" sz="2400" dirty="0">
              <a:latin typeface="Times New Roman" panose="02020603050405020304" pitchFamily="18" charset="0"/>
              <a:cs typeface="Times New Roman" panose="02020603050405020304" pitchFamily="18" charset="0"/>
            </a:endParaRPr>
          </a:p>
        </p:txBody>
      </p:sp>
      <p:graphicFrame>
        <p:nvGraphicFramePr>
          <p:cNvPr id="11" name="对象 10"/>
          <p:cNvGraphicFramePr>
            <a:graphicFrameLocks noChangeAspect="1"/>
          </p:cNvGraphicFramePr>
          <p:nvPr/>
        </p:nvGraphicFramePr>
        <p:xfrm>
          <a:off x="2102370" y="3978892"/>
          <a:ext cx="1396800" cy="888480"/>
        </p:xfrm>
        <a:graphic>
          <a:graphicData uri="http://schemas.openxmlformats.org/presentationml/2006/ole">
            <mc:AlternateContent xmlns:mc="http://schemas.openxmlformats.org/markup-compatibility/2006">
              <mc:Choice xmlns:v="urn:schemas-microsoft-com:vml" Requires="v">
                <p:oleObj spid="_x0000_s12" name="Equation" r:id="rId9" imgW="16764000" imgH="10668000" progId="Equation.DSMT4">
                  <p:embed/>
                </p:oleObj>
              </mc:Choice>
              <mc:Fallback>
                <p:oleObj name="Equation" r:id="rId9" imgW="16764000" imgH="10668000" progId="Equation.DSMT4">
                  <p:embed/>
                  <p:pic>
                    <p:nvPicPr>
                      <p:cNvPr id="0" name="对象 7"/>
                      <p:cNvPicPr/>
                      <p:nvPr/>
                    </p:nvPicPr>
                    <p:blipFill>
                      <a:blip r:embed="rId10"/>
                      <a:stretch>
                        <a:fillRect/>
                      </a:stretch>
                    </p:blipFill>
                    <p:spPr>
                      <a:xfrm>
                        <a:off x="2102370" y="3978892"/>
                        <a:ext cx="1396800" cy="888480"/>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6331174" y="4031235"/>
          <a:ext cx="1117440" cy="888480"/>
        </p:xfrm>
        <a:graphic>
          <a:graphicData uri="http://schemas.openxmlformats.org/presentationml/2006/ole">
            <mc:AlternateContent xmlns:mc="http://schemas.openxmlformats.org/markup-compatibility/2006">
              <mc:Choice xmlns:v="urn:schemas-microsoft-com:vml" Requires="v">
                <p:oleObj spid="_x0000_s14" name="Equation" r:id="rId11" imgW="13411200" imgH="10668000" progId="Equation.DSMT4">
                  <p:embed/>
                </p:oleObj>
              </mc:Choice>
              <mc:Fallback>
                <p:oleObj name="Equation" r:id="rId11" imgW="13411200" imgH="10668000" progId="Equation.DSMT4">
                  <p:embed/>
                  <p:pic>
                    <p:nvPicPr>
                      <p:cNvPr id="0" name="对象 8"/>
                      <p:cNvPicPr/>
                      <p:nvPr/>
                    </p:nvPicPr>
                    <p:blipFill>
                      <a:blip r:embed="rId12"/>
                      <a:stretch>
                        <a:fillRect/>
                      </a:stretch>
                    </p:blipFill>
                    <p:spPr>
                      <a:xfrm>
                        <a:off x="6331174" y="4031235"/>
                        <a:ext cx="1117440" cy="888480"/>
                      </a:xfrm>
                      <a:prstGeom prst="rect">
                        <a:avLst/>
                      </a:prstGeom>
                    </p:spPr>
                  </p:pic>
                </p:oleObj>
              </mc:Fallback>
            </mc:AlternateContent>
          </a:graphicData>
        </a:graphic>
      </p:graphicFrame>
      <p:sp>
        <p:nvSpPr>
          <p:cNvPr id="15" name="文本框 14"/>
          <p:cNvSpPr txBox="1"/>
          <p:nvPr/>
        </p:nvSpPr>
        <p:spPr>
          <a:xfrm>
            <a:off x="4470904" y="4161998"/>
            <a:ext cx="1447256" cy="461665"/>
          </a:xfrm>
          <a:prstGeom prst="rect">
            <a:avLst/>
          </a:prstGeom>
          <a:noFill/>
        </p:spPr>
        <p:txBody>
          <a:bodyPr wrap="none" rtlCol="0">
            <a:spAutoFit/>
          </a:bodyPr>
          <a:lstStyle/>
          <a:p>
            <a:r>
              <a:rPr lang="en-US" altLang="zh-CN" sz="2400" dirty="0">
                <a:latin typeface="Times New Roman" panose="02020603050405020304" pitchFamily="18" charset="0"/>
                <a:cs typeface="Times New Roman" panose="02020603050405020304" pitchFamily="18" charset="0"/>
              </a:rPr>
              <a:t>We select:</a:t>
            </a:r>
            <a:endParaRPr lang="zh-CN" altLang="en-US" sz="2400" dirty="0">
              <a:latin typeface="Times New Roman" panose="02020603050405020304" pitchFamily="18" charset="0"/>
              <a:cs typeface="Times New Roman" panose="02020603050405020304" pitchFamily="18" charset="0"/>
            </a:endParaRPr>
          </a:p>
        </p:txBody>
      </p:sp>
      <p:graphicFrame>
        <p:nvGraphicFramePr>
          <p:cNvPr id="16" name="对象 15"/>
          <p:cNvGraphicFramePr>
            <a:graphicFrameLocks noChangeAspect="1"/>
          </p:cNvGraphicFramePr>
          <p:nvPr/>
        </p:nvGraphicFramePr>
        <p:xfrm>
          <a:off x="3831298" y="5135172"/>
          <a:ext cx="3022600" cy="887412"/>
        </p:xfrm>
        <a:graphic>
          <a:graphicData uri="http://schemas.openxmlformats.org/presentationml/2006/ole">
            <mc:AlternateContent xmlns:mc="http://schemas.openxmlformats.org/markup-compatibility/2006">
              <mc:Choice xmlns:v="urn:schemas-microsoft-com:vml" Requires="v">
                <p:oleObj spid="_x0000_s17" name="Equation" r:id="rId13" imgW="36271200" imgH="10668000" progId="Equation.DSMT4">
                  <p:embed/>
                </p:oleObj>
              </mc:Choice>
              <mc:Fallback>
                <p:oleObj name="Equation" r:id="rId13" imgW="36271200" imgH="10668000" progId="Equation.DSMT4">
                  <p:embed/>
                  <p:pic>
                    <p:nvPicPr>
                      <p:cNvPr id="0" name="对象 10"/>
                      <p:cNvPicPr/>
                      <p:nvPr/>
                    </p:nvPicPr>
                    <p:blipFill>
                      <a:blip r:embed="rId14"/>
                      <a:stretch>
                        <a:fillRect/>
                      </a:stretch>
                    </p:blipFill>
                    <p:spPr>
                      <a:xfrm>
                        <a:off x="3831298" y="5135172"/>
                        <a:ext cx="3022600" cy="887412"/>
                      </a:xfrm>
                      <a:prstGeom prst="rect">
                        <a:avLst/>
                      </a:prstGeom>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322638" y="237100"/>
            <a:ext cx="6614311"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Quantization of vibration (one dimension)</a:t>
            </a:r>
            <a:endParaRPr lang="en-US" altLang="zh-CN" sz="2800" b="1" dirty="0">
              <a:latin typeface="Times New Roman" panose="02020603050405020304" pitchFamily="18" charset="0"/>
              <a:cs typeface="Times New Roman" panose="02020603050405020304" pitchFamily="18" charset="0"/>
            </a:endParaRPr>
          </a:p>
        </p:txBody>
      </p:sp>
      <p:sp>
        <p:nvSpPr>
          <p:cNvPr id="3" name="矩形 2"/>
          <p:cNvSpPr/>
          <p:nvPr/>
        </p:nvSpPr>
        <p:spPr>
          <a:xfrm>
            <a:off x="387350" y="1575800"/>
            <a:ext cx="11417300" cy="1383264"/>
          </a:xfrm>
          <a:prstGeom prst="rect">
            <a:avLst/>
          </a:prstGeom>
        </p:spPr>
        <p:txBody>
          <a:bodyPr wrap="square">
            <a:spAutoFit/>
          </a:bodyPr>
          <a:lstStyle/>
          <a:p>
            <a:pPr>
              <a:lnSpc>
                <a:spcPct val="120000"/>
              </a:lnSpc>
            </a:pPr>
            <a:r>
              <a:rPr lang="en-US" altLang="zh-CN" sz="2400" dirty="0">
                <a:latin typeface="Times New Roman" panose="02020603050405020304" pitchFamily="18" charset="0"/>
                <a:cs typeface="Times New Roman" panose="02020603050405020304" pitchFamily="18" charset="0"/>
              </a:rPr>
              <a:t>The Hamiltonian is</a:t>
            </a:r>
            <a:endParaRPr lang="en-US" altLang="zh-CN" sz="2400" dirty="0">
              <a:latin typeface="Times New Roman" panose="02020603050405020304" pitchFamily="18" charset="0"/>
              <a:cs typeface="Times New Roman" panose="02020603050405020304" pitchFamily="18" charset="0"/>
            </a:endParaRPr>
          </a:p>
          <a:p>
            <a:pPr>
              <a:lnSpc>
                <a:spcPct val="120000"/>
              </a:lnSpc>
            </a:pPr>
            <a:endParaRPr lang="en-US" altLang="zh-CN" sz="2400" dirty="0">
              <a:latin typeface="Times New Roman" panose="02020603050405020304" pitchFamily="18" charset="0"/>
              <a:cs typeface="Times New Roman" panose="02020603050405020304" pitchFamily="18" charset="0"/>
            </a:endParaRPr>
          </a:p>
          <a:p>
            <a:pPr>
              <a:lnSpc>
                <a:spcPct val="120000"/>
              </a:lnSpc>
            </a:pPr>
            <a:r>
              <a:rPr lang="en-US" altLang="zh-CN" sz="2400" dirty="0">
                <a:latin typeface="Times New Roman" panose="02020603050405020304" pitchFamily="18" charset="0"/>
                <a:cs typeface="Times New Roman" panose="02020603050405020304" pitchFamily="18" charset="0"/>
              </a:rPr>
              <a:t>The wavefunction in ground state is</a:t>
            </a:r>
            <a:endParaRPr lang="en-US" altLang="zh-CN" sz="2400" dirty="0">
              <a:latin typeface="Times New Roman" panose="02020603050405020304" pitchFamily="18" charset="0"/>
              <a:cs typeface="Times New Roman" panose="02020603050405020304" pitchFamily="18" charset="0"/>
            </a:endParaRPr>
          </a:p>
        </p:txBody>
      </p:sp>
      <p:graphicFrame>
        <p:nvGraphicFramePr>
          <p:cNvPr id="4" name="对象 3"/>
          <p:cNvGraphicFramePr>
            <a:graphicFrameLocks noChangeAspect="1"/>
          </p:cNvGraphicFramePr>
          <p:nvPr/>
        </p:nvGraphicFramePr>
        <p:xfrm>
          <a:off x="3322638" y="1466850"/>
          <a:ext cx="3962400" cy="765175"/>
        </p:xfrm>
        <a:graphic>
          <a:graphicData uri="http://schemas.openxmlformats.org/presentationml/2006/ole">
            <mc:AlternateContent xmlns:mc="http://schemas.openxmlformats.org/markup-compatibility/2006">
              <mc:Choice xmlns:v="urn:schemas-microsoft-com:vml" Requires="v">
                <p:oleObj spid="_x0000_s0" name="Equation" r:id="rId1" imgW="52120800" imgH="10058400" progId="Equation.DSMT4">
                  <p:embed/>
                </p:oleObj>
              </mc:Choice>
              <mc:Fallback>
                <p:oleObj name="Equation" r:id="rId1" imgW="52120800" imgH="10058400" progId="Equation.DSMT4">
                  <p:embed/>
                  <p:pic>
                    <p:nvPicPr>
                      <p:cNvPr id="0" name="对象 3"/>
                      <p:cNvPicPr/>
                      <p:nvPr/>
                    </p:nvPicPr>
                    <p:blipFill>
                      <a:blip r:embed="rId2"/>
                      <a:stretch>
                        <a:fillRect/>
                      </a:stretch>
                    </p:blipFill>
                    <p:spPr>
                      <a:xfrm>
                        <a:off x="3322638" y="1466850"/>
                        <a:ext cx="3962400" cy="765175"/>
                      </a:xfrm>
                      <a:prstGeom prst="rect">
                        <a:avLst/>
                      </a:prstGeom>
                    </p:spPr>
                  </p:pic>
                </p:oleObj>
              </mc:Fallback>
            </mc:AlternateContent>
          </a:graphicData>
        </a:graphic>
      </p:graphicFrame>
      <p:sp>
        <p:nvSpPr>
          <p:cNvPr id="5" name="Line 2"/>
          <p:cNvSpPr>
            <a:spLocks noChangeShapeType="1"/>
          </p:cNvSpPr>
          <p:nvPr/>
        </p:nvSpPr>
        <p:spPr bwMode="auto">
          <a:xfrm flipV="1">
            <a:off x="0" y="905259"/>
            <a:ext cx="12192000" cy="9143"/>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6" name="对象 5"/>
          <p:cNvGraphicFramePr>
            <a:graphicFrameLocks noChangeAspect="1"/>
          </p:cNvGraphicFramePr>
          <p:nvPr/>
        </p:nvGraphicFramePr>
        <p:xfrm>
          <a:off x="3111200" y="3344104"/>
          <a:ext cx="2818800" cy="1015920"/>
        </p:xfrm>
        <a:graphic>
          <a:graphicData uri="http://schemas.openxmlformats.org/presentationml/2006/ole">
            <mc:AlternateContent xmlns:mc="http://schemas.openxmlformats.org/markup-compatibility/2006">
              <mc:Choice xmlns:v="urn:schemas-microsoft-com:vml" Requires="v">
                <p:oleObj spid="_x0000_s7" name="Equation" r:id="rId3" imgW="33832800" imgH="12192000" progId="Equation.DSMT4">
                  <p:embed/>
                </p:oleObj>
              </mc:Choice>
              <mc:Fallback>
                <p:oleObj name="Equation" r:id="rId3" imgW="33832800" imgH="12192000" progId="Equation.DSMT4">
                  <p:embed/>
                  <p:pic>
                    <p:nvPicPr>
                      <p:cNvPr id="0" name="对象 5"/>
                      <p:cNvPicPr/>
                      <p:nvPr/>
                    </p:nvPicPr>
                    <p:blipFill>
                      <a:blip r:embed="rId4"/>
                      <a:stretch>
                        <a:fillRect/>
                      </a:stretch>
                    </p:blipFill>
                    <p:spPr>
                      <a:xfrm>
                        <a:off x="3111200" y="3344104"/>
                        <a:ext cx="2818800" cy="1015920"/>
                      </a:xfrm>
                      <a:prstGeom prst="rect">
                        <a:avLst/>
                      </a:prstGeom>
                    </p:spPr>
                  </p:pic>
                </p:oleObj>
              </mc:Fallback>
            </mc:AlternateContent>
          </a:graphicData>
        </a:graphic>
      </p:graphicFrame>
      <mc:AlternateContent xmlns:mc="http://schemas.openxmlformats.org/markup-compatibility/2006">
        <mc:Choice xmlns:a14="http://schemas.microsoft.com/office/drawing/2010/main" Requires="a14">
          <p:sp>
            <p:nvSpPr>
              <p:cNvPr id="8" name="矩形 7"/>
              <p:cNvSpPr/>
              <p:nvPr/>
            </p:nvSpPr>
            <p:spPr>
              <a:xfrm>
                <a:off x="5930000" y="3365613"/>
                <a:ext cx="2446695" cy="837473"/>
              </a:xfrm>
              <a:prstGeom prst="rect">
                <a:avLst/>
              </a:prstGeom>
            </p:spPr>
            <p:txBody>
              <a:bodyPr wrap="none">
                <a:spAutoFit/>
              </a:bodyPr>
              <a:lstStyle/>
              <a:p>
                <a:r>
                  <a:rPr lang="en-US" altLang="zh-CN" sz="2400" dirty="0">
                    <a:latin typeface="Times New Roman" panose="02020603050405020304" pitchFamily="18" charset="0"/>
                    <a:cs typeface="Times New Roman" panose="02020603050405020304" pitchFamily="18" charset="0"/>
                  </a:rPr>
                  <a:t>and</a:t>
                </a:r>
                <a:r>
                  <a:rPr lang="en-US" altLang="zh-CN" sz="2400" dirty="0">
                    <a:solidFill>
                      <a:srgbClr val="0C0CFE"/>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2400" i="1">
                        <a:solidFill>
                          <a:srgbClr val="0C0CFE"/>
                        </a:solidFill>
                        <a:latin typeface="Cambria Math" panose="02040503050406030204" pitchFamily="18" charset="0"/>
                      </a:rPr>
                      <m:t>𝑁</m:t>
                    </m:r>
                    <m:r>
                      <a:rPr lang="en-US" altLang="zh-CN" sz="2400" i="1">
                        <a:solidFill>
                          <a:srgbClr val="0C0CFE"/>
                        </a:solidFill>
                        <a:latin typeface="Cambria Math" panose="02040503050406030204" pitchFamily="18" charset="0"/>
                      </a:rPr>
                      <m:t>=</m:t>
                    </m:r>
                    <m:sSup>
                      <m:sSupPr>
                        <m:ctrlPr>
                          <a:rPr lang="en-US" altLang="zh-CN" sz="2400" i="1">
                            <a:solidFill>
                              <a:srgbClr val="0C0CFE"/>
                            </a:solidFill>
                            <a:latin typeface="Cambria Math" panose="02040503050406030204" pitchFamily="18" charset="0"/>
                          </a:rPr>
                        </m:ctrlPr>
                      </m:sSupPr>
                      <m:e>
                        <m:d>
                          <m:dPr>
                            <m:begChr m:val="["/>
                            <m:endChr m:val="]"/>
                            <m:ctrlPr>
                              <a:rPr lang="en-US" altLang="zh-CN" sz="2400" i="1">
                                <a:solidFill>
                                  <a:srgbClr val="0C0CFE"/>
                                </a:solidFill>
                                <a:latin typeface="Cambria Math" panose="02040503050406030204" pitchFamily="18" charset="0"/>
                              </a:rPr>
                            </m:ctrlPr>
                          </m:dPr>
                          <m:e>
                            <m:f>
                              <m:fPr>
                                <m:ctrlPr>
                                  <a:rPr lang="en-US" altLang="zh-CN" sz="2400" i="1">
                                    <a:solidFill>
                                      <a:srgbClr val="0C0CFE"/>
                                    </a:solidFill>
                                    <a:latin typeface="Cambria Math" panose="02040503050406030204" pitchFamily="18" charset="0"/>
                                  </a:rPr>
                                </m:ctrlPr>
                              </m:fPr>
                              <m:num>
                                <m:rad>
                                  <m:radPr>
                                    <m:degHide m:val="on"/>
                                    <m:ctrlPr>
                                      <a:rPr lang="en-US" altLang="zh-CN" sz="2400" i="1">
                                        <a:solidFill>
                                          <a:srgbClr val="0C0CFE"/>
                                        </a:solidFill>
                                        <a:latin typeface="Cambria Math" panose="02040503050406030204" pitchFamily="18" charset="0"/>
                                      </a:rPr>
                                    </m:ctrlPr>
                                  </m:radPr>
                                  <m:deg/>
                                  <m:e>
                                    <m:r>
                                      <a:rPr lang="en-US" altLang="zh-CN" sz="2400" i="1">
                                        <a:solidFill>
                                          <a:srgbClr val="0C0CFE"/>
                                        </a:solidFill>
                                        <a:latin typeface="Cambria Math" panose="02040503050406030204" pitchFamily="18" charset="0"/>
                                      </a:rPr>
                                      <m:t>𝑘𝑚</m:t>
                                    </m:r>
                                  </m:e>
                                </m:rad>
                              </m:num>
                              <m:den>
                                <m:r>
                                  <a:rPr lang="zh-CN" altLang="en-US" sz="2400" i="1">
                                    <a:solidFill>
                                      <a:srgbClr val="0C0CFE"/>
                                    </a:solidFill>
                                    <a:latin typeface="Cambria Math" panose="02040503050406030204" pitchFamily="18" charset="0"/>
                                  </a:rPr>
                                  <m:t>𝜋</m:t>
                                </m:r>
                                <m:r>
                                  <a:rPr lang="en-US" altLang="zh-CN" sz="2400" i="1">
                                    <a:solidFill>
                                      <a:srgbClr val="0C0CFE"/>
                                    </a:solidFill>
                                    <a:latin typeface="Cambria Math" panose="02040503050406030204" pitchFamily="18" charset="0"/>
                                    <a:ea typeface="Cambria Math" panose="02040503050406030204" pitchFamily="18" charset="0"/>
                                  </a:rPr>
                                  <m:t>ℏ</m:t>
                                </m:r>
                              </m:den>
                            </m:f>
                          </m:e>
                        </m:d>
                      </m:e>
                      <m:sup>
                        <m:r>
                          <a:rPr lang="en-US" altLang="zh-CN" sz="2400" i="1">
                            <a:solidFill>
                              <a:srgbClr val="0C0CFE"/>
                            </a:solidFill>
                            <a:latin typeface="Cambria Math" panose="02040503050406030204" pitchFamily="18" charset="0"/>
                          </a:rPr>
                          <m:t>1</m:t>
                        </m:r>
                        <m:r>
                          <a:rPr lang="en-US" altLang="zh-CN" sz="2400" i="1">
                            <a:solidFill>
                              <a:srgbClr val="0C0CFE"/>
                            </a:solidFill>
                            <a:latin typeface="Cambria Math" panose="02040503050406030204" pitchFamily="18" charset="0"/>
                          </a:rPr>
                          <m:t>/</m:t>
                        </m:r>
                        <m:r>
                          <a:rPr lang="en-US" altLang="zh-CN" sz="2400" i="1">
                            <a:solidFill>
                              <a:srgbClr val="0C0CFE"/>
                            </a:solidFill>
                            <a:latin typeface="Cambria Math" panose="02040503050406030204" pitchFamily="18" charset="0"/>
                          </a:rPr>
                          <m:t>4</m:t>
                        </m:r>
                      </m:sup>
                    </m:sSup>
                  </m:oMath>
                </a14:m>
                <a:endParaRPr lang="zh-CN" altLang="en-US" sz="2400" dirty="0"/>
              </a:p>
            </p:txBody>
          </p:sp>
        </mc:Choice>
        <mc:Fallback>
          <p:sp>
            <p:nvSpPr>
              <p:cNvPr id="8" name="矩形 7"/>
              <p:cNvSpPr>
                <a:spLocks noRot="1" noChangeAspect="1" noMove="1" noResize="1" noEditPoints="1" noAdjustHandles="1" noChangeArrowheads="1" noChangeShapeType="1" noTextEdit="1"/>
              </p:cNvSpPr>
              <p:nvPr/>
            </p:nvSpPr>
            <p:spPr>
              <a:xfrm>
                <a:off x="5930000" y="3365613"/>
                <a:ext cx="2446695" cy="837473"/>
              </a:xfrm>
              <a:prstGeom prst="rect">
                <a:avLst/>
              </a:prstGeom>
              <a:blipFill rotWithShape="1">
                <a:blip r:embed="rId5"/>
                <a:stretch>
                  <a:fillRect l="-15" t="-13" r="17" b="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矩形 8"/>
              <p:cNvSpPr/>
              <p:nvPr/>
            </p:nvSpPr>
            <p:spPr>
              <a:xfrm>
                <a:off x="4754152" y="4468457"/>
                <a:ext cx="2501582" cy="922176"/>
              </a:xfrm>
              <a:prstGeom prst="rect">
                <a:avLst/>
              </a:prstGeom>
              <a:ln>
                <a:noFill/>
              </a:ln>
            </p:spPr>
            <p:txBody>
              <a:bodyPr wrap="none">
                <a:spAutoFit/>
              </a:bodyPr>
              <a:lstStyle/>
              <a:p>
                <a14:m>
                  <m:oMathPara xmlns:m="http://schemas.openxmlformats.org/officeDocument/2006/math">
                    <m:oMathParaPr>
                      <m:jc m:val="centerGroup"/>
                    </m:oMathParaPr>
                    <m:oMath xmlns:m="http://schemas.openxmlformats.org/officeDocument/2006/math">
                      <m:sSub>
                        <m:sSubPr>
                          <m:ctrlPr>
                            <a:rPr lang="zh-CN" altLang="en-US" sz="2400" i="1" smtClean="0">
                              <a:solidFill>
                                <a:srgbClr val="0000CC"/>
                              </a:solidFill>
                              <a:latin typeface="Cambria Math" panose="02040503050406030204" pitchFamily="18" charset="0"/>
                            </a:rPr>
                          </m:ctrlPr>
                        </m:sSubPr>
                        <m:e>
                          <m:r>
                            <a:rPr lang="zh-CN" altLang="en-US" sz="2400" i="1">
                              <a:solidFill>
                                <a:srgbClr val="0000CC"/>
                              </a:solidFill>
                              <a:latin typeface="Cambria Math" panose="02040503050406030204" pitchFamily="18" charset="0"/>
                            </a:rPr>
                            <m:t>𝐸</m:t>
                          </m:r>
                        </m:e>
                        <m:sub>
                          <m:r>
                            <a:rPr lang="zh-CN" altLang="en-US" sz="2400" i="1">
                              <a:solidFill>
                                <a:srgbClr val="0000CC"/>
                              </a:solidFill>
                              <a:latin typeface="Cambria Math" panose="02040503050406030204" pitchFamily="18" charset="0"/>
                            </a:rPr>
                            <m:t>𝑣</m:t>
                          </m:r>
                        </m:sub>
                      </m:sSub>
                      <m:r>
                        <a:rPr lang="zh-CN" altLang="en-US" sz="2400" i="0">
                          <a:solidFill>
                            <a:srgbClr val="0000CC"/>
                          </a:solidFill>
                          <a:latin typeface="Cambria Math" panose="02040503050406030204" pitchFamily="18" charset="0"/>
                        </a:rPr>
                        <m:t>=</m:t>
                      </m:r>
                      <m:d>
                        <m:dPr>
                          <m:ctrlPr>
                            <a:rPr lang="zh-CN" altLang="en-US" sz="2400" i="1">
                              <a:solidFill>
                                <a:srgbClr val="0000CC"/>
                              </a:solidFill>
                              <a:latin typeface="Cambria Math" panose="02040503050406030204" pitchFamily="18" charset="0"/>
                            </a:rPr>
                          </m:ctrlPr>
                        </m:dPr>
                        <m:e>
                          <m:r>
                            <a:rPr lang="zh-CN" altLang="en-US" sz="2400" i="1">
                              <a:solidFill>
                                <a:srgbClr val="0000CC"/>
                              </a:solidFill>
                              <a:latin typeface="Cambria Math" panose="02040503050406030204" pitchFamily="18" charset="0"/>
                            </a:rPr>
                            <m:t>𝑣</m:t>
                          </m:r>
                          <m:r>
                            <a:rPr lang="zh-CN" altLang="en-US" sz="2400" i="0">
                              <a:solidFill>
                                <a:srgbClr val="0000CC"/>
                              </a:solidFill>
                              <a:latin typeface="Cambria Math" panose="02040503050406030204" pitchFamily="18" charset="0"/>
                            </a:rPr>
                            <m:t>+</m:t>
                          </m:r>
                          <m:f>
                            <m:fPr>
                              <m:ctrlPr>
                                <a:rPr lang="zh-CN" altLang="en-US" sz="2400" i="1">
                                  <a:solidFill>
                                    <a:srgbClr val="0000CC"/>
                                  </a:solidFill>
                                  <a:latin typeface="Cambria Math" panose="02040503050406030204" pitchFamily="18" charset="0"/>
                                </a:rPr>
                              </m:ctrlPr>
                            </m:fPr>
                            <m:num>
                              <m:r>
                                <a:rPr lang="zh-CN" altLang="en-US" sz="2400" i="0">
                                  <a:solidFill>
                                    <a:srgbClr val="0000CC"/>
                                  </a:solidFill>
                                  <a:latin typeface="Cambria Math" panose="02040503050406030204" pitchFamily="18" charset="0"/>
                                </a:rPr>
                                <m:t>1</m:t>
                              </m:r>
                            </m:num>
                            <m:den>
                              <m:r>
                                <a:rPr lang="zh-CN" altLang="en-US" sz="2400" i="0">
                                  <a:solidFill>
                                    <a:srgbClr val="0000CC"/>
                                  </a:solidFill>
                                  <a:latin typeface="Cambria Math" panose="02040503050406030204" pitchFamily="18" charset="0"/>
                                </a:rPr>
                                <m:t>2</m:t>
                              </m:r>
                            </m:den>
                          </m:f>
                        </m:e>
                      </m:d>
                      <m:r>
                        <a:rPr lang="zh-CN" altLang="en-US" sz="2400" i="0">
                          <a:solidFill>
                            <a:srgbClr val="0000CC"/>
                          </a:solidFill>
                          <a:latin typeface="Cambria Math" panose="02040503050406030204" pitchFamily="18" charset="0"/>
                        </a:rPr>
                        <m:t>ℏ</m:t>
                      </m:r>
                      <m:r>
                        <a:rPr lang="zh-CN" altLang="en-US" sz="2400" i="1">
                          <a:solidFill>
                            <a:srgbClr val="0000CC"/>
                          </a:solidFill>
                          <a:latin typeface="Cambria Math" panose="02040503050406030204" pitchFamily="18" charset="0"/>
                        </a:rPr>
                        <m:t>𝜔</m:t>
                      </m:r>
                    </m:oMath>
                  </m:oMathPara>
                </a14:m>
                <a:endParaRPr lang="zh-CN" altLang="en-US" sz="2400" dirty="0">
                  <a:solidFill>
                    <a:srgbClr val="0000CC"/>
                  </a:solidFill>
                </a:endParaRPr>
              </a:p>
            </p:txBody>
          </p:sp>
        </mc:Choice>
        <mc:Fallback>
          <p:sp>
            <p:nvSpPr>
              <p:cNvPr id="9" name="矩形 8"/>
              <p:cNvSpPr>
                <a:spLocks noRot="1" noChangeAspect="1" noMove="1" noResize="1" noEditPoints="1" noAdjustHandles="1" noChangeArrowheads="1" noChangeShapeType="1" noTextEdit="1"/>
              </p:cNvSpPr>
              <p:nvPr/>
            </p:nvSpPr>
            <p:spPr>
              <a:xfrm>
                <a:off x="4754152" y="4468457"/>
                <a:ext cx="2501582" cy="922176"/>
              </a:xfrm>
              <a:prstGeom prst="rect">
                <a:avLst/>
              </a:prstGeom>
              <a:blipFill rotWithShape="1">
                <a:blip r:embed="rId6"/>
                <a:stretch>
                  <a:fillRect l="-22" t="-65" r="9" b="13"/>
                </a:stretch>
              </a:blipFill>
              <a:ln>
                <a:noFill/>
              </a:ln>
            </p:spPr>
            <p:txBody>
              <a:bodyPr/>
              <a:lstStyle/>
              <a:p>
                <a:r>
                  <a:rPr lang="zh-CN" altLang="en-US">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317761" y="215866"/>
            <a:ext cx="6695294"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Other Harmonic Oscillator </a:t>
            </a:r>
            <a:r>
              <a:rPr lang="en-US" altLang="zh-CN" sz="2800" b="1" dirty="0" err="1">
                <a:latin typeface="Times New Roman" panose="02020603050405020304" pitchFamily="18" charset="0"/>
                <a:cs typeface="Times New Roman" panose="02020603050405020304" pitchFamily="18" charset="0"/>
              </a:rPr>
              <a:t>Wavefunctions</a:t>
            </a:r>
            <a:endParaRPr lang="zh-CN" altLang="en-US" sz="28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矩形 2"/>
              <p:cNvSpPr/>
              <p:nvPr/>
            </p:nvSpPr>
            <p:spPr>
              <a:xfrm>
                <a:off x="297571" y="1593627"/>
                <a:ext cx="11596857" cy="535531"/>
              </a:xfrm>
              <a:prstGeom prst="rect">
                <a:avLst/>
              </a:prstGeom>
            </p:spPr>
            <p:txBody>
              <a:bodyPr wrap="square">
                <a:spAutoFit/>
              </a:bodyPr>
              <a:lstStyle/>
              <a:p>
                <a:pPr>
                  <a:lnSpc>
                    <a:spcPct val="120000"/>
                  </a:lnSpc>
                  <a:spcBef>
                    <a:spcPts val="1200"/>
                  </a:spcBef>
                </a:pPr>
                <a14:m>
                  <m:oMathPara xmlns:m="http://schemas.openxmlformats.org/officeDocument/2006/math">
                    <m:oMathParaPr>
                      <m:jc m:val="centerGroup"/>
                    </m:oMathParaPr>
                    <m:oMath xmlns:m="http://schemas.openxmlformats.org/officeDocument/2006/math">
                      <m:r>
                        <a:rPr lang="en-US" altLang="zh-CN" sz="2400" i="1" dirty="0">
                          <a:solidFill>
                            <a:srgbClr val="0C0CFE"/>
                          </a:solidFill>
                          <a:latin typeface="Cambria Math" panose="02040503050406030204" pitchFamily="18" charset="0"/>
                        </a:rPr>
                        <m:t>𝜓</m:t>
                      </m:r>
                      <m:r>
                        <a:rPr lang="en-US" altLang="zh-CN" sz="2400" i="1" dirty="0">
                          <a:solidFill>
                            <a:srgbClr val="0C0CFE"/>
                          </a:solidFill>
                          <a:latin typeface="Cambria Math" panose="02040503050406030204" pitchFamily="18" charset="0"/>
                        </a:rPr>
                        <m:t>=</m:t>
                      </m:r>
                      <m:r>
                        <a:rPr lang="en-US" altLang="zh-CN" sz="2400" i="1" dirty="0">
                          <a:solidFill>
                            <a:srgbClr val="0C0CFE"/>
                          </a:solidFill>
                          <a:latin typeface="Cambria Math" panose="02040503050406030204" pitchFamily="18" charset="0"/>
                        </a:rPr>
                        <m:t>𝐻</m:t>
                      </m:r>
                      <m:r>
                        <a:rPr lang="en-US" altLang="zh-CN" sz="2400" i="1" dirty="0">
                          <a:solidFill>
                            <a:srgbClr val="0C0CFE"/>
                          </a:solidFill>
                          <a:latin typeface="Cambria Math" panose="02040503050406030204" pitchFamily="18" charset="0"/>
                        </a:rPr>
                        <m:t>(</m:t>
                      </m:r>
                      <m:r>
                        <a:rPr lang="en-US" altLang="zh-CN" sz="2400" i="1" dirty="0">
                          <a:solidFill>
                            <a:srgbClr val="0C0CFE"/>
                          </a:solidFill>
                          <a:latin typeface="Cambria Math" panose="02040503050406030204" pitchFamily="18" charset="0"/>
                        </a:rPr>
                        <m:t>𝑞</m:t>
                      </m:r>
                      <m:r>
                        <a:rPr lang="en-US" altLang="zh-CN" sz="2400" i="1" dirty="0">
                          <a:solidFill>
                            <a:srgbClr val="0C0CFE"/>
                          </a:solidFill>
                          <a:latin typeface="Cambria Math" panose="02040503050406030204" pitchFamily="18" charset="0"/>
                        </a:rPr>
                        <m:t>)</m:t>
                      </m:r>
                      <m:r>
                        <m:rPr>
                          <m:sty m:val="p"/>
                        </m:rPr>
                        <a:rPr lang="en-US" altLang="zh-CN" sz="2400" i="1" dirty="0">
                          <a:solidFill>
                            <a:srgbClr val="0C0CFE"/>
                          </a:solidFill>
                          <a:latin typeface="Cambria Math" panose="02040503050406030204" pitchFamily="18" charset="0"/>
                        </a:rPr>
                        <m:t>exp</m:t>
                      </m:r>
                      <m:r>
                        <a:rPr lang="en-US" altLang="zh-CN" sz="2400" i="1" dirty="0">
                          <a:solidFill>
                            <a:srgbClr val="0C0CFE"/>
                          </a:solidFill>
                          <a:latin typeface="Cambria Math" panose="02040503050406030204" pitchFamily="18" charset="0"/>
                        </a:rPr>
                        <m:t>⁡(−</m:t>
                      </m:r>
                      <m:sSup>
                        <m:sSupPr>
                          <m:ctrlPr>
                            <a:rPr lang="en-US" altLang="zh-CN" sz="2400" i="1" dirty="0">
                              <a:solidFill>
                                <a:srgbClr val="0C0CFE"/>
                              </a:solidFill>
                              <a:latin typeface="Cambria Math" panose="02040503050406030204" pitchFamily="18" charset="0"/>
                            </a:rPr>
                          </m:ctrlPr>
                        </m:sSupPr>
                        <m:e>
                          <m:r>
                            <a:rPr lang="en-US" altLang="zh-CN" sz="2400" i="1" dirty="0">
                              <a:solidFill>
                                <a:srgbClr val="0C0CFE"/>
                              </a:solidFill>
                              <a:latin typeface="Cambria Math" panose="02040503050406030204" pitchFamily="18" charset="0"/>
                            </a:rPr>
                            <m:t>𝑞</m:t>
                          </m:r>
                        </m:e>
                        <m:sup>
                          <m:r>
                            <a:rPr lang="en-US" altLang="zh-CN" sz="2400" i="1" dirty="0">
                              <a:solidFill>
                                <a:srgbClr val="0C0CFE"/>
                              </a:solidFill>
                              <a:latin typeface="Cambria Math" panose="02040503050406030204" pitchFamily="18" charset="0"/>
                            </a:rPr>
                            <m:t>2</m:t>
                          </m:r>
                        </m:sup>
                      </m:sSup>
                      <m:r>
                        <a:rPr lang="en-US" altLang="zh-CN" sz="2400" i="1" dirty="0">
                          <a:solidFill>
                            <a:srgbClr val="0C0CFE"/>
                          </a:solidFill>
                          <a:latin typeface="Cambria Math" panose="02040503050406030204" pitchFamily="18" charset="0"/>
                        </a:rPr>
                        <m:t>/</m:t>
                      </m:r>
                      <m:r>
                        <a:rPr lang="en-US" altLang="zh-CN" sz="2400" i="1" dirty="0">
                          <a:solidFill>
                            <a:srgbClr val="0C0CFE"/>
                          </a:solidFill>
                          <a:latin typeface="Cambria Math" panose="02040503050406030204" pitchFamily="18" charset="0"/>
                        </a:rPr>
                        <m:t>2</m:t>
                      </m:r>
                      <m:r>
                        <a:rPr lang="en-US" altLang="zh-CN" sz="2400" i="1" dirty="0">
                          <a:solidFill>
                            <a:srgbClr val="0C0CFE"/>
                          </a:solidFill>
                          <a:latin typeface="Cambria Math" panose="02040503050406030204" pitchFamily="18" charset="0"/>
                        </a:rPr>
                        <m:t>).</m:t>
                      </m:r>
                    </m:oMath>
                  </m:oMathPara>
                </a14:m>
                <a:endParaRPr lang="en-US" altLang="zh-CN" sz="2400" dirty="0">
                  <a:solidFill>
                    <a:srgbClr val="0C0CFE"/>
                  </a:solidFill>
                  <a:latin typeface="Times New Roman" panose="02020603050405020304" pitchFamily="18" charset="0"/>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297571" y="1593627"/>
                <a:ext cx="11596857" cy="535531"/>
              </a:xfrm>
              <a:prstGeom prst="rect">
                <a:avLst/>
              </a:prstGeom>
              <a:blipFill rotWithShape="1">
                <a:blip r:embed="rId1"/>
                <a:stretch>
                  <a:fillRect l="-3" t="-77" r="2" b="1"/>
                </a:stretch>
              </a:blipFill>
            </p:spPr>
            <p:txBody>
              <a:bodyPr/>
              <a:lstStyle/>
              <a:p>
                <a:r>
                  <a:rPr lang="zh-CN" altLang="en-US">
                    <a:noFill/>
                  </a:rPr>
                  <a:t> </a:t>
                </a:r>
              </a:p>
            </p:txBody>
          </p:sp>
        </mc:Fallback>
      </mc:AlternateContent>
      <p:graphicFrame>
        <p:nvGraphicFramePr>
          <p:cNvPr id="4" name="对象 3"/>
          <p:cNvGraphicFramePr>
            <a:graphicFrameLocks noChangeAspect="1"/>
          </p:cNvGraphicFramePr>
          <p:nvPr/>
        </p:nvGraphicFramePr>
        <p:xfrm>
          <a:off x="5185019" y="2288002"/>
          <a:ext cx="1821960" cy="1333080"/>
        </p:xfrm>
        <a:graphic>
          <a:graphicData uri="http://schemas.openxmlformats.org/presentationml/2006/ole">
            <mc:AlternateContent xmlns:mc="http://schemas.openxmlformats.org/markup-compatibility/2006">
              <mc:Choice xmlns:v="urn:schemas-microsoft-com:vml" Requires="v">
                <p:oleObj spid="_x0000_s0" name="Equation" r:id="rId2" imgW="24993600" imgH="18288000" progId="Equation.DSMT4">
                  <p:embed/>
                </p:oleObj>
              </mc:Choice>
              <mc:Fallback>
                <p:oleObj name="Equation" r:id="rId2" imgW="24993600" imgH="18288000" progId="Equation.DSMT4">
                  <p:embed/>
                  <p:pic>
                    <p:nvPicPr>
                      <p:cNvPr id="0" name="对象 3"/>
                      <p:cNvPicPr/>
                      <p:nvPr/>
                    </p:nvPicPr>
                    <p:blipFill>
                      <a:blip r:embed="rId3"/>
                      <a:stretch>
                        <a:fillRect/>
                      </a:stretch>
                    </p:blipFill>
                    <p:spPr>
                      <a:xfrm>
                        <a:off x="5185019" y="2288002"/>
                        <a:ext cx="1821960" cy="1333080"/>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4073699" y="3793674"/>
          <a:ext cx="4044600" cy="777420"/>
        </p:xfrm>
        <a:graphic>
          <a:graphicData uri="http://schemas.openxmlformats.org/presentationml/2006/ole">
            <mc:AlternateContent xmlns:mc="http://schemas.openxmlformats.org/markup-compatibility/2006">
              <mc:Choice xmlns:v="urn:schemas-microsoft-com:vml" Requires="v">
                <p:oleObj spid="_x0000_s6" name="Equation" r:id="rId4" imgW="55473600" imgH="10668000" progId="Equation.DSMT4">
                  <p:embed/>
                </p:oleObj>
              </mc:Choice>
              <mc:Fallback>
                <p:oleObj name="Equation" r:id="rId4" imgW="55473600" imgH="10668000" progId="Equation.DSMT4">
                  <p:embed/>
                  <p:pic>
                    <p:nvPicPr>
                      <p:cNvPr id="0" name="对象 4"/>
                      <p:cNvPicPr/>
                      <p:nvPr/>
                    </p:nvPicPr>
                    <p:blipFill>
                      <a:blip r:embed="rId5"/>
                      <a:stretch>
                        <a:fillRect/>
                      </a:stretch>
                    </p:blipFill>
                    <p:spPr>
                      <a:xfrm>
                        <a:off x="4073699" y="3793674"/>
                        <a:ext cx="4044600" cy="777420"/>
                      </a:xfrm>
                      <a:prstGeom prst="rect">
                        <a:avLst/>
                      </a:prstGeom>
                    </p:spPr>
                  </p:pic>
                </p:oleObj>
              </mc:Fallback>
            </mc:AlternateContent>
          </a:graphicData>
        </a:graphic>
      </p:graphicFrame>
      <p:sp>
        <p:nvSpPr>
          <p:cNvPr id="7" name="Line 2"/>
          <p:cNvSpPr>
            <a:spLocks noChangeShapeType="1"/>
          </p:cNvSpPr>
          <p:nvPr/>
        </p:nvSpPr>
        <p:spPr bwMode="auto">
          <a:xfrm flipV="1">
            <a:off x="0" y="905259"/>
            <a:ext cx="12192000" cy="9143"/>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315659" y="1560271"/>
            <a:ext cx="1763624" cy="461665"/>
          </a:xfrm>
          <a:prstGeom prst="rect">
            <a:avLst/>
          </a:prstGeom>
        </p:spPr>
        <p:txBody>
          <a:bodyPr wrap="none">
            <a:spAutoFit/>
          </a:bodyPr>
          <a:lstStyle/>
          <a:p>
            <a:r>
              <a:rPr lang="en-US" altLang="zh-CN" sz="2400" dirty="0">
                <a:latin typeface="Times New Roman" panose="02020603050405020304" pitchFamily="18" charset="0"/>
                <a:cs typeface="Times New Roman" panose="02020603050405020304" pitchFamily="18" charset="0"/>
              </a:rPr>
              <a:t>Rigid rotator</a:t>
            </a:r>
            <a:endParaRPr lang="zh-CN" altLang="en-US" sz="2400" dirty="0">
              <a:latin typeface="Times New Roman" panose="02020603050405020304" pitchFamily="18" charset="0"/>
              <a:cs typeface="Times New Roman" panose="02020603050405020304" pitchFamily="18" charset="0"/>
            </a:endParaRPr>
          </a:p>
        </p:txBody>
      </p:sp>
      <p:graphicFrame>
        <p:nvGraphicFramePr>
          <p:cNvPr id="15" name="对象 14">
            <a:hlinkClick r:id="" action="ppaction://ole?verb=0"/>
          </p:cNvPr>
          <p:cNvGraphicFramePr>
            <a:graphicFrameLocks noChangeAspect="1"/>
          </p:cNvGraphicFramePr>
          <p:nvPr/>
        </p:nvGraphicFramePr>
        <p:xfrm>
          <a:off x="6428669" y="1113886"/>
          <a:ext cx="1473200" cy="1371600"/>
        </p:xfrm>
        <a:graphic>
          <a:graphicData uri="http://schemas.openxmlformats.org/presentationml/2006/ole">
            <mc:AlternateContent xmlns:mc="http://schemas.openxmlformats.org/markup-compatibility/2006">
              <mc:Choice xmlns:v="urn:schemas-microsoft-com:vml" Requires="v">
                <p:oleObj spid="_x0000_s0" name="" r:id="rId1" imgW="736600" imgH="685800" progId="Equation.KSEE3">
                  <p:embed/>
                </p:oleObj>
              </mc:Choice>
              <mc:Fallback>
                <p:oleObj name="" r:id="rId1" imgW="736600" imgH="685800" progId="Equation.KSEE3">
                  <p:embed/>
                  <p:pic>
                    <p:nvPicPr>
                      <p:cNvPr id="0" name="对象 14">
                        <a:hlinkClick r:id="" action="ppaction://ole?verb=0"/>
                      </p:cNvPr>
                      <p:cNvPicPr/>
                      <p:nvPr/>
                    </p:nvPicPr>
                    <p:blipFill>
                      <a:blip r:embed="rId2"/>
                      <a:stretch>
                        <a:fillRect/>
                      </a:stretch>
                    </p:blipFill>
                    <p:spPr>
                      <a:xfrm>
                        <a:off x="6428669" y="1113886"/>
                        <a:ext cx="1473200" cy="1371600"/>
                      </a:xfrm>
                      <a:prstGeom prst="rect">
                        <a:avLst/>
                      </a:prstGeom>
                    </p:spPr>
                  </p:pic>
                </p:oleObj>
              </mc:Fallback>
            </mc:AlternateContent>
          </a:graphicData>
        </a:graphic>
      </p:graphicFrame>
      <p:sp>
        <p:nvSpPr>
          <p:cNvPr id="7" name="矩形 6"/>
          <p:cNvSpPr/>
          <p:nvPr/>
        </p:nvSpPr>
        <p:spPr>
          <a:xfrm>
            <a:off x="4472877" y="223084"/>
            <a:ext cx="3911584"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Quantization of rotation</a:t>
            </a:r>
            <a:endParaRPr lang="en-US" altLang="zh-CN" sz="2800" b="1" dirty="0">
              <a:latin typeface="Times New Roman" panose="02020603050405020304" pitchFamily="18" charset="0"/>
              <a:cs typeface="Times New Roman" panose="02020603050405020304" pitchFamily="18" charset="0"/>
            </a:endParaRPr>
          </a:p>
        </p:txBody>
      </p:sp>
      <p:sp>
        <p:nvSpPr>
          <p:cNvPr id="9" name="Line 2"/>
          <p:cNvSpPr>
            <a:spLocks noChangeShapeType="1"/>
          </p:cNvSpPr>
          <p:nvPr/>
        </p:nvSpPr>
        <p:spPr bwMode="auto">
          <a:xfrm flipV="1">
            <a:off x="0" y="905259"/>
            <a:ext cx="12192000" cy="9143"/>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3" name="对象 2"/>
          <p:cNvGraphicFramePr>
            <a:graphicFrameLocks noChangeAspect="1"/>
          </p:cNvGraphicFramePr>
          <p:nvPr/>
        </p:nvGraphicFramePr>
        <p:xfrm>
          <a:off x="1078783" y="2921000"/>
          <a:ext cx="8000640" cy="1015920"/>
        </p:xfrm>
        <a:graphic>
          <a:graphicData uri="http://schemas.openxmlformats.org/presentationml/2006/ole">
            <mc:AlternateContent xmlns:mc="http://schemas.openxmlformats.org/markup-compatibility/2006">
              <mc:Choice xmlns:v="urn:schemas-microsoft-com:vml" Requires="v">
                <p:oleObj spid="_x0000_s4" name="Equation" r:id="rId3" imgW="96012000" imgH="12192000" progId="Equation.DSMT4">
                  <p:embed/>
                </p:oleObj>
              </mc:Choice>
              <mc:Fallback>
                <p:oleObj name="Equation" r:id="rId3" imgW="96012000" imgH="12192000" progId="Equation.DSMT4">
                  <p:embed/>
                  <p:pic>
                    <p:nvPicPr>
                      <p:cNvPr id="0" name="图片 3"/>
                      <p:cNvPicPr/>
                      <p:nvPr/>
                    </p:nvPicPr>
                    <p:blipFill>
                      <a:blip r:embed="rId4"/>
                      <a:stretch>
                        <a:fillRect/>
                      </a:stretch>
                    </p:blipFill>
                    <p:spPr>
                      <a:xfrm>
                        <a:off x="1078783" y="2921000"/>
                        <a:ext cx="8000640" cy="1015920"/>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1055688" y="4132263"/>
          <a:ext cx="1698625" cy="838200"/>
        </p:xfrm>
        <a:graphic>
          <a:graphicData uri="http://schemas.openxmlformats.org/presentationml/2006/ole">
            <mc:AlternateContent xmlns:mc="http://schemas.openxmlformats.org/markup-compatibility/2006">
              <mc:Choice xmlns:v="urn:schemas-microsoft-com:vml" Requires="v">
                <p:oleObj spid="_x0000_s6" name="Equation" r:id="rId5" imgW="20421600" imgH="10058400" progId="Equation.DSMT4">
                  <p:embed/>
                </p:oleObj>
              </mc:Choice>
              <mc:Fallback>
                <p:oleObj name="Equation" r:id="rId5" imgW="20421600" imgH="10058400" progId="Equation.DSMT4">
                  <p:embed/>
                  <p:pic>
                    <p:nvPicPr>
                      <p:cNvPr id="0" name="图片 5"/>
                      <p:cNvPicPr/>
                      <p:nvPr/>
                    </p:nvPicPr>
                    <p:blipFill>
                      <a:blip r:embed="rId6"/>
                      <a:stretch>
                        <a:fillRect/>
                      </a:stretch>
                    </p:blipFill>
                    <p:spPr>
                      <a:xfrm>
                        <a:off x="1055688" y="4132263"/>
                        <a:ext cx="1698625" cy="8382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1154703" y="5297729"/>
          <a:ext cx="2844800" cy="1065213"/>
        </p:xfrm>
        <a:graphic>
          <a:graphicData uri="http://schemas.openxmlformats.org/presentationml/2006/ole">
            <mc:AlternateContent xmlns:mc="http://schemas.openxmlformats.org/markup-compatibility/2006">
              <mc:Choice xmlns:v="urn:schemas-microsoft-com:vml" Requires="v">
                <p:oleObj spid="_x0000_s10" name="Equation" r:id="rId7" imgW="2846705" imgH="1066800" progId="Equation.DSMT4">
                  <p:embed/>
                </p:oleObj>
              </mc:Choice>
              <mc:Fallback>
                <p:oleObj name="Equation" r:id="rId7" imgW="2846705" imgH="1066800" progId="Equation.DSMT4">
                  <p:embed/>
                  <p:pic>
                    <p:nvPicPr>
                      <p:cNvPr id="0" name="图片 9"/>
                      <p:cNvPicPr/>
                      <p:nvPr/>
                    </p:nvPicPr>
                    <p:blipFill>
                      <a:blip r:embed="rId8"/>
                      <a:stretch>
                        <a:fillRect/>
                      </a:stretch>
                    </p:blipFill>
                    <p:spPr>
                      <a:xfrm>
                        <a:off x="1154703" y="5297729"/>
                        <a:ext cx="2844800" cy="1065213"/>
                      </a:xfrm>
                      <a:prstGeom prst="rect">
                        <a:avLst/>
                      </a:prstGeom>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spLocks noChangeShapeType="1"/>
          </p:cNvSpPr>
          <p:nvPr/>
        </p:nvSpPr>
        <p:spPr bwMode="auto">
          <a:xfrm flipV="1">
            <a:off x="0" y="905259"/>
            <a:ext cx="12192000" cy="9143"/>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4" name="组合 3"/>
          <p:cNvGrpSpPr>
            <a:grpSpLocks noChangeAspect="1"/>
          </p:cNvGrpSpPr>
          <p:nvPr/>
        </p:nvGrpSpPr>
        <p:grpSpPr>
          <a:xfrm>
            <a:off x="2882013" y="1120023"/>
            <a:ext cx="2048144" cy="1352629"/>
            <a:chOff x="8083826" y="1162875"/>
            <a:chExt cx="4748209" cy="4181061"/>
          </a:xfrm>
        </p:grpSpPr>
        <p:grpSp>
          <p:nvGrpSpPr>
            <p:cNvPr id="5" name="组合 4"/>
            <p:cNvGrpSpPr/>
            <p:nvPr/>
          </p:nvGrpSpPr>
          <p:grpSpPr>
            <a:xfrm>
              <a:off x="8212410" y="1162875"/>
              <a:ext cx="4619625" cy="4181061"/>
              <a:chOff x="3786184" y="1709530"/>
              <a:chExt cx="4619625" cy="4181061"/>
            </a:xfrm>
          </p:grpSpPr>
          <p:pic>
            <p:nvPicPr>
              <p:cNvPr id="7" name="图片 6"/>
              <p:cNvPicPr>
                <a:picLocks noChangeAspect="1"/>
              </p:cNvPicPr>
              <p:nvPr/>
            </p:nvPicPr>
            <p:blipFill rotWithShape="1">
              <a:blip r:embed="rId1"/>
              <a:srcRect t="3526"/>
              <a:stretch>
                <a:fillRect/>
              </a:stretch>
            </p:blipFill>
            <p:spPr>
              <a:xfrm>
                <a:off x="3786184" y="1709530"/>
                <a:ext cx="4619625" cy="4181061"/>
              </a:xfrm>
              <a:prstGeom prst="rect">
                <a:avLst/>
              </a:prstGeom>
            </p:spPr>
          </p:pic>
          <p:sp>
            <p:nvSpPr>
              <p:cNvPr id="8" name="矩形 7"/>
              <p:cNvSpPr/>
              <p:nvPr/>
            </p:nvSpPr>
            <p:spPr>
              <a:xfrm flipV="1">
                <a:off x="7818783" y="1709530"/>
                <a:ext cx="587026" cy="132522"/>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solidFill>
                    <a:prstClr val="white"/>
                  </a:solidFill>
                </a:endParaRPr>
              </a:p>
            </p:txBody>
          </p:sp>
        </p:grpSp>
        <p:sp>
          <p:nvSpPr>
            <p:cNvPr id="6" name="矩形 5"/>
            <p:cNvSpPr/>
            <p:nvPr/>
          </p:nvSpPr>
          <p:spPr>
            <a:xfrm>
              <a:off x="8083826" y="1778992"/>
              <a:ext cx="583921" cy="186545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solidFill>
                  <a:prstClr val="black"/>
                </a:solidFill>
              </a:endParaRPr>
            </a:p>
          </p:txBody>
        </p:sp>
      </p:grpSp>
      <p:graphicFrame>
        <p:nvGraphicFramePr>
          <p:cNvPr id="9" name="对象 8"/>
          <p:cNvGraphicFramePr>
            <a:graphicFrameLocks noChangeAspect="1"/>
          </p:cNvGraphicFramePr>
          <p:nvPr/>
        </p:nvGraphicFramePr>
        <p:xfrm>
          <a:off x="5245320" y="1362545"/>
          <a:ext cx="1701360" cy="914400"/>
        </p:xfrm>
        <a:graphic>
          <a:graphicData uri="http://schemas.openxmlformats.org/presentationml/2006/ole">
            <mc:AlternateContent xmlns:mc="http://schemas.openxmlformats.org/markup-compatibility/2006">
              <mc:Choice xmlns:v="urn:schemas-microsoft-com:vml" Requires="v">
                <p:oleObj spid="_x0000_s0" name="Equation" r:id="rId2" imgW="20421600" imgH="10972800" progId="Equation.DSMT4">
                  <p:embed/>
                </p:oleObj>
              </mc:Choice>
              <mc:Fallback>
                <p:oleObj name="Equation" r:id="rId2" imgW="20421600" imgH="10972800" progId="Equation.DSMT4">
                  <p:embed/>
                  <p:pic>
                    <p:nvPicPr>
                      <p:cNvPr id="0" name="对象 8"/>
                      <p:cNvPicPr/>
                      <p:nvPr/>
                    </p:nvPicPr>
                    <p:blipFill>
                      <a:blip r:embed="rId3"/>
                      <a:stretch>
                        <a:fillRect/>
                      </a:stretch>
                    </p:blipFill>
                    <p:spPr>
                      <a:xfrm>
                        <a:off x="5245320" y="1362545"/>
                        <a:ext cx="1701360" cy="914400"/>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803050" y="2903158"/>
          <a:ext cx="8001000" cy="2032000"/>
        </p:xfrm>
        <a:graphic>
          <a:graphicData uri="http://schemas.openxmlformats.org/presentationml/2006/ole">
            <mc:AlternateContent xmlns:mc="http://schemas.openxmlformats.org/markup-compatibility/2006">
              <mc:Choice xmlns:v="urn:schemas-microsoft-com:vml" Requires="v">
                <p:oleObj spid="_x0000_s3" name="Equation" r:id="rId4" imgW="96012000" imgH="24384000" progId="Equation.DSMT4">
                  <p:embed/>
                </p:oleObj>
              </mc:Choice>
              <mc:Fallback>
                <p:oleObj name="Equation" r:id="rId4" imgW="96012000" imgH="24384000" progId="Equation.DSMT4">
                  <p:embed/>
                  <p:pic>
                    <p:nvPicPr>
                      <p:cNvPr id="0" name="对象 10"/>
                      <p:cNvPicPr/>
                      <p:nvPr/>
                    </p:nvPicPr>
                    <p:blipFill>
                      <a:blip r:embed="rId5"/>
                      <a:stretch>
                        <a:fillRect/>
                      </a:stretch>
                    </p:blipFill>
                    <p:spPr>
                      <a:xfrm>
                        <a:off x="803050" y="2903158"/>
                        <a:ext cx="8001000" cy="2032000"/>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1232295" y="5199711"/>
          <a:ext cx="2438400" cy="506413"/>
        </p:xfrm>
        <a:graphic>
          <a:graphicData uri="http://schemas.openxmlformats.org/presentationml/2006/ole">
            <mc:AlternateContent xmlns:mc="http://schemas.openxmlformats.org/markup-compatibility/2006">
              <mc:Choice xmlns:v="urn:schemas-microsoft-com:vml" Requires="v">
                <p:oleObj spid="_x0000_s10" name="Equation" r:id="rId6" imgW="29260800" imgH="6096000" progId="Equation.DSMT4">
                  <p:embed/>
                </p:oleObj>
              </mc:Choice>
              <mc:Fallback>
                <p:oleObj name="Equation" r:id="rId6" imgW="29260800" imgH="6096000" progId="Equation.DSMT4">
                  <p:embed/>
                  <p:pic>
                    <p:nvPicPr>
                      <p:cNvPr id="0" name="对象 11"/>
                      <p:cNvPicPr/>
                      <p:nvPr/>
                    </p:nvPicPr>
                    <p:blipFill>
                      <a:blip r:embed="rId7"/>
                      <a:stretch>
                        <a:fillRect/>
                      </a:stretch>
                    </p:blipFill>
                    <p:spPr>
                      <a:xfrm>
                        <a:off x="1232295" y="5199711"/>
                        <a:ext cx="2438400" cy="506413"/>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1257846" y="5864519"/>
          <a:ext cx="1701360" cy="507600"/>
        </p:xfrm>
        <a:graphic>
          <a:graphicData uri="http://schemas.openxmlformats.org/presentationml/2006/ole">
            <mc:AlternateContent xmlns:mc="http://schemas.openxmlformats.org/markup-compatibility/2006">
              <mc:Choice xmlns:v="urn:schemas-microsoft-com:vml" Requires="v">
                <p:oleObj spid="_x0000_s14" name="Equation" r:id="rId8" imgW="20421600" imgH="6096000" progId="Equation.DSMT4">
                  <p:embed/>
                </p:oleObj>
              </mc:Choice>
              <mc:Fallback>
                <p:oleObj name="Equation" r:id="rId8" imgW="20421600" imgH="6096000" progId="Equation.DSMT4">
                  <p:embed/>
                  <p:pic>
                    <p:nvPicPr>
                      <p:cNvPr id="0" name="对象 12"/>
                      <p:cNvPicPr/>
                      <p:nvPr/>
                    </p:nvPicPr>
                    <p:blipFill>
                      <a:blip r:embed="rId9"/>
                      <a:stretch>
                        <a:fillRect/>
                      </a:stretch>
                    </p:blipFill>
                    <p:spPr>
                      <a:xfrm>
                        <a:off x="1257846" y="5864519"/>
                        <a:ext cx="1701360" cy="507600"/>
                      </a:xfrm>
                      <a:prstGeom prst="rect">
                        <a:avLst/>
                      </a:prstGeom>
                    </p:spPr>
                  </p:pic>
                </p:oleObj>
              </mc:Fallback>
            </mc:AlternateContent>
          </a:graphicData>
        </a:graphic>
      </p:graphicFrame>
      <p:sp>
        <p:nvSpPr>
          <p:cNvPr id="15" name="文本框 14"/>
          <p:cNvSpPr txBox="1"/>
          <p:nvPr/>
        </p:nvSpPr>
        <p:spPr>
          <a:xfrm>
            <a:off x="2953773" y="203899"/>
            <a:ext cx="5498621" cy="461665"/>
          </a:xfrm>
          <a:prstGeom prst="rect">
            <a:avLst/>
          </a:prstGeom>
          <a:noFill/>
        </p:spPr>
        <p:txBody>
          <a:bodyPr wrap="none" rtlCol="0">
            <a:spAutoFit/>
          </a:bodyPr>
          <a:lstStyle/>
          <a:p>
            <a:r>
              <a:rPr lang="en-US" altLang="zh-CN" sz="2400" b="1" dirty="0">
                <a:latin typeface="Times New Roman" panose="02020603050405020304" pitchFamily="18" charset="0"/>
                <a:cs typeface="Times New Roman" panose="02020603050405020304" pitchFamily="18" charset="0"/>
              </a:rPr>
              <a:t>Particle in a ball – shaped potential well</a:t>
            </a:r>
            <a:r>
              <a:rPr lang="en-US" altLang="zh-CN" sz="2400" dirty="0">
                <a:latin typeface="Times New Roman" panose="02020603050405020304" pitchFamily="18" charset="0"/>
                <a:cs typeface="Times New Roman" panose="02020603050405020304" pitchFamily="18" charset="0"/>
              </a:rPr>
              <a:t> </a:t>
            </a:r>
            <a:endParaRPr lang="zh-CN"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对象 7"/>
          <p:cNvGraphicFramePr>
            <a:graphicFrameLocks noChangeAspect="1"/>
          </p:cNvGraphicFramePr>
          <p:nvPr/>
        </p:nvGraphicFramePr>
        <p:xfrm>
          <a:off x="4009242" y="2652310"/>
          <a:ext cx="1422000" cy="863280"/>
        </p:xfrm>
        <a:graphic>
          <a:graphicData uri="http://schemas.openxmlformats.org/presentationml/2006/ole">
            <mc:AlternateContent xmlns:mc="http://schemas.openxmlformats.org/markup-compatibility/2006">
              <mc:Choice xmlns:v="urn:schemas-microsoft-com:vml" Requires="v">
                <p:oleObj spid="_x0000_s0" name="Equation" r:id="rId1" imgW="17068800" imgH="10363200" progId="Equation.DSMT4">
                  <p:embed/>
                </p:oleObj>
              </mc:Choice>
              <mc:Fallback>
                <p:oleObj name="Equation" r:id="rId1" imgW="17068800" imgH="10363200" progId="Equation.DSMT4">
                  <p:embed/>
                  <p:pic>
                    <p:nvPicPr>
                      <p:cNvPr id="0" name="对象 7"/>
                      <p:cNvPicPr/>
                      <p:nvPr/>
                    </p:nvPicPr>
                    <p:blipFill>
                      <a:blip r:embed="rId2"/>
                      <a:stretch>
                        <a:fillRect/>
                      </a:stretch>
                    </p:blipFill>
                    <p:spPr>
                      <a:xfrm>
                        <a:off x="4009242" y="2652310"/>
                        <a:ext cx="1422000" cy="863280"/>
                      </a:xfrm>
                      <a:prstGeom prst="rect">
                        <a:avLst/>
                      </a:prstGeom>
                    </p:spPr>
                  </p:pic>
                </p:oleObj>
              </mc:Fallback>
            </mc:AlternateContent>
          </a:graphicData>
        </a:graphic>
      </p:graphicFrame>
      <p:sp>
        <p:nvSpPr>
          <p:cNvPr id="9" name="文本框 8"/>
          <p:cNvSpPr txBox="1"/>
          <p:nvPr/>
        </p:nvSpPr>
        <p:spPr>
          <a:xfrm>
            <a:off x="389758" y="1567583"/>
            <a:ext cx="3348224" cy="461665"/>
          </a:xfrm>
          <a:prstGeom prst="rect">
            <a:avLst/>
          </a:prstGeom>
          <a:noFill/>
        </p:spPr>
        <p:txBody>
          <a:bodyPr wrap="none" rtlCol="0">
            <a:spAutoFit/>
          </a:bodyPr>
          <a:lstStyle/>
          <a:p>
            <a:r>
              <a:rPr lang="en-US" altLang="zh-CN" sz="2400" dirty="0">
                <a:latin typeface="Times New Roman" panose="02020603050405020304" pitchFamily="18" charset="0"/>
                <a:cs typeface="Times New Roman" panose="02020603050405020304" pitchFamily="18" charset="0"/>
              </a:rPr>
              <a:t>In the potential well, V=0</a:t>
            </a:r>
            <a:endParaRPr lang="zh-CN" altLang="en-US" sz="2400" dirty="0">
              <a:latin typeface="Times New Roman" panose="02020603050405020304" pitchFamily="18" charset="0"/>
              <a:cs typeface="Times New Roman" panose="02020603050405020304" pitchFamily="18" charset="0"/>
            </a:endParaRPr>
          </a:p>
        </p:txBody>
      </p:sp>
      <p:sp>
        <p:nvSpPr>
          <p:cNvPr id="11" name="文本框 10"/>
          <p:cNvSpPr txBox="1"/>
          <p:nvPr/>
        </p:nvSpPr>
        <p:spPr>
          <a:xfrm>
            <a:off x="484233" y="3349469"/>
            <a:ext cx="955711" cy="461665"/>
          </a:xfrm>
          <a:prstGeom prst="rect">
            <a:avLst/>
          </a:prstGeom>
          <a:noFill/>
        </p:spPr>
        <p:txBody>
          <a:bodyPr wrap="none" rtlCol="0">
            <a:spAutoFit/>
          </a:bodyPr>
          <a:lstStyle/>
          <a:p>
            <a:r>
              <a:rPr lang="en-US" altLang="zh-CN" sz="2400" dirty="0">
                <a:latin typeface="Times New Roman" panose="02020603050405020304" pitchFamily="18" charset="0"/>
                <a:cs typeface="Times New Roman" panose="02020603050405020304" pitchFamily="18" charset="0"/>
              </a:rPr>
              <a:t>If </a:t>
            </a:r>
            <a:r>
              <a:rPr lang="en-US" altLang="zh-CN" sz="2400" i="1" dirty="0">
                <a:latin typeface="Times New Roman" panose="02020603050405020304" pitchFamily="18" charset="0"/>
                <a:cs typeface="Times New Roman" panose="02020603050405020304" pitchFamily="18" charset="0"/>
              </a:rPr>
              <a:t>l</a:t>
            </a:r>
            <a:r>
              <a:rPr lang="en-US" altLang="zh-CN" sz="2400" dirty="0">
                <a:latin typeface="Times New Roman" panose="02020603050405020304" pitchFamily="18" charset="0"/>
                <a:cs typeface="Times New Roman" panose="02020603050405020304" pitchFamily="18" charset="0"/>
              </a:rPr>
              <a:t> =0</a:t>
            </a:r>
            <a:endParaRPr lang="zh-CN" altLang="en-US" sz="2400" dirty="0">
              <a:latin typeface="Times New Roman" panose="02020603050405020304" pitchFamily="18" charset="0"/>
              <a:cs typeface="Times New Roman" panose="02020603050405020304" pitchFamily="18" charset="0"/>
            </a:endParaRPr>
          </a:p>
        </p:txBody>
      </p:sp>
      <p:graphicFrame>
        <p:nvGraphicFramePr>
          <p:cNvPr id="12" name="对象 11"/>
          <p:cNvGraphicFramePr>
            <a:graphicFrameLocks noChangeAspect="1"/>
          </p:cNvGraphicFramePr>
          <p:nvPr/>
        </p:nvGraphicFramePr>
        <p:xfrm>
          <a:off x="3907722" y="3617507"/>
          <a:ext cx="1498320" cy="838080"/>
        </p:xfrm>
        <a:graphic>
          <a:graphicData uri="http://schemas.openxmlformats.org/presentationml/2006/ole">
            <mc:AlternateContent xmlns:mc="http://schemas.openxmlformats.org/markup-compatibility/2006">
              <mc:Choice xmlns:v="urn:schemas-microsoft-com:vml" Requires="v">
                <p:oleObj spid="_x0000_s2" name="Equation" r:id="rId3" imgW="17983200" imgH="10058400" progId="Equation.DSMT4">
                  <p:embed/>
                </p:oleObj>
              </mc:Choice>
              <mc:Fallback>
                <p:oleObj name="Equation" r:id="rId3" imgW="17983200" imgH="10058400" progId="Equation.DSMT4">
                  <p:embed/>
                  <p:pic>
                    <p:nvPicPr>
                      <p:cNvPr id="0" name="对象 11"/>
                      <p:cNvPicPr/>
                      <p:nvPr/>
                    </p:nvPicPr>
                    <p:blipFill>
                      <a:blip r:embed="rId4"/>
                      <a:stretch>
                        <a:fillRect/>
                      </a:stretch>
                    </p:blipFill>
                    <p:spPr>
                      <a:xfrm>
                        <a:off x="3907722" y="3617507"/>
                        <a:ext cx="1498320" cy="838080"/>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3915317" y="4525394"/>
          <a:ext cx="3250800" cy="838080"/>
        </p:xfrm>
        <a:graphic>
          <a:graphicData uri="http://schemas.openxmlformats.org/presentationml/2006/ole">
            <mc:AlternateContent xmlns:mc="http://schemas.openxmlformats.org/markup-compatibility/2006">
              <mc:Choice xmlns:v="urn:schemas-microsoft-com:vml" Requires="v">
                <p:oleObj spid="_x0000_s3" name="Equation" r:id="rId5" imgW="39014400" imgH="10058400" progId="Equation.DSMT4">
                  <p:embed/>
                </p:oleObj>
              </mc:Choice>
              <mc:Fallback>
                <p:oleObj name="Equation" r:id="rId5" imgW="39014400" imgH="10058400" progId="Equation.DSMT4">
                  <p:embed/>
                  <p:pic>
                    <p:nvPicPr>
                      <p:cNvPr id="0" name="对象 12"/>
                      <p:cNvPicPr/>
                      <p:nvPr/>
                    </p:nvPicPr>
                    <p:blipFill>
                      <a:blip r:embed="rId6"/>
                      <a:stretch>
                        <a:fillRect/>
                      </a:stretch>
                    </p:blipFill>
                    <p:spPr>
                      <a:xfrm>
                        <a:off x="3915317" y="4525394"/>
                        <a:ext cx="3250800" cy="838080"/>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7793038" y="4779963"/>
          <a:ext cx="1676400" cy="457200"/>
        </p:xfrm>
        <a:graphic>
          <a:graphicData uri="http://schemas.openxmlformats.org/presentationml/2006/ole">
            <mc:AlternateContent xmlns:mc="http://schemas.openxmlformats.org/markup-compatibility/2006">
              <mc:Choice xmlns:v="urn:schemas-microsoft-com:vml" Requires="v">
                <p:oleObj spid="_x0000_s4" name="Equation" r:id="rId7" imgW="20116800" imgH="5486400" progId="Equation.DSMT4">
                  <p:embed/>
                </p:oleObj>
              </mc:Choice>
              <mc:Fallback>
                <p:oleObj name="Equation" r:id="rId7" imgW="20116800" imgH="5486400" progId="Equation.DSMT4">
                  <p:embed/>
                  <p:pic>
                    <p:nvPicPr>
                      <p:cNvPr id="0" name="对象 13"/>
                      <p:cNvPicPr/>
                      <p:nvPr/>
                    </p:nvPicPr>
                    <p:blipFill>
                      <a:blip r:embed="rId8"/>
                      <a:stretch>
                        <a:fillRect/>
                      </a:stretch>
                    </p:blipFill>
                    <p:spPr>
                      <a:xfrm>
                        <a:off x="7793038" y="4779963"/>
                        <a:ext cx="1676400" cy="457200"/>
                      </a:xfrm>
                      <a:prstGeom prst="rect">
                        <a:avLst/>
                      </a:prstGeom>
                    </p:spPr>
                  </p:pic>
                </p:oleObj>
              </mc:Fallback>
            </mc:AlternateContent>
          </a:graphicData>
        </a:graphic>
      </p:graphicFrame>
      <p:sp>
        <p:nvSpPr>
          <p:cNvPr id="10" name="文本框 9"/>
          <p:cNvSpPr txBox="1"/>
          <p:nvPr/>
        </p:nvSpPr>
        <p:spPr>
          <a:xfrm>
            <a:off x="489043" y="5358202"/>
            <a:ext cx="950901" cy="461665"/>
          </a:xfrm>
          <a:prstGeom prst="rect">
            <a:avLst/>
          </a:prstGeom>
          <a:noFill/>
        </p:spPr>
        <p:txBody>
          <a:bodyPr wrap="none" rtlCol="0">
            <a:spAutoFit/>
          </a:bodyPr>
          <a:lstStyle/>
          <a:p>
            <a:r>
              <a:rPr lang="en-US" altLang="zh-CN" sz="2400" dirty="0">
                <a:latin typeface="Times New Roman" panose="02020603050405020304" pitchFamily="18" charset="0"/>
                <a:cs typeface="Times New Roman" panose="02020603050405020304" pitchFamily="18" charset="0"/>
              </a:rPr>
              <a:t>If </a:t>
            </a:r>
            <a:r>
              <a:rPr lang="en-US" altLang="zh-CN" sz="2400" i="1" dirty="0">
                <a:latin typeface="Times New Roman" panose="02020603050405020304" pitchFamily="18" charset="0"/>
                <a:cs typeface="Times New Roman" panose="02020603050405020304" pitchFamily="18" charset="0"/>
              </a:rPr>
              <a:t>l</a:t>
            </a:r>
            <a:r>
              <a:rPr lang="en-US" altLang="zh-CN"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0</a:t>
            </a:r>
            <a:endParaRPr lang="zh-CN" altLang="en-US" sz="2400" dirty="0">
              <a:latin typeface="Times New Roman" panose="02020603050405020304" pitchFamily="18" charset="0"/>
              <a:cs typeface="Times New Roman" panose="02020603050405020304" pitchFamily="18" charset="0"/>
            </a:endParaRPr>
          </a:p>
        </p:txBody>
      </p:sp>
      <p:sp>
        <p:nvSpPr>
          <p:cNvPr id="15" name="文本框 14"/>
          <p:cNvSpPr txBox="1"/>
          <p:nvPr/>
        </p:nvSpPr>
        <p:spPr>
          <a:xfrm>
            <a:off x="489043" y="5941666"/>
            <a:ext cx="9288120" cy="461665"/>
          </a:xfrm>
          <a:prstGeom prst="rect">
            <a:avLst/>
          </a:prstGeom>
          <a:noFill/>
        </p:spPr>
        <p:txBody>
          <a:bodyPr wrap="none" rtlCol="0">
            <a:spAutoFit/>
          </a:bodyPr>
          <a:lstStyle/>
          <a:p>
            <a:r>
              <a:rPr lang="en-US" altLang="zh-CN" sz="2400" dirty="0">
                <a:latin typeface="Times New Roman" panose="02020603050405020304" pitchFamily="18" charset="0"/>
                <a:cs typeface="Times New Roman" panose="02020603050405020304" pitchFamily="18" charset="0"/>
              </a:rPr>
              <a:t>U(r) is the linear combination of Bessel functions and Neumann functions</a:t>
            </a:r>
            <a:endParaRPr lang="zh-CN" altLang="en-US" sz="2400" dirty="0">
              <a:latin typeface="Times New Roman" panose="02020603050405020304" pitchFamily="18" charset="0"/>
              <a:cs typeface="Times New Roman" panose="02020603050405020304" pitchFamily="18" charset="0"/>
            </a:endParaRPr>
          </a:p>
        </p:txBody>
      </p:sp>
      <p:grpSp>
        <p:nvGrpSpPr>
          <p:cNvPr id="5" name="组合 4"/>
          <p:cNvGrpSpPr/>
          <p:nvPr/>
        </p:nvGrpSpPr>
        <p:grpSpPr>
          <a:xfrm>
            <a:off x="3475781" y="360175"/>
            <a:ext cx="4368240" cy="964800"/>
            <a:chOff x="3475781" y="360175"/>
            <a:chExt cx="4368240" cy="964800"/>
          </a:xfrm>
        </p:grpSpPr>
        <p:graphicFrame>
          <p:nvGraphicFramePr>
            <p:cNvPr id="6" name="对象 5"/>
            <p:cNvGraphicFramePr>
              <a:graphicFrameLocks noChangeAspect="1"/>
            </p:cNvGraphicFramePr>
            <p:nvPr/>
          </p:nvGraphicFramePr>
          <p:xfrm>
            <a:off x="3475781" y="360175"/>
            <a:ext cx="4368240" cy="964800"/>
          </p:xfrm>
          <a:graphic>
            <a:graphicData uri="http://schemas.openxmlformats.org/presentationml/2006/ole">
              <mc:AlternateContent xmlns:mc="http://schemas.openxmlformats.org/markup-compatibility/2006">
                <mc:Choice xmlns:v="urn:schemas-microsoft-com:vml" Requires="v">
                  <p:oleObj spid="_x0000_s7" name="Equation" r:id="rId9" imgW="52425600" imgH="11582400" progId="Equation.DSMT4">
                    <p:embed/>
                  </p:oleObj>
                </mc:Choice>
                <mc:Fallback>
                  <p:oleObj name="Equation" r:id="rId9" imgW="52425600" imgH="11582400" progId="Equation.DSMT4">
                    <p:embed/>
                    <p:pic>
                      <p:nvPicPr>
                        <p:cNvPr id="0" name="对象 4"/>
                        <p:cNvPicPr/>
                        <p:nvPr/>
                      </p:nvPicPr>
                      <p:blipFill>
                        <a:blip r:embed="rId10"/>
                        <a:stretch>
                          <a:fillRect/>
                        </a:stretch>
                      </p:blipFill>
                      <p:spPr>
                        <a:xfrm>
                          <a:off x="3475781" y="360175"/>
                          <a:ext cx="4368240" cy="964800"/>
                        </a:xfrm>
                        <a:prstGeom prst="rect">
                          <a:avLst/>
                        </a:prstGeom>
                      </p:spPr>
                    </p:pic>
                  </p:oleObj>
                </mc:Fallback>
              </mc:AlternateContent>
            </a:graphicData>
          </a:graphic>
        </p:graphicFrame>
        <p:sp>
          <p:nvSpPr>
            <p:cNvPr id="16" name="文本框 15"/>
            <p:cNvSpPr txBox="1"/>
            <p:nvPr/>
          </p:nvSpPr>
          <p:spPr>
            <a:xfrm>
              <a:off x="5943601" y="387049"/>
              <a:ext cx="843116" cy="430887"/>
            </a:xfrm>
            <a:prstGeom prst="rect">
              <a:avLst/>
            </a:prstGeom>
            <a:solidFill>
              <a:schemeClr val="bg1"/>
            </a:solidFill>
          </p:spPr>
          <p:txBody>
            <a:bodyPr wrap="square" rtlCol="0">
              <a:spAutoFit/>
            </a:bodyPr>
            <a:lstStyle/>
            <a:p>
              <a:r>
                <a:rPr lang="en-US" altLang="zh-CN" sz="2200" i="1" dirty="0">
                  <a:solidFill>
                    <a:srgbClr val="3333FF"/>
                  </a:solidFill>
                  <a:latin typeface="Times New Roman" panose="02020603050405020304" pitchFamily="18" charset="0"/>
                  <a:cs typeface="Times New Roman" panose="02020603050405020304" pitchFamily="18" charset="0"/>
                </a:rPr>
                <a:t>J</a:t>
              </a:r>
              <a:r>
                <a:rPr lang="en-US" altLang="zh-CN" sz="2200" dirty="0">
                  <a:solidFill>
                    <a:srgbClr val="3333FF"/>
                  </a:solidFill>
                  <a:latin typeface="Times New Roman" panose="02020603050405020304" pitchFamily="18" charset="0"/>
                  <a:cs typeface="Times New Roman" panose="02020603050405020304" pitchFamily="18" charset="0"/>
                </a:rPr>
                <a:t>(</a:t>
              </a:r>
              <a:r>
                <a:rPr lang="en-US" altLang="zh-CN" sz="2200" i="1" dirty="0">
                  <a:solidFill>
                    <a:srgbClr val="3333FF"/>
                  </a:solidFill>
                  <a:latin typeface="Times New Roman" panose="02020603050405020304" pitchFamily="18" charset="0"/>
                  <a:cs typeface="Times New Roman" panose="02020603050405020304" pitchFamily="18" charset="0"/>
                </a:rPr>
                <a:t>J</a:t>
              </a:r>
              <a:r>
                <a:rPr lang="en-US" altLang="zh-CN" sz="2200" dirty="0">
                  <a:solidFill>
                    <a:srgbClr val="3333FF"/>
                  </a:solidFill>
                  <a:latin typeface="Times New Roman" panose="02020603050405020304" pitchFamily="18" charset="0"/>
                  <a:cs typeface="Times New Roman" panose="02020603050405020304" pitchFamily="18" charset="0"/>
                </a:rPr>
                <a:t>+</a:t>
              </a:r>
              <a:r>
                <a:rPr lang="en-US" altLang="zh-CN" sz="2200" i="1" dirty="0">
                  <a:solidFill>
                    <a:srgbClr val="3333FF"/>
                  </a:solidFill>
                  <a:latin typeface="Times New Roman" panose="02020603050405020304" pitchFamily="18" charset="0"/>
                  <a:cs typeface="Times New Roman" panose="02020603050405020304" pitchFamily="18" charset="0"/>
                </a:rPr>
                <a:t>1</a:t>
              </a:r>
              <a:r>
                <a:rPr lang="en-US" altLang="zh-CN" sz="2200" dirty="0">
                  <a:solidFill>
                    <a:srgbClr val="3333FF"/>
                  </a:solidFill>
                  <a:latin typeface="Times New Roman" panose="02020603050405020304" pitchFamily="18" charset="0"/>
                  <a:cs typeface="Times New Roman" panose="02020603050405020304" pitchFamily="18" charset="0"/>
                </a:rPr>
                <a:t>)</a:t>
              </a:r>
              <a:endParaRPr lang="zh-CN" altLang="en-US" sz="2200" dirty="0">
                <a:solidFill>
                  <a:srgbClr val="3333FF"/>
                </a:solidFill>
                <a:latin typeface="Times New Roman" panose="02020603050405020304" pitchFamily="18" charset="0"/>
                <a:cs typeface="Times New Roman" panose="02020603050405020304" pitchFamily="18" charset="0"/>
              </a:endParaRPr>
            </a:p>
          </p:txBody>
        </p:sp>
      </p:grpSp>
      <p:grpSp>
        <p:nvGrpSpPr>
          <p:cNvPr id="17" name="组合 16"/>
          <p:cNvGrpSpPr/>
          <p:nvPr/>
        </p:nvGrpSpPr>
        <p:grpSpPr>
          <a:xfrm>
            <a:off x="4009242" y="1483675"/>
            <a:ext cx="2793600" cy="964800"/>
            <a:chOff x="4009242" y="1483675"/>
            <a:chExt cx="2793600" cy="964800"/>
          </a:xfrm>
        </p:grpSpPr>
        <p:graphicFrame>
          <p:nvGraphicFramePr>
            <p:cNvPr id="18" name="对象 17"/>
            <p:cNvGraphicFramePr>
              <a:graphicFrameLocks noChangeAspect="1"/>
            </p:cNvGraphicFramePr>
            <p:nvPr/>
          </p:nvGraphicFramePr>
          <p:xfrm>
            <a:off x="4009242" y="1483675"/>
            <a:ext cx="2793600" cy="964800"/>
          </p:xfrm>
          <a:graphic>
            <a:graphicData uri="http://schemas.openxmlformats.org/presentationml/2006/ole">
              <mc:AlternateContent xmlns:mc="http://schemas.openxmlformats.org/markup-compatibility/2006">
                <mc:Choice xmlns:v="urn:schemas-microsoft-com:vml" Requires="v">
                  <p:oleObj spid="_x0000_s19" name="Equation" r:id="rId11" imgW="33528000" imgH="11582400" progId="Equation.DSMT4">
                    <p:embed/>
                  </p:oleObj>
                </mc:Choice>
                <mc:Fallback>
                  <p:oleObj name="Equation" r:id="rId11" imgW="33528000" imgH="11582400" progId="Equation.DSMT4">
                    <p:embed/>
                    <p:pic>
                      <p:nvPicPr>
                        <p:cNvPr id="0" name="对象 6"/>
                        <p:cNvPicPr/>
                        <p:nvPr/>
                      </p:nvPicPr>
                      <p:blipFill>
                        <a:blip r:embed="rId12"/>
                        <a:stretch>
                          <a:fillRect/>
                        </a:stretch>
                      </p:blipFill>
                      <p:spPr>
                        <a:xfrm>
                          <a:off x="4009242" y="1483675"/>
                          <a:ext cx="2793600" cy="964800"/>
                        </a:xfrm>
                        <a:prstGeom prst="rect">
                          <a:avLst/>
                        </a:prstGeom>
                      </p:spPr>
                    </p:pic>
                  </p:oleObj>
                </mc:Fallback>
              </mc:AlternateContent>
            </a:graphicData>
          </a:graphic>
        </p:graphicFrame>
        <p:sp>
          <p:nvSpPr>
            <p:cNvPr id="20" name="文本框 19"/>
            <p:cNvSpPr txBox="1"/>
            <p:nvPr/>
          </p:nvSpPr>
          <p:spPr>
            <a:xfrm>
              <a:off x="5009684" y="1501078"/>
              <a:ext cx="843116" cy="430887"/>
            </a:xfrm>
            <a:prstGeom prst="rect">
              <a:avLst/>
            </a:prstGeom>
            <a:solidFill>
              <a:schemeClr val="bg1"/>
            </a:solidFill>
          </p:spPr>
          <p:txBody>
            <a:bodyPr wrap="square" rtlCol="0">
              <a:spAutoFit/>
            </a:bodyPr>
            <a:lstStyle/>
            <a:p>
              <a:r>
                <a:rPr lang="en-US" altLang="zh-CN" sz="2200" i="1" dirty="0">
                  <a:solidFill>
                    <a:srgbClr val="3333FF"/>
                  </a:solidFill>
                  <a:latin typeface="Times New Roman" panose="02020603050405020304" pitchFamily="18" charset="0"/>
                  <a:cs typeface="Times New Roman" panose="02020603050405020304" pitchFamily="18" charset="0"/>
                </a:rPr>
                <a:t>J</a:t>
              </a:r>
              <a:r>
                <a:rPr lang="en-US" altLang="zh-CN" sz="2200" dirty="0">
                  <a:solidFill>
                    <a:srgbClr val="3333FF"/>
                  </a:solidFill>
                  <a:latin typeface="Times New Roman" panose="02020603050405020304" pitchFamily="18" charset="0"/>
                  <a:cs typeface="Times New Roman" panose="02020603050405020304" pitchFamily="18" charset="0"/>
                </a:rPr>
                <a:t>(</a:t>
              </a:r>
              <a:r>
                <a:rPr lang="en-US" altLang="zh-CN" sz="2200" i="1" dirty="0">
                  <a:solidFill>
                    <a:srgbClr val="3333FF"/>
                  </a:solidFill>
                  <a:latin typeface="Times New Roman" panose="02020603050405020304" pitchFamily="18" charset="0"/>
                  <a:cs typeface="Times New Roman" panose="02020603050405020304" pitchFamily="18" charset="0"/>
                </a:rPr>
                <a:t>J</a:t>
              </a:r>
              <a:r>
                <a:rPr lang="en-US" altLang="zh-CN" sz="2200" dirty="0">
                  <a:solidFill>
                    <a:srgbClr val="3333FF"/>
                  </a:solidFill>
                  <a:latin typeface="Times New Roman" panose="02020603050405020304" pitchFamily="18" charset="0"/>
                  <a:cs typeface="Times New Roman" panose="02020603050405020304" pitchFamily="18" charset="0"/>
                </a:rPr>
                <a:t>+</a:t>
              </a:r>
              <a:r>
                <a:rPr lang="en-US" altLang="zh-CN" sz="2200" i="1" dirty="0">
                  <a:solidFill>
                    <a:srgbClr val="3333FF"/>
                  </a:solidFill>
                  <a:latin typeface="Times New Roman" panose="02020603050405020304" pitchFamily="18" charset="0"/>
                  <a:cs typeface="Times New Roman" panose="02020603050405020304" pitchFamily="18" charset="0"/>
                </a:rPr>
                <a:t>1</a:t>
              </a:r>
              <a:r>
                <a:rPr lang="en-US" altLang="zh-CN" sz="2200" dirty="0">
                  <a:solidFill>
                    <a:srgbClr val="3333FF"/>
                  </a:solidFill>
                  <a:latin typeface="Times New Roman" panose="02020603050405020304" pitchFamily="18" charset="0"/>
                  <a:cs typeface="Times New Roman" panose="02020603050405020304" pitchFamily="18" charset="0"/>
                </a:rPr>
                <a:t>)</a:t>
              </a:r>
              <a:endParaRPr lang="zh-CN" altLang="en-US" sz="2200" dirty="0">
                <a:solidFill>
                  <a:srgbClr val="3333FF"/>
                </a:solidFill>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051912" y="225313"/>
            <a:ext cx="3813736"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4.1 The hydrogen atom </a:t>
            </a:r>
            <a:endParaRPr lang="zh-CN" altLang="en-US" sz="28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矩形 2"/>
              <p:cNvSpPr/>
              <p:nvPr/>
            </p:nvSpPr>
            <p:spPr>
              <a:xfrm>
                <a:off x="247462" y="1027435"/>
                <a:ext cx="11828503" cy="4179606"/>
              </a:xfrm>
              <a:prstGeom prst="rect">
                <a:avLst/>
              </a:prstGeom>
            </p:spPr>
            <p:txBody>
              <a:bodyPr wrap="square">
                <a:spAutoFit/>
              </a:bodyPr>
              <a:lstStyle/>
              <a:p>
                <a:pPr>
                  <a:lnSpc>
                    <a:spcPct val="120000"/>
                  </a:lnSpc>
                  <a:spcBef>
                    <a:spcPts val="1200"/>
                  </a:spcBef>
                </a:pPr>
                <a:r>
                  <a:rPr lang="en-US" altLang="zh-CN" sz="2400" dirty="0">
                    <a:latin typeface="Times New Roman" panose="02020603050405020304" pitchFamily="18" charset="0"/>
                    <a:cs typeface="Times New Roman" panose="02020603050405020304" pitchFamily="18" charset="0"/>
                  </a:rPr>
                  <a:t>In the hydrogen atom there is only one nucleus, and we take it to be clamped at the origin of coordinates. We consider the general 'hydrogen-like' one-electron atom, with nuclear charge </a:t>
                </a:r>
                <a:r>
                  <a:rPr lang="en-US" altLang="zh-CN" sz="2400" i="1" dirty="0">
                    <a:solidFill>
                      <a:srgbClr val="2926BF"/>
                    </a:solidFill>
                    <a:latin typeface="Times New Roman" panose="02020603050405020304" pitchFamily="18" charset="0"/>
                    <a:cs typeface="Times New Roman" panose="02020603050405020304" pitchFamily="18" charset="0"/>
                  </a:rPr>
                  <a:t>Ze.</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The potential energy is</a:t>
                </a:r>
                <a:endParaRPr lang="en-US" altLang="zh-CN" sz="2400" dirty="0">
                  <a:latin typeface="Times New Roman" panose="02020603050405020304" pitchFamily="18" charset="0"/>
                  <a:cs typeface="Times New Roman" panose="02020603050405020304" pitchFamily="18" charset="0"/>
                </a:endParaRPr>
              </a:p>
              <a:p>
                <a:pPr>
                  <a:lnSpc>
                    <a:spcPct val="120000"/>
                  </a:lnSpc>
                  <a:spcBef>
                    <a:spcPts val="1200"/>
                  </a:spcBef>
                </a:pPr>
                <a:endParaRPr lang="en-US" altLang="zh-CN" sz="2400" dirty="0">
                  <a:latin typeface="Times New Roman" panose="02020603050405020304" pitchFamily="18" charset="0"/>
                  <a:cs typeface="Times New Roman" panose="02020603050405020304" pitchFamily="18" charset="0"/>
                </a:endParaRPr>
              </a:p>
              <a:p>
                <a:pPr>
                  <a:lnSpc>
                    <a:spcPct val="120000"/>
                  </a:lnSpc>
                </a:pPr>
                <a:r>
                  <a:rPr lang="en-US" altLang="zh-CN" sz="2400" dirty="0">
                    <a:latin typeface="Times New Roman" panose="02020603050405020304" pitchFamily="18" charset="0"/>
                    <a:cs typeface="Times New Roman" panose="02020603050405020304" pitchFamily="18" charset="0"/>
                  </a:rPr>
                  <a:t>and the kinetic energy is</a:t>
                </a:r>
                <a:endParaRPr lang="en-US" altLang="zh-CN" sz="2400" dirty="0">
                  <a:latin typeface="Times New Roman" panose="02020603050405020304" pitchFamily="18" charset="0"/>
                  <a:cs typeface="Times New Roman" panose="02020603050405020304" pitchFamily="18" charset="0"/>
                </a:endParaRPr>
              </a:p>
              <a:p>
                <a:pPr>
                  <a:lnSpc>
                    <a:spcPct val="120000"/>
                  </a:lnSpc>
                  <a:spcBef>
                    <a:spcPts val="1200"/>
                  </a:spcBef>
                </a:pPr>
                <a:endParaRPr lang="en-US" altLang="zh-CN" sz="2400" dirty="0">
                  <a:latin typeface="Times New Roman" panose="02020603050405020304" pitchFamily="18" charset="0"/>
                  <a:cs typeface="Times New Roman" panose="02020603050405020304" pitchFamily="18" charset="0"/>
                </a:endParaRPr>
              </a:p>
              <a:p>
                <a:pPr>
                  <a:lnSpc>
                    <a:spcPct val="120000"/>
                  </a:lnSpc>
                  <a:spcBef>
                    <a:spcPts val="1200"/>
                  </a:spcBef>
                </a:pPr>
                <a:r>
                  <a:rPr lang="en-US" altLang="zh-CN" sz="2400" dirty="0">
                    <a:latin typeface="Times New Roman" panose="02020603050405020304" pitchFamily="18" charset="0"/>
                    <a:cs typeface="Times New Roman" panose="02020603050405020304" pitchFamily="18" charset="0"/>
                  </a:rPr>
                  <a:t>It is more convenient to express this in spherical polar coordinates, using the expression for </a:t>
                </a:r>
                <a14:m>
                  <m:oMath xmlns:m="http://schemas.openxmlformats.org/officeDocument/2006/math">
                    <m:r>
                      <a:rPr lang="en-US" altLang="zh-CN" sz="2400" i="1" dirty="0">
                        <a:solidFill>
                          <a:srgbClr val="2926BF"/>
                        </a:solidFill>
                        <a:latin typeface="Cambria Math" panose="02040503050406030204" pitchFamily="18" charset="0"/>
                        <a:ea typeface="Cambria Math" panose="02040503050406030204" pitchFamily="18" charset="0"/>
                      </a:rPr>
                      <m:t>𝛻</m:t>
                    </m:r>
                    <m:r>
                      <a:rPr lang="en-US" altLang="zh-CN" sz="2400" i="1" baseline="30000" dirty="0">
                        <a:solidFill>
                          <a:srgbClr val="2926BF"/>
                        </a:solidFill>
                        <a:latin typeface="Cambria Math" panose="02040503050406030204" pitchFamily="18" charset="0"/>
                      </a:rPr>
                      <m:t>2</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pPr>
                  <a:lnSpc>
                    <a:spcPct val="120000"/>
                  </a:lnSpc>
                  <a:spcBef>
                    <a:spcPts val="1200"/>
                  </a:spcBef>
                </a:pPr>
                <a:endParaRPr lang="en-US" altLang="zh-CN" sz="2000" dirty="0">
                  <a:latin typeface="Times New Roman" panose="02020603050405020304" pitchFamily="18" charset="0"/>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247462" y="1027435"/>
                <a:ext cx="11828503" cy="4179606"/>
              </a:xfrm>
              <a:prstGeom prst="rect">
                <a:avLst/>
              </a:prstGeom>
              <a:blipFill rotWithShape="1">
                <a:blip r:embed="rId1"/>
                <a:stretch>
                  <a:fillRect l="-4" r="1" b="1"/>
                </a:stretch>
              </a:blipFill>
            </p:spPr>
            <p:txBody>
              <a:bodyPr/>
              <a:lstStyle/>
              <a:p>
                <a:r>
                  <a:rPr lang="zh-CN" altLang="en-US">
                    <a:noFill/>
                  </a:rPr>
                  <a:t> </a:t>
                </a:r>
              </a:p>
            </p:txBody>
          </p:sp>
        </mc:Fallback>
      </mc:AlternateContent>
      <p:graphicFrame>
        <p:nvGraphicFramePr>
          <p:cNvPr id="4" name="对象 3"/>
          <p:cNvGraphicFramePr>
            <a:graphicFrameLocks noChangeAspect="1"/>
          </p:cNvGraphicFramePr>
          <p:nvPr/>
        </p:nvGraphicFramePr>
        <p:xfrm>
          <a:off x="5039303" y="1990523"/>
          <a:ext cx="1548720" cy="914400"/>
        </p:xfrm>
        <a:graphic>
          <a:graphicData uri="http://schemas.openxmlformats.org/presentationml/2006/ole">
            <mc:AlternateContent xmlns:mc="http://schemas.openxmlformats.org/markup-compatibility/2006">
              <mc:Choice xmlns:v="urn:schemas-microsoft-com:vml" Requires="v">
                <p:oleObj spid="_x0000_s5" name="Equation" r:id="rId2" imgW="18592800" imgH="10972800" progId="Equation.DSMT4">
                  <p:embed/>
                </p:oleObj>
              </mc:Choice>
              <mc:Fallback>
                <p:oleObj name="Equation" r:id="rId2" imgW="18592800" imgH="10972800" progId="Equation.DSMT4">
                  <p:embed/>
                  <p:pic>
                    <p:nvPicPr>
                      <p:cNvPr id="0" name="图片 4"/>
                      <p:cNvPicPr/>
                      <p:nvPr/>
                    </p:nvPicPr>
                    <p:blipFill>
                      <a:blip r:embed="rId3"/>
                      <a:stretch>
                        <a:fillRect/>
                      </a:stretch>
                    </p:blipFill>
                    <p:spPr>
                      <a:xfrm>
                        <a:off x="5039303" y="1990523"/>
                        <a:ext cx="1548720" cy="91440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4817745" y="3258641"/>
          <a:ext cx="2868613" cy="914400"/>
        </p:xfrm>
        <a:graphic>
          <a:graphicData uri="http://schemas.openxmlformats.org/presentationml/2006/ole">
            <mc:AlternateContent xmlns:mc="http://schemas.openxmlformats.org/markup-compatibility/2006">
              <mc:Choice xmlns:v="urn:schemas-microsoft-com:vml" Requires="v">
                <p:oleObj spid="_x0000_s7" name="Equation" r:id="rId4" imgW="34442400" imgH="10972800" progId="Equation.DSMT4">
                  <p:embed/>
                </p:oleObj>
              </mc:Choice>
              <mc:Fallback>
                <p:oleObj name="Equation" r:id="rId4" imgW="34442400" imgH="10972800" progId="Equation.DSMT4">
                  <p:embed/>
                  <p:pic>
                    <p:nvPicPr>
                      <p:cNvPr id="0" name="图片 6"/>
                      <p:cNvPicPr/>
                      <p:nvPr/>
                    </p:nvPicPr>
                    <p:blipFill>
                      <a:blip r:embed="rId5"/>
                      <a:stretch>
                        <a:fillRect/>
                      </a:stretch>
                    </p:blipFill>
                    <p:spPr>
                      <a:xfrm>
                        <a:off x="4817745" y="3258641"/>
                        <a:ext cx="2868613" cy="914400"/>
                      </a:xfrm>
                      <a:prstGeom prst="rect">
                        <a:avLst/>
                      </a:prstGeom>
                    </p:spPr>
                  </p:pic>
                </p:oleObj>
              </mc:Fallback>
            </mc:AlternateContent>
          </a:graphicData>
        </a:graphic>
      </p:graphicFrame>
      <p:sp>
        <p:nvSpPr>
          <p:cNvPr id="8"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graphicFrame>
        <p:nvGraphicFramePr>
          <p:cNvPr id="9" name="对象 8"/>
          <p:cNvGraphicFramePr>
            <a:graphicFrameLocks noChangeAspect="1"/>
          </p:cNvGraphicFramePr>
          <p:nvPr/>
        </p:nvGraphicFramePr>
        <p:xfrm>
          <a:off x="5039303" y="4819009"/>
          <a:ext cx="2209680" cy="507600"/>
        </p:xfrm>
        <a:graphic>
          <a:graphicData uri="http://schemas.openxmlformats.org/presentationml/2006/ole">
            <mc:AlternateContent xmlns:mc="http://schemas.openxmlformats.org/markup-compatibility/2006">
              <mc:Choice xmlns:v="urn:schemas-microsoft-com:vml" Requires="v">
                <p:oleObj spid="_x0000_s10" name="Equation" r:id="rId6" imgW="26517600" imgH="6096000" progId="Equation.DSMT4">
                  <p:embed/>
                </p:oleObj>
              </mc:Choice>
              <mc:Fallback>
                <p:oleObj name="Equation" r:id="rId6" imgW="26517600" imgH="6096000" progId="Equation.DSMT4">
                  <p:embed/>
                  <p:pic>
                    <p:nvPicPr>
                      <p:cNvPr id="0" name="对象 3"/>
                      <p:cNvPicPr/>
                      <p:nvPr/>
                    </p:nvPicPr>
                    <p:blipFill>
                      <a:blip r:embed="rId7"/>
                      <a:stretch>
                        <a:fillRect/>
                      </a:stretch>
                    </p:blipFill>
                    <p:spPr>
                      <a:xfrm>
                        <a:off x="5039303" y="4819009"/>
                        <a:ext cx="2209680" cy="507600"/>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3452063" y="5490177"/>
          <a:ext cx="5384160" cy="964800"/>
        </p:xfrm>
        <a:graphic>
          <a:graphicData uri="http://schemas.openxmlformats.org/presentationml/2006/ole">
            <mc:AlternateContent xmlns:mc="http://schemas.openxmlformats.org/markup-compatibility/2006">
              <mc:Choice xmlns:v="urn:schemas-microsoft-com:vml" Requires="v">
                <p:oleObj spid="_x0000_s12" name="Equation" r:id="rId8" imgW="64617600" imgH="11582400" progId="Equation.DSMT4">
                  <p:embed/>
                </p:oleObj>
              </mc:Choice>
              <mc:Fallback>
                <p:oleObj name="Equation" r:id="rId8" imgW="64617600" imgH="11582400" progId="Equation.DSMT4">
                  <p:embed/>
                  <p:pic>
                    <p:nvPicPr>
                      <p:cNvPr id="0" name="对象 6"/>
                      <p:cNvPicPr/>
                      <p:nvPr/>
                    </p:nvPicPr>
                    <p:blipFill>
                      <a:blip r:embed="rId9"/>
                      <a:stretch>
                        <a:fillRect/>
                      </a:stretch>
                    </p:blipFill>
                    <p:spPr>
                      <a:xfrm>
                        <a:off x="3452063" y="5490177"/>
                        <a:ext cx="5384160" cy="964800"/>
                      </a:xfrm>
                      <a:prstGeom prst="rect">
                        <a:avLst/>
                      </a:prstGeom>
                    </p:spPr>
                  </p:pic>
                </p:oleObj>
              </mc:Fallback>
            </mc:AlternateContent>
          </a:graphicData>
        </a:graphic>
      </p:graphicFrame>
      <p:sp>
        <p:nvSpPr>
          <p:cNvPr id="13" name="灯片编号占位符 12"/>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C29849EA-18B3-4CA7-9730-C7EE55E9A153}" type="slidenum">
              <a:rPr lang="zh-CN" altLang="en-US" smtClean="0"/>
            </a:fld>
            <a:endParaRPr lang="zh-CN" altLang="en-US"/>
          </a:p>
        </p:txBody>
      </p:sp>
      <p:sp>
        <p:nvSpPr>
          <p:cNvPr id="5" name="文本框 4"/>
          <p:cNvSpPr txBox="1"/>
          <p:nvPr/>
        </p:nvSpPr>
        <p:spPr>
          <a:xfrm>
            <a:off x="471805" y="563245"/>
            <a:ext cx="4321810" cy="46037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Tranformation of coordinates</a:t>
            </a:r>
            <a:endParaRPr lang="zh-CN" altLang="en-US" sz="2400" dirty="0">
              <a:latin typeface="Times New Roman" panose="02020603050405020304" pitchFamily="18" charset="0"/>
              <a:cs typeface="Times New Roman" panose="02020603050405020304" pitchFamily="18" charset="0"/>
            </a:endParaRPr>
          </a:p>
        </p:txBody>
      </p:sp>
      <p:graphicFrame>
        <p:nvGraphicFramePr>
          <p:cNvPr id="67602" name="Object 18"/>
          <p:cNvGraphicFramePr>
            <a:graphicFrameLocks noChangeAspect="1"/>
          </p:cNvGraphicFramePr>
          <p:nvPr>
            <p:custDataLst>
              <p:tags r:id="rId1"/>
            </p:custDataLst>
          </p:nvPr>
        </p:nvGraphicFramePr>
        <p:xfrm>
          <a:off x="2970848" y="5755640"/>
          <a:ext cx="5529262" cy="812800"/>
        </p:xfrm>
        <a:graphic>
          <a:graphicData uri="http://schemas.openxmlformats.org/presentationml/2006/ole">
            <mc:AlternateContent xmlns:mc="http://schemas.openxmlformats.org/markup-compatibility/2006">
              <mc:Choice xmlns:v="urn:schemas-microsoft-com:vml" Requires="v">
                <p:oleObj spid="_x0000_s11285" name="" r:id="rId2" imgW="2770505" imgH="402590" progId="Equation.3">
                  <p:embed/>
                </p:oleObj>
              </mc:Choice>
              <mc:Fallback>
                <p:oleObj name="" r:id="rId2" imgW="2770505" imgH="402590" progId="Equation.3">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0848" y="5755640"/>
                        <a:ext cx="5529262"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7603" name="Object 19"/>
          <p:cNvGraphicFramePr>
            <a:graphicFrameLocks noChangeAspect="1"/>
          </p:cNvGraphicFramePr>
          <p:nvPr>
            <p:custDataLst>
              <p:tags r:id="rId4"/>
            </p:custDataLst>
          </p:nvPr>
        </p:nvGraphicFramePr>
        <p:xfrm>
          <a:off x="3420745" y="3730625"/>
          <a:ext cx="1649413" cy="482600"/>
        </p:xfrm>
        <a:graphic>
          <a:graphicData uri="http://schemas.openxmlformats.org/presentationml/2006/ole">
            <mc:AlternateContent xmlns:mc="http://schemas.openxmlformats.org/markup-compatibility/2006">
              <mc:Choice xmlns:v="urn:schemas-microsoft-com:vml" Requires="v">
                <p:oleObj spid="_x0000_s11286" name="" r:id="rId5" imgW="822960" imgH="237490" progId="Equation.3">
                  <p:embed/>
                </p:oleObj>
              </mc:Choice>
              <mc:Fallback>
                <p:oleObj name="" r:id="rId5" imgW="822960" imgH="237490" progId="Equation.3">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0745" y="3730625"/>
                        <a:ext cx="1649413"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7604" name="Object 20"/>
          <p:cNvGraphicFramePr>
            <a:graphicFrameLocks noChangeAspect="1"/>
          </p:cNvGraphicFramePr>
          <p:nvPr>
            <p:custDataLst>
              <p:tags r:id="rId7"/>
            </p:custDataLst>
          </p:nvPr>
        </p:nvGraphicFramePr>
        <p:xfrm>
          <a:off x="6426835" y="3607435"/>
          <a:ext cx="1598613" cy="939800"/>
        </p:xfrm>
        <a:graphic>
          <a:graphicData uri="http://schemas.openxmlformats.org/presentationml/2006/ole">
            <mc:AlternateContent xmlns:mc="http://schemas.openxmlformats.org/markup-compatibility/2006">
              <mc:Choice xmlns:v="urn:schemas-microsoft-com:vml" Requires="v">
                <p:oleObj spid="_x0000_s11287" name="" r:id="rId8" imgW="795655" imgH="466090" progId="Equation.3">
                  <p:embed/>
                </p:oleObj>
              </mc:Choice>
              <mc:Fallback>
                <p:oleObj name="" r:id="rId8" imgW="795655" imgH="466090" progId="Equation.3">
                  <p:embed/>
                  <p:pic>
                    <p:nvPicPr>
                      <p:cNvPr id="0" name="Object 2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26835" y="3607435"/>
                        <a:ext cx="1598613"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7606" name="Object 22"/>
          <p:cNvGraphicFramePr>
            <a:graphicFrameLocks noChangeAspect="1"/>
          </p:cNvGraphicFramePr>
          <p:nvPr>
            <p:custDataLst>
              <p:tags r:id="rId10"/>
            </p:custDataLst>
          </p:nvPr>
        </p:nvGraphicFramePr>
        <p:xfrm>
          <a:off x="3253740" y="4605655"/>
          <a:ext cx="1979613" cy="990600"/>
        </p:xfrm>
        <a:graphic>
          <a:graphicData uri="http://schemas.openxmlformats.org/presentationml/2006/ole">
            <mc:AlternateContent xmlns:mc="http://schemas.openxmlformats.org/markup-compatibility/2006">
              <mc:Choice xmlns:v="urn:schemas-microsoft-com:vml" Requires="v">
                <p:oleObj spid="_x0000_s11288" name="" r:id="rId11" imgW="987425" imgH="494030" progId="Equation.3">
                  <p:embed/>
                </p:oleObj>
              </mc:Choice>
              <mc:Fallback>
                <p:oleObj name="" r:id="rId11" imgW="987425" imgH="494030" progId="Equation.3">
                  <p:embed/>
                  <p:pic>
                    <p:nvPicPr>
                      <p:cNvPr id="0" name="Object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53740" y="4605655"/>
                        <a:ext cx="1979613"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7607" name="Object 23"/>
          <p:cNvGraphicFramePr>
            <a:graphicFrameLocks noChangeAspect="1"/>
          </p:cNvGraphicFramePr>
          <p:nvPr>
            <p:custDataLst>
              <p:tags r:id="rId13"/>
            </p:custDataLst>
          </p:nvPr>
        </p:nvGraphicFramePr>
        <p:xfrm>
          <a:off x="6654800" y="4924425"/>
          <a:ext cx="1143000" cy="533400"/>
        </p:xfrm>
        <a:graphic>
          <a:graphicData uri="http://schemas.openxmlformats.org/presentationml/2006/ole">
            <mc:AlternateContent xmlns:mc="http://schemas.openxmlformats.org/markup-compatibility/2006">
              <mc:Choice xmlns:v="urn:schemas-microsoft-com:vml" Requires="v">
                <p:oleObj spid="_x0000_s11289" name="" r:id="rId14" imgW="567055" imgH="265430" progId="Equation.3">
                  <p:embed/>
                </p:oleObj>
              </mc:Choice>
              <mc:Fallback>
                <p:oleObj name="" r:id="rId14" imgW="567055" imgH="265430" progId="Equation.3">
                  <p:embed/>
                  <p:pic>
                    <p:nvPicPr>
                      <p:cNvPr id="0" name="Object 2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654800" y="4924425"/>
                        <a:ext cx="1143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28684" name="图片 2"/>
          <p:cNvPicPr>
            <a:picLocks noChangeAspect="1" noChangeArrowheads="1"/>
          </p:cNvPicPr>
          <p:nvPr>
            <p:custDataLst>
              <p:tags r:id="rId16"/>
            </p:custDataLst>
          </p:nvPr>
        </p:nvPicPr>
        <p:blipFill>
          <a:blip r:embed="rId17">
            <a:extLst>
              <a:ext uri="{28A0092B-C50C-407E-A947-70E740481C1C}">
                <a14:useLocalDpi xmlns:a14="http://schemas.microsoft.com/office/drawing/2010/main" val="0"/>
              </a:ext>
            </a:extLst>
          </a:blip>
          <a:srcRect/>
          <a:stretch>
            <a:fillRect/>
          </a:stretch>
        </p:blipFill>
        <p:spPr bwMode="auto">
          <a:xfrm>
            <a:off x="4070350" y="1075055"/>
            <a:ext cx="3329983" cy="2481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4"/>
          <p:cNvSpPr>
            <a:spLocks noChangeArrowheads="1"/>
          </p:cNvSpPr>
          <p:nvPr/>
        </p:nvSpPr>
        <p:spPr bwMode="auto">
          <a:xfrm>
            <a:off x="370840" y="375273"/>
            <a:ext cx="10276840" cy="457200"/>
          </a:xfrm>
          <a:prstGeom prst="rect">
            <a:avLst/>
          </a:prstGeom>
          <a:noFill/>
          <a:ln>
            <a:noFill/>
          </a:ln>
          <a:effectLst/>
        </p:spPr>
        <p:txBody>
          <a:bodyPr/>
          <a:lstStyle/>
          <a:p>
            <a:pPr marL="342900" indent="-342900">
              <a:spcBef>
                <a:spcPct val="20000"/>
              </a:spcBef>
              <a:defRPr/>
            </a:pPr>
            <a:r>
              <a:rPr lang="en-US" altLang="zh-CN" sz="2400" dirty="0">
                <a:latin typeface="Times New Roman" panose="02020603050405020304" pitchFamily="18" charset="0"/>
                <a:cs typeface="Times New Roman" panose="02020603050405020304" pitchFamily="18" charset="0"/>
              </a:rPr>
              <a:t>The hydrogen atom contains two particles, the proton and the electron </a:t>
            </a:r>
            <a:endParaRPr lang="en-US" altLang="zh-CN" sz="2400" dirty="0">
              <a:latin typeface="Times New Roman" panose="02020603050405020304" pitchFamily="18" charset="0"/>
              <a:cs typeface="Times New Roman" panose="02020603050405020304" pitchFamily="18" charset="0"/>
            </a:endParaRPr>
          </a:p>
        </p:txBody>
      </p:sp>
      <p:graphicFrame>
        <p:nvGraphicFramePr>
          <p:cNvPr id="10" name="Object 19"/>
          <p:cNvGraphicFramePr>
            <a:graphicFrameLocks noChangeAspect="1"/>
          </p:cNvGraphicFramePr>
          <p:nvPr/>
        </p:nvGraphicFramePr>
        <p:xfrm>
          <a:off x="3660316" y="2492352"/>
          <a:ext cx="1620838" cy="482600"/>
        </p:xfrm>
        <a:graphic>
          <a:graphicData uri="http://schemas.openxmlformats.org/presentationml/2006/ole">
            <mc:AlternateContent xmlns:mc="http://schemas.openxmlformats.org/markup-compatibility/2006">
              <mc:Choice xmlns:v="urn:schemas-microsoft-com:vml" Requires="v">
                <p:oleObj spid="_x0000_s0" name="Equation" r:id="rId1" imgW="19202400" imgH="5486400" progId="Equation.DSMT4">
                  <p:embed/>
                </p:oleObj>
              </mc:Choice>
              <mc:Fallback>
                <p:oleObj name="Equation" r:id="rId1" imgW="19202400" imgH="5486400" progId="Equation.DSMT4">
                  <p:embed/>
                  <p:pic>
                    <p:nvPicPr>
                      <p:cNvPr id="0" name="Object 19"/>
                      <p:cNvPicPr>
                        <a:picLocks noChangeAspect="1" noChangeArrowheads="1"/>
                      </p:cNvPicPr>
                      <p:nvPr/>
                    </p:nvPicPr>
                    <p:blipFill>
                      <a:blip r:embed="rId2"/>
                      <a:srcRect/>
                      <a:stretch>
                        <a:fillRect/>
                      </a:stretch>
                    </p:blipFill>
                    <p:spPr bwMode="auto">
                      <a:xfrm>
                        <a:off x="3660316" y="2492352"/>
                        <a:ext cx="16208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Object 20"/>
          <p:cNvGraphicFramePr>
            <a:graphicFrameLocks noChangeAspect="1"/>
          </p:cNvGraphicFramePr>
          <p:nvPr/>
        </p:nvGraphicFramePr>
        <p:xfrm>
          <a:off x="6106069" y="2235233"/>
          <a:ext cx="1601788" cy="887413"/>
        </p:xfrm>
        <a:graphic>
          <a:graphicData uri="http://schemas.openxmlformats.org/presentationml/2006/ole">
            <mc:AlternateContent xmlns:mc="http://schemas.openxmlformats.org/markup-compatibility/2006">
              <mc:Choice xmlns:v="urn:schemas-microsoft-com:vml" Requires="v">
                <p:oleObj spid="_x0000_s2" name="Equation" r:id="rId3" imgW="18897600" imgH="10363200" progId="Equation.DSMT4">
                  <p:embed/>
                </p:oleObj>
              </mc:Choice>
              <mc:Fallback>
                <p:oleObj name="Equation" r:id="rId3" imgW="18897600" imgH="10363200" progId="Equation.DSMT4">
                  <p:embed/>
                  <p:pic>
                    <p:nvPicPr>
                      <p:cNvPr id="0" name="Object 20"/>
                      <p:cNvPicPr>
                        <a:picLocks noChangeAspect="1" noChangeArrowheads="1"/>
                      </p:cNvPicPr>
                      <p:nvPr/>
                    </p:nvPicPr>
                    <p:blipFill>
                      <a:blip r:embed="rId4"/>
                      <a:srcRect/>
                      <a:stretch>
                        <a:fillRect/>
                      </a:stretch>
                    </p:blipFill>
                    <p:spPr bwMode="auto">
                      <a:xfrm>
                        <a:off x="6106069" y="2235233"/>
                        <a:ext cx="1601788" cy="88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 name="文本框 1"/>
          <p:cNvSpPr txBox="1">
            <a:spLocks noChangeArrowheads="1"/>
          </p:cNvSpPr>
          <p:nvPr/>
        </p:nvSpPr>
        <p:spPr bwMode="auto">
          <a:xfrm>
            <a:off x="3976812" y="5686352"/>
            <a:ext cx="5402826" cy="461665"/>
          </a:xfrm>
          <a:prstGeom prst="rect">
            <a:avLst/>
          </a:prstGeom>
          <a:noFill/>
          <a:ln>
            <a:noFill/>
          </a:ln>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defRPr/>
            </a:pPr>
            <a:r>
              <a:rPr lang="en-US" altLang="zh-CN" dirty="0">
                <a:solidFill>
                  <a:srgbClr val="FF0000"/>
                </a:solidFill>
                <a:cs typeface="Times New Roman" panose="02020603050405020304" pitchFamily="18" charset="0"/>
              </a:rPr>
              <a:t>Translational</a:t>
            </a:r>
            <a:r>
              <a:rPr lang="en-US" altLang="zh-CN" dirty="0">
                <a:cs typeface="Times New Roman" panose="02020603050405020304" pitchFamily="18" charset="0"/>
              </a:rPr>
              <a:t>; </a:t>
            </a:r>
            <a:r>
              <a:rPr lang="en-US" altLang="zh-CN" dirty="0">
                <a:solidFill>
                  <a:srgbClr val="0000CC"/>
                </a:solidFill>
                <a:cs typeface="Times New Roman" panose="02020603050405020304" pitchFamily="18" charset="0"/>
              </a:rPr>
              <a:t>internal (vibration; rotation)</a:t>
            </a:r>
            <a:endParaRPr lang="zh-CN" altLang="en-US" dirty="0">
              <a:solidFill>
                <a:srgbClr val="0000CC"/>
              </a:solidFill>
              <a:cs typeface="Times New Roman" panose="02020603050405020304" pitchFamily="18" charset="0"/>
            </a:endParaRPr>
          </a:p>
        </p:txBody>
      </p:sp>
      <p:graphicFrame>
        <p:nvGraphicFramePr>
          <p:cNvPr id="15" name="Object 2"/>
          <p:cNvGraphicFramePr>
            <a:graphicFrameLocks noChangeAspect="1"/>
          </p:cNvGraphicFramePr>
          <p:nvPr/>
        </p:nvGraphicFramePr>
        <p:xfrm>
          <a:off x="370840" y="3818131"/>
          <a:ext cx="4870450" cy="993775"/>
        </p:xfrm>
        <a:graphic>
          <a:graphicData uri="http://schemas.openxmlformats.org/presentationml/2006/ole">
            <mc:AlternateContent xmlns:mc="http://schemas.openxmlformats.org/markup-compatibility/2006">
              <mc:Choice xmlns:v="urn:schemas-microsoft-com:vml" Requires="v">
                <p:oleObj spid="_x0000_s3" name="Equation" r:id="rId5" imgW="57912000" imgH="11582400" progId="Equation.DSMT4">
                  <p:embed/>
                </p:oleObj>
              </mc:Choice>
              <mc:Fallback>
                <p:oleObj name="Equation" r:id="rId5" imgW="57912000" imgH="11582400" progId="Equation.DSMT4">
                  <p:embed/>
                  <p:pic>
                    <p:nvPicPr>
                      <p:cNvPr id="0" name="Object 2"/>
                      <p:cNvPicPr>
                        <a:picLocks noChangeAspect="1" noChangeArrowheads="1"/>
                      </p:cNvPicPr>
                      <p:nvPr/>
                    </p:nvPicPr>
                    <p:blipFill>
                      <a:blip r:embed="rId6"/>
                      <a:srcRect/>
                      <a:stretch>
                        <a:fillRect/>
                      </a:stretch>
                    </p:blipFill>
                    <p:spPr bwMode="auto">
                      <a:xfrm>
                        <a:off x="370840" y="3818131"/>
                        <a:ext cx="487045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 name="Object 3"/>
          <p:cNvGraphicFramePr>
            <a:graphicFrameLocks noChangeAspect="1"/>
          </p:cNvGraphicFramePr>
          <p:nvPr/>
        </p:nvGraphicFramePr>
        <p:xfrm>
          <a:off x="5708618" y="3302421"/>
          <a:ext cx="2797175" cy="860425"/>
        </p:xfrm>
        <a:graphic>
          <a:graphicData uri="http://schemas.openxmlformats.org/presentationml/2006/ole">
            <mc:AlternateContent xmlns:mc="http://schemas.openxmlformats.org/markup-compatibility/2006">
              <mc:Choice xmlns:v="urn:schemas-microsoft-com:vml" Requires="v">
                <p:oleObj spid="_x0000_s4" name="Equation" r:id="rId7" imgW="33223200" imgH="10058400" progId="Equation.DSMT4">
                  <p:embed/>
                </p:oleObj>
              </mc:Choice>
              <mc:Fallback>
                <p:oleObj name="Equation" r:id="rId7" imgW="33223200" imgH="10058400" progId="Equation.DSMT4">
                  <p:embed/>
                  <p:pic>
                    <p:nvPicPr>
                      <p:cNvPr id="0" name="Object 3"/>
                      <p:cNvPicPr>
                        <a:picLocks noChangeAspect="1" noChangeArrowheads="1"/>
                      </p:cNvPicPr>
                      <p:nvPr/>
                    </p:nvPicPr>
                    <p:blipFill>
                      <a:blip r:embed="rId8"/>
                      <a:srcRect/>
                      <a:stretch>
                        <a:fillRect/>
                      </a:stretch>
                    </p:blipFill>
                    <p:spPr bwMode="auto">
                      <a:xfrm>
                        <a:off x="5708618" y="3302421"/>
                        <a:ext cx="2797175"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8" name="Text Box 5"/>
          <p:cNvSpPr txBox="1">
            <a:spLocks noChangeArrowheads="1"/>
          </p:cNvSpPr>
          <p:nvPr/>
        </p:nvSpPr>
        <p:spPr bwMode="auto">
          <a:xfrm>
            <a:off x="8777983" y="3568691"/>
            <a:ext cx="174996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dirty="0">
                <a:latin typeface="Times New Roman" panose="02020603050405020304" pitchFamily="18" charset="0"/>
                <a:cs typeface="Times New Roman" panose="02020603050405020304" pitchFamily="18" charset="0"/>
              </a:rPr>
              <a:t>Free particle</a:t>
            </a:r>
            <a:endParaRPr lang="en-US" altLang="zh-CN" sz="2400" dirty="0">
              <a:latin typeface="Times New Roman" panose="02020603050405020304" pitchFamily="18" charset="0"/>
              <a:cs typeface="Times New Roman" panose="02020603050405020304" pitchFamily="18" charset="0"/>
            </a:endParaRPr>
          </a:p>
        </p:txBody>
      </p:sp>
      <p:graphicFrame>
        <p:nvGraphicFramePr>
          <p:cNvPr id="19" name="Object 6"/>
          <p:cNvGraphicFramePr>
            <a:graphicFrameLocks noChangeAspect="1"/>
          </p:cNvGraphicFramePr>
          <p:nvPr/>
        </p:nvGraphicFramePr>
        <p:xfrm>
          <a:off x="5685639" y="4629829"/>
          <a:ext cx="6018212" cy="993775"/>
        </p:xfrm>
        <a:graphic>
          <a:graphicData uri="http://schemas.openxmlformats.org/presentationml/2006/ole">
            <mc:AlternateContent xmlns:mc="http://schemas.openxmlformats.org/markup-compatibility/2006">
              <mc:Choice xmlns:v="urn:schemas-microsoft-com:vml" Requires="v">
                <p:oleObj spid="_x0000_s5" name="Equation" r:id="rId9" imgW="71932800" imgH="11582400" progId="Equation.DSMT4">
                  <p:embed/>
                </p:oleObj>
              </mc:Choice>
              <mc:Fallback>
                <p:oleObj name="Equation" r:id="rId9" imgW="71932800" imgH="11582400" progId="Equation.DSMT4">
                  <p:embed/>
                  <p:pic>
                    <p:nvPicPr>
                      <p:cNvPr id="0" name="Object 6"/>
                      <p:cNvPicPr>
                        <a:picLocks noChangeAspect="1" noChangeArrowheads="1"/>
                      </p:cNvPicPr>
                      <p:nvPr/>
                    </p:nvPicPr>
                    <p:blipFill>
                      <a:blip r:embed="rId10"/>
                      <a:srcRect/>
                      <a:stretch>
                        <a:fillRect/>
                      </a:stretch>
                    </p:blipFill>
                    <p:spPr bwMode="auto">
                      <a:xfrm>
                        <a:off x="5685639" y="4629829"/>
                        <a:ext cx="6018212"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 name="左大括号 20"/>
          <p:cNvSpPr/>
          <p:nvPr/>
        </p:nvSpPr>
        <p:spPr>
          <a:xfrm>
            <a:off x="5423043" y="3543873"/>
            <a:ext cx="141408" cy="1760830"/>
          </a:xfrm>
          <a:prstGeom prst="leftBrace">
            <a:avLst>
              <a:gd name="adj1" fmla="val 99617"/>
              <a:gd name="adj2" fmla="val 50000"/>
            </a:avLst>
          </a:prstGeom>
          <a:ln w="3810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22" name="对象 21"/>
          <p:cNvGraphicFramePr>
            <a:graphicFrameLocks noChangeAspect="1"/>
          </p:cNvGraphicFramePr>
          <p:nvPr/>
        </p:nvGraphicFramePr>
        <p:xfrm>
          <a:off x="1593939" y="5722294"/>
          <a:ext cx="1599840" cy="482400"/>
        </p:xfrm>
        <a:graphic>
          <a:graphicData uri="http://schemas.openxmlformats.org/presentationml/2006/ole">
            <mc:AlternateContent xmlns:mc="http://schemas.openxmlformats.org/markup-compatibility/2006">
              <mc:Choice xmlns:v="urn:schemas-microsoft-com:vml" Requires="v">
                <p:oleObj spid="_x0000_s6" name="Equation" r:id="rId11" imgW="19202400" imgH="5791200" progId="Equation.DSMT4">
                  <p:embed/>
                </p:oleObj>
              </mc:Choice>
              <mc:Fallback>
                <p:oleObj name="Equation" r:id="rId11" imgW="19202400" imgH="5791200" progId="Equation.DSMT4">
                  <p:embed/>
                  <p:pic>
                    <p:nvPicPr>
                      <p:cNvPr id="0" name="图片 5"/>
                      <p:cNvPicPr/>
                      <p:nvPr/>
                    </p:nvPicPr>
                    <p:blipFill>
                      <a:blip r:embed="rId12"/>
                      <a:stretch>
                        <a:fillRect/>
                      </a:stretch>
                    </p:blipFill>
                    <p:spPr>
                      <a:xfrm>
                        <a:off x="1593939" y="5722294"/>
                        <a:ext cx="1599840" cy="48240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2248262" y="1135706"/>
          <a:ext cx="6959520" cy="964800"/>
        </p:xfrm>
        <a:graphic>
          <a:graphicData uri="http://schemas.openxmlformats.org/presentationml/2006/ole">
            <mc:AlternateContent xmlns:mc="http://schemas.openxmlformats.org/markup-compatibility/2006">
              <mc:Choice xmlns:v="urn:schemas-microsoft-com:vml" Requires="v">
                <p:oleObj spid="_x0000_s9" name="Equation" r:id="rId13" imgW="83515200" imgH="11582400" progId="Equation.DSMT4">
                  <p:embed/>
                </p:oleObj>
              </mc:Choice>
              <mc:Fallback>
                <p:oleObj name="Equation" r:id="rId13" imgW="83515200" imgH="11582400" progId="Equation.DSMT4">
                  <p:embed/>
                  <p:pic>
                    <p:nvPicPr>
                      <p:cNvPr id="0" name="图片 8"/>
                      <p:cNvPicPr/>
                      <p:nvPr/>
                    </p:nvPicPr>
                    <p:blipFill>
                      <a:blip r:embed="rId14"/>
                      <a:stretch>
                        <a:fillRect/>
                      </a:stretch>
                    </p:blipFill>
                    <p:spPr>
                      <a:xfrm>
                        <a:off x="2248262" y="1135706"/>
                        <a:ext cx="6959520" cy="964800"/>
                      </a:xfrm>
                      <a:prstGeom prst="rect">
                        <a:avLst/>
                      </a:prstGeom>
                    </p:spPr>
                  </p:pic>
                </p:oleObj>
              </mc:Fallback>
            </mc:AlternateContent>
          </a:graphicData>
        </a:graphic>
      </p:graphicFrame>
      <p:sp>
        <p:nvSpPr>
          <p:cNvPr id="12" name="灯片编号占位符 11"/>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397143" y="228635"/>
            <a:ext cx="5839932"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4.2 The hydrogen atom Hamiltonian </a:t>
            </a:r>
            <a:endParaRPr lang="zh-CN" altLang="en-US" sz="28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矩形 2"/>
              <p:cNvSpPr/>
              <p:nvPr/>
            </p:nvSpPr>
            <p:spPr>
              <a:xfrm>
                <a:off x="331839" y="1030847"/>
                <a:ext cx="11821128" cy="4362092"/>
              </a:xfrm>
              <a:prstGeom prst="rect">
                <a:avLst/>
              </a:prstGeom>
            </p:spPr>
            <p:txBody>
              <a:bodyPr wrap="square">
                <a:spAutoFit/>
              </a:bodyPr>
              <a:lstStyle/>
              <a:p>
                <a:pPr>
                  <a:lnSpc>
                    <a:spcPct val="120000"/>
                  </a:lnSpc>
                  <a:spcBef>
                    <a:spcPts val="1200"/>
                  </a:spcBef>
                </a:pPr>
                <a:r>
                  <a:rPr lang="en-US" altLang="zh-CN" sz="2400" dirty="0">
                    <a:latin typeface="Times New Roman" panose="02020603050405020304" pitchFamily="18" charset="0"/>
                    <a:cs typeface="Times New Roman" panose="02020603050405020304" pitchFamily="18" charset="0"/>
                  </a:rPr>
                  <a:t>For the hydrogen-like atom, then,</a:t>
                </a:r>
                <a:endParaRPr lang="en-US" altLang="zh-CN" sz="2400" dirty="0">
                  <a:latin typeface="Times New Roman" panose="02020603050405020304" pitchFamily="18" charset="0"/>
                  <a:cs typeface="Times New Roman" panose="02020603050405020304" pitchFamily="18" charset="0"/>
                </a:endParaRPr>
              </a:p>
              <a:p>
                <a:pPr>
                  <a:lnSpc>
                    <a:spcPct val="120000"/>
                  </a:lnSpc>
                  <a:spcBef>
                    <a:spcPts val="1200"/>
                  </a:spcBef>
                </a:pPr>
                <a:endParaRPr lang="en-US" altLang="zh-CN" sz="2400" dirty="0">
                  <a:latin typeface="Times New Roman" panose="02020603050405020304" pitchFamily="18" charset="0"/>
                  <a:cs typeface="Times New Roman" panose="02020603050405020304" pitchFamily="18" charset="0"/>
                </a:endParaRPr>
              </a:p>
              <a:p>
                <a:pPr>
                  <a:lnSpc>
                    <a:spcPct val="120000"/>
                  </a:lnSpc>
                </a:pPr>
                <a:endParaRPr lang="en-US" altLang="zh-CN" sz="2400" dirty="0">
                  <a:latin typeface="Times New Roman" panose="02020603050405020304" pitchFamily="18" charset="0"/>
                  <a:cs typeface="Times New Roman" panose="02020603050405020304" pitchFamily="18" charset="0"/>
                </a:endParaRPr>
              </a:p>
              <a:p>
                <a:pPr>
                  <a:lnSpc>
                    <a:spcPct val="120000"/>
                  </a:lnSpc>
                </a:pPr>
                <a:r>
                  <a:rPr lang="en-US" altLang="zh-CN" sz="2400" dirty="0">
                    <a:latin typeface="Times New Roman" panose="02020603050405020304" pitchFamily="18" charset="0"/>
                    <a:cs typeface="Times New Roman" panose="02020603050405020304" pitchFamily="18" charset="0"/>
                  </a:rPr>
                  <a:t>We can recognize in the angular part of the kinetic energy the expression for the square of the angular momentum, but in the case of the hydrogen atom </a:t>
                </a:r>
                <a:r>
                  <a:rPr lang="en-US" altLang="zh-CN" sz="2400" dirty="0">
                    <a:solidFill>
                      <a:srgbClr val="FF0000"/>
                    </a:solidFill>
                    <a:latin typeface="Times New Roman" panose="02020603050405020304" pitchFamily="18" charset="0"/>
                    <a:cs typeface="Times New Roman" panose="02020603050405020304" pitchFamily="18" charset="0"/>
                  </a:rPr>
                  <a:t>it is conventional to use the symbol</a:t>
                </a:r>
                <a14:m>
                  <m:oMath xmlns:m="http://schemas.openxmlformats.org/officeDocument/2006/math">
                    <m:r>
                      <a:rPr lang="en-US" altLang="zh-CN" sz="2400" b="0" i="0" dirty="0" smtClean="0">
                        <a:solidFill>
                          <a:srgbClr val="FF0000"/>
                        </a:solidFill>
                        <a:latin typeface="Cambria Math" panose="02040503050406030204" pitchFamily="18" charset="0"/>
                      </a:rPr>
                      <m:t> </m:t>
                    </m:r>
                    <m:r>
                      <a:rPr lang="en-US" altLang="zh-CN" sz="2400" b="1" i="1" dirty="0" smtClean="0">
                        <a:solidFill>
                          <a:srgbClr val="FF0000"/>
                        </a:solidFill>
                        <a:latin typeface="Cambria Math" panose="02040503050406030204" pitchFamily="18" charset="0"/>
                      </a:rPr>
                      <m:t>𝑳</m:t>
                    </m:r>
                    <m:r>
                      <a:rPr lang="en-US" altLang="zh-CN" sz="2400" b="1" i="1" dirty="0" smtClean="0">
                        <a:solidFill>
                          <a:srgbClr val="FF0000"/>
                        </a:solidFill>
                        <a:latin typeface="Cambria Math" panose="02040503050406030204" pitchFamily="18" charset="0"/>
                      </a:rPr>
                      <m:t> </m:t>
                    </m:r>
                  </m:oMath>
                </a14:m>
                <a:r>
                  <a:rPr lang="en-US" altLang="zh-CN" sz="2400" dirty="0">
                    <a:latin typeface="Times New Roman" panose="02020603050405020304" pitchFamily="18" charset="0"/>
                    <a:cs typeface="Times New Roman" panose="02020603050405020304" pitchFamily="18" charset="0"/>
                  </a:rPr>
                  <a:t>for the orbital angular momentum of the electron.</a:t>
                </a:r>
                <a:endParaRPr lang="en-US" altLang="zh-CN" sz="2400" dirty="0">
                  <a:latin typeface="Times New Roman" panose="02020603050405020304" pitchFamily="18" charset="0"/>
                  <a:cs typeface="Times New Roman" panose="02020603050405020304" pitchFamily="18" charset="0"/>
                </a:endParaRPr>
              </a:p>
              <a:p>
                <a:pPr>
                  <a:lnSpc>
                    <a:spcPct val="120000"/>
                  </a:lnSpc>
                </a:pPr>
                <a:r>
                  <a:rPr lang="en-US" altLang="zh-CN" sz="2400" dirty="0">
                    <a:latin typeface="Times New Roman" panose="02020603050405020304" pitchFamily="18" charset="0"/>
                    <a:cs typeface="Times New Roman" panose="02020603050405020304" pitchFamily="18" charset="0"/>
                  </a:rPr>
                  <a:t>The complete Hamiltonian is then</a:t>
                </a:r>
                <a:endParaRPr lang="en-US" altLang="zh-CN" sz="2400" dirty="0">
                  <a:latin typeface="Times New Roman" panose="02020603050405020304" pitchFamily="18" charset="0"/>
                  <a:cs typeface="Times New Roman" panose="02020603050405020304" pitchFamily="18" charset="0"/>
                </a:endParaRPr>
              </a:p>
              <a:p>
                <a:pPr>
                  <a:lnSpc>
                    <a:spcPct val="120000"/>
                  </a:lnSpc>
                  <a:spcBef>
                    <a:spcPts val="1200"/>
                  </a:spcBef>
                </a:pPr>
                <a:endParaRPr lang="en-US" altLang="zh-CN" sz="2400" dirty="0">
                  <a:latin typeface="Times New Roman" panose="02020603050405020304" pitchFamily="18" charset="0"/>
                  <a:cs typeface="Times New Roman" panose="02020603050405020304" pitchFamily="18" charset="0"/>
                </a:endParaRPr>
              </a:p>
              <a:p>
                <a:pPr>
                  <a:lnSpc>
                    <a:spcPct val="120000"/>
                  </a:lnSpc>
                </a:pPr>
                <a:r>
                  <a:rPr lang="en-US" altLang="zh-CN" sz="2400" dirty="0">
                    <a:latin typeface="Times New Roman" panose="02020603050405020304" pitchFamily="18" charset="0"/>
                    <a:cs typeface="Times New Roman" panose="02020603050405020304" pitchFamily="18" charset="0"/>
                  </a:rPr>
                  <a:t>Note that the radial part can be written in several equivalent ways:</a:t>
                </a:r>
                <a:endParaRPr lang="en-US" altLang="zh-CN" sz="2400" dirty="0">
                  <a:latin typeface="Times New Roman" panose="02020603050405020304" pitchFamily="18" charset="0"/>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331839" y="1030847"/>
                <a:ext cx="11821128" cy="4362092"/>
              </a:xfrm>
              <a:prstGeom prst="rect">
                <a:avLst/>
              </a:prstGeom>
              <a:blipFill rotWithShape="1">
                <a:blip r:embed="rId1"/>
                <a:stretch>
                  <a:fillRect l="-3" t="-6" r="3" b="12"/>
                </a:stretch>
              </a:blipFill>
            </p:spPr>
            <p:txBody>
              <a:bodyPr/>
              <a:lstStyle/>
              <a:p>
                <a:r>
                  <a:rPr lang="zh-CN" altLang="en-US">
                    <a:noFill/>
                  </a:rPr>
                  <a:t> </a:t>
                </a:r>
              </a:p>
            </p:txBody>
          </p:sp>
        </mc:Fallback>
      </mc:AlternateContent>
      <p:graphicFrame>
        <p:nvGraphicFramePr>
          <p:cNvPr id="4" name="对象 3"/>
          <p:cNvGraphicFramePr>
            <a:graphicFrameLocks noChangeAspect="1"/>
          </p:cNvGraphicFramePr>
          <p:nvPr/>
        </p:nvGraphicFramePr>
        <p:xfrm>
          <a:off x="2211388" y="1546225"/>
          <a:ext cx="8559800" cy="965200"/>
        </p:xfrm>
        <a:graphic>
          <a:graphicData uri="http://schemas.openxmlformats.org/presentationml/2006/ole">
            <mc:AlternateContent xmlns:mc="http://schemas.openxmlformats.org/markup-compatibility/2006">
              <mc:Choice xmlns:v="urn:schemas-microsoft-com:vml" Requires="v">
                <p:oleObj spid="_x0000_s5" name="Equation" r:id="rId2" imgW="102717600" imgH="11582400" progId="Equation.DSMT4">
                  <p:embed/>
                </p:oleObj>
              </mc:Choice>
              <mc:Fallback>
                <p:oleObj name="Equation" r:id="rId2" imgW="102717600" imgH="11582400" progId="Equation.DSMT4">
                  <p:embed/>
                  <p:pic>
                    <p:nvPicPr>
                      <p:cNvPr id="0" name="图片 4"/>
                      <p:cNvPicPr/>
                      <p:nvPr/>
                    </p:nvPicPr>
                    <p:blipFill>
                      <a:blip r:embed="rId3"/>
                      <a:stretch>
                        <a:fillRect/>
                      </a:stretch>
                    </p:blipFill>
                    <p:spPr>
                      <a:xfrm>
                        <a:off x="2211388" y="1546225"/>
                        <a:ext cx="8559800" cy="96520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4321175" y="4129088"/>
          <a:ext cx="4648200" cy="938212"/>
        </p:xfrm>
        <a:graphic>
          <a:graphicData uri="http://schemas.openxmlformats.org/presentationml/2006/ole">
            <mc:AlternateContent xmlns:mc="http://schemas.openxmlformats.org/markup-compatibility/2006">
              <mc:Choice xmlns:v="urn:schemas-microsoft-com:vml" Requires="v">
                <p:oleObj spid="_x0000_s7" name="Equation" r:id="rId4" imgW="55778400" imgH="11277600" progId="Equation.DSMT4">
                  <p:embed/>
                </p:oleObj>
              </mc:Choice>
              <mc:Fallback>
                <p:oleObj name="Equation" r:id="rId4" imgW="55778400" imgH="11277600" progId="Equation.DSMT4">
                  <p:embed/>
                  <p:pic>
                    <p:nvPicPr>
                      <p:cNvPr id="0" name="图片 6"/>
                      <p:cNvPicPr/>
                      <p:nvPr/>
                    </p:nvPicPr>
                    <p:blipFill>
                      <a:blip r:embed="rId5"/>
                      <a:stretch>
                        <a:fillRect/>
                      </a:stretch>
                    </p:blipFill>
                    <p:spPr>
                      <a:xfrm>
                        <a:off x="4321175" y="4129088"/>
                        <a:ext cx="4648200" cy="938212"/>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4029768" y="5454890"/>
          <a:ext cx="5232240" cy="964800"/>
        </p:xfrm>
        <a:graphic>
          <a:graphicData uri="http://schemas.openxmlformats.org/presentationml/2006/ole">
            <mc:AlternateContent xmlns:mc="http://schemas.openxmlformats.org/markup-compatibility/2006">
              <mc:Choice xmlns:v="urn:schemas-microsoft-com:vml" Requires="v">
                <p:oleObj spid="_x0000_s9" name="Equation" r:id="rId6" imgW="62788800" imgH="11582400" progId="Equation.DSMT4">
                  <p:embed/>
                </p:oleObj>
              </mc:Choice>
              <mc:Fallback>
                <p:oleObj name="Equation" r:id="rId6" imgW="62788800" imgH="11582400" progId="Equation.DSMT4">
                  <p:embed/>
                  <p:pic>
                    <p:nvPicPr>
                      <p:cNvPr id="0" name="图片 8"/>
                      <p:cNvPicPr/>
                      <p:nvPr/>
                    </p:nvPicPr>
                    <p:blipFill>
                      <a:blip r:embed="rId7"/>
                      <a:stretch>
                        <a:fillRect/>
                      </a:stretch>
                    </p:blipFill>
                    <p:spPr>
                      <a:xfrm>
                        <a:off x="4029768" y="5454890"/>
                        <a:ext cx="5232240" cy="964800"/>
                      </a:xfrm>
                      <a:prstGeom prst="rect">
                        <a:avLst/>
                      </a:prstGeom>
                    </p:spPr>
                  </p:pic>
                </p:oleObj>
              </mc:Fallback>
            </mc:AlternateContent>
          </a:graphicData>
        </a:graphic>
      </p:graphicFrame>
      <p:sp>
        <p:nvSpPr>
          <p:cNvPr id="10"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11" name="灯片编号占位符 10"/>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p:nvPr/>
            </p:nvSpPr>
            <p:spPr>
              <a:xfrm>
                <a:off x="427703" y="965800"/>
                <a:ext cx="11452123" cy="5004447"/>
              </a:xfrm>
              <a:prstGeom prst="rect">
                <a:avLst/>
              </a:prstGeom>
            </p:spPr>
            <p:txBody>
              <a:bodyPr wrap="square">
                <a:spAutoFit/>
              </a:bodyPr>
              <a:lstStyle/>
              <a:p>
                <a:pPr>
                  <a:lnSpc>
                    <a:spcPct val="120000"/>
                  </a:lnSpc>
                  <a:spcBef>
                    <a:spcPts val="1200"/>
                  </a:spcBef>
                </a:pPr>
                <a:r>
                  <a:rPr lang="en-US" altLang="zh-CN" sz="2400" dirty="0">
                    <a:latin typeface="Times New Roman" panose="02020603050405020304" pitchFamily="18" charset="0"/>
                    <a:cs typeface="Times New Roman" panose="02020603050405020304" pitchFamily="18" charset="0"/>
                  </a:rPr>
                  <a:t>The H atom Hamiltonian is rather cluttered with fundamental constants. To get rid of the clutter, we use </a:t>
                </a:r>
                <a:r>
                  <a:rPr lang="en-US" altLang="zh-CN" sz="2400" i="1" dirty="0">
                    <a:solidFill>
                      <a:srgbClr val="B02B08"/>
                    </a:solidFill>
                    <a:latin typeface="Times New Roman" panose="02020603050405020304" pitchFamily="18" charset="0"/>
                    <a:cs typeface="Times New Roman" panose="02020603050405020304" pitchFamily="18" charset="0"/>
                  </a:rPr>
                  <a:t>atomic units</a:t>
                </a:r>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pPr>
                  <a:lnSpc>
                    <a:spcPct val="120000"/>
                  </a:lnSpc>
                  <a:spcBef>
                    <a:spcPts val="1200"/>
                  </a:spcBef>
                </a:pPr>
                <a:endParaRPr lang="en-US" altLang="zh-CN" sz="2400" dirty="0">
                  <a:latin typeface="Times New Roman" panose="02020603050405020304" pitchFamily="18" charset="0"/>
                  <a:cs typeface="Times New Roman" panose="02020603050405020304" pitchFamily="18" charset="0"/>
                </a:endParaRPr>
              </a:p>
              <a:p>
                <a:pPr>
                  <a:lnSpc>
                    <a:spcPct val="120000"/>
                  </a:lnSpc>
                  <a:spcBef>
                    <a:spcPts val="1200"/>
                  </a:spcBef>
                </a:pPr>
                <a:endParaRPr lang="en-US" altLang="zh-CN" sz="2400" dirty="0">
                  <a:latin typeface="Times New Roman" panose="02020603050405020304" pitchFamily="18" charset="0"/>
                  <a:cs typeface="Times New Roman" panose="02020603050405020304" pitchFamily="18" charset="0"/>
                </a:endParaRPr>
              </a:p>
              <a:p>
                <a:pPr>
                  <a:lnSpc>
                    <a:spcPct val="120000"/>
                  </a:lnSpc>
                  <a:spcBef>
                    <a:spcPts val="1200"/>
                  </a:spcBef>
                </a:pPr>
                <a:endParaRPr lang="en-US" altLang="zh-CN" sz="2400" dirty="0">
                  <a:latin typeface="Times New Roman" panose="02020603050405020304" pitchFamily="18" charset="0"/>
                  <a:cs typeface="Times New Roman" panose="02020603050405020304" pitchFamily="18" charset="0"/>
                </a:endParaRPr>
              </a:p>
              <a:p>
                <a:pPr indent="8255">
                  <a:lnSpc>
                    <a:spcPct val="120000"/>
                  </a:lnSpc>
                  <a:spcBef>
                    <a:spcPts val="2400"/>
                  </a:spcBef>
                </a:pPr>
                <a:r>
                  <a:rPr lang="en-US" altLang="zh-CN" sz="2400" dirty="0">
                    <a:latin typeface="Times New Roman" panose="02020603050405020304" pitchFamily="18" charset="0"/>
                    <a:cs typeface="Times New Roman" panose="02020603050405020304" pitchFamily="18" charset="0"/>
                  </a:rPr>
                  <a:t>When we work in atomic units, </a:t>
                </a:r>
                <a:r>
                  <a:rPr lang="en-US" altLang="zh-CN" sz="2400" i="1" dirty="0">
                    <a:solidFill>
                      <a:srgbClr val="2926BF"/>
                    </a:solidFill>
                    <a:latin typeface="Times New Roman" panose="02020603050405020304" pitchFamily="18" charset="0"/>
                    <a:cs typeface="Times New Roman" panose="02020603050405020304" pitchFamily="18" charset="0"/>
                  </a:rPr>
                  <a:t>m</a:t>
                </a:r>
                <a:r>
                  <a:rPr lang="en-US" altLang="zh-CN" sz="2400" i="1" baseline="-25000" dirty="0">
                    <a:solidFill>
                      <a:srgbClr val="2926BF"/>
                    </a:solidFill>
                    <a:latin typeface="Times New Roman" panose="02020603050405020304" pitchFamily="18" charset="0"/>
                    <a:cs typeface="Times New Roman" panose="02020603050405020304" pitchFamily="18" charset="0"/>
                  </a:rPr>
                  <a:t>e</a:t>
                </a:r>
                <a:r>
                  <a:rPr lang="en-US" altLang="zh-CN" sz="2400" dirty="0">
                    <a:latin typeface="Times New Roman" panose="02020603050405020304" pitchFamily="18" charset="0"/>
                    <a:cs typeface="Times New Roman" panose="02020603050405020304" pitchFamily="18" charset="0"/>
                  </a:rPr>
                  <a:t>,</a:t>
                </a:r>
                <a:r>
                  <a:rPr lang="en-US" altLang="zh-CN" sz="2400" i="1" dirty="0">
                    <a:solidFill>
                      <a:srgbClr val="2926BF"/>
                    </a:solidFill>
                    <a:latin typeface="Times New Roman" panose="02020603050405020304" pitchFamily="18" charset="0"/>
                    <a:cs typeface="Times New Roman" panose="02020603050405020304" pitchFamily="18" charset="0"/>
                  </a:rPr>
                  <a:t> e</a:t>
                </a:r>
                <a:r>
                  <a:rPr lang="en-US" altLang="zh-CN" sz="2400" dirty="0">
                    <a:latin typeface="Times New Roman" panose="02020603050405020304" pitchFamily="18" charset="0"/>
                    <a:cs typeface="Times New Roman" panose="02020603050405020304" pitchFamily="18" charset="0"/>
                  </a:rPr>
                  <a:t>,</a:t>
                </a:r>
                <a:r>
                  <a:rPr lang="en-US" altLang="zh-CN" sz="2400" i="1" dirty="0">
                    <a:solidFill>
                      <a:srgbClr val="2926BF"/>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2400" i="1" dirty="0">
                        <a:solidFill>
                          <a:srgbClr val="2926BF"/>
                        </a:solidFill>
                        <a:latin typeface="Cambria Math" panose="02040503050406030204" pitchFamily="18" charset="0"/>
                        <a:ea typeface="Cambria Math" panose="02040503050406030204" pitchFamily="18" charset="0"/>
                      </a:rPr>
                      <m:t>ℏ</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a:t>
                </a:r>
                <a14:m>
                  <m:oMath xmlns:m="http://schemas.openxmlformats.org/officeDocument/2006/math">
                    <m:r>
                      <a:rPr lang="en-US" altLang="zh-CN" sz="2400" i="1" dirty="0">
                        <a:solidFill>
                          <a:srgbClr val="2926BF"/>
                        </a:solidFill>
                        <a:latin typeface="Cambria Math" panose="02040503050406030204" pitchFamily="18" charset="0"/>
                      </a:rPr>
                      <m:t>4</m:t>
                    </m:r>
                    <m:r>
                      <a:rPr lang="en-US" altLang="zh-CN" sz="2400" i="1" dirty="0">
                        <a:solidFill>
                          <a:srgbClr val="2926BF"/>
                        </a:solidFill>
                        <a:latin typeface="Cambria Math" panose="02040503050406030204" pitchFamily="18" charset="0"/>
                        <a:ea typeface="Cambria Math" panose="02040503050406030204" pitchFamily="18" charset="0"/>
                      </a:rPr>
                      <m:t>𝜋𝜖</m:t>
                    </m:r>
                    <m:r>
                      <m:rPr>
                        <m:sty m:val="p"/>
                      </m:rPr>
                      <a:rPr lang="en-US" altLang="zh-CN" sz="2400" baseline="-25000" dirty="0">
                        <a:solidFill>
                          <a:srgbClr val="2926BF"/>
                        </a:solidFill>
                        <a:latin typeface="Cambria Math" panose="02040503050406030204" pitchFamily="18" charset="0"/>
                      </a:rPr>
                      <m:t>o</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all have a numerical value of </a:t>
                </a:r>
                <a:r>
                  <a:rPr lang="en-US" altLang="zh-CN" sz="2400" dirty="0">
                    <a:solidFill>
                      <a:srgbClr val="2926BF"/>
                    </a:solidFill>
                    <a:latin typeface="Times New Roman" panose="02020603050405020304" pitchFamily="18" charset="0"/>
                    <a:cs typeface="Times New Roman" panose="02020603050405020304" pitchFamily="18" charset="0"/>
                  </a:rPr>
                  <a:t>1</a:t>
                </a:r>
                <a:r>
                  <a:rPr lang="en-US" altLang="zh-CN" sz="2400" dirty="0">
                    <a:latin typeface="Times New Roman" panose="02020603050405020304" pitchFamily="18" charset="0"/>
                    <a:cs typeface="Times New Roman" panose="02020603050405020304" pitchFamily="18" charset="0"/>
                  </a:rPr>
                  <a:t>,</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as do the quantities </a:t>
                </a:r>
                <a:r>
                  <a:rPr lang="en-US" altLang="zh-CN" sz="2400" i="1" dirty="0">
                    <a:solidFill>
                      <a:srgbClr val="2926BF"/>
                    </a:solidFill>
                    <a:latin typeface="Times New Roman" panose="02020603050405020304" pitchFamily="18" charset="0"/>
                    <a:cs typeface="Times New Roman" panose="02020603050405020304" pitchFamily="18" charset="0"/>
                  </a:rPr>
                  <a:t>a</a:t>
                </a:r>
                <a:r>
                  <a:rPr lang="en-US" altLang="zh-CN" sz="2400" baseline="-25000" dirty="0">
                    <a:solidFill>
                      <a:srgbClr val="2926BF"/>
                    </a:solidFill>
                    <a:latin typeface="Times New Roman" panose="02020603050405020304" pitchFamily="18" charset="0"/>
                    <a:cs typeface="Times New Roman" panose="02020603050405020304" pitchFamily="18" charset="0"/>
                  </a:rPr>
                  <a:t>0</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a:t>
                </a:r>
                <a:r>
                  <a:rPr lang="en-US" altLang="zh-CN" sz="2400" i="1" dirty="0">
                    <a:solidFill>
                      <a:srgbClr val="2926BF"/>
                    </a:solidFill>
                    <a:latin typeface="Times New Roman" panose="02020603050405020304" pitchFamily="18" charset="0"/>
                    <a:cs typeface="Times New Roman" panose="02020603050405020304" pitchFamily="18" charset="0"/>
                  </a:rPr>
                  <a:t>E</a:t>
                </a:r>
                <a:r>
                  <a:rPr lang="en-US" altLang="zh-CN" sz="2400" i="1" baseline="-25000" dirty="0">
                    <a:solidFill>
                      <a:srgbClr val="2926BF"/>
                    </a:solidFill>
                    <a:latin typeface="Times New Roman" panose="02020603050405020304" pitchFamily="18" charset="0"/>
                    <a:cs typeface="Times New Roman" panose="02020603050405020304" pitchFamily="18" charset="0"/>
                  </a:rPr>
                  <a:t>h</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derived from them.</a:t>
                </a:r>
                <a:endParaRPr lang="en-US" altLang="zh-CN" sz="2400" dirty="0">
                  <a:latin typeface="Times New Roman" panose="02020603050405020304" pitchFamily="18" charset="0"/>
                  <a:cs typeface="Times New Roman" panose="02020603050405020304" pitchFamily="18" charset="0"/>
                </a:endParaRPr>
              </a:p>
              <a:p>
                <a:pPr indent="8255">
                  <a:lnSpc>
                    <a:spcPct val="120000"/>
                  </a:lnSpc>
                  <a:spcBef>
                    <a:spcPts val="1200"/>
                  </a:spcBef>
                </a:pPr>
                <a:r>
                  <a:rPr lang="en-US" altLang="zh-CN" sz="2400" dirty="0">
                    <a:latin typeface="Times New Roman" panose="02020603050405020304" pitchFamily="18" charset="0"/>
                    <a:cs typeface="Times New Roman" panose="02020603050405020304" pitchFamily="18" charset="0"/>
                  </a:rPr>
                  <a:t>This simplifies the equations, but has the disadvantage that it becomes difficult to check the dimensions of an expression.</a:t>
                </a:r>
                <a:endParaRPr lang="en-US" altLang="zh-CN" sz="2400" dirty="0">
                  <a:latin typeface="Times New Roman" panose="02020603050405020304" pitchFamily="18" charset="0"/>
                  <a:cs typeface="Times New Roman" panose="02020603050405020304" pitchFamily="18" charset="0"/>
                </a:endParaRPr>
              </a:p>
            </p:txBody>
          </p:sp>
        </mc:Choice>
        <mc:Fallback>
          <p:sp>
            <p:nvSpPr>
              <p:cNvPr id="2" name="矩形 1"/>
              <p:cNvSpPr>
                <a:spLocks noRot="1" noChangeAspect="1" noMove="1" noResize="1" noEditPoints="1" noAdjustHandles="1" noChangeArrowheads="1" noChangeShapeType="1" noTextEdit="1"/>
              </p:cNvSpPr>
              <p:nvPr/>
            </p:nvSpPr>
            <p:spPr>
              <a:xfrm>
                <a:off x="427703" y="965800"/>
                <a:ext cx="11452123" cy="5004447"/>
              </a:xfrm>
              <a:prstGeom prst="rect">
                <a:avLst/>
              </a:prstGeom>
              <a:blipFill rotWithShape="1">
                <a:blip r:embed="rId1"/>
                <a:stretch>
                  <a:fillRect l="-3" t="-12" r="2" b="1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nvGraphicFramePr>
            <p:xfrm>
              <a:off x="1719129" y="2002205"/>
              <a:ext cx="8609361" cy="1935047"/>
            </p:xfrm>
            <a:graphic>
              <a:graphicData uri="http://schemas.openxmlformats.org/drawingml/2006/table">
                <a:tbl>
                  <a:tblPr/>
                  <a:tblGrid>
                    <a:gridCol w="1140157"/>
                    <a:gridCol w="754164"/>
                    <a:gridCol w="1415904"/>
                    <a:gridCol w="1694175"/>
                    <a:gridCol w="3604961"/>
                  </a:tblGrid>
                  <a:tr h="258463">
                    <a:tc>
                      <a:txBody>
                        <a:bodyPr/>
                        <a:lstStyle/>
                        <a:p>
                          <a:pPr indent="0"/>
                          <a:r>
                            <a:rPr lang="en-US" sz="1800" dirty="0">
                              <a:latin typeface="Calisto MT" panose="02040603050505030304" pitchFamily="18" charset="0"/>
                            </a:rPr>
                            <a:t>Unit</a:t>
                          </a:r>
                          <a:endParaRPr lang="en-US" sz="1800" dirty="0">
                            <a:latin typeface="Calisto MT" panose="02040603050505030304" pitchFamily="18" charset="0"/>
                          </a:endParaRPr>
                        </a:p>
                      </a:txBody>
                      <a:tcPr marL="0" marR="0" marT="0" marB="0">
                        <a:lnL w="12700" cmpd="sng">
                          <a:noFill/>
                          <a:prstDash val="soli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r>
                            <a:rPr lang="en-US" sz="1800">
                              <a:latin typeface="Calisto MT" panose="02040603050505030304" pitchFamily="18" charset="0"/>
                            </a:rPr>
                            <a:t>Symbol</a:t>
                          </a:r>
                          <a:endParaRPr lang="en-US" sz="1800">
                            <a:latin typeface="Calisto MT" panose="0204060305050503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r>
                            <a:rPr lang="en-US" sz="1800">
                              <a:latin typeface="Calisto MT" panose="02040603050505030304" pitchFamily="18" charset="0"/>
                            </a:rPr>
                            <a:t>Name</a:t>
                          </a:r>
                          <a:endParaRPr lang="en-US" sz="1800">
                            <a:latin typeface="Calisto MT" panose="0204060305050503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r>
                            <a:rPr lang="en-US" sz="1800">
                              <a:latin typeface="Calisto MT" panose="02040603050505030304" pitchFamily="18" charset="0"/>
                            </a:rPr>
                            <a:t>Definition</a:t>
                          </a:r>
                          <a:endParaRPr lang="en-US" sz="1800">
                            <a:latin typeface="Calisto MT" panose="0204060305050503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r>
                            <a:rPr lang="en-US" sz="1800">
                              <a:latin typeface="Calisto MT" panose="02040603050505030304" pitchFamily="18" charset="0"/>
                            </a:rPr>
                            <a:t>SI value</a:t>
                          </a:r>
                          <a:endParaRPr lang="en-US" sz="1800">
                            <a:latin typeface="Calisto MT" panose="02040603050505030304" pitchFamily="18" charset="0"/>
                          </a:endParaRPr>
                        </a:p>
                      </a:txBody>
                      <a:tcPr marL="0" marR="0" marT="0" marB="0">
                        <a:lnL w="12700" cap="flat" cmpd="sng" algn="ctr">
                          <a:no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89127">
                    <a:tc>
                      <a:txBody>
                        <a:bodyPr/>
                        <a:lstStyle/>
                        <a:p>
                          <a:pPr indent="0"/>
                          <a:r>
                            <a:rPr lang="en-US" sz="1800">
                              <a:latin typeface="Calisto MT" panose="02040603050505030304" pitchFamily="18" charset="0"/>
                            </a:rPr>
                            <a:t>Length</a:t>
                          </a:r>
                          <a:endParaRPr lang="en-US" sz="1800">
                            <a:latin typeface="Calisto MT" panose="02040603050505030304" pitchFamily="18" charset="0"/>
                          </a:endParaRPr>
                        </a:p>
                      </a:txBody>
                      <a:tcPr marL="0" marR="0" marT="0" marB="0" anchor="b">
                        <a:lnL w="12700" cmpd="sng">
                          <a:noFill/>
                          <a:prstDash val="soli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114300"/>
                          <a:r>
                            <a:rPr lang="en-US" altLang="zh-CN" sz="1800" i="1" dirty="0">
                              <a:solidFill>
                                <a:srgbClr val="2926BF"/>
                              </a:solidFill>
                              <a:latin typeface="Calisto MT" panose="02040603050505030304" pitchFamily="18" charset="0"/>
                            </a:rPr>
                            <a:t>a</a:t>
                          </a:r>
                          <a:r>
                            <a:rPr lang="en-US" altLang="zh-CN" sz="1800" i="0" baseline="-25000" dirty="0">
                              <a:solidFill>
                                <a:srgbClr val="2926BF"/>
                              </a:solidFill>
                              <a:latin typeface="Calisto MT" panose="02040603050505030304" pitchFamily="18" charset="0"/>
                            </a:rPr>
                            <a:t>0</a:t>
                          </a:r>
                          <a:endParaRPr lang="en-US" altLang="zh-CN" sz="1800" i="0" baseline="-25000" dirty="0">
                            <a:solidFill>
                              <a:srgbClr val="2926BF"/>
                            </a:solidFill>
                            <a:latin typeface="Calisto MT" panose="02040603050505030304" pitchFamily="18" charset="0"/>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r>
                            <a:rPr lang="en-US" sz="1800">
                              <a:latin typeface="Calisto MT" panose="02040603050505030304" pitchFamily="18" charset="0"/>
                            </a:rPr>
                            <a:t>bohr</a:t>
                          </a:r>
                          <a:endParaRPr lang="en-US" sz="1800">
                            <a:latin typeface="Calisto MT" panose="02040603050505030304" pitchFamily="18" charset="0"/>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r>
                                  <a:rPr lang="en-US" altLang="zh-CN" sz="1800" i="1" dirty="0" smtClean="0">
                                    <a:solidFill>
                                      <a:srgbClr val="2926BF"/>
                                    </a:solidFill>
                                    <a:latin typeface="Cambria Math" panose="02040503050406030204" pitchFamily="18" charset="0"/>
                                  </a:rPr>
                                  <m:t>4</m:t>
                                </m:r>
                                <m:r>
                                  <a:rPr lang="en-US" altLang="zh-CN" sz="1800" i="1" dirty="0" smtClean="0">
                                    <a:solidFill>
                                      <a:srgbClr val="2926BF"/>
                                    </a:solidFill>
                                    <a:latin typeface="Cambria Math" panose="02040503050406030204" pitchFamily="18" charset="0"/>
                                    <a:ea typeface="Cambria Math" panose="02040503050406030204" pitchFamily="18" charset="0"/>
                                  </a:rPr>
                                  <m:t>𝜋𝜖</m:t>
                                </m:r>
                                <m:r>
                                  <m:rPr>
                                    <m:sty m:val="p"/>
                                  </m:rPr>
                                  <a:rPr lang="en-US" altLang="zh-CN" sz="1800" i="0" baseline="-25000" dirty="0">
                                    <a:solidFill>
                                      <a:srgbClr val="2926BF"/>
                                    </a:solidFill>
                                    <a:latin typeface="Cambria Math" panose="02040503050406030204" pitchFamily="18" charset="0"/>
                                  </a:rPr>
                                  <m:t>o</m:t>
                                </m:r>
                                <m:r>
                                  <a:rPr lang="en-US" altLang="zh-CN" sz="1800" i="1" dirty="0" smtClean="0">
                                    <a:solidFill>
                                      <a:srgbClr val="2926BF"/>
                                    </a:solidFill>
                                    <a:latin typeface="Cambria Math" panose="02040503050406030204" pitchFamily="18" charset="0"/>
                                    <a:ea typeface="Cambria Math" panose="02040503050406030204" pitchFamily="18" charset="0"/>
                                  </a:rPr>
                                  <m:t>ℏ</m:t>
                                </m:r>
                                <m:r>
                                  <a:rPr lang="en-US" sz="1800" i="1" baseline="30000" dirty="0">
                                    <a:solidFill>
                                      <a:srgbClr val="2926BF"/>
                                    </a:solidFill>
                                    <a:latin typeface="Cambria Math" panose="02040503050406030204" pitchFamily="18" charset="0"/>
                                  </a:rPr>
                                  <m:t>2</m:t>
                                </m:r>
                                <m:r>
                                  <a:rPr lang="en-US" sz="1800" i="1" dirty="0">
                                    <a:solidFill>
                                      <a:srgbClr val="2926BF"/>
                                    </a:solidFill>
                                    <a:latin typeface="Cambria Math" panose="02040503050406030204" pitchFamily="18" charset="0"/>
                                  </a:rPr>
                                  <m:t>/</m:t>
                                </m:r>
                                <m:r>
                                  <a:rPr lang="en-US" sz="1800" b="0" i="1" dirty="0" smtClean="0">
                                    <a:solidFill>
                                      <a:srgbClr val="2926BF"/>
                                    </a:solidFill>
                                    <a:latin typeface="Cambria Math" panose="02040503050406030204" pitchFamily="18" charset="0"/>
                                  </a:rPr>
                                  <m:t>𝑚</m:t>
                                </m:r>
                                <m:r>
                                  <a:rPr lang="en-US" sz="1800" i="1" baseline="-25000" dirty="0">
                                    <a:solidFill>
                                      <a:srgbClr val="2926BF"/>
                                    </a:solidFill>
                                    <a:latin typeface="Cambria Math" panose="02040503050406030204" pitchFamily="18" charset="0"/>
                                  </a:rPr>
                                  <m:t>𝑒</m:t>
                                </m:r>
                                <m:r>
                                  <a:rPr lang="en-US" sz="1800" i="1" dirty="0">
                                    <a:solidFill>
                                      <a:srgbClr val="2926BF"/>
                                    </a:solidFill>
                                    <a:latin typeface="Cambria Math" panose="02040503050406030204" pitchFamily="18" charset="0"/>
                                  </a:rPr>
                                  <m:t>𝑒</m:t>
                                </m:r>
                                <m:r>
                                  <a:rPr lang="en-US" sz="1800" i="1" baseline="30000" dirty="0">
                                    <a:solidFill>
                                      <a:srgbClr val="2926BF"/>
                                    </a:solidFill>
                                    <a:latin typeface="Cambria Math" panose="02040503050406030204" pitchFamily="18" charset="0"/>
                                  </a:rPr>
                                  <m:t>2</m:t>
                                </m:r>
                              </m:oMath>
                            </m:oMathPara>
                          </a14:m>
                          <a:endParaRPr lang="en-US" sz="1800" baseline="30000" dirty="0">
                            <a:solidFill>
                              <a:srgbClr val="2926BF"/>
                            </a:solidFill>
                            <a:latin typeface="Calisto MT" panose="02040603050505030304" pitchFamily="18" charset="0"/>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r>
                            <a:rPr lang="en-US" sz="1800" dirty="0">
                              <a:solidFill>
                                <a:srgbClr val="2926BF"/>
                              </a:solidFill>
                              <a:latin typeface="Calisto MT" panose="02040603050505030304" pitchFamily="18" charset="0"/>
                            </a:rPr>
                            <a:t>52.917721 pm</a:t>
                          </a:r>
                          <a:endParaRPr lang="en-US" sz="1800" dirty="0">
                            <a:solidFill>
                              <a:srgbClr val="2926BF"/>
                            </a:solidFill>
                            <a:latin typeface="Calisto MT" panose="02040603050505030304" pitchFamily="18" charset="0"/>
                          </a:endParaRPr>
                        </a:p>
                      </a:txBody>
                      <a:tcPr marL="0" marR="0" marT="0" marB="0" anchor="b">
                        <a:lnL w="12700" cap="flat" cmpd="sng" algn="ctr">
                          <a:no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14655">
                    <a:tc>
                      <a:txBody>
                        <a:bodyPr/>
                        <a:lstStyle/>
                        <a:p>
                          <a:pPr indent="0"/>
                          <a:r>
                            <a:rPr lang="en-US" sz="1800">
                              <a:latin typeface="Calisto MT" panose="02040603050505030304" pitchFamily="18" charset="0"/>
                            </a:rPr>
                            <a:t>Mass</a:t>
                          </a:r>
                          <a:endParaRPr lang="en-US" sz="1800">
                            <a:latin typeface="Calisto MT" panose="02040603050505030304" pitchFamily="18" charset="0"/>
                          </a:endParaRPr>
                        </a:p>
                      </a:txBody>
                      <a:tcPr marL="0" marR="0" marT="0" marB="0" anchor="b">
                        <a:lnL w="12700" cmpd="sng">
                          <a:noFill/>
                          <a:prstDash val="soli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114300"/>
                          <a:r>
                            <a:rPr lang="en-US" sz="1800" i="1" dirty="0">
                              <a:solidFill>
                                <a:srgbClr val="2926BF"/>
                              </a:solidFill>
                              <a:latin typeface="Calisto MT" panose="02040603050505030304" pitchFamily="18" charset="0"/>
                            </a:rPr>
                            <a:t>m</a:t>
                          </a:r>
                          <a:r>
                            <a:rPr lang="en-US" sz="1800" i="1" baseline="-25000" dirty="0">
                              <a:solidFill>
                                <a:srgbClr val="2926BF"/>
                              </a:solidFill>
                              <a:latin typeface="Calisto MT" panose="02040603050505030304" pitchFamily="18" charset="0"/>
                            </a:rPr>
                            <a:t>e</a:t>
                          </a:r>
                          <a:endParaRPr lang="en-US" sz="1800" i="1" baseline="-25000" dirty="0">
                            <a:solidFill>
                              <a:srgbClr val="2926BF"/>
                            </a:solidFill>
                            <a:latin typeface="Calisto MT" panose="02040603050505030304" pitchFamily="18" charset="0"/>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r>
                            <a:rPr lang="en-US" sz="1800" dirty="0">
                              <a:latin typeface="Calisto MT" panose="02040603050505030304" pitchFamily="18" charset="0"/>
                            </a:rPr>
                            <a:t>electron mass</a:t>
                          </a:r>
                          <a:endParaRPr lang="en-US" sz="1800" dirty="0">
                            <a:latin typeface="Calisto MT" panose="02040603050505030304" pitchFamily="18" charset="0"/>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sz="1800">
                            <a:latin typeface="Calisto MT" panose="0204060305050503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r>
                            <a:rPr lang="en-US" sz="1800" dirty="0">
                              <a:solidFill>
                                <a:srgbClr val="2926BF"/>
                              </a:solidFill>
                              <a:latin typeface="Calisto MT" panose="02040603050505030304" pitchFamily="18" charset="0"/>
                            </a:rPr>
                            <a:t>0.910938 × 10</a:t>
                          </a:r>
                          <a:r>
                            <a:rPr lang="en-US" sz="1800" baseline="30000" dirty="0">
                              <a:solidFill>
                                <a:srgbClr val="2926BF"/>
                              </a:solidFill>
                              <a:latin typeface="Calisto MT" panose="02040603050505030304" pitchFamily="18" charset="0"/>
                            </a:rPr>
                            <a:t>-30</a:t>
                          </a:r>
                          <a:r>
                            <a:rPr lang="en-US" sz="1800" dirty="0">
                              <a:solidFill>
                                <a:srgbClr val="2926BF"/>
                              </a:solidFill>
                              <a:latin typeface="Calisto MT" panose="02040603050505030304" pitchFamily="18" charset="0"/>
                            </a:rPr>
                            <a:t> kg</a:t>
                          </a:r>
                          <a:endParaRPr lang="en-US" sz="1800" dirty="0">
                            <a:solidFill>
                              <a:srgbClr val="2926BF"/>
                            </a:solidFill>
                            <a:latin typeface="Calisto MT" panose="02040603050505030304" pitchFamily="18" charset="0"/>
                          </a:endParaRPr>
                        </a:p>
                      </a:txBody>
                      <a:tcPr marL="0" marR="0" marT="0" marB="0" anchor="b">
                        <a:lnL w="12700" cap="flat" cmpd="sng" algn="ctr">
                          <a:no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32177">
                    <a:tc>
                      <a:txBody>
                        <a:bodyPr/>
                        <a:lstStyle/>
                        <a:p>
                          <a:pPr indent="0"/>
                          <a:r>
                            <a:rPr lang="en-US" sz="1800" dirty="0">
                              <a:latin typeface="Calisto MT" panose="02040603050505030304" pitchFamily="18" charset="0"/>
                            </a:rPr>
                            <a:t>Charge</a:t>
                          </a:r>
                          <a:endParaRPr lang="en-US" sz="1800" dirty="0">
                            <a:latin typeface="Calisto MT" panose="02040603050505030304" pitchFamily="18" charset="0"/>
                          </a:endParaRPr>
                        </a:p>
                      </a:txBody>
                      <a:tcPr marL="0" marR="0" marT="0" marB="0" anchor="b">
                        <a:lnL w="12700" cmpd="sng">
                          <a:noFill/>
                          <a:prstDash val="soli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165100"/>
                          <a:r>
                            <a:rPr lang="en-US" sz="1800" i="1" dirty="0">
                              <a:solidFill>
                                <a:srgbClr val="2926BF"/>
                              </a:solidFill>
                              <a:latin typeface="Calisto MT" panose="02040603050505030304" pitchFamily="18" charset="0"/>
                            </a:rPr>
                            <a:t>e</a:t>
                          </a:r>
                          <a:endParaRPr lang="en-US" sz="1800" i="1" dirty="0">
                            <a:solidFill>
                              <a:srgbClr val="2926BF"/>
                            </a:solidFill>
                            <a:latin typeface="Calisto MT" panose="02040603050505030304" pitchFamily="18" charset="0"/>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r>
                            <a:rPr lang="en-US" sz="1800">
                              <a:latin typeface="Calisto MT" panose="02040603050505030304" pitchFamily="18" charset="0"/>
                            </a:rPr>
                            <a:t>proton charge</a:t>
                          </a:r>
                          <a:endParaRPr lang="en-US" sz="1800">
                            <a:latin typeface="Calisto MT" panose="02040603050505030304" pitchFamily="18" charset="0"/>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sz="1800">
                            <a:latin typeface="Calisto MT" panose="0204060305050503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r>
                            <a:rPr lang="en-US" sz="1800" dirty="0">
                              <a:solidFill>
                                <a:srgbClr val="2926BF"/>
                              </a:solidFill>
                              <a:latin typeface="Calisto MT" panose="02040603050505030304" pitchFamily="18" charset="0"/>
                            </a:rPr>
                            <a:t>1.6021765 × </a:t>
                          </a:r>
                          <a:r>
                            <a:rPr lang="en-US" altLang="zh-CN" sz="1800" dirty="0">
                              <a:solidFill>
                                <a:srgbClr val="2926BF"/>
                              </a:solidFill>
                              <a:latin typeface="Calisto MT" panose="02040603050505030304" pitchFamily="18" charset="0"/>
                            </a:rPr>
                            <a:t>10</a:t>
                          </a:r>
                          <a:r>
                            <a:rPr lang="en-US" sz="1800" baseline="30000" dirty="0">
                              <a:solidFill>
                                <a:srgbClr val="2926BF"/>
                              </a:solidFill>
                              <a:latin typeface="Calisto MT" panose="02040603050505030304" pitchFamily="18" charset="0"/>
                            </a:rPr>
                            <a:t>-19 </a:t>
                          </a:r>
                          <a:r>
                            <a:rPr lang="en-US" sz="1800" dirty="0">
                              <a:solidFill>
                                <a:srgbClr val="2926BF"/>
                              </a:solidFill>
                              <a:latin typeface="Calisto MT" panose="02040603050505030304" pitchFamily="18" charset="0"/>
                            </a:rPr>
                            <a:t>C</a:t>
                          </a:r>
                          <a:endParaRPr lang="en-US" sz="1800" dirty="0">
                            <a:solidFill>
                              <a:srgbClr val="2926BF"/>
                            </a:solidFill>
                            <a:latin typeface="Calisto MT" panose="02040603050505030304" pitchFamily="18" charset="0"/>
                          </a:endParaRPr>
                        </a:p>
                      </a:txBody>
                      <a:tcPr marL="0" marR="0" marT="0" marB="0" anchor="b">
                        <a:lnL w="12700" cap="flat" cmpd="sng" algn="ctr">
                          <a:no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67224">
                    <a:tc>
                      <a:txBody>
                        <a:bodyPr/>
                        <a:lstStyle/>
                        <a:p>
                          <a:pPr indent="0"/>
                          <a:r>
                            <a:rPr lang="en-US" sz="1800">
                              <a:latin typeface="Calisto MT" panose="02040603050505030304" pitchFamily="18" charset="0"/>
                            </a:rPr>
                            <a:t>Energy</a:t>
                          </a:r>
                          <a:endParaRPr lang="en-US" sz="1800">
                            <a:latin typeface="Calisto MT" panose="02040603050505030304" pitchFamily="18" charset="0"/>
                          </a:endParaRPr>
                        </a:p>
                      </a:txBody>
                      <a:tcPr marL="0" marR="0" marT="0" marB="0">
                        <a:lnL w="12700" cmpd="sng">
                          <a:noFill/>
                          <a:prstDash val="soli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114300"/>
                          <a:r>
                            <a:rPr lang="en-US" sz="1800" i="1" dirty="0">
                              <a:solidFill>
                                <a:srgbClr val="2926BF"/>
                              </a:solidFill>
                              <a:latin typeface="Calisto MT" panose="02040603050505030304" pitchFamily="18" charset="0"/>
                            </a:rPr>
                            <a:t>E</a:t>
                          </a:r>
                          <a:r>
                            <a:rPr lang="en-US" sz="1800" i="1" baseline="-25000" dirty="0">
                              <a:solidFill>
                                <a:srgbClr val="2926BF"/>
                              </a:solidFill>
                              <a:latin typeface="Calisto MT" panose="02040603050505030304" pitchFamily="18" charset="0"/>
                            </a:rPr>
                            <a:t>h</a:t>
                          </a:r>
                          <a:endParaRPr lang="en-US" sz="1800" i="1" baseline="-25000" dirty="0">
                            <a:solidFill>
                              <a:srgbClr val="2926BF"/>
                            </a:solidFill>
                            <a:latin typeface="Calisto MT" panose="0204060305050503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r>
                            <a:rPr lang="en-US" sz="1800" dirty="0" err="1">
                              <a:latin typeface="Calisto MT" panose="02040603050505030304" pitchFamily="18" charset="0"/>
                            </a:rPr>
                            <a:t>Hartree</a:t>
                          </a:r>
                          <a:endParaRPr lang="en-US" sz="1800" dirty="0">
                            <a:latin typeface="Calisto MT" panose="0204060305050503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14:m>
                            <m:oMathPara xmlns:m="http://schemas.openxmlformats.org/officeDocument/2006/math">
                              <m:oMathParaPr>
                                <m:jc m:val="centerGroup"/>
                              </m:oMathParaPr>
                              <m:oMath xmlns:m="http://schemas.openxmlformats.org/officeDocument/2006/math">
                                <m:r>
                                  <a:rPr lang="en-US" sz="1800" i="1" dirty="0" smtClean="0">
                                    <a:solidFill>
                                      <a:srgbClr val="2926BF"/>
                                    </a:solidFill>
                                    <a:latin typeface="Cambria Math" panose="02040503050406030204" pitchFamily="18" charset="0"/>
                                  </a:rPr>
                                  <m:t>𝑒</m:t>
                                </m:r>
                                <m:r>
                                  <a:rPr lang="en-US" sz="1800" i="1" baseline="30000" dirty="0">
                                    <a:solidFill>
                                      <a:srgbClr val="2926BF"/>
                                    </a:solidFill>
                                    <a:latin typeface="Cambria Math" panose="02040503050406030204" pitchFamily="18" charset="0"/>
                                  </a:rPr>
                                  <m:t>2</m:t>
                                </m:r>
                                <m:r>
                                  <a:rPr lang="en-US" sz="1800" i="1" dirty="0">
                                    <a:solidFill>
                                      <a:srgbClr val="2926BF"/>
                                    </a:solidFill>
                                    <a:latin typeface="Cambria Math" panose="02040503050406030204" pitchFamily="18" charset="0"/>
                                  </a:rPr>
                                  <m:t>/</m:t>
                                </m:r>
                                <m:r>
                                  <a:rPr lang="en-US" sz="1800" i="1" dirty="0">
                                    <a:solidFill>
                                      <a:srgbClr val="2926BF"/>
                                    </a:solidFill>
                                    <a:latin typeface="Cambria Math" panose="02040503050406030204" pitchFamily="18" charset="0"/>
                                  </a:rPr>
                                  <m:t>4</m:t>
                                </m:r>
                                <m:r>
                                  <a:rPr lang="en-US" sz="1800" i="1" dirty="0" smtClean="0">
                                    <a:solidFill>
                                      <a:srgbClr val="2926BF"/>
                                    </a:solidFill>
                                    <a:latin typeface="Cambria Math" panose="02040503050406030204" pitchFamily="18" charset="0"/>
                                    <a:ea typeface="Cambria Math" panose="02040503050406030204" pitchFamily="18" charset="0"/>
                                  </a:rPr>
                                  <m:t>𝜋𝜖</m:t>
                                </m:r>
                                <m:r>
                                  <m:rPr>
                                    <m:sty m:val="p"/>
                                  </m:rPr>
                                  <a:rPr lang="en-US" sz="1800" i="0" baseline="-25000" dirty="0">
                                    <a:solidFill>
                                      <a:srgbClr val="2926BF"/>
                                    </a:solidFill>
                                    <a:latin typeface="Cambria Math" panose="02040503050406030204" pitchFamily="18" charset="0"/>
                                  </a:rPr>
                                  <m:t>o</m:t>
                                </m:r>
                                <m:r>
                                  <a:rPr lang="en-US" sz="1800" i="1" dirty="0">
                                    <a:solidFill>
                                      <a:srgbClr val="2926BF"/>
                                    </a:solidFill>
                                    <a:latin typeface="Cambria Math" panose="02040503050406030204" pitchFamily="18" charset="0"/>
                                  </a:rPr>
                                  <m:t>𝑎</m:t>
                                </m:r>
                                <m:r>
                                  <m:rPr>
                                    <m:sty m:val="p"/>
                                  </m:rPr>
                                  <a:rPr lang="en-US" sz="1800" i="0" baseline="-25000" dirty="0">
                                    <a:solidFill>
                                      <a:srgbClr val="2926BF"/>
                                    </a:solidFill>
                                    <a:latin typeface="Cambria Math" panose="02040503050406030204" pitchFamily="18" charset="0"/>
                                  </a:rPr>
                                  <m:t>o</m:t>
                                </m:r>
                              </m:oMath>
                            </m:oMathPara>
                          </a14:m>
                          <a:endParaRPr lang="en-US" sz="1800" i="0" baseline="-25000" dirty="0">
                            <a:solidFill>
                              <a:srgbClr val="2926BF"/>
                            </a:solidFill>
                            <a:latin typeface="Calisto MT" panose="0204060305050503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r>
                            <a:rPr lang="en-US" sz="1800" dirty="0">
                              <a:solidFill>
                                <a:srgbClr val="2926BF"/>
                              </a:solidFill>
                              <a:latin typeface="Calisto MT" panose="02040603050505030304" pitchFamily="18" charset="0"/>
                            </a:rPr>
                            <a:t>4.359744 × 10</a:t>
                          </a:r>
                          <a:r>
                            <a:rPr lang="en-US" altLang="zh-CN" sz="1800" baseline="30000" dirty="0">
                              <a:solidFill>
                                <a:srgbClr val="2926BF"/>
                              </a:solidFill>
                              <a:latin typeface="Calisto MT" panose="02040603050505030304" pitchFamily="18" charset="0"/>
                            </a:rPr>
                            <a:t>-</a:t>
                          </a:r>
                          <a:r>
                            <a:rPr lang="en-US" sz="1800" baseline="30000" dirty="0">
                              <a:solidFill>
                                <a:srgbClr val="2926BF"/>
                              </a:solidFill>
                              <a:latin typeface="Calisto MT" panose="02040603050505030304" pitchFamily="18" charset="0"/>
                            </a:rPr>
                            <a:t>18 </a:t>
                          </a:r>
                          <a:r>
                            <a:rPr lang="en-US" sz="1800" dirty="0">
                              <a:solidFill>
                                <a:srgbClr val="2926BF"/>
                              </a:solidFill>
                              <a:latin typeface="Calisto MT" panose="02040603050505030304" pitchFamily="18" charset="0"/>
                            </a:rPr>
                            <a:t>J</a:t>
                          </a:r>
                          <a:endParaRPr lang="en-US" sz="1800" dirty="0">
                            <a:solidFill>
                              <a:srgbClr val="2926BF"/>
                            </a:solidFill>
                            <a:latin typeface="Calisto MT" panose="02040603050505030304" pitchFamily="18" charset="0"/>
                          </a:endParaRPr>
                        </a:p>
                      </a:txBody>
                      <a:tcPr marL="0" marR="0" marT="0" marB="0">
                        <a:lnL w="12700" cap="flat" cmpd="sng" algn="ctr">
                          <a:no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68737">
                    <a:tc>
                      <a:txBody>
                        <a:bodyPr/>
                        <a:lstStyle/>
                        <a:p>
                          <a:pPr indent="0"/>
                          <a:r>
                            <a:rPr lang="en-US" sz="1800" dirty="0">
                              <a:latin typeface="Calisto MT" panose="02040603050505030304" pitchFamily="18" charset="0"/>
                            </a:rPr>
                            <a:t>Angular momentum</a:t>
                          </a:r>
                          <a:endParaRPr lang="en-US" sz="1800" dirty="0">
                            <a:latin typeface="Calisto MT" panose="02040603050505030304" pitchFamily="18" charset="0"/>
                          </a:endParaRPr>
                        </a:p>
                      </a:txBody>
                      <a:tcPr marL="0" marR="0" marT="0" marB="0" anchor="ctr">
                        <a:lnL w="12700" cmpd="sng">
                          <a:noFill/>
                          <a:prstDash val="soli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indent="165100"/>
                          <a14:m>
                            <m:oMathPara xmlns:m="http://schemas.openxmlformats.org/officeDocument/2006/math">
                              <m:oMathParaPr>
                                <m:jc m:val="left"/>
                              </m:oMathParaPr>
                              <m:oMath xmlns:m="http://schemas.openxmlformats.org/officeDocument/2006/math">
                                <m:r>
                                  <a:rPr lang="en-US" sz="1800" i="1" dirty="0" smtClean="0">
                                    <a:solidFill>
                                      <a:srgbClr val="2926BF"/>
                                    </a:solidFill>
                                    <a:latin typeface="Cambria Math" panose="02040503050406030204" pitchFamily="18" charset="0"/>
                                    <a:ea typeface="Cambria Math" panose="02040503050406030204" pitchFamily="18" charset="0"/>
                                  </a:rPr>
                                  <m:t>ℏ</m:t>
                                </m:r>
                              </m:oMath>
                            </m:oMathPara>
                          </a14:m>
                          <a:endParaRPr lang="en-US" sz="1800" i="1" dirty="0">
                            <a:solidFill>
                              <a:srgbClr val="2926BF"/>
                            </a:solidFill>
                            <a:latin typeface="Calisto MT" panose="0204060305050503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endParaRPr sz="1800">
                            <a:latin typeface="Calisto MT" panose="0204060305050503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endParaRPr sz="1800" dirty="0">
                            <a:latin typeface="Calisto MT" panose="0204060305050503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indent="0"/>
                          <a:r>
                            <a:rPr lang="en-US" sz="1800" dirty="0">
                              <a:solidFill>
                                <a:srgbClr val="2926BF"/>
                              </a:solidFill>
                              <a:latin typeface="Calisto MT" panose="02040603050505030304" pitchFamily="18" charset="0"/>
                            </a:rPr>
                            <a:t>1.0545717 ×</a:t>
                          </a:r>
                          <a:r>
                            <a:rPr lang="en-US" altLang="zh-CN" sz="1800" dirty="0">
                              <a:solidFill>
                                <a:srgbClr val="2926BF"/>
                              </a:solidFill>
                              <a:latin typeface="Calisto MT" panose="02040603050505030304" pitchFamily="18" charset="0"/>
                            </a:rPr>
                            <a:t> 10</a:t>
                          </a:r>
                          <a:r>
                            <a:rPr lang="en-US" altLang="zh-CN" sz="1800" baseline="30000" dirty="0">
                              <a:solidFill>
                                <a:srgbClr val="2926BF"/>
                              </a:solidFill>
                              <a:latin typeface="Calisto MT" panose="02040603050505030304" pitchFamily="18" charset="0"/>
                            </a:rPr>
                            <a:t>-</a:t>
                          </a:r>
                          <a:r>
                            <a:rPr lang="en-US" sz="1800" baseline="30000" dirty="0">
                              <a:solidFill>
                                <a:srgbClr val="2926BF"/>
                              </a:solidFill>
                              <a:latin typeface="Calisto MT" panose="02040603050505030304" pitchFamily="18" charset="0"/>
                            </a:rPr>
                            <a:t>34 </a:t>
                          </a:r>
                          <a:r>
                            <a:rPr lang="en-US" sz="1800" dirty="0">
                              <a:solidFill>
                                <a:srgbClr val="2926BF"/>
                              </a:solidFill>
                              <a:latin typeface="Calisto MT" panose="02040603050505030304" pitchFamily="18" charset="0"/>
                            </a:rPr>
                            <a:t>Js</a:t>
                          </a:r>
                          <a:endParaRPr lang="en-US" sz="1800" dirty="0">
                            <a:solidFill>
                              <a:srgbClr val="2926BF"/>
                            </a:solidFill>
                            <a:latin typeface="Calisto MT" panose="02040603050505030304" pitchFamily="18" charset="0"/>
                          </a:endParaRPr>
                        </a:p>
                      </a:txBody>
                      <a:tcPr marL="0" marR="0" marT="0" marB="0" anchor="ctr">
                        <a:lnL w="12700" cap="flat" cmpd="sng" algn="ctr">
                          <a:no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r>
                </a:tbl>
              </a:graphicData>
            </a:graphic>
          </p:graphicFrame>
        </mc:Choice>
        <mc:Fallback xmlns="">
          <p:graphicFrame>
            <p:nvGraphicFramePr>
              <p:cNvPr id="3" name="表格 2"/>
              <p:cNvGraphicFramePr>
                <a:graphicFrameLocks noGrp="1"/>
              </p:cNvGraphicFramePr>
              <p:nvPr/>
            </p:nvGraphicFramePr>
            <p:xfrm>
              <a:off x="1719129" y="2002205"/>
              <a:ext cx="8609361" cy="1935047"/>
            </p:xfrm>
            <a:graphic>
              <a:graphicData uri="http://schemas.openxmlformats.org/drawingml/2006/table">
                <a:tbl>
                  <a:tblPr/>
                  <a:tblGrid>
                    <a:gridCol w="1140157"/>
                    <a:gridCol w="754164"/>
                    <a:gridCol w="1415904"/>
                    <a:gridCol w="1694175"/>
                    <a:gridCol w="3604961"/>
                  </a:tblGrid>
                  <a:tr h="258463">
                    <a:tc>
                      <a:txBody>
                        <a:bodyPr/>
                        <a:lstStyle/>
                        <a:p>
                          <a:pPr indent="0"/>
                          <a:r>
                            <a:rPr lang="en-US" sz="1800" dirty="0">
                              <a:latin typeface="Calisto MT" panose="02040603050505030304" pitchFamily="18" charset="0"/>
                            </a:rPr>
                            <a:t>Unit</a:t>
                          </a:r>
                          <a:endParaRPr lang="en-US" sz="1800" dirty="0">
                            <a:latin typeface="Calisto MT" panose="02040603050505030304" pitchFamily="18" charset="0"/>
                          </a:endParaRPr>
                        </a:p>
                      </a:txBody>
                      <a:tcPr marL="0" marR="0" marT="0" marB="0">
                        <a:lnL w="12700" cmpd="sng">
                          <a:noFill/>
                          <a:prstDash val="soli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r>
                            <a:rPr lang="en-US" sz="1800">
                              <a:latin typeface="Calisto MT" panose="02040603050505030304" pitchFamily="18" charset="0"/>
                            </a:rPr>
                            <a:t>Symbol</a:t>
                          </a:r>
                          <a:endParaRPr lang="en-US" sz="1800">
                            <a:latin typeface="Calisto MT" panose="0204060305050503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r>
                            <a:rPr lang="en-US" sz="1800">
                              <a:latin typeface="Calisto MT" panose="02040603050505030304" pitchFamily="18" charset="0"/>
                            </a:rPr>
                            <a:t>Name</a:t>
                          </a:r>
                          <a:endParaRPr lang="en-US" sz="1800">
                            <a:latin typeface="Calisto MT" panose="0204060305050503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lgn="ctr"/>
                          <a:r>
                            <a:rPr lang="en-US" sz="1800">
                              <a:latin typeface="Calisto MT" panose="02040603050505030304" pitchFamily="18" charset="0"/>
                            </a:rPr>
                            <a:t>Definition</a:t>
                          </a:r>
                          <a:endParaRPr lang="en-US" sz="1800">
                            <a:latin typeface="Calisto MT" panose="0204060305050503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r>
                            <a:rPr lang="en-US" sz="1800">
                              <a:latin typeface="Calisto MT" panose="02040603050505030304" pitchFamily="18" charset="0"/>
                            </a:rPr>
                            <a:t>SI value</a:t>
                          </a:r>
                          <a:endParaRPr lang="en-US" sz="1800">
                            <a:latin typeface="Calisto MT" panose="02040603050505030304" pitchFamily="18" charset="0"/>
                          </a:endParaRPr>
                        </a:p>
                      </a:txBody>
                      <a:tcPr marL="0" marR="0" marT="0" marB="0">
                        <a:lnL w="12700" cap="flat" cmpd="sng" algn="ctr">
                          <a:no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88925">
                    <a:tc>
                      <a:txBody>
                        <a:bodyPr/>
                        <a:lstStyle/>
                        <a:p>
                          <a:pPr indent="0"/>
                          <a:r>
                            <a:rPr lang="en-US" sz="1800">
                              <a:latin typeface="Calisto MT" panose="02040603050505030304" pitchFamily="18" charset="0"/>
                            </a:rPr>
                            <a:t>Length</a:t>
                          </a:r>
                          <a:endParaRPr lang="en-US" sz="1800">
                            <a:latin typeface="Calisto MT" panose="02040603050505030304" pitchFamily="18" charset="0"/>
                          </a:endParaRPr>
                        </a:p>
                      </a:txBody>
                      <a:tcPr marL="0" marR="0" marT="0" marB="0" anchor="b">
                        <a:lnL w="12700" cmpd="sng">
                          <a:noFill/>
                          <a:prstDash val="soli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114300"/>
                          <a:r>
                            <a:rPr lang="en-US" altLang="zh-CN" sz="1800" i="1" dirty="0">
                              <a:solidFill>
                                <a:srgbClr val="2926BF"/>
                              </a:solidFill>
                              <a:latin typeface="Calisto MT" panose="02040603050505030304" pitchFamily="18" charset="0"/>
                            </a:rPr>
                            <a:t>a</a:t>
                          </a:r>
                          <a:r>
                            <a:rPr lang="en-US" altLang="zh-CN" sz="1800" i="0" baseline="-25000" dirty="0">
                              <a:solidFill>
                                <a:srgbClr val="2926BF"/>
                              </a:solidFill>
                              <a:latin typeface="Calisto MT" panose="02040603050505030304" pitchFamily="18" charset="0"/>
                            </a:rPr>
                            <a:t>0</a:t>
                          </a:r>
                          <a:endParaRPr lang="en-US" altLang="zh-CN" sz="1800" i="0" baseline="-25000" dirty="0">
                            <a:solidFill>
                              <a:srgbClr val="2926BF"/>
                            </a:solidFill>
                            <a:latin typeface="Calisto MT" panose="02040603050505030304" pitchFamily="18" charset="0"/>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r>
                            <a:rPr lang="en-US" sz="1800">
                              <a:latin typeface="Calisto MT" panose="02040603050505030304" pitchFamily="18" charset="0"/>
                            </a:rPr>
                            <a:t>bohr</a:t>
                          </a:r>
                          <a:endParaRPr lang="en-US" sz="1800">
                            <a:latin typeface="Calisto MT" panose="02040603050505030304" pitchFamily="18" charset="0"/>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blipFill>
                      </a:tcPr>
                    </a:tc>
                    <a:tc>
                      <a:txBody>
                        <a:bodyPr/>
                        <a:lstStyle/>
                        <a:p>
                          <a:pPr indent="0"/>
                          <a:r>
                            <a:rPr lang="en-US" sz="1800" dirty="0">
                              <a:solidFill>
                                <a:srgbClr val="2926BF"/>
                              </a:solidFill>
                              <a:latin typeface="Calisto MT" panose="02040603050505030304" pitchFamily="18" charset="0"/>
                            </a:rPr>
                            <a:t>52.917721 pm</a:t>
                          </a:r>
                          <a:endParaRPr lang="en-US" sz="1800" dirty="0">
                            <a:solidFill>
                              <a:srgbClr val="2926BF"/>
                            </a:solidFill>
                            <a:latin typeface="Calisto MT" panose="02040603050505030304" pitchFamily="18" charset="0"/>
                          </a:endParaRPr>
                        </a:p>
                      </a:txBody>
                      <a:tcPr marL="0" marR="0" marT="0" marB="0" anchor="b">
                        <a:lnL w="12700" cap="flat" cmpd="sng" algn="ctr">
                          <a:no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14655">
                    <a:tc>
                      <a:txBody>
                        <a:bodyPr/>
                        <a:lstStyle/>
                        <a:p>
                          <a:pPr indent="0"/>
                          <a:r>
                            <a:rPr lang="en-US" sz="1800">
                              <a:latin typeface="Calisto MT" panose="02040603050505030304" pitchFamily="18" charset="0"/>
                            </a:rPr>
                            <a:t>Mass</a:t>
                          </a:r>
                          <a:endParaRPr lang="en-US" sz="1800">
                            <a:latin typeface="Calisto MT" panose="02040603050505030304" pitchFamily="18" charset="0"/>
                          </a:endParaRPr>
                        </a:p>
                      </a:txBody>
                      <a:tcPr marL="0" marR="0" marT="0" marB="0" anchor="b">
                        <a:lnL w="12700" cmpd="sng">
                          <a:noFill/>
                          <a:prstDash val="soli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114300"/>
                          <a:r>
                            <a:rPr lang="en-US" sz="1800" i="1" dirty="0">
                              <a:solidFill>
                                <a:srgbClr val="2926BF"/>
                              </a:solidFill>
                              <a:latin typeface="Calisto MT" panose="02040603050505030304" pitchFamily="18" charset="0"/>
                            </a:rPr>
                            <a:t>m</a:t>
                          </a:r>
                          <a:r>
                            <a:rPr lang="en-US" sz="1800" i="1" baseline="-25000" dirty="0">
                              <a:solidFill>
                                <a:srgbClr val="2926BF"/>
                              </a:solidFill>
                              <a:latin typeface="Calisto MT" panose="02040603050505030304" pitchFamily="18" charset="0"/>
                            </a:rPr>
                            <a:t>e</a:t>
                          </a:r>
                          <a:endParaRPr lang="en-US" sz="1800" i="1" baseline="-25000" dirty="0">
                            <a:solidFill>
                              <a:srgbClr val="2926BF"/>
                            </a:solidFill>
                            <a:latin typeface="Calisto MT" panose="02040603050505030304" pitchFamily="18" charset="0"/>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r>
                            <a:rPr lang="en-US" sz="1800" dirty="0">
                              <a:latin typeface="Calisto MT" panose="02040603050505030304" pitchFamily="18" charset="0"/>
                            </a:rPr>
                            <a:t>electron mass</a:t>
                          </a:r>
                          <a:endParaRPr lang="en-US" sz="1800" dirty="0">
                            <a:latin typeface="Calisto MT" panose="02040603050505030304" pitchFamily="18" charset="0"/>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sz="1800">
                            <a:latin typeface="Calisto MT" panose="0204060305050503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r>
                            <a:rPr lang="en-US" sz="1800" dirty="0">
                              <a:solidFill>
                                <a:srgbClr val="2926BF"/>
                              </a:solidFill>
                              <a:latin typeface="Calisto MT" panose="02040603050505030304" pitchFamily="18" charset="0"/>
                            </a:rPr>
                            <a:t>0.910938 × 10</a:t>
                          </a:r>
                          <a:r>
                            <a:rPr lang="en-US" sz="1800" baseline="30000" dirty="0">
                              <a:solidFill>
                                <a:srgbClr val="2926BF"/>
                              </a:solidFill>
                              <a:latin typeface="Calisto MT" panose="02040603050505030304" pitchFamily="18" charset="0"/>
                            </a:rPr>
                            <a:t>-30</a:t>
                          </a:r>
                          <a:r>
                            <a:rPr lang="en-US" sz="1800" dirty="0">
                              <a:solidFill>
                                <a:srgbClr val="2926BF"/>
                              </a:solidFill>
                              <a:latin typeface="Calisto MT" panose="02040603050505030304" pitchFamily="18" charset="0"/>
                            </a:rPr>
                            <a:t> kg</a:t>
                          </a:r>
                          <a:endParaRPr lang="en-US" sz="1800" dirty="0">
                            <a:solidFill>
                              <a:srgbClr val="2926BF"/>
                            </a:solidFill>
                            <a:latin typeface="Calisto MT" panose="02040603050505030304" pitchFamily="18" charset="0"/>
                          </a:endParaRPr>
                        </a:p>
                      </a:txBody>
                      <a:tcPr marL="0" marR="0" marT="0" marB="0" anchor="b">
                        <a:lnL w="12700" cap="flat" cmpd="sng" algn="ctr">
                          <a:no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32177">
                    <a:tc>
                      <a:txBody>
                        <a:bodyPr/>
                        <a:lstStyle/>
                        <a:p>
                          <a:pPr indent="0"/>
                          <a:r>
                            <a:rPr lang="en-US" sz="1800" dirty="0">
                              <a:latin typeface="Calisto MT" panose="02040603050505030304" pitchFamily="18" charset="0"/>
                            </a:rPr>
                            <a:t>Charge</a:t>
                          </a:r>
                          <a:endParaRPr lang="en-US" sz="1800" dirty="0">
                            <a:latin typeface="Calisto MT" panose="02040603050505030304" pitchFamily="18" charset="0"/>
                          </a:endParaRPr>
                        </a:p>
                      </a:txBody>
                      <a:tcPr marL="0" marR="0" marT="0" marB="0" anchor="b">
                        <a:lnL w="12700" cmpd="sng">
                          <a:noFill/>
                          <a:prstDash val="soli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165100"/>
                          <a:r>
                            <a:rPr lang="en-US" sz="1800" i="1" dirty="0">
                              <a:solidFill>
                                <a:srgbClr val="2926BF"/>
                              </a:solidFill>
                              <a:latin typeface="Calisto MT" panose="02040603050505030304" pitchFamily="18" charset="0"/>
                            </a:rPr>
                            <a:t>e</a:t>
                          </a:r>
                          <a:endParaRPr lang="en-US" sz="1800" i="1" dirty="0">
                            <a:solidFill>
                              <a:srgbClr val="2926BF"/>
                            </a:solidFill>
                            <a:latin typeface="Calisto MT" panose="02040603050505030304" pitchFamily="18" charset="0"/>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r>
                            <a:rPr lang="en-US" sz="1800">
                              <a:latin typeface="Calisto MT" panose="02040603050505030304" pitchFamily="18" charset="0"/>
                            </a:rPr>
                            <a:t>proton charge</a:t>
                          </a:r>
                          <a:endParaRPr lang="en-US" sz="1800">
                            <a:latin typeface="Calisto MT" panose="02040603050505030304" pitchFamily="18" charset="0"/>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sz="1800">
                            <a:latin typeface="Calisto MT" panose="0204060305050503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r>
                            <a:rPr lang="en-US" sz="1800" dirty="0">
                              <a:solidFill>
                                <a:srgbClr val="2926BF"/>
                              </a:solidFill>
                              <a:latin typeface="Calisto MT" panose="02040603050505030304" pitchFamily="18" charset="0"/>
                            </a:rPr>
                            <a:t>1.6021765 × </a:t>
                          </a:r>
                          <a:r>
                            <a:rPr lang="en-US" altLang="zh-CN" sz="1800" dirty="0">
                              <a:solidFill>
                                <a:srgbClr val="2926BF"/>
                              </a:solidFill>
                              <a:latin typeface="Calisto MT" panose="02040603050505030304" pitchFamily="18" charset="0"/>
                            </a:rPr>
                            <a:t>10</a:t>
                          </a:r>
                          <a:r>
                            <a:rPr lang="en-US" sz="1800" baseline="30000" dirty="0">
                              <a:solidFill>
                                <a:srgbClr val="2926BF"/>
                              </a:solidFill>
                              <a:latin typeface="Calisto MT" panose="02040603050505030304" pitchFamily="18" charset="0"/>
                            </a:rPr>
                            <a:t>-19 </a:t>
                          </a:r>
                          <a:r>
                            <a:rPr lang="en-US" sz="1800" dirty="0">
                              <a:solidFill>
                                <a:srgbClr val="2926BF"/>
                              </a:solidFill>
                              <a:latin typeface="Calisto MT" panose="02040603050505030304" pitchFamily="18" charset="0"/>
                            </a:rPr>
                            <a:t>C</a:t>
                          </a:r>
                          <a:endParaRPr lang="en-US" sz="1800" dirty="0">
                            <a:solidFill>
                              <a:srgbClr val="2926BF"/>
                            </a:solidFill>
                            <a:latin typeface="Calisto MT" panose="02040603050505030304" pitchFamily="18" charset="0"/>
                          </a:endParaRPr>
                        </a:p>
                      </a:txBody>
                      <a:tcPr marL="0" marR="0" marT="0" marB="0" anchor="b">
                        <a:lnL w="12700" cap="flat" cmpd="sng" algn="ctr">
                          <a:no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74320">
                    <a:tc>
                      <a:txBody>
                        <a:bodyPr/>
                        <a:lstStyle/>
                        <a:p>
                          <a:pPr indent="0"/>
                          <a:r>
                            <a:rPr lang="en-US" sz="1800">
                              <a:latin typeface="Calisto MT" panose="02040603050505030304" pitchFamily="18" charset="0"/>
                            </a:rPr>
                            <a:t>Energy</a:t>
                          </a:r>
                          <a:endParaRPr lang="en-US" sz="1800">
                            <a:latin typeface="Calisto MT" panose="02040603050505030304" pitchFamily="18" charset="0"/>
                          </a:endParaRPr>
                        </a:p>
                      </a:txBody>
                      <a:tcPr marL="0" marR="0" marT="0" marB="0">
                        <a:lnL w="12700" cmpd="sng">
                          <a:noFill/>
                          <a:prstDash val="soli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114300"/>
                          <a:r>
                            <a:rPr lang="en-US" sz="1800" i="1" dirty="0">
                              <a:solidFill>
                                <a:srgbClr val="2926BF"/>
                              </a:solidFill>
                              <a:latin typeface="Calisto MT" panose="02040603050505030304" pitchFamily="18" charset="0"/>
                            </a:rPr>
                            <a:t>E</a:t>
                          </a:r>
                          <a:r>
                            <a:rPr lang="en-US" sz="1800" i="1" baseline="-25000" dirty="0">
                              <a:solidFill>
                                <a:srgbClr val="2926BF"/>
                              </a:solidFill>
                              <a:latin typeface="Calisto MT" panose="02040603050505030304" pitchFamily="18" charset="0"/>
                            </a:rPr>
                            <a:t>h</a:t>
                          </a:r>
                          <a:endParaRPr lang="en-US" sz="1800" i="1" baseline="-25000" dirty="0">
                            <a:solidFill>
                              <a:srgbClr val="2926BF"/>
                            </a:solidFill>
                            <a:latin typeface="Calisto MT" panose="0204060305050503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indent="0"/>
                          <a:r>
                            <a:rPr lang="en-US" sz="1800" dirty="0" err="1">
                              <a:latin typeface="Calisto MT" panose="02040603050505030304" pitchFamily="18" charset="0"/>
                            </a:rPr>
                            <a:t>Hartree</a:t>
                          </a:r>
                          <a:endParaRPr lang="en-US" sz="1800" dirty="0">
                            <a:latin typeface="Calisto MT" panose="0204060305050503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blipFill>
                      </a:tcPr>
                    </a:tc>
                    <a:tc>
                      <a:txBody>
                        <a:bodyPr/>
                        <a:lstStyle/>
                        <a:p>
                          <a:pPr indent="0"/>
                          <a:r>
                            <a:rPr lang="en-US" sz="1800" dirty="0">
                              <a:solidFill>
                                <a:srgbClr val="2926BF"/>
                              </a:solidFill>
                              <a:latin typeface="Calisto MT" panose="02040603050505030304" pitchFamily="18" charset="0"/>
                            </a:rPr>
                            <a:t>4.359744 × 10</a:t>
                          </a:r>
                          <a:r>
                            <a:rPr lang="en-US" altLang="zh-CN" sz="1800" baseline="30000" dirty="0">
                              <a:solidFill>
                                <a:srgbClr val="2926BF"/>
                              </a:solidFill>
                              <a:latin typeface="Calisto MT" panose="02040603050505030304" pitchFamily="18" charset="0"/>
                            </a:rPr>
                            <a:t>-</a:t>
                          </a:r>
                          <a:r>
                            <a:rPr lang="en-US" sz="1800" baseline="30000" dirty="0">
                              <a:solidFill>
                                <a:srgbClr val="2926BF"/>
                              </a:solidFill>
                              <a:latin typeface="Calisto MT" panose="02040603050505030304" pitchFamily="18" charset="0"/>
                            </a:rPr>
                            <a:t>18 </a:t>
                          </a:r>
                          <a:r>
                            <a:rPr lang="en-US" sz="1800" dirty="0">
                              <a:solidFill>
                                <a:srgbClr val="2926BF"/>
                              </a:solidFill>
                              <a:latin typeface="Calisto MT" panose="02040603050505030304" pitchFamily="18" charset="0"/>
                            </a:rPr>
                            <a:t>J</a:t>
                          </a:r>
                          <a:endParaRPr lang="en-US" sz="1800" dirty="0">
                            <a:solidFill>
                              <a:srgbClr val="2926BF"/>
                            </a:solidFill>
                            <a:latin typeface="Calisto MT" panose="02040603050505030304" pitchFamily="18" charset="0"/>
                          </a:endParaRPr>
                        </a:p>
                      </a:txBody>
                      <a:tcPr marL="0" marR="0" marT="0" marB="0">
                        <a:lnL w="12700" cap="flat" cmpd="sng" algn="ctr">
                          <a:no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48640">
                    <a:tc>
                      <a:txBody>
                        <a:bodyPr/>
                        <a:lstStyle/>
                        <a:p>
                          <a:pPr indent="0"/>
                          <a:r>
                            <a:rPr lang="en-US" sz="1800" dirty="0">
                              <a:latin typeface="Calisto MT" panose="02040603050505030304" pitchFamily="18" charset="0"/>
                            </a:rPr>
                            <a:t>Angular momentum</a:t>
                          </a:r>
                          <a:endParaRPr lang="en-US" sz="1800" dirty="0">
                            <a:latin typeface="Calisto MT" panose="02040603050505030304" pitchFamily="18" charset="0"/>
                          </a:endParaRPr>
                        </a:p>
                      </a:txBody>
                      <a:tcPr marL="0" marR="0" marT="0" marB="0" anchor="ctr">
                        <a:lnL w="12700" cmpd="sng">
                          <a:noFill/>
                          <a:prstDash val="soli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endParaRPr lang="zh-CN"/>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blipFill>
                          <a:blip r:embed="rId2"/>
                        </a:blipFill>
                      </a:tcPr>
                    </a:tc>
                    <a:tc>
                      <a:txBody>
                        <a:bodyPr/>
                        <a:lstStyle/>
                        <a:p>
                          <a:endParaRPr sz="1800">
                            <a:latin typeface="Calisto MT" panose="0204060305050503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endParaRPr sz="1800" dirty="0">
                            <a:latin typeface="Calisto MT" panose="0204060305050503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c>
                      <a:txBody>
                        <a:bodyPr/>
                        <a:lstStyle/>
                        <a:p>
                          <a:pPr indent="0"/>
                          <a:r>
                            <a:rPr lang="en-US" sz="1800" dirty="0">
                              <a:solidFill>
                                <a:srgbClr val="2926BF"/>
                              </a:solidFill>
                              <a:latin typeface="Calisto MT" panose="02040603050505030304" pitchFamily="18" charset="0"/>
                            </a:rPr>
                            <a:t>1.0545717 ×</a:t>
                          </a:r>
                          <a:r>
                            <a:rPr lang="en-US" altLang="zh-CN" sz="1800" dirty="0">
                              <a:solidFill>
                                <a:srgbClr val="2926BF"/>
                              </a:solidFill>
                              <a:latin typeface="Calisto MT" panose="02040603050505030304" pitchFamily="18" charset="0"/>
                            </a:rPr>
                            <a:t> 10</a:t>
                          </a:r>
                          <a:r>
                            <a:rPr lang="en-US" altLang="zh-CN" sz="1800" baseline="30000" dirty="0">
                              <a:solidFill>
                                <a:srgbClr val="2926BF"/>
                              </a:solidFill>
                              <a:latin typeface="Calisto MT" panose="02040603050505030304" pitchFamily="18" charset="0"/>
                            </a:rPr>
                            <a:t>-</a:t>
                          </a:r>
                          <a:r>
                            <a:rPr lang="en-US" sz="1800" baseline="30000" dirty="0">
                              <a:solidFill>
                                <a:srgbClr val="2926BF"/>
                              </a:solidFill>
                              <a:latin typeface="Calisto MT" panose="02040603050505030304" pitchFamily="18" charset="0"/>
                            </a:rPr>
                            <a:t>34 </a:t>
                          </a:r>
                          <a:r>
                            <a:rPr lang="en-US" sz="1800" dirty="0">
                              <a:solidFill>
                                <a:srgbClr val="2926BF"/>
                              </a:solidFill>
                              <a:latin typeface="Calisto MT" panose="02040603050505030304" pitchFamily="18" charset="0"/>
                            </a:rPr>
                            <a:t>Js</a:t>
                          </a:r>
                          <a:endParaRPr lang="en-US" sz="1800" dirty="0">
                            <a:solidFill>
                              <a:srgbClr val="2926BF"/>
                            </a:solidFill>
                            <a:latin typeface="Calisto MT" panose="02040603050505030304" pitchFamily="18" charset="0"/>
                          </a:endParaRPr>
                        </a:p>
                      </a:txBody>
                      <a:tcPr marL="0" marR="0" marT="0" marB="0" anchor="ctr">
                        <a:lnL w="12700" cap="flat" cmpd="sng" algn="ctr">
                          <a:no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r>
                </a:tbl>
              </a:graphicData>
            </a:graphic>
          </p:graphicFrame>
        </mc:Fallback>
      </mc:AlternateContent>
      <p:sp>
        <p:nvSpPr>
          <p:cNvPr id="4" name="矩形 3"/>
          <p:cNvSpPr/>
          <p:nvPr/>
        </p:nvSpPr>
        <p:spPr>
          <a:xfrm>
            <a:off x="5018404" y="185988"/>
            <a:ext cx="2151551"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Atomic units</a:t>
            </a:r>
            <a:endParaRPr lang="zh-CN" altLang="en-US" sz="2800" b="1" dirty="0">
              <a:latin typeface="Times New Roman" panose="02020603050405020304" pitchFamily="18" charset="0"/>
              <a:cs typeface="Times New Roman" panose="02020603050405020304" pitchFamily="18" charset="0"/>
            </a:endParaRPr>
          </a:p>
        </p:txBody>
      </p:sp>
      <p:sp>
        <p:nvSpPr>
          <p:cNvPr id="5"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7" name="灯片编号占位符 6"/>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nvGraphicFramePr>
            <p:xfrm>
              <a:off x="646290" y="863099"/>
              <a:ext cx="10449232" cy="5665569"/>
            </p:xfrm>
            <a:graphic>
              <a:graphicData uri="http://schemas.openxmlformats.org/drawingml/2006/table">
                <a:tbl>
                  <a:tblPr/>
                  <a:tblGrid>
                    <a:gridCol w="10449232"/>
                  </a:tblGrid>
                  <a:tr h="382771">
                    <a:tc>
                      <a:txBody>
                        <a:bodyPr/>
                        <a:lstStyle/>
                        <a:p>
                          <a:pPr marL="0" marR="0" lvl="0" indent="165100" algn="l" defTabSz="914400" rtl="0" eaLnBrk="1" fontAlgn="auto" latinLnBrk="0" hangingPunct="1">
                            <a:lnSpc>
                              <a:spcPct val="100000"/>
                            </a:lnSpc>
                            <a:spcBef>
                              <a:spcPts val="0"/>
                            </a:spcBef>
                            <a:spcAft>
                              <a:spcPts val="0"/>
                            </a:spcAft>
                            <a:buClrTx/>
                            <a:buSzTx/>
                            <a:buFontTx/>
                            <a:buNone/>
                            <a:defRPr/>
                          </a:pPr>
                          <a:r>
                            <a:rPr lang="en-US" sz="2400" dirty="0">
                              <a:latin typeface="Times New Roman" panose="02020603050405020304" pitchFamily="18" charset="0"/>
                              <a:cs typeface="Times New Roman" panose="02020603050405020304" pitchFamily="18" charset="0"/>
                            </a:rPr>
                            <a:t>We write </a:t>
                          </a:r>
                          <a14:m>
                            <m:oMath xmlns:m="http://schemas.openxmlformats.org/officeDocument/2006/math">
                              <m:sSup>
                                <m:sSupPr>
                                  <m:ctrlPr>
                                    <a:rPr lang="en-US" altLang="zh-TW" sz="2400" b="0" i="1" dirty="0" smtClean="0">
                                      <a:solidFill>
                                        <a:srgbClr val="2926BF"/>
                                      </a:solidFill>
                                      <a:latin typeface="Cambria Math" panose="02040503050406030204" pitchFamily="18" charset="0"/>
                                    </a:rPr>
                                  </m:ctrlPr>
                                </m:sSupPr>
                                <m:e>
                                  <m:r>
                                    <a:rPr lang="en-US" altLang="zh-CN" sz="2400" i="1" dirty="0" smtClean="0">
                                      <a:solidFill>
                                        <a:srgbClr val="2926BF"/>
                                      </a:solidFill>
                                      <a:latin typeface="Cambria Math" panose="02040503050406030204" pitchFamily="18" charset="0"/>
                                    </a:rPr>
                                    <m:t>𝑟</m:t>
                                  </m:r>
                                </m:e>
                                <m:sup>
                                  <m:r>
                                    <a:rPr lang="en-US" altLang="zh-TW" sz="2400" b="0" i="1" dirty="0" smtClean="0">
                                      <a:solidFill>
                                        <a:srgbClr val="2926BF"/>
                                      </a:solidFill>
                                      <a:latin typeface="Cambria Math" panose="02040503050406030204" pitchFamily="18" charset="0"/>
                                    </a:rPr>
                                    <m:t>′</m:t>
                                  </m:r>
                                </m:sup>
                              </m:sSup>
                              <m:r>
                                <a:rPr lang="en-US" altLang="zh-TW" sz="2400" b="0" i="1" dirty="0" smtClean="0">
                                  <a:solidFill>
                                    <a:srgbClr val="2926BF"/>
                                  </a:solidFill>
                                  <a:latin typeface="Cambria Math" panose="02040503050406030204" pitchFamily="18" charset="0"/>
                                  <a:ea typeface="Arial" panose="020B0604020202020204"/>
                                </a:rPr>
                                <m:t>=</m:t>
                              </m:r>
                              <m:r>
                                <a:rPr lang="en-US" sz="2400" i="1" dirty="0">
                                  <a:solidFill>
                                    <a:srgbClr val="2926BF"/>
                                  </a:solidFill>
                                  <a:latin typeface="Cambria Math" panose="02040503050406030204" pitchFamily="18" charset="0"/>
                                </a:rPr>
                                <m:t>𝑟</m:t>
                              </m:r>
                              <m:r>
                                <a:rPr lang="en-US" sz="2400" i="1" dirty="0">
                                  <a:solidFill>
                                    <a:srgbClr val="2926BF"/>
                                  </a:solidFill>
                                  <a:latin typeface="Cambria Math" panose="02040503050406030204" pitchFamily="18" charset="0"/>
                                </a:rPr>
                                <m:t>/</m:t>
                              </m:r>
                              <m:r>
                                <m:rPr>
                                  <m:nor/>
                                </m:rPr>
                                <a:rPr lang="en-US" altLang="zh-CN" sz="2400" i="1" dirty="0" smtClean="0">
                                  <a:solidFill>
                                    <a:srgbClr val="2926BF"/>
                                  </a:solidFill>
                                  <a:latin typeface="Times New Roman" panose="02020603050405020304" pitchFamily="18" charset="0"/>
                                  <a:cs typeface="Times New Roman" panose="02020603050405020304" pitchFamily="18" charset="0"/>
                                </a:rPr>
                                <m:t>a</m:t>
                              </m:r>
                              <m:r>
                                <m:rPr>
                                  <m:nor/>
                                </m:rPr>
                                <a:rPr lang="en-US" altLang="zh-CN" sz="2400" i="0" baseline="-25000" dirty="0" smtClean="0">
                                  <a:solidFill>
                                    <a:srgbClr val="2926BF"/>
                                  </a:solidFill>
                                  <a:latin typeface="Times New Roman" panose="02020603050405020304" pitchFamily="18" charset="0"/>
                                  <a:cs typeface="Times New Roman" panose="02020603050405020304" pitchFamily="18" charset="0"/>
                                </a:rPr>
                                <m:t>0</m:t>
                              </m:r>
                            </m:oMath>
                          </a14:m>
                          <a:r>
                            <a:rPr lang="en-US" sz="2400" i="1" dirty="0">
                              <a:solidFill>
                                <a:schemeClr val="tx1"/>
                              </a:solidFill>
                              <a:latin typeface="Times New Roman" panose="02020603050405020304" pitchFamily="18" charset="0"/>
                              <a:cs typeface="Times New Roman" panose="02020603050405020304" pitchFamily="18" charset="0"/>
                            </a:rPr>
                            <a:t>,</a:t>
                          </a:r>
                          <a:r>
                            <a:rPr lang="en-US" sz="2400" dirty="0">
                              <a:solidFill>
                                <a:srgbClr val="2926BF"/>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 find that</a:t>
                          </a:r>
                          <a:endParaRPr lang="en-US" sz="2400" dirty="0">
                            <a:latin typeface="Times New Roman" panose="02020603050405020304" pitchFamily="18" charset="0"/>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82771">
                    <a:tc>
                      <a:txBody>
                        <a:bodyPr/>
                        <a:lstStyle/>
                        <a:p>
                          <a:pPr marL="1271905" indent="0"/>
                          <a:endParaRPr lang="en-US" sz="2400" i="1" dirty="0">
                            <a:solidFill>
                              <a:srgbClr val="2926BF"/>
                            </a:solidFill>
                            <a:latin typeface="Times New Roman" panose="02020603050405020304" pitchFamily="18" charset="0"/>
                            <a:cs typeface="Times New Roman" panose="02020603050405020304" pitchFamily="18" charset="0"/>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664303">
                    <a:tc>
                      <a:txBody>
                        <a:bodyPr/>
                        <a:lstStyle/>
                        <a:p>
                          <a:pPr marL="1652905" indent="0"/>
                          <a:endParaRPr lang="en-US" sz="2400" i="1" baseline="30000" dirty="0">
                            <a:solidFill>
                              <a:srgbClr val="2926BF"/>
                            </a:solidFill>
                            <a:latin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31442">
                    <a:tc>
                      <a:txBody>
                        <a:bodyPr/>
                        <a:lstStyle/>
                        <a:p>
                          <a:pPr indent="165100"/>
                          <a:r>
                            <a:rPr lang="en-US" sz="2400" dirty="0">
                              <a:latin typeface="Times New Roman" panose="02020603050405020304" pitchFamily="18" charset="0"/>
                              <a:cs typeface="Times New Roman" panose="02020603050405020304" pitchFamily="18" charset="0"/>
                            </a:rPr>
                            <a:t>Similarly, writing </a:t>
                          </a:r>
                          <a14:m>
                            <m:oMath xmlns:m="http://schemas.openxmlformats.org/officeDocument/2006/math">
                              <m:r>
                                <a:rPr lang="en-US" altLang="zh-CN" sz="2400" b="1" i="1" dirty="0" smtClean="0">
                                  <a:solidFill>
                                    <a:srgbClr val="2926BF"/>
                                  </a:solidFill>
                                  <a:latin typeface="Cambria Math" panose="02040503050406030204" pitchFamily="18" charset="0"/>
                                </a:rPr>
                                <m:t>𝑳</m:t>
                              </m:r>
                              <m:r>
                                <a:rPr lang="en-US" sz="2400" i="1" dirty="0">
                                  <a:solidFill>
                                    <a:srgbClr val="2926BF"/>
                                  </a:solidFill>
                                  <a:latin typeface="Cambria Math" panose="02040503050406030204" pitchFamily="18" charset="0"/>
                                </a:rPr>
                                <m:t>=</m:t>
                              </m:r>
                              <m:r>
                                <a:rPr lang="en-US" sz="2400" b="0" i="1" dirty="0" smtClean="0">
                                  <a:solidFill>
                                    <a:srgbClr val="2926BF"/>
                                  </a:solidFill>
                                  <a:latin typeface="Cambria Math" panose="02040503050406030204" pitchFamily="18" charset="0"/>
                                </a:rPr>
                                <m:t>𝐿</m:t>
                              </m:r>
                              <m:r>
                                <a:rPr lang="en-US" sz="2400" i="1" dirty="0">
                                  <a:solidFill>
                                    <a:srgbClr val="2926BF"/>
                                  </a:solidFill>
                                  <a:latin typeface="Cambria Math" panose="02040503050406030204" pitchFamily="18" charset="0"/>
                                </a:rPr>
                                <m:t>/</m:t>
                              </m:r>
                              <m:r>
                                <a:rPr lang="en-US" sz="2400" i="1" dirty="0" smtClean="0">
                                  <a:solidFill>
                                    <a:srgbClr val="2926BF"/>
                                  </a:solidFill>
                                  <a:latin typeface="Cambria Math" panose="02040503050406030204" pitchFamily="18" charset="0"/>
                                  <a:ea typeface="Cambria Math" panose="02040503050406030204" pitchFamily="18" charset="0"/>
                                </a:rPr>
                                <m:t>ℏ</m:t>
                              </m:r>
                            </m:oMath>
                          </a14:m>
                          <a:r>
                            <a:rPr lang="en-US" sz="2400" dirty="0">
                              <a:solidFill>
                                <a:srgbClr val="2926BF"/>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 angular kinetic energy becomes</a:t>
                          </a:r>
                          <a:endParaRPr lang="en-US" sz="2400" dirty="0">
                            <a:latin typeface="Times New Roman" panose="02020603050405020304" pitchFamily="18" charset="0"/>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98581">
                    <a:tc>
                      <a:txBody>
                        <a:bodyPr/>
                        <a:lstStyle/>
                        <a:p>
                          <a:pPr marL="1030605" indent="0"/>
                          <a:endParaRPr lang="en-US" sz="2400" baseline="30000" dirty="0">
                            <a:solidFill>
                              <a:srgbClr val="2926BF"/>
                            </a:solidFill>
                            <a:latin typeface="Times New Roman" panose="02020603050405020304" pitchFamily="18" charset="0"/>
                            <a:cs typeface="Times New Roman" panose="02020603050405020304" pitchFamily="18" charset="0"/>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31442">
                    <a:tc>
                      <a:txBody>
                        <a:bodyPr/>
                        <a:lstStyle/>
                        <a:p>
                          <a:pPr marL="916305" indent="0"/>
                          <a:endParaRPr lang="en-US" sz="2400" i="1" dirty="0">
                            <a:solidFill>
                              <a:srgbClr val="2926BF"/>
                            </a:solidFill>
                            <a:latin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82771">
                    <a:tc>
                      <a:txBody>
                        <a:bodyPr/>
                        <a:lstStyle/>
                        <a:p>
                          <a:pPr indent="165100"/>
                          <a:r>
                            <a:rPr lang="en-US" sz="2400" dirty="0">
                              <a:latin typeface="Times New Roman" panose="02020603050405020304" pitchFamily="18" charset="0"/>
                              <a:cs typeface="Times New Roman" panose="02020603050405020304" pitchFamily="18" charset="0"/>
                            </a:rPr>
                            <a:t>In this way we find</a:t>
                          </a:r>
                          <a:endParaRPr lang="en-US" sz="2400" dirty="0">
                            <a:latin typeface="Times New Roman" panose="02020603050405020304" pitchFamily="18" charset="0"/>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98581">
                    <a:tc>
                      <a:txBody>
                        <a:bodyPr/>
                        <a:lstStyle/>
                        <a:p>
                          <a:pPr marL="1271905" indent="0"/>
                          <a:endParaRPr lang="en-US" sz="2400" i="1" dirty="0">
                            <a:solidFill>
                              <a:srgbClr val="2926BF"/>
                            </a:solidFill>
                            <a:latin typeface="Times New Roman" panose="02020603050405020304" pitchFamily="18" charset="0"/>
                            <a:cs typeface="Times New Roman" panose="02020603050405020304" pitchFamily="18" charset="0"/>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98581">
                    <a:tc>
                      <a:txBody>
                        <a:bodyPr/>
                        <a:lstStyle/>
                        <a:p>
                          <a:pPr marL="1538605" indent="0"/>
                          <a:endParaRPr lang="en-US" sz="2400" baseline="30000" dirty="0">
                            <a:solidFill>
                              <a:srgbClr val="2926BF"/>
                            </a:solidFill>
                            <a:latin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664303">
                    <a:tc>
                      <a:txBody>
                        <a:bodyPr/>
                        <a:lstStyle/>
                        <a:p>
                          <a:pPr indent="165100" algn="just"/>
                          <a:r>
                            <a:rPr lang="en-US" sz="2400" dirty="0">
                              <a:latin typeface="Times New Roman" panose="02020603050405020304" pitchFamily="18" charset="0"/>
                              <a:cs typeface="Times New Roman" panose="02020603050405020304" pitchFamily="18" charset="0"/>
                            </a:rPr>
                            <a:t>or, dropping the primes, and remembering that energies will be in </a:t>
                          </a:r>
                          <a:r>
                            <a:rPr lang="en-US" sz="2400" dirty="0" err="1">
                              <a:latin typeface="Times New Roman" panose="02020603050405020304" pitchFamily="18" charset="0"/>
                              <a:cs typeface="Times New Roman" panose="02020603050405020304" pitchFamily="18" charset="0"/>
                            </a:rPr>
                            <a:t>Hartree</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98581">
                    <a:tc>
                      <a:txBody>
                        <a:bodyPr/>
                        <a:lstStyle/>
                        <a:p>
                          <a:pPr indent="0" algn="ctr">
                            <a:lnSpc>
                              <a:spcPts val="1345"/>
                            </a:lnSpc>
                          </a:pPr>
                          <a:endParaRPr lang="en-US" sz="2400" i="1" dirty="0">
                            <a:solidFill>
                              <a:srgbClr val="2926BF"/>
                            </a:solidFill>
                            <a:latin typeface="Calisto MT" panose="0204060305050503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31442">
                    <a:tc>
                      <a:txBody>
                        <a:bodyPr/>
                        <a:lstStyle/>
                        <a:p>
                          <a:endParaRPr sz="2400" dirty="0">
                            <a:latin typeface="Calisto MT" panose="0204060305050503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mc:Choice>
        <mc:Fallback xmlns="">
          <p:graphicFrame>
            <p:nvGraphicFramePr>
              <p:cNvPr id="2" name="表格 1"/>
              <p:cNvGraphicFramePr>
                <a:graphicFrameLocks noGrp="1"/>
              </p:cNvGraphicFramePr>
              <p:nvPr/>
            </p:nvGraphicFramePr>
            <p:xfrm>
              <a:off x="646290" y="863099"/>
              <a:ext cx="10449232" cy="5665569"/>
            </p:xfrm>
            <a:graphic>
              <a:graphicData uri="http://schemas.openxmlformats.org/drawingml/2006/table">
                <a:tbl>
                  <a:tblPr/>
                  <a:tblGrid>
                    <a:gridCol w="10449232"/>
                  </a:tblGrid>
                  <a:tr h="382905">
                    <a:tc>
                      <a:txBody>
                        <a:bodyPr/>
                        <a:lstStyle/>
                        <a:p>
                          <a:endParaRPr lang="zh-CN"/>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1"/>
                        </a:blipFill>
                      </a:tcPr>
                    </a:tc>
                  </a:tr>
                  <a:tr h="382771">
                    <a:tc>
                      <a:txBody>
                        <a:bodyPr/>
                        <a:lstStyle/>
                        <a:p>
                          <a:pPr marL="1271905" indent="0"/>
                          <a:endParaRPr lang="en-US" sz="2400" i="1" dirty="0">
                            <a:solidFill>
                              <a:srgbClr val="2926BF"/>
                            </a:solidFill>
                            <a:latin typeface="Times New Roman" panose="02020603050405020304" pitchFamily="18" charset="0"/>
                            <a:cs typeface="Times New Roman" panose="02020603050405020304" pitchFamily="18" charset="0"/>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664303">
                    <a:tc>
                      <a:txBody>
                        <a:bodyPr/>
                        <a:lstStyle/>
                        <a:p>
                          <a:pPr marL="1652905" indent="0"/>
                          <a:endParaRPr lang="en-US" sz="2400" i="1" baseline="30000" dirty="0">
                            <a:solidFill>
                              <a:srgbClr val="2926BF"/>
                            </a:solidFill>
                            <a:latin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31495">
                    <a:tc>
                      <a:txBody>
                        <a:bodyPr/>
                        <a:lstStyle/>
                        <a:p>
                          <a:endParaRPr lang="zh-CN"/>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1"/>
                        </a:blipFill>
                      </a:tcPr>
                    </a:tc>
                  </a:tr>
                  <a:tr h="398581">
                    <a:tc>
                      <a:txBody>
                        <a:bodyPr/>
                        <a:lstStyle/>
                        <a:p>
                          <a:pPr marL="1030605" indent="0"/>
                          <a:endParaRPr lang="en-US" sz="2400" baseline="30000" dirty="0">
                            <a:solidFill>
                              <a:srgbClr val="2926BF"/>
                            </a:solidFill>
                            <a:latin typeface="Times New Roman" panose="02020603050405020304" pitchFamily="18" charset="0"/>
                            <a:cs typeface="Times New Roman" panose="02020603050405020304" pitchFamily="18" charset="0"/>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31442">
                    <a:tc>
                      <a:txBody>
                        <a:bodyPr/>
                        <a:lstStyle/>
                        <a:p>
                          <a:pPr marL="916305" indent="0"/>
                          <a:endParaRPr lang="en-US" sz="2400" i="1" dirty="0">
                            <a:solidFill>
                              <a:srgbClr val="2926BF"/>
                            </a:solidFill>
                            <a:latin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82771">
                    <a:tc>
                      <a:txBody>
                        <a:bodyPr/>
                        <a:lstStyle/>
                        <a:p>
                          <a:pPr indent="165100"/>
                          <a:r>
                            <a:rPr lang="en-US" sz="2400" dirty="0">
                              <a:latin typeface="Times New Roman" panose="02020603050405020304" pitchFamily="18" charset="0"/>
                              <a:cs typeface="Times New Roman" panose="02020603050405020304" pitchFamily="18" charset="0"/>
                            </a:rPr>
                            <a:t>In this way we find</a:t>
                          </a:r>
                          <a:endParaRPr lang="en-US" sz="2400" dirty="0">
                            <a:latin typeface="Times New Roman" panose="02020603050405020304" pitchFamily="18" charset="0"/>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98581">
                    <a:tc>
                      <a:txBody>
                        <a:bodyPr/>
                        <a:lstStyle/>
                        <a:p>
                          <a:pPr marL="1271905" indent="0"/>
                          <a:endParaRPr lang="en-US" sz="2400" i="1" dirty="0">
                            <a:solidFill>
                              <a:srgbClr val="2926BF"/>
                            </a:solidFill>
                            <a:latin typeface="Times New Roman" panose="02020603050405020304" pitchFamily="18" charset="0"/>
                            <a:cs typeface="Times New Roman" panose="02020603050405020304" pitchFamily="18" charset="0"/>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98581">
                    <a:tc>
                      <a:txBody>
                        <a:bodyPr/>
                        <a:lstStyle/>
                        <a:p>
                          <a:pPr marL="1538605" indent="0"/>
                          <a:endParaRPr lang="en-US" sz="2400" baseline="30000" dirty="0">
                            <a:solidFill>
                              <a:srgbClr val="2926BF"/>
                            </a:solidFill>
                            <a:latin typeface="Times New Roman" panose="02020603050405020304" pitchFamily="18" charset="0"/>
                            <a:cs typeface="Times New Roman" panose="0202060305040502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664303">
                    <a:tc>
                      <a:txBody>
                        <a:bodyPr/>
                        <a:lstStyle/>
                        <a:p>
                          <a:pPr indent="165100" algn="just"/>
                          <a:r>
                            <a:rPr lang="en-US" sz="2400" dirty="0">
                              <a:latin typeface="Times New Roman" panose="02020603050405020304" pitchFamily="18" charset="0"/>
                              <a:cs typeface="Times New Roman" panose="02020603050405020304" pitchFamily="18" charset="0"/>
                            </a:rPr>
                            <a:t>or, dropping the primes, and remembering that energies will be in </a:t>
                          </a:r>
                          <a:r>
                            <a:rPr lang="en-US" sz="2400" dirty="0" err="1">
                              <a:latin typeface="Times New Roman" panose="02020603050405020304" pitchFamily="18" charset="0"/>
                              <a:cs typeface="Times New Roman" panose="02020603050405020304" pitchFamily="18" charset="0"/>
                            </a:rPr>
                            <a:t>Hartree</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98581">
                    <a:tc>
                      <a:txBody>
                        <a:bodyPr/>
                        <a:lstStyle/>
                        <a:p>
                          <a:pPr indent="0" algn="ctr">
                            <a:lnSpc>
                              <a:spcPts val="1345"/>
                            </a:lnSpc>
                          </a:pPr>
                          <a:endParaRPr lang="en-US" sz="2400" i="1" dirty="0">
                            <a:solidFill>
                              <a:srgbClr val="2926BF"/>
                            </a:solidFill>
                            <a:latin typeface="Calisto MT" panose="0204060305050503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31442">
                    <a:tc>
                      <a:txBody>
                        <a:bodyPr/>
                        <a:lstStyle/>
                        <a:p>
                          <a:endParaRPr sz="2400" dirty="0">
                            <a:latin typeface="Calisto MT" panose="02040603050505030304" pitchFamily="18"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mc:Fallback>
      </mc:AlternateContent>
      <p:graphicFrame>
        <p:nvGraphicFramePr>
          <p:cNvPr id="3" name="对象 2"/>
          <p:cNvGraphicFramePr>
            <a:graphicFrameLocks noChangeAspect="1"/>
          </p:cNvGraphicFramePr>
          <p:nvPr/>
        </p:nvGraphicFramePr>
        <p:xfrm>
          <a:off x="4064000" y="1333500"/>
          <a:ext cx="4241800" cy="914400"/>
        </p:xfrm>
        <a:graphic>
          <a:graphicData uri="http://schemas.openxmlformats.org/presentationml/2006/ole">
            <mc:AlternateContent xmlns:mc="http://schemas.openxmlformats.org/markup-compatibility/2006">
              <mc:Choice xmlns:v="urn:schemas-microsoft-com:vml" Requires="v">
                <p:oleObj spid="_x0000_s4" name="Equation" r:id="rId2" imgW="50901600" imgH="10972800" progId="Equation.DSMT4">
                  <p:embed/>
                </p:oleObj>
              </mc:Choice>
              <mc:Fallback>
                <p:oleObj name="Equation" r:id="rId2" imgW="50901600" imgH="10972800" progId="Equation.DSMT4">
                  <p:embed/>
                  <p:pic>
                    <p:nvPicPr>
                      <p:cNvPr id="0" name="图片 3"/>
                      <p:cNvPicPr/>
                      <p:nvPr/>
                    </p:nvPicPr>
                    <p:blipFill>
                      <a:blip r:embed="rId3"/>
                      <a:stretch>
                        <a:fillRect/>
                      </a:stretch>
                    </p:blipFill>
                    <p:spPr>
                      <a:xfrm>
                        <a:off x="4064000" y="1333500"/>
                        <a:ext cx="4241800" cy="914400"/>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3044825" y="2878138"/>
          <a:ext cx="7112000" cy="939800"/>
        </p:xfrm>
        <a:graphic>
          <a:graphicData uri="http://schemas.openxmlformats.org/presentationml/2006/ole">
            <mc:AlternateContent xmlns:mc="http://schemas.openxmlformats.org/markup-compatibility/2006">
              <mc:Choice xmlns:v="urn:schemas-microsoft-com:vml" Requires="v">
                <p:oleObj spid="_x0000_s6" name="Equation" r:id="rId4" imgW="85344000" imgH="11277600" progId="Equation.DSMT4">
                  <p:embed/>
                </p:oleObj>
              </mc:Choice>
              <mc:Fallback>
                <p:oleObj name="Equation" r:id="rId4" imgW="85344000" imgH="11277600" progId="Equation.DSMT4">
                  <p:embed/>
                  <p:pic>
                    <p:nvPicPr>
                      <p:cNvPr id="0" name="图片 5"/>
                      <p:cNvPicPr/>
                      <p:nvPr/>
                    </p:nvPicPr>
                    <p:blipFill>
                      <a:blip r:embed="rId5"/>
                      <a:stretch>
                        <a:fillRect/>
                      </a:stretch>
                    </p:blipFill>
                    <p:spPr>
                      <a:xfrm>
                        <a:off x="3044825" y="2878138"/>
                        <a:ext cx="7112000" cy="93980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4327525" y="4016375"/>
          <a:ext cx="4546600" cy="863600"/>
        </p:xfrm>
        <a:graphic>
          <a:graphicData uri="http://schemas.openxmlformats.org/presentationml/2006/ole">
            <mc:AlternateContent xmlns:mc="http://schemas.openxmlformats.org/markup-compatibility/2006">
              <mc:Choice xmlns:v="urn:schemas-microsoft-com:vml" Requires="v">
                <p:oleObj spid="_x0000_s8" name="Equation" r:id="rId6" imgW="54559200" imgH="10363200" progId="Equation.DSMT4">
                  <p:embed/>
                </p:oleObj>
              </mc:Choice>
              <mc:Fallback>
                <p:oleObj name="Equation" r:id="rId6" imgW="54559200" imgH="10363200" progId="Equation.DSMT4">
                  <p:embed/>
                  <p:pic>
                    <p:nvPicPr>
                      <p:cNvPr id="0" name="图片 7"/>
                      <p:cNvPicPr/>
                      <p:nvPr/>
                    </p:nvPicPr>
                    <p:blipFill>
                      <a:blip r:embed="rId7"/>
                      <a:stretch>
                        <a:fillRect/>
                      </a:stretch>
                    </p:blipFill>
                    <p:spPr>
                      <a:xfrm>
                        <a:off x="4327525" y="4016375"/>
                        <a:ext cx="4546600" cy="86360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4356206" y="5563894"/>
          <a:ext cx="3657600" cy="862013"/>
        </p:xfrm>
        <a:graphic>
          <a:graphicData uri="http://schemas.openxmlformats.org/presentationml/2006/ole">
            <mc:AlternateContent xmlns:mc="http://schemas.openxmlformats.org/markup-compatibility/2006">
              <mc:Choice xmlns:v="urn:schemas-microsoft-com:vml" Requires="v">
                <p:oleObj spid="_x0000_s10" name="Equation" r:id="rId8" imgW="43891200" imgH="10363200" progId="Equation.DSMT4">
                  <p:embed/>
                </p:oleObj>
              </mc:Choice>
              <mc:Fallback>
                <p:oleObj name="Equation" r:id="rId8" imgW="43891200" imgH="10363200" progId="Equation.DSMT4">
                  <p:embed/>
                  <p:pic>
                    <p:nvPicPr>
                      <p:cNvPr id="0" name="图片 9"/>
                      <p:cNvPicPr/>
                      <p:nvPr/>
                    </p:nvPicPr>
                    <p:blipFill>
                      <a:blip r:embed="rId9"/>
                      <a:stretch>
                        <a:fillRect/>
                      </a:stretch>
                    </p:blipFill>
                    <p:spPr>
                      <a:xfrm>
                        <a:off x="4356206" y="5563894"/>
                        <a:ext cx="3657600" cy="862013"/>
                      </a:xfrm>
                      <a:prstGeom prst="rect">
                        <a:avLst/>
                      </a:prstGeom>
                    </p:spPr>
                  </p:pic>
                </p:oleObj>
              </mc:Fallback>
            </mc:AlternateContent>
          </a:graphicData>
        </a:graphic>
      </p:graphicFrame>
      <p:sp>
        <p:nvSpPr>
          <p:cNvPr id="11" name="灯片编号占位符 10"/>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570751" y="177844"/>
            <a:ext cx="6602320"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4.3 Wavefunctions for the hydrogen atom </a:t>
            </a:r>
            <a:endParaRPr lang="zh-CN" altLang="en-US" sz="28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矩形 2"/>
              <p:cNvSpPr/>
              <p:nvPr/>
            </p:nvSpPr>
            <p:spPr>
              <a:xfrm>
                <a:off x="265471" y="789546"/>
                <a:ext cx="11717594" cy="5702935"/>
              </a:xfrm>
              <a:prstGeom prst="rect">
                <a:avLst/>
              </a:prstGeom>
            </p:spPr>
            <p:txBody>
              <a:bodyPr wrap="square">
                <a:spAutoFit/>
              </a:bodyPr>
              <a:lstStyle/>
              <a:p>
                <a:pPr>
                  <a:lnSpc>
                    <a:spcPct val="120000"/>
                  </a:lnSpc>
                  <a:spcBef>
                    <a:spcPts val="1200"/>
                  </a:spcBef>
                </a:pPr>
                <a:r>
                  <a:rPr lang="en-US" altLang="zh-CN" sz="2400" dirty="0">
                    <a:latin typeface="Times New Roman" panose="02020603050405020304" pitchFamily="18" charset="0"/>
                    <a:cs typeface="Times New Roman" panose="02020603050405020304" pitchFamily="18" charset="0"/>
                  </a:rPr>
                  <a:t>The Hamiltonian contains the angular variables only as the operator </a:t>
                </a:r>
                <a14:m>
                  <m:oMath xmlns:m="http://schemas.openxmlformats.org/officeDocument/2006/math">
                    <m:r>
                      <a:rPr lang="en-US" altLang="zh-CN" sz="2400" b="1" i="1" dirty="0" smtClean="0">
                        <a:solidFill>
                          <a:srgbClr val="2926BF"/>
                        </a:solidFill>
                        <a:latin typeface="Cambria Math" panose="02040503050406030204" pitchFamily="18" charset="0"/>
                      </a:rPr>
                      <m:t>𝑳</m:t>
                    </m:r>
                  </m:oMath>
                </a14:m>
                <a:r>
                  <a:rPr lang="en-US" altLang="zh-CN" sz="2400" baseline="30000" dirty="0">
                    <a:solidFill>
                      <a:srgbClr val="2926BF"/>
                    </a:solidFill>
                    <a:latin typeface="Times New Roman" panose="02020603050405020304" pitchFamily="18" charset="0"/>
                    <a:cs typeface="Times New Roman" panose="02020603050405020304" pitchFamily="18" charset="0"/>
                  </a:rPr>
                  <a:t>2</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the potential energy depends only on </a:t>
                </a:r>
                <a:r>
                  <a:rPr lang="en-US" altLang="zh-CN" sz="2400" i="1" dirty="0">
                    <a:solidFill>
                      <a:srgbClr val="2926BF"/>
                    </a:solidFill>
                    <a:latin typeface="Times New Roman" panose="02020603050405020304" pitchFamily="18" charset="0"/>
                    <a:cs typeface="Times New Roman" panose="02020603050405020304" pitchFamily="18" charset="0"/>
                  </a:rPr>
                  <a:t>r.</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Knowing that the eigenfunctions of </a:t>
                </a:r>
                <a14:m>
                  <m:oMath xmlns:m="http://schemas.openxmlformats.org/officeDocument/2006/math">
                    <m:r>
                      <a:rPr lang="en-US" altLang="zh-CN" sz="2400" b="1" i="1" dirty="0" smtClean="0">
                        <a:solidFill>
                          <a:srgbClr val="2926BF"/>
                        </a:solidFill>
                        <a:latin typeface="Cambria Math" panose="02040503050406030204" pitchFamily="18" charset="0"/>
                      </a:rPr>
                      <m:t>𝑳</m:t>
                    </m:r>
                  </m:oMath>
                </a14:m>
                <a:r>
                  <a:rPr lang="en-US" altLang="zh-CN" sz="2400" baseline="30000" dirty="0">
                    <a:solidFill>
                      <a:srgbClr val="2926BF"/>
                    </a:solidFill>
                    <a:latin typeface="Times New Roman" panose="02020603050405020304" pitchFamily="18" charset="0"/>
                    <a:cs typeface="Times New Roman" panose="02020603050405020304" pitchFamily="18" charset="0"/>
                  </a:rPr>
                  <a:t>2</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are the spherical harmonics, we look for solutions of the form </a:t>
                </a:r>
                <a14:m>
                  <m:oMath xmlns:m="http://schemas.openxmlformats.org/officeDocument/2006/math">
                    <m:r>
                      <a:rPr lang="zh-CN" altLang="en-US" sz="2400" i="1" dirty="0">
                        <a:solidFill>
                          <a:srgbClr val="2926BF"/>
                        </a:solidFill>
                        <a:latin typeface="Cambria Math" panose="02040503050406030204" pitchFamily="18" charset="0"/>
                      </a:rPr>
                      <m:t>𝜓</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𝑟</m:t>
                    </m:r>
                    <m:r>
                      <a:rPr lang="en-US" altLang="zh-CN" sz="2400" i="1" dirty="0">
                        <a:solidFill>
                          <a:srgbClr val="2926BF"/>
                        </a:solidFill>
                        <a:latin typeface="Cambria Math" panose="02040503050406030204" pitchFamily="18" charset="0"/>
                      </a:rPr>
                      <m:t>,</m:t>
                    </m:r>
                    <m:r>
                      <a:rPr lang="zh-CN" altLang="en-US" sz="2400" i="1" dirty="0">
                        <a:solidFill>
                          <a:srgbClr val="2926BF"/>
                        </a:solidFill>
                        <a:latin typeface="Cambria Math" panose="02040503050406030204" pitchFamily="18" charset="0"/>
                      </a:rPr>
                      <m:t>𝜃</m:t>
                    </m:r>
                    <m:r>
                      <a:rPr lang="en-US" altLang="zh-CN" sz="2400" i="1" dirty="0">
                        <a:solidFill>
                          <a:srgbClr val="2926BF"/>
                        </a:solidFill>
                        <a:latin typeface="Cambria Math" panose="02040503050406030204" pitchFamily="18" charset="0"/>
                      </a:rPr>
                      <m:t>, </m:t>
                    </m:r>
                    <m:r>
                      <a:rPr lang="zh-CN" altLang="en-US" sz="2400" i="1" dirty="0">
                        <a:solidFill>
                          <a:srgbClr val="2926BF"/>
                        </a:solidFill>
                        <a:latin typeface="Cambria Math" panose="02040503050406030204" pitchFamily="18" charset="0"/>
                      </a:rPr>
                      <m:t>𝜑</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𝑅</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𝑟</m:t>
                    </m:r>
                    <m:r>
                      <a:rPr lang="en-US" altLang="zh-CN" sz="2400" i="1" dirty="0">
                        <a:solidFill>
                          <a:srgbClr val="2926BF"/>
                        </a:solidFill>
                        <a:latin typeface="Cambria Math" panose="02040503050406030204" pitchFamily="18" charset="0"/>
                      </a:rPr>
                      <m:t>)</m:t>
                    </m:r>
                    <m:r>
                      <a:rPr lang="en-US" altLang="zh-CN" sz="2400" i="1" dirty="0" err="1">
                        <a:solidFill>
                          <a:srgbClr val="2926BF"/>
                        </a:solidFill>
                        <a:latin typeface="Cambria Math" panose="02040503050406030204" pitchFamily="18" charset="0"/>
                      </a:rPr>
                      <m:t>𝑌</m:t>
                    </m:r>
                    <m:r>
                      <a:rPr lang="en-US" altLang="zh-CN" sz="2400" i="1" baseline="-25000" dirty="0">
                        <a:solidFill>
                          <a:srgbClr val="2926BF"/>
                        </a:solidFill>
                        <a:latin typeface="Cambria Math" panose="02040503050406030204" pitchFamily="18" charset="0"/>
                      </a:rPr>
                      <m:t>𝑙𝑚</m:t>
                    </m:r>
                    <m:r>
                      <a:rPr lang="en-US" altLang="zh-CN" sz="2400" i="1" dirty="0">
                        <a:solidFill>
                          <a:srgbClr val="2926BF"/>
                        </a:solidFill>
                        <a:latin typeface="Cambria Math" panose="02040503050406030204" pitchFamily="18" charset="0"/>
                      </a:rPr>
                      <m:t>(</m:t>
                    </m:r>
                    <m:r>
                      <a:rPr lang="zh-CN" altLang="en-US" sz="2400" i="1" dirty="0">
                        <a:solidFill>
                          <a:srgbClr val="2926BF"/>
                        </a:solidFill>
                        <a:latin typeface="Cambria Math" panose="02040503050406030204" pitchFamily="18" charset="0"/>
                      </a:rPr>
                      <m:t>𝜃</m:t>
                    </m:r>
                    <m:r>
                      <a:rPr lang="en-US" altLang="zh-CN" sz="2400" i="1" dirty="0">
                        <a:solidFill>
                          <a:srgbClr val="2926BF"/>
                        </a:solidFill>
                        <a:latin typeface="Cambria Math" panose="02040503050406030204" pitchFamily="18" charset="0"/>
                      </a:rPr>
                      <m:t>, </m:t>
                    </m:r>
                    <m:r>
                      <a:rPr lang="zh-CN" altLang="en-US" sz="2400" i="1" dirty="0">
                        <a:solidFill>
                          <a:srgbClr val="2926BF"/>
                        </a:solidFill>
                        <a:latin typeface="Cambria Math" panose="02040503050406030204" pitchFamily="18" charset="0"/>
                      </a:rPr>
                      <m:t>𝜑</m:t>
                    </m:r>
                    <m:r>
                      <a:rPr lang="en-US" altLang="zh-CN" sz="2400" i="1" dirty="0">
                        <a:solidFill>
                          <a:srgbClr val="2926BF"/>
                        </a:solidFill>
                        <a:latin typeface="Cambria Math" panose="02040503050406030204" pitchFamily="18" charset="0"/>
                      </a:rPr>
                      <m:t>). </m:t>
                    </m:r>
                  </m:oMath>
                </a14:m>
                <a:r>
                  <a:rPr lang="en-US" altLang="zh-CN" sz="2400" dirty="0">
                    <a:latin typeface="Times New Roman" panose="02020603050405020304" pitchFamily="18" charset="0"/>
                    <a:cs typeface="Times New Roman" panose="02020603050405020304" pitchFamily="18" charset="0"/>
                  </a:rPr>
                  <a:t>We get</a:t>
                </a:r>
                <a:endParaRPr lang="en-US" altLang="zh-CN" sz="2400" dirty="0">
                  <a:latin typeface="Times New Roman" panose="02020603050405020304" pitchFamily="18" charset="0"/>
                  <a:cs typeface="Times New Roman" panose="02020603050405020304" pitchFamily="18" charset="0"/>
                </a:endParaRPr>
              </a:p>
              <a:p>
                <a:pPr>
                  <a:lnSpc>
                    <a:spcPct val="120000"/>
                  </a:lnSpc>
                  <a:spcBef>
                    <a:spcPts val="1200"/>
                  </a:spcBef>
                </a:pPr>
                <a:endParaRPr lang="en-US" altLang="zh-CN" sz="2400" dirty="0">
                  <a:latin typeface="Times New Roman" panose="02020603050405020304" pitchFamily="18" charset="0"/>
                  <a:cs typeface="Times New Roman" panose="02020603050405020304" pitchFamily="18" charset="0"/>
                </a:endParaRPr>
              </a:p>
              <a:p>
                <a:pPr>
                  <a:lnSpc>
                    <a:spcPct val="120000"/>
                  </a:lnSpc>
                  <a:spcBef>
                    <a:spcPts val="1200"/>
                  </a:spcBef>
                </a:pPr>
                <a:endParaRPr lang="en-US" altLang="zh-CN" sz="2400" dirty="0">
                  <a:latin typeface="Times New Roman" panose="02020603050405020304" pitchFamily="18" charset="0"/>
                  <a:cs typeface="Times New Roman" panose="02020603050405020304" pitchFamily="18" charset="0"/>
                </a:endParaRPr>
              </a:p>
              <a:p>
                <a:pPr>
                  <a:lnSpc>
                    <a:spcPct val="120000"/>
                  </a:lnSpc>
                  <a:spcBef>
                    <a:spcPts val="1200"/>
                  </a:spcBef>
                </a:pPr>
                <a:r>
                  <a:rPr lang="en-US" altLang="zh-CN" sz="2400" dirty="0">
                    <a:latin typeface="Times New Roman" panose="02020603050405020304" pitchFamily="18" charset="0"/>
                    <a:cs typeface="Times New Roman" panose="02020603050405020304" pitchFamily="18" charset="0"/>
                  </a:rPr>
                  <a:t>and since </a:t>
                </a:r>
                <a14:m>
                  <m:oMath xmlns:m="http://schemas.openxmlformats.org/officeDocument/2006/math">
                    <m:acc>
                      <m:accPr>
                        <m:ctrlPr>
                          <a:rPr lang="en-US" altLang="zh-CN" sz="2400" b="1" i="1" dirty="0">
                            <a:solidFill>
                              <a:srgbClr val="2926BF"/>
                            </a:solidFill>
                            <a:latin typeface="Cambria Math" panose="02040503050406030204" pitchFamily="18" charset="0"/>
                          </a:rPr>
                        </m:ctrlPr>
                      </m:accPr>
                      <m:e>
                        <m:r>
                          <a:rPr lang="en-US" altLang="zh-CN" sz="2400" b="1" i="1" dirty="0" smtClean="0">
                            <a:solidFill>
                              <a:srgbClr val="2926BF"/>
                            </a:solidFill>
                            <a:latin typeface="Cambria Math" panose="02040503050406030204" pitchFamily="18" charset="0"/>
                          </a:rPr>
                          <m:t>𝑳</m:t>
                        </m:r>
                      </m:e>
                    </m:acc>
                    <m:r>
                      <a:rPr lang="en-US" altLang="zh-CN" sz="2400" i="1" baseline="30000" dirty="0">
                        <a:solidFill>
                          <a:srgbClr val="2926BF"/>
                        </a:solidFill>
                        <a:latin typeface="Cambria Math" panose="02040503050406030204" pitchFamily="18" charset="0"/>
                      </a:rPr>
                      <m:t>2</m:t>
                    </m:r>
                    <m:r>
                      <a:rPr lang="en-US" altLang="zh-CN" sz="2400" i="1" dirty="0">
                        <a:solidFill>
                          <a:srgbClr val="2926BF"/>
                        </a:solidFill>
                        <a:latin typeface="Cambria Math" panose="02040503050406030204" pitchFamily="18" charset="0"/>
                      </a:rPr>
                      <m:t>𝑌</m:t>
                    </m:r>
                    <m:r>
                      <a:rPr lang="en-US" altLang="zh-CN" sz="2400" i="1" baseline="-25000" dirty="0">
                        <a:solidFill>
                          <a:srgbClr val="2926BF"/>
                        </a:solidFill>
                        <a:latin typeface="Cambria Math" panose="02040503050406030204" pitchFamily="18" charset="0"/>
                      </a:rPr>
                      <m:t>𝑙𝑚</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𝑙</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𝑙</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1</m:t>
                    </m:r>
                    <m:r>
                      <a:rPr lang="en-US" altLang="zh-CN" sz="2400" i="1" dirty="0">
                        <a:solidFill>
                          <a:srgbClr val="2926BF"/>
                        </a:solidFill>
                        <a:latin typeface="Cambria Math" panose="02040503050406030204" pitchFamily="18" charset="0"/>
                      </a:rPr>
                      <m:t>)</m:t>
                    </m:r>
                    <m:sSub>
                      <m:sSubPr>
                        <m:ctrlPr>
                          <a:rPr lang="en-US" altLang="zh-CN" sz="2400" i="1" dirty="0" smtClean="0">
                            <a:solidFill>
                              <a:srgbClr val="2926BF"/>
                            </a:solidFill>
                            <a:latin typeface="Cambria Math" panose="02040503050406030204" pitchFamily="18" charset="0"/>
                          </a:rPr>
                        </m:ctrlPr>
                      </m:sSubPr>
                      <m:e>
                        <m:r>
                          <a:rPr lang="en-US" altLang="zh-CN" sz="2400" i="1" dirty="0">
                            <a:solidFill>
                              <a:srgbClr val="2926BF"/>
                            </a:solidFill>
                            <a:latin typeface="Cambria Math" panose="02040503050406030204" pitchFamily="18" charset="0"/>
                          </a:rPr>
                          <m:t>𝑌</m:t>
                        </m:r>
                      </m:e>
                      <m:sub>
                        <m:r>
                          <a:rPr lang="en-US" altLang="zh-CN" sz="2400" b="0" i="1" dirty="0" smtClean="0">
                            <a:solidFill>
                              <a:srgbClr val="2926BF"/>
                            </a:solidFill>
                            <a:latin typeface="Cambria Math" panose="02040503050406030204" pitchFamily="18" charset="0"/>
                          </a:rPr>
                          <m:t>𝑙𝑚</m:t>
                        </m:r>
                      </m:sub>
                    </m:sSub>
                  </m:oMath>
                </a14:m>
                <a:r>
                  <a:rPr lang="en-US" altLang="zh-CN" sz="2400" dirty="0">
                    <a:latin typeface="Times New Roman" panose="02020603050405020304" pitchFamily="18" charset="0"/>
                    <a:cs typeface="Times New Roman" panose="02020603050405020304" pitchFamily="18" charset="0"/>
                  </a:rPr>
                  <a:t> we can cancel out </a:t>
                </a:r>
                <a14:m>
                  <m:oMath xmlns:m="http://schemas.openxmlformats.org/officeDocument/2006/math">
                    <m:r>
                      <a:rPr lang="en-US" altLang="zh-CN" sz="2400" i="1" dirty="0">
                        <a:solidFill>
                          <a:srgbClr val="2926BF"/>
                        </a:solidFill>
                        <a:latin typeface="Cambria Math" panose="02040503050406030204" pitchFamily="18" charset="0"/>
                      </a:rPr>
                      <m:t>𝑌</m:t>
                    </m:r>
                    <m:r>
                      <a:rPr lang="en-US" altLang="zh-CN" sz="2400" i="1" baseline="-25000" dirty="0">
                        <a:solidFill>
                          <a:srgbClr val="2926BF"/>
                        </a:solidFill>
                        <a:latin typeface="Cambria Math" panose="02040503050406030204" pitchFamily="18" charset="0"/>
                      </a:rPr>
                      <m:t>𝑙𝑚</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to get the </a:t>
                </a:r>
                <a:r>
                  <a:rPr lang="en-US" altLang="zh-CN" sz="2400" i="1" dirty="0">
                    <a:solidFill>
                      <a:srgbClr val="B02B08"/>
                    </a:solidFill>
                    <a:latin typeface="Times New Roman" panose="02020603050405020304" pitchFamily="18" charset="0"/>
                    <a:cs typeface="Times New Roman" panose="02020603050405020304" pitchFamily="18" charset="0"/>
                  </a:rPr>
                  <a:t>radial equation</a:t>
                </a:r>
                <a:endParaRPr lang="en-US" altLang="zh-CN" sz="2400" i="1" dirty="0">
                  <a:solidFill>
                    <a:srgbClr val="B02B08"/>
                  </a:solidFill>
                  <a:latin typeface="Times New Roman" panose="02020603050405020304" pitchFamily="18" charset="0"/>
                  <a:cs typeface="Times New Roman" panose="02020603050405020304" pitchFamily="18" charset="0"/>
                </a:endParaRPr>
              </a:p>
              <a:p>
                <a:pPr>
                  <a:lnSpc>
                    <a:spcPct val="120000"/>
                  </a:lnSpc>
                  <a:spcBef>
                    <a:spcPts val="1200"/>
                  </a:spcBef>
                </a:pPr>
                <a:endParaRPr lang="en-US" altLang="zh-CN" sz="2400" i="1" dirty="0">
                  <a:solidFill>
                    <a:srgbClr val="B02B08"/>
                  </a:solidFill>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For each value of </a:t>
                </a:r>
                <a:r>
                  <a:rPr lang="en-US" altLang="zh-CN" sz="2400" i="1" dirty="0">
                    <a:solidFill>
                      <a:srgbClr val="2926BF"/>
                    </a:solidFill>
                    <a:latin typeface="Times New Roman" panose="02020603050405020304" pitchFamily="18" charset="0"/>
                    <a:cs typeface="Times New Roman" panose="02020603050405020304" pitchFamily="18" charset="0"/>
                  </a:rPr>
                  <a:t>l</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(i.e., </a:t>
                </a:r>
                <a:r>
                  <a:rPr lang="en-US" altLang="zh-CN" sz="2400" dirty="0">
                    <a:solidFill>
                      <a:srgbClr val="2926BF"/>
                    </a:solidFill>
                    <a:latin typeface="Times New Roman" panose="02020603050405020304" pitchFamily="18" charset="0"/>
                    <a:cs typeface="Times New Roman" panose="02020603050405020304" pitchFamily="18" charset="0"/>
                  </a:rPr>
                  <a:t>0, 1, 2, </a:t>
                </a:r>
                <a:r>
                  <a:rPr lang="en-US" altLang="zh-CN" sz="2400" dirty="0">
                    <a:latin typeface="Times New Roman" panose="02020603050405020304" pitchFamily="18" charset="0"/>
                    <a:cs typeface="Times New Roman" panose="02020603050405020304" pitchFamily="18" charset="0"/>
                  </a:rPr>
                  <a:t>...) there are infinitely many solutions of this equation. They are conventionally labelled by the </a:t>
                </a:r>
                <a:r>
                  <a:rPr lang="en-US" altLang="zh-CN" sz="2400" i="1" dirty="0">
                    <a:solidFill>
                      <a:srgbClr val="B02B08"/>
                    </a:solidFill>
                    <a:latin typeface="Times New Roman" panose="02020603050405020304" pitchFamily="18" charset="0"/>
                    <a:cs typeface="Times New Roman" panose="02020603050405020304" pitchFamily="18" charset="0"/>
                  </a:rPr>
                  <a:t>principal quantum number </a:t>
                </a:r>
                <a:r>
                  <a:rPr lang="en-US" altLang="zh-CN" sz="2400" i="1" dirty="0">
                    <a:solidFill>
                      <a:srgbClr val="2926BF"/>
                    </a:solidFill>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which runs from </a:t>
                </a:r>
                <a14:m>
                  <m:oMath xmlns:m="http://schemas.openxmlformats.org/officeDocument/2006/math">
                    <m:r>
                      <a:rPr lang="en-US" altLang="zh-CN" sz="2400" i="1" dirty="0">
                        <a:solidFill>
                          <a:srgbClr val="2926BF"/>
                        </a:solidFill>
                        <a:latin typeface="Cambria Math" panose="02040503050406030204" pitchFamily="18" charset="0"/>
                      </a:rPr>
                      <m:t>𝑙</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1</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to </a:t>
                </a:r>
                <a14:m>
                  <m:oMath xmlns:m="http://schemas.openxmlformats.org/officeDocument/2006/math">
                    <m:r>
                      <a:rPr lang="en-US" altLang="zh-CN" sz="2400" i="1" dirty="0">
                        <a:solidFill>
                          <a:srgbClr val="2926BF"/>
                        </a:solidFill>
                        <a:latin typeface="Cambria Math" panose="02040503050406030204" pitchFamily="18" charset="0"/>
                        <a:ea typeface="Cambria Math" panose="02040503050406030204" pitchFamily="18" charset="0"/>
                      </a:rPr>
                      <m:t>∞</m:t>
                    </m:r>
                  </m:oMath>
                </a14:m>
                <a:r>
                  <a:rPr lang="en-US" altLang="zh-CN" sz="2400" dirty="0">
                    <a:solidFill>
                      <a:srgbClr val="2926BF"/>
                    </a:solidFill>
                    <a:latin typeface="Times New Roman" panose="02020603050405020304" pitchFamily="18" charset="0"/>
                    <a:cs typeface="Times New Roman" panose="02020603050405020304" pitchFamily="18" charset="0"/>
                  </a:rPr>
                  <a:t>.</a:t>
                </a:r>
                <a:endParaRPr lang="en-US" altLang="zh-CN" sz="2400" dirty="0">
                  <a:solidFill>
                    <a:srgbClr val="2926BF"/>
                  </a:solidFill>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The quantum number </a:t>
                </a:r>
                <a:r>
                  <a:rPr lang="en-US" altLang="zh-CN" sz="2400" i="1" dirty="0">
                    <a:solidFill>
                      <a:srgbClr val="2926BF"/>
                    </a:solidFill>
                    <a:latin typeface="Times New Roman" panose="02020603050405020304" pitchFamily="18" charset="0"/>
                    <a:cs typeface="Times New Roman" panose="02020603050405020304" pitchFamily="18" charset="0"/>
                  </a:rPr>
                  <a:t>m</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has dropped out of this </a:t>
                </a:r>
                <a:r>
                  <a:rPr lang="en-US" altLang="zh-CN" sz="2400" dirty="0" err="1">
                    <a:latin typeface="Times New Roman" panose="02020603050405020304" pitchFamily="18" charset="0"/>
                    <a:cs typeface="Times New Roman" panose="02020603050405020304" pitchFamily="18" charset="0"/>
                  </a:rPr>
                  <a:t>eq</a:t>
                </a:r>
                <a:r>
                  <a:rPr lang="en-US" altLang="zh-CN" sz="2400" dirty="0">
                    <a:latin typeface="Times New Roman" panose="02020603050405020304" pitchFamily="18" charset="0"/>
                    <a:cs typeface="Times New Roman" panose="02020603050405020304" pitchFamily="18" charset="0"/>
                  </a:rPr>
                  <a:t>, so the radial wavefunctions don't depend on </a:t>
                </a:r>
                <a:r>
                  <a:rPr lang="en-US" altLang="zh-CN" sz="2400" i="1" dirty="0">
                    <a:solidFill>
                      <a:srgbClr val="2926BF"/>
                    </a:solidFill>
                    <a:latin typeface="Times New Roman" panose="02020603050405020304" pitchFamily="18" charset="0"/>
                    <a:cs typeface="Times New Roman" panose="02020603050405020304" pitchFamily="18" charset="0"/>
                  </a:rPr>
                  <a:t>m.</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We label them </a:t>
                </a:r>
                <a:r>
                  <a:rPr lang="en-US" altLang="zh-CN" sz="2400" i="1" dirty="0" err="1">
                    <a:solidFill>
                      <a:srgbClr val="2926BF"/>
                    </a:solidFill>
                    <a:latin typeface="Times New Roman" panose="02020603050405020304" pitchFamily="18" charset="0"/>
                    <a:cs typeface="Times New Roman" panose="02020603050405020304" pitchFamily="18" charset="0"/>
                  </a:rPr>
                  <a:t>R</a:t>
                </a:r>
                <a:r>
                  <a:rPr lang="en-US" altLang="zh-CN" sz="2400" i="1" baseline="-25000" dirty="0" err="1">
                    <a:solidFill>
                      <a:srgbClr val="2926BF"/>
                    </a:solidFill>
                    <a:latin typeface="Times New Roman" panose="02020603050405020304" pitchFamily="18" charset="0"/>
                    <a:cs typeface="Times New Roman" panose="02020603050405020304" pitchFamily="18" charset="0"/>
                  </a:rPr>
                  <a:t>nl</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the complete wavefunction is </a:t>
                </a:r>
                <a14:m>
                  <m:oMath xmlns:m="http://schemas.openxmlformats.org/officeDocument/2006/math">
                    <m:r>
                      <a:rPr lang="zh-CN" altLang="en-US" sz="2400" i="1" dirty="0">
                        <a:solidFill>
                          <a:srgbClr val="2926BF"/>
                        </a:solidFill>
                        <a:latin typeface="Cambria Math" panose="02040503050406030204" pitchFamily="18" charset="0"/>
                      </a:rPr>
                      <m:t>𝜓</m:t>
                    </m:r>
                    <m:r>
                      <a:rPr lang="en-US" altLang="zh-CN" sz="2400" i="1" baseline="-25000" dirty="0">
                        <a:solidFill>
                          <a:srgbClr val="2926BF"/>
                        </a:solidFill>
                        <a:latin typeface="Cambria Math" panose="02040503050406030204" pitchFamily="18" charset="0"/>
                      </a:rPr>
                      <m:t>𝑛𝑙𝑚</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𝑅</m:t>
                    </m:r>
                    <m:r>
                      <a:rPr lang="en-US" altLang="zh-CN" sz="2400" i="1" baseline="-25000" dirty="0">
                        <a:solidFill>
                          <a:srgbClr val="2926BF"/>
                        </a:solidFill>
                        <a:latin typeface="Cambria Math" panose="02040503050406030204" pitchFamily="18" charset="0"/>
                      </a:rPr>
                      <m:t>𝑛𝑙</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𝑟</m:t>
                    </m:r>
                    <m:r>
                      <a:rPr lang="en-US" altLang="zh-CN" sz="2400" i="1" dirty="0">
                        <a:solidFill>
                          <a:srgbClr val="2926BF"/>
                        </a:solidFill>
                        <a:latin typeface="Cambria Math" panose="02040503050406030204" pitchFamily="18" charset="0"/>
                      </a:rPr>
                      <m:t>)</m:t>
                    </m:r>
                    <m:r>
                      <a:rPr lang="en-US" altLang="zh-CN" sz="2400" i="1" dirty="0" err="1">
                        <a:solidFill>
                          <a:srgbClr val="2926BF"/>
                        </a:solidFill>
                        <a:latin typeface="Cambria Math" panose="02040503050406030204" pitchFamily="18" charset="0"/>
                      </a:rPr>
                      <m:t>𝑌</m:t>
                    </m:r>
                    <m:r>
                      <a:rPr lang="en-US" altLang="zh-CN" sz="2400" i="1" baseline="-25000" dirty="0">
                        <a:solidFill>
                          <a:srgbClr val="2926BF"/>
                        </a:solidFill>
                        <a:latin typeface="Cambria Math" panose="02040503050406030204" pitchFamily="18" charset="0"/>
                      </a:rPr>
                      <m:t>𝑙𝑚</m:t>
                    </m:r>
                    <m:r>
                      <a:rPr lang="en-US" altLang="zh-CN" sz="2400" i="1" dirty="0">
                        <a:solidFill>
                          <a:srgbClr val="2926BF"/>
                        </a:solidFill>
                        <a:latin typeface="Cambria Math" panose="02040503050406030204" pitchFamily="18" charset="0"/>
                      </a:rPr>
                      <m:t>(</m:t>
                    </m:r>
                    <m:r>
                      <a:rPr lang="zh-CN" altLang="en-US" sz="2400" i="1" dirty="0">
                        <a:solidFill>
                          <a:srgbClr val="2926BF"/>
                        </a:solidFill>
                        <a:latin typeface="Cambria Math" panose="02040503050406030204" pitchFamily="18" charset="0"/>
                      </a:rPr>
                      <m:t>𝜃</m:t>
                    </m:r>
                    <m:r>
                      <a:rPr lang="en-US" altLang="zh-CN" sz="2400" i="1" dirty="0">
                        <a:solidFill>
                          <a:srgbClr val="2926BF"/>
                        </a:solidFill>
                        <a:latin typeface="Cambria Math" panose="02040503050406030204" pitchFamily="18" charset="0"/>
                      </a:rPr>
                      <m:t>, </m:t>
                    </m:r>
                    <m:r>
                      <a:rPr lang="zh-CN" altLang="en-US" sz="2400" i="1" dirty="0">
                        <a:solidFill>
                          <a:srgbClr val="2926BF"/>
                        </a:solidFill>
                        <a:latin typeface="Cambria Math" panose="02040503050406030204" pitchFamily="18" charset="0"/>
                      </a:rPr>
                      <m:t>𝜑</m:t>
                    </m:r>
                    <m:r>
                      <a:rPr lang="en-US" altLang="zh-CN" sz="2400" i="1" dirty="0">
                        <a:solidFill>
                          <a:srgbClr val="2926BF"/>
                        </a:solidFill>
                        <a:latin typeface="Cambria Math" panose="02040503050406030204" pitchFamily="18" charset="0"/>
                      </a:rPr>
                      <m:t>)</m:t>
                    </m:r>
                  </m:oMath>
                </a14:m>
                <a:r>
                  <a:rPr lang="en-US" altLang="zh-CN" sz="2400" dirty="0">
                    <a:solidFill>
                      <a:srgbClr val="2926BF"/>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dirty="0">
                  <a:solidFill>
                    <a:srgbClr val="2926BF"/>
                  </a:solidFill>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265471" y="789546"/>
                <a:ext cx="11717594" cy="5702935"/>
              </a:xfrm>
              <a:prstGeom prst="rect">
                <a:avLst/>
              </a:prstGeom>
              <a:blipFill rotWithShape="1">
                <a:blip r:embed="rId1"/>
                <a:stretch>
                  <a:fillRect t="-539" r="5" b="4"/>
                </a:stretch>
              </a:blipFill>
            </p:spPr>
            <p:txBody>
              <a:bodyPr/>
              <a:lstStyle/>
              <a:p>
                <a:r>
                  <a:rPr lang="zh-CN" altLang="en-US">
                    <a:noFill/>
                  </a:rPr>
                  <a:t> </a:t>
                </a:r>
              </a:p>
            </p:txBody>
          </p:sp>
        </mc:Fallback>
      </mc:AlternateContent>
      <p:graphicFrame>
        <p:nvGraphicFramePr>
          <p:cNvPr id="4" name="对象 3"/>
          <p:cNvGraphicFramePr>
            <a:graphicFrameLocks noChangeAspect="1"/>
          </p:cNvGraphicFramePr>
          <p:nvPr/>
        </p:nvGraphicFramePr>
        <p:xfrm>
          <a:off x="3238500" y="2312988"/>
          <a:ext cx="6299200" cy="1016000"/>
        </p:xfrm>
        <a:graphic>
          <a:graphicData uri="http://schemas.openxmlformats.org/presentationml/2006/ole">
            <mc:AlternateContent xmlns:mc="http://schemas.openxmlformats.org/markup-compatibility/2006">
              <mc:Choice xmlns:v="urn:schemas-microsoft-com:vml" Requires="v">
                <p:oleObj spid="_x0000_s5" name="Equation" r:id="rId2" imgW="75590400" imgH="12192000" progId="Equation.DSMT4">
                  <p:embed/>
                </p:oleObj>
              </mc:Choice>
              <mc:Fallback>
                <p:oleObj name="Equation" r:id="rId2" imgW="75590400" imgH="12192000" progId="Equation.DSMT4">
                  <p:embed/>
                  <p:pic>
                    <p:nvPicPr>
                      <p:cNvPr id="0" name="图片 4"/>
                      <p:cNvPicPr/>
                      <p:nvPr/>
                    </p:nvPicPr>
                    <p:blipFill>
                      <a:blip r:embed="rId3"/>
                      <a:stretch>
                        <a:fillRect/>
                      </a:stretch>
                    </p:blipFill>
                    <p:spPr>
                      <a:xfrm>
                        <a:off x="3238500" y="2312988"/>
                        <a:ext cx="6299200" cy="101600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3732220" y="3924688"/>
          <a:ext cx="4723920" cy="838080"/>
        </p:xfrm>
        <a:graphic>
          <a:graphicData uri="http://schemas.openxmlformats.org/presentationml/2006/ole">
            <mc:AlternateContent xmlns:mc="http://schemas.openxmlformats.org/markup-compatibility/2006">
              <mc:Choice xmlns:v="urn:schemas-microsoft-com:vml" Requires="v">
                <p:oleObj spid="_x0000_s7" name="Equation" r:id="rId4" imgW="56692800" imgH="10058400" progId="Equation.DSMT4">
                  <p:embed/>
                </p:oleObj>
              </mc:Choice>
              <mc:Fallback>
                <p:oleObj name="Equation" r:id="rId4" imgW="56692800" imgH="10058400" progId="Equation.DSMT4">
                  <p:embed/>
                  <p:pic>
                    <p:nvPicPr>
                      <p:cNvPr id="0" name="图片 6"/>
                      <p:cNvPicPr/>
                      <p:nvPr/>
                    </p:nvPicPr>
                    <p:blipFill>
                      <a:blip r:embed="rId5"/>
                      <a:stretch>
                        <a:fillRect/>
                      </a:stretch>
                    </p:blipFill>
                    <p:spPr>
                      <a:xfrm>
                        <a:off x="3732220" y="3924688"/>
                        <a:ext cx="4723920" cy="838080"/>
                      </a:xfrm>
                      <a:prstGeom prst="rect">
                        <a:avLst/>
                      </a:prstGeom>
                    </p:spPr>
                  </p:pic>
                </p:oleObj>
              </mc:Fallback>
            </mc:AlternateContent>
          </a:graphicData>
        </a:graphic>
      </p:graphicFrame>
      <p:sp>
        <p:nvSpPr>
          <p:cNvPr id="8" name="Line 2"/>
          <p:cNvSpPr>
            <a:spLocks noChangeShapeType="1"/>
          </p:cNvSpPr>
          <p:nvPr/>
        </p:nvSpPr>
        <p:spPr bwMode="auto">
          <a:xfrm flipV="1">
            <a:off x="35394" y="825831"/>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9" name="灯片编号占位符 8"/>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178311" y="261149"/>
            <a:ext cx="3631122" cy="523220"/>
          </a:xfrm>
          <a:prstGeom prst="rect">
            <a:avLst/>
          </a:prstGeom>
        </p:spPr>
        <p:txBody>
          <a:bodyPr wrap="none">
            <a:spAutoFit/>
          </a:bodyPr>
          <a:lstStyle/>
          <a:p>
            <a:pPr algn="ctr"/>
            <a:r>
              <a:rPr lang="en-US" altLang="zh-CN" sz="2800" b="1" dirty="0">
                <a:latin typeface="Times New Roman" panose="02020603050405020304" pitchFamily="18" charset="0"/>
                <a:cs typeface="Times New Roman" panose="02020603050405020304" pitchFamily="18" charset="0"/>
              </a:rPr>
              <a:t>Solution of R equation</a:t>
            </a:r>
            <a:endParaRPr lang="zh-CN" altLang="en-US" sz="2800" b="1" dirty="0">
              <a:latin typeface="Times New Roman" panose="02020603050405020304" pitchFamily="18" charset="0"/>
              <a:cs typeface="Times New Roman" panose="02020603050405020304" pitchFamily="18" charset="0"/>
            </a:endParaRPr>
          </a:p>
        </p:txBody>
      </p:sp>
      <p:graphicFrame>
        <p:nvGraphicFramePr>
          <p:cNvPr id="3" name="对象 2"/>
          <p:cNvGraphicFramePr>
            <a:graphicFrameLocks noChangeAspect="1"/>
          </p:cNvGraphicFramePr>
          <p:nvPr/>
        </p:nvGraphicFramePr>
        <p:xfrm>
          <a:off x="3794877" y="941799"/>
          <a:ext cx="4723920" cy="838080"/>
        </p:xfrm>
        <a:graphic>
          <a:graphicData uri="http://schemas.openxmlformats.org/presentationml/2006/ole">
            <mc:AlternateContent xmlns:mc="http://schemas.openxmlformats.org/markup-compatibility/2006">
              <mc:Choice xmlns:v="urn:schemas-microsoft-com:vml" Requires="v">
                <p:oleObj spid="_x0000_s4" name="Equation" r:id="rId1" imgW="56692800" imgH="10058400" progId="Equation.DSMT4">
                  <p:embed/>
                </p:oleObj>
              </mc:Choice>
              <mc:Fallback>
                <p:oleObj name="Equation" r:id="rId1" imgW="56692800" imgH="10058400" progId="Equation.DSMT4">
                  <p:embed/>
                  <p:pic>
                    <p:nvPicPr>
                      <p:cNvPr id="0" name="图片 3"/>
                      <p:cNvPicPr/>
                      <p:nvPr/>
                    </p:nvPicPr>
                    <p:blipFill>
                      <a:blip r:embed="rId2"/>
                      <a:stretch>
                        <a:fillRect/>
                      </a:stretch>
                    </p:blipFill>
                    <p:spPr>
                      <a:xfrm>
                        <a:off x="3794877" y="941799"/>
                        <a:ext cx="4723920" cy="838080"/>
                      </a:xfrm>
                      <a:prstGeom prst="rect">
                        <a:avLst/>
                      </a:prstGeom>
                    </p:spPr>
                  </p:pic>
                </p:oleObj>
              </mc:Fallback>
            </mc:AlternateContent>
          </a:graphicData>
        </a:graphic>
      </p:graphicFrame>
      <mc:AlternateContent xmlns:mc="http://schemas.openxmlformats.org/markup-compatibility/2006">
        <mc:Choice xmlns:a14="http://schemas.microsoft.com/office/drawing/2010/main" Requires="a14">
          <p:sp>
            <p:nvSpPr>
              <p:cNvPr id="5" name="矩形 4"/>
              <p:cNvSpPr/>
              <p:nvPr/>
            </p:nvSpPr>
            <p:spPr>
              <a:xfrm>
                <a:off x="487925" y="2101439"/>
                <a:ext cx="11216149" cy="3814762"/>
              </a:xfrm>
              <a:prstGeom prst="rect">
                <a:avLst/>
              </a:prstGeom>
            </p:spPr>
            <p:txBody>
              <a:bodyPr wrap="square">
                <a:spAutoFit/>
              </a:bodyPr>
              <a:lstStyle/>
              <a:p>
                <a:r>
                  <a:rPr lang="en-US" altLang="zh-CN" sz="2400" dirty="0">
                    <a:latin typeface="Times New Roman" panose="02020603050405020304" pitchFamily="18" charset="0"/>
                    <a:cs typeface="Times New Roman" panose="02020603050405020304" pitchFamily="18" charset="0"/>
                  </a:rPr>
                  <a:t>In this </a:t>
                </a:r>
                <a:r>
                  <a:rPr lang="en-US" altLang="zh-CN" sz="2400" dirty="0" err="1">
                    <a:latin typeface="Times New Roman" panose="02020603050405020304" pitchFamily="18" charset="0"/>
                    <a:cs typeface="Times New Roman" panose="02020603050405020304" pitchFamily="18" charset="0"/>
                  </a:rPr>
                  <a:t>eq</a:t>
                </a:r>
                <a:r>
                  <a:rPr lang="en-US" altLang="zh-CN" sz="2400" dirty="0">
                    <a:latin typeface="Times New Roman" panose="02020603050405020304" pitchFamily="18" charset="0"/>
                    <a:cs typeface="Times New Roman" panose="02020603050405020304" pitchFamily="18" charset="0"/>
                  </a:rPr>
                  <a:t>, write </a:t>
                </a:r>
                <a14:m>
                  <m:oMath xmlns:m="http://schemas.openxmlformats.org/officeDocument/2006/math">
                    <m:r>
                      <a:rPr lang="zh-CN" altLang="en-US" sz="2400" i="1" dirty="0">
                        <a:solidFill>
                          <a:srgbClr val="2926BF"/>
                        </a:solidFill>
                        <a:latin typeface="Cambria Math" panose="02040503050406030204" pitchFamily="18" charset="0"/>
                      </a:rPr>
                      <m:t>𝜌</m:t>
                    </m:r>
                    <m:r>
                      <a:rPr lang="en-US" altLang="zh-TW" sz="2400" i="1" dirty="0">
                        <a:solidFill>
                          <a:srgbClr val="2926BF"/>
                        </a:solidFill>
                        <a:latin typeface="Cambria Math" panose="02040503050406030204" pitchFamily="18" charset="0"/>
                        <a:ea typeface="Arial" panose="020B0604020202020204"/>
                      </a:rPr>
                      <m:t>=</m:t>
                    </m:r>
                    <m:r>
                      <a:rPr lang="en-US" altLang="zh-CN" sz="2400" i="1" dirty="0" err="1">
                        <a:solidFill>
                          <a:srgbClr val="2926BF"/>
                        </a:solidFill>
                        <a:latin typeface="Cambria Math" panose="02040503050406030204" pitchFamily="18" charset="0"/>
                      </a:rPr>
                      <m:t>𝑍𝑟</m:t>
                    </m:r>
                  </m:oMath>
                </a14:m>
                <a:r>
                  <a:rPr lang="en-US" altLang="zh-CN" sz="2400" i="1" dirty="0">
                    <a:solidFill>
                      <a:srgbClr val="2926BF"/>
                    </a:solidFill>
                    <a:latin typeface="Times New Roman" panose="02020603050405020304" pitchFamily="18" charset="0"/>
                    <a:cs typeface="Times New Roman" panose="02020603050405020304" pitchFamily="18" charset="0"/>
                  </a:rPr>
                  <a:t>.</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Then </a:t>
                </a:r>
                <a14:m>
                  <m:oMath xmlns:m="http://schemas.openxmlformats.org/officeDocument/2006/math">
                    <m:f>
                      <m:fPr>
                        <m:ctrlPr>
                          <a:rPr lang="en-US" altLang="zh-TW" sz="2400" i="1" dirty="0">
                            <a:solidFill>
                              <a:srgbClr val="2926BF"/>
                            </a:solidFill>
                            <a:latin typeface="Cambria Math" panose="02040503050406030204" pitchFamily="18" charset="0"/>
                            <a:ea typeface="MingLiU"/>
                          </a:rPr>
                        </m:ctrlPr>
                      </m:fPr>
                      <m:num>
                        <m:r>
                          <a:rPr lang="zh-TW" altLang="en-US" sz="2400" i="1" dirty="0">
                            <a:solidFill>
                              <a:srgbClr val="2926BF"/>
                            </a:solidFill>
                            <a:latin typeface="Cambria Math" panose="02040503050406030204" pitchFamily="18" charset="0"/>
                            <a:ea typeface="MingLiU"/>
                          </a:rPr>
                          <m:t>𝜕</m:t>
                        </m:r>
                      </m:num>
                      <m:den>
                        <m:r>
                          <a:rPr lang="zh-TW" altLang="en-US" sz="2400" i="1" dirty="0">
                            <a:solidFill>
                              <a:srgbClr val="2926BF"/>
                            </a:solidFill>
                            <a:latin typeface="Cambria Math" panose="02040503050406030204" pitchFamily="18" charset="0"/>
                            <a:ea typeface="MingLiU"/>
                          </a:rPr>
                          <m:t>𝜕</m:t>
                        </m:r>
                        <m:r>
                          <a:rPr lang="en-US" altLang="zh-TW" sz="2400" i="1" dirty="0">
                            <a:solidFill>
                              <a:srgbClr val="2926BF"/>
                            </a:solidFill>
                            <a:latin typeface="Cambria Math" panose="02040503050406030204" pitchFamily="18" charset="0"/>
                            <a:ea typeface="MingLiU"/>
                          </a:rPr>
                          <m:t>𝑟</m:t>
                        </m:r>
                      </m:den>
                    </m:f>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𝑍</m:t>
                    </m:r>
                    <m:f>
                      <m:fPr>
                        <m:ctrlPr>
                          <a:rPr lang="en-US" altLang="zh-TW" sz="2400" i="1" dirty="0">
                            <a:solidFill>
                              <a:srgbClr val="2926BF"/>
                            </a:solidFill>
                            <a:latin typeface="Cambria Math" panose="02040503050406030204" pitchFamily="18" charset="0"/>
                            <a:ea typeface="MingLiU"/>
                          </a:rPr>
                        </m:ctrlPr>
                      </m:fPr>
                      <m:num>
                        <m:r>
                          <a:rPr lang="zh-TW" altLang="en-US" sz="2400" i="1" dirty="0">
                            <a:solidFill>
                              <a:srgbClr val="2926BF"/>
                            </a:solidFill>
                            <a:latin typeface="Cambria Math" panose="02040503050406030204" pitchFamily="18" charset="0"/>
                            <a:ea typeface="MingLiU"/>
                          </a:rPr>
                          <m:t>𝜕</m:t>
                        </m:r>
                      </m:num>
                      <m:den>
                        <m:r>
                          <a:rPr lang="zh-TW" altLang="en-US" sz="2400" i="1" dirty="0">
                            <a:solidFill>
                              <a:srgbClr val="2926BF"/>
                            </a:solidFill>
                            <a:latin typeface="Cambria Math" panose="02040503050406030204" pitchFamily="18" charset="0"/>
                            <a:ea typeface="MingLiU"/>
                          </a:rPr>
                          <m:t>𝜕𝜌</m:t>
                        </m:r>
                      </m:den>
                    </m:f>
                  </m:oMath>
                </a14:m>
                <a:r>
                  <a:rPr lang="en-US" altLang="zh-CN" sz="2400" dirty="0">
                    <a:latin typeface="Times New Roman" panose="02020603050405020304" pitchFamily="18" charset="0"/>
                    <a:cs typeface="Times New Roman" panose="02020603050405020304" pitchFamily="18" charset="0"/>
                  </a:rPr>
                  <a:t> and we get</a:t>
                </a:r>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or</a:t>
                </a:r>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pPr>
                  <a:lnSpc>
                    <a:spcPct val="123000"/>
                  </a:lnSpc>
                  <a:spcAft>
                    <a:spcPts val="405"/>
                  </a:spcAft>
                </a:pPr>
                <a:endParaRPr lang="en-US" altLang="zh-CN" sz="2400" dirty="0">
                  <a:latin typeface="Times New Roman" panose="02020603050405020304" pitchFamily="18" charset="0"/>
                  <a:cs typeface="Times New Roman" panose="02020603050405020304" pitchFamily="18" charset="0"/>
                </a:endParaRPr>
              </a:p>
              <a:p>
                <a:pPr>
                  <a:lnSpc>
                    <a:spcPct val="123000"/>
                  </a:lnSpc>
                  <a:spcAft>
                    <a:spcPts val="405"/>
                  </a:spcAft>
                </a:pPr>
                <a:r>
                  <a:rPr lang="en-US" altLang="zh-CN" sz="2400" dirty="0">
                    <a:latin typeface="Times New Roman" panose="02020603050405020304" pitchFamily="18" charset="0"/>
                    <a:cs typeface="Times New Roman" panose="02020603050405020304" pitchFamily="18" charset="0"/>
                  </a:rPr>
                  <a:t>So the radial equation is the same for all </a:t>
                </a:r>
                <a:r>
                  <a:rPr lang="en-US" altLang="zh-CN" sz="2400" i="1" dirty="0">
                    <a:solidFill>
                      <a:srgbClr val="2926BF"/>
                    </a:solidFill>
                    <a:latin typeface="Times New Roman" panose="02020603050405020304" pitchFamily="18" charset="0"/>
                    <a:cs typeface="Times New Roman" panose="02020603050405020304" pitchFamily="18" charset="0"/>
                  </a:rPr>
                  <a:t>Z</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except that the energies scale with </a:t>
                </a:r>
                <a:r>
                  <a:rPr lang="en-US" altLang="zh-CN" sz="2400" i="1" dirty="0">
                    <a:solidFill>
                      <a:srgbClr val="2926BF"/>
                    </a:solidFill>
                    <a:latin typeface="Times New Roman" panose="02020603050405020304" pitchFamily="18" charset="0"/>
                    <a:cs typeface="Times New Roman" panose="02020603050405020304" pitchFamily="18" charset="0"/>
                  </a:rPr>
                  <a:t>Z</a:t>
                </a:r>
                <a:r>
                  <a:rPr lang="en-US" altLang="zh-CN" sz="2400" baseline="30000" dirty="0">
                    <a:solidFill>
                      <a:srgbClr val="2926BF"/>
                    </a:solidFill>
                    <a:latin typeface="Times New Roman" panose="02020603050405020304" pitchFamily="18" charset="0"/>
                    <a:cs typeface="Times New Roman" panose="02020603050405020304" pitchFamily="18" charset="0"/>
                  </a:rPr>
                  <a:t>2</a:t>
                </a:r>
                <a:r>
                  <a:rPr lang="en-US" altLang="zh-CN" sz="2400" dirty="0">
                    <a:solidFill>
                      <a:srgbClr val="2926BF"/>
                    </a:solidFill>
                    <a:latin typeface="Times New Roman" panose="02020603050405020304" pitchFamily="18" charset="0"/>
                    <a:cs typeface="Times New Roman" panose="02020603050405020304" pitchFamily="18" charset="0"/>
                  </a:rPr>
                  <a:t>.</a:t>
                </a:r>
                <a:endParaRPr lang="en-US" altLang="zh-CN" sz="2400" dirty="0">
                  <a:solidFill>
                    <a:srgbClr val="2926BF"/>
                  </a:solidFill>
                  <a:latin typeface="Times New Roman" panose="02020603050405020304" pitchFamily="18" charset="0"/>
                  <a:cs typeface="Times New Roman" panose="02020603050405020304" pitchFamily="18" charset="0"/>
                </a:endParaRPr>
              </a:p>
            </p:txBody>
          </p:sp>
        </mc:Choice>
        <mc:Fallback>
          <p:sp>
            <p:nvSpPr>
              <p:cNvPr id="5" name="矩形 4"/>
              <p:cNvSpPr>
                <a:spLocks noRot="1" noChangeAspect="1" noMove="1" noResize="1" noEditPoints="1" noAdjustHandles="1" noChangeArrowheads="1" noChangeShapeType="1" noTextEdit="1"/>
              </p:cNvSpPr>
              <p:nvPr/>
            </p:nvSpPr>
            <p:spPr>
              <a:xfrm>
                <a:off x="487925" y="2101439"/>
                <a:ext cx="11216149" cy="3814762"/>
              </a:xfrm>
              <a:prstGeom prst="rect">
                <a:avLst/>
              </a:prstGeom>
              <a:blipFill rotWithShape="1">
                <a:blip r:embed="rId3"/>
                <a:stretch>
                  <a:fillRect l="-2" t="-6" r="3" b="14"/>
                </a:stretch>
              </a:blipFill>
            </p:spPr>
            <p:txBody>
              <a:bodyPr/>
              <a:lstStyle/>
              <a:p>
                <a:r>
                  <a:rPr lang="zh-CN" altLang="en-US">
                    <a:noFill/>
                  </a:rPr>
                  <a:t> </a:t>
                </a:r>
              </a:p>
            </p:txBody>
          </p:sp>
        </mc:Fallback>
      </mc:AlternateContent>
      <p:graphicFrame>
        <p:nvGraphicFramePr>
          <p:cNvPr id="6" name="对象 5"/>
          <p:cNvGraphicFramePr>
            <a:graphicFrameLocks noChangeAspect="1"/>
          </p:cNvGraphicFramePr>
          <p:nvPr/>
        </p:nvGraphicFramePr>
        <p:xfrm>
          <a:off x="3681347" y="3046649"/>
          <a:ext cx="5358960" cy="914400"/>
        </p:xfrm>
        <a:graphic>
          <a:graphicData uri="http://schemas.openxmlformats.org/presentationml/2006/ole">
            <mc:AlternateContent xmlns:mc="http://schemas.openxmlformats.org/markup-compatibility/2006">
              <mc:Choice xmlns:v="urn:schemas-microsoft-com:vml" Requires="v">
                <p:oleObj spid="_x0000_s7" name="Equation" r:id="rId4" imgW="64312800" imgH="10972800" progId="Equation.DSMT4">
                  <p:embed/>
                </p:oleObj>
              </mc:Choice>
              <mc:Fallback>
                <p:oleObj name="Equation" r:id="rId4" imgW="64312800" imgH="10972800" progId="Equation.DSMT4">
                  <p:embed/>
                  <p:pic>
                    <p:nvPicPr>
                      <p:cNvPr id="0" name="图片 6"/>
                      <p:cNvPicPr/>
                      <p:nvPr/>
                    </p:nvPicPr>
                    <p:blipFill>
                      <a:blip r:embed="rId5"/>
                      <a:stretch>
                        <a:fillRect/>
                      </a:stretch>
                    </p:blipFill>
                    <p:spPr>
                      <a:xfrm>
                        <a:off x="3681347" y="3046649"/>
                        <a:ext cx="5358960" cy="9144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3681347" y="4470084"/>
          <a:ext cx="5155920" cy="888480"/>
        </p:xfrm>
        <a:graphic>
          <a:graphicData uri="http://schemas.openxmlformats.org/presentationml/2006/ole">
            <mc:AlternateContent xmlns:mc="http://schemas.openxmlformats.org/markup-compatibility/2006">
              <mc:Choice xmlns:v="urn:schemas-microsoft-com:vml" Requires="v">
                <p:oleObj spid="_x0000_s9" name="Equation" r:id="rId6" imgW="61874400" imgH="10668000" progId="Equation.DSMT4">
                  <p:embed/>
                </p:oleObj>
              </mc:Choice>
              <mc:Fallback>
                <p:oleObj name="Equation" r:id="rId6" imgW="61874400" imgH="10668000" progId="Equation.DSMT4">
                  <p:embed/>
                  <p:pic>
                    <p:nvPicPr>
                      <p:cNvPr id="0" name="图片 8"/>
                      <p:cNvPicPr/>
                      <p:nvPr/>
                    </p:nvPicPr>
                    <p:blipFill>
                      <a:blip r:embed="rId7"/>
                      <a:stretch>
                        <a:fillRect/>
                      </a:stretch>
                    </p:blipFill>
                    <p:spPr>
                      <a:xfrm>
                        <a:off x="3681347" y="4470084"/>
                        <a:ext cx="5155920" cy="888480"/>
                      </a:xfrm>
                      <a:prstGeom prst="rect">
                        <a:avLst/>
                      </a:prstGeom>
                    </p:spPr>
                  </p:pic>
                </p:oleObj>
              </mc:Fallback>
            </mc:AlternateContent>
          </a:graphicData>
        </a:graphic>
      </p:graphicFrame>
      <p:sp>
        <p:nvSpPr>
          <p:cNvPr id="10"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11" name="灯片编号占位符 10"/>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2"/>
          <p:cNvGraphicFramePr>
            <a:graphicFrameLocks noChangeAspect="1"/>
          </p:cNvGraphicFramePr>
          <p:nvPr/>
        </p:nvGraphicFramePr>
        <p:xfrm>
          <a:off x="966148" y="2574276"/>
          <a:ext cx="3794125" cy="949325"/>
        </p:xfrm>
        <a:graphic>
          <a:graphicData uri="http://schemas.openxmlformats.org/presentationml/2006/ole">
            <mc:AlternateContent xmlns:mc="http://schemas.openxmlformats.org/markup-compatibility/2006">
              <mc:Choice xmlns:v="urn:schemas-microsoft-com:vml" Requires="v">
                <p:oleObj spid="_x0000_s0" name="Equation" r:id="rId1" imgW="43891200" imgH="10972800" progId="Equation.DSMT4">
                  <p:embed/>
                </p:oleObj>
              </mc:Choice>
              <mc:Fallback>
                <p:oleObj name="Equation" r:id="rId1" imgW="43891200" imgH="10972800" progId="Equation.DSMT4">
                  <p:embed/>
                  <p:pic>
                    <p:nvPicPr>
                      <p:cNvPr id="0" name="Object 2"/>
                      <p:cNvPicPr>
                        <a:picLocks noChangeAspect="1" noChangeArrowheads="1"/>
                      </p:cNvPicPr>
                      <p:nvPr/>
                    </p:nvPicPr>
                    <p:blipFill>
                      <a:blip r:embed="rId2"/>
                      <a:srcRect/>
                      <a:stretch>
                        <a:fillRect/>
                      </a:stretch>
                    </p:blipFill>
                    <p:spPr bwMode="auto">
                      <a:xfrm>
                        <a:off x="966148" y="2574276"/>
                        <a:ext cx="3794125" cy="949325"/>
                      </a:xfrm>
                      <a:prstGeom prst="rect">
                        <a:avLst/>
                      </a:prstGeom>
                      <a:noFill/>
                    </p:spPr>
                  </p:pic>
                </p:oleObj>
              </mc:Fallback>
            </mc:AlternateContent>
          </a:graphicData>
        </a:graphic>
      </p:graphicFrame>
      <p:sp>
        <p:nvSpPr>
          <p:cNvPr id="5" name="Text Box 3"/>
          <p:cNvSpPr txBox="1">
            <a:spLocks noChangeArrowheads="1"/>
          </p:cNvSpPr>
          <p:nvPr/>
        </p:nvSpPr>
        <p:spPr bwMode="auto">
          <a:xfrm>
            <a:off x="2215831" y="3843328"/>
            <a:ext cx="7086600" cy="466725"/>
          </a:xfrm>
          <a:prstGeom prst="rect">
            <a:avLst/>
          </a:prstGeom>
          <a:noFill/>
          <a:ln w="9525">
            <a:solidFill>
              <a:schemeClr val="accent2"/>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dirty="0"/>
              <a:t>R</a:t>
            </a:r>
            <a:r>
              <a:rPr lang="en-US" altLang="zh-CN" dirty="0"/>
              <a:t> is called Rydberg constant with the value of 13.6 eV</a:t>
            </a:r>
            <a:endParaRPr lang="en-US" altLang="zh-CN" dirty="0"/>
          </a:p>
        </p:txBody>
      </p:sp>
      <p:sp>
        <p:nvSpPr>
          <p:cNvPr id="6" name="Text Box 5"/>
          <p:cNvSpPr txBox="1">
            <a:spLocks noChangeArrowheads="1"/>
          </p:cNvSpPr>
          <p:nvPr/>
        </p:nvSpPr>
        <p:spPr bwMode="auto">
          <a:xfrm>
            <a:off x="1246973" y="4507170"/>
            <a:ext cx="573365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cs typeface="Times New Roman" panose="02020603050405020304" pitchFamily="18" charset="0"/>
              </a:rPr>
              <a:t>necessary condition:  </a:t>
            </a:r>
            <a:r>
              <a:rPr lang="en-US" altLang="zh-CN" dirty="0">
                <a:solidFill>
                  <a:srgbClr val="FF0000"/>
                </a:solidFill>
                <a:cs typeface="Times New Roman" panose="02020603050405020304" pitchFamily="18" charset="0"/>
                <a:sym typeface="Symbol" panose="05050102010706020507" pitchFamily="18" charset="2"/>
              </a:rPr>
              <a:t>n  </a:t>
            </a:r>
            <a:r>
              <a:rPr lang="en-US" altLang="zh-CN" i="1" dirty="0">
                <a:solidFill>
                  <a:srgbClr val="FF0000"/>
                </a:solidFill>
                <a:cs typeface="Times New Roman" panose="02020603050405020304" pitchFamily="18" charset="0"/>
                <a:sym typeface="Symbol" panose="05050102010706020507" pitchFamily="18" charset="2"/>
              </a:rPr>
              <a:t>l</a:t>
            </a:r>
            <a:r>
              <a:rPr lang="en-US" altLang="zh-CN" dirty="0">
                <a:solidFill>
                  <a:srgbClr val="FF0000"/>
                </a:solidFill>
                <a:cs typeface="Times New Roman" panose="02020603050405020304" pitchFamily="18" charset="0"/>
                <a:sym typeface="Symbol" panose="05050102010706020507" pitchFamily="18" charset="2"/>
              </a:rPr>
              <a:t>+1  </a:t>
            </a:r>
            <a:endParaRPr lang="en-US" altLang="zh-CN" dirty="0">
              <a:solidFill>
                <a:srgbClr val="FF0000"/>
              </a:solidFill>
              <a:cs typeface="Times New Roman" panose="02020603050405020304" pitchFamily="18" charset="0"/>
              <a:sym typeface="Symbol" panose="05050102010706020507" pitchFamily="18" charset="2"/>
            </a:endParaRPr>
          </a:p>
          <a:p>
            <a:pPr eaLnBrk="1" hangingPunct="1"/>
            <a:r>
              <a:rPr lang="en-US" altLang="zh-CN" i="1" dirty="0">
                <a:cs typeface="Times New Roman" panose="02020603050405020304" pitchFamily="18" charset="0"/>
                <a:sym typeface="Symbol" panose="05050102010706020507" pitchFamily="18" charset="2"/>
              </a:rPr>
              <a:t>n = 1, 2, 3,……  </a:t>
            </a:r>
            <a:endParaRPr lang="en-US" altLang="zh-CN" i="1" dirty="0">
              <a:cs typeface="Times New Roman" panose="02020603050405020304" pitchFamily="18" charset="0"/>
              <a:sym typeface="Symbol" panose="05050102010706020507" pitchFamily="18" charset="2"/>
            </a:endParaRPr>
          </a:p>
          <a:p>
            <a:pPr eaLnBrk="1" hangingPunct="1"/>
            <a:r>
              <a:rPr lang="en-US" altLang="zh-CN" i="1" dirty="0">
                <a:cs typeface="Times New Roman" panose="02020603050405020304" pitchFamily="18" charset="0"/>
                <a:sym typeface="Symbol" panose="05050102010706020507" pitchFamily="18" charset="2"/>
              </a:rPr>
              <a:t>l = 0, 1, 2, ……</a:t>
            </a:r>
            <a:endParaRPr lang="en-US" altLang="zh-CN" i="1" dirty="0">
              <a:cs typeface="Times New Roman" panose="02020603050405020304" pitchFamily="18" charset="0"/>
              <a:sym typeface="Symbol" panose="05050102010706020507" pitchFamily="18" charset="2"/>
            </a:endParaRPr>
          </a:p>
        </p:txBody>
      </p:sp>
      <p:sp>
        <p:nvSpPr>
          <p:cNvPr id="7" name="Text Box 15"/>
          <p:cNvSpPr txBox="1">
            <a:spLocks noChangeArrowheads="1"/>
          </p:cNvSpPr>
          <p:nvPr/>
        </p:nvSpPr>
        <p:spPr bwMode="auto">
          <a:xfrm>
            <a:off x="6591216" y="4909781"/>
            <a:ext cx="4877755" cy="461665"/>
          </a:xfrm>
          <a:prstGeom prst="rect">
            <a:avLst/>
          </a:prstGeom>
          <a:noFill/>
          <a:ln w="9525">
            <a:solidFill>
              <a:schemeClr val="hlink"/>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dirty="0">
                <a:latin typeface="Arial" panose="020B0604020202020204" pitchFamily="34" charset="0"/>
                <a:sym typeface="Symbol" panose="05050102010706020507" pitchFamily="18" charset="2"/>
              </a:rPr>
              <a:t>n:   Principal quantum number</a:t>
            </a:r>
            <a:endParaRPr lang="en-US" altLang="zh-CN" i="1" dirty="0">
              <a:sym typeface="Symbol" panose="05050102010706020507" pitchFamily="18" charset="2"/>
            </a:endParaRPr>
          </a:p>
        </p:txBody>
      </p:sp>
      <p:pic>
        <p:nvPicPr>
          <p:cNvPr id="8" name="图片 7"/>
          <p:cNvPicPr>
            <a:picLocks noChangeAspect="1"/>
          </p:cNvPicPr>
          <p:nvPr/>
        </p:nvPicPr>
        <p:blipFill>
          <a:blip r:embed="rId3"/>
          <a:stretch>
            <a:fillRect/>
          </a:stretch>
        </p:blipFill>
        <p:spPr>
          <a:xfrm>
            <a:off x="6320155" y="1150501"/>
            <a:ext cx="5419878" cy="2093099"/>
          </a:xfrm>
          <a:prstGeom prst="rect">
            <a:avLst/>
          </a:prstGeom>
        </p:spPr>
      </p:pic>
      <p:sp>
        <p:nvSpPr>
          <p:cNvPr id="3" name="灯片编号占位符 2"/>
          <p:cNvSpPr>
            <a:spLocks noGrp="1"/>
          </p:cNvSpPr>
          <p:nvPr>
            <p:ph type="sldNum" sz="quarter" idx="12"/>
          </p:nvPr>
        </p:nvSpPr>
        <p:spPr/>
        <p:txBody>
          <a:bodyPr/>
          <a:lstStyle/>
          <a:p>
            <a:fld id="{C29849EA-18B3-4CA7-9730-C7EE55E9A153}" type="slidenum">
              <a:rPr lang="zh-CN" altLang="en-US" smtClean="0"/>
            </a:fld>
            <a:endParaRPr lang="zh-CN" altLang="en-US"/>
          </a:p>
        </p:txBody>
      </p:sp>
      <p:graphicFrame>
        <p:nvGraphicFramePr>
          <p:cNvPr id="2" name="Object 25"/>
          <p:cNvGraphicFramePr>
            <a:graphicFrameLocks noChangeAspect="1"/>
          </p:cNvGraphicFramePr>
          <p:nvPr/>
        </p:nvGraphicFramePr>
        <p:xfrm>
          <a:off x="1155107" y="541541"/>
          <a:ext cx="3175000" cy="431800"/>
        </p:xfrm>
        <a:graphic>
          <a:graphicData uri="http://schemas.openxmlformats.org/presentationml/2006/ole">
            <mc:AlternateContent xmlns:mc="http://schemas.openxmlformats.org/markup-compatibility/2006">
              <mc:Choice xmlns:v="urn:schemas-microsoft-com:vml" Requires="v">
                <p:oleObj spid="_x0000_s9" name="Equation" r:id="rId4" imgW="1586865" imgH="215900" progId="Equation.DSMT4">
                  <p:embed/>
                </p:oleObj>
              </mc:Choice>
              <mc:Fallback>
                <p:oleObj name="Equation" r:id="rId4" imgW="1586865" imgH="215900" progId="Equation.DSMT4">
                  <p:embed/>
                  <p:pic>
                    <p:nvPicPr>
                      <p:cNvPr id="0" name="Object 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5107" y="541541"/>
                        <a:ext cx="31750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文本框 9"/>
          <p:cNvSpPr txBox="1"/>
          <p:nvPr/>
        </p:nvSpPr>
        <p:spPr>
          <a:xfrm>
            <a:off x="966148" y="1187419"/>
            <a:ext cx="5419878" cy="1200329"/>
          </a:xfrm>
          <a:prstGeom prst="rect">
            <a:avLst/>
          </a:prstGeom>
          <a:noFill/>
        </p:spPr>
        <p:txBody>
          <a:bodyPr wrap="square" rtlCol="0">
            <a:spAutoFit/>
          </a:bodyPr>
          <a:lstStyle/>
          <a:p>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principle quantum number</a:t>
            </a:r>
            <a:endParaRPr lang="en-US" altLang="zh-CN" sz="2400" dirty="0">
              <a:latin typeface="Times New Roman" panose="02020603050405020304" pitchFamily="18" charset="0"/>
              <a:cs typeface="Times New Roman" panose="02020603050405020304" pitchFamily="18" charset="0"/>
            </a:endParaRPr>
          </a:p>
          <a:p>
            <a:r>
              <a:rPr lang="en-US" altLang="zh-CN" sz="2400" i="1" dirty="0">
                <a:latin typeface="Times New Roman" panose="02020603050405020304" pitchFamily="18" charset="0"/>
                <a:cs typeface="Times New Roman" panose="02020603050405020304" pitchFamily="18" charset="0"/>
              </a:rPr>
              <a:t>k</a:t>
            </a:r>
            <a:r>
              <a:rPr lang="en-US" altLang="zh-CN" sz="2400" dirty="0">
                <a:latin typeface="Times New Roman" panose="02020603050405020304" pitchFamily="18" charset="0"/>
                <a:cs typeface="Times New Roman" panose="02020603050405020304" pitchFamily="18" charset="0"/>
              </a:rPr>
              <a:t>: radical quantum number</a:t>
            </a:r>
            <a:endParaRPr lang="en-US" altLang="zh-CN" sz="2400" dirty="0">
              <a:latin typeface="Times New Roman" panose="02020603050405020304" pitchFamily="18" charset="0"/>
              <a:cs typeface="Times New Roman" panose="02020603050405020304" pitchFamily="18" charset="0"/>
            </a:endParaRPr>
          </a:p>
          <a:p>
            <a:r>
              <a:rPr lang="en-US" altLang="zh-CN" sz="2400" i="1" dirty="0">
                <a:latin typeface="Times New Roman" panose="02020603050405020304" pitchFamily="18" charset="0"/>
                <a:cs typeface="Times New Roman" panose="02020603050405020304" pitchFamily="18" charset="0"/>
              </a:rPr>
              <a:t>l</a:t>
            </a:r>
            <a:r>
              <a:rPr lang="en-US" altLang="zh-CN" sz="2400" dirty="0">
                <a:latin typeface="Times New Roman" panose="02020603050405020304" pitchFamily="18" charset="0"/>
                <a:cs typeface="Times New Roman" panose="02020603050405020304" pitchFamily="18" charset="0"/>
              </a:rPr>
              <a:t>: angular momentum quantum number</a:t>
            </a:r>
            <a:endParaRPr lang="zh-CN" alt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C29849EA-18B3-4CA7-9730-C7EE55E9A153}" type="slidenum">
              <a:rPr lang="zh-CN" altLang="en-US" smtClean="0"/>
            </a:fld>
            <a:endParaRPr lang="zh-CN" altLang="en-US"/>
          </a:p>
        </p:txBody>
      </p:sp>
      <p:sp>
        <p:nvSpPr>
          <p:cNvPr id="9" name="Rectangle 3"/>
          <p:cNvSpPr>
            <a:spLocks noChangeArrowheads="1"/>
          </p:cNvSpPr>
          <p:nvPr/>
        </p:nvSpPr>
        <p:spPr bwMode="auto">
          <a:xfrm>
            <a:off x="1578077" y="1440426"/>
            <a:ext cx="4724400"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defTabSz="914400" fontAlgn="base">
              <a:spcAft>
                <a:spcPct val="0"/>
              </a:spcAft>
              <a:buFontTx/>
              <a:buNone/>
            </a:pPr>
            <a:endParaRPr lang="zh-CN" altLang="zh-CN" sz="2400">
              <a:solidFill>
                <a:srgbClr val="000000"/>
              </a:solidFill>
              <a:latin typeface="Times New Roman" panose="02020603050405020304" pitchFamily="18" charset="0"/>
              <a:cs typeface="Arial" panose="020B0604020202020204" pitchFamily="34" charset="0"/>
            </a:endParaRPr>
          </a:p>
        </p:txBody>
      </p:sp>
      <p:graphicFrame>
        <p:nvGraphicFramePr>
          <p:cNvPr id="10" name="Object 12"/>
          <p:cNvGraphicFramePr>
            <a:graphicFrameLocks noChangeAspect="1"/>
          </p:cNvGraphicFramePr>
          <p:nvPr/>
        </p:nvGraphicFramePr>
        <p:xfrm>
          <a:off x="3864077" y="2940614"/>
          <a:ext cx="3476625" cy="404812"/>
        </p:xfrm>
        <a:graphic>
          <a:graphicData uri="http://schemas.openxmlformats.org/presentationml/2006/ole">
            <mc:AlternateContent xmlns:mc="http://schemas.openxmlformats.org/markup-compatibility/2006">
              <mc:Choice xmlns:v="urn:schemas-microsoft-com:vml" Requires="v">
                <p:oleObj spid="_x0000_s0" name="Equation" r:id="rId1" imgW="1739900" imgH="203200" progId="Equation.DSMT4">
                  <p:embed/>
                </p:oleObj>
              </mc:Choice>
              <mc:Fallback>
                <p:oleObj name="Equation" r:id="rId1" imgW="1739900" imgH="203200" progId="Equation.DSMT4">
                  <p:embed/>
                  <p:pic>
                    <p:nvPicPr>
                      <p:cNvPr id="0" name="Object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4077" y="2940614"/>
                        <a:ext cx="3476625" cy="404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13"/>
          <p:cNvGraphicFramePr>
            <a:graphicFrameLocks noChangeAspect="1"/>
          </p:cNvGraphicFramePr>
          <p:nvPr/>
        </p:nvGraphicFramePr>
        <p:xfrm>
          <a:off x="4245077" y="1440426"/>
          <a:ext cx="1524000" cy="404813"/>
        </p:xfrm>
        <a:graphic>
          <a:graphicData uri="http://schemas.openxmlformats.org/presentationml/2006/ole">
            <mc:AlternateContent xmlns:mc="http://schemas.openxmlformats.org/markup-compatibility/2006">
              <mc:Choice xmlns:v="urn:schemas-microsoft-com:vml" Requires="v">
                <p:oleObj spid="_x0000_s3" name="Equation" r:id="rId3" imgW="761365" imgH="203200" progId="Equation.DSMT4">
                  <p:embed/>
                </p:oleObj>
              </mc:Choice>
              <mc:Fallback>
                <p:oleObj name="Equation" r:id="rId3" imgW="761365" imgH="203200" progId="Equation.DSMT4">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5077" y="1440426"/>
                        <a:ext cx="1524000" cy="404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14"/>
          <p:cNvGraphicFramePr>
            <a:graphicFrameLocks noChangeAspect="1"/>
          </p:cNvGraphicFramePr>
          <p:nvPr/>
        </p:nvGraphicFramePr>
        <p:xfrm>
          <a:off x="4168877" y="2126226"/>
          <a:ext cx="2133600" cy="404813"/>
        </p:xfrm>
        <a:graphic>
          <a:graphicData uri="http://schemas.openxmlformats.org/presentationml/2006/ole">
            <mc:AlternateContent xmlns:mc="http://schemas.openxmlformats.org/markup-compatibility/2006">
              <mc:Choice xmlns:v="urn:schemas-microsoft-com:vml" Requires="v">
                <p:oleObj spid="_x0000_s4" name="Equation" r:id="rId5" imgW="1066165" imgH="203200" progId="Equation.DSMT4">
                  <p:embed/>
                </p:oleObj>
              </mc:Choice>
              <mc:Fallback>
                <p:oleObj name="Equation" r:id="rId5" imgW="1066165" imgH="203200" progId="Equation.DSMT4">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68877" y="2126226"/>
                        <a:ext cx="2133600" cy="404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15"/>
          <p:cNvGraphicFramePr>
            <a:graphicFrameLocks noChangeAspect="1"/>
          </p:cNvGraphicFramePr>
          <p:nvPr/>
        </p:nvGraphicFramePr>
        <p:xfrm>
          <a:off x="4309370" y="3588774"/>
          <a:ext cx="1852613" cy="860425"/>
        </p:xfrm>
        <a:graphic>
          <a:graphicData uri="http://schemas.openxmlformats.org/presentationml/2006/ole">
            <mc:AlternateContent xmlns:mc="http://schemas.openxmlformats.org/markup-compatibility/2006">
              <mc:Choice xmlns:v="urn:schemas-microsoft-com:vml" Requires="v">
                <p:oleObj spid="_x0000_s5" name="Equation" r:id="rId7" imgW="927100" imgH="431800" progId="Equation.DSMT4">
                  <p:embed/>
                </p:oleObj>
              </mc:Choice>
              <mc:Fallback>
                <p:oleObj name="Equation" r:id="rId7" imgW="927100" imgH="431800" progId="Equation.DSMT4">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09370" y="3588774"/>
                        <a:ext cx="1852613" cy="860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Rectangle 17"/>
          <p:cNvSpPr>
            <a:spLocks noChangeArrowheads="1"/>
          </p:cNvSpPr>
          <p:nvPr/>
        </p:nvSpPr>
        <p:spPr bwMode="auto">
          <a:xfrm>
            <a:off x="1120877" y="1211826"/>
            <a:ext cx="4267200"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lnSpc>
                <a:spcPct val="90000"/>
              </a:lnSpc>
              <a:spcBef>
                <a:spcPct val="20000"/>
              </a:spcBef>
              <a:spcAft>
                <a:spcPct val="0"/>
              </a:spcAft>
            </a:pPr>
            <a:r>
              <a:rPr lang="en-US" altLang="zh-CN" sz="2400">
                <a:solidFill>
                  <a:srgbClr val="000000"/>
                </a:solidFill>
                <a:latin typeface="Times New Roman" panose="02020603050405020304" pitchFamily="18" charset="0"/>
                <a:cs typeface="Arial" panose="020B0604020202020204" pitchFamily="34" charset="0"/>
              </a:rPr>
              <a:t>          Degeneracy</a:t>
            </a:r>
            <a:endParaRPr lang="en-US" altLang="zh-CN" sz="2400">
              <a:solidFill>
                <a:srgbClr val="000000"/>
              </a:solidFill>
              <a:latin typeface="Times New Roman" panose="02020603050405020304" pitchFamily="18"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0-#ppt_w/2"/>
                                          </p:val>
                                        </p:tav>
                                        <p:tav tm="100000">
                                          <p:val>
                                            <p:strVal val="#ppt_x"/>
                                          </p:val>
                                        </p:tav>
                                      </p:tavLst>
                                    </p:anim>
                                    <p:anim calcmode="lin" valueType="num">
                                      <p:cBhvr additive="base">
                                        <p:cTn id="20"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0-#ppt_w/2"/>
                                          </p:val>
                                        </p:tav>
                                        <p:tav tm="100000">
                                          <p:val>
                                            <p:strVal val="#ppt_x"/>
                                          </p:val>
                                        </p:tav>
                                      </p:tavLst>
                                    </p:anim>
                                    <p:anim calcmode="lin" valueType="num">
                                      <p:cBhvr additive="base">
                                        <p:cTn id="26"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0-#ppt_w/2"/>
                                          </p:val>
                                        </p:tav>
                                        <p:tav tm="100000">
                                          <p:val>
                                            <p:strVal val="#ppt_x"/>
                                          </p:val>
                                        </p:tav>
                                      </p:tavLst>
                                    </p:anim>
                                    <p:anim calcmode="lin" valueType="num">
                                      <p:cBhvr additive="base">
                                        <p:cTn id="32"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8"/>
          <p:cNvSpPr>
            <a:spLocks noChangeArrowheads="1"/>
          </p:cNvSpPr>
          <p:nvPr/>
        </p:nvSpPr>
        <p:spPr bwMode="auto">
          <a:xfrm>
            <a:off x="1896853" y="215505"/>
            <a:ext cx="8534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ctr" fontAlgn="base">
              <a:spcBef>
                <a:spcPct val="20000"/>
              </a:spcBef>
              <a:spcAft>
                <a:spcPct val="0"/>
              </a:spcAft>
            </a:pPr>
            <a:r>
              <a:rPr kumimoji="1" lang="en-US" altLang="zh-CN" sz="2800" dirty="0">
                <a:latin typeface="Times New Roman" panose="02020603050405020304" pitchFamily="18" charset="0"/>
                <a:cs typeface="Times New Roman" panose="02020603050405020304" pitchFamily="18" charset="0"/>
              </a:rPr>
              <a:t>The allowed values of quantum numbers</a:t>
            </a:r>
            <a:endParaRPr kumimoji="1" lang="en-US" altLang="zh-CN" sz="2800" dirty="0">
              <a:latin typeface="Times New Roman" panose="02020603050405020304" pitchFamily="18" charset="0"/>
              <a:cs typeface="Times New Roman" panose="02020603050405020304" pitchFamily="18" charset="0"/>
            </a:endParaRPr>
          </a:p>
        </p:txBody>
      </p:sp>
      <p:sp>
        <p:nvSpPr>
          <p:cNvPr id="49" name="Rectangle 2"/>
          <p:cNvSpPr>
            <a:spLocks noChangeArrowheads="1"/>
          </p:cNvSpPr>
          <p:nvPr/>
        </p:nvSpPr>
        <p:spPr bwMode="auto">
          <a:xfrm>
            <a:off x="3835560" y="1154019"/>
            <a:ext cx="4167981" cy="515937"/>
          </a:xfrm>
          <a:prstGeom prst="rect">
            <a:avLst/>
          </a:prstGeom>
          <a:solidFill>
            <a:srgbClr val="66CCFF"/>
          </a:solidFill>
          <a:ln w="12700">
            <a:solidFill>
              <a:srgbClr val="000000"/>
            </a:solidFill>
            <a:miter lim="800000"/>
          </a:ln>
        </p:spPr>
        <p:txBody>
          <a:bodyPr wrap="square" lIns="90488" tIns="44450" rIns="90488" bIns="44450">
            <a:spAutoFit/>
          </a:bodyPr>
          <a:lstStyle/>
          <a:p>
            <a:pPr algn="ctr" eaLnBrk="0" fontAlgn="base" hangingPunct="0">
              <a:spcBef>
                <a:spcPct val="0"/>
              </a:spcBef>
              <a:spcAft>
                <a:spcPct val="0"/>
              </a:spcAft>
            </a:pPr>
            <a:r>
              <a:rPr lang="en-US" altLang="en-US" sz="2800" b="1" dirty="0">
                <a:latin typeface="Arial" panose="020B0604020202020204" pitchFamily="34" charset="0"/>
                <a:ea typeface="宋体" panose="02010600030101010101" pitchFamily="2" charset="-122"/>
              </a:rPr>
              <a:t>Quantum Numbers </a:t>
            </a:r>
            <a:endParaRPr lang="en-US" altLang="en-US" sz="2800" b="1" dirty="0">
              <a:latin typeface="Arial" panose="020B0604020202020204" pitchFamily="34" charset="0"/>
              <a:ea typeface="宋体" panose="02010600030101010101" pitchFamily="2" charset="-122"/>
            </a:endParaRPr>
          </a:p>
        </p:txBody>
      </p:sp>
      <p:sp>
        <p:nvSpPr>
          <p:cNvPr id="50" name="Rectangle 4"/>
          <p:cNvSpPr>
            <a:spLocks noChangeArrowheads="1"/>
          </p:cNvSpPr>
          <p:nvPr/>
        </p:nvSpPr>
        <p:spPr bwMode="auto">
          <a:xfrm>
            <a:off x="1677354" y="1662908"/>
            <a:ext cx="383119"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fontAlgn="base" hangingPunct="0">
              <a:spcBef>
                <a:spcPct val="0"/>
              </a:spcBef>
              <a:spcAft>
                <a:spcPct val="0"/>
              </a:spcAft>
            </a:pPr>
            <a:r>
              <a:rPr lang="en-US" altLang="en-US" sz="2800" b="1">
                <a:latin typeface="Times New Roman" panose="02020603050405020304" pitchFamily="18" charset="0"/>
                <a:ea typeface="宋体" panose="02010600030101010101" pitchFamily="2" charset="-122"/>
              </a:rPr>
              <a:t>n</a:t>
            </a:r>
            <a:endParaRPr lang="en-US" altLang="en-US" sz="2800" b="1">
              <a:latin typeface="Times New Roman" panose="02020603050405020304" pitchFamily="18" charset="0"/>
              <a:ea typeface="宋体" panose="02010600030101010101" pitchFamily="2" charset="-122"/>
            </a:endParaRPr>
          </a:p>
        </p:txBody>
      </p:sp>
      <p:sp>
        <p:nvSpPr>
          <p:cNvPr id="51" name="Rectangle 5"/>
          <p:cNvSpPr>
            <a:spLocks noChangeArrowheads="1"/>
          </p:cNvSpPr>
          <p:nvPr/>
        </p:nvSpPr>
        <p:spPr bwMode="auto">
          <a:xfrm>
            <a:off x="1677353" y="3034508"/>
            <a:ext cx="282130"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fontAlgn="base" hangingPunct="0">
              <a:spcBef>
                <a:spcPct val="0"/>
              </a:spcBef>
              <a:spcAft>
                <a:spcPct val="0"/>
              </a:spcAft>
            </a:pPr>
            <a:r>
              <a:rPr lang="en-US" altLang="en-US" sz="2800" b="1" i="1">
                <a:latin typeface="Times New Roman" panose="02020603050405020304" pitchFamily="18" charset="0"/>
                <a:ea typeface="宋体" panose="02010600030101010101" pitchFamily="2" charset="-122"/>
              </a:rPr>
              <a:t>l</a:t>
            </a:r>
            <a:endParaRPr lang="en-US" altLang="en-US" sz="2800" b="1" i="1">
              <a:latin typeface="Times New Roman" panose="02020603050405020304" pitchFamily="18" charset="0"/>
              <a:ea typeface="宋体" panose="02010600030101010101" pitchFamily="2" charset="-122"/>
            </a:endParaRPr>
          </a:p>
        </p:txBody>
      </p:sp>
      <p:sp>
        <p:nvSpPr>
          <p:cNvPr id="52" name="Rectangle 6"/>
          <p:cNvSpPr>
            <a:spLocks noChangeArrowheads="1"/>
          </p:cNvSpPr>
          <p:nvPr/>
        </p:nvSpPr>
        <p:spPr bwMode="auto">
          <a:xfrm>
            <a:off x="1677353" y="4285458"/>
            <a:ext cx="599524"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fontAlgn="base" hangingPunct="0">
              <a:spcBef>
                <a:spcPct val="0"/>
              </a:spcBef>
              <a:spcAft>
                <a:spcPct val="0"/>
              </a:spcAft>
            </a:pPr>
            <a:r>
              <a:rPr lang="en-US" altLang="en-US" sz="3200" b="1">
                <a:latin typeface="Times New Roman" panose="02020603050405020304" pitchFamily="18" charset="0"/>
                <a:ea typeface="宋体" panose="02010600030101010101" pitchFamily="2" charset="-122"/>
              </a:rPr>
              <a:t>m</a:t>
            </a:r>
            <a:r>
              <a:rPr lang="en-US" altLang="en-US" sz="3200" b="1" i="1" baseline="-25000">
                <a:latin typeface="Times New Roman" panose="02020603050405020304" pitchFamily="18" charset="0"/>
                <a:ea typeface="宋体" panose="02010600030101010101" pitchFamily="2" charset="-122"/>
              </a:rPr>
              <a:t>l</a:t>
            </a:r>
            <a:endParaRPr lang="en-US" altLang="en-US" sz="3200" b="1" i="1" baseline="-25000">
              <a:latin typeface="Times New Roman" panose="02020603050405020304" pitchFamily="18" charset="0"/>
              <a:ea typeface="宋体" panose="02010600030101010101" pitchFamily="2" charset="-122"/>
            </a:endParaRPr>
          </a:p>
        </p:txBody>
      </p:sp>
      <p:sp>
        <p:nvSpPr>
          <p:cNvPr id="53" name="Rectangle 9"/>
          <p:cNvSpPr>
            <a:spLocks noChangeArrowheads="1"/>
          </p:cNvSpPr>
          <p:nvPr/>
        </p:nvSpPr>
        <p:spPr bwMode="auto">
          <a:xfrm>
            <a:off x="3277553" y="1708945"/>
            <a:ext cx="5953554"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fontAlgn="base" hangingPunct="0">
              <a:spcBef>
                <a:spcPct val="0"/>
              </a:spcBef>
              <a:spcAft>
                <a:spcPct val="0"/>
              </a:spcAft>
            </a:pPr>
            <a:r>
              <a:rPr lang="en-US" altLang="en-US" sz="2400" b="1">
                <a:latin typeface="Times New Roman" panose="02020603050405020304" pitchFamily="18" charset="0"/>
                <a:ea typeface="宋体" panose="02010600030101010101" pitchFamily="2" charset="-122"/>
              </a:rPr>
              <a:t>1                  2                      3                           4</a:t>
            </a:r>
            <a:endParaRPr lang="en-US" altLang="en-US" sz="2400" b="1">
              <a:latin typeface="Times New Roman" panose="02020603050405020304" pitchFamily="18" charset="0"/>
              <a:ea typeface="宋体" panose="02010600030101010101" pitchFamily="2" charset="-122"/>
            </a:endParaRPr>
          </a:p>
        </p:txBody>
      </p:sp>
      <p:sp>
        <p:nvSpPr>
          <p:cNvPr id="54" name="Rectangle 10"/>
          <p:cNvSpPr>
            <a:spLocks noChangeArrowheads="1"/>
          </p:cNvSpPr>
          <p:nvPr/>
        </p:nvSpPr>
        <p:spPr bwMode="auto">
          <a:xfrm>
            <a:off x="3277554" y="3080545"/>
            <a:ext cx="7415493"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fontAlgn="base" hangingPunct="0">
              <a:spcBef>
                <a:spcPct val="0"/>
              </a:spcBef>
              <a:spcAft>
                <a:spcPct val="0"/>
              </a:spcAft>
            </a:pPr>
            <a:r>
              <a:rPr lang="en-US" altLang="en-US" sz="2400" b="1">
                <a:latin typeface="Times New Roman" panose="02020603050405020304" pitchFamily="18" charset="0"/>
                <a:ea typeface="宋体" panose="02010600030101010101" pitchFamily="2" charset="-122"/>
              </a:rPr>
              <a:t> 0             0         1         0     1       2        0      1        2        3</a:t>
            </a:r>
            <a:endParaRPr lang="en-US" altLang="en-US" sz="2400" b="1">
              <a:latin typeface="Times New Roman" panose="02020603050405020304" pitchFamily="18" charset="0"/>
              <a:ea typeface="宋体" panose="02010600030101010101" pitchFamily="2" charset="-122"/>
            </a:endParaRPr>
          </a:p>
        </p:txBody>
      </p:sp>
      <p:sp>
        <p:nvSpPr>
          <p:cNvPr id="55" name="Rectangle 11"/>
          <p:cNvSpPr>
            <a:spLocks noChangeArrowheads="1"/>
          </p:cNvSpPr>
          <p:nvPr/>
        </p:nvSpPr>
        <p:spPr bwMode="auto">
          <a:xfrm>
            <a:off x="3277553" y="4452145"/>
            <a:ext cx="7554954" cy="1567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fontAlgn="base" hangingPunct="0">
              <a:spcBef>
                <a:spcPct val="0"/>
              </a:spcBef>
              <a:spcAft>
                <a:spcPct val="0"/>
              </a:spcAft>
            </a:pPr>
            <a:r>
              <a:rPr lang="en-US" altLang="en-US" sz="2400" b="1">
                <a:latin typeface="Times New Roman" panose="02020603050405020304" pitchFamily="18" charset="0"/>
                <a:ea typeface="宋体" panose="02010600030101010101" pitchFamily="2" charset="-122"/>
              </a:rPr>
              <a:t> 0            0    -1  0  +1  0 -1 0 +1            0 -1 0 +1</a:t>
            </a:r>
            <a:endParaRPr lang="en-US" altLang="en-US" sz="2400" b="1">
              <a:latin typeface="Times New Roman" panose="02020603050405020304" pitchFamily="18" charset="0"/>
              <a:ea typeface="宋体" panose="02010600030101010101" pitchFamily="2" charset="-122"/>
            </a:endParaRPr>
          </a:p>
          <a:p>
            <a:pPr eaLnBrk="0" fontAlgn="base" hangingPunct="0">
              <a:spcBef>
                <a:spcPct val="0"/>
              </a:spcBef>
              <a:spcAft>
                <a:spcPct val="0"/>
              </a:spcAft>
            </a:pPr>
            <a:r>
              <a:rPr lang="en-US" altLang="en-US" sz="2400" b="1">
                <a:latin typeface="Times New Roman" panose="02020603050405020304" pitchFamily="18" charset="0"/>
                <a:ea typeface="宋体" panose="02010600030101010101" pitchFamily="2" charset="-122"/>
              </a:rPr>
              <a:t>                                        </a:t>
            </a:r>
            <a:endParaRPr lang="en-US" altLang="en-US" sz="2400" b="1">
              <a:latin typeface="Times New Roman" panose="02020603050405020304" pitchFamily="18" charset="0"/>
              <a:ea typeface="宋体" panose="02010600030101010101" pitchFamily="2" charset="-122"/>
            </a:endParaRPr>
          </a:p>
          <a:p>
            <a:pPr eaLnBrk="0" fontAlgn="base" hangingPunct="0">
              <a:spcBef>
                <a:spcPct val="0"/>
              </a:spcBef>
              <a:spcAft>
                <a:spcPct val="0"/>
              </a:spcAft>
            </a:pPr>
            <a:r>
              <a:rPr lang="en-US" altLang="en-US" sz="2400" b="1">
                <a:latin typeface="Times New Roman" panose="02020603050405020304" pitchFamily="18" charset="0"/>
                <a:ea typeface="宋体" panose="02010600030101010101" pitchFamily="2" charset="-122"/>
              </a:rPr>
              <a:t>                                          -2 -1 0 +1 +2        -2 -1 0 +1 +2</a:t>
            </a:r>
            <a:endParaRPr lang="en-US" altLang="en-US" sz="2400" b="1">
              <a:latin typeface="Times New Roman" panose="02020603050405020304" pitchFamily="18" charset="0"/>
              <a:ea typeface="宋体" panose="02010600030101010101" pitchFamily="2" charset="-122"/>
            </a:endParaRPr>
          </a:p>
          <a:p>
            <a:pPr eaLnBrk="0" fontAlgn="base" hangingPunct="0">
              <a:spcBef>
                <a:spcPct val="0"/>
              </a:spcBef>
              <a:spcAft>
                <a:spcPct val="0"/>
              </a:spcAft>
            </a:pPr>
            <a:r>
              <a:rPr lang="en-US" altLang="en-US" sz="2400" b="1">
                <a:latin typeface="Times New Roman" panose="02020603050405020304" pitchFamily="18" charset="0"/>
                <a:ea typeface="宋体" panose="02010600030101010101" pitchFamily="2" charset="-122"/>
              </a:rPr>
              <a:t>                                                                 -3 -2 -1 0 +1 +2 +3</a:t>
            </a:r>
            <a:endParaRPr lang="en-US" altLang="en-US" sz="2400" b="1">
              <a:latin typeface="Times New Roman" panose="02020603050405020304" pitchFamily="18" charset="0"/>
              <a:ea typeface="宋体" panose="02010600030101010101" pitchFamily="2" charset="-122"/>
            </a:endParaRPr>
          </a:p>
        </p:txBody>
      </p:sp>
      <p:sp>
        <p:nvSpPr>
          <p:cNvPr id="56" name="Line 12"/>
          <p:cNvSpPr>
            <a:spLocks noChangeShapeType="1"/>
          </p:cNvSpPr>
          <p:nvPr/>
        </p:nvSpPr>
        <p:spPr bwMode="auto">
          <a:xfrm>
            <a:off x="3444240" y="2194720"/>
            <a:ext cx="0" cy="8112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57" name="Line 13"/>
          <p:cNvSpPr>
            <a:spLocks noChangeShapeType="1"/>
          </p:cNvSpPr>
          <p:nvPr/>
        </p:nvSpPr>
        <p:spPr bwMode="auto">
          <a:xfrm>
            <a:off x="3444240" y="3566320"/>
            <a:ext cx="0" cy="8874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58" name="Line 14"/>
          <p:cNvSpPr>
            <a:spLocks noChangeShapeType="1"/>
          </p:cNvSpPr>
          <p:nvPr/>
        </p:nvSpPr>
        <p:spPr bwMode="auto">
          <a:xfrm flipH="1">
            <a:off x="4658678" y="2194720"/>
            <a:ext cx="239712" cy="8874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59" name="Line 15"/>
          <p:cNvSpPr>
            <a:spLocks noChangeShapeType="1"/>
          </p:cNvSpPr>
          <p:nvPr/>
        </p:nvSpPr>
        <p:spPr bwMode="auto">
          <a:xfrm>
            <a:off x="4982528" y="2194720"/>
            <a:ext cx="430212" cy="8112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60" name="Line 16"/>
          <p:cNvSpPr>
            <a:spLocks noChangeShapeType="1"/>
          </p:cNvSpPr>
          <p:nvPr/>
        </p:nvSpPr>
        <p:spPr bwMode="auto">
          <a:xfrm>
            <a:off x="4587240" y="3566320"/>
            <a:ext cx="0" cy="8112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61" name="Line 17"/>
          <p:cNvSpPr>
            <a:spLocks noChangeShapeType="1"/>
          </p:cNvSpPr>
          <p:nvPr/>
        </p:nvSpPr>
        <p:spPr bwMode="auto">
          <a:xfrm flipH="1">
            <a:off x="5115878" y="3566320"/>
            <a:ext cx="392112" cy="8112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62" name="Line 18"/>
          <p:cNvSpPr>
            <a:spLocks noChangeShapeType="1"/>
          </p:cNvSpPr>
          <p:nvPr/>
        </p:nvSpPr>
        <p:spPr bwMode="auto">
          <a:xfrm flipH="1">
            <a:off x="5420678" y="3642520"/>
            <a:ext cx="87312" cy="7350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63" name="Line 19"/>
          <p:cNvSpPr>
            <a:spLocks noChangeShapeType="1"/>
          </p:cNvSpPr>
          <p:nvPr/>
        </p:nvSpPr>
        <p:spPr bwMode="auto">
          <a:xfrm>
            <a:off x="5515928" y="3566320"/>
            <a:ext cx="201612" cy="8112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64" name="Line 20"/>
          <p:cNvSpPr>
            <a:spLocks noChangeShapeType="1"/>
          </p:cNvSpPr>
          <p:nvPr/>
        </p:nvSpPr>
        <p:spPr bwMode="auto">
          <a:xfrm flipH="1">
            <a:off x="6335078" y="2194720"/>
            <a:ext cx="392112" cy="8112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65" name="Line 21"/>
          <p:cNvSpPr>
            <a:spLocks noChangeShapeType="1"/>
          </p:cNvSpPr>
          <p:nvPr/>
        </p:nvSpPr>
        <p:spPr bwMode="auto">
          <a:xfrm>
            <a:off x="6797040" y="2194720"/>
            <a:ext cx="0" cy="8112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66" name="Line 22"/>
          <p:cNvSpPr>
            <a:spLocks noChangeShapeType="1"/>
          </p:cNvSpPr>
          <p:nvPr/>
        </p:nvSpPr>
        <p:spPr bwMode="auto">
          <a:xfrm>
            <a:off x="6887528" y="2118520"/>
            <a:ext cx="582612" cy="8874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67" name="Line 23"/>
          <p:cNvSpPr>
            <a:spLocks noChangeShapeType="1"/>
          </p:cNvSpPr>
          <p:nvPr/>
        </p:nvSpPr>
        <p:spPr bwMode="auto">
          <a:xfrm flipH="1">
            <a:off x="6182678" y="3566320"/>
            <a:ext cx="87312" cy="8112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68" name="Line 24"/>
          <p:cNvSpPr>
            <a:spLocks noChangeShapeType="1"/>
          </p:cNvSpPr>
          <p:nvPr/>
        </p:nvSpPr>
        <p:spPr bwMode="auto">
          <a:xfrm flipH="1">
            <a:off x="6792278" y="3566320"/>
            <a:ext cx="87312" cy="8112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69" name="Line 25"/>
          <p:cNvSpPr>
            <a:spLocks noChangeShapeType="1"/>
          </p:cNvSpPr>
          <p:nvPr/>
        </p:nvSpPr>
        <p:spPr bwMode="auto">
          <a:xfrm flipH="1">
            <a:off x="6563678" y="3566320"/>
            <a:ext cx="315912" cy="8112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70" name="Line 26"/>
          <p:cNvSpPr>
            <a:spLocks noChangeShapeType="1"/>
          </p:cNvSpPr>
          <p:nvPr/>
        </p:nvSpPr>
        <p:spPr bwMode="auto">
          <a:xfrm>
            <a:off x="6887528" y="3566320"/>
            <a:ext cx="201612" cy="7350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71" name="Line 27"/>
          <p:cNvSpPr>
            <a:spLocks noChangeShapeType="1"/>
          </p:cNvSpPr>
          <p:nvPr/>
        </p:nvSpPr>
        <p:spPr bwMode="auto">
          <a:xfrm>
            <a:off x="7559040" y="3566320"/>
            <a:ext cx="0" cy="1039812"/>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72" name="Line 28"/>
          <p:cNvSpPr>
            <a:spLocks noChangeShapeType="1"/>
          </p:cNvSpPr>
          <p:nvPr/>
        </p:nvSpPr>
        <p:spPr bwMode="auto">
          <a:xfrm flipH="1">
            <a:off x="6792278" y="4633120"/>
            <a:ext cx="773112" cy="5826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73" name="Line 29"/>
          <p:cNvSpPr>
            <a:spLocks noChangeShapeType="1"/>
          </p:cNvSpPr>
          <p:nvPr/>
        </p:nvSpPr>
        <p:spPr bwMode="auto">
          <a:xfrm flipH="1">
            <a:off x="7325678" y="4633120"/>
            <a:ext cx="239712" cy="5064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74" name="Line 30"/>
          <p:cNvSpPr>
            <a:spLocks noChangeShapeType="1"/>
          </p:cNvSpPr>
          <p:nvPr/>
        </p:nvSpPr>
        <p:spPr bwMode="auto">
          <a:xfrm flipH="1">
            <a:off x="7097078" y="4633120"/>
            <a:ext cx="468312" cy="5826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75" name="Line 31"/>
          <p:cNvSpPr>
            <a:spLocks noChangeShapeType="1"/>
          </p:cNvSpPr>
          <p:nvPr/>
        </p:nvSpPr>
        <p:spPr bwMode="auto">
          <a:xfrm>
            <a:off x="7573328" y="4633120"/>
            <a:ext cx="430212" cy="5826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76" name="Line 32"/>
          <p:cNvSpPr>
            <a:spLocks noChangeShapeType="1"/>
          </p:cNvSpPr>
          <p:nvPr/>
        </p:nvSpPr>
        <p:spPr bwMode="auto">
          <a:xfrm>
            <a:off x="7573328" y="4633120"/>
            <a:ext cx="49212" cy="5064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77" name="Line 33"/>
          <p:cNvSpPr>
            <a:spLocks noChangeShapeType="1"/>
          </p:cNvSpPr>
          <p:nvPr/>
        </p:nvSpPr>
        <p:spPr bwMode="auto">
          <a:xfrm flipH="1">
            <a:off x="8240078" y="3566320"/>
            <a:ext cx="87312" cy="8874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78" name="Line 34"/>
          <p:cNvSpPr>
            <a:spLocks noChangeShapeType="1"/>
          </p:cNvSpPr>
          <p:nvPr/>
        </p:nvSpPr>
        <p:spPr bwMode="auto">
          <a:xfrm flipH="1">
            <a:off x="8392478" y="2118520"/>
            <a:ext cx="544512" cy="8874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79" name="Line 35"/>
          <p:cNvSpPr>
            <a:spLocks noChangeShapeType="1"/>
          </p:cNvSpPr>
          <p:nvPr/>
        </p:nvSpPr>
        <p:spPr bwMode="auto">
          <a:xfrm>
            <a:off x="9097328" y="2118520"/>
            <a:ext cx="506412" cy="8874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80" name="Line 36"/>
          <p:cNvSpPr>
            <a:spLocks noChangeShapeType="1"/>
          </p:cNvSpPr>
          <p:nvPr/>
        </p:nvSpPr>
        <p:spPr bwMode="auto">
          <a:xfrm>
            <a:off x="9097328" y="2042320"/>
            <a:ext cx="1268412" cy="9636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81" name="Line 37"/>
          <p:cNvSpPr>
            <a:spLocks noChangeShapeType="1"/>
          </p:cNvSpPr>
          <p:nvPr/>
        </p:nvSpPr>
        <p:spPr bwMode="auto">
          <a:xfrm flipH="1">
            <a:off x="8925878" y="2118520"/>
            <a:ext cx="87312" cy="8112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82" name="Line 38"/>
          <p:cNvSpPr>
            <a:spLocks noChangeShapeType="1"/>
          </p:cNvSpPr>
          <p:nvPr/>
        </p:nvSpPr>
        <p:spPr bwMode="auto">
          <a:xfrm flipH="1">
            <a:off x="8621078" y="3566320"/>
            <a:ext cx="315912" cy="8112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83" name="Line 39"/>
          <p:cNvSpPr>
            <a:spLocks noChangeShapeType="1"/>
          </p:cNvSpPr>
          <p:nvPr/>
        </p:nvSpPr>
        <p:spPr bwMode="auto">
          <a:xfrm flipH="1">
            <a:off x="8849678" y="3566320"/>
            <a:ext cx="87312" cy="8112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84" name="Line 40"/>
          <p:cNvSpPr>
            <a:spLocks noChangeShapeType="1"/>
          </p:cNvSpPr>
          <p:nvPr/>
        </p:nvSpPr>
        <p:spPr bwMode="auto">
          <a:xfrm>
            <a:off x="8944928" y="3566320"/>
            <a:ext cx="201612" cy="7350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85" name="Line 41"/>
          <p:cNvSpPr>
            <a:spLocks noChangeShapeType="1"/>
          </p:cNvSpPr>
          <p:nvPr/>
        </p:nvSpPr>
        <p:spPr bwMode="auto">
          <a:xfrm>
            <a:off x="9692640" y="3566320"/>
            <a:ext cx="0" cy="1039812"/>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86" name="Line 42"/>
          <p:cNvSpPr>
            <a:spLocks noChangeShapeType="1"/>
          </p:cNvSpPr>
          <p:nvPr/>
        </p:nvSpPr>
        <p:spPr bwMode="auto">
          <a:xfrm flipH="1">
            <a:off x="9002078" y="4633120"/>
            <a:ext cx="696912" cy="5826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87" name="Line 43"/>
          <p:cNvSpPr>
            <a:spLocks noChangeShapeType="1"/>
          </p:cNvSpPr>
          <p:nvPr/>
        </p:nvSpPr>
        <p:spPr bwMode="auto">
          <a:xfrm flipH="1">
            <a:off x="9306878" y="4633120"/>
            <a:ext cx="392112" cy="5826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88" name="Line 44"/>
          <p:cNvSpPr>
            <a:spLocks noChangeShapeType="1"/>
          </p:cNvSpPr>
          <p:nvPr/>
        </p:nvSpPr>
        <p:spPr bwMode="auto">
          <a:xfrm flipH="1">
            <a:off x="9535478" y="4633120"/>
            <a:ext cx="163512" cy="5826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89" name="Line 45"/>
          <p:cNvSpPr>
            <a:spLocks noChangeShapeType="1"/>
          </p:cNvSpPr>
          <p:nvPr/>
        </p:nvSpPr>
        <p:spPr bwMode="auto">
          <a:xfrm>
            <a:off x="9706928" y="4633120"/>
            <a:ext cx="201612" cy="5064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90" name="Line 46"/>
          <p:cNvSpPr>
            <a:spLocks noChangeShapeType="1"/>
          </p:cNvSpPr>
          <p:nvPr/>
        </p:nvSpPr>
        <p:spPr bwMode="auto">
          <a:xfrm>
            <a:off x="9706928" y="4633120"/>
            <a:ext cx="506412" cy="5826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91" name="Line 47"/>
          <p:cNvSpPr>
            <a:spLocks noChangeShapeType="1"/>
          </p:cNvSpPr>
          <p:nvPr/>
        </p:nvSpPr>
        <p:spPr bwMode="auto">
          <a:xfrm>
            <a:off x="10507028" y="3528220"/>
            <a:ext cx="125412" cy="2030412"/>
          </a:xfrm>
          <a:prstGeom prst="line">
            <a:avLst/>
          </a:prstGeom>
          <a:noFill/>
          <a:ln w="508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92" name="Rectangle 49"/>
          <p:cNvSpPr>
            <a:spLocks noChangeArrowheads="1"/>
          </p:cNvSpPr>
          <p:nvPr/>
        </p:nvSpPr>
        <p:spPr bwMode="auto">
          <a:xfrm>
            <a:off x="1920240" y="5882482"/>
            <a:ext cx="807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fontAlgn="base" hangingPunct="0">
              <a:spcBef>
                <a:spcPct val="50000"/>
              </a:spcBef>
              <a:spcAft>
                <a:spcPct val="0"/>
              </a:spcAft>
              <a:buFontTx/>
              <a:buChar char="•"/>
            </a:pPr>
            <a:r>
              <a:rPr lang="en-US" altLang="en-US" sz="2400" u="sng">
                <a:latin typeface="Times New Roman" panose="02020603050405020304" pitchFamily="18" charset="0"/>
                <a:ea typeface="宋体" panose="02010600030101010101" pitchFamily="2" charset="-122"/>
              </a:rPr>
              <a:t> The total number of orbitals for a given value of n is n</a:t>
            </a:r>
            <a:r>
              <a:rPr lang="en-US" altLang="en-US" sz="2400" u="sng" baseline="30000">
                <a:latin typeface="Times New Roman" panose="02020603050405020304" pitchFamily="18" charset="0"/>
                <a:ea typeface="宋体" panose="02010600030101010101" pitchFamily="2" charset="-122"/>
              </a:rPr>
              <a:t>2</a:t>
            </a:r>
            <a:r>
              <a:rPr lang="en-US" altLang="en-US" sz="2400" u="sng">
                <a:latin typeface="Times New Roman" panose="02020603050405020304" pitchFamily="18" charset="0"/>
                <a:ea typeface="宋体" panose="02010600030101010101" pitchFamily="2" charset="-122"/>
              </a:rPr>
              <a:t>.</a:t>
            </a:r>
            <a:endParaRPr lang="en-US" altLang="zh-CN" sz="2400" u="sng">
              <a:latin typeface="Times New Roman" panose="02020603050405020304" pitchFamily="18" charset="0"/>
            </a:endParaRPr>
          </a:p>
        </p:txBody>
      </p:sp>
      <p:sp>
        <p:nvSpPr>
          <p:cNvPr id="48"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a:spLocks noChangeArrowheads="1"/>
          </p:cNvSpPr>
          <p:nvPr/>
        </p:nvSpPr>
        <p:spPr bwMode="auto">
          <a:xfrm>
            <a:off x="8701654" y="381000"/>
            <a:ext cx="2667000" cy="6324600"/>
          </a:xfrm>
          <a:prstGeom prst="rect">
            <a:avLst/>
          </a:prstGeom>
          <a:solidFill>
            <a:srgbClr val="00B0F0"/>
          </a:solidFill>
          <a:ln w="9525">
            <a:solidFill>
              <a:srgbClr val="FFFFFF"/>
            </a:solidFill>
            <a:miter lim="800000"/>
          </a:ln>
        </p:spPr>
        <p:txBody>
          <a:bodyPr wrap="none" anchor="ctr"/>
          <a:lstStyle/>
          <a:p>
            <a:pPr defTabSz="914400" fontAlgn="base">
              <a:spcBef>
                <a:spcPct val="50000"/>
              </a:spcBef>
              <a:spcAft>
                <a:spcPct val="0"/>
              </a:spcAft>
              <a:defRPr/>
            </a:pPr>
            <a:endParaRPr kumimoji="1" lang="zh-CN" altLang="en-US" sz="2400" kern="0">
              <a:latin typeface="Times New Roman" panose="02020603050405020304" pitchFamily="18" charset="0"/>
            </a:endParaRPr>
          </a:p>
        </p:txBody>
      </p:sp>
      <p:sp>
        <p:nvSpPr>
          <p:cNvPr id="11" name="Text Box 3"/>
          <p:cNvSpPr txBox="1">
            <a:spLocks noChangeArrowheads="1"/>
          </p:cNvSpPr>
          <p:nvPr/>
        </p:nvSpPr>
        <p:spPr bwMode="auto">
          <a:xfrm>
            <a:off x="1057784" y="1247798"/>
            <a:ext cx="3914854"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pPr>
            <a:r>
              <a:rPr kumimoji="0" lang="en-US" altLang="zh-CN" i="1" dirty="0">
                <a:latin typeface="Script MT Bold" panose="03040602040607080904" pitchFamily="66" charset="0"/>
              </a:rPr>
              <a:t>n</a:t>
            </a:r>
            <a:r>
              <a:rPr kumimoji="0" lang="en-US" altLang="zh-CN" dirty="0">
                <a:latin typeface="Arial" panose="020B0604020202020204" pitchFamily="34" charset="0"/>
              </a:rPr>
              <a:t> = </a:t>
            </a:r>
            <a:r>
              <a:rPr kumimoji="0" lang="en-US" altLang="zh-CN" i="1" dirty="0">
                <a:latin typeface="Arial" panose="020B0604020202020204" pitchFamily="34" charset="0"/>
              </a:rPr>
              <a:t>principal</a:t>
            </a:r>
            <a:endParaRPr kumimoji="0" lang="en-US" altLang="zh-CN" dirty="0">
              <a:latin typeface="Arial" panose="020B0604020202020204" pitchFamily="34" charset="0"/>
              <a:sym typeface="Symbol" panose="05050102010706020507" pitchFamily="18" charset="2"/>
            </a:endParaRPr>
          </a:p>
          <a:p>
            <a:pPr eaLnBrk="1" fontAlgn="base" hangingPunct="1">
              <a:spcBef>
                <a:spcPct val="0"/>
              </a:spcBef>
              <a:spcAft>
                <a:spcPct val="0"/>
              </a:spcAft>
            </a:pPr>
            <a:r>
              <a:rPr kumimoji="0" lang="en-US" altLang="zh-CN" i="1" dirty="0">
                <a:latin typeface="Script MT Bold" panose="03040602040607080904" pitchFamily="66" charset="0"/>
              </a:rPr>
              <a:t>n</a:t>
            </a:r>
            <a:r>
              <a:rPr kumimoji="0" lang="en-US" altLang="zh-CN" dirty="0">
                <a:latin typeface="Arial" panose="020B0604020202020204" pitchFamily="34" charset="0"/>
              </a:rPr>
              <a:t> = 1, 2, 3 …</a:t>
            </a:r>
            <a:r>
              <a:rPr kumimoji="0" lang="en-US" altLang="zh-CN" dirty="0">
                <a:latin typeface="Arial" panose="020B0604020202020204" pitchFamily="34" charset="0"/>
                <a:sym typeface="Symbol" panose="05050102010706020507" pitchFamily="18" charset="2"/>
              </a:rPr>
              <a:t></a:t>
            </a:r>
            <a:endParaRPr kumimoji="0" lang="en-US" altLang="zh-CN" dirty="0">
              <a:latin typeface="Arial" panose="020B0604020202020204" pitchFamily="34" charset="0"/>
            </a:endParaRPr>
          </a:p>
          <a:p>
            <a:pPr eaLnBrk="1" fontAlgn="base" hangingPunct="1">
              <a:spcBef>
                <a:spcPct val="0"/>
              </a:spcBef>
              <a:spcAft>
                <a:spcPct val="0"/>
              </a:spcAft>
            </a:pPr>
            <a:r>
              <a:rPr kumimoji="0" lang="en-US" altLang="zh-CN" i="1" dirty="0">
                <a:latin typeface="Script MT Bold" panose="03040602040607080904" pitchFamily="66" charset="0"/>
              </a:rPr>
              <a:t>n</a:t>
            </a:r>
            <a:r>
              <a:rPr kumimoji="0" lang="en-US" altLang="zh-CN" dirty="0">
                <a:latin typeface="Arial" panose="020B0604020202020204" pitchFamily="34" charset="0"/>
              </a:rPr>
              <a:t> = 1 : ground state</a:t>
            </a:r>
            <a:endParaRPr kumimoji="0" lang="en-US" altLang="zh-CN" dirty="0">
              <a:latin typeface="Arial" panose="020B0604020202020204" pitchFamily="34" charset="0"/>
            </a:endParaRPr>
          </a:p>
          <a:p>
            <a:pPr eaLnBrk="1" fontAlgn="base" hangingPunct="1">
              <a:spcBef>
                <a:spcPct val="0"/>
              </a:spcBef>
              <a:spcAft>
                <a:spcPct val="0"/>
              </a:spcAft>
            </a:pPr>
            <a:r>
              <a:rPr kumimoji="0" lang="en-US" altLang="zh-CN" i="1" dirty="0">
                <a:latin typeface="Script MT Bold" panose="03040602040607080904" pitchFamily="66" charset="0"/>
              </a:rPr>
              <a:t>n</a:t>
            </a:r>
            <a:r>
              <a:rPr kumimoji="0" lang="en-US" altLang="zh-CN" dirty="0">
                <a:latin typeface="Arial" panose="020B0604020202020204" pitchFamily="34" charset="0"/>
              </a:rPr>
              <a:t> = 2 : first excited state</a:t>
            </a:r>
            <a:endParaRPr kumimoji="0" lang="en-US" altLang="zh-CN" dirty="0">
              <a:latin typeface="Arial" panose="020B0604020202020204" pitchFamily="34" charset="0"/>
            </a:endParaRPr>
          </a:p>
          <a:p>
            <a:pPr eaLnBrk="1" fontAlgn="base" hangingPunct="1">
              <a:spcBef>
                <a:spcPct val="0"/>
              </a:spcBef>
              <a:spcAft>
                <a:spcPct val="0"/>
              </a:spcAft>
            </a:pPr>
            <a:r>
              <a:rPr kumimoji="0" lang="en-US" altLang="zh-CN" i="1" dirty="0">
                <a:latin typeface="Script MT Bold" panose="03040602040607080904" pitchFamily="66" charset="0"/>
              </a:rPr>
              <a:t>n</a:t>
            </a:r>
            <a:r>
              <a:rPr kumimoji="0" lang="en-US" altLang="zh-CN" dirty="0">
                <a:latin typeface="Arial" panose="020B0604020202020204" pitchFamily="34" charset="0"/>
              </a:rPr>
              <a:t> = 3 : second excited state</a:t>
            </a:r>
            <a:endParaRPr kumimoji="0" lang="en-US" altLang="zh-CN" dirty="0">
              <a:latin typeface="Arial" panose="020B0604020202020204" pitchFamily="34" charset="0"/>
            </a:endParaRPr>
          </a:p>
        </p:txBody>
      </p:sp>
      <p:pic>
        <p:nvPicPr>
          <p:cNvPr id="12" name="Picture 4" descr="http://www-physics.ucsd.edu/was-sdphul/labs/2dl/exp5/exp51.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44846" y="3304923"/>
            <a:ext cx="6096000"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 name="Object 5"/>
          <p:cNvGraphicFramePr>
            <a:graphicFrameLocks noChangeAspect="1"/>
          </p:cNvGraphicFramePr>
          <p:nvPr/>
        </p:nvGraphicFramePr>
        <p:xfrm>
          <a:off x="8777854" y="466725"/>
          <a:ext cx="2514600" cy="1155700"/>
        </p:xfrm>
        <a:graphic>
          <a:graphicData uri="http://schemas.openxmlformats.org/presentationml/2006/ole">
            <mc:AlternateContent xmlns:mc="http://schemas.openxmlformats.org/markup-compatibility/2006">
              <mc:Choice xmlns:v="urn:schemas-microsoft-com:vml" Requires="v">
                <p:oleObj spid="_x0000_s0" name="Equation" r:id="rId2" imgW="1129665" imgH="520700" progId="Equation.COEE2">
                  <p:embed/>
                </p:oleObj>
              </mc:Choice>
              <mc:Fallback>
                <p:oleObj name="Equation" r:id="rId2" imgW="1129665" imgH="520700" progId="Equation.COEE2">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77854" y="466725"/>
                        <a:ext cx="2514600" cy="1155700"/>
                      </a:xfrm>
                      <a:prstGeom prst="rect">
                        <a:avLst/>
                      </a:prstGeom>
                      <a:solidFill>
                        <a:srgbClr val="66CCFF"/>
                      </a:solidFill>
                      <a:ln>
                        <a:noFill/>
                      </a:ln>
                      <a:effectLst/>
                    </p:spPr>
                  </p:pic>
                </p:oleObj>
              </mc:Fallback>
            </mc:AlternateContent>
          </a:graphicData>
        </a:graphic>
      </p:graphicFrame>
      <p:sp>
        <p:nvSpPr>
          <p:cNvPr id="14" name="Text Box 6"/>
          <p:cNvSpPr txBox="1">
            <a:spLocks noChangeArrowheads="1"/>
          </p:cNvSpPr>
          <p:nvPr/>
        </p:nvSpPr>
        <p:spPr bwMode="auto">
          <a:xfrm>
            <a:off x="8930255" y="1752601"/>
            <a:ext cx="2016899"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spcBef>
                <a:spcPct val="0"/>
              </a:spcBef>
              <a:spcAft>
                <a:spcPct val="0"/>
              </a:spcAft>
            </a:pPr>
            <a:r>
              <a:rPr kumimoji="0" lang="en-US" altLang="zh-CN" i="1">
                <a:latin typeface="Arial" panose="020B0604020202020204" pitchFamily="34" charset="0"/>
              </a:rPr>
              <a:t>E</a:t>
            </a:r>
            <a:r>
              <a:rPr kumimoji="0" lang="en-US" altLang="zh-CN" baseline="-25000">
                <a:latin typeface="Arial" panose="020B0604020202020204" pitchFamily="34" charset="0"/>
              </a:rPr>
              <a:t>1</a:t>
            </a:r>
            <a:r>
              <a:rPr kumimoji="0" lang="en-US" altLang="zh-CN">
                <a:latin typeface="Arial" panose="020B0604020202020204" pitchFamily="34" charset="0"/>
              </a:rPr>
              <a:t> = -13.6 eV</a:t>
            </a:r>
            <a:endParaRPr kumimoji="0" lang="en-US" altLang="zh-CN">
              <a:latin typeface="Arial" panose="020B0604020202020204" pitchFamily="34" charset="0"/>
            </a:endParaRPr>
          </a:p>
          <a:p>
            <a:pPr eaLnBrk="1" fontAlgn="base" hangingPunct="1">
              <a:spcBef>
                <a:spcPct val="0"/>
              </a:spcBef>
              <a:spcAft>
                <a:spcPct val="0"/>
              </a:spcAft>
            </a:pPr>
            <a:endParaRPr kumimoji="0" lang="en-US" altLang="zh-CN">
              <a:latin typeface="Arial" panose="020B0604020202020204" pitchFamily="34" charset="0"/>
            </a:endParaRPr>
          </a:p>
          <a:p>
            <a:pPr eaLnBrk="1" fontAlgn="base" hangingPunct="1">
              <a:spcBef>
                <a:spcPct val="0"/>
              </a:spcBef>
              <a:spcAft>
                <a:spcPct val="0"/>
              </a:spcAft>
            </a:pPr>
            <a:r>
              <a:rPr kumimoji="0" lang="en-US" altLang="zh-CN" i="1">
                <a:latin typeface="Arial" panose="020B0604020202020204" pitchFamily="34" charset="0"/>
              </a:rPr>
              <a:t>E</a:t>
            </a:r>
            <a:r>
              <a:rPr kumimoji="0" lang="en-US" altLang="zh-CN" baseline="-25000">
                <a:latin typeface="Arial" panose="020B0604020202020204" pitchFamily="34" charset="0"/>
              </a:rPr>
              <a:t>2</a:t>
            </a:r>
            <a:r>
              <a:rPr kumimoji="0" lang="en-US" altLang="zh-CN">
                <a:latin typeface="Arial" panose="020B0604020202020204" pitchFamily="34" charset="0"/>
              </a:rPr>
              <a:t> = -3.40 eV</a:t>
            </a:r>
            <a:endParaRPr kumimoji="0" lang="en-US" altLang="zh-CN">
              <a:latin typeface="Arial" panose="020B0604020202020204" pitchFamily="34" charset="0"/>
            </a:endParaRPr>
          </a:p>
          <a:p>
            <a:pPr eaLnBrk="1" fontAlgn="base" hangingPunct="1">
              <a:spcBef>
                <a:spcPct val="0"/>
              </a:spcBef>
              <a:spcAft>
                <a:spcPct val="0"/>
              </a:spcAft>
            </a:pPr>
            <a:endParaRPr kumimoji="0" lang="en-US" altLang="zh-CN">
              <a:latin typeface="Arial" panose="020B0604020202020204" pitchFamily="34" charset="0"/>
            </a:endParaRPr>
          </a:p>
          <a:p>
            <a:pPr eaLnBrk="1" fontAlgn="base" hangingPunct="1">
              <a:spcBef>
                <a:spcPct val="0"/>
              </a:spcBef>
              <a:spcAft>
                <a:spcPct val="0"/>
              </a:spcAft>
            </a:pPr>
            <a:r>
              <a:rPr kumimoji="0" lang="en-US" altLang="zh-CN" i="1">
                <a:latin typeface="Arial" panose="020B0604020202020204" pitchFamily="34" charset="0"/>
              </a:rPr>
              <a:t>E</a:t>
            </a:r>
            <a:r>
              <a:rPr kumimoji="0" lang="en-US" altLang="zh-CN" baseline="-25000">
                <a:latin typeface="Arial" panose="020B0604020202020204" pitchFamily="34" charset="0"/>
              </a:rPr>
              <a:t>3</a:t>
            </a:r>
            <a:r>
              <a:rPr kumimoji="0" lang="en-US" altLang="zh-CN">
                <a:latin typeface="Arial" panose="020B0604020202020204" pitchFamily="34" charset="0"/>
              </a:rPr>
              <a:t> = -1.51 eV</a:t>
            </a:r>
            <a:endParaRPr kumimoji="0" lang="en-US" altLang="zh-CN">
              <a:latin typeface="Arial" panose="020B0604020202020204" pitchFamily="34" charset="0"/>
            </a:endParaRPr>
          </a:p>
          <a:p>
            <a:pPr eaLnBrk="1" fontAlgn="base" hangingPunct="1">
              <a:spcBef>
                <a:spcPct val="0"/>
              </a:spcBef>
              <a:spcAft>
                <a:spcPct val="0"/>
              </a:spcAft>
            </a:pPr>
            <a:endParaRPr kumimoji="0" lang="en-US" altLang="zh-CN">
              <a:latin typeface="Arial" panose="020B0604020202020204" pitchFamily="34" charset="0"/>
            </a:endParaRPr>
          </a:p>
          <a:p>
            <a:pPr eaLnBrk="1" fontAlgn="base" hangingPunct="1">
              <a:spcBef>
                <a:spcPct val="0"/>
              </a:spcBef>
              <a:spcAft>
                <a:spcPct val="0"/>
              </a:spcAft>
            </a:pPr>
            <a:r>
              <a:rPr kumimoji="0" lang="en-US" altLang="zh-CN" i="1">
                <a:latin typeface="Arial" panose="020B0604020202020204" pitchFamily="34" charset="0"/>
              </a:rPr>
              <a:t>E</a:t>
            </a:r>
            <a:r>
              <a:rPr kumimoji="0" lang="en-US" altLang="zh-CN" baseline="-25000">
                <a:latin typeface="Arial" panose="020B0604020202020204" pitchFamily="34" charset="0"/>
              </a:rPr>
              <a:t>4</a:t>
            </a:r>
            <a:r>
              <a:rPr kumimoji="0" lang="en-US" altLang="zh-CN">
                <a:latin typeface="Arial" panose="020B0604020202020204" pitchFamily="34" charset="0"/>
              </a:rPr>
              <a:t> = -0.85 eV</a:t>
            </a:r>
            <a:endParaRPr kumimoji="0" lang="en-US" altLang="zh-CN">
              <a:latin typeface="Arial" panose="020B0604020202020204" pitchFamily="34" charset="0"/>
            </a:endParaRPr>
          </a:p>
          <a:p>
            <a:pPr eaLnBrk="1" fontAlgn="base" hangingPunct="1">
              <a:spcBef>
                <a:spcPct val="0"/>
              </a:spcBef>
              <a:spcAft>
                <a:spcPct val="0"/>
              </a:spcAft>
            </a:pPr>
            <a:endParaRPr kumimoji="0" lang="en-US" altLang="zh-CN">
              <a:latin typeface="Arial" panose="020B0604020202020204" pitchFamily="34" charset="0"/>
            </a:endParaRPr>
          </a:p>
          <a:p>
            <a:pPr eaLnBrk="1" fontAlgn="base" hangingPunct="1">
              <a:spcBef>
                <a:spcPct val="0"/>
              </a:spcBef>
              <a:spcAft>
                <a:spcPct val="0"/>
              </a:spcAft>
            </a:pPr>
            <a:r>
              <a:rPr kumimoji="0" lang="en-US" altLang="zh-CN" i="1">
                <a:latin typeface="Arial" panose="020B0604020202020204" pitchFamily="34" charset="0"/>
              </a:rPr>
              <a:t>E</a:t>
            </a:r>
            <a:r>
              <a:rPr kumimoji="0" lang="en-US" altLang="zh-CN" baseline="-25000">
                <a:latin typeface="Arial" panose="020B0604020202020204" pitchFamily="34" charset="0"/>
              </a:rPr>
              <a:t>5</a:t>
            </a:r>
            <a:r>
              <a:rPr kumimoji="0" lang="en-US" altLang="zh-CN">
                <a:latin typeface="Arial" panose="020B0604020202020204" pitchFamily="34" charset="0"/>
              </a:rPr>
              <a:t> = -0.54 eV</a:t>
            </a:r>
            <a:endParaRPr kumimoji="0" lang="en-US" altLang="zh-CN">
              <a:latin typeface="Arial" panose="020B0604020202020204" pitchFamily="34" charset="0"/>
            </a:endParaRPr>
          </a:p>
          <a:p>
            <a:pPr eaLnBrk="1" fontAlgn="base" hangingPunct="1">
              <a:spcBef>
                <a:spcPct val="0"/>
              </a:spcBef>
              <a:spcAft>
                <a:spcPct val="0"/>
              </a:spcAft>
            </a:pPr>
            <a:r>
              <a:rPr kumimoji="0" lang="en-US" altLang="zh-CN">
                <a:latin typeface="Arial" panose="020B0604020202020204" pitchFamily="34" charset="0"/>
              </a:rPr>
              <a:t>•</a:t>
            </a:r>
            <a:endParaRPr kumimoji="0" lang="en-US" altLang="zh-CN">
              <a:latin typeface="Arial" panose="020B0604020202020204" pitchFamily="34" charset="0"/>
            </a:endParaRPr>
          </a:p>
          <a:p>
            <a:pPr eaLnBrk="1" fontAlgn="base" hangingPunct="1">
              <a:spcBef>
                <a:spcPct val="0"/>
              </a:spcBef>
              <a:spcAft>
                <a:spcPct val="0"/>
              </a:spcAft>
            </a:pPr>
            <a:r>
              <a:rPr kumimoji="0" lang="en-US" altLang="zh-CN">
                <a:latin typeface="Arial" panose="020B0604020202020204" pitchFamily="34" charset="0"/>
              </a:rPr>
              <a:t>•</a:t>
            </a:r>
            <a:endParaRPr kumimoji="0" lang="en-US" altLang="zh-CN">
              <a:latin typeface="Arial" panose="020B0604020202020204" pitchFamily="34" charset="0"/>
            </a:endParaRPr>
          </a:p>
          <a:p>
            <a:pPr eaLnBrk="1" fontAlgn="base" hangingPunct="1">
              <a:spcBef>
                <a:spcPct val="0"/>
              </a:spcBef>
              <a:spcAft>
                <a:spcPct val="0"/>
              </a:spcAft>
            </a:pPr>
            <a:r>
              <a:rPr kumimoji="0" lang="en-US" altLang="zh-CN">
                <a:latin typeface="Arial" panose="020B0604020202020204" pitchFamily="34" charset="0"/>
              </a:rPr>
              <a:t>•</a:t>
            </a:r>
            <a:endParaRPr kumimoji="0" lang="en-US" altLang="zh-CN">
              <a:latin typeface="Arial" panose="020B0604020202020204" pitchFamily="34" charset="0"/>
            </a:endParaRPr>
          </a:p>
          <a:p>
            <a:pPr eaLnBrk="1" fontAlgn="base" hangingPunct="1">
              <a:spcBef>
                <a:spcPct val="0"/>
              </a:spcBef>
              <a:spcAft>
                <a:spcPct val="0"/>
              </a:spcAft>
            </a:pPr>
            <a:r>
              <a:rPr kumimoji="0" lang="en-US" altLang="zh-CN" i="1">
                <a:latin typeface="Arial" panose="020B0604020202020204" pitchFamily="34" charset="0"/>
              </a:rPr>
              <a:t>E</a:t>
            </a:r>
            <a:r>
              <a:rPr kumimoji="0" lang="en-US" altLang="zh-CN" baseline="-25000">
                <a:latin typeface="Arial" panose="020B0604020202020204" pitchFamily="34" charset="0"/>
                <a:sym typeface="Symbol" panose="05050102010706020507" pitchFamily="18" charset="2"/>
              </a:rPr>
              <a:t></a:t>
            </a:r>
            <a:r>
              <a:rPr kumimoji="0" lang="en-US" altLang="zh-CN">
                <a:latin typeface="Arial" panose="020B0604020202020204" pitchFamily="34" charset="0"/>
              </a:rPr>
              <a:t> = 0 eV</a:t>
            </a:r>
            <a:endParaRPr kumimoji="0" lang="en-US" altLang="zh-CN">
              <a:latin typeface="Arial" panose="020B0604020202020204" pitchFamily="34" charset="0"/>
            </a:endParaRPr>
          </a:p>
        </p:txBody>
      </p:sp>
      <p:sp>
        <p:nvSpPr>
          <p:cNvPr id="15" name="Text Box 7"/>
          <p:cNvSpPr txBox="1">
            <a:spLocks noChangeArrowheads="1"/>
          </p:cNvSpPr>
          <p:nvPr/>
        </p:nvSpPr>
        <p:spPr bwMode="auto">
          <a:xfrm>
            <a:off x="899546" y="356151"/>
            <a:ext cx="5410200" cy="523220"/>
          </a:xfrm>
          <a:prstGeom prst="rect">
            <a:avLst/>
          </a:prstGeom>
          <a:noFill/>
          <a:ln w="9525">
            <a:solidFill>
              <a:srgbClr val="00FFFF"/>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defTabSz="914400" eaLnBrk="1" fontAlgn="base" hangingPunct="1">
              <a:spcBef>
                <a:spcPct val="50000"/>
              </a:spcBef>
              <a:spcAft>
                <a:spcPct val="0"/>
              </a:spcAft>
              <a:defRPr/>
            </a:pPr>
            <a:r>
              <a:rPr lang="en-US" altLang="zh-CN" sz="2800" kern="0" dirty="0">
                <a:latin typeface="Arial" panose="020B0604020202020204" pitchFamily="34" charset="0"/>
                <a:cs typeface="Arial" panose="020B0604020202020204" pitchFamily="34" charset="0"/>
              </a:rPr>
              <a:t>Energy states of a H atom</a:t>
            </a:r>
            <a:r>
              <a:rPr lang="en-US" altLang="zh-CN" i="1" kern="0" dirty="0"/>
              <a:t>.</a:t>
            </a:r>
            <a:endParaRPr lang="en-US" altLang="zh-CN" i="1" kern="0" dirty="0"/>
          </a:p>
        </p:txBody>
      </p:sp>
      <p:graphicFrame>
        <p:nvGraphicFramePr>
          <p:cNvPr id="16" name="Object 8"/>
          <p:cNvGraphicFramePr>
            <a:graphicFrameLocks noChangeAspect="1"/>
          </p:cNvGraphicFramePr>
          <p:nvPr/>
        </p:nvGraphicFramePr>
        <p:xfrm>
          <a:off x="5172539" y="1479810"/>
          <a:ext cx="1524000" cy="838200"/>
        </p:xfrm>
        <a:graphic>
          <a:graphicData uri="http://schemas.openxmlformats.org/presentationml/2006/ole">
            <mc:AlternateContent xmlns:mc="http://schemas.openxmlformats.org/markup-compatibility/2006">
              <mc:Choice xmlns:v="urn:schemas-microsoft-com:vml" Requires="v">
                <p:oleObj spid="_x0000_s2" name="Equation" r:id="rId4" imgW="18288000" imgH="10058400" progId="Equation.DSMT4">
                  <p:embed/>
                </p:oleObj>
              </mc:Choice>
              <mc:Fallback>
                <p:oleObj name="Equation" r:id="rId4" imgW="18288000" imgH="10058400" progId="Equation.DSMT4">
                  <p:embed/>
                  <p:pic>
                    <p:nvPicPr>
                      <p:cNvPr id="0" name="Object 8"/>
                      <p:cNvPicPr>
                        <a:picLocks noChangeAspect="1" noChangeArrowheads="1"/>
                      </p:cNvPicPr>
                      <p:nvPr/>
                    </p:nvPicPr>
                    <p:blipFill>
                      <a:blip r:embed="rId5"/>
                      <a:srcRect/>
                      <a:stretch>
                        <a:fillRect/>
                      </a:stretch>
                    </p:blipFill>
                    <p:spPr bwMode="auto">
                      <a:xfrm>
                        <a:off x="5172539" y="1479810"/>
                        <a:ext cx="1524000" cy="838200"/>
                      </a:xfrm>
                      <a:prstGeom prst="rect">
                        <a:avLst/>
                      </a:prstGeom>
                      <a:solidFill>
                        <a:srgbClr val="66CCFF"/>
                      </a:solidFill>
                    </p:spPr>
                  </p:pic>
                </p:oleObj>
              </mc:Fallback>
            </mc:AlternateContent>
          </a:graphicData>
        </a:graphic>
      </p:graphicFrame>
      <p:sp>
        <p:nvSpPr>
          <p:cNvPr id="17" name="Text Box 9"/>
          <p:cNvSpPr txBox="1">
            <a:spLocks noChangeArrowheads="1"/>
          </p:cNvSpPr>
          <p:nvPr/>
        </p:nvSpPr>
        <p:spPr bwMode="auto">
          <a:xfrm>
            <a:off x="6994246" y="1612129"/>
            <a:ext cx="1707408" cy="461665"/>
          </a:xfrm>
          <a:prstGeom prst="rect">
            <a:avLst/>
          </a:prstGeom>
          <a:noFill/>
          <a:ln w="9525">
            <a:solidFill>
              <a:srgbClr val="0000CC"/>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defTabSz="914400" eaLnBrk="1" fontAlgn="base" hangingPunct="1">
              <a:spcBef>
                <a:spcPct val="50000"/>
              </a:spcBef>
              <a:spcAft>
                <a:spcPct val="0"/>
              </a:spcAft>
              <a:defRPr/>
            </a:pPr>
            <a:r>
              <a:rPr lang="en-US" altLang="zh-CN" kern="0" dirty="0"/>
              <a:t>R = 13.6 eV</a:t>
            </a:r>
            <a:endParaRPr lang="en-US" altLang="zh-CN" kern="0" dirty="0"/>
          </a:p>
        </p:txBody>
      </p:sp>
      <p:sp>
        <p:nvSpPr>
          <p:cNvPr id="3" name="灯片编号占位符 2"/>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p:nvPr/>
            </p:nvSpPr>
            <p:spPr>
              <a:xfrm>
                <a:off x="454742" y="145889"/>
                <a:ext cx="11282515" cy="6566221"/>
              </a:xfrm>
              <a:prstGeom prst="rect">
                <a:avLst/>
              </a:prstGeom>
            </p:spPr>
            <p:txBody>
              <a:bodyPr wrap="square">
                <a:spAutoFit/>
              </a:bodyPr>
              <a:lstStyle/>
              <a:p>
                <a:pPr>
                  <a:lnSpc>
                    <a:spcPct val="120000"/>
                  </a:lnSpc>
                </a:pPr>
                <a:r>
                  <a:rPr lang="en-US" altLang="zh-CN" sz="2400" dirty="0">
                    <a:latin typeface="Times New Roman" panose="02020603050405020304" pitchFamily="18" charset="0"/>
                    <a:cs typeface="Times New Roman" panose="02020603050405020304" pitchFamily="18" charset="0"/>
                  </a:rPr>
                  <a:t>The first few normalized radial wavefunctions are, writing </a:t>
                </a:r>
                <a14:m>
                  <m:oMath xmlns:m="http://schemas.openxmlformats.org/officeDocument/2006/math">
                    <m:r>
                      <a:rPr lang="zh-CN" altLang="en-US" sz="2400" i="1" dirty="0">
                        <a:solidFill>
                          <a:srgbClr val="2926BF"/>
                        </a:solidFill>
                        <a:latin typeface="Cambria Math" panose="02040503050406030204" pitchFamily="18" charset="0"/>
                      </a:rPr>
                      <m:t>𝜌</m:t>
                    </m:r>
                    <m:r>
                      <a:rPr lang="en-US" altLang="zh-TW" sz="2400" i="1" dirty="0">
                        <a:solidFill>
                          <a:srgbClr val="2926BF"/>
                        </a:solidFill>
                        <a:latin typeface="Cambria Math" panose="02040503050406030204" pitchFamily="18" charset="0"/>
                        <a:ea typeface="Arial" panose="020B0604020202020204"/>
                      </a:rPr>
                      <m:t>=</m:t>
                    </m:r>
                    <m:r>
                      <a:rPr lang="en-US" altLang="zh-CN" sz="2400" i="1" dirty="0" err="1">
                        <a:solidFill>
                          <a:srgbClr val="2926BF"/>
                        </a:solidFill>
                        <a:latin typeface="Cambria Math" panose="02040503050406030204" pitchFamily="18" charset="0"/>
                      </a:rPr>
                      <m:t>𝑍𝑟</m:t>
                    </m:r>
                  </m:oMath>
                </a14:m>
                <a:endParaRPr lang="en-US" altLang="zh-CN" sz="2400" i="1" dirty="0">
                  <a:solidFill>
                    <a:srgbClr val="2926BF"/>
                  </a:solidFill>
                  <a:latin typeface="Times New Roman" panose="02020603050405020304" pitchFamily="18" charset="0"/>
                  <a:cs typeface="Times New Roman" panose="02020603050405020304" pitchFamily="18" charset="0"/>
                </a:endParaRPr>
              </a:p>
              <a:p>
                <a:pPr>
                  <a:lnSpc>
                    <a:spcPct val="120000"/>
                  </a:lnSpc>
                </a:pPr>
                <a:endParaRPr lang="en-US" altLang="zh-CN" sz="2400" i="1" dirty="0">
                  <a:solidFill>
                    <a:srgbClr val="2926BF"/>
                  </a:solidFill>
                  <a:latin typeface="Times New Roman" panose="02020603050405020304" pitchFamily="18" charset="0"/>
                  <a:cs typeface="Times New Roman" panose="02020603050405020304" pitchFamily="18" charset="0"/>
                </a:endParaRPr>
              </a:p>
              <a:p>
                <a:pPr>
                  <a:lnSpc>
                    <a:spcPct val="120000"/>
                  </a:lnSpc>
                </a:pPr>
                <a:endParaRPr lang="en-US" altLang="zh-CN" sz="2400" i="1" dirty="0">
                  <a:solidFill>
                    <a:srgbClr val="2926BF"/>
                  </a:solidFill>
                  <a:latin typeface="Times New Roman" panose="02020603050405020304" pitchFamily="18" charset="0"/>
                  <a:cs typeface="Times New Roman" panose="02020603050405020304" pitchFamily="18" charset="0"/>
                </a:endParaRPr>
              </a:p>
              <a:p>
                <a:pPr>
                  <a:lnSpc>
                    <a:spcPct val="120000"/>
                  </a:lnSpc>
                </a:pPr>
                <a:endParaRPr lang="en-US" altLang="zh-CN" sz="2400" i="1" dirty="0">
                  <a:solidFill>
                    <a:srgbClr val="2926BF"/>
                  </a:solidFill>
                  <a:latin typeface="Times New Roman" panose="02020603050405020304" pitchFamily="18" charset="0"/>
                  <a:cs typeface="Times New Roman" panose="02020603050405020304" pitchFamily="18" charset="0"/>
                </a:endParaRPr>
              </a:p>
              <a:p>
                <a:pPr>
                  <a:lnSpc>
                    <a:spcPct val="120000"/>
                  </a:lnSpc>
                </a:pPr>
                <a:endParaRPr lang="en-US" altLang="zh-CN" sz="2400" i="1" dirty="0">
                  <a:solidFill>
                    <a:srgbClr val="2926BF"/>
                  </a:solidFill>
                  <a:latin typeface="Times New Roman" panose="02020603050405020304" pitchFamily="18" charset="0"/>
                  <a:cs typeface="Times New Roman" panose="02020603050405020304" pitchFamily="18" charset="0"/>
                </a:endParaRPr>
              </a:p>
              <a:p>
                <a:pPr>
                  <a:lnSpc>
                    <a:spcPct val="120000"/>
                  </a:lnSpc>
                </a:pPr>
                <a:endParaRPr lang="en-US" altLang="zh-CN" sz="2400" i="1" dirty="0">
                  <a:solidFill>
                    <a:srgbClr val="2926BF"/>
                  </a:solidFill>
                  <a:latin typeface="Times New Roman" panose="02020603050405020304" pitchFamily="18" charset="0"/>
                  <a:cs typeface="Times New Roman" panose="02020603050405020304" pitchFamily="18" charset="0"/>
                </a:endParaRPr>
              </a:p>
              <a:p>
                <a:pPr>
                  <a:lnSpc>
                    <a:spcPct val="120000"/>
                  </a:lnSpc>
                </a:pPr>
                <a:endParaRPr lang="en-US" altLang="zh-CN" sz="2400" i="1" dirty="0">
                  <a:solidFill>
                    <a:srgbClr val="2926BF"/>
                  </a:solidFill>
                  <a:latin typeface="Times New Roman" panose="02020603050405020304" pitchFamily="18" charset="0"/>
                  <a:cs typeface="Times New Roman" panose="02020603050405020304" pitchFamily="18" charset="0"/>
                </a:endParaRPr>
              </a:p>
              <a:p>
                <a:pPr>
                  <a:lnSpc>
                    <a:spcPct val="120000"/>
                  </a:lnSpc>
                </a:pPr>
                <a:endParaRPr lang="en-US" altLang="zh-CN" sz="2400" i="1" dirty="0">
                  <a:solidFill>
                    <a:srgbClr val="2926BF"/>
                  </a:solidFill>
                  <a:latin typeface="Times New Roman" panose="02020603050405020304" pitchFamily="18" charset="0"/>
                  <a:cs typeface="Times New Roman" panose="02020603050405020304" pitchFamily="18" charset="0"/>
                </a:endParaRPr>
              </a:p>
              <a:p>
                <a:pPr>
                  <a:lnSpc>
                    <a:spcPct val="120000"/>
                  </a:lnSpc>
                </a:pPr>
                <a:endParaRPr lang="en-US" altLang="zh-CN" sz="2400" i="1" dirty="0">
                  <a:solidFill>
                    <a:srgbClr val="2926BF"/>
                  </a:solidFill>
                  <a:latin typeface="Times New Roman" panose="02020603050405020304" pitchFamily="18" charset="0"/>
                  <a:cs typeface="Times New Roman" panose="02020603050405020304" pitchFamily="18" charset="0"/>
                </a:endParaRPr>
              </a:p>
              <a:p>
                <a:pPr>
                  <a:lnSpc>
                    <a:spcPct val="120000"/>
                  </a:lnSpc>
                  <a:spcBef>
                    <a:spcPts val="1200"/>
                  </a:spcBef>
                </a:pPr>
                <a:endParaRPr lang="en-US" altLang="zh-CN" sz="2400" dirty="0">
                  <a:latin typeface="Times New Roman" panose="02020603050405020304" pitchFamily="18" charset="0"/>
                  <a:cs typeface="Times New Roman" panose="02020603050405020304" pitchFamily="18" charset="0"/>
                </a:endParaRPr>
              </a:p>
              <a:p>
                <a:pPr>
                  <a:lnSpc>
                    <a:spcPct val="120000"/>
                  </a:lnSpc>
                  <a:spcBef>
                    <a:spcPts val="1200"/>
                  </a:spcBef>
                </a:pPr>
                <a:r>
                  <a:rPr lang="en-US" altLang="zh-CN" sz="2400" dirty="0">
                    <a:latin typeface="Times New Roman" panose="02020603050405020304" pitchFamily="18" charset="0"/>
                    <a:cs typeface="Times New Roman" panose="02020603050405020304" pitchFamily="18" charset="0"/>
                  </a:rPr>
                  <a:t>As is customary, we write </a:t>
                </a:r>
                <a:r>
                  <a:rPr lang="en-US" altLang="zh-CN" sz="2400" i="1" dirty="0" err="1">
                    <a:solidFill>
                      <a:srgbClr val="2926BF"/>
                    </a:solidFill>
                    <a:latin typeface="Times New Roman" panose="02020603050405020304" pitchFamily="18" charset="0"/>
                    <a:cs typeface="Times New Roman" panose="02020603050405020304" pitchFamily="18" charset="0"/>
                  </a:rPr>
                  <a:t>nl</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using the letters </a:t>
                </a:r>
                <a:r>
                  <a:rPr lang="en-US" altLang="zh-CN" sz="2400" i="1" dirty="0">
                    <a:solidFill>
                      <a:srgbClr val="2926BF"/>
                    </a:solidFill>
                    <a:latin typeface="Times New Roman" panose="02020603050405020304" pitchFamily="18" charset="0"/>
                    <a:cs typeface="Times New Roman" panose="02020603050405020304" pitchFamily="18" charset="0"/>
                  </a:rPr>
                  <a:t>s, p, d, f, </a:t>
                </a:r>
                <a:r>
                  <a:rPr lang="en-US" altLang="zh-CN" sz="2400" i="1"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 to represent </a:t>
                </a:r>
                <a:r>
                  <a:rPr lang="en-US" altLang="zh-CN" sz="2400" i="1" dirty="0">
                    <a:solidFill>
                      <a:srgbClr val="2926BF"/>
                    </a:solidFill>
                    <a:latin typeface="Times New Roman" panose="02020603050405020304" pitchFamily="18" charset="0"/>
                    <a:cs typeface="Times New Roman" panose="02020603050405020304" pitchFamily="18" charset="0"/>
                  </a:rPr>
                  <a:t>l </a:t>
                </a:r>
                <a:r>
                  <a:rPr lang="en-US" altLang="zh-TW" sz="2400" i="1" dirty="0">
                    <a:solidFill>
                      <a:srgbClr val="2926BF"/>
                    </a:solidFill>
                    <a:latin typeface="Times New Roman" panose="02020603050405020304" pitchFamily="18" charset="0"/>
                    <a:ea typeface="Arial" panose="020B0604020202020204"/>
                    <a:cs typeface="Times New Roman" panose="02020603050405020304" pitchFamily="18" charset="0"/>
                  </a:rPr>
                  <a:t>=</a:t>
                </a:r>
                <a:r>
                  <a:rPr lang="zh-TW" altLang="en-US" sz="2400" dirty="0">
                    <a:solidFill>
                      <a:srgbClr val="2926BF"/>
                    </a:solidFill>
                    <a:latin typeface="Times New Roman" panose="02020603050405020304" pitchFamily="18" charset="0"/>
                    <a:ea typeface="Arial" panose="020B0604020202020204"/>
                    <a:cs typeface="Times New Roman" panose="02020603050405020304" pitchFamily="18" charset="0"/>
                  </a:rPr>
                  <a:t> </a:t>
                </a:r>
                <a:r>
                  <a:rPr lang="en-US" altLang="zh-CN" sz="2400" dirty="0">
                    <a:solidFill>
                      <a:srgbClr val="2926BF"/>
                    </a:solidFill>
                    <a:latin typeface="Times New Roman" panose="02020603050405020304" pitchFamily="18" charset="0"/>
                    <a:cs typeface="Times New Roman" panose="02020603050405020304" pitchFamily="18" charset="0"/>
                  </a:rPr>
                  <a:t>0, 1, 2, 3, ….</a:t>
                </a:r>
                <a:r>
                  <a:rPr lang="en-US" altLang="zh-CN" sz="2400" dirty="0">
                    <a:latin typeface="Times New Roman" panose="02020603050405020304" pitchFamily="18" charset="0"/>
                    <a:cs typeface="Times New Roman" panose="02020603050405020304" pitchFamily="18" charset="0"/>
                  </a:rPr>
                  <a:t>Each of these has to be multiplied by one of the corresponding </a:t>
                </a:r>
                <a14:m>
                  <m:oMath xmlns:m="http://schemas.openxmlformats.org/officeDocument/2006/math">
                    <m:r>
                      <a:rPr lang="en-US" altLang="zh-CN" sz="2400" i="1" dirty="0">
                        <a:solidFill>
                          <a:srgbClr val="2926BF"/>
                        </a:solidFill>
                        <a:latin typeface="Cambria Math" panose="02040503050406030204" pitchFamily="18" charset="0"/>
                      </a:rPr>
                      <m:t>𝑌</m:t>
                    </m:r>
                    <m:r>
                      <a:rPr lang="en-US" altLang="zh-CN" sz="2400" i="1" baseline="-25000" dirty="0">
                        <a:solidFill>
                          <a:srgbClr val="2926BF"/>
                        </a:solidFill>
                        <a:latin typeface="Cambria Math" panose="02040503050406030204" pitchFamily="18" charset="0"/>
                      </a:rPr>
                      <m:t>𝑙𝑚</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solidFill>
                      <a:srgbClr val="1D1A83"/>
                    </a:solidFill>
                    <a:latin typeface="Times New Roman" panose="02020603050405020304" pitchFamily="18" charset="0"/>
                    <a:cs typeface="Times New Roman" panose="02020603050405020304" pitchFamily="18" charset="0"/>
                  </a:rPr>
                  <a:t>(</a:t>
                </a:r>
                <a:r>
                  <a:rPr lang="en-US" altLang="zh-CN" sz="2400" i="1" dirty="0">
                    <a:solidFill>
                      <a:srgbClr val="2926BF"/>
                    </a:solidFill>
                    <a:latin typeface="Times New Roman" panose="02020603050405020304" pitchFamily="18" charset="0"/>
                    <a:cs typeface="Times New Roman" panose="02020603050405020304" pitchFamily="18" charset="0"/>
                  </a:rPr>
                  <a:t>l</a:t>
                </a:r>
                <a:r>
                  <a:rPr lang="en-US" altLang="zh-CN" sz="2400" dirty="0">
                    <a:solidFill>
                      <a:srgbClr val="1D1A83"/>
                    </a:solidFill>
                    <a:latin typeface="Times New Roman" panose="02020603050405020304" pitchFamily="18" charset="0"/>
                    <a:cs typeface="Times New Roman" panose="02020603050405020304" pitchFamily="18" charset="0"/>
                  </a:rPr>
                  <a:t> </a:t>
                </a:r>
                <a:r>
                  <a:rPr lang="en-US" altLang="zh-CN" sz="2400" dirty="0">
                    <a:solidFill>
                      <a:srgbClr val="2926BF"/>
                    </a:solidFill>
                    <a:latin typeface="Times New Roman" panose="02020603050405020304" pitchFamily="18" charset="0"/>
                    <a:cs typeface="Times New Roman" panose="02020603050405020304" pitchFamily="18" charset="0"/>
                  </a:rPr>
                  <a:t>= 0 </a:t>
                </a:r>
                <a:r>
                  <a:rPr lang="en-US" altLang="zh-CN" sz="2400" dirty="0">
                    <a:latin typeface="Times New Roman" panose="02020603050405020304" pitchFamily="18" charset="0"/>
                    <a:cs typeface="Times New Roman" panose="02020603050405020304" pitchFamily="18" charset="0"/>
                  </a:rPr>
                  <a:t>for </a:t>
                </a:r>
                <a:r>
                  <a:rPr lang="en-US" altLang="zh-CN" sz="2400" dirty="0">
                    <a:solidFill>
                      <a:srgbClr val="2926BF"/>
                    </a:solidFill>
                    <a:latin typeface="Times New Roman" panose="02020603050405020304" pitchFamily="18" charset="0"/>
                    <a:cs typeface="Times New Roman" panose="02020603050405020304" pitchFamily="18" charset="0"/>
                  </a:rPr>
                  <a:t>s, 1 </a:t>
                </a:r>
                <a:r>
                  <a:rPr lang="en-US" altLang="zh-CN" sz="2400" dirty="0">
                    <a:latin typeface="Times New Roman" panose="02020603050405020304" pitchFamily="18" charset="0"/>
                    <a:cs typeface="Times New Roman" panose="02020603050405020304" pitchFamily="18" charset="0"/>
                  </a:rPr>
                  <a:t>for </a:t>
                </a:r>
                <a:r>
                  <a:rPr lang="en-US" altLang="zh-CN" sz="2400" i="1" dirty="0">
                    <a:solidFill>
                      <a:srgbClr val="2926BF"/>
                    </a:solidFill>
                    <a:latin typeface="Times New Roman" panose="02020603050405020304" pitchFamily="18" charset="0"/>
                    <a:cs typeface="Times New Roman" panose="02020603050405020304" pitchFamily="18" charset="0"/>
                  </a:rPr>
                  <a:t>p,</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etc.). For each value of </a:t>
                </a:r>
                <a:r>
                  <a:rPr lang="en-US" altLang="zh-CN" sz="2400" i="1" dirty="0">
                    <a:solidFill>
                      <a:srgbClr val="2926BF"/>
                    </a:solidFill>
                    <a:latin typeface="Times New Roman" panose="02020603050405020304" pitchFamily="18" charset="0"/>
                    <a:cs typeface="Times New Roman" panose="02020603050405020304" pitchFamily="18" charset="0"/>
                  </a:rPr>
                  <a:t>l, m</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can have any integer value from </a:t>
                </a:r>
                <a:r>
                  <a:rPr lang="en-US" altLang="zh-CN" sz="2400" i="1" dirty="0">
                    <a:solidFill>
                      <a:srgbClr val="2926BF"/>
                    </a:solidFill>
                    <a:latin typeface="Times New Roman" panose="02020603050405020304" pitchFamily="18" charset="0"/>
                    <a:cs typeface="Times New Roman" panose="02020603050405020304" pitchFamily="18" charset="0"/>
                  </a:rPr>
                  <a:t>-l</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to </a:t>
                </a:r>
                <a:r>
                  <a:rPr lang="en-US" altLang="zh-CN" sz="2400" i="1" dirty="0">
                    <a:solidFill>
                      <a:srgbClr val="2926BF"/>
                    </a:solidFill>
                    <a:latin typeface="Times New Roman" panose="02020603050405020304" pitchFamily="18" charset="0"/>
                    <a:cs typeface="Times New Roman" panose="02020603050405020304" pitchFamily="18" charset="0"/>
                  </a:rPr>
                  <a:t>l,</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so there are three </a:t>
                </a:r>
                <a:r>
                  <a:rPr lang="en-US" altLang="zh-CN" sz="2400" i="1" dirty="0">
                    <a:solidFill>
                      <a:srgbClr val="2926BF"/>
                    </a:solidFill>
                    <a:latin typeface="Times New Roman" panose="02020603050405020304" pitchFamily="18" charset="0"/>
                    <a:cs typeface="Times New Roman" panose="02020603050405020304" pitchFamily="18" charset="0"/>
                  </a:rPr>
                  <a:t>2p</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orbitals, five </a:t>
                </a:r>
                <a:r>
                  <a:rPr lang="en-US" altLang="zh-CN" sz="2400" i="1" dirty="0">
                    <a:solidFill>
                      <a:srgbClr val="2926BF"/>
                    </a:solidFill>
                    <a:latin typeface="Times New Roman" panose="02020603050405020304" pitchFamily="18" charset="0"/>
                    <a:cs typeface="Times New Roman" panose="02020603050405020304" pitchFamily="18" charset="0"/>
                  </a:rPr>
                  <a:t>3d</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orbitals, and so on.</a:t>
                </a:r>
                <a:endParaRPr lang="en-US" altLang="zh-CN" sz="2400" dirty="0">
                  <a:latin typeface="Times New Roman" panose="02020603050405020304" pitchFamily="18" charset="0"/>
                  <a:cs typeface="Times New Roman" panose="02020603050405020304" pitchFamily="18" charset="0"/>
                </a:endParaRPr>
              </a:p>
            </p:txBody>
          </p:sp>
        </mc:Choice>
        <mc:Fallback>
          <p:sp>
            <p:nvSpPr>
              <p:cNvPr id="2" name="矩形 1"/>
              <p:cNvSpPr>
                <a:spLocks noRot="1" noChangeAspect="1" noMove="1" noResize="1" noEditPoints="1" noAdjustHandles="1" noChangeArrowheads="1" noChangeShapeType="1" noTextEdit="1"/>
              </p:cNvSpPr>
              <p:nvPr/>
            </p:nvSpPr>
            <p:spPr>
              <a:xfrm>
                <a:off x="454742" y="145889"/>
                <a:ext cx="11282515" cy="6566221"/>
              </a:xfrm>
              <a:prstGeom prst="rect">
                <a:avLst/>
              </a:prstGeom>
              <a:blipFill rotWithShape="1">
                <a:blip r:embed="rId1"/>
                <a:stretch>
                  <a:fillRect l="-1" t="-7" r="5" b="2"/>
                </a:stretch>
              </a:blipFill>
            </p:spPr>
            <p:txBody>
              <a:bodyPr/>
              <a:lstStyle/>
              <a:p>
                <a:r>
                  <a:rPr lang="zh-CN" altLang="en-US">
                    <a:noFill/>
                  </a:rPr>
                  <a:t> </a:t>
                </a:r>
              </a:p>
            </p:txBody>
          </p:sp>
        </mc:Fallback>
      </mc:AlternateContent>
      <p:graphicFrame>
        <p:nvGraphicFramePr>
          <p:cNvPr id="3" name="对象 2"/>
          <p:cNvGraphicFramePr>
            <a:graphicFrameLocks noChangeAspect="1"/>
          </p:cNvGraphicFramePr>
          <p:nvPr/>
        </p:nvGraphicFramePr>
        <p:xfrm>
          <a:off x="3640259" y="655222"/>
          <a:ext cx="4911480" cy="4400550"/>
        </p:xfrm>
        <a:graphic>
          <a:graphicData uri="http://schemas.openxmlformats.org/presentationml/2006/ole">
            <mc:AlternateContent xmlns:mc="http://schemas.openxmlformats.org/markup-compatibility/2006">
              <mc:Choice xmlns:v="urn:schemas-microsoft-com:vml" Requires="v">
                <p:oleObj spid="_x0000_s4" name="Equation" r:id="rId2" imgW="67360800" imgH="60350400" progId="Equation.DSMT4">
                  <p:embed/>
                </p:oleObj>
              </mc:Choice>
              <mc:Fallback>
                <p:oleObj name="Equation" r:id="rId2" imgW="67360800" imgH="60350400" progId="Equation.DSMT4">
                  <p:embed/>
                  <p:pic>
                    <p:nvPicPr>
                      <p:cNvPr id="0" name="图片 3"/>
                      <p:cNvPicPr/>
                      <p:nvPr/>
                    </p:nvPicPr>
                    <p:blipFill>
                      <a:blip r:embed="rId3"/>
                      <a:stretch>
                        <a:fillRect/>
                      </a:stretch>
                    </p:blipFill>
                    <p:spPr>
                      <a:xfrm>
                        <a:off x="3640259" y="655222"/>
                        <a:ext cx="4911480" cy="4400550"/>
                      </a:xfrm>
                      <a:prstGeom prst="rect">
                        <a:avLst/>
                      </a:prstGeom>
                    </p:spPr>
                  </p:pic>
                </p:oleObj>
              </mc:Fallback>
            </mc:AlternateContent>
          </a:graphicData>
        </a:graphic>
      </p:graphicFrame>
      <p:sp>
        <p:nvSpPr>
          <p:cNvPr id="5" name="灯片编号占位符 4"/>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00720" y="187149"/>
            <a:ext cx="5570628"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Radial </a:t>
            </a:r>
            <a:r>
              <a:rPr lang="en-US" altLang="zh-CN" sz="2800" b="1" dirty="0" err="1">
                <a:latin typeface="Times New Roman" panose="02020603050405020304" pitchFamily="18" charset="0"/>
                <a:cs typeface="Times New Roman" panose="02020603050405020304" pitchFamily="18" charset="0"/>
              </a:rPr>
              <a:t>wavefunctions</a:t>
            </a:r>
            <a:r>
              <a:rPr lang="en-US" altLang="zh-CN" sz="2800" b="1" dirty="0">
                <a:latin typeface="Times New Roman" panose="02020603050405020304" pitchFamily="18" charset="0"/>
                <a:cs typeface="Times New Roman" panose="02020603050405020304" pitchFamily="18" charset="0"/>
              </a:rPr>
              <a:t> for hydrogen</a:t>
            </a:r>
            <a:endParaRPr lang="zh-CN" altLang="en-US" sz="2800" b="1" dirty="0">
              <a:latin typeface="Times New Roman" panose="02020603050405020304" pitchFamily="18" charset="0"/>
              <a:cs typeface="Times New Roman" panose="02020603050405020304" pitchFamily="18" charset="0"/>
            </a:endParaRPr>
          </a:p>
        </p:txBody>
      </p:sp>
      <p:grpSp>
        <p:nvGrpSpPr>
          <p:cNvPr id="3" name="组合 2"/>
          <p:cNvGrpSpPr>
            <a:grpSpLocks noChangeAspect="1"/>
          </p:cNvGrpSpPr>
          <p:nvPr/>
        </p:nvGrpSpPr>
        <p:grpSpPr>
          <a:xfrm>
            <a:off x="5026801" y="1336461"/>
            <a:ext cx="6293644" cy="1490641"/>
            <a:chOff x="2892187" y="1327821"/>
            <a:chExt cx="8391525" cy="1987521"/>
          </a:xfrm>
        </p:grpSpPr>
        <p:pic>
          <p:nvPicPr>
            <p:cNvPr id="4" name="图片 3"/>
            <p:cNvPicPr>
              <a:picLocks noChangeAspect="1"/>
            </p:cNvPicPr>
            <p:nvPr/>
          </p:nvPicPr>
          <p:blipFill rotWithShape="1">
            <a:blip r:embed="rId1"/>
            <a:srcRect t="53441"/>
            <a:stretch>
              <a:fillRect/>
            </a:stretch>
          </p:blipFill>
          <p:spPr>
            <a:xfrm>
              <a:off x="2892187" y="1364034"/>
              <a:ext cx="8391525" cy="1951308"/>
            </a:xfrm>
            <a:prstGeom prst="rect">
              <a:avLst/>
            </a:prstGeom>
          </p:spPr>
        </p:pic>
        <p:sp>
          <p:nvSpPr>
            <p:cNvPr id="5" name="矩形 4"/>
            <p:cNvSpPr/>
            <p:nvPr/>
          </p:nvSpPr>
          <p:spPr>
            <a:xfrm>
              <a:off x="6743864" y="1327821"/>
              <a:ext cx="586509" cy="1572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6" name="图片 5"/>
          <p:cNvPicPr>
            <a:picLocks noChangeAspect="1"/>
          </p:cNvPicPr>
          <p:nvPr/>
        </p:nvPicPr>
        <p:blipFill>
          <a:blip r:embed="rId2"/>
          <a:stretch>
            <a:fillRect/>
          </a:stretch>
        </p:blipFill>
        <p:spPr>
          <a:xfrm>
            <a:off x="3039212" y="1336461"/>
            <a:ext cx="1957388" cy="1621631"/>
          </a:xfrm>
          <a:prstGeom prst="rect">
            <a:avLst/>
          </a:prstGeom>
        </p:spPr>
      </p:pic>
      <p:grpSp>
        <p:nvGrpSpPr>
          <p:cNvPr id="7" name="组合 6"/>
          <p:cNvGrpSpPr>
            <a:grpSpLocks noChangeAspect="1"/>
          </p:cNvGrpSpPr>
          <p:nvPr/>
        </p:nvGrpSpPr>
        <p:grpSpPr>
          <a:xfrm>
            <a:off x="3039212" y="3176198"/>
            <a:ext cx="6293644" cy="1789905"/>
            <a:chOff x="685700" y="1656522"/>
            <a:chExt cx="8391525" cy="2386540"/>
          </a:xfrm>
        </p:grpSpPr>
        <p:pic>
          <p:nvPicPr>
            <p:cNvPr id="8" name="图片 7"/>
            <p:cNvPicPr>
              <a:picLocks noChangeAspect="1"/>
            </p:cNvPicPr>
            <p:nvPr/>
          </p:nvPicPr>
          <p:blipFill rotWithShape="1">
            <a:blip r:embed="rId1"/>
            <a:srcRect t="-101" b="46031"/>
            <a:stretch>
              <a:fillRect/>
            </a:stretch>
          </p:blipFill>
          <p:spPr>
            <a:xfrm>
              <a:off x="685700" y="1656522"/>
              <a:ext cx="8391525" cy="2266121"/>
            </a:xfrm>
            <a:prstGeom prst="rect">
              <a:avLst/>
            </a:prstGeom>
          </p:spPr>
        </p:pic>
        <p:sp>
          <p:nvSpPr>
            <p:cNvPr id="9" name="矩形 8"/>
            <p:cNvSpPr/>
            <p:nvPr/>
          </p:nvSpPr>
          <p:spPr>
            <a:xfrm>
              <a:off x="685700" y="3765435"/>
              <a:ext cx="586509" cy="1572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3402395" y="3885854"/>
              <a:ext cx="586509" cy="1572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矩形 10"/>
          <p:cNvSpPr/>
          <p:nvPr/>
        </p:nvSpPr>
        <p:spPr>
          <a:xfrm>
            <a:off x="405581" y="5184879"/>
            <a:ext cx="11363632" cy="1200329"/>
          </a:xfrm>
          <a:prstGeom prst="rect">
            <a:avLst/>
          </a:prstGeom>
        </p:spPr>
        <p:txBody>
          <a:bodyPr wrap="square">
            <a:spAutoFit/>
          </a:bodyPr>
          <a:lstStyle/>
          <a:p>
            <a:r>
              <a:rPr lang="en-US" altLang="zh-CN" sz="2400" dirty="0">
                <a:latin typeface="Times New Roman" panose="02020603050405020304" pitchFamily="18" charset="0"/>
                <a:cs typeface="Times New Roman" panose="02020603050405020304" pitchFamily="18" charset="0"/>
              </a:rPr>
              <a:t>These are the functions of the previous slide, with </a:t>
            </a:r>
            <a:r>
              <a:rPr lang="en-US" altLang="zh-CN" sz="2400" i="1" dirty="0">
                <a:solidFill>
                  <a:srgbClr val="2926BF"/>
                </a:solidFill>
                <a:latin typeface="Times New Roman" panose="02020603050405020304" pitchFamily="18" charset="0"/>
                <a:cs typeface="Times New Roman" panose="02020603050405020304" pitchFamily="18" charset="0"/>
              </a:rPr>
              <a:t>Z</a:t>
            </a:r>
            <a:r>
              <a:rPr lang="en-US" altLang="zh-CN" sz="2400" dirty="0">
                <a:solidFill>
                  <a:srgbClr val="2926BF"/>
                </a:solidFill>
                <a:latin typeface="Times New Roman" panose="02020603050405020304" pitchFamily="18" charset="0"/>
                <a:cs typeface="Times New Roman" panose="02020603050405020304" pitchFamily="18" charset="0"/>
              </a:rPr>
              <a:t> = 1. </a:t>
            </a:r>
            <a:r>
              <a:rPr lang="en-US" altLang="zh-CN" sz="2400" dirty="0">
                <a:latin typeface="Times New Roman" panose="02020603050405020304" pitchFamily="18" charset="0"/>
                <a:cs typeface="Times New Roman" panose="02020603050405020304" pitchFamily="18" charset="0"/>
              </a:rPr>
              <a:t>Note the differences in horizontal and vertical scales; the functions with higher principal quantum number extend much further from the nucleus.</a:t>
            </a:r>
            <a:endParaRPr lang="en-US" altLang="zh-CN" sz="2400" dirty="0">
              <a:latin typeface="Times New Roman" panose="02020603050405020304" pitchFamily="18" charset="0"/>
              <a:cs typeface="Times New Roman" panose="02020603050405020304" pitchFamily="18" charset="0"/>
            </a:endParaRPr>
          </a:p>
        </p:txBody>
      </p:sp>
      <p:sp>
        <p:nvSpPr>
          <p:cNvPr id="12"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14" name="灯片编号占位符 13"/>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498283" y="194035"/>
            <a:ext cx="4190506"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Radial probability density</a:t>
            </a:r>
            <a:endParaRPr lang="zh-CN" altLang="en-US" sz="28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矩形 2"/>
              <p:cNvSpPr/>
              <p:nvPr/>
            </p:nvSpPr>
            <p:spPr>
              <a:xfrm>
                <a:off x="224322" y="1045318"/>
                <a:ext cx="11739715" cy="4833374"/>
              </a:xfrm>
              <a:prstGeom prst="rect">
                <a:avLst/>
              </a:prstGeom>
            </p:spPr>
            <p:txBody>
              <a:bodyPr wrap="square">
                <a:spAutoFit/>
              </a:bodyPr>
              <a:lstStyle/>
              <a:p>
                <a:pPr>
                  <a:lnSpc>
                    <a:spcPct val="121000"/>
                  </a:lnSpc>
                </a:pPr>
                <a:r>
                  <a:rPr lang="en-US" altLang="zh-CN" sz="2400" dirty="0">
                    <a:latin typeface="Times New Roman" panose="02020603050405020304" pitchFamily="18" charset="0"/>
                    <a:cs typeface="Times New Roman" panose="02020603050405020304" pitchFamily="18" charset="0"/>
                  </a:rPr>
                  <a:t>The probability of finding the electron in an element of volume </a:t>
                </a:r>
                <a:r>
                  <a:rPr lang="en-US" altLang="zh-CN" sz="2400" dirty="0">
                    <a:solidFill>
                      <a:srgbClr val="2926BF"/>
                    </a:solidFill>
                    <a:latin typeface="Times New Roman" panose="02020603050405020304" pitchFamily="18" charset="0"/>
                    <a:cs typeface="Times New Roman" panose="02020603050405020304" pitchFamily="18" charset="0"/>
                  </a:rPr>
                  <a:t>d</a:t>
                </a:r>
                <a:r>
                  <a:rPr lang="en-US" altLang="zh-CN" sz="2400" i="1" dirty="0">
                    <a:solidFill>
                      <a:srgbClr val="2926BF"/>
                    </a:solidFill>
                    <a:latin typeface="Times New Roman" panose="02020603050405020304" pitchFamily="18" charset="0"/>
                    <a:cs typeface="Times New Roman" panose="02020603050405020304" pitchFamily="18" charset="0"/>
                  </a:rPr>
                  <a:t>v</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is</a:t>
                </a:r>
                <a:endParaRPr lang="en-US" altLang="zh-CN" sz="2400" dirty="0">
                  <a:latin typeface="Times New Roman" panose="02020603050405020304" pitchFamily="18" charset="0"/>
                  <a:cs typeface="Times New Roman" panose="02020603050405020304" pitchFamily="18" charset="0"/>
                </a:endParaRPr>
              </a:p>
              <a:p>
                <a:pPr>
                  <a:lnSpc>
                    <a:spcPct val="121000"/>
                  </a:lnSpc>
                </a:pPr>
                <a14:m>
                  <m:oMath xmlns:m="http://schemas.openxmlformats.org/officeDocument/2006/math">
                    <m:r>
                      <a:rPr lang="en-US" altLang="zh-CN" sz="2400" i="1" dirty="0">
                        <a:solidFill>
                          <a:srgbClr val="2926BF"/>
                        </a:solidFill>
                        <a:latin typeface="Cambria Math" panose="02040503050406030204" pitchFamily="18" charset="0"/>
                      </a:rPr>
                      <m:t>|</m:t>
                    </m:r>
                    <m:r>
                      <a:rPr lang="zh-CN" altLang="en-US" sz="2400" i="1" dirty="0">
                        <a:solidFill>
                          <a:srgbClr val="2926BF"/>
                        </a:solidFill>
                        <a:latin typeface="Cambria Math" panose="02040503050406030204" pitchFamily="18" charset="0"/>
                      </a:rPr>
                      <m:t>𝜓</m:t>
                    </m:r>
                    <m:r>
                      <a:rPr lang="en-US" altLang="zh-CN" sz="2400" i="1" dirty="0">
                        <a:solidFill>
                          <a:srgbClr val="2926BF"/>
                        </a:solidFill>
                        <a:latin typeface="Cambria Math" panose="02040503050406030204" pitchFamily="18" charset="0"/>
                      </a:rPr>
                      <m:t>|</m:t>
                    </m:r>
                    <m:r>
                      <a:rPr lang="en-US" altLang="zh-CN" sz="2400" i="1" baseline="30000" dirty="0">
                        <a:solidFill>
                          <a:srgbClr val="2926BF"/>
                        </a:solidFill>
                        <a:latin typeface="Cambria Math" panose="02040503050406030204" pitchFamily="18" charset="0"/>
                      </a:rPr>
                      <m:t>2</m:t>
                    </m:r>
                    <m:r>
                      <m:rPr>
                        <m:nor/>
                      </m:rPr>
                      <a:rPr lang="en-US" altLang="zh-CN" sz="2400" dirty="0">
                        <a:solidFill>
                          <a:srgbClr val="2926BF"/>
                        </a:solidFill>
                        <a:latin typeface="Times New Roman" panose="02020603050405020304" pitchFamily="18" charset="0"/>
                        <a:cs typeface="Times New Roman" panose="02020603050405020304" pitchFamily="18" charset="0"/>
                      </a:rPr>
                      <m:t>d</m:t>
                    </m:r>
                    <m:r>
                      <a:rPr lang="en-US" altLang="zh-CN" sz="2400" i="1" dirty="0">
                        <a:solidFill>
                          <a:srgbClr val="2926BF"/>
                        </a:solidFill>
                        <a:latin typeface="Cambria Math" panose="02040503050406030204" pitchFamily="18" charset="0"/>
                      </a:rPr>
                      <m:t>𝑣</m:t>
                    </m:r>
                    <m:r>
                      <a:rPr lang="en-US" altLang="zh-CN" sz="2400" i="1" dirty="0">
                        <a:solidFill>
                          <a:srgbClr val="2926BF"/>
                        </a:solidFill>
                        <a:latin typeface="Cambria Math" panose="02040503050406030204" pitchFamily="18" charset="0"/>
                      </a:rPr>
                      <m:t>=|</m:t>
                    </m:r>
                    <m:r>
                      <a:rPr lang="zh-CN" altLang="en-US" sz="2400" i="1" dirty="0">
                        <a:solidFill>
                          <a:srgbClr val="2926BF"/>
                        </a:solidFill>
                        <a:latin typeface="Cambria Math" panose="02040503050406030204" pitchFamily="18" charset="0"/>
                      </a:rPr>
                      <m:t>𝜓</m:t>
                    </m:r>
                    <m:r>
                      <a:rPr lang="en-US" altLang="zh-CN" sz="2400" i="1" dirty="0">
                        <a:solidFill>
                          <a:srgbClr val="2926BF"/>
                        </a:solidFill>
                        <a:latin typeface="Cambria Math" panose="02040503050406030204" pitchFamily="18" charset="0"/>
                      </a:rPr>
                      <m:t>|</m:t>
                    </m:r>
                    <m:r>
                      <a:rPr lang="en-US" altLang="zh-CN" sz="2400" i="1" baseline="30000" dirty="0">
                        <a:solidFill>
                          <a:srgbClr val="2926BF"/>
                        </a:solidFill>
                        <a:latin typeface="Cambria Math" panose="02040503050406030204" pitchFamily="18" charset="0"/>
                      </a:rPr>
                      <m:t>2</m:t>
                    </m:r>
                    <m:r>
                      <a:rPr lang="en-US" altLang="zh-CN" sz="2400" i="1" dirty="0">
                        <a:solidFill>
                          <a:srgbClr val="2926BF"/>
                        </a:solidFill>
                        <a:latin typeface="Cambria Math" panose="02040503050406030204" pitchFamily="18" charset="0"/>
                      </a:rPr>
                      <m:t>𝑟</m:t>
                    </m:r>
                    <m:r>
                      <a:rPr lang="en-US" altLang="zh-CN" sz="2400" i="1" baseline="30000" dirty="0">
                        <a:solidFill>
                          <a:srgbClr val="2926BF"/>
                        </a:solidFill>
                        <a:latin typeface="Cambria Math" panose="02040503050406030204" pitchFamily="18" charset="0"/>
                      </a:rPr>
                      <m:t>2</m:t>
                    </m:r>
                    <m:r>
                      <m:rPr>
                        <m:sty m:val="p"/>
                      </m:rPr>
                      <a:rPr lang="en-US" altLang="zh-CN" sz="2400" i="1" dirty="0">
                        <a:solidFill>
                          <a:srgbClr val="2926BF"/>
                        </a:solidFill>
                        <a:latin typeface="Cambria Math" panose="02040503050406030204" pitchFamily="18" charset="0"/>
                      </a:rPr>
                      <m:t>sin</m:t>
                    </m:r>
                    <m:r>
                      <a:rPr lang="zh-CN" altLang="en-US" sz="2400" i="1" dirty="0">
                        <a:solidFill>
                          <a:srgbClr val="2926BF"/>
                        </a:solidFill>
                        <a:latin typeface="Cambria Math" panose="02040503050406030204" pitchFamily="18" charset="0"/>
                      </a:rPr>
                      <m:t>𝜃</m:t>
                    </m:r>
                    <m:r>
                      <m:rPr>
                        <m:nor/>
                      </m:rPr>
                      <a:rPr lang="en-US" altLang="zh-CN" sz="2400" dirty="0">
                        <a:solidFill>
                          <a:srgbClr val="2926BF"/>
                        </a:solidFill>
                        <a:latin typeface="Times New Roman" panose="02020603050405020304" pitchFamily="18" charset="0"/>
                        <a:cs typeface="Times New Roman" panose="02020603050405020304" pitchFamily="18" charset="0"/>
                      </a:rPr>
                      <m:t>d</m:t>
                    </m:r>
                    <m:r>
                      <a:rPr lang="en-US" altLang="zh-CN" sz="2400" i="1" dirty="0">
                        <a:solidFill>
                          <a:srgbClr val="2926BF"/>
                        </a:solidFill>
                        <a:latin typeface="Cambria Math" panose="02040503050406030204" pitchFamily="18" charset="0"/>
                      </a:rPr>
                      <m:t>𝑟</m:t>
                    </m:r>
                    <m:r>
                      <m:rPr>
                        <m:nor/>
                      </m:rPr>
                      <a:rPr lang="en-US" altLang="zh-CN" sz="2400" dirty="0">
                        <a:solidFill>
                          <a:srgbClr val="2926BF"/>
                        </a:solidFill>
                        <a:latin typeface="Times New Roman" panose="02020603050405020304" pitchFamily="18" charset="0"/>
                        <a:cs typeface="Times New Roman" panose="02020603050405020304" pitchFamily="18" charset="0"/>
                      </a:rPr>
                      <m:t>d</m:t>
                    </m:r>
                    <m:r>
                      <a:rPr lang="zh-CN" altLang="en-US" sz="2400" i="1" dirty="0">
                        <a:solidFill>
                          <a:srgbClr val="2926BF"/>
                        </a:solidFill>
                        <a:latin typeface="Cambria Math" panose="02040503050406030204" pitchFamily="18" charset="0"/>
                      </a:rPr>
                      <m:t>𝜃</m:t>
                    </m:r>
                    <m:r>
                      <m:rPr>
                        <m:nor/>
                      </m:rPr>
                      <a:rPr lang="en-US" altLang="zh-CN" sz="2400" dirty="0">
                        <a:solidFill>
                          <a:srgbClr val="2926BF"/>
                        </a:solidFill>
                        <a:latin typeface="Times New Roman" panose="02020603050405020304" pitchFamily="18" charset="0"/>
                        <a:cs typeface="Times New Roman" panose="02020603050405020304" pitchFamily="18" charset="0"/>
                      </a:rPr>
                      <m:t>d</m:t>
                    </m:r>
                    <m:r>
                      <a:rPr lang="zh-CN" altLang="en-US" sz="2400" i="1" dirty="0">
                        <a:solidFill>
                          <a:srgbClr val="2926BF"/>
                        </a:solidFill>
                        <a:latin typeface="Cambria Math" panose="02040503050406030204" pitchFamily="18" charset="0"/>
                      </a:rPr>
                      <m:t>𝜑</m:t>
                    </m:r>
                    <m:r>
                      <a:rPr lang="en-US" altLang="zh-CN" sz="2400" i="1" dirty="0">
                        <a:solidFill>
                          <a:srgbClr val="2926BF"/>
                        </a:solidFill>
                        <a:latin typeface="Cambria Math" panose="02040503050406030204" pitchFamily="18" charset="0"/>
                      </a:rPr>
                      <m:t>, </m:t>
                    </m:r>
                  </m:oMath>
                </a14:m>
                <a:r>
                  <a:rPr lang="en-US" altLang="zh-CN" sz="2400" dirty="0">
                    <a:latin typeface="Times New Roman" panose="02020603050405020304" pitchFamily="18" charset="0"/>
                    <a:cs typeface="Times New Roman" panose="02020603050405020304" pitchFamily="18" charset="0"/>
                  </a:rPr>
                  <a:t>where</a:t>
                </a:r>
                <a:r>
                  <a:rPr lang="en-US" altLang="zh-CN" sz="2400" dirty="0">
                    <a:solidFill>
                      <a:srgbClr val="2926BF"/>
                    </a:solidFill>
                    <a:latin typeface="Times New Roman" panose="02020603050405020304" pitchFamily="18" charset="0"/>
                    <a:cs typeface="Times New Roman" panose="02020603050405020304" pitchFamily="18" charset="0"/>
                  </a:rPr>
                  <a:t> </a:t>
                </a:r>
                <a14:m>
                  <m:oMath xmlns:m="http://schemas.openxmlformats.org/officeDocument/2006/math">
                    <m:r>
                      <a:rPr lang="zh-CN" altLang="en-US" sz="2400" i="1" dirty="0">
                        <a:solidFill>
                          <a:srgbClr val="2926BF"/>
                        </a:solidFill>
                        <a:latin typeface="Cambria Math" panose="02040503050406030204" pitchFamily="18" charset="0"/>
                      </a:rPr>
                      <m:t>𝜓</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is the normalized wavefunction for the electron.</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If we integrate over the angles we get the probability of finding the electron in a spherical shell between </a:t>
                </a:r>
                <a14:m>
                  <m:oMath xmlns:m="http://schemas.openxmlformats.org/officeDocument/2006/math">
                    <m:r>
                      <a:rPr lang="en-US" altLang="zh-CN" sz="2400" i="1" dirty="0">
                        <a:solidFill>
                          <a:srgbClr val="2926BF"/>
                        </a:solidFill>
                        <a:latin typeface="Cambria Math" panose="02040503050406030204" pitchFamily="18" charset="0"/>
                      </a:rPr>
                      <m:t>𝑟</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a:t>
                </a:r>
                <a14:m>
                  <m:oMath xmlns:m="http://schemas.openxmlformats.org/officeDocument/2006/math">
                    <m:r>
                      <a:rPr lang="en-US" altLang="zh-CN" sz="2400" i="1" dirty="0">
                        <a:solidFill>
                          <a:srgbClr val="2926BF"/>
                        </a:solidFill>
                        <a:latin typeface="Cambria Math" panose="02040503050406030204" pitchFamily="18" charset="0"/>
                      </a:rPr>
                      <m:t>𝑟</m:t>
                    </m:r>
                    <m:r>
                      <a:rPr lang="en-US" altLang="zh-CN" sz="2400" i="1" dirty="0">
                        <a:solidFill>
                          <a:srgbClr val="2926BF"/>
                        </a:solidFill>
                        <a:latin typeface="Cambria Math" panose="02040503050406030204" pitchFamily="18" charset="0"/>
                      </a:rPr>
                      <m:t>+</m:t>
                    </m:r>
                    <m:r>
                      <m:rPr>
                        <m:nor/>
                      </m:rPr>
                      <a:rPr lang="en-US" altLang="zh-CN" sz="2400" dirty="0" err="1">
                        <a:solidFill>
                          <a:srgbClr val="2926BF"/>
                        </a:solidFill>
                        <a:latin typeface="Times New Roman" panose="02020603050405020304" pitchFamily="18" charset="0"/>
                        <a:cs typeface="Times New Roman" panose="02020603050405020304" pitchFamily="18" charset="0"/>
                      </a:rPr>
                      <m:t>d</m:t>
                    </m:r>
                    <m:r>
                      <a:rPr lang="en-US" altLang="zh-CN" sz="2400" i="1" dirty="0" err="1">
                        <a:solidFill>
                          <a:srgbClr val="2926BF"/>
                        </a:solidFill>
                        <a:latin typeface="Cambria Math" panose="02040503050406030204" pitchFamily="18" charset="0"/>
                      </a:rPr>
                      <m:t>𝑟</m:t>
                    </m:r>
                  </m:oMath>
                </a14:m>
                <a:r>
                  <a:rPr lang="en-US" altLang="zh-CN" sz="2400" dirty="0">
                    <a:solidFill>
                      <a:srgbClr val="2926BF"/>
                    </a:solidFill>
                    <a:latin typeface="Times New Roman" panose="02020603050405020304" pitchFamily="18" charset="0"/>
                    <a:cs typeface="Times New Roman" panose="02020603050405020304" pitchFamily="18" charset="0"/>
                  </a:rPr>
                  <a:t>:</a:t>
                </a:r>
                <a:endParaRPr lang="en-US" altLang="zh-CN" sz="2400" dirty="0">
                  <a:solidFill>
                    <a:srgbClr val="2926BF"/>
                  </a:solidFill>
                  <a:latin typeface="Times New Roman" panose="02020603050405020304" pitchFamily="18" charset="0"/>
                  <a:cs typeface="Times New Roman" panose="02020603050405020304" pitchFamily="18" charset="0"/>
                </a:endParaRPr>
              </a:p>
              <a:p>
                <a:endParaRPr lang="en-US" altLang="zh-CN" sz="2400" dirty="0">
                  <a:solidFill>
                    <a:srgbClr val="2926BF"/>
                  </a:solidFill>
                  <a:latin typeface="Times New Roman" panose="02020603050405020304" pitchFamily="18" charset="0"/>
                  <a:cs typeface="Times New Roman" panose="02020603050405020304" pitchFamily="18" charset="0"/>
                </a:endParaRPr>
              </a:p>
              <a:p>
                <a:endParaRPr lang="en-US" altLang="zh-CN" sz="2400" dirty="0">
                  <a:solidFill>
                    <a:srgbClr val="2926BF"/>
                  </a:solidFill>
                  <a:latin typeface="Times New Roman" panose="02020603050405020304" pitchFamily="18" charset="0"/>
                  <a:cs typeface="Times New Roman" panose="02020603050405020304" pitchFamily="18" charset="0"/>
                </a:endParaRPr>
              </a:p>
              <a:p>
                <a:endParaRPr lang="en-US" altLang="zh-CN" sz="2400" dirty="0">
                  <a:solidFill>
                    <a:srgbClr val="2926BF"/>
                  </a:solidFill>
                  <a:latin typeface="Times New Roman" panose="02020603050405020304" pitchFamily="18" charset="0"/>
                  <a:cs typeface="Times New Roman" panose="02020603050405020304" pitchFamily="18" charset="0"/>
                </a:endParaRPr>
              </a:p>
              <a:p>
                <a:endParaRPr lang="en-US" altLang="zh-CN" sz="2400" dirty="0">
                  <a:solidFill>
                    <a:srgbClr val="2926BF"/>
                  </a:solidFill>
                  <a:latin typeface="Times New Roman" panose="02020603050405020304" pitchFamily="18" charset="0"/>
                  <a:cs typeface="Times New Roman" panose="02020603050405020304" pitchFamily="18" charset="0"/>
                </a:endParaRPr>
              </a:p>
              <a:p>
                <a:endParaRPr lang="en-US" altLang="zh-CN" sz="2400" dirty="0">
                  <a:solidFill>
                    <a:srgbClr val="2926BF"/>
                  </a:solidFill>
                  <a:latin typeface="Times New Roman" panose="02020603050405020304" pitchFamily="18" charset="0"/>
                  <a:cs typeface="Times New Roman" panose="02020603050405020304" pitchFamily="18" charset="0"/>
                </a:endParaRPr>
              </a:p>
              <a:p>
                <a:endParaRPr lang="en-US" altLang="zh-CN" sz="2400" dirty="0">
                  <a:solidFill>
                    <a:srgbClr val="2926BF"/>
                  </a:solidFill>
                  <a:latin typeface="Times New Roman" panose="02020603050405020304" pitchFamily="18" charset="0"/>
                  <a:cs typeface="Times New Roman" panose="02020603050405020304" pitchFamily="18" charset="0"/>
                </a:endParaRPr>
              </a:p>
              <a:p>
                <a:endParaRPr lang="en-US" altLang="zh-CN" sz="2400" dirty="0">
                  <a:solidFill>
                    <a:srgbClr val="2926BF"/>
                  </a:solidFill>
                  <a:latin typeface="Times New Roman" panose="02020603050405020304" pitchFamily="18" charset="0"/>
                  <a:cs typeface="Times New Roman" panose="02020603050405020304" pitchFamily="18" charset="0"/>
                </a:endParaRPr>
              </a:p>
              <a:p>
                <a:pPr>
                  <a:spcBef>
                    <a:spcPts val="1200"/>
                  </a:spcBef>
                </a:pPr>
                <a14:m>
                  <m:oMath xmlns:m="http://schemas.openxmlformats.org/officeDocument/2006/math">
                    <m:sSub>
                      <m:sSubPr>
                        <m:ctrlPr>
                          <a:rPr lang="en-US" altLang="zh-CN" sz="2400" i="1" dirty="0">
                            <a:solidFill>
                              <a:srgbClr val="2926BF"/>
                            </a:solidFill>
                            <a:latin typeface="Cambria Math" panose="02040503050406030204" pitchFamily="18" charset="0"/>
                          </a:rPr>
                        </m:ctrlPr>
                      </m:sSubPr>
                      <m:e>
                        <m:r>
                          <a:rPr lang="en-US" altLang="zh-CN" sz="2400" i="1" dirty="0">
                            <a:solidFill>
                              <a:srgbClr val="2926BF"/>
                            </a:solidFill>
                            <a:latin typeface="Cambria Math" panose="02040503050406030204" pitchFamily="18" charset="0"/>
                          </a:rPr>
                          <m:t>𝑃</m:t>
                        </m:r>
                      </m:e>
                      <m:sub>
                        <m:r>
                          <a:rPr lang="en-US" altLang="zh-CN" sz="2400" i="1" dirty="0">
                            <a:solidFill>
                              <a:srgbClr val="2926BF"/>
                            </a:solidFill>
                            <a:latin typeface="Cambria Math" panose="02040503050406030204" pitchFamily="18" charset="0"/>
                          </a:rPr>
                          <m:t>𝑛𝑙</m:t>
                        </m:r>
                      </m:sub>
                    </m:sSub>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𝑟</m:t>
                    </m:r>
                    <m:r>
                      <a:rPr lang="en-US" altLang="zh-CN" sz="2400" i="1" dirty="0">
                        <a:solidFill>
                          <a:srgbClr val="2926BF"/>
                        </a:solidFill>
                        <a:latin typeface="Cambria Math" panose="02040503050406030204" pitchFamily="18" charset="0"/>
                      </a:rPr>
                      <m:t>) </m:t>
                    </m:r>
                  </m:oMath>
                </a14:m>
                <a:r>
                  <a:rPr lang="en-US" altLang="zh-CN" sz="2400" dirty="0">
                    <a:latin typeface="Times New Roman" panose="02020603050405020304" pitchFamily="18" charset="0"/>
                    <a:cs typeface="Times New Roman" panose="02020603050405020304" pitchFamily="18" charset="0"/>
                  </a:rPr>
                  <a:t>is called the </a:t>
                </a:r>
                <a:r>
                  <a:rPr lang="en-US" altLang="zh-CN" sz="2400" i="1" dirty="0">
                    <a:solidFill>
                      <a:srgbClr val="B02B08"/>
                    </a:solidFill>
                    <a:latin typeface="Times New Roman" panose="02020603050405020304" pitchFamily="18" charset="0"/>
                    <a:cs typeface="Times New Roman" panose="02020603050405020304" pitchFamily="18" charset="0"/>
                  </a:rPr>
                  <a:t>radial probability density.</a:t>
                </a:r>
                <a:r>
                  <a:rPr lang="en-US" altLang="zh-CN" sz="2400" dirty="0">
                    <a:solidFill>
                      <a:srgbClr val="B02B08"/>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Note that it is independent of </a:t>
                </a:r>
                <a:r>
                  <a:rPr lang="en-US" altLang="zh-CN" sz="2400" i="1" dirty="0">
                    <a:solidFill>
                      <a:srgbClr val="2926BF"/>
                    </a:solidFill>
                    <a:latin typeface="Times New Roman" panose="02020603050405020304" pitchFamily="18" charset="0"/>
                    <a:cs typeface="Times New Roman" panose="02020603050405020304" pitchFamily="18" charset="0"/>
                  </a:rPr>
                  <a:t>m</a:t>
                </a:r>
                <a:endParaRPr lang="zh-CN" altLang="en-US" sz="2400" dirty="0">
                  <a:latin typeface="Times New Roman" panose="02020603050405020304" pitchFamily="18" charset="0"/>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224322" y="1045318"/>
                <a:ext cx="11739715" cy="4833374"/>
              </a:xfrm>
              <a:prstGeom prst="rect">
                <a:avLst/>
              </a:prstGeom>
              <a:blipFill rotWithShape="1">
                <a:blip r:embed="rId1"/>
                <a:stretch>
                  <a:fillRect l="-1" t="-2" b="10"/>
                </a:stretch>
              </a:blipFill>
            </p:spPr>
            <p:txBody>
              <a:bodyPr/>
              <a:lstStyle/>
              <a:p>
                <a:r>
                  <a:rPr lang="zh-CN" altLang="en-US">
                    <a:noFill/>
                  </a:rPr>
                  <a:t> </a:t>
                </a:r>
              </a:p>
            </p:txBody>
          </p:sp>
        </mc:Fallback>
      </mc:AlternateContent>
      <p:graphicFrame>
        <p:nvGraphicFramePr>
          <p:cNvPr id="4" name="对象 3"/>
          <p:cNvGraphicFramePr>
            <a:graphicFrameLocks noChangeAspect="1"/>
          </p:cNvGraphicFramePr>
          <p:nvPr/>
        </p:nvGraphicFramePr>
        <p:xfrm>
          <a:off x="3751376" y="2665829"/>
          <a:ext cx="5968800" cy="2640960"/>
        </p:xfrm>
        <a:graphic>
          <a:graphicData uri="http://schemas.openxmlformats.org/presentationml/2006/ole">
            <mc:AlternateContent xmlns:mc="http://schemas.openxmlformats.org/markup-compatibility/2006">
              <mc:Choice xmlns:v="urn:schemas-microsoft-com:vml" Requires="v">
                <p:oleObj spid="_x0000_s5" name="Equation" r:id="rId2" imgW="71628000" imgH="31699200" progId="Equation.DSMT4">
                  <p:embed/>
                </p:oleObj>
              </mc:Choice>
              <mc:Fallback>
                <p:oleObj name="Equation" r:id="rId2" imgW="71628000" imgH="31699200" progId="Equation.DSMT4">
                  <p:embed/>
                  <p:pic>
                    <p:nvPicPr>
                      <p:cNvPr id="0" name="图片 4"/>
                      <p:cNvPicPr/>
                      <p:nvPr/>
                    </p:nvPicPr>
                    <p:blipFill>
                      <a:blip r:embed="rId3"/>
                      <a:stretch>
                        <a:fillRect/>
                      </a:stretch>
                    </p:blipFill>
                    <p:spPr>
                      <a:xfrm>
                        <a:off x="3751376" y="2665829"/>
                        <a:ext cx="5968800" cy="2640960"/>
                      </a:xfrm>
                      <a:prstGeom prst="rect">
                        <a:avLst/>
                      </a:prstGeom>
                    </p:spPr>
                  </p:pic>
                </p:oleObj>
              </mc:Fallback>
            </mc:AlternateContent>
          </a:graphicData>
        </a:graphic>
      </p:graphicFrame>
      <p:sp>
        <p:nvSpPr>
          <p:cNvPr id="6"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7" name="灯片编号占位符 6"/>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7178826" y="328596"/>
            <a:ext cx="4182900" cy="2709852"/>
          </a:xfrm>
          <a:prstGeom prst="rect">
            <a:avLst/>
          </a:prstGeom>
        </p:spPr>
      </p:pic>
      <mc:AlternateContent xmlns:mc="http://schemas.openxmlformats.org/markup-compatibility/2006">
        <mc:Choice xmlns:a14="http://schemas.microsoft.com/office/drawing/2010/main" Requires="a14">
          <p:sp>
            <p:nvSpPr>
              <p:cNvPr id="3" name="内容占位符 3"/>
              <p:cNvSpPr>
                <a:spLocks noGrp="1"/>
              </p:cNvSpPr>
              <p:nvPr>
                <p:ph idx="1"/>
              </p:nvPr>
            </p:nvSpPr>
            <p:spPr>
              <a:xfrm>
                <a:off x="830274" y="643803"/>
                <a:ext cx="8208960" cy="4923091"/>
              </a:xfrm>
            </p:spPr>
            <p:txBody>
              <a:bodyPr>
                <a:normAutofit fontScale="92500" lnSpcReduction="20000"/>
              </a:bodyPr>
              <a:lstStyle/>
              <a:p>
                <a:pPr marL="0" indent="0">
                  <a:lnSpc>
                    <a:spcPct val="120000"/>
                  </a:lnSpc>
                  <a:spcBef>
                    <a:spcPts val="1200"/>
                  </a:spcBef>
                  <a:buNone/>
                </a:pPr>
                <a:r>
                  <a:rPr lang="en-US" altLang="zh-CN" sz="2400" dirty="0">
                    <a:latin typeface="Times New Roman" panose="02020603050405020304" pitchFamily="18" charset="0"/>
                    <a:cs typeface="Times New Roman" panose="02020603050405020304" pitchFamily="18" charset="0"/>
                  </a:rPr>
                  <a:t>E.g., for hydrogen </a:t>
                </a:r>
                <a14:m>
                  <m:oMath xmlns:m="http://schemas.openxmlformats.org/officeDocument/2006/math">
                    <m:r>
                      <a:rPr lang="en-US" altLang="zh-CN" sz="2400" i="1" dirty="0">
                        <a:solidFill>
                          <a:srgbClr val="2926BF"/>
                        </a:solidFill>
                        <a:latin typeface="Cambria Math" panose="02040503050406030204" pitchFamily="18" charset="0"/>
                      </a:rPr>
                      <m:t>1</m:t>
                    </m:r>
                    <m:r>
                      <a:rPr lang="en-US" altLang="zh-CN" sz="2400" i="1" dirty="0">
                        <a:solidFill>
                          <a:srgbClr val="2926BF"/>
                        </a:solidFill>
                        <a:latin typeface="Cambria Math" panose="02040503050406030204" pitchFamily="18" charset="0"/>
                      </a:rPr>
                      <m:t>𝑠</m:t>
                    </m:r>
                  </m:oMath>
                </a14:m>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pPr marL="0" indent="0">
                  <a:lnSpc>
                    <a:spcPct val="120000"/>
                  </a:lnSpc>
                  <a:spcBef>
                    <a:spcPts val="1200"/>
                  </a:spcBef>
                  <a:buNone/>
                </a:pPr>
                <a:endParaRPr lang="en-US" altLang="zh-CN" sz="2400" dirty="0">
                  <a:latin typeface="Times New Roman" panose="02020603050405020304" pitchFamily="18" charset="0"/>
                  <a:cs typeface="Times New Roman" panose="02020603050405020304" pitchFamily="18" charset="0"/>
                </a:endParaRPr>
              </a:p>
              <a:p>
                <a:pPr marL="0" indent="0">
                  <a:lnSpc>
                    <a:spcPct val="120000"/>
                  </a:lnSpc>
                  <a:spcBef>
                    <a:spcPts val="1200"/>
                  </a:spcBef>
                  <a:buNone/>
                </a:pPr>
                <a:endParaRPr lang="en-US" altLang="zh-CN" sz="2400" dirty="0">
                  <a:latin typeface="Times New Roman" panose="02020603050405020304" pitchFamily="18" charset="0"/>
                  <a:cs typeface="Times New Roman" panose="02020603050405020304" pitchFamily="18" charset="0"/>
                </a:endParaRPr>
              </a:p>
              <a:p>
                <a:pPr marL="0" indent="0">
                  <a:lnSpc>
                    <a:spcPct val="120000"/>
                  </a:lnSpc>
                  <a:spcBef>
                    <a:spcPts val="1200"/>
                  </a:spcBef>
                  <a:buNone/>
                </a:pPr>
                <a:endParaRPr lang="en-US" altLang="zh-CN" sz="2400" dirty="0">
                  <a:latin typeface="Times New Roman" panose="02020603050405020304" pitchFamily="18" charset="0"/>
                  <a:cs typeface="Times New Roman" panose="02020603050405020304" pitchFamily="18" charset="0"/>
                </a:endParaRPr>
              </a:p>
              <a:p>
                <a:pPr marL="0" indent="0">
                  <a:lnSpc>
                    <a:spcPct val="120000"/>
                  </a:lnSpc>
                  <a:spcBef>
                    <a:spcPts val="1200"/>
                  </a:spcBef>
                  <a:buNone/>
                </a:pPr>
                <a:r>
                  <a:rPr lang="en-US" altLang="zh-CN" sz="2400" dirty="0">
                    <a:latin typeface="Times New Roman" panose="02020603050405020304" pitchFamily="18" charset="0"/>
                    <a:cs typeface="Times New Roman" panose="02020603050405020304" pitchFamily="18" charset="0"/>
                  </a:rPr>
                  <a:t>so</a:t>
                </a:r>
                <a:endParaRPr lang="en-US" altLang="zh-CN" sz="2400" dirty="0">
                  <a:latin typeface="Times New Roman" panose="02020603050405020304" pitchFamily="18" charset="0"/>
                  <a:cs typeface="Times New Roman" panose="02020603050405020304" pitchFamily="18" charset="0"/>
                </a:endParaRPr>
              </a:p>
              <a:p>
                <a:pPr marL="0" indent="0">
                  <a:lnSpc>
                    <a:spcPct val="120000"/>
                  </a:lnSpc>
                  <a:spcBef>
                    <a:spcPts val="1200"/>
                  </a:spcBef>
                  <a:buNone/>
                </a:pPr>
                <a:endParaRPr lang="en-US" altLang="zh-CN" sz="2400" dirty="0">
                  <a:latin typeface="Times New Roman" panose="02020603050405020304" pitchFamily="18" charset="0"/>
                  <a:cs typeface="Times New Roman" panose="02020603050405020304" pitchFamily="18" charset="0"/>
                </a:endParaRPr>
              </a:p>
              <a:p>
                <a:pPr marL="0" indent="0">
                  <a:lnSpc>
                    <a:spcPct val="120000"/>
                  </a:lnSpc>
                  <a:spcBef>
                    <a:spcPts val="1200"/>
                  </a:spcBef>
                  <a:buNone/>
                </a:pPr>
                <a:r>
                  <a:rPr lang="en-US" altLang="zh-CN" sz="2400" dirty="0">
                    <a:latin typeface="Times New Roman" panose="02020603050405020304" pitchFamily="18" charset="0"/>
                    <a:cs typeface="Times New Roman" panose="02020603050405020304" pitchFamily="18" charset="0"/>
                  </a:rPr>
                  <a:t>To find the maximum in </a:t>
                </a:r>
                <a14:m>
                  <m:oMath xmlns:m="http://schemas.openxmlformats.org/officeDocument/2006/math">
                    <m:r>
                      <a:rPr lang="en-US" altLang="zh-CN" sz="2400" i="1" dirty="0">
                        <a:solidFill>
                          <a:srgbClr val="2926BF"/>
                        </a:solidFill>
                        <a:latin typeface="Cambria Math" panose="02040503050406030204" pitchFamily="18" charset="0"/>
                      </a:rPr>
                      <m:t>𝑃</m:t>
                    </m:r>
                    <m:r>
                      <a:rPr lang="en-US" altLang="zh-CN" sz="2400" i="1" baseline="-25000" dirty="0">
                        <a:solidFill>
                          <a:srgbClr val="2926BF"/>
                        </a:solidFill>
                        <a:latin typeface="Cambria Math" panose="02040503050406030204" pitchFamily="18" charset="0"/>
                      </a:rPr>
                      <m:t>1</m:t>
                    </m:r>
                    <m:r>
                      <a:rPr lang="en-US" altLang="zh-CN" sz="2400" i="1" baseline="-25000" dirty="0">
                        <a:solidFill>
                          <a:srgbClr val="2926BF"/>
                        </a:solidFill>
                        <a:latin typeface="Cambria Math" panose="02040503050406030204" pitchFamily="18" charset="0"/>
                      </a:rPr>
                      <m:t>𝑠</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𝑟</m:t>
                    </m:r>
                    <m:r>
                      <a:rPr lang="en-US" altLang="zh-CN" sz="2400" i="1" dirty="0">
                        <a:solidFill>
                          <a:srgbClr val="2926BF"/>
                        </a:solidFill>
                        <a:latin typeface="Cambria Math" panose="02040503050406030204" pitchFamily="18" charset="0"/>
                      </a:rPr>
                      <m:t>)</m:t>
                    </m:r>
                  </m:oMath>
                </a14:m>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pPr marL="0" indent="0">
                  <a:lnSpc>
                    <a:spcPct val="120000"/>
                  </a:lnSpc>
                  <a:spcBef>
                    <a:spcPts val="1200"/>
                  </a:spcBef>
                  <a:buNone/>
                </a:pPr>
                <a:endParaRPr lang="en-US" altLang="zh-CN" sz="2400" dirty="0">
                  <a:latin typeface="Times New Roman" panose="02020603050405020304" pitchFamily="18" charset="0"/>
                  <a:cs typeface="Times New Roman" panose="02020603050405020304" pitchFamily="18" charset="0"/>
                </a:endParaRPr>
              </a:p>
              <a:p>
                <a:pPr marL="0" indent="0">
                  <a:lnSpc>
                    <a:spcPct val="120000"/>
                  </a:lnSpc>
                  <a:spcBef>
                    <a:spcPts val="1200"/>
                  </a:spcBef>
                  <a:buNone/>
                </a:pPr>
                <a:r>
                  <a:rPr lang="en-US" altLang="zh-CN" sz="2400" dirty="0">
                    <a:latin typeface="Times New Roman" panose="02020603050405020304" pitchFamily="18" charset="0"/>
                    <a:cs typeface="Times New Roman" panose="02020603050405020304" pitchFamily="18" charset="0"/>
                  </a:rPr>
                  <a:t>so the maximum is at </a:t>
                </a:r>
                <a14:m>
                  <m:oMath xmlns:m="http://schemas.openxmlformats.org/officeDocument/2006/math">
                    <m:r>
                      <a:rPr lang="en-US" altLang="zh-CN" sz="2400" i="1" dirty="0">
                        <a:solidFill>
                          <a:srgbClr val="2926BF"/>
                        </a:solidFill>
                        <a:latin typeface="Cambria Math" panose="02040503050406030204" pitchFamily="18" charset="0"/>
                      </a:rPr>
                      <m:t>𝑟</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1</m:t>
                    </m:r>
                  </m:oMath>
                </a14:m>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pPr marL="0" indent="0">
                  <a:lnSpc>
                    <a:spcPct val="120000"/>
                  </a:lnSpc>
                  <a:spcBef>
                    <a:spcPts val="1200"/>
                  </a:spcBef>
                  <a:buNone/>
                </a:pPr>
                <a:r>
                  <a:rPr lang="en-US" altLang="zh-CN" sz="2400" dirty="0">
                    <a:latin typeface="Times New Roman" panose="02020603050405020304" pitchFamily="18" charset="0"/>
                    <a:cs typeface="Times New Roman" panose="02020603050405020304" pitchFamily="18" charset="0"/>
                  </a:rPr>
                  <a:t>Note that this is not the same as the expectation value of </a:t>
                </a:r>
                <a14:m>
                  <m:oMath xmlns:m="http://schemas.openxmlformats.org/officeDocument/2006/math">
                    <m:r>
                      <a:rPr lang="en-US" altLang="zh-CN" sz="2400" i="1" dirty="0">
                        <a:solidFill>
                          <a:srgbClr val="2926BF"/>
                        </a:solidFill>
                        <a:latin typeface="Cambria Math" panose="02040503050406030204" pitchFamily="18" charset="0"/>
                      </a:rPr>
                      <m:t>𝑟</m:t>
                    </m:r>
                  </m:oMath>
                </a14:m>
                <a:r>
                  <a:rPr lang="en-US" altLang="zh-CN"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p:txBody>
          </p:sp>
        </mc:Choice>
        <mc:Fallback>
          <p:sp>
            <p:nvSpPr>
              <p:cNvPr id="3" name="内容占位符 3"/>
              <p:cNvSpPr>
                <a:spLocks noRot="1" noChangeAspect="1" noMove="1" noResize="1" noEditPoints="1" noAdjustHandles="1" noChangeArrowheads="1" noChangeShapeType="1" noTextEdit="1"/>
              </p:cNvSpPr>
              <p:nvPr>
                <p:ph idx="1"/>
              </p:nvPr>
            </p:nvSpPr>
            <p:spPr>
              <a:xfrm>
                <a:off x="830274" y="643803"/>
                <a:ext cx="8208960" cy="4923091"/>
              </a:xfrm>
              <a:blipFill rotWithShape="1">
                <a:blip r:embed="rId2"/>
                <a:stretch>
                  <a:fillRect l="-4" t="-11" b="10"/>
                </a:stretch>
              </a:blipFill>
            </p:spPr>
            <p:txBody>
              <a:bodyPr/>
              <a:lstStyle/>
              <a:p>
                <a:r>
                  <a:rPr lang="zh-CN" altLang="en-US">
                    <a:noFill/>
                  </a:rPr>
                  <a:t> </a:t>
                </a:r>
              </a:p>
            </p:txBody>
          </p:sp>
        </mc:Fallback>
      </mc:AlternateContent>
      <p:graphicFrame>
        <p:nvGraphicFramePr>
          <p:cNvPr id="4" name="对象 3"/>
          <p:cNvGraphicFramePr>
            <a:graphicFrameLocks noChangeAspect="1"/>
          </p:cNvGraphicFramePr>
          <p:nvPr/>
        </p:nvGraphicFramePr>
        <p:xfrm>
          <a:off x="2391931" y="1291106"/>
          <a:ext cx="4216400" cy="889000"/>
        </p:xfrm>
        <a:graphic>
          <a:graphicData uri="http://schemas.openxmlformats.org/presentationml/2006/ole">
            <mc:AlternateContent xmlns:mc="http://schemas.openxmlformats.org/markup-compatibility/2006">
              <mc:Choice xmlns:v="urn:schemas-microsoft-com:vml" Requires="v">
                <p:oleObj spid="_x0000_s5" name="Equation" r:id="rId3" imgW="50596800" imgH="10668000" progId="Equation.DSMT4">
                  <p:embed/>
                </p:oleObj>
              </mc:Choice>
              <mc:Fallback>
                <p:oleObj name="Equation" r:id="rId3" imgW="50596800" imgH="10668000" progId="Equation.DSMT4">
                  <p:embed/>
                  <p:pic>
                    <p:nvPicPr>
                      <p:cNvPr id="0" name="图片 4"/>
                      <p:cNvPicPr/>
                      <p:nvPr/>
                    </p:nvPicPr>
                    <p:blipFill>
                      <a:blip r:embed="rId4"/>
                      <a:stretch>
                        <a:fillRect/>
                      </a:stretch>
                    </p:blipFill>
                    <p:spPr>
                      <a:xfrm>
                        <a:off x="2391931" y="1291106"/>
                        <a:ext cx="4216400" cy="88900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2676451" y="2589856"/>
          <a:ext cx="3301920" cy="558720"/>
        </p:xfrm>
        <a:graphic>
          <a:graphicData uri="http://schemas.openxmlformats.org/presentationml/2006/ole">
            <mc:AlternateContent xmlns:mc="http://schemas.openxmlformats.org/markup-compatibility/2006">
              <mc:Choice xmlns:v="urn:schemas-microsoft-com:vml" Requires="v">
                <p:oleObj spid="_x0000_s7" name="Equation" r:id="rId5" imgW="39624000" imgH="6705600" progId="Equation.DSMT4">
                  <p:embed/>
                </p:oleObj>
              </mc:Choice>
              <mc:Fallback>
                <p:oleObj name="Equation" r:id="rId5" imgW="39624000" imgH="6705600" progId="Equation.DSMT4">
                  <p:embed/>
                  <p:pic>
                    <p:nvPicPr>
                      <p:cNvPr id="0" name="图片 6"/>
                      <p:cNvPicPr/>
                      <p:nvPr/>
                    </p:nvPicPr>
                    <p:blipFill>
                      <a:blip r:embed="rId6"/>
                      <a:stretch>
                        <a:fillRect/>
                      </a:stretch>
                    </p:blipFill>
                    <p:spPr>
                      <a:xfrm>
                        <a:off x="2676451" y="2589856"/>
                        <a:ext cx="3301920" cy="55872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4934754" y="3426073"/>
          <a:ext cx="4952880" cy="786960"/>
        </p:xfrm>
        <a:graphic>
          <a:graphicData uri="http://schemas.openxmlformats.org/presentationml/2006/ole">
            <mc:AlternateContent xmlns:mc="http://schemas.openxmlformats.org/markup-compatibility/2006">
              <mc:Choice xmlns:v="urn:schemas-microsoft-com:vml" Requires="v">
                <p:oleObj spid="_x0000_s9" name="Equation" r:id="rId7" imgW="59436000" imgH="9448800" progId="Equation.DSMT4">
                  <p:embed/>
                </p:oleObj>
              </mc:Choice>
              <mc:Fallback>
                <p:oleObj name="Equation" r:id="rId7" imgW="59436000" imgH="9448800" progId="Equation.DSMT4">
                  <p:embed/>
                  <p:pic>
                    <p:nvPicPr>
                      <p:cNvPr id="0" name="图片 8"/>
                      <p:cNvPicPr/>
                      <p:nvPr/>
                    </p:nvPicPr>
                    <p:blipFill>
                      <a:blip r:embed="rId8"/>
                      <a:stretch>
                        <a:fillRect/>
                      </a:stretch>
                    </p:blipFill>
                    <p:spPr>
                      <a:xfrm>
                        <a:off x="4934754" y="3426073"/>
                        <a:ext cx="4952880" cy="78696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3835560" y="5595613"/>
          <a:ext cx="4520880" cy="786960"/>
        </p:xfrm>
        <a:graphic>
          <a:graphicData uri="http://schemas.openxmlformats.org/presentationml/2006/ole">
            <mc:AlternateContent xmlns:mc="http://schemas.openxmlformats.org/markup-compatibility/2006">
              <mc:Choice xmlns:v="urn:schemas-microsoft-com:vml" Requires="v">
                <p:oleObj spid="_x0000_s11" name="Equation" r:id="rId9" imgW="54254400" imgH="9448800" progId="Equation.DSMT4">
                  <p:embed/>
                </p:oleObj>
              </mc:Choice>
              <mc:Fallback>
                <p:oleObj name="Equation" r:id="rId9" imgW="54254400" imgH="9448800" progId="Equation.DSMT4">
                  <p:embed/>
                  <p:pic>
                    <p:nvPicPr>
                      <p:cNvPr id="0" name="图片 10"/>
                      <p:cNvPicPr/>
                      <p:nvPr/>
                    </p:nvPicPr>
                    <p:blipFill>
                      <a:blip r:embed="rId10"/>
                      <a:stretch>
                        <a:fillRect/>
                      </a:stretch>
                    </p:blipFill>
                    <p:spPr>
                      <a:xfrm>
                        <a:off x="3835560" y="5595613"/>
                        <a:ext cx="4520880" cy="786960"/>
                      </a:xfrm>
                      <a:prstGeom prst="rect">
                        <a:avLst/>
                      </a:prstGeom>
                    </p:spPr>
                  </p:pic>
                </p:oleObj>
              </mc:Fallback>
            </mc:AlternateContent>
          </a:graphicData>
        </a:graphic>
      </p:graphicFrame>
      <p:sp>
        <p:nvSpPr>
          <p:cNvPr id="12" name="灯片编号占位符 11"/>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2-4"/>
          <p:cNvPicPr>
            <a:picLocks noChangeAspect="1" noChangeArrowheads="1"/>
          </p:cNvPicPr>
          <p:nvPr/>
        </p:nvPicPr>
        <p:blipFill>
          <a:blip r:embed="rId1">
            <a:grayscl/>
            <a:lum bright="-20000" contrast="40000"/>
            <a:extLst>
              <a:ext uri="{28A0092B-C50C-407E-A947-70E740481C1C}">
                <a14:useLocalDpi xmlns:a14="http://schemas.microsoft.com/office/drawing/2010/main" val="0"/>
              </a:ext>
            </a:extLst>
          </a:blip>
          <a:srcRect t="5920"/>
          <a:stretch>
            <a:fillRect/>
          </a:stretch>
        </p:blipFill>
        <p:spPr bwMode="auto">
          <a:xfrm>
            <a:off x="7434714" y="547385"/>
            <a:ext cx="4510276" cy="5463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7"/>
          <p:cNvSpPr>
            <a:spLocks noChangeArrowheads="1"/>
          </p:cNvSpPr>
          <p:nvPr/>
        </p:nvSpPr>
        <p:spPr bwMode="auto">
          <a:xfrm>
            <a:off x="577517" y="1104405"/>
            <a:ext cx="6063916" cy="2100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fontAlgn="base">
              <a:spcBef>
                <a:spcPct val="20000"/>
              </a:spcBef>
              <a:spcAft>
                <a:spcPct val="0"/>
              </a:spcAft>
              <a:buFont typeface="Wingdings" panose="05000000000000000000" pitchFamily="2" charset="2"/>
              <a:buChar char="Ø"/>
            </a:pPr>
            <a:r>
              <a:rPr kumimoji="1" lang="en-US" altLang="zh-CN" sz="2400" dirty="0">
                <a:latin typeface="Times New Roman" panose="02020603050405020304" pitchFamily="18" charset="0"/>
                <a:cs typeface="Times New Roman" panose="02020603050405020304" pitchFamily="18" charset="0"/>
              </a:rPr>
              <a:t>A spherical surface with the electron density of zero is called a </a:t>
            </a:r>
            <a:r>
              <a:rPr kumimoji="1" lang="en-US" altLang="zh-CN" sz="2400" i="1" dirty="0">
                <a:latin typeface="Times New Roman" panose="02020603050405020304" pitchFamily="18" charset="0"/>
                <a:cs typeface="Times New Roman" panose="02020603050405020304" pitchFamily="18" charset="0"/>
              </a:rPr>
              <a:t>node</a:t>
            </a:r>
            <a:r>
              <a:rPr kumimoji="1" lang="en-US" altLang="zh-CN" sz="2400" dirty="0">
                <a:latin typeface="Times New Roman" panose="02020603050405020304" pitchFamily="18" charset="0"/>
                <a:cs typeface="Times New Roman" panose="02020603050405020304" pitchFamily="18" charset="0"/>
              </a:rPr>
              <a:t>, or </a:t>
            </a:r>
            <a:r>
              <a:rPr kumimoji="1" lang="en-US" altLang="zh-CN" sz="2400" i="1" dirty="0">
                <a:latin typeface="Times New Roman" panose="02020603050405020304" pitchFamily="18" charset="0"/>
                <a:cs typeface="Times New Roman" panose="02020603050405020304" pitchFamily="18" charset="0"/>
              </a:rPr>
              <a:t>nodal surface</a:t>
            </a:r>
            <a:r>
              <a:rPr kumimoji="1" lang="en-US" altLang="zh-CN" sz="2400" dirty="0">
                <a:latin typeface="Times New Roman" panose="02020603050405020304" pitchFamily="18" charset="0"/>
                <a:cs typeface="Times New Roman" panose="02020603050405020304" pitchFamily="18" charset="0"/>
              </a:rPr>
              <a:t>.</a:t>
            </a:r>
            <a:r>
              <a:rPr lang="en-US" altLang="zh-CN" sz="2400" kern="0" dirty="0">
                <a:latin typeface="Times New Roman" panose="02020603050405020304" pitchFamily="18" charset="0"/>
                <a:cs typeface="Times New Roman" panose="02020603050405020304" pitchFamily="18" charset="0"/>
                <a:sym typeface="Symbol" panose="05050102010706020507" pitchFamily="18" charset="2"/>
              </a:rPr>
              <a:t> </a:t>
            </a:r>
            <a:endParaRPr lang="en-US" altLang="zh-CN" sz="2400" kern="0" dirty="0">
              <a:latin typeface="Times New Roman" panose="02020603050405020304" pitchFamily="18" charset="0"/>
              <a:cs typeface="Times New Roman" panose="02020603050405020304" pitchFamily="18" charset="0"/>
              <a:sym typeface="Symbol" panose="05050102010706020507" pitchFamily="18" charset="2"/>
            </a:endParaRPr>
          </a:p>
          <a:p>
            <a:pPr marL="342900" indent="-342900" algn="just" fontAlgn="base">
              <a:spcBef>
                <a:spcPct val="20000"/>
              </a:spcBef>
              <a:spcAft>
                <a:spcPct val="0"/>
              </a:spcAft>
              <a:buFont typeface="Wingdings" panose="05000000000000000000" pitchFamily="2" charset="2"/>
              <a:buChar char="Ø"/>
            </a:pPr>
            <a:r>
              <a:rPr lang="en-US" altLang="zh-CN" sz="2400" kern="0" dirty="0">
                <a:latin typeface="Times New Roman" panose="02020603050405020304" pitchFamily="18" charset="0"/>
                <a:cs typeface="Times New Roman" panose="02020603050405020304" pitchFamily="18" charset="0"/>
                <a:sym typeface="Symbol" panose="05050102010706020507" pitchFamily="18" charset="2"/>
              </a:rPr>
              <a:t>The radial distribution function has (n-</a:t>
            </a:r>
            <a:r>
              <a:rPr lang="en-US" altLang="zh-CN" sz="2400" i="1" kern="0" dirty="0">
                <a:latin typeface="Times New Roman" panose="02020603050405020304" pitchFamily="18" charset="0"/>
                <a:cs typeface="Times New Roman" panose="02020603050405020304" pitchFamily="18" charset="0"/>
                <a:sym typeface="Symbol" panose="05050102010706020507" pitchFamily="18" charset="2"/>
              </a:rPr>
              <a:t>l</a:t>
            </a:r>
            <a:r>
              <a:rPr lang="en-US" altLang="zh-CN" sz="2400" kern="0" dirty="0">
                <a:latin typeface="Times New Roman" panose="02020603050405020304" pitchFamily="18" charset="0"/>
                <a:cs typeface="Times New Roman" panose="02020603050405020304" pitchFamily="18" charset="0"/>
                <a:sym typeface="Symbol" panose="05050102010706020507" pitchFamily="18" charset="2"/>
              </a:rPr>
              <a:t>) maxima and (n-</a:t>
            </a:r>
            <a:r>
              <a:rPr lang="en-US" altLang="zh-CN" sz="2400" i="1" kern="0" dirty="0">
                <a:latin typeface="Times New Roman" panose="02020603050405020304" pitchFamily="18" charset="0"/>
                <a:cs typeface="Times New Roman" panose="02020603050405020304" pitchFamily="18" charset="0"/>
                <a:sym typeface="Symbol" panose="05050102010706020507" pitchFamily="18" charset="2"/>
              </a:rPr>
              <a:t>l</a:t>
            </a:r>
            <a:r>
              <a:rPr lang="en-US" altLang="zh-CN" sz="2400" kern="0" dirty="0">
                <a:latin typeface="Times New Roman" panose="02020603050405020304" pitchFamily="18" charset="0"/>
                <a:cs typeface="Times New Roman" panose="02020603050405020304" pitchFamily="18" charset="0"/>
                <a:sym typeface="Symbol" panose="05050102010706020507" pitchFamily="18" charset="2"/>
              </a:rPr>
              <a:t>-1) nodal surfaces</a:t>
            </a:r>
            <a:endParaRPr kumimoji="1" lang="en-US" altLang="zh-CN" sz="24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 name="矩形 1"/>
              <p:cNvSpPr/>
              <p:nvPr/>
            </p:nvSpPr>
            <p:spPr>
              <a:xfrm>
                <a:off x="6948074" y="460757"/>
                <a:ext cx="973280" cy="40011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CN" sz="2000" i="1" dirty="0">
                              <a:solidFill>
                                <a:srgbClr val="2926BF"/>
                              </a:solidFill>
                              <a:latin typeface="Cambria Math" panose="02040503050406030204" pitchFamily="18" charset="0"/>
                            </a:rPr>
                          </m:ctrlPr>
                        </m:sSubPr>
                        <m:e>
                          <m:r>
                            <a:rPr lang="en-US" altLang="zh-CN" sz="2000" i="1" dirty="0">
                              <a:solidFill>
                                <a:srgbClr val="2926BF"/>
                              </a:solidFill>
                              <a:latin typeface="Cambria Math" panose="02040503050406030204" pitchFamily="18" charset="0"/>
                            </a:rPr>
                            <m:t>𝑃</m:t>
                          </m:r>
                        </m:e>
                        <m:sub>
                          <m:r>
                            <a:rPr lang="en-US" altLang="zh-CN" sz="2000" i="1" dirty="0">
                              <a:solidFill>
                                <a:srgbClr val="2926BF"/>
                              </a:solidFill>
                              <a:latin typeface="Cambria Math" panose="02040503050406030204" pitchFamily="18" charset="0"/>
                            </a:rPr>
                            <m:t>𝑛𝑙</m:t>
                          </m:r>
                        </m:sub>
                      </m:sSub>
                      <m:r>
                        <a:rPr lang="en-US" altLang="zh-CN" sz="2000" i="1" dirty="0">
                          <a:solidFill>
                            <a:srgbClr val="2926BF"/>
                          </a:solidFill>
                          <a:latin typeface="Cambria Math" panose="02040503050406030204" pitchFamily="18" charset="0"/>
                        </a:rPr>
                        <m:t>(</m:t>
                      </m:r>
                      <m:r>
                        <a:rPr lang="en-US" altLang="zh-CN" sz="2000" i="1" dirty="0">
                          <a:solidFill>
                            <a:srgbClr val="2926BF"/>
                          </a:solidFill>
                          <a:latin typeface="Cambria Math" panose="02040503050406030204" pitchFamily="18" charset="0"/>
                        </a:rPr>
                        <m:t>𝑟</m:t>
                      </m:r>
                      <m:r>
                        <a:rPr lang="en-US" altLang="zh-CN" sz="2000" i="1" dirty="0">
                          <a:solidFill>
                            <a:srgbClr val="2926BF"/>
                          </a:solidFill>
                          <a:latin typeface="Cambria Math" panose="02040503050406030204" pitchFamily="18" charset="0"/>
                        </a:rPr>
                        <m:t>) </m:t>
                      </m:r>
                    </m:oMath>
                  </m:oMathPara>
                </a14:m>
                <a:endParaRPr lang="zh-CN" altLang="en-US" sz="2000" dirty="0"/>
              </a:p>
            </p:txBody>
          </p:sp>
        </mc:Choice>
        <mc:Fallback>
          <p:sp>
            <p:nvSpPr>
              <p:cNvPr id="2" name="矩形 1"/>
              <p:cNvSpPr>
                <a:spLocks noRot="1" noChangeAspect="1" noMove="1" noResize="1" noEditPoints="1" noAdjustHandles="1" noChangeArrowheads="1" noChangeShapeType="1" noTextEdit="1"/>
              </p:cNvSpPr>
              <p:nvPr/>
            </p:nvSpPr>
            <p:spPr>
              <a:xfrm>
                <a:off x="6948074" y="460757"/>
                <a:ext cx="973280" cy="400110"/>
              </a:xfrm>
              <a:prstGeom prst="rect">
                <a:avLst/>
              </a:prstGeom>
              <a:blipFill rotWithShape="1">
                <a:blip r:embed="rId2"/>
                <a:stretch>
                  <a:fillRect l="-55" t="-95" r="37" b="110"/>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矩形 3"/>
              <p:cNvSpPr/>
              <p:nvPr/>
            </p:nvSpPr>
            <p:spPr>
              <a:xfrm>
                <a:off x="3006084" y="167898"/>
                <a:ext cx="7227300"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The angular functions </a:t>
                </a:r>
                <a14:m>
                  <m:oMath xmlns:m="http://schemas.openxmlformats.org/officeDocument/2006/math">
                    <m:r>
                      <a:rPr lang="en-US" altLang="zh-CN" sz="2800" i="1" dirty="0">
                        <a:solidFill>
                          <a:srgbClr val="2926BF"/>
                        </a:solidFill>
                        <a:latin typeface="Cambria Math" panose="02040503050406030204" pitchFamily="18" charset="0"/>
                      </a:rPr>
                      <m:t>𝑌</m:t>
                    </m:r>
                    <m:r>
                      <a:rPr lang="en-US" altLang="zh-CN" sz="2800" i="1" baseline="-25000" dirty="0">
                        <a:solidFill>
                          <a:srgbClr val="2926BF"/>
                        </a:solidFill>
                        <a:latin typeface="Cambria Math" panose="02040503050406030204" pitchFamily="18" charset="0"/>
                      </a:rPr>
                      <m:t>𝑙𝑚</m:t>
                    </m:r>
                    <m:r>
                      <a:rPr lang="en-US" altLang="zh-CN" sz="2800" i="1" dirty="0">
                        <a:solidFill>
                          <a:srgbClr val="2926BF"/>
                        </a:solidFill>
                        <a:latin typeface="Cambria Math" panose="02040503050406030204" pitchFamily="18" charset="0"/>
                      </a:rPr>
                      <m:t>(</m:t>
                    </m:r>
                    <m:r>
                      <a:rPr lang="zh-CN" altLang="en-US" sz="2800" i="1" dirty="0">
                        <a:solidFill>
                          <a:srgbClr val="2926BF"/>
                        </a:solidFill>
                        <a:latin typeface="Cambria Math" panose="02040503050406030204" pitchFamily="18" charset="0"/>
                      </a:rPr>
                      <m:t>𝜃</m:t>
                    </m:r>
                    <m:r>
                      <a:rPr lang="en-US" altLang="zh-CN" sz="2800" i="1" dirty="0">
                        <a:solidFill>
                          <a:srgbClr val="2926BF"/>
                        </a:solidFill>
                        <a:latin typeface="Cambria Math" panose="02040503050406030204" pitchFamily="18" charset="0"/>
                      </a:rPr>
                      <m:t>, </m:t>
                    </m:r>
                    <m:r>
                      <a:rPr lang="zh-CN" altLang="en-US" sz="2800" i="1" dirty="0">
                        <a:solidFill>
                          <a:srgbClr val="2926BF"/>
                        </a:solidFill>
                        <a:latin typeface="Cambria Math" panose="02040503050406030204" pitchFamily="18" charset="0"/>
                      </a:rPr>
                      <m:t>𝜑</m:t>
                    </m:r>
                    <m:r>
                      <a:rPr lang="en-US" altLang="zh-CN" sz="2800" i="1" dirty="0">
                        <a:solidFill>
                          <a:srgbClr val="2926BF"/>
                        </a:solidFill>
                        <a:latin typeface="Cambria Math" panose="02040503050406030204" pitchFamily="18" charset="0"/>
                      </a:rPr>
                      <m:t>)</m:t>
                    </m:r>
                  </m:oMath>
                </a14:m>
                <a:r>
                  <a:rPr lang="en-US" altLang="zh-CN" sz="2800" b="1" dirty="0">
                    <a:latin typeface="Times New Roman" panose="02020603050405020304" pitchFamily="18" charset="0"/>
                    <a:cs typeface="Times New Roman" panose="02020603050405020304" pitchFamily="18" charset="0"/>
                  </a:rPr>
                  <a:t> for hydrogen</a:t>
                </a:r>
                <a:endParaRPr lang="zh-CN" altLang="en-US" sz="2800" b="1" dirty="0">
                  <a:latin typeface="Times New Roman" panose="02020603050405020304" pitchFamily="18" charset="0"/>
                  <a:cs typeface="Times New Roman" panose="02020603050405020304" pitchFamily="18" charset="0"/>
                </a:endParaRPr>
              </a:p>
            </p:txBody>
          </p:sp>
        </mc:Choice>
        <mc:Fallback>
          <p:sp>
            <p:nvSpPr>
              <p:cNvPr id="4" name="矩形 3"/>
              <p:cNvSpPr>
                <a:spLocks noRot="1" noChangeAspect="1" noMove="1" noResize="1" noEditPoints="1" noAdjustHandles="1" noChangeArrowheads="1" noChangeShapeType="1" noTextEdit="1"/>
              </p:cNvSpPr>
              <p:nvPr/>
            </p:nvSpPr>
            <p:spPr>
              <a:xfrm>
                <a:off x="3006084" y="167898"/>
                <a:ext cx="7227300" cy="523220"/>
              </a:xfrm>
              <a:prstGeom prst="rect">
                <a:avLst/>
              </a:prstGeom>
              <a:blipFill rotWithShape="1">
                <a:blip r:embed="rId1"/>
                <a:stretch>
                  <a:fillRect l="-9" t="-49" r="5" b="-3838"/>
                </a:stretch>
              </a:blipFill>
            </p:spPr>
            <p:txBody>
              <a:bodyPr/>
              <a:lstStyle/>
              <a:p>
                <a:r>
                  <a:rPr lang="zh-CN" altLang="en-US">
                    <a:noFill/>
                  </a:rPr>
                  <a:t> </a:t>
                </a:r>
              </a:p>
            </p:txBody>
          </p:sp>
        </mc:Fallback>
      </mc:AlternateContent>
      <p:sp>
        <p:nvSpPr>
          <p:cNvPr id="5"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graphicFrame>
        <p:nvGraphicFramePr>
          <p:cNvPr id="6" name="Object 2"/>
          <p:cNvGraphicFramePr>
            <a:graphicFrameLocks noChangeAspect="1"/>
          </p:cNvGraphicFramePr>
          <p:nvPr/>
        </p:nvGraphicFramePr>
        <p:xfrm>
          <a:off x="601663" y="2033588"/>
          <a:ext cx="5207000" cy="889000"/>
        </p:xfrm>
        <a:graphic>
          <a:graphicData uri="http://schemas.openxmlformats.org/presentationml/2006/ole">
            <mc:AlternateContent xmlns:mc="http://schemas.openxmlformats.org/markup-compatibility/2006">
              <mc:Choice xmlns:v="urn:schemas-microsoft-com:vml" Requires="v">
                <p:oleObj spid="_x0000_s2" name="Equation" r:id="rId2" imgW="62484000" imgH="10668000" progId="Equation.DSMT4">
                  <p:embed/>
                </p:oleObj>
              </mc:Choice>
              <mc:Fallback>
                <p:oleObj name="Equation" r:id="rId2" imgW="62484000" imgH="10668000" progId="Equation.DSMT4">
                  <p:embed/>
                  <p:pic>
                    <p:nvPicPr>
                      <p:cNvPr id="0" name="图片 1"/>
                      <p:cNvPicPr>
                        <a:picLocks noChangeAspect="1" noChangeArrowheads="1"/>
                      </p:cNvPicPr>
                      <p:nvPr/>
                    </p:nvPicPr>
                    <p:blipFill>
                      <a:blip r:embed="rId3"/>
                      <a:srcRect/>
                      <a:stretch>
                        <a:fillRect/>
                      </a:stretch>
                    </p:blipFill>
                    <p:spPr bwMode="auto">
                      <a:xfrm>
                        <a:off x="601663" y="2033588"/>
                        <a:ext cx="5207000" cy="889000"/>
                      </a:xfrm>
                      <a:prstGeom prst="rect">
                        <a:avLst/>
                      </a:prstGeom>
                      <a:solidFill>
                        <a:schemeClr val="bg1"/>
                      </a:solidFill>
                      <a:ln>
                        <a:noFill/>
                      </a:ln>
                      <a:effectLst/>
                    </p:spPr>
                  </p:pic>
                </p:oleObj>
              </mc:Fallback>
            </mc:AlternateContent>
          </a:graphicData>
        </a:graphic>
      </p:graphicFrame>
      <p:graphicFrame>
        <p:nvGraphicFramePr>
          <p:cNvPr id="7" name="Object 3"/>
          <p:cNvGraphicFramePr>
            <a:graphicFrameLocks noChangeAspect="1"/>
          </p:cNvGraphicFramePr>
          <p:nvPr/>
        </p:nvGraphicFramePr>
        <p:xfrm>
          <a:off x="601663" y="3284538"/>
          <a:ext cx="3581400" cy="508000"/>
        </p:xfrm>
        <a:graphic>
          <a:graphicData uri="http://schemas.openxmlformats.org/presentationml/2006/ole">
            <mc:AlternateContent xmlns:mc="http://schemas.openxmlformats.org/markup-compatibility/2006">
              <mc:Choice xmlns:v="urn:schemas-microsoft-com:vml" Requires="v">
                <p:oleObj spid="_x0000_s3" name="Equation" r:id="rId4" imgW="42976800" imgH="6096000" progId="Equation.DSMT4">
                  <p:embed/>
                </p:oleObj>
              </mc:Choice>
              <mc:Fallback>
                <p:oleObj name="Equation" r:id="rId4" imgW="42976800" imgH="6096000" progId="Equation.DSMT4">
                  <p:embed/>
                  <p:pic>
                    <p:nvPicPr>
                      <p:cNvPr id="0" name="图片 2"/>
                      <p:cNvPicPr>
                        <a:picLocks noChangeAspect="1" noChangeArrowheads="1"/>
                      </p:cNvPicPr>
                      <p:nvPr/>
                    </p:nvPicPr>
                    <p:blipFill>
                      <a:blip r:embed="rId5"/>
                      <a:srcRect/>
                      <a:stretch>
                        <a:fillRect/>
                      </a:stretch>
                    </p:blipFill>
                    <p:spPr bwMode="auto">
                      <a:xfrm>
                        <a:off x="601663" y="3284538"/>
                        <a:ext cx="3581400" cy="508000"/>
                      </a:xfrm>
                      <a:prstGeom prst="rect">
                        <a:avLst/>
                      </a:prstGeom>
                      <a:solidFill>
                        <a:schemeClr val="bg1"/>
                      </a:solidFill>
                    </p:spPr>
                  </p:pic>
                </p:oleObj>
              </mc:Fallback>
            </mc:AlternateContent>
          </a:graphicData>
        </a:graphic>
      </p:graphicFrame>
      <p:graphicFrame>
        <p:nvGraphicFramePr>
          <p:cNvPr id="8" name="Object 4"/>
          <p:cNvGraphicFramePr>
            <a:graphicFrameLocks noChangeAspect="1"/>
          </p:cNvGraphicFramePr>
          <p:nvPr/>
        </p:nvGraphicFramePr>
        <p:xfrm>
          <a:off x="601663" y="4105275"/>
          <a:ext cx="2997200" cy="508000"/>
        </p:xfrm>
        <a:graphic>
          <a:graphicData uri="http://schemas.openxmlformats.org/presentationml/2006/ole">
            <mc:AlternateContent xmlns:mc="http://schemas.openxmlformats.org/markup-compatibility/2006">
              <mc:Choice xmlns:v="urn:schemas-microsoft-com:vml" Requires="v">
                <p:oleObj spid="_x0000_s9" name="Equation" r:id="rId6" imgW="35966400" imgH="6096000" progId="Equation.DSMT4">
                  <p:embed/>
                </p:oleObj>
              </mc:Choice>
              <mc:Fallback>
                <p:oleObj name="Equation" r:id="rId6" imgW="35966400" imgH="6096000" progId="Equation.DSMT4">
                  <p:embed/>
                  <p:pic>
                    <p:nvPicPr>
                      <p:cNvPr id="0" name="图片 8"/>
                      <p:cNvPicPr>
                        <a:picLocks noChangeAspect="1" noChangeArrowheads="1"/>
                      </p:cNvPicPr>
                      <p:nvPr/>
                    </p:nvPicPr>
                    <p:blipFill>
                      <a:blip r:embed="rId7"/>
                      <a:srcRect/>
                      <a:stretch>
                        <a:fillRect/>
                      </a:stretch>
                    </p:blipFill>
                    <p:spPr bwMode="auto">
                      <a:xfrm>
                        <a:off x="601663" y="4105275"/>
                        <a:ext cx="2997200" cy="508000"/>
                      </a:xfrm>
                      <a:prstGeom prst="rect">
                        <a:avLst/>
                      </a:prstGeom>
                      <a:solidFill>
                        <a:schemeClr val="bg1"/>
                      </a:solidFill>
                    </p:spPr>
                  </p:pic>
                </p:oleObj>
              </mc:Fallback>
            </mc:AlternateContent>
          </a:graphicData>
        </a:graphic>
      </p:graphicFrame>
      <p:sp>
        <p:nvSpPr>
          <p:cNvPr id="10" name="Rectangle 10"/>
          <p:cNvSpPr>
            <a:spLocks noChangeArrowheads="1"/>
          </p:cNvSpPr>
          <p:nvPr/>
        </p:nvSpPr>
        <p:spPr bwMode="auto">
          <a:xfrm>
            <a:off x="472035" y="1329884"/>
            <a:ext cx="68066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50000"/>
              </a:spcBef>
              <a:spcAft>
                <a:spcPct val="0"/>
              </a:spcAft>
            </a:pPr>
            <a:r>
              <a:rPr kumimoji="1" lang="en-US" altLang="en-US" sz="2400" dirty="0">
                <a:latin typeface="Times New Roman" panose="02020603050405020304" pitchFamily="18" charset="0"/>
                <a:ea typeface="宋体" panose="02010600030101010101" pitchFamily="2" charset="-122"/>
                <a:cs typeface="Times New Roman" panose="02020603050405020304" pitchFamily="18" charset="0"/>
              </a:rPr>
              <a:t>Indicates the angular distribution of an atomic orbital.</a:t>
            </a:r>
            <a:endParaRPr kumimoji="1" lang="en-US" altLang="zh-CN" sz="2400" dirty="0">
              <a:latin typeface="Times New Roman" panose="02020603050405020304" pitchFamily="18" charset="0"/>
              <a:cs typeface="Times New Roman" panose="02020603050405020304" pitchFamily="18" charset="0"/>
            </a:endParaRPr>
          </a:p>
        </p:txBody>
      </p:sp>
      <p:pic>
        <p:nvPicPr>
          <p:cNvPr id="11"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78707" y="1897063"/>
            <a:ext cx="4448175" cy="3790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灯片编号占位符 11"/>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038"/>
          <p:cNvGraphicFramePr>
            <a:graphicFrameLocks noChangeAspect="1"/>
          </p:cNvGraphicFramePr>
          <p:nvPr/>
        </p:nvGraphicFramePr>
        <p:xfrm>
          <a:off x="3957955" y="712539"/>
          <a:ext cx="4954588" cy="611187"/>
        </p:xfrm>
        <a:graphic>
          <a:graphicData uri="http://schemas.openxmlformats.org/presentationml/2006/ole">
            <mc:AlternateContent xmlns:mc="http://schemas.openxmlformats.org/markup-compatibility/2006">
              <mc:Choice xmlns:v="urn:schemas-microsoft-com:vml" Requires="v">
                <p:oleObj spid="_x0000_s0" name="Equation" r:id="rId1" imgW="51816000" imgH="6400800" progId="Equation.DSMT4">
                  <p:embed/>
                </p:oleObj>
              </mc:Choice>
              <mc:Fallback>
                <p:oleObj name="Equation" r:id="rId1" imgW="51816000" imgH="6400800" progId="Equation.DSMT4">
                  <p:embed/>
                  <p:pic>
                    <p:nvPicPr>
                      <p:cNvPr id="0" name="Object 1038"/>
                      <p:cNvPicPr>
                        <a:picLocks noChangeAspect="1" noChangeArrowheads="1"/>
                      </p:cNvPicPr>
                      <p:nvPr/>
                    </p:nvPicPr>
                    <p:blipFill>
                      <a:blip r:embed="rId2"/>
                      <a:srcRect/>
                      <a:stretch>
                        <a:fillRect/>
                      </a:stretch>
                    </p:blipFill>
                    <p:spPr bwMode="auto">
                      <a:xfrm>
                        <a:off x="3957955" y="712539"/>
                        <a:ext cx="4954588" cy="611187"/>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Rectangle 7"/>
          <p:cNvSpPr>
            <a:spLocks noChangeArrowheads="1"/>
          </p:cNvSpPr>
          <p:nvPr/>
        </p:nvSpPr>
        <p:spPr bwMode="auto">
          <a:xfrm>
            <a:off x="365760" y="1633165"/>
            <a:ext cx="10871200" cy="1200329"/>
          </a:xfrm>
          <a:prstGeom prst="rect">
            <a:avLst/>
          </a:prstGeom>
          <a:noFill/>
          <a:ln w="19050">
            <a:solidFill>
              <a:srgbClr val="FF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p>
            <a:pPr lvl="0" defTabSz="914400" fontAlgn="base">
              <a:buFontTx/>
              <a:buChar char="•"/>
              <a:defRPr/>
            </a:pPr>
            <a:r>
              <a:rPr lang="en-US" altLang="zh-CN" sz="2400" dirty="0">
                <a:latin typeface="Times New Roman" panose="02020603050405020304" pitchFamily="18" charset="0"/>
                <a:cs typeface="Times New Roman" panose="02020603050405020304" pitchFamily="18" charset="0"/>
              </a:rPr>
              <a:t>Denote the orbital angular momentum</a:t>
            </a:r>
            <a:endParaRPr kumimoji="1" lang="en-US" altLang="en-US" sz="2400" b="0" i="0" u="none" strike="noStrike" kern="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defTabSz="914400" eaLnBrk="1" fontAlgn="base" latinLnBrk="0" hangingPunct="1">
              <a:buClrTx/>
              <a:buSzTx/>
              <a:buFontTx/>
              <a:buChar char="•"/>
              <a:defRPr/>
            </a:pPr>
            <a:r>
              <a:rPr kumimoji="1" lang="en-US" altLang="en-US" sz="2400" b="0" i="0" u="none" strike="noStrike" kern="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Indicates the shape of the orbitals around the nucleus.</a:t>
            </a:r>
            <a:endParaRPr kumimoji="1" lang="en-US" altLang="zh-CN" sz="2400" b="0" i="0" u="none" strike="noStrike" kern="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0" marR="0" lvl="0" indent="0" defTabSz="914400" eaLnBrk="1" fontAlgn="base" latinLnBrk="0" hangingPunct="1">
              <a:buClrTx/>
              <a:buSzTx/>
              <a:buFontTx/>
              <a:buChar char="•"/>
              <a:defRPr/>
            </a:pPr>
            <a:r>
              <a:rPr kumimoji="1" lang="en-US" altLang="en-US" sz="2400" b="0" i="0" u="none" strike="noStrike" kern="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Denotes the different energy sublevels within the main level “n”</a:t>
            </a:r>
            <a:endParaRPr kumimoji="1" lang="en-US" altLang="en-US" sz="2400" b="0" i="0" u="none" strike="noStrike" kern="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Text Box 3"/>
          <p:cNvSpPr txBox="1">
            <a:spLocks noChangeArrowheads="1"/>
          </p:cNvSpPr>
          <p:nvPr/>
        </p:nvSpPr>
        <p:spPr bwMode="auto">
          <a:xfrm>
            <a:off x="365760" y="3089647"/>
            <a:ext cx="108000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buClrTx/>
              <a:buSzTx/>
              <a:buFontTx/>
              <a:buNone/>
              <a:defRPr/>
            </a:pPr>
            <a:r>
              <a:rPr kumimoji="1" lang="en-US" altLang="zh-CN" i="0" u="none" strike="noStrike" kern="0" cap="none" spc="0" normalizeH="0" baseline="0" noProof="0" dirty="0">
                <a:ln>
                  <a:noFill/>
                </a:ln>
                <a:effectLst/>
                <a:uLnTx/>
                <a:uFillTx/>
                <a:cs typeface="Times New Roman" panose="02020603050405020304" pitchFamily="18" charset="0"/>
              </a:rPr>
              <a:t>When there exist an angular momentum, there is also a magnetic moment.</a:t>
            </a:r>
            <a:endParaRPr kumimoji="1" lang="en-US" altLang="zh-CN" i="0" u="none" strike="noStrike" kern="0" cap="none" spc="0" normalizeH="0" baseline="0" noProof="0" dirty="0">
              <a:ln>
                <a:noFill/>
              </a:ln>
              <a:effectLst/>
              <a:uLnTx/>
              <a:uFillTx/>
              <a:cs typeface="Times New Roman" panose="02020603050405020304" pitchFamily="18" charset="0"/>
            </a:endParaRPr>
          </a:p>
        </p:txBody>
      </p:sp>
      <p:pic>
        <p:nvPicPr>
          <p:cNvPr id="6" name="图片 5"/>
          <p:cNvPicPr>
            <a:picLocks noChangeAspect="1"/>
          </p:cNvPicPr>
          <p:nvPr/>
        </p:nvPicPr>
        <p:blipFill>
          <a:blip r:embed="rId3"/>
          <a:stretch>
            <a:fillRect/>
          </a:stretch>
        </p:blipFill>
        <p:spPr>
          <a:xfrm>
            <a:off x="5548312" y="5878761"/>
            <a:ext cx="6124575" cy="533400"/>
          </a:xfrm>
          <a:prstGeom prst="rect">
            <a:avLst/>
          </a:prstGeom>
          <a:ln>
            <a:solidFill>
              <a:srgbClr val="FF0000"/>
            </a:solidFill>
          </a:ln>
        </p:spPr>
      </p:pic>
      <p:graphicFrame>
        <p:nvGraphicFramePr>
          <p:cNvPr id="7" name="对象 6"/>
          <p:cNvGraphicFramePr>
            <a:graphicFrameLocks noChangeAspect="1"/>
          </p:cNvGraphicFramePr>
          <p:nvPr/>
        </p:nvGraphicFramePr>
        <p:xfrm>
          <a:off x="511605" y="3636014"/>
          <a:ext cx="6476400" cy="1980720"/>
        </p:xfrm>
        <a:graphic>
          <a:graphicData uri="http://schemas.openxmlformats.org/presentationml/2006/ole">
            <mc:AlternateContent xmlns:mc="http://schemas.openxmlformats.org/markup-compatibility/2006">
              <mc:Choice xmlns:v="urn:schemas-microsoft-com:vml" Requires="v">
                <p:oleObj spid="_x0000_s3" name="Equation" r:id="rId4" imgW="77724000" imgH="23774400" progId="Equation.DSMT4">
                  <p:embed/>
                </p:oleObj>
              </mc:Choice>
              <mc:Fallback>
                <p:oleObj name="Equation" r:id="rId4" imgW="77724000" imgH="23774400" progId="Equation.DSMT4">
                  <p:embed/>
                  <p:pic>
                    <p:nvPicPr>
                      <p:cNvPr id="0" name="图片 2"/>
                      <p:cNvPicPr/>
                      <p:nvPr/>
                    </p:nvPicPr>
                    <p:blipFill>
                      <a:blip r:embed="rId5"/>
                      <a:stretch>
                        <a:fillRect/>
                      </a:stretch>
                    </p:blipFill>
                    <p:spPr>
                      <a:xfrm>
                        <a:off x="511605" y="3636014"/>
                        <a:ext cx="6476400" cy="1980720"/>
                      </a:xfrm>
                      <a:prstGeom prst="rect">
                        <a:avLst/>
                      </a:prstGeom>
                    </p:spPr>
                  </p:pic>
                </p:oleObj>
              </mc:Fallback>
            </mc:AlternateContent>
          </a:graphicData>
        </a:graphic>
      </p:graphicFrame>
      <p:sp>
        <p:nvSpPr>
          <p:cNvPr id="8" name="灯片编号占位符 7"/>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433706" y="3073328"/>
            <a:ext cx="6963293"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r>
              <a:rPr lang="en-US" altLang="zh-CN" dirty="0"/>
              <a:t>Space quantization of orbital angular momentum. Here the orbital quantum number is </a:t>
            </a:r>
            <a:r>
              <a:rPr lang="en-US" altLang="zh-CN" i="1" dirty="0"/>
              <a:t>l</a:t>
            </a:r>
            <a:r>
              <a:rPr lang="en-US" altLang="zh-CN" dirty="0"/>
              <a:t>=2 and there are accordingly 2</a:t>
            </a:r>
            <a:r>
              <a:rPr lang="en-US" altLang="zh-CN" i="1" dirty="0"/>
              <a:t>l</a:t>
            </a:r>
            <a:r>
              <a:rPr lang="en-US" altLang="zh-CN" dirty="0"/>
              <a:t>+1=5 possible values of the magnetic quantum number</a:t>
            </a:r>
            <a:r>
              <a:rPr lang="en-US" altLang="zh-CN" i="1" dirty="0"/>
              <a:t> m</a:t>
            </a:r>
            <a:r>
              <a:rPr lang="en-US" altLang="zh-CN" i="1" baseline="-25000" dirty="0"/>
              <a:t>l</a:t>
            </a:r>
            <a:r>
              <a:rPr lang="en-US" altLang="zh-CN" dirty="0"/>
              <a:t>, with each value corresponding to a different orientation relative to the z axis.</a:t>
            </a:r>
            <a:endParaRPr lang="en-US" altLang="zh-CN" dirty="0"/>
          </a:p>
        </p:txBody>
      </p:sp>
      <p:pic>
        <p:nvPicPr>
          <p:cNvPr id="5" name="Picture 3" descr="fig12"/>
          <p:cNvPicPr>
            <a:picLocks noChangeAspect="1" noChangeArrowheads="1"/>
          </p:cNvPicPr>
          <p:nvPr/>
        </p:nvPicPr>
        <p:blipFill>
          <a:blip r:embed="rId1">
            <a:extLst>
              <a:ext uri="{28A0092B-C50C-407E-A947-70E740481C1C}">
                <a14:useLocalDpi xmlns:a14="http://schemas.microsoft.com/office/drawing/2010/main" val="0"/>
              </a:ext>
            </a:extLst>
          </a:blip>
          <a:srcRect b="48750"/>
          <a:stretch>
            <a:fillRect/>
          </a:stretch>
        </p:blipFill>
        <p:spPr bwMode="auto">
          <a:xfrm>
            <a:off x="8234243" y="2511972"/>
            <a:ext cx="3859855" cy="4300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Object 4"/>
          <p:cNvGraphicFramePr>
            <a:graphicFrameLocks noChangeAspect="1"/>
          </p:cNvGraphicFramePr>
          <p:nvPr/>
        </p:nvGraphicFramePr>
        <p:xfrm>
          <a:off x="7521661" y="5559313"/>
          <a:ext cx="2187575" cy="606425"/>
        </p:xfrm>
        <a:graphic>
          <a:graphicData uri="http://schemas.openxmlformats.org/presentationml/2006/ole">
            <mc:AlternateContent xmlns:mc="http://schemas.openxmlformats.org/markup-compatibility/2006">
              <mc:Choice xmlns:v="urn:schemas-microsoft-com:vml" Requires="v">
                <p:oleObj spid="_x0000_s0" name="Equation" r:id="rId2" imgW="25298400" imgH="7010400" progId="Equation.DSMT4">
                  <p:embed/>
                </p:oleObj>
              </mc:Choice>
              <mc:Fallback>
                <p:oleObj name="Equation" r:id="rId2" imgW="25298400" imgH="7010400" progId="Equation.DSMT4">
                  <p:embed/>
                  <p:pic>
                    <p:nvPicPr>
                      <p:cNvPr id="0" name="Object 4"/>
                      <p:cNvPicPr>
                        <a:picLocks noChangeAspect="1" noChangeArrowheads="1"/>
                      </p:cNvPicPr>
                      <p:nvPr/>
                    </p:nvPicPr>
                    <p:blipFill>
                      <a:blip r:embed="rId3"/>
                      <a:srcRect/>
                      <a:stretch>
                        <a:fillRect/>
                      </a:stretch>
                    </p:blipFill>
                    <p:spPr bwMode="auto">
                      <a:xfrm>
                        <a:off x="7521661" y="5559313"/>
                        <a:ext cx="2187575" cy="606425"/>
                      </a:xfrm>
                      <a:prstGeom prst="rect">
                        <a:avLst/>
                      </a:prstGeom>
                      <a:solidFill>
                        <a:srgbClr val="FF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Line 5"/>
          <p:cNvSpPr>
            <a:spLocks noChangeShapeType="1"/>
          </p:cNvSpPr>
          <p:nvPr/>
        </p:nvSpPr>
        <p:spPr bwMode="auto">
          <a:xfrm flipV="1">
            <a:off x="9685248" y="4544268"/>
            <a:ext cx="360040" cy="936104"/>
          </a:xfrm>
          <a:prstGeom prst="line">
            <a:avLst/>
          </a:prstGeom>
          <a:noFill/>
          <a:ln w="9525">
            <a:solidFill>
              <a:srgbClr val="FF3300"/>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8" name="Object 6"/>
          <p:cNvGraphicFramePr>
            <a:graphicFrameLocks noChangeAspect="1"/>
          </p:cNvGraphicFramePr>
          <p:nvPr/>
        </p:nvGraphicFramePr>
        <p:xfrm>
          <a:off x="8324800" y="4943754"/>
          <a:ext cx="685800" cy="384175"/>
        </p:xfrm>
        <a:graphic>
          <a:graphicData uri="http://schemas.openxmlformats.org/presentationml/2006/ole">
            <mc:AlternateContent xmlns:mc="http://schemas.openxmlformats.org/markup-compatibility/2006">
              <mc:Choice xmlns:v="urn:schemas-microsoft-com:vml" Requires="v">
                <p:oleObj spid="_x0000_s2" name="Equation" r:id="rId4" imgW="316865" imgH="177800" progId="Equation.3">
                  <p:embed/>
                </p:oleObj>
              </mc:Choice>
              <mc:Fallback>
                <p:oleObj name="Equation" r:id="rId4" imgW="316865" imgH="1778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24800" y="4943754"/>
                        <a:ext cx="685800" cy="384175"/>
                      </a:xfrm>
                      <a:prstGeom prst="rect">
                        <a:avLst/>
                      </a:prstGeom>
                      <a:solidFill>
                        <a:srgbClr val="FFCCCC"/>
                      </a:solidFill>
                      <a:ln>
                        <a:noFill/>
                      </a:ln>
                      <a:effectLst/>
                    </p:spPr>
                  </p:pic>
                </p:oleObj>
              </mc:Fallback>
            </mc:AlternateContent>
          </a:graphicData>
        </a:graphic>
      </p:graphicFrame>
      <p:graphicFrame>
        <p:nvGraphicFramePr>
          <p:cNvPr id="9" name="Object 7"/>
          <p:cNvGraphicFramePr>
            <a:graphicFrameLocks noChangeAspect="1"/>
          </p:cNvGraphicFramePr>
          <p:nvPr/>
        </p:nvGraphicFramePr>
        <p:xfrm>
          <a:off x="5407446" y="397881"/>
          <a:ext cx="1712912" cy="700087"/>
        </p:xfrm>
        <a:graphic>
          <a:graphicData uri="http://schemas.openxmlformats.org/presentationml/2006/ole">
            <mc:AlternateContent xmlns:mc="http://schemas.openxmlformats.org/markup-compatibility/2006">
              <mc:Choice xmlns:v="urn:schemas-microsoft-com:vml" Requires="v">
                <p:oleObj spid="_x0000_s3" name="Equation" r:id="rId6" imgW="13411200" imgH="5486400" progId="Equation.DSMT4">
                  <p:embed/>
                </p:oleObj>
              </mc:Choice>
              <mc:Fallback>
                <p:oleObj name="Equation" r:id="rId6" imgW="13411200" imgH="5486400" progId="Equation.DSMT4">
                  <p:embed/>
                  <p:pic>
                    <p:nvPicPr>
                      <p:cNvPr id="0" name="Object 7"/>
                      <p:cNvPicPr>
                        <a:picLocks noChangeAspect="1" noChangeArrowheads="1"/>
                      </p:cNvPicPr>
                      <p:nvPr/>
                    </p:nvPicPr>
                    <p:blipFill>
                      <a:blip r:embed="rId7"/>
                      <a:srcRect/>
                      <a:stretch>
                        <a:fillRect/>
                      </a:stretch>
                    </p:blipFill>
                    <p:spPr bwMode="auto">
                      <a:xfrm>
                        <a:off x="5407446" y="397881"/>
                        <a:ext cx="1712912" cy="700087"/>
                      </a:xfrm>
                      <a:prstGeom prst="rect">
                        <a:avLst/>
                      </a:prstGeom>
                      <a:solidFill>
                        <a:srgbClr val="F8F7D4"/>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Rectangle 36"/>
          <p:cNvSpPr>
            <a:spLocks noChangeArrowheads="1"/>
          </p:cNvSpPr>
          <p:nvPr/>
        </p:nvSpPr>
        <p:spPr bwMode="auto">
          <a:xfrm>
            <a:off x="433706" y="1602034"/>
            <a:ext cx="11443334" cy="830997"/>
          </a:xfrm>
          <a:prstGeom prst="rect">
            <a:avLst/>
          </a:prstGeom>
          <a:noFill/>
          <a:ln w="9525">
            <a:solidFill>
              <a:srgbClr val="00FFFF"/>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p>
            <a:pPr marL="0" marR="0" lvl="0" indent="0" algn="just" defTabSz="914400" eaLnBrk="1" fontAlgn="base" latinLnBrk="0" hangingPunct="1">
              <a:lnSpc>
                <a:spcPct val="100000"/>
              </a:lnSpc>
              <a:spcBef>
                <a:spcPct val="0"/>
              </a:spcBef>
              <a:spcAft>
                <a:spcPct val="0"/>
              </a:spcAft>
              <a:buClrTx/>
              <a:buSzTx/>
              <a:buFontTx/>
              <a:buChar char="•"/>
              <a:defRPr/>
            </a:pPr>
            <a:r>
              <a:rPr kumimoji="1" lang="en-US" altLang="en-US" sz="2400" b="0" i="0" u="none" strike="noStrike" kern="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 Determine the z-component of the orbital angular momentum of the atom.</a:t>
            </a:r>
            <a:endParaRPr kumimoji="1" lang="en-US" altLang="en-US" sz="2400" b="0" i="0" u="none" strike="noStrike" kern="0" cap="none" spc="0" normalizeH="0" baseline="0" noProof="0" dirty="0">
              <a:ln>
                <a:noFill/>
              </a:ln>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just" defTabSz="914400" eaLnBrk="1" fontAlgn="base" latinLnBrk="0" hangingPunct="1">
              <a:lnSpc>
                <a:spcPct val="100000"/>
              </a:lnSpc>
              <a:spcBef>
                <a:spcPct val="0"/>
              </a:spcBef>
              <a:spcAft>
                <a:spcPct val="0"/>
              </a:spcAft>
              <a:buClrTx/>
              <a:buSzTx/>
              <a:buFontTx/>
              <a:buChar char="•"/>
              <a:defRPr/>
            </a:pPr>
            <a:r>
              <a:rPr kumimoji="1" lang="en-US" altLang="zh-CN" sz="2400" b="0" i="0" u="none" strike="noStrike" kern="0" cap="none" spc="0" normalizeH="0" baseline="0" noProof="0" dirty="0">
                <a:ln>
                  <a:noFill/>
                </a:ln>
                <a:effectLst/>
                <a:uLnTx/>
                <a:uFillTx/>
                <a:latin typeface="Times New Roman" panose="02020603050405020304" pitchFamily="18" charset="0"/>
                <a:cs typeface="Times New Roman" panose="02020603050405020304" pitchFamily="18" charset="0"/>
              </a:rPr>
              <a:t> Determine the component </a:t>
            </a:r>
            <a:r>
              <a:rPr kumimoji="1" lang="en-US" altLang="zh-CN" sz="2400" b="0" i="0" u="none" strike="noStrike" kern="0" cap="none" spc="0" normalizeH="0" baseline="0" noProof="0" dirty="0">
                <a:ln>
                  <a:noFill/>
                </a:ln>
                <a:effectLst/>
                <a:uLnTx/>
                <a:uFillTx/>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0" i="0" u="none" strike="noStrike" kern="0" cap="none" spc="0" normalizeH="0" baseline="-25000" noProof="0" dirty="0">
                <a:ln>
                  <a:noFill/>
                </a:ln>
                <a:effectLst/>
                <a:uLnTx/>
                <a:uFillTx/>
                <a:latin typeface="Times New Roman" panose="02020603050405020304" pitchFamily="18" charset="0"/>
                <a:cs typeface="Times New Roman" panose="02020603050405020304" pitchFamily="18" charset="0"/>
              </a:rPr>
              <a:t>z</a:t>
            </a:r>
            <a:r>
              <a:rPr kumimoji="1" lang="en-US" altLang="zh-CN" sz="2400" b="0" i="0" u="none" strike="noStrike" kern="0" cap="none" spc="0" normalizeH="0" baseline="0" noProof="0" dirty="0">
                <a:ln>
                  <a:noFill/>
                </a:ln>
                <a:effectLst/>
                <a:uLnTx/>
                <a:uFillTx/>
                <a:latin typeface="Times New Roman" panose="02020603050405020304" pitchFamily="18" charset="0"/>
                <a:cs typeface="Times New Roman" panose="02020603050405020304" pitchFamily="18" charset="0"/>
              </a:rPr>
              <a:t> of the magnetic moment in the direction of the magnetic field.</a:t>
            </a:r>
            <a:endParaRPr kumimoji="1" lang="en-US" altLang="zh-CN" sz="2400" b="0" i="0" u="none" strike="noStrike" kern="0" cap="none" spc="0" normalizeH="0" baseline="0" noProof="0" dirty="0">
              <a:ln>
                <a:noFill/>
              </a:ln>
              <a:effectLst/>
              <a:uLnTx/>
              <a:uFillTx/>
              <a:latin typeface="Times New Roman" panose="02020603050405020304" pitchFamily="18" charset="0"/>
              <a:cs typeface="Times New Roman" panose="02020603050405020304" pitchFamily="18" charset="0"/>
            </a:endParaRPr>
          </a:p>
        </p:txBody>
      </p:sp>
      <p:sp>
        <p:nvSpPr>
          <p:cNvPr id="11" name="灯片编号占位符 10"/>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337686" y="991456"/>
            <a:ext cx="1173239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defTabSz="914400" eaLnBrk="1" fontAlgn="base" hangingPunct="1">
              <a:spcAft>
                <a:spcPct val="0"/>
              </a:spcAft>
              <a:defRPr/>
            </a:pPr>
            <a:r>
              <a:rPr lang="en-US" altLang="zh-CN" kern="0" dirty="0">
                <a:cs typeface="Times New Roman" panose="02020603050405020304" pitchFamily="18" charset="0"/>
              </a:rPr>
              <a:t>A node is a surface on which an electron is not found. For a given orbital, the total number of nodes equals n-1. The number of angular nodes is </a:t>
            </a:r>
            <a:r>
              <a:rPr lang="en-US" altLang="zh-CN" i="1" kern="0" dirty="0">
                <a:cs typeface="Times New Roman" panose="02020603050405020304" pitchFamily="18" charset="0"/>
              </a:rPr>
              <a:t>l</a:t>
            </a:r>
            <a:r>
              <a:rPr lang="en-US" altLang="zh-CN" kern="0" dirty="0">
                <a:cs typeface="Times New Roman" panose="02020603050405020304" pitchFamily="18" charset="0"/>
              </a:rPr>
              <a:t>. </a:t>
            </a:r>
            <a:endParaRPr lang="en-US" altLang="zh-CN" kern="0" dirty="0">
              <a:cs typeface="Times New Roman" panose="02020603050405020304" pitchFamily="18" charset="0"/>
            </a:endParaRPr>
          </a:p>
        </p:txBody>
      </p:sp>
      <p:sp>
        <p:nvSpPr>
          <p:cNvPr id="4" name="矩形 3"/>
          <p:cNvSpPr/>
          <p:nvPr/>
        </p:nvSpPr>
        <p:spPr>
          <a:xfrm>
            <a:off x="1933976" y="2085355"/>
            <a:ext cx="1906291" cy="523220"/>
          </a:xfrm>
          <a:prstGeom prst="rect">
            <a:avLst/>
          </a:prstGeom>
        </p:spPr>
        <p:txBody>
          <a:bodyPr wrap="none">
            <a:spAutoFit/>
          </a:bodyPr>
          <a:lstStyle/>
          <a:p>
            <a:r>
              <a:rPr lang="en-US" altLang="zh-CN" sz="2800" b="1" i="1" dirty="0" err="1">
                <a:latin typeface="Arial" panose="020B0604020202020204" pitchFamily="34" charset="0"/>
                <a:cs typeface="Arial" panose="020B0604020202020204" pitchFamily="34" charset="0"/>
              </a:rPr>
              <a:t>Y</a:t>
            </a:r>
            <a:r>
              <a:rPr lang="en-US" altLang="zh-CN" sz="2800" b="1" i="1" baseline="-30000" dirty="0" err="1">
                <a:latin typeface="Arial" panose="020B0604020202020204" pitchFamily="34" charset="0"/>
                <a:cs typeface="Arial" panose="020B0604020202020204" pitchFamily="34" charset="0"/>
              </a:rPr>
              <a:t>lm</a:t>
            </a:r>
            <a:r>
              <a:rPr lang="en-US" altLang="zh-CN" sz="2800" b="1" dirty="0">
                <a:latin typeface="Arial" panose="020B0604020202020204" pitchFamily="34" charset="0"/>
                <a:cs typeface="Arial" panose="020B0604020202020204" pitchFamily="34" charset="0"/>
              </a:rPr>
              <a:t>(</a:t>
            </a:r>
            <a:r>
              <a:rPr lang="el-GR" altLang="zh-CN" sz="2800" b="1" i="1" dirty="0">
                <a:latin typeface="Arial" panose="020B0604020202020204" pitchFamily="34" charset="0"/>
                <a:cs typeface="Arial" panose="020B0604020202020204" pitchFamily="34" charset="0"/>
              </a:rPr>
              <a:t>θ</a:t>
            </a:r>
            <a:r>
              <a:rPr lang="en-US" altLang="zh-CN" sz="2800" b="1" dirty="0">
                <a:latin typeface="Arial" panose="020B0604020202020204" pitchFamily="34" charset="0"/>
                <a:cs typeface="Arial" panose="020B0604020202020204" pitchFamily="34" charset="0"/>
              </a:rPr>
              <a:t>,</a:t>
            </a:r>
            <a:r>
              <a:rPr lang="en-US" altLang="zh-CN" sz="2800" b="1" i="1" dirty="0">
                <a:latin typeface="Arial" panose="020B0604020202020204" pitchFamily="34" charset="0"/>
                <a:cs typeface="Arial" panose="020B0604020202020204" pitchFamily="34" charset="0"/>
              </a:rPr>
              <a:t>φ</a:t>
            </a:r>
            <a:r>
              <a:rPr lang="en-US" altLang="zh-CN" sz="2800" b="1" dirty="0">
                <a:latin typeface="Arial" panose="020B0604020202020204" pitchFamily="34" charset="0"/>
                <a:cs typeface="Arial" panose="020B0604020202020204" pitchFamily="34" charset="0"/>
              </a:rPr>
              <a:t>)=0</a:t>
            </a:r>
            <a:endParaRPr lang="zh-CN" altLang="en-US" sz="2800" dirty="0">
              <a:latin typeface="Arial" panose="020B0604020202020204" pitchFamily="34" charset="0"/>
              <a:cs typeface="Arial" panose="020B0604020202020204" pitchFamily="34" charset="0"/>
            </a:endParaRPr>
          </a:p>
        </p:txBody>
      </p:sp>
      <p:pic>
        <p:nvPicPr>
          <p:cNvPr id="5" name="Picture 12"/>
          <p:cNvPicPr>
            <a:picLocks noChangeAspect="1" noChangeArrowheads="1"/>
          </p:cNvPicPr>
          <p:nvPr/>
        </p:nvPicPr>
        <p:blipFill>
          <a:blip r:embed="rId1">
            <a:lum contrast="6000"/>
            <a:extLst>
              <a:ext uri="{28A0092B-C50C-407E-A947-70E740481C1C}">
                <a14:useLocalDpi xmlns:a14="http://schemas.microsoft.com/office/drawing/2010/main" val="0"/>
              </a:ext>
            </a:extLst>
          </a:blip>
          <a:srcRect/>
          <a:stretch>
            <a:fillRect/>
          </a:stretch>
        </p:blipFill>
        <p:spPr bwMode="auto">
          <a:xfrm>
            <a:off x="1933976" y="2793600"/>
            <a:ext cx="4269906" cy="2592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 name="Picture 8" descr="CSS2L0007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60979" y="2663048"/>
            <a:ext cx="3313112" cy="2651125"/>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5389207" y="247897"/>
            <a:ext cx="1122423" cy="523220"/>
          </a:xfrm>
          <a:prstGeom prst="rect">
            <a:avLst/>
          </a:prstGeom>
        </p:spPr>
        <p:txBody>
          <a:bodyPr wrap="none">
            <a:spAutoFit/>
          </a:bodyPr>
          <a:lstStyle/>
          <a:p>
            <a:pPr algn="ctr" fontAlgn="base">
              <a:spcAft>
                <a:spcPts val="1200"/>
              </a:spcAft>
              <a:defRPr/>
            </a:pPr>
            <a:r>
              <a:rPr kumimoji="1" lang="en-US" altLang="zh-CN" sz="2800" b="1" kern="0" dirty="0">
                <a:latin typeface="Times New Roman" panose="02020603050405020304" pitchFamily="18" charset="0"/>
                <a:cs typeface="Times New Roman" panose="02020603050405020304" pitchFamily="18" charset="0"/>
              </a:rPr>
              <a:t>Nodes</a:t>
            </a:r>
            <a:endParaRPr kumimoji="1" lang="en-US" altLang="zh-CN" sz="2800" b="1" kern="0" dirty="0">
              <a:latin typeface="Times New Roman" panose="02020603050405020304" pitchFamily="18" charset="0"/>
              <a:cs typeface="Times New Roman" panose="02020603050405020304" pitchFamily="18" charset="0"/>
            </a:endParaRPr>
          </a:p>
        </p:txBody>
      </p:sp>
      <p:sp>
        <p:nvSpPr>
          <p:cNvPr id="8"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9" name="灯片编号占位符 8"/>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p:nvPr/>
            </p:nvSpPr>
            <p:spPr>
              <a:xfrm>
                <a:off x="435076" y="1676351"/>
                <a:ext cx="5884608" cy="3174523"/>
              </a:xfrm>
              <a:prstGeom prst="rect">
                <a:avLst/>
              </a:prstGeom>
            </p:spPr>
            <p:txBody>
              <a:bodyPr wrap="square">
                <a:spAutoFit/>
              </a:bodyPr>
              <a:lstStyle/>
              <a:p>
                <a:pPr>
                  <a:lnSpc>
                    <a:spcPts val="785"/>
                  </a:lnSpc>
                  <a:spcAft>
                    <a:spcPts val="450"/>
                  </a:spcAft>
                </a:pPr>
                <a:endParaRPr lang="en-US" altLang="zh-CN" sz="2400" dirty="0">
                  <a:latin typeface="Times New Roman" panose="02020603050405020304" pitchFamily="18" charset="0"/>
                  <a:cs typeface="Times New Roman" panose="02020603050405020304" pitchFamily="18" charset="0"/>
                </a:endParaRPr>
              </a:p>
              <a:p>
                <a:pPr>
                  <a:lnSpc>
                    <a:spcPct val="120000"/>
                  </a:lnSpc>
                </a:pPr>
                <a:r>
                  <a:rPr lang="en-US" altLang="zh-CN" sz="2400" dirty="0">
                    <a:latin typeface="Times New Roman" panose="02020603050405020304" pitchFamily="18" charset="0"/>
                    <a:cs typeface="Times New Roman" panose="02020603050405020304" pitchFamily="18" charset="0"/>
                  </a:rPr>
                  <a:t>The wavefunctions </a:t>
                </a:r>
                <a14:m>
                  <m:oMath xmlns:m="http://schemas.openxmlformats.org/officeDocument/2006/math">
                    <m:r>
                      <a:rPr lang="en-US" altLang="zh-CN" sz="2400" i="1" dirty="0">
                        <a:solidFill>
                          <a:srgbClr val="2926BF"/>
                        </a:solidFill>
                        <a:latin typeface="Cambria Math" panose="02040503050406030204" pitchFamily="18" charset="0"/>
                      </a:rPr>
                      <m:t>𝑅</m:t>
                    </m:r>
                    <m:r>
                      <a:rPr lang="en-US" altLang="zh-CN" sz="2400" i="1" baseline="-25000" dirty="0">
                        <a:solidFill>
                          <a:srgbClr val="2926BF"/>
                        </a:solidFill>
                        <a:latin typeface="Cambria Math" panose="02040503050406030204" pitchFamily="18" charset="0"/>
                      </a:rPr>
                      <m:t>𝑛𝑙</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𝑟</m:t>
                    </m:r>
                    <m:r>
                      <a:rPr lang="en-US" altLang="zh-CN" sz="2400" i="1" dirty="0">
                        <a:solidFill>
                          <a:srgbClr val="2926BF"/>
                        </a:solidFill>
                        <a:latin typeface="Cambria Math" panose="02040503050406030204" pitchFamily="18" charset="0"/>
                      </a:rPr>
                      <m:t>)</m:t>
                    </m:r>
                    <m:r>
                      <a:rPr lang="en-US" altLang="zh-CN" sz="2400" i="1" dirty="0" err="1">
                        <a:solidFill>
                          <a:srgbClr val="2926BF"/>
                        </a:solidFill>
                        <a:latin typeface="Cambria Math" panose="02040503050406030204" pitchFamily="18" charset="0"/>
                      </a:rPr>
                      <m:t>𝑌</m:t>
                    </m:r>
                    <m:r>
                      <a:rPr lang="en-US" altLang="zh-CN" sz="2400" i="1" baseline="-25000" dirty="0">
                        <a:solidFill>
                          <a:srgbClr val="2926BF"/>
                        </a:solidFill>
                        <a:latin typeface="Cambria Math" panose="02040503050406030204" pitchFamily="18" charset="0"/>
                      </a:rPr>
                      <m:t>𝑙𝑚</m:t>
                    </m:r>
                    <m:r>
                      <a:rPr lang="en-US" altLang="zh-CN" sz="2400" i="1" dirty="0">
                        <a:solidFill>
                          <a:srgbClr val="2926BF"/>
                        </a:solidFill>
                        <a:latin typeface="Cambria Math" panose="02040503050406030204" pitchFamily="18" charset="0"/>
                      </a:rPr>
                      <m:t>(</m:t>
                    </m:r>
                    <m:r>
                      <a:rPr lang="zh-CN" altLang="en-US" sz="2400" i="1" dirty="0">
                        <a:solidFill>
                          <a:srgbClr val="2926BF"/>
                        </a:solidFill>
                        <a:latin typeface="Cambria Math" panose="02040503050406030204" pitchFamily="18" charset="0"/>
                      </a:rPr>
                      <m:t>𝜃</m:t>
                    </m:r>
                    <m:r>
                      <a:rPr lang="en-US" altLang="zh-CN" sz="2400" i="1" dirty="0">
                        <a:solidFill>
                          <a:srgbClr val="2926BF"/>
                        </a:solidFill>
                        <a:latin typeface="Cambria Math" panose="02040503050406030204" pitchFamily="18" charset="0"/>
                      </a:rPr>
                      <m:t>, </m:t>
                    </m:r>
                    <m:r>
                      <a:rPr lang="zh-CN" altLang="en-US" sz="2400" i="1" dirty="0">
                        <a:solidFill>
                          <a:srgbClr val="2926BF"/>
                        </a:solidFill>
                        <a:latin typeface="Cambria Math" panose="02040503050406030204" pitchFamily="18" charset="0"/>
                      </a:rPr>
                      <m:t>𝜑</m:t>
                    </m:r>
                    <m:r>
                      <a:rPr lang="en-US" altLang="zh-CN" sz="2400" i="1" dirty="0">
                        <a:solidFill>
                          <a:srgbClr val="2926BF"/>
                        </a:solidFill>
                        <a:latin typeface="Cambria Math" panose="02040503050406030204" pitchFamily="18" charset="0"/>
                      </a:rPr>
                      <m:t>)</m:t>
                    </m:r>
                  </m:oMath>
                </a14:m>
                <a:r>
                  <a:rPr lang="en-US" altLang="zh-CN" sz="2400" dirty="0">
                    <a:solidFill>
                      <a:srgbClr val="2926BF"/>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are the </a:t>
                </a:r>
                <a:r>
                  <a:rPr lang="en-US" altLang="zh-CN" sz="2400" i="1" dirty="0">
                    <a:solidFill>
                      <a:srgbClr val="B02B08"/>
                    </a:solidFill>
                    <a:latin typeface="Times New Roman" panose="02020603050405020304" pitchFamily="18" charset="0"/>
                    <a:cs typeface="Times New Roman" panose="02020603050405020304" pitchFamily="18" charset="0"/>
                  </a:rPr>
                  <a:t>atomic orbitals.</a:t>
                </a:r>
                <a:r>
                  <a:rPr lang="en-US" altLang="zh-CN" sz="2400" dirty="0">
                    <a:solidFill>
                      <a:srgbClr val="B02B08"/>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For the hydrogen atom, the energy depends only on </a:t>
                </a:r>
                <a:r>
                  <a:rPr lang="en-US" altLang="zh-CN" sz="2400" i="1" dirty="0">
                    <a:solidFill>
                      <a:srgbClr val="2926BF"/>
                    </a:solidFill>
                    <a:latin typeface="Times New Roman" panose="02020603050405020304" pitchFamily="18" charset="0"/>
                    <a:cs typeface="Times New Roman" panose="02020603050405020304" pitchFamily="18" charset="0"/>
                  </a:rPr>
                  <a:t>n,</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not on </a:t>
                </a:r>
                <a:r>
                  <a:rPr lang="en-US" altLang="zh-CN" sz="2400" i="1" dirty="0">
                    <a:solidFill>
                      <a:srgbClr val="2926BF"/>
                    </a:solidFill>
                    <a:latin typeface="Times New Roman" panose="02020603050405020304" pitchFamily="18" charset="0"/>
                    <a:cs typeface="Times New Roman" panose="02020603050405020304" pitchFamily="18" charset="0"/>
                  </a:rPr>
                  <a:t>l</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or </a:t>
                </a:r>
                <a:r>
                  <a:rPr lang="en-US" altLang="zh-CN" sz="2400" i="1" dirty="0">
                    <a:solidFill>
                      <a:srgbClr val="2926BF"/>
                    </a:solidFill>
                    <a:latin typeface="Times New Roman" panose="02020603050405020304" pitchFamily="18" charset="0"/>
                    <a:cs typeface="Times New Roman" panose="02020603050405020304" pitchFamily="18" charset="0"/>
                  </a:rPr>
                  <a:t>m</a:t>
                </a:r>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pPr>
                  <a:lnSpc>
                    <a:spcPct val="120000"/>
                  </a:lnSpc>
                </a:pPr>
                <a:endParaRPr lang="en-US" altLang="zh-CN" sz="2400" dirty="0">
                  <a:latin typeface="Times New Roman" panose="02020603050405020304" pitchFamily="18" charset="0"/>
                  <a:cs typeface="Times New Roman" panose="02020603050405020304" pitchFamily="18" charset="0"/>
                </a:endParaRPr>
              </a:p>
              <a:p>
                <a:pPr>
                  <a:lnSpc>
                    <a:spcPct val="120000"/>
                  </a:lnSpc>
                  <a:spcBef>
                    <a:spcPts val="1200"/>
                  </a:spcBef>
                </a:pPr>
                <a:endParaRPr lang="en-US" altLang="zh-CN" sz="2400" dirty="0">
                  <a:latin typeface="Times New Roman" panose="02020603050405020304" pitchFamily="18" charset="0"/>
                  <a:cs typeface="Times New Roman" panose="02020603050405020304" pitchFamily="18" charset="0"/>
                </a:endParaRPr>
              </a:p>
              <a:p>
                <a:pPr>
                  <a:lnSpc>
                    <a:spcPct val="120000"/>
                  </a:lnSpc>
                  <a:spcBef>
                    <a:spcPts val="1200"/>
                  </a:spcBef>
                </a:pPr>
                <a:r>
                  <a:rPr lang="en-US" altLang="zh-CN" sz="2400" dirty="0">
                    <a:latin typeface="Times New Roman" panose="02020603050405020304" pitchFamily="18" charset="0"/>
                    <a:cs typeface="Times New Roman" panose="02020603050405020304" pitchFamily="18" charset="0"/>
                  </a:rPr>
                  <a:t>The energy level pattern is as shown (to scale).</a:t>
                </a:r>
                <a:endParaRPr lang="en-US" altLang="zh-CN" sz="2400" dirty="0">
                  <a:latin typeface="Times New Roman" panose="02020603050405020304" pitchFamily="18" charset="0"/>
                  <a:cs typeface="Times New Roman" panose="02020603050405020304" pitchFamily="18" charset="0"/>
                </a:endParaRPr>
              </a:p>
            </p:txBody>
          </p:sp>
        </mc:Choice>
        <mc:Fallback>
          <p:sp>
            <p:nvSpPr>
              <p:cNvPr id="2" name="矩形 1"/>
              <p:cNvSpPr>
                <a:spLocks noRot="1" noChangeAspect="1" noMove="1" noResize="1" noEditPoints="1" noAdjustHandles="1" noChangeArrowheads="1" noChangeShapeType="1" noTextEdit="1"/>
              </p:cNvSpPr>
              <p:nvPr/>
            </p:nvSpPr>
            <p:spPr>
              <a:xfrm>
                <a:off x="435076" y="1676351"/>
                <a:ext cx="5884608" cy="3174523"/>
              </a:xfrm>
              <a:prstGeom prst="rect">
                <a:avLst/>
              </a:prstGeom>
              <a:blipFill rotWithShape="1">
                <a:blip r:embed="rId1"/>
                <a:stretch>
                  <a:fillRect l="-2" t="-5119" r="3" b="3"/>
                </a:stretch>
              </a:blipFill>
            </p:spPr>
            <p:txBody>
              <a:bodyPr/>
              <a:lstStyle/>
              <a:p>
                <a:r>
                  <a:rPr lang="zh-CN" altLang="en-US">
                    <a:noFill/>
                  </a:rPr>
                  <a:t> </a:t>
                </a:r>
              </a:p>
            </p:txBody>
          </p:sp>
        </mc:Fallback>
      </mc:AlternateContent>
      <p:sp>
        <p:nvSpPr>
          <p:cNvPr id="3" name="矩形 2"/>
          <p:cNvSpPr/>
          <p:nvPr/>
        </p:nvSpPr>
        <p:spPr>
          <a:xfrm>
            <a:off x="4726571" y="269197"/>
            <a:ext cx="2568332"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Atomic orbitals</a:t>
            </a:r>
            <a:endParaRPr lang="zh-CN" altLang="en-US" sz="2800" b="1" dirty="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2"/>
          <a:stretch>
            <a:fillRect/>
          </a:stretch>
        </p:blipFill>
        <p:spPr>
          <a:xfrm>
            <a:off x="7171849" y="1804170"/>
            <a:ext cx="3975751" cy="4118060"/>
          </a:xfrm>
          <a:prstGeom prst="rect">
            <a:avLst/>
          </a:prstGeom>
        </p:spPr>
      </p:pic>
      <p:graphicFrame>
        <p:nvGraphicFramePr>
          <p:cNvPr id="5" name="对象 4"/>
          <p:cNvGraphicFramePr>
            <a:graphicFrameLocks noChangeAspect="1"/>
          </p:cNvGraphicFramePr>
          <p:nvPr/>
        </p:nvGraphicFramePr>
        <p:xfrm>
          <a:off x="2495941" y="3429000"/>
          <a:ext cx="1599840" cy="838080"/>
        </p:xfrm>
        <a:graphic>
          <a:graphicData uri="http://schemas.openxmlformats.org/presentationml/2006/ole">
            <mc:AlternateContent xmlns:mc="http://schemas.openxmlformats.org/markup-compatibility/2006">
              <mc:Choice xmlns:v="urn:schemas-microsoft-com:vml" Requires="v">
                <p:oleObj spid="_x0000_s6" name="Equation" r:id="rId3" imgW="19202400" imgH="10058400" progId="Equation.DSMT4">
                  <p:embed/>
                </p:oleObj>
              </mc:Choice>
              <mc:Fallback>
                <p:oleObj name="Equation" r:id="rId3" imgW="19202400" imgH="10058400" progId="Equation.DSMT4">
                  <p:embed/>
                  <p:pic>
                    <p:nvPicPr>
                      <p:cNvPr id="0" name="图片 5"/>
                      <p:cNvPicPr/>
                      <p:nvPr/>
                    </p:nvPicPr>
                    <p:blipFill>
                      <a:blip r:embed="rId4"/>
                      <a:stretch>
                        <a:fillRect/>
                      </a:stretch>
                    </p:blipFill>
                    <p:spPr>
                      <a:xfrm>
                        <a:off x="2495941" y="3429000"/>
                        <a:ext cx="1599840" cy="838080"/>
                      </a:xfrm>
                      <a:prstGeom prst="rect">
                        <a:avLst/>
                      </a:prstGeom>
                    </p:spPr>
                  </p:pic>
                </p:oleObj>
              </mc:Fallback>
            </mc:AlternateContent>
          </a:graphicData>
        </a:graphic>
      </p:graphicFrame>
      <p:sp>
        <p:nvSpPr>
          <p:cNvPr id="7"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8" name="灯片编号占位符 7"/>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495690" y="215199"/>
            <a:ext cx="4115166"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Real or complex orbitals?</a:t>
            </a:r>
            <a:endParaRPr lang="zh-CN" altLang="en-US" sz="28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矩形 2"/>
              <p:cNvSpPr/>
              <p:nvPr/>
            </p:nvSpPr>
            <p:spPr>
              <a:xfrm>
                <a:off x="412955" y="1137347"/>
                <a:ext cx="11230896" cy="5002523"/>
              </a:xfrm>
              <a:prstGeom prst="rect">
                <a:avLst/>
              </a:prstGeom>
            </p:spPr>
            <p:txBody>
              <a:bodyPr wrap="square">
                <a:spAutoFit/>
              </a:bodyPr>
              <a:lstStyle/>
              <a:p>
                <a:pPr>
                  <a:lnSpc>
                    <a:spcPct val="120000"/>
                  </a:lnSpc>
                </a:pPr>
                <a:r>
                  <a:rPr lang="en-US" altLang="zh-CN" sz="2400" dirty="0">
                    <a:latin typeface="Times New Roman" panose="02020603050405020304" pitchFamily="18" charset="0"/>
                    <a:cs typeface="Times New Roman" panose="02020603050405020304" pitchFamily="18" charset="0"/>
                  </a:rPr>
                  <a:t>If we assemble the complete </a:t>
                </a:r>
                <a:r>
                  <a:rPr lang="en-US" altLang="zh-CN" sz="2400" dirty="0">
                    <a:solidFill>
                      <a:srgbClr val="2926BF"/>
                    </a:solidFill>
                    <a:latin typeface="Times New Roman" panose="02020603050405020304" pitchFamily="18" charset="0"/>
                    <a:cs typeface="Times New Roman" panose="02020603050405020304" pitchFamily="18" charset="0"/>
                  </a:rPr>
                  <a:t>2</a:t>
                </a:r>
                <a:r>
                  <a:rPr lang="en-US" altLang="zh-CN" sz="2400" i="1" dirty="0">
                    <a:solidFill>
                      <a:srgbClr val="2926BF"/>
                    </a:solidFill>
                    <a:latin typeface="Times New Roman" panose="02020603050405020304" pitchFamily="18" charset="0"/>
                    <a:cs typeface="Times New Roman" panose="02020603050405020304" pitchFamily="18" charset="0"/>
                  </a:rPr>
                  <a:t>p</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orbitals for the hydrogen atom </a:t>
                </a:r>
                <a:r>
                  <a:rPr lang="en-US" altLang="zh-CN" sz="2400" dirty="0">
                    <a:solidFill>
                      <a:srgbClr val="1D1A83"/>
                    </a:solidFill>
                    <a:latin typeface="Times New Roman" panose="02020603050405020304" pitchFamily="18" charset="0"/>
                    <a:cs typeface="Times New Roman" panose="02020603050405020304" pitchFamily="18" charset="0"/>
                  </a:rPr>
                  <a:t>(</a:t>
                </a:r>
                <a14:m>
                  <m:oMath xmlns:m="http://schemas.openxmlformats.org/officeDocument/2006/math">
                    <m:r>
                      <a:rPr lang="en-US" altLang="zh-CN" sz="2400" i="1" dirty="0">
                        <a:solidFill>
                          <a:srgbClr val="2926BF"/>
                        </a:solidFill>
                        <a:latin typeface="Cambria Math" panose="02040503050406030204" pitchFamily="18" charset="0"/>
                      </a:rPr>
                      <m:t>𝑍</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1</m:t>
                    </m:r>
                  </m:oMath>
                </a14:m>
                <a:r>
                  <a:rPr lang="en-US" altLang="zh-CN" sz="2400" dirty="0">
                    <a:solidFill>
                      <a:srgbClr val="121055"/>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we get:</a:t>
                </a:r>
                <a:endParaRPr lang="en-US" altLang="zh-CN" sz="2400" dirty="0">
                  <a:latin typeface="Times New Roman" panose="02020603050405020304" pitchFamily="18" charset="0"/>
                  <a:cs typeface="Times New Roman" panose="02020603050405020304" pitchFamily="18" charset="0"/>
                </a:endParaRPr>
              </a:p>
              <a:p>
                <a:pPr>
                  <a:lnSpc>
                    <a:spcPct val="120000"/>
                  </a:lnSpc>
                  <a:spcBef>
                    <a:spcPts val="1200"/>
                  </a:spcBef>
                </a:pPr>
                <a14:m>
                  <m:oMath xmlns:m="http://schemas.openxmlformats.org/officeDocument/2006/math">
                    <m:r>
                      <a:rPr lang="en-US" altLang="zh-CN" sz="2400" i="1" dirty="0">
                        <a:solidFill>
                          <a:srgbClr val="2926BF"/>
                        </a:solidFill>
                        <a:latin typeface="Cambria Math" panose="02040503050406030204" pitchFamily="18" charset="0"/>
                      </a:rPr>
                      <m:t>𝑚</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0</m:t>
                    </m:r>
                  </m:oMath>
                </a14:m>
                <a:r>
                  <a:rPr lang="en-US" altLang="zh-CN" sz="2400" dirty="0">
                    <a:solidFill>
                      <a:srgbClr val="2926BF"/>
                    </a:solidFill>
                    <a:latin typeface="Times New Roman" panose="02020603050405020304" pitchFamily="18" charset="0"/>
                    <a:cs typeface="Times New Roman" panose="02020603050405020304" pitchFamily="18" charset="0"/>
                  </a:rPr>
                  <a:t>:</a:t>
                </a:r>
                <a:endParaRPr lang="en-US" altLang="zh-CN" sz="2400" dirty="0">
                  <a:solidFill>
                    <a:srgbClr val="2926BF"/>
                  </a:solidFill>
                  <a:latin typeface="Times New Roman" panose="02020603050405020304" pitchFamily="18" charset="0"/>
                  <a:cs typeface="Times New Roman" panose="02020603050405020304" pitchFamily="18" charset="0"/>
                </a:endParaRPr>
              </a:p>
              <a:p>
                <a:pPr>
                  <a:lnSpc>
                    <a:spcPct val="120000"/>
                  </a:lnSpc>
                </a:pPr>
                <a:endParaRPr lang="en-US" altLang="zh-CN" sz="2400" dirty="0">
                  <a:solidFill>
                    <a:srgbClr val="2926BF"/>
                  </a:solidFill>
                  <a:latin typeface="Times New Roman" panose="02020603050405020304" pitchFamily="18" charset="0"/>
                  <a:cs typeface="Times New Roman" panose="02020603050405020304" pitchFamily="18" charset="0"/>
                </a:endParaRPr>
              </a:p>
              <a:p>
                <a:pPr>
                  <a:lnSpc>
                    <a:spcPct val="120000"/>
                  </a:lnSpc>
                </a:pPr>
                <a:endParaRPr lang="en-US" altLang="zh-CN" sz="2400" dirty="0">
                  <a:solidFill>
                    <a:srgbClr val="2926BF"/>
                  </a:solidFill>
                  <a:latin typeface="Times New Roman" panose="02020603050405020304" pitchFamily="18" charset="0"/>
                  <a:cs typeface="Times New Roman" panose="02020603050405020304" pitchFamily="18" charset="0"/>
                </a:endParaRPr>
              </a:p>
              <a:p>
                <a:pPr>
                  <a:lnSpc>
                    <a:spcPct val="120000"/>
                  </a:lnSpc>
                  <a:spcBef>
                    <a:spcPts val="1200"/>
                  </a:spcBef>
                </a:pPr>
                <a14:m>
                  <m:oMath xmlns:m="http://schemas.openxmlformats.org/officeDocument/2006/math">
                    <m:r>
                      <a:rPr lang="en-US" altLang="zh-CN" sz="2400" i="1" dirty="0">
                        <a:solidFill>
                          <a:srgbClr val="2926BF"/>
                        </a:solidFill>
                        <a:latin typeface="Cambria Math" panose="02040503050406030204" pitchFamily="18" charset="0"/>
                      </a:rPr>
                      <m:t>𝑚</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1</m:t>
                    </m:r>
                  </m:oMath>
                </a14:m>
                <a:r>
                  <a:rPr lang="en-US" altLang="zh-CN" sz="2400" dirty="0">
                    <a:solidFill>
                      <a:srgbClr val="2926BF"/>
                    </a:solidFill>
                    <a:latin typeface="Times New Roman" panose="02020603050405020304" pitchFamily="18" charset="0"/>
                    <a:cs typeface="Times New Roman" panose="02020603050405020304" pitchFamily="18" charset="0"/>
                  </a:rPr>
                  <a:t>:</a:t>
                </a:r>
                <a:endParaRPr lang="en-US" altLang="zh-CN" sz="2400" dirty="0">
                  <a:solidFill>
                    <a:srgbClr val="2926BF"/>
                  </a:solidFill>
                  <a:latin typeface="Times New Roman" panose="02020603050405020304" pitchFamily="18" charset="0"/>
                  <a:cs typeface="Times New Roman" panose="02020603050405020304" pitchFamily="18" charset="0"/>
                </a:endParaRPr>
              </a:p>
              <a:p>
                <a:pPr>
                  <a:lnSpc>
                    <a:spcPct val="120000"/>
                  </a:lnSpc>
                </a:pPr>
                <a:endParaRPr lang="en-US" altLang="zh-CN" sz="2400" dirty="0">
                  <a:solidFill>
                    <a:srgbClr val="2926BF"/>
                  </a:solidFill>
                  <a:latin typeface="Times New Roman" panose="02020603050405020304" pitchFamily="18" charset="0"/>
                  <a:cs typeface="Times New Roman" panose="02020603050405020304" pitchFamily="18" charset="0"/>
                </a:endParaRPr>
              </a:p>
              <a:p>
                <a:pPr>
                  <a:lnSpc>
                    <a:spcPct val="120000"/>
                  </a:lnSpc>
                </a:pPr>
                <a:endParaRPr lang="en-US" altLang="zh-CN" sz="2400" dirty="0">
                  <a:solidFill>
                    <a:srgbClr val="2926BF"/>
                  </a:solidFill>
                  <a:latin typeface="Times New Roman" panose="02020603050405020304" pitchFamily="18" charset="0"/>
                  <a:cs typeface="Times New Roman" panose="02020603050405020304" pitchFamily="18" charset="0"/>
                </a:endParaRPr>
              </a:p>
              <a:p>
                <a:pPr>
                  <a:lnSpc>
                    <a:spcPct val="120000"/>
                  </a:lnSpc>
                  <a:spcBef>
                    <a:spcPts val="1200"/>
                  </a:spcBef>
                </a:pPr>
                <a14:m>
                  <m:oMath xmlns:m="http://schemas.openxmlformats.org/officeDocument/2006/math">
                    <m:r>
                      <a:rPr lang="en-US" altLang="zh-CN" sz="2400" i="1" dirty="0">
                        <a:solidFill>
                          <a:srgbClr val="2926BF"/>
                        </a:solidFill>
                        <a:latin typeface="Cambria Math" panose="02040503050406030204" pitchFamily="18" charset="0"/>
                      </a:rPr>
                      <m:t>𝑚</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1</m:t>
                    </m:r>
                  </m:oMath>
                </a14:m>
                <a:r>
                  <a:rPr lang="en-US" altLang="zh-CN" sz="2400" dirty="0">
                    <a:solidFill>
                      <a:srgbClr val="2926BF"/>
                    </a:solidFill>
                    <a:latin typeface="Times New Roman" panose="02020603050405020304" pitchFamily="18" charset="0"/>
                    <a:cs typeface="Times New Roman" panose="02020603050405020304" pitchFamily="18" charset="0"/>
                  </a:rPr>
                  <a:t>:</a:t>
                </a:r>
                <a:endParaRPr lang="en-US" altLang="zh-CN" sz="2400" dirty="0">
                  <a:solidFill>
                    <a:srgbClr val="2926BF"/>
                  </a:solidFill>
                  <a:latin typeface="Times New Roman" panose="02020603050405020304" pitchFamily="18" charset="0"/>
                  <a:cs typeface="Times New Roman" panose="02020603050405020304" pitchFamily="18" charset="0"/>
                </a:endParaRPr>
              </a:p>
              <a:p>
                <a:pPr indent="342265">
                  <a:lnSpc>
                    <a:spcPct val="120000"/>
                  </a:lnSpc>
                </a:pPr>
                <a:endParaRPr lang="en-US" altLang="zh-CN" sz="2400" i="1" dirty="0">
                  <a:solidFill>
                    <a:srgbClr val="2926BF"/>
                  </a:solidFill>
                  <a:latin typeface="Times New Roman" panose="02020603050405020304" pitchFamily="18" charset="0"/>
                  <a:cs typeface="Times New Roman" panose="02020603050405020304" pitchFamily="18" charset="0"/>
                </a:endParaRPr>
              </a:p>
              <a:p>
                <a:pPr>
                  <a:lnSpc>
                    <a:spcPct val="120000"/>
                  </a:lnSpc>
                </a:pPr>
                <a:r>
                  <a:rPr lang="en-US" altLang="zh-CN" sz="2400" dirty="0">
                    <a:latin typeface="Times New Roman" panose="02020603050405020304" pitchFamily="18" charset="0"/>
                    <a:cs typeface="Times New Roman" panose="02020603050405020304" pitchFamily="18" charset="0"/>
                  </a:rPr>
                  <a:t>Here </a:t>
                </a:r>
                <a14:m>
                  <m:oMath xmlns:m="http://schemas.openxmlformats.org/officeDocument/2006/math">
                    <m:r>
                      <a:rPr lang="en-US" altLang="zh-CN" sz="2400" i="1" dirty="0">
                        <a:solidFill>
                          <a:srgbClr val="2926BF"/>
                        </a:solidFill>
                        <a:latin typeface="Cambria Math" panose="02040503050406030204" pitchFamily="18" charset="0"/>
                      </a:rPr>
                      <m:t>𝑁</m:t>
                    </m:r>
                    <m:r>
                      <a:rPr lang="en-US" altLang="zh-CN" sz="2400" i="1" baseline="-25000" dirty="0">
                        <a:solidFill>
                          <a:srgbClr val="2926BF"/>
                        </a:solidFill>
                        <a:latin typeface="Cambria Math" panose="02040503050406030204" pitchFamily="18" charset="0"/>
                      </a:rPr>
                      <m:t>2</m:t>
                    </m:r>
                    <m:r>
                      <a:rPr lang="en-US" altLang="zh-CN" sz="2400" i="1" baseline="-25000" dirty="0">
                        <a:solidFill>
                          <a:srgbClr val="2926BF"/>
                        </a:solidFill>
                        <a:latin typeface="Cambria Math" panose="02040503050406030204" pitchFamily="18" charset="0"/>
                      </a:rPr>
                      <m:t>𝑝</m:t>
                    </m:r>
                    <m:r>
                      <a:rPr lang="en-US" altLang="zh-CN" sz="2400" i="1" dirty="0">
                        <a:solidFill>
                          <a:srgbClr val="2926BF"/>
                        </a:solidFill>
                        <a:latin typeface="Cambria Math" panose="02040503050406030204" pitchFamily="18" charset="0"/>
                      </a:rPr>
                      <m:t>=</m:t>
                    </m:r>
                    <m:sSup>
                      <m:sSupPr>
                        <m:ctrlPr>
                          <a:rPr lang="en-US" altLang="zh-CN" sz="2400" i="1" cap="small" dirty="0">
                            <a:solidFill>
                              <a:srgbClr val="2926BF"/>
                            </a:solidFill>
                            <a:latin typeface="Cambria Math" panose="02040503050406030204" pitchFamily="18" charset="0"/>
                          </a:rPr>
                        </m:ctrlPr>
                      </m:sSupPr>
                      <m:e>
                        <m:r>
                          <a:rPr lang="en-US" altLang="zh-CN" sz="2400" i="1" cap="small" dirty="0">
                            <a:solidFill>
                              <a:srgbClr val="2926BF"/>
                            </a:solidFill>
                            <a:latin typeface="Cambria Math" panose="02040503050406030204" pitchFamily="18" charset="0"/>
                          </a:rPr>
                          <m:t>(</m:t>
                        </m:r>
                        <m:r>
                          <a:rPr lang="en-US" altLang="zh-CN" sz="2400" i="1" cap="small" dirty="0">
                            <a:solidFill>
                              <a:srgbClr val="2926BF"/>
                            </a:solidFill>
                            <a:latin typeface="Cambria Math" panose="02040503050406030204" pitchFamily="18" charset="0"/>
                          </a:rPr>
                          <m:t>32</m:t>
                        </m:r>
                        <m:r>
                          <a:rPr lang="zh-CN" altLang="en-US" sz="2400" i="1" cap="small" dirty="0">
                            <a:solidFill>
                              <a:srgbClr val="2926BF"/>
                            </a:solidFill>
                            <a:latin typeface="Cambria Math" panose="02040503050406030204" pitchFamily="18" charset="0"/>
                          </a:rPr>
                          <m:t>𝜋</m:t>
                        </m:r>
                        <m:r>
                          <a:rPr lang="en-US" altLang="zh-CN" sz="2400" i="1" cap="small" dirty="0">
                            <a:solidFill>
                              <a:srgbClr val="2926BF"/>
                            </a:solidFill>
                            <a:latin typeface="Cambria Math" panose="02040503050406030204" pitchFamily="18" charset="0"/>
                          </a:rPr>
                          <m:t>)</m:t>
                        </m:r>
                      </m:e>
                      <m:sup>
                        <m:r>
                          <a:rPr lang="en-US" altLang="zh-CN" sz="2400" i="1" cap="small" dirty="0">
                            <a:solidFill>
                              <a:srgbClr val="2926BF"/>
                            </a:solidFill>
                            <a:latin typeface="Cambria Math" panose="02040503050406030204" pitchFamily="18" charset="0"/>
                          </a:rPr>
                          <m:t>−</m:t>
                        </m:r>
                        <m:r>
                          <a:rPr lang="en-US" altLang="zh-CN" sz="2400" i="1" cap="small" dirty="0">
                            <a:solidFill>
                              <a:srgbClr val="2926BF"/>
                            </a:solidFill>
                            <a:latin typeface="Cambria Math" panose="02040503050406030204" pitchFamily="18" charset="0"/>
                          </a:rPr>
                          <m:t>1</m:t>
                        </m:r>
                        <m:r>
                          <a:rPr lang="en-US" altLang="zh-CN" sz="2400" i="1" cap="small" dirty="0">
                            <a:solidFill>
                              <a:srgbClr val="2926BF"/>
                            </a:solidFill>
                            <a:latin typeface="Cambria Math" panose="02040503050406030204" pitchFamily="18" charset="0"/>
                          </a:rPr>
                          <m:t>/</m:t>
                        </m:r>
                        <m:r>
                          <a:rPr lang="en-US" altLang="zh-CN" sz="2400" i="1" cap="small" dirty="0">
                            <a:solidFill>
                              <a:srgbClr val="2926BF"/>
                            </a:solidFill>
                            <a:latin typeface="Cambria Math" panose="02040503050406030204" pitchFamily="18" charset="0"/>
                          </a:rPr>
                          <m:t>2</m:t>
                        </m:r>
                      </m:sup>
                    </m:sSup>
                  </m:oMath>
                </a14:m>
                <a:r>
                  <a:rPr lang="en-US" altLang="zh-CN" sz="2400" cap="small" dirty="0">
                    <a:solidFill>
                      <a:srgbClr val="2926BF"/>
                    </a:solidFill>
                    <a:latin typeface="Times New Roman" panose="02020603050405020304" pitchFamily="18" charset="0"/>
                    <a:cs typeface="Times New Roman" panose="02020603050405020304" pitchFamily="18" charset="0"/>
                  </a:rPr>
                  <a:t>.</a:t>
                </a:r>
                <a:endParaRPr lang="en-US" altLang="zh-CN" sz="2400" cap="small" dirty="0">
                  <a:solidFill>
                    <a:srgbClr val="2926BF"/>
                  </a:solidFill>
                  <a:latin typeface="Times New Roman" panose="02020603050405020304" pitchFamily="18" charset="0"/>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412955" y="1137347"/>
                <a:ext cx="11230896" cy="5002523"/>
              </a:xfrm>
              <a:prstGeom prst="rect">
                <a:avLst/>
              </a:prstGeom>
              <a:blipFill rotWithShape="1">
                <a:blip r:embed="rId1"/>
                <a:stretch>
                  <a:fillRect l="-2" t="-1" r="4" b="1"/>
                </a:stretch>
              </a:blipFill>
            </p:spPr>
            <p:txBody>
              <a:bodyPr/>
              <a:lstStyle/>
              <a:p>
                <a:r>
                  <a:rPr lang="zh-CN" altLang="en-US">
                    <a:noFill/>
                  </a:rPr>
                  <a:t> </a:t>
                </a:r>
              </a:p>
            </p:txBody>
          </p:sp>
        </mc:Fallback>
      </mc:AlternateContent>
      <p:graphicFrame>
        <p:nvGraphicFramePr>
          <p:cNvPr id="4" name="对象 3"/>
          <p:cNvGraphicFramePr>
            <a:graphicFrameLocks noChangeAspect="1"/>
          </p:cNvGraphicFramePr>
          <p:nvPr/>
        </p:nvGraphicFramePr>
        <p:xfrm>
          <a:off x="4442434" y="1691916"/>
          <a:ext cx="3352320" cy="1028700"/>
        </p:xfrm>
        <a:graphic>
          <a:graphicData uri="http://schemas.openxmlformats.org/presentationml/2006/ole">
            <mc:AlternateContent xmlns:mc="http://schemas.openxmlformats.org/markup-compatibility/2006">
              <mc:Choice xmlns:v="urn:schemas-microsoft-com:vml" Requires="v">
                <p:oleObj spid="_x0000_s5" name="Equation" r:id="rId2" imgW="53644800" imgH="16459200" progId="Equation.DSMT4">
                  <p:embed/>
                </p:oleObj>
              </mc:Choice>
              <mc:Fallback>
                <p:oleObj name="Equation" r:id="rId2" imgW="53644800" imgH="16459200" progId="Equation.DSMT4">
                  <p:embed/>
                  <p:pic>
                    <p:nvPicPr>
                      <p:cNvPr id="0" name="图片 4"/>
                      <p:cNvPicPr/>
                      <p:nvPr/>
                    </p:nvPicPr>
                    <p:blipFill>
                      <a:blip r:embed="rId3"/>
                      <a:stretch>
                        <a:fillRect/>
                      </a:stretch>
                    </p:blipFill>
                    <p:spPr>
                      <a:xfrm>
                        <a:off x="4442434" y="1691916"/>
                        <a:ext cx="3352320" cy="102870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4442434" y="2898458"/>
          <a:ext cx="4114800" cy="1333260"/>
        </p:xfrm>
        <a:graphic>
          <a:graphicData uri="http://schemas.openxmlformats.org/presentationml/2006/ole">
            <mc:AlternateContent xmlns:mc="http://schemas.openxmlformats.org/markup-compatibility/2006">
              <mc:Choice xmlns:v="urn:schemas-microsoft-com:vml" Requires="v">
                <p:oleObj spid="_x0000_s7" name="Equation" r:id="rId4" imgW="65836800" imgH="21336000" progId="Equation.DSMT4">
                  <p:embed/>
                </p:oleObj>
              </mc:Choice>
              <mc:Fallback>
                <p:oleObj name="Equation" r:id="rId4" imgW="65836800" imgH="21336000" progId="Equation.DSMT4">
                  <p:embed/>
                  <p:pic>
                    <p:nvPicPr>
                      <p:cNvPr id="0" name="图片 6"/>
                      <p:cNvPicPr/>
                      <p:nvPr/>
                    </p:nvPicPr>
                    <p:blipFill>
                      <a:blip r:embed="rId5"/>
                      <a:stretch>
                        <a:fillRect/>
                      </a:stretch>
                    </p:blipFill>
                    <p:spPr>
                      <a:xfrm>
                        <a:off x="4442434" y="2898458"/>
                        <a:ext cx="4114800" cy="133326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4442434" y="4371114"/>
          <a:ext cx="4133700" cy="1333260"/>
        </p:xfrm>
        <a:graphic>
          <a:graphicData uri="http://schemas.openxmlformats.org/presentationml/2006/ole">
            <mc:AlternateContent xmlns:mc="http://schemas.openxmlformats.org/markup-compatibility/2006">
              <mc:Choice xmlns:v="urn:schemas-microsoft-com:vml" Requires="v">
                <p:oleObj spid="_x0000_s9" name="Equation" r:id="rId6" imgW="66141600" imgH="21336000" progId="Equation.DSMT4">
                  <p:embed/>
                </p:oleObj>
              </mc:Choice>
              <mc:Fallback>
                <p:oleObj name="Equation" r:id="rId6" imgW="66141600" imgH="21336000" progId="Equation.DSMT4">
                  <p:embed/>
                  <p:pic>
                    <p:nvPicPr>
                      <p:cNvPr id="0" name="图片 8"/>
                      <p:cNvPicPr/>
                      <p:nvPr/>
                    </p:nvPicPr>
                    <p:blipFill>
                      <a:blip r:embed="rId7"/>
                      <a:stretch>
                        <a:fillRect/>
                      </a:stretch>
                    </p:blipFill>
                    <p:spPr>
                      <a:xfrm>
                        <a:off x="4442434" y="4371114"/>
                        <a:ext cx="4133700" cy="1333260"/>
                      </a:xfrm>
                      <a:prstGeom prst="rect">
                        <a:avLst/>
                      </a:prstGeom>
                    </p:spPr>
                  </p:pic>
                </p:oleObj>
              </mc:Fallback>
            </mc:AlternateContent>
          </a:graphicData>
        </a:graphic>
      </p:graphicFrame>
      <p:sp>
        <p:nvSpPr>
          <p:cNvPr id="10"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11" name="灯片编号占位符 10"/>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339119" y="191901"/>
            <a:ext cx="4204934"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Real or complex </a:t>
            </a:r>
            <a:r>
              <a:rPr lang="en-US" altLang="zh-CN" sz="2800" b="1" i="1" dirty="0">
                <a:solidFill>
                  <a:srgbClr val="2926BF"/>
                </a:solidFill>
                <a:latin typeface="Times New Roman" panose="02020603050405020304" pitchFamily="18" charset="0"/>
                <a:cs typeface="Times New Roman" panose="02020603050405020304" pitchFamily="18" charset="0"/>
              </a:rPr>
              <a:t>p</a:t>
            </a:r>
            <a:r>
              <a:rPr lang="en-US" altLang="zh-CN" sz="2800" b="1" dirty="0">
                <a:latin typeface="Times New Roman" panose="02020603050405020304" pitchFamily="18" charset="0"/>
                <a:cs typeface="Times New Roman" panose="02020603050405020304" pitchFamily="18" charset="0"/>
              </a:rPr>
              <a:t> orbitals</a:t>
            </a:r>
            <a:endParaRPr lang="zh-CN" altLang="en-US" sz="28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矩形 2"/>
              <p:cNvSpPr/>
              <p:nvPr/>
            </p:nvSpPr>
            <p:spPr>
              <a:xfrm>
                <a:off x="294377" y="907867"/>
                <a:ext cx="11599606" cy="4436920"/>
              </a:xfrm>
              <a:prstGeom prst="rect">
                <a:avLst/>
              </a:prstGeom>
            </p:spPr>
            <p:txBody>
              <a:bodyPr wrap="square">
                <a:spAutoFit/>
              </a:bodyPr>
              <a:lstStyle/>
              <a:p>
                <a:pPr>
                  <a:lnSpc>
                    <a:spcPct val="120000"/>
                  </a:lnSpc>
                </a:pPr>
                <a:r>
                  <a:rPr lang="en-US" altLang="zh-CN" sz="2400" dirty="0">
                    <a:latin typeface="Times New Roman" panose="02020603050405020304" pitchFamily="18" charset="0"/>
                    <a:cs typeface="Times New Roman" panose="02020603050405020304" pitchFamily="18" charset="0"/>
                  </a:rPr>
                  <a:t>The complex orbitals </a:t>
                </a:r>
                <a14:m>
                  <m:oMath xmlns:m="http://schemas.openxmlformats.org/officeDocument/2006/math">
                    <m:r>
                      <a:rPr lang="zh-CN" altLang="en-US" sz="2400" i="1" dirty="0">
                        <a:solidFill>
                          <a:srgbClr val="2926BF"/>
                        </a:solidFill>
                        <a:latin typeface="Cambria Math" panose="02040503050406030204" pitchFamily="18" charset="0"/>
                      </a:rPr>
                      <m:t>𝜓</m:t>
                    </m:r>
                    <m:r>
                      <a:rPr lang="en-US" altLang="zh-CN" sz="2400" i="1" baseline="-25000" dirty="0">
                        <a:solidFill>
                          <a:srgbClr val="2926BF"/>
                        </a:solidFill>
                        <a:latin typeface="Cambria Math" panose="02040503050406030204" pitchFamily="18" charset="0"/>
                      </a:rPr>
                      <m:t>𝑛𝑙𝑚</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are eigenfunctions of </a:t>
                </a:r>
                <a14:m>
                  <m:oMath xmlns:m="http://schemas.openxmlformats.org/officeDocument/2006/math">
                    <m:r>
                      <a:rPr lang="en-US" altLang="zh-CN" sz="2400" i="1" dirty="0">
                        <a:solidFill>
                          <a:srgbClr val="2926BF"/>
                        </a:solidFill>
                        <a:latin typeface="Cambria Math" panose="02040503050406030204" pitchFamily="18" charset="0"/>
                      </a:rPr>
                      <m:t>𝐻</m:t>
                    </m:r>
                  </m:oMath>
                </a14:m>
                <a:r>
                  <a:rPr lang="en-US" altLang="zh-CN" sz="2400" dirty="0">
                    <a:solidFill>
                      <a:srgbClr val="2926BF"/>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2400" b="1" i="1" dirty="0">
                        <a:solidFill>
                          <a:srgbClr val="2926BF"/>
                        </a:solidFill>
                        <a:latin typeface="Cambria Math" panose="02040503050406030204" pitchFamily="18" charset="0"/>
                      </a:rPr>
                      <m:t>𝒄</m:t>
                    </m:r>
                  </m:oMath>
                </a14:m>
                <a:r>
                  <a:rPr lang="en-US" altLang="zh-CN" sz="2400" dirty="0">
                    <a:latin typeface="Times New Roman" panose="02020603050405020304" pitchFamily="18" charset="0"/>
                    <a:cs typeface="Times New Roman" panose="02020603050405020304" pitchFamily="18" charset="0"/>
                  </a:rPr>
                  <a:t>and </a:t>
                </a:r>
                <a14:m>
                  <m:oMath xmlns:m="http://schemas.openxmlformats.org/officeDocument/2006/math">
                    <m:acc>
                      <m:accPr>
                        <m:ctrlPr>
                          <a:rPr lang="en-US" altLang="zh-CN" sz="2400" i="1" dirty="0">
                            <a:solidFill>
                              <a:srgbClr val="2926BF"/>
                            </a:solidFill>
                            <a:latin typeface="Cambria Math" panose="02040503050406030204" pitchFamily="18" charset="0"/>
                          </a:rPr>
                        </m:ctrlPr>
                      </m:accPr>
                      <m:e>
                        <m:r>
                          <a:rPr lang="en-US" altLang="zh-CN" sz="2400" i="1" dirty="0">
                            <a:solidFill>
                              <a:srgbClr val="2926BF"/>
                            </a:solidFill>
                            <a:latin typeface="Cambria Math" panose="02040503050406030204" pitchFamily="18" charset="0"/>
                          </a:rPr>
                          <m:t>𝑙</m:t>
                        </m:r>
                      </m:e>
                    </m:acc>
                  </m:oMath>
                </a14:m>
                <a:r>
                  <a:rPr lang="en-US" altLang="zh-CN" sz="2400" i="1" baseline="-25000" dirty="0">
                    <a:solidFill>
                      <a:srgbClr val="2926BF"/>
                    </a:solidFill>
                    <a:latin typeface="Times New Roman" panose="02020603050405020304" pitchFamily="18" charset="0"/>
                    <a:cs typeface="Times New Roman" panose="02020603050405020304" pitchFamily="18" charset="0"/>
                  </a:rPr>
                  <a:t> z </a:t>
                </a:r>
                <a:r>
                  <a:rPr lang="en-US" altLang="zh-CN" sz="2400" baseline="300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are suitable for use when we are interested in angular momentum.</a:t>
                </a:r>
                <a:endParaRPr lang="en-US" altLang="zh-CN" sz="2400" dirty="0">
                  <a:latin typeface="Times New Roman" panose="02020603050405020304" pitchFamily="18" charset="0"/>
                  <a:cs typeface="Times New Roman" panose="02020603050405020304" pitchFamily="18" charset="0"/>
                </a:endParaRPr>
              </a:p>
              <a:p>
                <a:pPr>
                  <a:lnSpc>
                    <a:spcPct val="120000"/>
                  </a:lnSpc>
                </a:pPr>
                <a:r>
                  <a:rPr lang="en-US" altLang="zh-CN" sz="2400" dirty="0">
                    <a:latin typeface="Times New Roman" panose="02020603050405020304" pitchFamily="18" charset="0"/>
                    <a:cs typeface="Times New Roman" panose="02020603050405020304" pitchFamily="18" charset="0"/>
                  </a:rPr>
                  <a:t>For many purposes, however, it is more convenient to construct the real functions</a:t>
                </a:r>
                <a:endParaRPr lang="en-US" altLang="zh-CN" sz="2400" dirty="0">
                  <a:latin typeface="Times New Roman" panose="02020603050405020304" pitchFamily="18" charset="0"/>
                  <a:cs typeface="Times New Roman" panose="02020603050405020304" pitchFamily="18" charset="0"/>
                </a:endParaRPr>
              </a:p>
              <a:p>
                <a:pPr>
                  <a:lnSpc>
                    <a:spcPct val="120000"/>
                  </a:lnSpc>
                </a:pPr>
                <a:endParaRPr lang="en-US" altLang="zh-CN" sz="2400" dirty="0">
                  <a:latin typeface="Times New Roman" panose="02020603050405020304" pitchFamily="18" charset="0"/>
                  <a:cs typeface="Times New Roman" panose="02020603050405020304" pitchFamily="18" charset="0"/>
                </a:endParaRPr>
              </a:p>
              <a:p>
                <a:pPr>
                  <a:lnSpc>
                    <a:spcPct val="120000"/>
                  </a:lnSpc>
                </a:pPr>
                <a:endParaRPr lang="en-US" altLang="zh-CN" sz="2400" dirty="0">
                  <a:latin typeface="Times New Roman" panose="02020603050405020304" pitchFamily="18" charset="0"/>
                  <a:cs typeface="Times New Roman" panose="02020603050405020304" pitchFamily="18" charset="0"/>
                </a:endParaRPr>
              </a:p>
              <a:p>
                <a:pPr>
                  <a:lnSpc>
                    <a:spcPct val="120000"/>
                  </a:lnSpc>
                </a:pPr>
                <a:endParaRPr lang="en-US" altLang="zh-CN" sz="2400" dirty="0">
                  <a:latin typeface="Times New Roman" panose="02020603050405020304" pitchFamily="18" charset="0"/>
                  <a:cs typeface="Times New Roman" panose="02020603050405020304" pitchFamily="18" charset="0"/>
                </a:endParaRPr>
              </a:p>
              <a:p>
                <a:pPr>
                  <a:lnSpc>
                    <a:spcPct val="120000"/>
                  </a:lnSpc>
                  <a:spcBef>
                    <a:spcPts val="1200"/>
                  </a:spcBef>
                </a:pPr>
                <a:r>
                  <a:rPr lang="en-US" altLang="zh-CN" sz="2400" dirty="0">
                    <a:latin typeface="Times New Roman" panose="02020603050405020304" pitchFamily="18" charset="0"/>
                    <a:cs typeface="Times New Roman" panose="02020603050405020304" pitchFamily="18" charset="0"/>
                  </a:rPr>
                  <a:t>together with</a:t>
                </a:r>
                <a:endParaRPr lang="en-US" altLang="zh-CN" sz="2400" dirty="0">
                  <a:latin typeface="Times New Roman" panose="02020603050405020304" pitchFamily="18" charset="0"/>
                  <a:cs typeface="Times New Roman" panose="02020603050405020304" pitchFamily="18" charset="0"/>
                </a:endParaRPr>
              </a:p>
              <a:p>
                <a:pPr>
                  <a:lnSpc>
                    <a:spcPct val="120000"/>
                  </a:lnSpc>
                </a:pPr>
                <a:endParaRPr lang="en-US" altLang="zh-CN" sz="2400" dirty="0">
                  <a:latin typeface="Times New Roman" panose="02020603050405020304" pitchFamily="18" charset="0"/>
                  <a:cs typeface="Times New Roman" panose="02020603050405020304" pitchFamily="18" charset="0"/>
                </a:endParaRPr>
              </a:p>
              <a:p>
                <a:pPr>
                  <a:lnSpc>
                    <a:spcPct val="120000"/>
                  </a:lnSpc>
                  <a:spcBef>
                    <a:spcPts val="1200"/>
                  </a:spcBef>
                </a:pPr>
                <a:r>
                  <a:rPr lang="en-US" altLang="zh-CN" sz="2400" dirty="0">
                    <a:latin typeface="Times New Roman" panose="02020603050405020304" pitchFamily="18" charset="0"/>
                    <a:cs typeface="Times New Roman" panose="02020603050405020304" pitchFamily="18" charset="0"/>
                  </a:rPr>
                  <a:t>These real functions are still eigenfunctions of </a:t>
                </a:r>
                <a14:m>
                  <m:oMath xmlns:m="http://schemas.openxmlformats.org/officeDocument/2006/math">
                    <m:r>
                      <a:rPr lang="en-US" altLang="zh-CN" sz="2400" i="1" dirty="0">
                        <a:solidFill>
                          <a:srgbClr val="2926BF"/>
                        </a:solidFill>
                        <a:latin typeface="Cambria Math" panose="02040503050406030204" pitchFamily="18" charset="0"/>
                      </a:rPr>
                      <m:t>𝐻</m:t>
                    </m:r>
                    <m:r>
                      <a:rPr lang="en-US" altLang="zh-CN" sz="2400" i="1" dirty="0">
                        <a:solidFill>
                          <a:srgbClr val="2926BF"/>
                        </a:solidFill>
                        <a:latin typeface="Cambria Math" panose="02040503050406030204" pitchFamily="18" charset="0"/>
                      </a:rPr>
                      <m:t> </m:t>
                    </m:r>
                  </m:oMath>
                </a14:m>
                <a:r>
                  <a:rPr lang="en-US" altLang="zh-CN" sz="2400" dirty="0">
                    <a:latin typeface="Times New Roman" panose="02020603050405020304" pitchFamily="18" charset="0"/>
                    <a:cs typeface="Times New Roman" panose="02020603050405020304" pitchFamily="18" charset="0"/>
                  </a:rPr>
                  <a:t>and </a:t>
                </a:r>
                <a14:m>
                  <m:oMath xmlns:m="http://schemas.openxmlformats.org/officeDocument/2006/math">
                    <m:acc>
                      <m:accPr>
                        <m:ctrlPr>
                          <a:rPr lang="en-US" altLang="zh-CN" sz="2400" b="1" i="1" dirty="0">
                            <a:solidFill>
                              <a:srgbClr val="2926BF"/>
                            </a:solidFill>
                            <a:latin typeface="Cambria Math" panose="02040503050406030204" pitchFamily="18" charset="0"/>
                          </a:rPr>
                        </m:ctrlPr>
                      </m:accPr>
                      <m:e>
                        <m:r>
                          <a:rPr lang="en-US" altLang="zh-CN" sz="2400" b="1" i="1" dirty="0">
                            <a:solidFill>
                              <a:srgbClr val="2926BF"/>
                            </a:solidFill>
                            <a:latin typeface="Cambria Math" panose="02040503050406030204" pitchFamily="18" charset="0"/>
                          </a:rPr>
                          <m:t>𝒍</m:t>
                        </m:r>
                      </m:e>
                    </m:acc>
                  </m:oMath>
                </a14:m>
                <a:r>
                  <a:rPr lang="en-US" altLang="zh-CN" sz="2400" baseline="30000" dirty="0">
                    <a:solidFill>
                      <a:srgbClr val="2926BF"/>
                    </a:solidFill>
                    <a:latin typeface="Times New Roman" panose="02020603050405020304" pitchFamily="18" charset="0"/>
                    <a:cs typeface="Times New Roman" panose="02020603050405020304" pitchFamily="18" charset="0"/>
                  </a:rPr>
                  <a:t>2</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but not of </a:t>
                </a:r>
                <a:r>
                  <a:rPr lang="en-US" altLang="zh-CN" sz="2400" i="1" dirty="0" err="1">
                    <a:solidFill>
                      <a:srgbClr val="2926BF"/>
                    </a:solidFill>
                    <a:latin typeface="Times New Roman" panose="02020603050405020304" pitchFamily="18" charset="0"/>
                    <a:cs typeface="Times New Roman" panose="02020603050405020304" pitchFamily="18" charset="0"/>
                  </a:rPr>
                  <a:t>l</a:t>
                </a:r>
                <a:r>
                  <a:rPr lang="en-US" altLang="zh-CN" sz="2400" i="1" baseline="-25000" dirty="0" err="1">
                    <a:solidFill>
                      <a:srgbClr val="2926BF"/>
                    </a:solidFill>
                    <a:latin typeface="Times New Roman" panose="02020603050405020304" pitchFamily="18" charset="0"/>
                    <a:cs typeface="Times New Roman" panose="02020603050405020304" pitchFamily="18" charset="0"/>
                  </a:rPr>
                  <a:t>z</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when </a:t>
                </a:r>
                <a14:m>
                  <m:oMath xmlns:m="http://schemas.openxmlformats.org/officeDocument/2006/math">
                    <m:r>
                      <a:rPr lang="en-US" altLang="zh-CN" sz="2400" i="1" dirty="0">
                        <a:solidFill>
                          <a:srgbClr val="2926BF"/>
                        </a:solidFill>
                        <a:latin typeface="Cambria Math" panose="02040503050406030204" pitchFamily="18" charset="0"/>
                      </a:rPr>
                      <m:t>𝑚</m:t>
                    </m:r>
                    <m:r>
                      <a:rPr lang="en-US" altLang="zh-CN" sz="2400" i="1" dirty="0">
                        <a:solidFill>
                          <a:srgbClr val="2926BF"/>
                        </a:solidFill>
                        <a:latin typeface="Cambria Math" panose="02040503050406030204" pitchFamily="18" charset="0"/>
                        <a:ea typeface="Cambria Math" panose="02040503050406030204" pitchFamily="18" charset="0"/>
                      </a:rPr>
                      <m:t>≠</m:t>
                    </m:r>
                    <m:r>
                      <a:rPr lang="en-US" altLang="zh-CN" sz="2400" i="1" dirty="0">
                        <a:solidFill>
                          <a:srgbClr val="2926BF"/>
                        </a:solidFill>
                        <a:latin typeface="Cambria Math" panose="02040503050406030204" pitchFamily="18" charset="0"/>
                        <a:ea typeface="Cambria Math" panose="02040503050406030204" pitchFamily="18" charset="0"/>
                      </a:rPr>
                      <m:t>0</m:t>
                    </m:r>
                  </m:oMath>
                </a14:m>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294377" y="907867"/>
                <a:ext cx="11599606" cy="4436920"/>
              </a:xfrm>
              <a:prstGeom prst="rect">
                <a:avLst/>
              </a:prstGeom>
              <a:blipFill rotWithShape="1">
                <a:blip r:embed="rId1"/>
                <a:stretch>
                  <a:fillRect l="-3" t="-697" r="4" b="14"/>
                </a:stretch>
              </a:blipFill>
            </p:spPr>
            <p:txBody>
              <a:bodyPr/>
              <a:lstStyle/>
              <a:p>
                <a:r>
                  <a:rPr lang="zh-CN" altLang="en-US">
                    <a:noFill/>
                  </a:rPr>
                  <a:t> </a:t>
                </a:r>
              </a:p>
            </p:txBody>
          </p:sp>
        </mc:Fallback>
      </mc:AlternateContent>
      <p:graphicFrame>
        <p:nvGraphicFramePr>
          <p:cNvPr id="4" name="对象 3"/>
          <p:cNvGraphicFramePr>
            <a:graphicFrameLocks noChangeAspect="1"/>
          </p:cNvGraphicFramePr>
          <p:nvPr/>
        </p:nvGraphicFramePr>
        <p:xfrm>
          <a:off x="3615191" y="2252575"/>
          <a:ext cx="5333760" cy="1777680"/>
        </p:xfrm>
        <a:graphic>
          <a:graphicData uri="http://schemas.openxmlformats.org/presentationml/2006/ole">
            <mc:AlternateContent xmlns:mc="http://schemas.openxmlformats.org/markup-compatibility/2006">
              <mc:Choice xmlns:v="urn:schemas-microsoft-com:vml" Requires="v">
                <p:oleObj spid="_x0000_s5" name="Equation" r:id="rId2" imgW="64008000" imgH="21336000" progId="Equation.DSMT4">
                  <p:embed/>
                </p:oleObj>
              </mc:Choice>
              <mc:Fallback>
                <p:oleObj name="Equation" r:id="rId2" imgW="64008000" imgH="21336000" progId="Equation.DSMT4">
                  <p:embed/>
                  <p:pic>
                    <p:nvPicPr>
                      <p:cNvPr id="0" name="图片 4"/>
                      <p:cNvPicPr/>
                      <p:nvPr/>
                    </p:nvPicPr>
                    <p:blipFill>
                      <a:blip r:embed="rId3"/>
                      <a:stretch>
                        <a:fillRect/>
                      </a:stretch>
                    </p:blipFill>
                    <p:spPr>
                      <a:xfrm>
                        <a:off x="3615191" y="2252575"/>
                        <a:ext cx="5333760" cy="177768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4499911" y="4284556"/>
          <a:ext cx="3631680" cy="482400"/>
        </p:xfrm>
        <a:graphic>
          <a:graphicData uri="http://schemas.openxmlformats.org/presentationml/2006/ole">
            <mc:AlternateContent xmlns:mc="http://schemas.openxmlformats.org/markup-compatibility/2006">
              <mc:Choice xmlns:v="urn:schemas-microsoft-com:vml" Requires="v">
                <p:oleObj spid="_x0000_s7" name="Equation" r:id="rId4" imgW="43586400" imgH="5791200" progId="Equation.DSMT4">
                  <p:embed/>
                </p:oleObj>
              </mc:Choice>
              <mc:Fallback>
                <p:oleObj name="Equation" r:id="rId4" imgW="43586400" imgH="5791200" progId="Equation.DSMT4">
                  <p:embed/>
                  <p:pic>
                    <p:nvPicPr>
                      <p:cNvPr id="0" name="图片 6"/>
                      <p:cNvPicPr/>
                      <p:nvPr/>
                    </p:nvPicPr>
                    <p:blipFill>
                      <a:blip r:embed="rId5"/>
                      <a:stretch>
                        <a:fillRect/>
                      </a:stretch>
                    </p:blipFill>
                    <p:spPr>
                      <a:xfrm>
                        <a:off x="4499911" y="4284556"/>
                        <a:ext cx="3631680" cy="4824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3679698" y="5353820"/>
          <a:ext cx="6883200" cy="609120"/>
        </p:xfrm>
        <a:graphic>
          <a:graphicData uri="http://schemas.openxmlformats.org/presentationml/2006/ole">
            <mc:AlternateContent xmlns:mc="http://schemas.openxmlformats.org/markup-compatibility/2006">
              <mc:Choice xmlns:v="urn:schemas-microsoft-com:vml" Requires="v">
                <p:oleObj spid="_x0000_s9" name="Equation" r:id="rId6" imgW="82600800" imgH="7315200" progId="Equation.DSMT4">
                  <p:embed/>
                </p:oleObj>
              </mc:Choice>
              <mc:Fallback>
                <p:oleObj name="Equation" r:id="rId6" imgW="82600800" imgH="7315200" progId="Equation.DSMT4">
                  <p:embed/>
                  <p:pic>
                    <p:nvPicPr>
                      <p:cNvPr id="0" name="图片 8"/>
                      <p:cNvPicPr/>
                      <p:nvPr/>
                    </p:nvPicPr>
                    <p:blipFill>
                      <a:blip r:embed="rId7"/>
                      <a:stretch>
                        <a:fillRect/>
                      </a:stretch>
                    </p:blipFill>
                    <p:spPr>
                      <a:xfrm>
                        <a:off x="3679698" y="5353820"/>
                        <a:ext cx="6883200" cy="609120"/>
                      </a:xfrm>
                      <a:prstGeom prst="rect">
                        <a:avLst/>
                      </a:prstGeom>
                    </p:spPr>
                  </p:pic>
                </p:oleObj>
              </mc:Fallback>
            </mc:AlternateContent>
          </a:graphicData>
        </a:graphic>
      </p:graphicFrame>
      <p:sp>
        <p:nvSpPr>
          <p:cNvPr id="10"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11" name="灯片编号占位符 10"/>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ChangeArrowheads="1"/>
          </p:cNvSpPr>
          <p:nvPr/>
        </p:nvSpPr>
        <p:spPr bwMode="auto">
          <a:xfrm>
            <a:off x="3596455" y="298714"/>
            <a:ext cx="39507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50000"/>
              </a:spcBef>
              <a:spcAft>
                <a:spcPct val="0"/>
              </a:spcAft>
            </a:pPr>
            <a:r>
              <a:rPr kumimoji="1" lang="en-US" altLang="zh-CN" sz="2400" b="1" dirty="0">
                <a:latin typeface="Times New Roman" panose="02020603050405020304" pitchFamily="18" charset="0"/>
                <a:cs typeface="Times New Roman" panose="02020603050405020304" pitchFamily="18" charset="0"/>
              </a:rPr>
              <a:t>Angular function ( </a:t>
            </a:r>
            <a:r>
              <a:rPr kumimoji="1" lang="en-US" altLang="zh-CN" sz="2400" b="1" dirty="0" err="1">
                <a:latin typeface="Times New Roman" panose="02020603050405020304" pitchFamily="18" charset="0"/>
                <a:cs typeface="Times New Roman" panose="02020603050405020304" pitchFamily="18" charset="0"/>
              </a:rPr>
              <a:t>Y</a:t>
            </a:r>
            <a:r>
              <a:rPr kumimoji="1" lang="en-US" altLang="zh-CN" sz="2400" b="1" baseline="-25000" dirty="0" err="1">
                <a:latin typeface="Times New Roman" panose="02020603050405020304" pitchFamily="18" charset="0"/>
                <a:cs typeface="Times New Roman" panose="02020603050405020304" pitchFamily="18" charset="0"/>
              </a:rPr>
              <a:t>lm</a:t>
            </a:r>
            <a:r>
              <a:rPr kumimoji="1" lang="en-US" altLang="zh-CN" sz="2400" b="1" dirty="0">
                <a:latin typeface="Times New Roman" panose="02020603050405020304" pitchFamily="18" charset="0"/>
                <a:cs typeface="Times New Roman" panose="02020603050405020304" pitchFamily="18" charset="0"/>
              </a:rPr>
              <a:t>(</a:t>
            </a:r>
            <a:r>
              <a:rPr kumimoji="1"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1" dirty="0">
                <a:latin typeface="Times New Roman" panose="02020603050405020304" pitchFamily="18" charset="0"/>
                <a:cs typeface="Times New Roman" panose="02020603050405020304" pitchFamily="18" charset="0"/>
              </a:rPr>
              <a:t>) )</a:t>
            </a:r>
            <a:endParaRPr kumimoji="1" lang="en-US" altLang="zh-CN" sz="2400" b="1" dirty="0">
              <a:latin typeface="Times New Roman" panose="02020603050405020304" pitchFamily="18" charset="0"/>
              <a:cs typeface="Times New Roman" panose="02020603050405020304" pitchFamily="18" charset="0"/>
            </a:endParaRPr>
          </a:p>
        </p:txBody>
      </p:sp>
      <p:sp>
        <p:nvSpPr>
          <p:cNvPr id="6" name="Text Box 4"/>
          <p:cNvSpPr txBox="1">
            <a:spLocks noChangeArrowheads="1"/>
          </p:cNvSpPr>
          <p:nvPr/>
        </p:nvSpPr>
        <p:spPr bwMode="auto">
          <a:xfrm>
            <a:off x="396056" y="849322"/>
            <a:ext cx="41148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0"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s-Orbital  (</a:t>
            </a:r>
            <a:r>
              <a:rPr kumimoji="1" lang="en-US" altLang="zh-CN" sz="2400" b="0" i="1"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l</a:t>
            </a:r>
            <a:r>
              <a:rPr kumimoji="1" lang="en-US" altLang="zh-CN" sz="2400" b="0"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=0, 2</a:t>
            </a:r>
            <a:r>
              <a:rPr kumimoji="1" lang="en-US" altLang="zh-CN" sz="2400" b="0" i="1"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l</a:t>
            </a:r>
            <a:r>
              <a:rPr kumimoji="1" lang="en-US" altLang="zh-CN" sz="2400" b="0"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+1=1)</a:t>
            </a:r>
            <a:endParaRPr kumimoji="1" lang="en-US" altLang="zh-CN" sz="2400" b="0" i="0" u="none" strike="noStrike" kern="0" cap="none" spc="0" normalizeH="0" baseline="0" noProof="0" dirty="0">
              <a:ln>
                <a:noFill/>
              </a:ln>
              <a:effectLst/>
              <a:uLnTx/>
              <a:uFillTx/>
              <a:latin typeface="Times New Roman" panose="02020603050405020304" pitchFamily="18" charset="0"/>
              <a:ea typeface="宋体" panose="02010600030101010101" pitchFamily="2" charset="-122"/>
            </a:endParaRPr>
          </a:p>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0"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Y</a:t>
            </a:r>
            <a:r>
              <a:rPr kumimoji="1" lang="en-US" altLang="zh-CN" sz="2400" b="0" i="0" u="none" strike="noStrike" kern="0" cap="none" spc="0" normalizeH="0" baseline="-25000" noProof="0" dirty="0">
                <a:ln>
                  <a:noFill/>
                </a:ln>
                <a:effectLst/>
                <a:uLnTx/>
                <a:uFillTx/>
                <a:latin typeface="Times New Roman" panose="02020603050405020304" pitchFamily="18" charset="0"/>
                <a:ea typeface="宋体" panose="02010600030101010101" pitchFamily="2" charset="-122"/>
              </a:rPr>
              <a:t>00</a:t>
            </a:r>
            <a:r>
              <a:rPr kumimoji="1" lang="en-US" altLang="zh-CN" sz="2400" b="0"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     </a:t>
            </a:r>
            <a:endParaRPr kumimoji="1" lang="en-US" altLang="zh-CN" sz="2400" b="0" i="0" u="none" strike="noStrike" kern="0" cap="none" spc="0" normalizeH="0" baseline="-25000" noProof="0" dirty="0">
              <a:ln>
                <a:noFill/>
              </a:ln>
              <a:effectLst/>
              <a:uLnTx/>
              <a:uFillTx/>
              <a:latin typeface="Times New Roman" panose="02020603050405020304" pitchFamily="18" charset="0"/>
              <a:ea typeface="宋体" panose="02010600030101010101" pitchFamily="2" charset="-122"/>
            </a:endParaRPr>
          </a:p>
        </p:txBody>
      </p:sp>
      <p:graphicFrame>
        <p:nvGraphicFramePr>
          <p:cNvPr id="7" name="Object 5"/>
          <p:cNvGraphicFramePr>
            <a:graphicFrameLocks noChangeAspect="1"/>
          </p:cNvGraphicFramePr>
          <p:nvPr/>
        </p:nvGraphicFramePr>
        <p:xfrm>
          <a:off x="2062158" y="1222908"/>
          <a:ext cx="1330325" cy="773113"/>
        </p:xfrm>
        <a:graphic>
          <a:graphicData uri="http://schemas.openxmlformats.org/presentationml/2006/ole">
            <mc:AlternateContent xmlns:mc="http://schemas.openxmlformats.org/markup-compatibility/2006">
              <mc:Choice xmlns:v="urn:schemas-microsoft-com:vml" Requires="v">
                <p:oleObj spid="_x0000_s2" name="Equation" r:id="rId1" imgW="723900" imgH="419100" progId="Equation.3">
                  <p:embed/>
                </p:oleObj>
              </mc:Choice>
              <mc:Fallback>
                <p:oleObj name="Equation" r:id="rId1" imgW="723900" imgH="419100" progId="Equation.3">
                  <p:embed/>
                  <p:pic>
                    <p:nvPicPr>
                      <p:cNvPr id="0"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2158" y="1222908"/>
                        <a:ext cx="1330325" cy="773113"/>
                      </a:xfrm>
                      <a:prstGeom prst="rect">
                        <a:avLst/>
                      </a:prstGeom>
                      <a:solidFill>
                        <a:schemeClr val="bg1"/>
                      </a:solidFill>
                    </p:spPr>
                  </p:pic>
                </p:oleObj>
              </mc:Fallback>
            </mc:AlternateContent>
          </a:graphicData>
        </a:graphic>
      </p:graphicFrame>
      <p:graphicFrame>
        <p:nvGraphicFramePr>
          <p:cNvPr id="8" name="Object 6"/>
          <p:cNvGraphicFramePr>
            <a:graphicFrameLocks noChangeAspect="1"/>
          </p:cNvGraphicFramePr>
          <p:nvPr/>
        </p:nvGraphicFramePr>
        <p:xfrm>
          <a:off x="5546758" y="1091872"/>
          <a:ext cx="1073150" cy="773113"/>
        </p:xfrm>
        <a:graphic>
          <a:graphicData uri="http://schemas.openxmlformats.org/presentationml/2006/ole">
            <mc:AlternateContent xmlns:mc="http://schemas.openxmlformats.org/markup-compatibility/2006">
              <mc:Choice xmlns:v="urn:schemas-microsoft-com:vml" Requires="v">
                <p:oleObj spid="_x0000_s3" name="Equation" r:id="rId3" imgW="584200" imgH="419100" progId="Equation.3">
                  <p:embed/>
                </p:oleObj>
              </mc:Choice>
              <mc:Fallback>
                <p:oleObj name="Equation" r:id="rId3" imgW="584200" imgH="419100" progId="Equation.3">
                  <p:embed/>
                  <p:pic>
                    <p:nvPicPr>
                      <p:cNvPr id="0" name="图片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46758" y="1091872"/>
                        <a:ext cx="1073150" cy="773113"/>
                      </a:xfrm>
                      <a:prstGeom prst="rect">
                        <a:avLst/>
                      </a:prstGeom>
                      <a:solidFill>
                        <a:schemeClr val="bg1"/>
                      </a:solidFill>
                    </p:spPr>
                  </p:pic>
                </p:oleObj>
              </mc:Fallback>
            </mc:AlternateContent>
          </a:graphicData>
        </a:graphic>
      </p:graphicFrame>
      <p:pic>
        <p:nvPicPr>
          <p:cNvPr id="9" name="Picture 12" descr="http://132.205.57.9/facstaff/a-c/bird/c241/images/s-obitals.gif"/>
          <p:cNvPicPr>
            <a:picLocks noChangeAspect="1" noChangeArrowheads="1"/>
          </p:cNvPicPr>
          <p:nvPr/>
        </p:nvPicPr>
        <p:blipFill>
          <a:blip r:embed="rId5">
            <a:extLst>
              <a:ext uri="{28A0092B-C50C-407E-A947-70E740481C1C}">
                <a14:useLocalDpi xmlns:a14="http://schemas.microsoft.com/office/drawing/2010/main" val="0"/>
              </a:ext>
            </a:extLst>
          </a:blip>
          <a:srcRect r="63203"/>
          <a:stretch>
            <a:fillRect/>
          </a:stretch>
        </p:blipFill>
        <p:spPr bwMode="auto">
          <a:xfrm>
            <a:off x="8379593" y="286351"/>
            <a:ext cx="2103438" cy="211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1" name="Object 8"/>
          <p:cNvGraphicFramePr>
            <a:graphicFrameLocks noChangeAspect="1"/>
          </p:cNvGraphicFramePr>
          <p:nvPr/>
        </p:nvGraphicFramePr>
        <p:xfrm>
          <a:off x="5350643" y="4339305"/>
          <a:ext cx="2209800" cy="1487487"/>
        </p:xfrm>
        <a:graphic>
          <a:graphicData uri="http://schemas.openxmlformats.org/presentationml/2006/ole">
            <mc:AlternateContent xmlns:mc="http://schemas.openxmlformats.org/markup-compatibility/2006">
              <mc:Choice xmlns:v="urn:schemas-microsoft-com:vml" Requires="v">
                <p:oleObj spid="_x0000_s4" name="Equation" r:id="rId6" imgW="1320165" imgH="888365" progId="Equation.3">
                  <p:embed/>
                </p:oleObj>
              </mc:Choice>
              <mc:Fallback>
                <p:oleObj name="Equation" r:id="rId6" imgW="1320165" imgH="888365" progId="Equation.3">
                  <p:embed/>
                  <p:pic>
                    <p:nvPicPr>
                      <p:cNvPr id="0" name="图片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50643" y="4339305"/>
                        <a:ext cx="2209800" cy="1487487"/>
                      </a:xfrm>
                      <a:prstGeom prst="rect">
                        <a:avLst/>
                      </a:prstGeom>
                      <a:solidFill>
                        <a:schemeClr val="bg1"/>
                      </a:solidFill>
                      <a:ln>
                        <a:noFill/>
                      </a:ln>
                      <a:effectLst/>
                    </p:spPr>
                  </p:pic>
                </p:oleObj>
              </mc:Fallback>
            </mc:AlternateContent>
          </a:graphicData>
        </a:graphic>
      </p:graphicFrame>
      <p:sp>
        <p:nvSpPr>
          <p:cNvPr id="12" name="Text Box 9"/>
          <p:cNvSpPr txBox="1">
            <a:spLocks noChangeArrowheads="1"/>
          </p:cNvSpPr>
          <p:nvPr/>
        </p:nvSpPr>
        <p:spPr bwMode="auto">
          <a:xfrm>
            <a:off x="396056" y="2127057"/>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0"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p-Orbital  (</a:t>
            </a:r>
            <a:r>
              <a:rPr kumimoji="1" lang="en-US" altLang="zh-CN" sz="2400" b="0" i="1"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l</a:t>
            </a:r>
            <a:r>
              <a:rPr kumimoji="1" lang="en-US" altLang="zh-CN" sz="2400" b="0"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=1, 2</a:t>
            </a:r>
            <a:r>
              <a:rPr kumimoji="1" lang="en-US" altLang="zh-CN" sz="2400" b="0" i="1"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l</a:t>
            </a:r>
            <a:r>
              <a:rPr kumimoji="1" lang="en-US" altLang="zh-CN" sz="2400" b="0"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+1=3)   </a:t>
            </a:r>
            <a:endParaRPr kumimoji="1" lang="en-US" altLang="zh-CN" sz="2400" b="0" i="0" u="none" strike="noStrike" kern="0" cap="none" spc="0" normalizeH="0" baseline="-25000" noProof="0" dirty="0">
              <a:ln>
                <a:noFill/>
              </a:ln>
              <a:effectLst/>
              <a:uLnTx/>
              <a:uFillTx/>
              <a:latin typeface="Times New Roman" panose="02020603050405020304" pitchFamily="18" charset="0"/>
              <a:ea typeface="宋体" panose="02010600030101010101" pitchFamily="2" charset="-122"/>
            </a:endParaRPr>
          </a:p>
        </p:txBody>
      </p:sp>
      <p:graphicFrame>
        <p:nvGraphicFramePr>
          <p:cNvPr id="13" name="Object 11"/>
          <p:cNvGraphicFramePr>
            <a:graphicFrameLocks noChangeAspect="1"/>
          </p:cNvGraphicFramePr>
          <p:nvPr/>
        </p:nvGraphicFramePr>
        <p:xfrm>
          <a:off x="5350643" y="2940314"/>
          <a:ext cx="1644650" cy="727075"/>
        </p:xfrm>
        <a:graphic>
          <a:graphicData uri="http://schemas.openxmlformats.org/presentationml/2006/ole">
            <mc:AlternateContent xmlns:mc="http://schemas.openxmlformats.org/markup-compatibility/2006">
              <mc:Choice xmlns:v="urn:schemas-microsoft-com:vml" Requires="v">
                <p:oleObj spid="_x0000_s10" name="Equation" r:id="rId8" imgW="1002665" imgH="444500" progId="Equation.3">
                  <p:embed/>
                </p:oleObj>
              </mc:Choice>
              <mc:Fallback>
                <p:oleObj name="Equation" r:id="rId8" imgW="1002665" imgH="444500" progId="Equation.3">
                  <p:embed/>
                  <p:pic>
                    <p:nvPicPr>
                      <p:cNvPr id="0" name="图片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50643" y="2940314"/>
                        <a:ext cx="1644650" cy="727075"/>
                      </a:xfrm>
                      <a:prstGeom prst="rect">
                        <a:avLst/>
                      </a:prstGeom>
                      <a:solidFill>
                        <a:schemeClr val="bg1"/>
                      </a:solidFill>
                      <a:ln>
                        <a:noFill/>
                      </a:ln>
                      <a:effectLst/>
                    </p:spPr>
                  </p:pic>
                </p:oleObj>
              </mc:Fallback>
            </mc:AlternateContent>
          </a:graphicData>
        </a:graphic>
      </p:graphicFrame>
      <p:graphicFrame>
        <p:nvGraphicFramePr>
          <p:cNvPr id="14" name="Object 7"/>
          <p:cNvGraphicFramePr>
            <a:graphicFrameLocks noChangeAspect="1"/>
          </p:cNvGraphicFramePr>
          <p:nvPr/>
        </p:nvGraphicFramePr>
        <p:xfrm>
          <a:off x="1982742" y="4361092"/>
          <a:ext cx="2590800" cy="1516063"/>
        </p:xfrm>
        <a:graphic>
          <a:graphicData uri="http://schemas.openxmlformats.org/presentationml/2006/ole">
            <mc:AlternateContent xmlns:mc="http://schemas.openxmlformats.org/markup-compatibility/2006">
              <mc:Choice xmlns:v="urn:schemas-microsoft-com:vml" Requires="v">
                <p:oleObj spid="_x0000_s15" name="Equation" r:id="rId10" imgW="1562100" imgH="914400" progId="Equation.3">
                  <p:embed/>
                </p:oleObj>
              </mc:Choice>
              <mc:Fallback>
                <p:oleObj name="Equation" r:id="rId10" imgW="1562100" imgH="914400" progId="Equation.3">
                  <p:embed/>
                  <p:pic>
                    <p:nvPicPr>
                      <p:cNvPr id="0" name="图片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82742" y="4361092"/>
                        <a:ext cx="2590800" cy="1516063"/>
                      </a:xfrm>
                      <a:prstGeom prst="rect">
                        <a:avLst/>
                      </a:prstGeom>
                      <a:solidFill>
                        <a:schemeClr val="bg1"/>
                      </a:solidFill>
                      <a:ln>
                        <a:noFill/>
                      </a:ln>
                      <a:effectLst/>
                    </p:spPr>
                  </p:pic>
                </p:oleObj>
              </mc:Fallback>
            </mc:AlternateContent>
          </a:graphicData>
        </a:graphic>
      </p:graphicFrame>
      <p:sp>
        <p:nvSpPr>
          <p:cNvPr id="16" name="Rectangle 14"/>
          <p:cNvSpPr>
            <a:spLocks noChangeArrowheads="1"/>
          </p:cNvSpPr>
          <p:nvPr/>
        </p:nvSpPr>
        <p:spPr bwMode="auto">
          <a:xfrm>
            <a:off x="461063" y="4055532"/>
            <a:ext cx="719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0" i="0" u="none" strike="noStrike" kern="0" cap="none" spc="0" normalizeH="0" baseline="0" noProof="0" dirty="0">
                <a:ln>
                  <a:noFill/>
                </a:ln>
                <a:effectLst/>
                <a:uLnTx/>
                <a:uFillTx/>
                <a:latin typeface="Times New Roman" panose="02020603050405020304" pitchFamily="18" charset="0"/>
              </a:rPr>
              <a:t>Y</a:t>
            </a:r>
            <a:r>
              <a:rPr kumimoji="1" lang="en-US" altLang="zh-CN" sz="2400" b="0" i="0" u="none" strike="noStrike" kern="0" cap="none" spc="0" normalizeH="0" baseline="-25000" noProof="0" dirty="0">
                <a:ln>
                  <a:noFill/>
                </a:ln>
                <a:effectLst/>
                <a:uLnTx/>
                <a:uFillTx/>
                <a:latin typeface="Times New Roman" panose="02020603050405020304" pitchFamily="18" charset="0"/>
              </a:rPr>
              <a:t>1</a:t>
            </a:r>
            <a:r>
              <a:rPr kumimoji="1" lang="en-US" altLang="zh-CN" sz="2400" b="0" i="0" u="none" strike="noStrike" kern="0" cap="none" spc="0" normalizeH="0" baseline="-25000" noProof="0" dirty="0">
                <a:ln>
                  <a:noFill/>
                </a:ln>
                <a:effectLst/>
                <a:uLnTx/>
                <a:uFillTx/>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b="0" i="0" u="none" strike="noStrike" kern="0" cap="none" spc="0" normalizeH="0" baseline="-25000" noProof="0" dirty="0">
                <a:ln>
                  <a:noFill/>
                </a:ln>
                <a:effectLst/>
                <a:uLnTx/>
                <a:uFillTx/>
                <a:latin typeface="Times New Roman" panose="02020603050405020304" pitchFamily="18" charset="0"/>
              </a:rPr>
              <a:t>1</a:t>
            </a:r>
            <a:endParaRPr kumimoji="1" lang="en-US" altLang="zh-CN" sz="2400" b="0" i="0" u="none" strike="noStrike" kern="0" cap="none" spc="0" normalizeH="0" baseline="-25000" noProof="0" dirty="0">
              <a:ln>
                <a:noFill/>
              </a:ln>
              <a:effectLst/>
              <a:uLnTx/>
              <a:uFillTx/>
              <a:latin typeface="Times New Roman" panose="02020603050405020304" pitchFamily="18" charset="0"/>
            </a:endParaRPr>
          </a:p>
        </p:txBody>
      </p:sp>
      <p:graphicFrame>
        <p:nvGraphicFramePr>
          <p:cNvPr id="18" name="Object 10"/>
          <p:cNvGraphicFramePr>
            <a:graphicFrameLocks noChangeAspect="1"/>
          </p:cNvGraphicFramePr>
          <p:nvPr/>
        </p:nvGraphicFramePr>
        <p:xfrm>
          <a:off x="2062158" y="3011441"/>
          <a:ext cx="1752600" cy="755650"/>
        </p:xfrm>
        <a:graphic>
          <a:graphicData uri="http://schemas.openxmlformats.org/presentationml/2006/ole">
            <mc:AlternateContent xmlns:mc="http://schemas.openxmlformats.org/markup-compatibility/2006">
              <mc:Choice xmlns:v="urn:schemas-microsoft-com:vml" Requires="v">
                <p:oleObj spid="_x0000_s17" name="" r:id="rId12" imgW="901065" imgH="393700" progId="Equation.3">
                  <p:embed/>
                </p:oleObj>
              </mc:Choice>
              <mc:Fallback>
                <p:oleObj name="" r:id="rId12" imgW="901065" imgH="393700" progId="Equation.3">
                  <p:embed/>
                  <p:pic>
                    <p:nvPicPr>
                      <p:cNvPr id="0" name="图片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62158" y="3011441"/>
                        <a:ext cx="1752600" cy="755650"/>
                      </a:xfrm>
                      <a:prstGeom prst="rect">
                        <a:avLst/>
                      </a:prstGeom>
                      <a:solidFill>
                        <a:schemeClr val="bg1"/>
                      </a:solidFill>
                    </p:spPr>
                  </p:pic>
                </p:oleObj>
              </mc:Fallback>
            </mc:AlternateContent>
          </a:graphicData>
        </a:graphic>
      </p:graphicFrame>
      <p:sp>
        <p:nvSpPr>
          <p:cNvPr id="19" name="Rectangle 18"/>
          <p:cNvSpPr>
            <a:spLocks noChangeArrowheads="1"/>
          </p:cNvSpPr>
          <p:nvPr/>
        </p:nvSpPr>
        <p:spPr bwMode="auto">
          <a:xfrm>
            <a:off x="434076" y="2711714"/>
            <a:ext cx="608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0" i="0" u="none" strike="noStrike" kern="0" cap="none" spc="0" normalizeH="0" baseline="0" noProof="0" dirty="0">
                <a:ln>
                  <a:noFill/>
                </a:ln>
                <a:effectLst/>
                <a:uLnTx/>
                <a:uFillTx/>
                <a:latin typeface="Times New Roman" panose="02020603050405020304" pitchFamily="18" charset="0"/>
              </a:rPr>
              <a:t>Y</a:t>
            </a:r>
            <a:r>
              <a:rPr kumimoji="1" lang="en-US" altLang="zh-CN" sz="2400" b="0" i="0" u="none" strike="noStrike" kern="0" cap="none" spc="0" normalizeH="0" baseline="-25000" noProof="0" dirty="0">
                <a:ln>
                  <a:noFill/>
                </a:ln>
                <a:effectLst/>
                <a:uLnTx/>
                <a:uFillTx/>
                <a:latin typeface="Times New Roman" panose="02020603050405020304" pitchFamily="18" charset="0"/>
              </a:rPr>
              <a:t>10</a:t>
            </a:r>
            <a:endParaRPr kumimoji="1" lang="en-US" altLang="zh-CN" sz="2400" b="0" i="0" u="none" strike="noStrike" kern="0" cap="none" spc="0" normalizeH="0" baseline="-25000" noProof="0" dirty="0">
              <a:ln>
                <a:noFill/>
              </a:ln>
              <a:effectLst/>
              <a:uLnTx/>
              <a:uFillTx/>
              <a:latin typeface="Times New Roman" panose="02020603050405020304" pitchFamily="18" charset="0"/>
            </a:endParaRPr>
          </a:p>
        </p:txBody>
      </p:sp>
      <p:pic>
        <p:nvPicPr>
          <p:cNvPr id="20" name="Picture 23" descr="http://132.205.57.9/facstaff/a-c/bird/c241/images/p-orbitals.gif"/>
          <p:cNvPicPr>
            <a:picLocks noChangeAspect="1" noChangeArrowheads="1"/>
          </p:cNvPicPr>
          <p:nvPr/>
        </p:nvPicPr>
        <p:blipFill>
          <a:blip r:embed="rId14">
            <a:extLst>
              <a:ext uri="{28A0092B-C50C-407E-A947-70E740481C1C}">
                <a14:useLocalDpi xmlns:a14="http://schemas.microsoft.com/office/drawing/2010/main" val="0"/>
              </a:ext>
            </a:extLst>
          </a:blip>
          <a:srcRect l="67073"/>
          <a:stretch>
            <a:fillRect/>
          </a:stretch>
        </p:blipFill>
        <p:spPr bwMode="auto">
          <a:xfrm>
            <a:off x="8643278" y="2331723"/>
            <a:ext cx="1576068" cy="1779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1" name="Group 19"/>
          <p:cNvGrpSpPr/>
          <p:nvPr/>
        </p:nvGrpSpPr>
        <p:grpSpPr bwMode="auto">
          <a:xfrm>
            <a:off x="7934359" y="4284147"/>
            <a:ext cx="3965575" cy="2262188"/>
            <a:chOff x="2500" y="812"/>
            <a:chExt cx="2498" cy="1425"/>
          </a:xfrm>
        </p:grpSpPr>
        <p:pic>
          <p:nvPicPr>
            <p:cNvPr id="22" name="Picture 2" descr="http://132.205.57.9/facstaff/a-c/bird/c241/images/p-orbitals.gif"/>
            <p:cNvPicPr>
              <a:picLocks noChangeAspect="1" noChangeArrowheads="1"/>
            </p:cNvPicPr>
            <p:nvPr/>
          </p:nvPicPr>
          <p:blipFill>
            <a:blip r:embed="rId14">
              <a:extLst>
                <a:ext uri="{28A0092B-C50C-407E-A947-70E740481C1C}">
                  <a14:useLocalDpi xmlns:a14="http://schemas.microsoft.com/office/drawing/2010/main" val="0"/>
                </a:ext>
              </a:extLst>
            </a:blip>
            <a:srcRect r="31708"/>
            <a:stretch>
              <a:fillRect/>
            </a:stretch>
          </p:blipFill>
          <p:spPr bwMode="auto">
            <a:xfrm>
              <a:off x="2500" y="812"/>
              <a:ext cx="2396" cy="1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Rectangle 4"/>
            <p:cNvSpPr>
              <a:spLocks noChangeArrowheads="1"/>
            </p:cNvSpPr>
            <p:nvPr/>
          </p:nvSpPr>
          <p:spPr bwMode="auto">
            <a:xfrm>
              <a:off x="2982" y="1949"/>
              <a:ext cx="20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spcBef>
                  <a:spcPct val="0"/>
                </a:spcBef>
                <a:spcAft>
                  <a:spcPct val="0"/>
                </a:spcAft>
              </a:pPr>
              <a:r>
                <a:rPr kumimoji="1" lang="en-US" altLang="zh-CN" sz="2400" dirty="0" err="1">
                  <a:latin typeface="Times New Roman" panose="02020603050405020304" pitchFamily="18" charset="0"/>
                </a:rPr>
                <a:t>p</a:t>
              </a:r>
              <a:r>
                <a:rPr kumimoji="1" lang="en-US" altLang="zh-CN" sz="2400" baseline="-25000" dirty="0" err="1">
                  <a:latin typeface="Times New Roman" panose="02020603050405020304" pitchFamily="18" charset="0"/>
                </a:rPr>
                <a:t>x</a:t>
              </a:r>
              <a:r>
                <a:rPr kumimoji="1" lang="en-US" altLang="zh-CN" sz="2400" dirty="0">
                  <a:latin typeface="Times New Roman" panose="02020603050405020304" pitchFamily="18" charset="0"/>
                </a:rPr>
                <a:t>                         </a:t>
              </a:r>
              <a:r>
                <a:rPr kumimoji="1" lang="en-US" altLang="zh-CN" sz="2400" dirty="0" err="1">
                  <a:latin typeface="Times New Roman" panose="02020603050405020304" pitchFamily="18" charset="0"/>
                </a:rPr>
                <a:t>p</a:t>
              </a:r>
              <a:r>
                <a:rPr kumimoji="1" lang="en-US" altLang="zh-CN" sz="2400" baseline="-25000" dirty="0" err="1">
                  <a:latin typeface="Times New Roman" panose="02020603050405020304" pitchFamily="18" charset="0"/>
                </a:rPr>
                <a:t>y</a:t>
              </a:r>
              <a:endParaRPr kumimoji="1" lang="en-US" altLang="zh-CN" sz="2400" baseline="-25000" dirty="0">
                <a:latin typeface="Times New Roman" panose="02020603050405020304" pitchFamily="18" charset="0"/>
              </a:endParaRPr>
            </a:p>
          </p:txBody>
        </p:sp>
      </p:grpSp>
      <p:sp>
        <p:nvSpPr>
          <p:cNvPr id="24" name="灯片编号占位符 23"/>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0-#ppt_w/2"/>
                                          </p:val>
                                        </p:tav>
                                        <p:tav tm="100000">
                                          <p:val>
                                            <p:strVal val="#ppt_x"/>
                                          </p:val>
                                        </p:tav>
                                      </p:tavLst>
                                    </p:anim>
                                    <p:anim calcmode="lin" valueType="num">
                                      <p:cBhvr additive="base">
                                        <p:cTn id="14"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additive="base">
                                        <p:cTn id="25" dur="500" fill="hold"/>
                                        <p:tgtEl>
                                          <p:spTgt spid="20"/>
                                        </p:tgtEl>
                                        <p:attrNameLst>
                                          <p:attrName>ppt_x</p:attrName>
                                        </p:attrNameLst>
                                      </p:cBhvr>
                                      <p:tavLst>
                                        <p:tav tm="0">
                                          <p:val>
                                            <p:strVal val="1+#ppt_w/2"/>
                                          </p:val>
                                        </p:tav>
                                        <p:tav tm="100000">
                                          <p:val>
                                            <p:strVal val="#ppt_x"/>
                                          </p:val>
                                        </p:tav>
                                      </p:tavLst>
                                    </p:anim>
                                    <p:anim calcmode="lin" valueType="num">
                                      <p:cBhvr additive="base">
                                        <p:cTn id="26"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0-#ppt_w/2"/>
                                          </p:val>
                                        </p:tav>
                                        <p:tav tm="100000">
                                          <p:val>
                                            <p:strVal val="#ppt_x"/>
                                          </p:val>
                                        </p:tav>
                                      </p:tavLst>
                                    </p:anim>
                                    <p:anim calcmode="lin" valueType="num">
                                      <p:cBhvr additive="base">
                                        <p:cTn id="32"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0-#ppt_w/2"/>
                                          </p:val>
                                        </p:tav>
                                        <p:tav tm="100000">
                                          <p:val>
                                            <p:strVal val="#ppt_x"/>
                                          </p:val>
                                        </p:tav>
                                      </p:tavLst>
                                    </p:anim>
                                    <p:anim calcmode="lin" valueType="num">
                                      <p:cBhvr additive="base">
                                        <p:cTn id="38"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479228" y="250878"/>
            <a:ext cx="1630575" cy="523220"/>
          </a:xfrm>
          <a:prstGeom prst="rect">
            <a:avLst/>
          </a:prstGeom>
        </p:spPr>
        <p:txBody>
          <a:bodyPr wrap="none">
            <a:spAutoFit/>
          </a:bodyPr>
          <a:lstStyle/>
          <a:p>
            <a:r>
              <a:rPr lang="en-US" altLang="zh-CN" sz="2800" b="1" i="1" dirty="0">
                <a:solidFill>
                  <a:srgbClr val="2926BF"/>
                </a:solidFill>
                <a:latin typeface="Times New Roman" panose="02020603050405020304" pitchFamily="18" charset="0"/>
                <a:cs typeface="Times New Roman" panose="02020603050405020304" pitchFamily="18" charset="0"/>
              </a:rPr>
              <a:t>d</a:t>
            </a:r>
            <a:r>
              <a:rPr lang="en-US" altLang="zh-CN" sz="2800" b="1" dirty="0">
                <a:latin typeface="Times New Roman" panose="02020603050405020304" pitchFamily="18" charset="0"/>
                <a:cs typeface="Times New Roman" panose="02020603050405020304" pitchFamily="18" charset="0"/>
              </a:rPr>
              <a:t> orbitals</a:t>
            </a:r>
            <a:endParaRPr lang="zh-CN" altLang="en-US" sz="28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矩形 2"/>
              <p:cNvSpPr/>
              <p:nvPr/>
            </p:nvSpPr>
            <p:spPr>
              <a:xfrm>
                <a:off x="361335" y="1105973"/>
                <a:ext cx="11577484" cy="5572488"/>
              </a:xfrm>
              <a:prstGeom prst="rect">
                <a:avLst/>
              </a:prstGeom>
            </p:spPr>
            <p:txBody>
              <a:bodyPr wrap="square">
                <a:spAutoFit/>
              </a:bodyPr>
              <a:lstStyle/>
              <a:p>
                <a:pPr>
                  <a:lnSpc>
                    <a:spcPct val="120000"/>
                  </a:lnSpc>
                  <a:spcBef>
                    <a:spcPts val="600"/>
                  </a:spcBef>
                </a:pPr>
                <a:r>
                  <a:rPr lang="en-US" altLang="zh-CN" sz="2400" dirty="0">
                    <a:latin typeface="Times New Roman" panose="02020603050405020304" pitchFamily="18" charset="0"/>
                    <a:cs typeface="Times New Roman" panose="02020603050405020304" pitchFamily="18" charset="0"/>
                  </a:rPr>
                  <a:t>The </a:t>
                </a:r>
                <a:r>
                  <a:rPr lang="en-US" altLang="zh-CN" sz="2400" dirty="0">
                    <a:solidFill>
                      <a:srgbClr val="2926BF"/>
                    </a:solidFill>
                    <a:latin typeface="Times New Roman" panose="02020603050405020304" pitchFamily="18" charset="0"/>
                    <a:cs typeface="Times New Roman" panose="02020603050405020304" pitchFamily="18" charset="0"/>
                  </a:rPr>
                  <a:t>3</a:t>
                </a:r>
                <a:r>
                  <a:rPr lang="en-US" altLang="zh-CN" sz="2400" i="1" dirty="0">
                    <a:solidFill>
                      <a:srgbClr val="2926BF"/>
                    </a:solidFill>
                    <a:latin typeface="Times New Roman" panose="02020603050405020304" pitchFamily="18" charset="0"/>
                    <a:cs typeface="Times New Roman" panose="02020603050405020304" pitchFamily="18" charset="0"/>
                  </a:rPr>
                  <a:t>d</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orbitals are constructed from the </a:t>
                </a:r>
                <a:r>
                  <a:rPr lang="en-US" altLang="zh-CN" sz="2400" i="1" dirty="0">
                    <a:solidFill>
                      <a:srgbClr val="2926BF"/>
                    </a:solidFill>
                    <a:latin typeface="Times New Roman" panose="02020603050405020304" pitchFamily="18" charset="0"/>
                    <a:cs typeface="Times New Roman" panose="02020603050405020304" pitchFamily="18" charset="0"/>
                  </a:rPr>
                  <a:t>R</a:t>
                </a:r>
                <a:r>
                  <a:rPr lang="en-US" altLang="zh-CN" sz="2400" baseline="-25000" dirty="0">
                    <a:solidFill>
                      <a:srgbClr val="2926BF"/>
                    </a:solidFill>
                    <a:latin typeface="Times New Roman" panose="02020603050405020304" pitchFamily="18" charset="0"/>
                    <a:cs typeface="Times New Roman" panose="02020603050405020304" pitchFamily="18" charset="0"/>
                  </a:rPr>
                  <a:t>3</a:t>
                </a:r>
                <a:r>
                  <a:rPr lang="en-US" altLang="zh-CN" sz="2400" i="1" baseline="-25000" dirty="0">
                    <a:solidFill>
                      <a:srgbClr val="2926BF"/>
                    </a:solidFill>
                    <a:latin typeface="Times New Roman" panose="02020603050405020304" pitchFamily="18" charset="0"/>
                    <a:cs typeface="Times New Roman" panose="02020603050405020304" pitchFamily="18" charset="0"/>
                  </a:rPr>
                  <a:t>d</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radial function and the </a:t>
                </a:r>
                <a14:m>
                  <m:oMath xmlns:m="http://schemas.openxmlformats.org/officeDocument/2006/math">
                    <m:r>
                      <a:rPr lang="en-US" altLang="zh-CN" sz="2400" i="1" dirty="0">
                        <a:solidFill>
                          <a:srgbClr val="2926BF"/>
                        </a:solidFill>
                        <a:latin typeface="Cambria Math" panose="02040503050406030204" pitchFamily="18" charset="0"/>
                      </a:rPr>
                      <m:t>𝑌</m:t>
                    </m:r>
                    <m:r>
                      <a:rPr lang="en-US" altLang="zh-CN" sz="2400" baseline="-25000" dirty="0">
                        <a:solidFill>
                          <a:srgbClr val="2926BF"/>
                        </a:solidFill>
                        <a:latin typeface="Cambria Math" panose="02040503050406030204" pitchFamily="18" charset="0"/>
                      </a:rPr>
                      <m:t>2</m:t>
                    </m:r>
                    <m:r>
                      <a:rPr lang="en-US" altLang="zh-CN" sz="2400" i="1" baseline="-25000" dirty="0">
                        <a:solidFill>
                          <a:srgbClr val="2926BF"/>
                        </a:solidFill>
                        <a:latin typeface="Cambria Math" panose="02040503050406030204" pitchFamily="18" charset="0"/>
                      </a:rPr>
                      <m:t>𝑚</m:t>
                    </m:r>
                  </m:oMath>
                </a14:m>
                <a:r>
                  <a:rPr lang="en-US" altLang="zh-CN" sz="2400" i="1"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spherical harmonics:</a:t>
                </a:r>
                <a:endParaRPr lang="en-US" altLang="zh-CN" sz="2400" dirty="0">
                  <a:latin typeface="Times New Roman" panose="02020603050405020304" pitchFamily="18" charset="0"/>
                  <a:cs typeface="Times New Roman" panose="02020603050405020304" pitchFamily="18" charset="0"/>
                </a:endParaRPr>
              </a:p>
              <a:p>
                <a:pPr>
                  <a:lnSpc>
                    <a:spcPct val="120000"/>
                  </a:lnSpc>
                  <a:spcBef>
                    <a:spcPts val="600"/>
                  </a:spcBef>
                </a:pPr>
                <a:endParaRPr lang="en-US" altLang="zh-CN" sz="2400" i="1" dirty="0">
                  <a:solidFill>
                    <a:srgbClr val="2926BF"/>
                  </a:solidFill>
                  <a:latin typeface="Times New Roman" panose="02020603050405020304" pitchFamily="18" charset="0"/>
                  <a:cs typeface="Times New Roman" panose="02020603050405020304" pitchFamily="18" charset="0"/>
                </a:endParaRPr>
              </a:p>
              <a:p>
                <a:pPr indent="106045">
                  <a:lnSpc>
                    <a:spcPct val="120000"/>
                  </a:lnSpc>
                  <a:spcBef>
                    <a:spcPts val="600"/>
                  </a:spcBef>
                </a:pPr>
                <a:endParaRPr lang="en-US" altLang="zh-CN" sz="2400" i="1" dirty="0">
                  <a:solidFill>
                    <a:srgbClr val="2926BF"/>
                  </a:solidFill>
                  <a:latin typeface="Times New Roman" panose="02020603050405020304" pitchFamily="18" charset="0"/>
                  <a:cs typeface="Times New Roman" panose="02020603050405020304" pitchFamily="18" charset="0"/>
                </a:endParaRPr>
              </a:p>
              <a:p>
                <a:pPr indent="106045">
                  <a:lnSpc>
                    <a:spcPct val="120000"/>
                  </a:lnSpc>
                  <a:spcBef>
                    <a:spcPts val="1800"/>
                  </a:spcBef>
                </a:pPr>
                <a:endParaRPr lang="en-US" altLang="zh-CN" sz="2400" dirty="0">
                  <a:latin typeface="Times New Roman" panose="02020603050405020304" pitchFamily="18" charset="0"/>
                  <a:cs typeface="Times New Roman" panose="02020603050405020304" pitchFamily="18" charset="0"/>
                </a:endParaRPr>
              </a:p>
              <a:p>
                <a:pPr indent="106045">
                  <a:lnSpc>
                    <a:spcPct val="120000"/>
                  </a:lnSpc>
                  <a:spcBef>
                    <a:spcPts val="1800"/>
                  </a:spcBef>
                </a:pPr>
                <a:endParaRPr lang="en-US" altLang="zh-CN" sz="2400" dirty="0">
                  <a:latin typeface="Times New Roman" panose="02020603050405020304" pitchFamily="18" charset="0"/>
                  <a:cs typeface="Times New Roman" panose="02020603050405020304" pitchFamily="18" charset="0"/>
                </a:endParaRPr>
              </a:p>
              <a:p>
                <a:pPr>
                  <a:lnSpc>
                    <a:spcPct val="120000"/>
                  </a:lnSpc>
                  <a:spcBef>
                    <a:spcPts val="1800"/>
                  </a:spcBef>
                </a:pPr>
                <a:r>
                  <a:rPr lang="en-US" altLang="zh-CN" sz="2400" dirty="0">
                    <a:latin typeface="Times New Roman" panose="02020603050405020304" pitchFamily="18" charset="0"/>
                    <a:cs typeface="Times New Roman" panose="02020603050405020304" pitchFamily="18" charset="0"/>
                  </a:rPr>
                  <a:t>where the </a:t>
                </a:r>
                <a:r>
                  <a:rPr lang="en-US" altLang="zh-CN" sz="2400" dirty="0" err="1">
                    <a:latin typeface="Times New Roman" panose="02020603050405020304" pitchFamily="18" charset="0"/>
                    <a:cs typeface="Times New Roman" panose="02020603050405020304" pitchFamily="18" charset="0"/>
                  </a:rPr>
                  <a:t>normalising</a:t>
                </a:r>
                <a:r>
                  <a:rPr lang="en-US" altLang="zh-CN" sz="2400" dirty="0">
                    <a:latin typeface="Times New Roman" panose="02020603050405020304" pitchFamily="18" charset="0"/>
                    <a:cs typeface="Times New Roman" panose="02020603050405020304" pitchFamily="18" charset="0"/>
                  </a:rPr>
                  <a:t> factor </a:t>
                </a:r>
                <a14:m>
                  <m:oMath xmlns:m="http://schemas.openxmlformats.org/officeDocument/2006/math">
                    <m:r>
                      <a:rPr lang="en-US" altLang="zh-CN" sz="2400" i="1" dirty="0">
                        <a:solidFill>
                          <a:srgbClr val="2926BF"/>
                        </a:solidFill>
                        <a:latin typeface="Cambria Math" panose="02040503050406030204" pitchFamily="18" charset="0"/>
                      </a:rPr>
                      <m:t>𝑁</m:t>
                    </m:r>
                    <m:r>
                      <a:rPr lang="en-US" altLang="zh-CN" sz="2400" i="1" baseline="-25000" dirty="0">
                        <a:solidFill>
                          <a:srgbClr val="2926BF"/>
                        </a:solidFill>
                        <a:latin typeface="Cambria Math" panose="02040503050406030204" pitchFamily="18" charset="0"/>
                      </a:rPr>
                      <m:t>3</m:t>
                    </m:r>
                    <m:r>
                      <a:rPr lang="en-US" altLang="zh-CN" sz="2400" i="1" baseline="-25000" dirty="0">
                        <a:solidFill>
                          <a:srgbClr val="2926BF"/>
                        </a:solidFill>
                        <a:latin typeface="Cambria Math" panose="02040503050406030204" pitchFamily="18" charset="0"/>
                      </a:rPr>
                      <m:t>𝑑</m:t>
                    </m:r>
                    <m:r>
                      <a:rPr lang="en-US" altLang="zh-CN" sz="2400" i="1" dirty="0">
                        <a:solidFill>
                          <a:srgbClr val="2926BF"/>
                        </a:solidFill>
                        <a:latin typeface="Cambria Math" panose="02040503050406030204" pitchFamily="18" charset="0"/>
                      </a:rPr>
                      <m:t>=</m:t>
                    </m:r>
                    <m:f>
                      <m:fPr>
                        <m:ctrlPr>
                          <a:rPr lang="en-US" altLang="zh-CN" sz="2400" i="1" dirty="0">
                            <a:solidFill>
                              <a:srgbClr val="2926BF"/>
                            </a:solidFill>
                            <a:latin typeface="Cambria Math" panose="02040503050406030204" pitchFamily="18" charset="0"/>
                          </a:rPr>
                        </m:ctrlPr>
                      </m:fPr>
                      <m:num>
                        <m:r>
                          <a:rPr lang="en-US" altLang="zh-CN" sz="2400" i="1" dirty="0">
                            <a:solidFill>
                              <a:srgbClr val="2926BF"/>
                            </a:solidFill>
                            <a:latin typeface="Cambria Math" panose="02040503050406030204" pitchFamily="18" charset="0"/>
                          </a:rPr>
                          <m:t>4</m:t>
                        </m:r>
                      </m:num>
                      <m:den>
                        <m:r>
                          <a:rPr lang="en-US" altLang="zh-CN" sz="2400" i="1" dirty="0">
                            <a:solidFill>
                              <a:srgbClr val="2926BF"/>
                            </a:solidFill>
                            <a:latin typeface="Cambria Math" panose="02040503050406030204" pitchFamily="18" charset="0"/>
                          </a:rPr>
                          <m:t>81</m:t>
                        </m:r>
                      </m:den>
                    </m:f>
                    <m:rad>
                      <m:radPr>
                        <m:degHide m:val="on"/>
                        <m:ctrlPr>
                          <a:rPr lang="en-US" altLang="zh-CN" sz="2400" i="1" dirty="0">
                            <a:solidFill>
                              <a:srgbClr val="2926BF"/>
                            </a:solidFill>
                            <a:latin typeface="Cambria Math" panose="02040503050406030204" pitchFamily="18" charset="0"/>
                          </a:rPr>
                        </m:ctrlPr>
                      </m:radPr>
                      <m:deg/>
                      <m:e>
                        <m:f>
                          <m:fPr>
                            <m:ctrlPr>
                              <a:rPr lang="en-US" altLang="zh-CN" sz="2400" i="1" dirty="0">
                                <a:solidFill>
                                  <a:srgbClr val="2926BF"/>
                                </a:solidFill>
                                <a:latin typeface="Cambria Math" panose="02040503050406030204" pitchFamily="18" charset="0"/>
                              </a:rPr>
                            </m:ctrlPr>
                          </m:fPr>
                          <m:num>
                            <m:r>
                              <a:rPr lang="en-US" altLang="zh-CN" sz="2400" i="1" dirty="0">
                                <a:solidFill>
                                  <a:srgbClr val="2926BF"/>
                                </a:solidFill>
                                <a:latin typeface="Cambria Math" panose="02040503050406030204" pitchFamily="18" charset="0"/>
                              </a:rPr>
                              <m:t>1</m:t>
                            </m:r>
                          </m:num>
                          <m:den>
                            <m:r>
                              <a:rPr lang="en-US" altLang="zh-CN" sz="2400" i="1" dirty="0">
                                <a:solidFill>
                                  <a:srgbClr val="2926BF"/>
                                </a:solidFill>
                                <a:latin typeface="Cambria Math" panose="02040503050406030204" pitchFamily="18" charset="0"/>
                              </a:rPr>
                              <m:t>30</m:t>
                            </m:r>
                          </m:den>
                        </m:f>
                      </m:e>
                    </m:rad>
                  </m:oMath>
                </a14:m>
                <a:r>
                  <a:rPr lang="en-US" altLang="zh-CN" sz="2400" dirty="0">
                    <a:solidFill>
                      <a:srgbClr val="2926BF"/>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sz="2400" i="1" dirty="0">
                        <a:solidFill>
                          <a:srgbClr val="2926BF"/>
                        </a:solidFill>
                        <a:latin typeface="Cambria Math" panose="02040503050406030204" pitchFamily="18" charset="0"/>
                        <a:ea typeface="Cambria Math" panose="02040503050406030204" pitchFamily="18" charset="0"/>
                      </a:rPr>
                      <m:t>∙</m:t>
                    </m:r>
                    <m:rad>
                      <m:radPr>
                        <m:degHide m:val="on"/>
                        <m:ctrlPr>
                          <a:rPr lang="en-US" altLang="zh-CN" sz="2400" i="1" dirty="0">
                            <a:solidFill>
                              <a:srgbClr val="2926BF"/>
                            </a:solidFill>
                            <a:latin typeface="Cambria Math" panose="02040503050406030204" pitchFamily="18" charset="0"/>
                          </a:rPr>
                        </m:ctrlPr>
                      </m:radPr>
                      <m:deg/>
                      <m:e>
                        <m:f>
                          <m:fPr>
                            <m:ctrlPr>
                              <a:rPr lang="en-US" altLang="zh-CN" sz="2400" i="1" dirty="0">
                                <a:solidFill>
                                  <a:srgbClr val="2926BF"/>
                                </a:solidFill>
                                <a:latin typeface="Cambria Math" panose="02040503050406030204" pitchFamily="18" charset="0"/>
                              </a:rPr>
                            </m:ctrlPr>
                          </m:fPr>
                          <m:num>
                            <m:r>
                              <a:rPr lang="en-US" altLang="zh-CN" sz="2400" i="1" dirty="0">
                                <a:solidFill>
                                  <a:srgbClr val="2926BF"/>
                                </a:solidFill>
                                <a:latin typeface="Cambria Math" panose="02040503050406030204" pitchFamily="18" charset="0"/>
                              </a:rPr>
                              <m:t>5</m:t>
                            </m:r>
                          </m:num>
                          <m:den>
                            <m:r>
                              <a:rPr lang="en-US" altLang="zh-CN" sz="2400" i="1" dirty="0">
                                <a:solidFill>
                                  <a:srgbClr val="2926BF"/>
                                </a:solidFill>
                                <a:latin typeface="Cambria Math" panose="02040503050406030204" pitchFamily="18" charset="0"/>
                              </a:rPr>
                              <m:t>4</m:t>
                            </m:r>
                            <m:r>
                              <a:rPr lang="zh-CN" altLang="en-US" sz="2400" i="1" dirty="0">
                                <a:solidFill>
                                  <a:srgbClr val="2926BF"/>
                                </a:solidFill>
                                <a:latin typeface="Cambria Math" panose="02040503050406030204" pitchFamily="18" charset="0"/>
                              </a:rPr>
                              <m:t>𝜋</m:t>
                            </m:r>
                          </m:den>
                        </m:f>
                      </m:e>
                    </m:rad>
                    <m:r>
                      <a:rPr lang="en-US" altLang="zh-CN" sz="2400" i="1" dirty="0">
                        <a:solidFill>
                          <a:srgbClr val="2926BF"/>
                        </a:solidFill>
                        <a:latin typeface="Cambria Math" panose="02040503050406030204" pitchFamily="18" charset="0"/>
                      </a:rPr>
                      <m:t>=</m:t>
                    </m:r>
                    <m:f>
                      <m:fPr>
                        <m:ctrlPr>
                          <a:rPr lang="en-US" altLang="zh-CN" sz="2400" i="1" dirty="0">
                            <a:solidFill>
                              <a:srgbClr val="2926BF"/>
                            </a:solidFill>
                            <a:latin typeface="Cambria Math" panose="02040503050406030204" pitchFamily="18" charset="0"/>
                          </a:rPr>
                        </m:ctrlPr>
                      </m:fPr>
                      <m:num>
                        <m:r>
                          <a:rPr lang="en-US" altLang="zh-CN" sz="2400" i="1" dirty="0">
                            <a:solidFill>
                              <a:srgbClr val="2926BF"/>
                            </a:solidFill>
                            <a:latin typeface="Cambria Math" panose="02040503050406030204" pitchFamily="18" charset="0"/>
                          </a:rPr>
                          <m:t>2</m:t>
                        </m:r>
                      </m:num>
                      <m:den>
                        <m:r>
                          <a:rPr lang="en-US" altLang="zh-CN" sz="2400" i="1" dirty="0">
                            <a:solidFill>
                              <a:srgbClr val="2926BF"/>
                            </a:solidFill>
                            <a:latin typeface="Cambria Math" panose="02040503050406030204" pitchFamily="18" charset="0"/>
                          </a:rPr>
                          <m:t>81</m:t>
                        </m:r>
                      </m:den>
                    </m:f>
                    <m:rad>
                      <m:radPr>
                        <m:degHide m:val="on"/>
                        <m:ctrlPr>
                          <a:rPr lang="en-US" altLang="zh-CN" sz="2400" i="1" dirty="0">
                            <a:solidFill>
                              <a:srgbClr val="2926BF"/>
                            </a:solidFill>
                            <a:latin typeface="Cambria Math" panose="02040503050406030204" pitchFamily="18" charset="0"/>
                          </a:rPr>
                        </m:ctrlPr>
                      </m:radPr>
                      <m:deg/>
                      <m:e>
                        <m:f>
                          <m:fPr>
                            <m:ctrlPr>
                              <a:rPr lang="en-US" altLang="zh-CN" sz="2400" i="1" dirty="0">
                                <a:solidFill>
                                  <a:srgbClr val="2926BF"/>
                                </a:solidFill>
                                <a:latin typeface="Cambria Math" panose="02040503050406030204" pitchFamily="18" charset="0"/>
                              </a:rPr>
                            </m:ctrlPr>
                          </m:fPr>
                          <m:num>
                            <m:r>
                              <a:rPr lang="en-US" altLang="zh-CN" sz="2400" i="1" dirty="0">
                                <a:solidFill>
                                  <a:srgbClr val="2926BF"/>
                                </a:solidFill>
                                <a:latin typeface="Cambria Math" panose="02040503050406030204" pitchFamily="18" charset="0"/>
                              </a:rPr>
                              <m:t>1</m:t>
                            </m:r>
                          </m:num>
                          <m:den>
                            <m:r>
                              <a:rPr lang="en-US" altLang="zh-CN" sz="2400" i="1" dirty="0">
                                <a:solidFill>
                                  <a:srgbClr val="2926BF"/>
                                </a:solidFill>
                                <a:latin typeface="Cambria Math" panose="02040503050406030204" pitchFamily="18" charset="0"/>
                              </a:rPr>
                              <m:t>6</m:t>
                            </m:r>
                            <m:r>
                              <a:rPr lang="zh-CN" altLang="en-US" sz="2400" i="1" dirty="0">
                                <a:solidFill>
                                  <a:srgbClr val="2926BF"/>
                                </a:solidFill>
                                <a:latin typeface="Cambria Math" panose="02040503050406030204" pitchFamily="18" charset="0"/>
                              </a:rPr>
                              <m:t>𝜋</m:t>
                            </m:r>
                          </m:den>
                        </m:f>
                      </m:e>
                    </m:rad>
                  </m:oMath>
                </a14:m>
                <a:r>
                  <a:rPr lang="en-US" altLang="zh-TW" sz="2400" dirty="0">
                    <a:solidFill>
                      <a:srgbClr val="2926BF"/>
                    </a:solidFill>
                    <a:latin typeface="Times New Roman" panose="02020603050405020304" pitchFamily="18" charset="0"/>
                    <a:ea typeface="MingLiU"/>
                    <a:cs typeface="Times New Roman" panose="02020603050405020304" pitchFamily="18" charset="0"/>
                  </a:rPr>
                  <a:t>.</a:t>
                </a:r>
                <a:endParaRPr lang="zh-TW" altLang="en-US" sz="2400" dirty="0">
                  <a:solidFill>
                    <a:srgbClr val="2926BF"/>
                  </a:solidFill>
                  <a:latin typeface="Times New Roman" panose="02020603050405020304" pitchFamily="18" charset="0"/>
                  <a:ea typeface="MingLiU"/>
                  <a:cs typeface="Times New Roman" panose="02020603050405020304" pitchFamily="18" charset="0"/>
                </a:endParaRPr>
              </a:p>
              <a:p>
                <a:pPr>
                  <a:lnSpc>
                    <a:spcPct val="120000"/>
                  </a:lnSpc>
                  <a:spcBef>
                    <a:spcPts val="600"/>
                  </a:spcBef>
                </a:pPr>
                <a:r>
                  <a:rPr lang="en-US" altLang="zh-CN" sz="2400" dirty="0">
                    <a:latin typeface="Times New Roman" panose="02020603050405020304" pitchFamily="18" charset="0"/>
                    <a:cs typeface="Times New Roman" panose="02020603050405020304" pitchFamily="18" charset="0"/>
                  </a:rPr>
                  <a:t>Just as for the </a:t>
                </a:r>
                <a:r>
                  <a:rPr lang="en-US" altLang="zh-CN" sz="2400" i="1" dirty="0">
                    <a:solidFill>
                      <a:srgbClr val="2926BF"/>
                    </a:solidFill>
                    <a:latin typeface="Times New Roman" panose="02020603050405020304" pitchFamily="18" charset="0"/>
                    <a:cs typeface="Times New Roman" panose="02020603050405020304" pitchFamily="18" charset="0"/>
                  </a:rPr>
                  <a:t>p</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orbitals, we can write </a:t>
                </a:r>
                <a14:m>
                  <m:oMath xmlns:m="http://schemas.openxmlformats.org/officeDocument/2006/math">
                    <m:r>
                      <a:rPr lang="en-US" altLang="zh-CN" sz="2400" i="1" dirty="0">
                        <a:solidFill>
                          <a:srgbClr val="2926BF"/>
                        </a:solidFill>
                        <a:latin typeface="Cambria Math" panose="02040503050406030204" pitchFamily="18" charset="0"/>
                      </a:rPr>
                      <m:t>𝑟</m:t>
                    </m:r>
                    <m:r>
                      <m:rPr>
                        <m:nor/>
                      </m:rPr>
                      <a:rPr lang="en-US" altLang="zh-CN" sz="2400" dirty="0">
                        <a:solidFill>
                          <a:srgbClr val="2926BF"/>
                        </a:solidFill>
                        <a:latin typeface="Times New Roman" panose="02020603050405020304" pitchFamily="18" charset="0"/>
                        <a:cs typeface="Times New Roman" panose="02020603050405020304" pitchFamily="18" charset="0"/>
                      </a:rPr>
                      <m:t>sin</m:t>
                    </m:r>
                    <m:r>
                      <a:rPr lang="zh-CN" altLang="en-US" sz="2400" i="1" dirty="0">
                        <a:solidFill>
                          <a:srgbClr val="2926BF"/>
                        </a:solidFill>
                        <a:latin typeface="Cambria Math" panose="02040503050406030204" pitchFamily="18" charset="0"/>
                      </a:rPr>
                      <m:t>𝜃</m:t>
                    </m:r>
                    <m:sSup>
                      <m:sSupPr>
                        <m:ctrlPr>
                          <a:rPr lang="en-US" altLang="zh-CN" sz="2400" i="1" dirty="0">
                            <a:solidFill>
                              <a:srgbClr val="2926BF"/>
                            </a:solidFill>
                            <a:latin typeface="Cambria Math" panose="02040503050406030204" pitchFamily="18" charset="0"/>
                          </a:rPr>
                        </m:ctrlPr>
                      </m:sSupPr>
                      <m:e>
                        <m:r>
                          <m:rPr>
                            <m:nor/>
                          </m:rPr>
                          <a:rPr lang="en-US" altLang="zh-CN" sz="2400" dirty="0">
                            <a:solidFill>
                              <a:srgbClr val="2926BF"/>
                            </a:solidFill>
                            <a:latin typeface="Times New Roman" panose="02020603050405020304" pitchFamily="18" charset="0"/>
                            <a:cs typeface="Times New Roman" panose="02020603050405020304" pitchFamily="18" charset="0"/>
                          </a:rPr>
                          <m:t>e</m:t>
                        </m:r>
                      </m:e>
                      <m:sup>
                        <m:r>
                          <a:rPr lang="en-US" altLang="zh-CN" sz="2400" i="1" dirty="0">
                            <a:solidFill>
                              <a:srgbClr val="2926BF"/>
                            </a:solidFill>
                            <a:latin typeface="Cambria Math" panose="02040503050406030204" pitchFamily="18" charset="0"/>
                            <a:ea typeface="Cambria Math" panose="02040503050406030204" pitchFamily="18" charset="0"/>
                          </a:rPr>
                          <m:t>±</m:t>
                        </m:r>
                        <m:r>
                          <a:rPr lang="en-US" altLang="zh-CN" sz="2400" i="1" dirty="0">
                            <a:solidFill>
                              <a:srgbClr val="2926BF"/>
                            </a:solidFill>
                            <a:latin typeface="Cambria Math" panose="02040503050406030204" pitchFamily="18" charset="0"/>
                            <a:ea typeface="Cambria Math" panose="02040503050406030204" pitchFamily="18" charset="0"/>
                          </a:rPr>
                          <m:t>𝑖</m:t>
                        </m:r>
                        <m:r>
                          <a:rPr lang="zh-CN" altLang="en-US" sz="2400" i="1" dirty="0">
                            <a:solidFill>
                              <a:srgbClr val="2926BF"/>
                            </a:solidFill>
                            <a:latin typeface="Cambria Math" panose="02040503050406030204" pitchFamily="18" charset="0"/>
                            <a:ea typeface="Cambria Math" panose="02040503050406030204" pitchFamily="18" charset="0"/>
                          </a:rPr>
                          <m:t>𝜑</m:t>
                        </m:r>
                      </m:sup>
                    </m:sSup>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𝑥</m:t>
                    </m:r>
                    <m:r>
                      <a:rPr lang="en-US" altLang="zh-CN" sz="2400" i="1" dirty="0">
                        <a:solidFill>
                          <a:srgbClr val="2926BF"/>
                        </a:solidFill>
                        <a:latin typeface="Cambria Math" panose="02040503050406030204" pitchFamily="18" charset="0"/>
                      </a:rPr>
                      <m:t>±</m:t>
                    </m:r>
                    <m:r>
                      <a:rPr lang="en-US" altLang="zh-CN" sz="2400" i="1" dirty="0" err="1">
                        <a:solidFill>
                          <a:srgbClr val="2926BF"/>
                        </a:solidFill>
                        <a:latin typeface="Cambria Math" panose="02040503050406030204" pitchFamily="18" charset="0"/>
                      </a:rPr>
                      <m:t>𝑖𝑦</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and </a:t>
                </a:r>
                <a14:m>
                  <m:oMath xmlns:m="http://schemas.openxmlformats.org/officeDocument/2006/math">
                    <m:r>
                      <a:rPr lang="en-US" altLang="zh-CN" sz="2400" i="1" dirty="0">
                        <a:solidFill>
                          <a:srgbClr val="2926BF"/>
                        </a:solidFill>
                        <a:latin typeface="Cambria Math" panose="02040503050406030204" pitchFamily="18" charset="0"/>
                      </a:rPr>
                      <m:t>𝑟𝑐𝑜𝑠</m:t>
                    </m:r>
                    <m:r>
                      <a:rPr lang="zh-CN" altLang="en-US" sz="2400" i="1" dirty="0">
                        <a:solidFill>
                          <a:srgbClr val="2926BF"/>
                        </a:solidFill>
                        <a:latin typeface="Cambria Math" panose="02040503050406030204" pitchFamily="18" charset="0"/>
                      </a:rPr>
                      <m:t>𝜃</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𝑧</m:t>
                    </m:r>
                  </m:oMath>
                </a14:m>
                <a:r>
                  <a:rPr lang="en-US" altLang="zh-CN" sz="2400" dirty="0">
                    <a:latin typeface="Times New Roman" panose="02020603050405020304" pitchFamily="18" charset="0"/>
                    <a:cs typeface="Times New Roman" panose="02020603050405020304" pitchFamily="18" charset="0"/>
                  </a:rPr>
                  <a:t>, and take real and imaginary parts to obtain the </a:t>
                </a:r>
                <a:r>
                  <a:rPr lang="en-US" altLang="zh-CN" sz="2400" dirty="0">
                    <a:solidFill>
                      <a:srgbClr val="2926BF"/>
                    </a:solidFill>
                    <a:latin typeface="Times New Roman" panose="02020603050405020304" pitchFamily="18" charset="0"/>
                    <a:cs typeface="Times New Roman" panose="02020603050405020304" pitchFamily="18" charset="0"/>
                  </a:rPr>
                  <a:t>3</a:t>
                </a:r>
                <a:r>
                  <a:rPr lang="en-US" altLang="zh-CN" sz="2400" i="1" dirty="0">
                    <a:solidFill>
                      <a:srgbClr val="2926BF"/>
                    </a:solidFill>
                    <a:latin typeface="Times New Roman" panose="02020603050405020304" pitchFamily="18" charset="0"/>
                    <a:cs typeface="Times New Roman" panose="02020603050405020304" pitchFamily="18" charset="0"/>
                  </a:rPr>
                  <a:t>d</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orbitals in the </a:t>
                </a:r>
                <a:r>
                  <a:rPr lang="en-US" altLang="zh-CN" sz="2400" dirty="0" err="1">
                    <a:latin typeface="Times New Roman" panose="02020603050405020304" pitchFamily="18" charset="0"/>
                    <a:cs typeface="Times New Roman" panose="02020603050405020304" pitchFamily="18" charset="0"/>
                  </a:rPr>
                  <a:t>familar</a:t>
                </a:r>
                <a:r>
                  <a:rPr lang="en-US" altLang="zh-CN" sz="2400" dirty="0">
                    <a:latin typeface="Times New Roman" panose="02020603050405020304" pitchFamily="18" charset="0"/>
                    <a:cs typeface="Times New Roman" panose="02020603050405020304" pitchFamily="18" charset="0"/>
                  </a:rPr>
                  <a:t> real form. </a:t>
                </a:r>
                <a:endParaRPr lang="en-US" altLang="zh-CN" sz="2400" dirty="0">
                  <a:latin typeface="Times New Roman" panose="02020603050405020304" pitchFamily="18" charset="0"/>
                  <a:cs typeface="Times New Roman" panose="02020603050405020304" pitchFamily="18" charset="0"/>
                </a:endParaRPr>
              </a:p>
              <a:p>
                <a:pPr>
                  <a:lnSpc>
                    <a:spcPct val="120000"/>
                  </a:lnSpc>
                  <a:spcBef>
                    <a:spcPts val="600"/>
                  </a:spcBef>
                </a:pPr>
                <a:r>
                  <a:rPr lang="en-US" altLang="zh-CN" sz="2400" dirty="0">
                    <a:latin typeface="Times New Roman" panose="02020603050405020304" pitchFamily="18" charset="0"/>
                    <a:cs typeface="Times New Roman" panose="02020603050405020304" pitchFamily="18" charset="0"/>
                  </a:rPr>
                  <a:t>(Note that </a:t>
                </a:r>
                <a14:m>
                  <m:oMath xmlns:m="http://schemas.openxmlformats.org/officeDocument/2006/math">
                    <m:r>
                      <a:rPr lang="en-US" altLang="zh-CN" sz="2400" i="1" dirty="0">
                        <a:solidFill>
                          <a:srgbClr val="2926BF"/>
                        </a:solidFill>
                        <a:latin typeface="Cambria Math" panose="02040503050406030204" pitchFamily="18" charset="0"/>
                      </a:rPr>
                      <m:t>𝑟</m:t>
                    </m:r>
                    <m:r>
                      <a:rPr lang="en-US" altLang="zh-CN" sz="2400" i="1" baseline="30000" dirty="0">
                        <a:solidFill>
                          <a:srgbClr val="2926BF"/>
                        </a:solidFill>
                        <a:latin typeface="Cambria Math" panose="02040503050406030204" pitchFamily="18" charset="0"/>
                      </a:rPr>
                      <m:t>2</m:t>
                    </m:r>
                    <m:r>
                      <m:rPr>
                        <m:sty m:val="p"/>
                      </m:rPr>
                      <a:rPr lang="en-US" altLang="zh-CN" sz="2400" i="1" dirty="0">
                        <a:solidFill>
                          <a:srgbClr val="2926BF"/>
                        </a:solidFill>
                        <a:latin typeface="Cambria Math" panose="02040503050406030204" pitchFamily="18" charset="0"/>
                      </a:rPr>
                      <m:t>sin</m:t>
                    </m:r>
                    <m:r>
                      <a:rPr lang="en-US" altLang="zh-CN" sz="2400" i="1" baseline="30000" dirty="0">
                        <a:solidFill>
                          <a:srgbClr val="2926BF"/>
                        </a:solidFill>
                        <a:latin typeface="Cambria Math" panose="02040503050406030204" pitchFamily="18" charset="0"/>
                      </a:rPr>
                      <m:t>2</m:t>
                    </m:r>
                    <m:r>
                      <a:rPr lang="zh-CN" altLang="en-US" sz="2400" i="1" dirty="0">
                        <a:solidFill>
                          <a:srgbClr val="2926BF"/>
                        </a:solidFill>
                        <a:latin typeface="Cambria Math" panose="02040503050406030204" pitchFamily="18" charset="0"/>
                      </a:rPr>
                      <m:t>𝜃</m:t>
                    </m:r>
                    <m:sSup>
                      <m:sSupPr>
                        <m:ctrlPr>
                          <a:rPr lang="en-US" altLang="zh-CN" sz="2400" i="1" dirty="0">
                            <a:solidFill>
                              <a:srgbClr val="2926BF"/>
                            </a:solidFill>
                            <a:latin typeface="Cambria Math" panose="02040503050406030204" pitchFamily="18" charset="0"/>
                          </a:rPr>
                        </m:ctrlPr>
                      </m:sSupPr>
                      <m:e>
                        <m:r>
                          <m:rPr>
                            <m:nor/>
                          </m:rPr>
                          <a:rPr lang="en-US" altLang="zh-CN" sz="2400" dirty="0">
                            <a:solidFill>
                              <a:srgbClr val="2926BF"/>
                            </a:solidFill>
                            <a:latin typeface="Times New Roman" panose="02020603050405020304" pitchFamily="18" charset="0"/>
                            <a:cs typeface="Times New Roman" panose="02020603050405020304" pitchFamily="18" charset="0"/>
                          </a:rPr>
                          <m:t>e</m:t>
                        </m:r>
                      </m:e>
                      <m:sup>
                        <m:r>
                          <a:rPr lang="en-US" altLang="zh-CN" sz="2400" i="1" dirty="0">
                            <a:solidFill>
                              <a:srgbClr val="2926BF"/>
                            </a:solidFill>
                            <a:latin typeface="Cambria Math" panose="02040503050406030204" pitchFamily="18" charset="0"/>
                            <a:ea typeface="Cambria Math" panose="02040503050406030204" pitchFamily="18" charset="0"/>
                          </a:rPr>
                          <m:t>±</m:t>
                        </m:r>
                        <m:r>
                          <a:rPr lang="en-US" altLang="zh-CN" sz="2400" i="1" dirty="0">
                            <a:solidFill>
                              <a:srgbClr val="2926BF"/>
                            </a:solidFill>
                            <a:latin typeface="Cambria Math" panose="02040503050406030204" pitchFamily="18" charset="0"/>
                            <a:ea typeface="Cambria Math" panose="02040503050406030204" pitchFamily="18" charset="0"/>
                          </a:rPr>
                          <m:t>2</m:t>
                        </m:r>
                        <m:r>
                          <a:rPr lang="en-US" altLang="zh-CN" sz="2400" i="1" dirty="0">
                            <a:solidFill>
                              <a:srgbClr val="2926BF"/>
                            </a:solidFill>
                            <a:latin typeface="Cambria Math" panose="02040503050406030204" pitchFamily="18" charset="0"/>
                            <a:ea typeface="Cambria Math" panose="02040503050406030204" pitchFamily="18" charset="0"/>
                          </a:rPr>
                          <m:t>𝑖</m:t>
                        </m:r>
                        <m:r>
                          <a:rPr lang="zh-CN" altLang="en-US" sz="2400" i="1" dirty="0">
                            <a:solidFill>
                              <a:srgbClr val="2926BF"/>
                            </a:solidFill>
                            <a:latin typeface="Cambria Math" panose="02040503050406030204" pitchFamily="18" charset="0"/>
                            <a:ea typeface="Cambria Math" panose="02040503050406030204" pitchFamily="18" charset="0"/>
                          </a:rPr>
                          <m:t>𝜑</m:t>
                        </m:r>
                      </m:sup>
                    </m:sSup>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𝑟</m:t>
                    </m:r>
                    <m:r>
                      <m:rPr>
                        <m:nor/>
                      </m:rPr>
                      <a:rPr lang="en-US" altLang="zh-CN" sz="2400" dirty="0">
                        <a:solidFill>
                          <a:srgbClr val="2926BF"/>
                        </a:solidFill>
                        <a:latin typeface="Times New Roman" panose="02020603050405020304" pitchFamily="18" charset="0"/>
                        <a:cs typeface="Times New Roman" panose="02020603050405020304" pitchFamily="18" charset="0"/>
                      </a:rPr>
                      <m:t>sin</m:t>
                    </m:r>
                    <m:r>
                      <a:rPr lang="zh-CN" altLang="en-US" sz="2400" i="1" dirty="0">
                        <a:solidFill>
                          <a:srgbClr val="2926BF"/>
                        </a:solidFill>
                        <a:latin typeface="Cambria Math" panose="02040503050406030204" pitchFamily="18" charset="0"/>
                      </a:rPr>
                      <m:t>𝜃</m:t>
                    </m:r>
                    <m:sSup>
                      <m:sSupPr>
                        <m:ctrlPr>
                          <a:rPr lang="en-US" altLang="zh-CN" sz="2400" i="1" dirty="0">
                            <a:solidFill>
                              <a:srgbClr val="2926BF"/>
                            </a:solidFill>
                            <a:latin typeface="Cambria Math" panose="02040503050406030204" pitchFamily="18" charset="0"/>
                          </a:rPr>
                        </m:ctrlPr>
                      </m:sSupPr>
                      <m:e>
                        <m:r>
                          <m:rPr>
                            <m:nor/>
                          </m:rPr>
                          <a:rPr lang="en-US" altLang="zh-CN" sz="2400" dirty="0">
                            <a:solidFill>
                              <a:srgbClr val="2926BF"/>
                            </a:solidFill>
                            <a:latin typeface="Times New Roman" panose="02020603050405020304" pitchFamily="18" charset="0"/>
                            <a:cs typeface="Times New Roman" panose="02020603050405020304" pitchFamily="18" charset="0"/>
                          </a:rPr>
                          <m:t>e</m:t>
                        </m:r>
                      </m:e>
                      <m:sup>
                        <m:r>
                          <a:rPr lang="en-US" altLang="zh-CN" sz="2400" i="1" dirty="0">
                            <a:solidFill>
                              <a:srgbClr val="2926BF"/>
                            </a:solidFill>
                            <a:latin typeface="Cambria Math" panose="02040503050406030204" pitchFamily="18" charset="0"/>
                            <a:ea typeface="Cambria Math" panose="02040503050406030204" pitchFamily="18" charset="0"/>
                          </a:rPr>
                          <m:t>±</m:t>
                        </m:r>
                        <m:r>
                          <a:rPr lang="en-US" altLang="zh-CN" sz="2400" i="1" dirty="0">
                            <a:solidFill>
                              <a:srgbClr val="2926BF"/>
                            </a:solidFill>
                            <a:latin typeface="Cambria Math" panose="02040503050406030204" pitchFamily="18" charset="0"/>
                            <a:ea typeface="Cambria Math" panose="02040503050406030204" pitchFamily="18" charset="0"/>
                          </a:rPr>
                          <m:t>𝑖</m:t>
                        </m:r>
                        <m:r>
                          <a:rPr lang="zh-CN" altLang="en-US" sz="2400" i="1" dirty="0">
                            <a:solidFill>
                              <a:srgbClr val="2926BF"/>
                            </a:solidFill>
                            <a:latin typeface="Cambria Math" panose="02040503050406030204" pitchFamily="18" charset="0"/>
                            <a:ea typeface="Cambria Math" panose="02040503050406030204" pitchFamily="18" charset="0"/>
                          </a:rPr>
                          <m:t>𝜑</m:t>
                        </m:r>
                      </m:sup>
                    </m:sSup>
                    <m:r>
                      <a:rPr lang="en-US" altLang="zh-CN" sz="2400" i="1" dirty="0">
                        <a:solidFill>
                          <a:srgbClr val="2926BF"/>
                        </a:solidFill>
                        <a:latin typeface="Cambria Math" panose="02040503050406030204" pitchFamily="18" charset="0"/>
                      </a:rPr>
                      <m:t>)</m:t>
                    </m:r>
                    <m:r>
                      <a:rPr lang="en-US" altLang="zh-CN" sz="2400" i="1" baseline="30000" dirty="0">
                        <a:solidFill>
                          <a:srgbClr val="2926BF"/>
                        </a:solidFill>
                        <a:latin typeface="Cambria Math" panose="02040503050406030204" pitchFamily="18" charset="0"/>
                      </a:rPr>
                      <m:t>2</m:t>
                    </m:r>
                    <m:r>
                      <a:rPr lang="en-US" altLang="zh-CN" sz="2400" i="1" dirty="0">
                        <a:solidFill>
                          <a:srgbClr val="2926BF"/>
                        </a:solidFill>
                        <a:latin typeface="Cambria Math" panose="02040503050406030204" pitchFamily="18" charset="0"/>
                      </a:rPr>
                      <m:t> = (</m:t>
                    </m:r>
                    <m:r>
                      <a:rPr lang="en-US" altLang="zh-CN" sz="2400" i="1" dirty="0">
                        <a:solidFill>
                          <a:srgbClr val="2926BF"/>
                        </a:solidFill>
                        <a:latin typeface="Cambria Math" panose="02040503050406030204" pitchFamily="18" charset="0"/>
                      </a:rPr>
                      <m:t>𝑥</m:t>
                    </m:r>
                    <m:r>
                      <a:rPr lang="en-US" altLang="zh-CN" sz="2400" i="1" dirty="0">
                        <a:solidFill>
                          <a:srgbClr val="2926BF"/>
                        </a:solidFill>
                        <a:latin typeface="Cambria Math" panose="02040503050406030204" pitchFamily="18" charset="0"/>
                      </a:rPr>
                      <m:t>±</m:t>
                    </m:r>
                    <m:r>
                      <a:rPr lang="en-US" altLang="zh-CN" sz="2400" i="1" dirty="0" err="1">
                        <a:solidFill>
                          <a:srgbClr val="2926BF"/>
                        </a:solidFill>
                        <a:latin typeface="Cambria Math" panose="02040503050406030204" pitchFamily="18" charset="0"/>
                      </a:rPr>
                      <m:t>𝑖𝑦</m:t>
                    </m:r>
                    <m:r>
                      <a:rPr lang="en-US" altLang="zh-CN" sz="2400" i="1" dirty="0">
                        <a:solidFill>
                          <a:srgbClr val="2926BF"/>
                        </a:solidFill>
                        <a:latin typeface="Cambria Math" panose="02040503050406030204" pitchFamily="18" charset="0"/>
                      </a:rPr>
                      <m:t>)</m:t>
                    </m:r>
                    <m:r>
                      <a:rPr lang="en-US" altLang="zh-CN" sz="2400" i="1" baseline="30000" dirty="0">
                        <a:solidFill>
                          <a:srgbClr val="2926BF"/>
                        </a:solidFill>
                        <a:latin typeface="Cambria Math" panose="02040503050406030204" pitchFamily="18" charset="0"/>
                      </a:rPr>
                      <m:t>2</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𝑥</m:t>
                    </m:r>
                    <m:r>
                      <a:rPr lang="en-US" altLang="zh-CN" sz="2400" i="1" baseline="30000" dirty="0">
                        <a:solidFill>
                          <a:srgbClr val="2926BF"/>
                        </a:solidFill>
                        <a:latin typeface="Cambria Math" panose="02040503050406030204" pitchFamily="18" charset="0"/>
                      </a:rPr>
                      <m:t>2</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𝑦</m:t>
                    </m:r>
                    <m:r>
                      <a:rPr lang="en-US" altLang="zh-CN" sz="2400" i="1" baseline="30000" dirty="0">
                        <a:solidFill>
                          <a:srgbClr val="2926BF"/>
                        </a:solidFill>
                        <a:latin typeface="Cambria Math" panose="02040503050406030204" pitchFamily="18" charset="0"/>
                      </a:rPr>
                      <m:t>2</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2</m:t>
                    </m:r>
                    <m:r>
                      <a:rPr lang="en-US" altLang="zh-CN" sz="2400" i="1" dirty="0">
                        <a:solidFill>
                          <a:srgbClr val="2926BF"/>
                        </a:solidFill>
                        <a:latin typeface="Cambria Math" panose="02040503050406030204" pitchFamily="18" charset="0"/>
                      </a:rPr>
                      <m:t>𝑖𝑥𝑦</m:t>
                    </m:r>
                  </m:oMath>
                </a14:m>
                <a:r>
                  <a:rPr lang="en-US" altLang="zh-CN"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361335" y="1105973"/>
                <a:ext cx="11577484" cy="5572488"/>
              </a:xfrm>
              <a:prstGeom prst="rect">
                <a:avLst/>
              </a:prstGeom>
              <a:blipFill rotWithShape="1">
                <a:blip r:embed="rId1"/>
                <a:stretch>
                  <a:fillRect t="-8" r="2" b="3"/>
                </a:stretch>
              </a:blipFill>
            </p:spPr>
            <p:txBody>
              <a:bodyPr/>
              <a:lstStyle/>
              <a:p>
                <a:r>
                  <a:rPr lang="zh-CN" altLang="en-US">
                    <a:noFill/>
                  </a:rPr>
                  <a:t> </a:t>
                </a:r>
              </a:p>
            </p:txBody>
          </p:sp>
        </mc:Fallback>
      </mc:AlternateContent>
      <p:graphicFrame>
        <p:nvGraphicFramePr>
          <p:cNvPr id="4" name="对象 3"/>
          <p:cNvGraphicFramePr>
            <a:graphicFrameLocks noChangeAspect="1"/>
          </p:cNvGraphicFramePr>
          <p:nvPr/>
        </p:nvGraphicFramePr>
        <p:xfrm>
          <a:off x="2911877" y="1612987"/>
          <a:ext cx="6476400" cy="2615760"/>
        </p:xfrm>
        <a:graphic>
          <a:graphicData uri="http://schemas.openxmlformats.org/presentationml/2006/ole">
            <mc:AlternateContent xmlns:mc="http://schemas.openxmlformats.org/markup-compatibility/2006">
              <mc:Choice xmlns:v="urn:schemas-microsoft-com:vml" Requires="v">
                <p:oleObj spid="_x0000_s5" name="Equation" r:id="rId2" imgW="77724000" imgH="31394400" progId="Equation.DSMT4">
                  <p:embed/>
                </p:oleObj>
              </mc:Choice>
              <mc:Fallback>
                <p:oleObj name="Equation" r:id="rId2" imgW="77724000" imgH="31394400" progId="Equation.DSMT4">
                  <p:embed/>
                  <p:pic>
                    <p:nvPicPr>
                      <p:cNvPr id="0" name="图片 4"/>
                      <p:cNvPicPr/>
                      <p:nvPr/>
                    </p:nvPicPr>
                    <p:blipFill>
                      <a:blip r:embed="rId3"/>
                      <a:stretch>
                        <a:fillRect/>
                      </a:stretch>
                    </p:blipFill>
                    <p:spPr>
                      <a:xfrm>
                        <a:off x="2911877" y="1612987"/>
                        <a:ext cx="6476400" cy="2615760"/>
                      </a:xfrm>
                      <a:prstGeom prst="rect">
                        <a:avLst/>
                      </a:prstGeom>
                    </p:spPr>
                  </p:pic>
                </p:oleObj>
              </mc:Fallback>
            </mc:AlternateContent>
          </a:graphicData>
        </a:graphic>
      </p:graphicFrame>
      <p:sp>
        <p:nvSpPr>
          <p:cNvPr id="6"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7" name="灯片编号占位符 6"/>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736563" y="217267"/>
            <a:ext cx="3637471" cy="523220"/>
          </a:xfrm>
          <a:prstGeom prst="rect">
            <a:avLst/>
          </a:prstGeom>
        </p:spPr>
        <p:txBody>
          <a:bodyPr wrap="none">
            <a:spAutoFit/>
          </a:bodyPr>
          <a:lstStyle/>
          <a:p>
            <a:r>
              <a:rPr lang="en-US" altLang="zh-CN" sz="2800" b="1" i="1" dirty="0">
                <a:solidFill>
                  <a:srgbClr val="2926BF"/>
                </a:solidFill>
                <a:latin typeface="Times New Roman" panose="02020603050405020304" pitchFamily="18" charset="0"/>
                <a:cs typeface="Times New Roman" panose="02020603050405020304" pitchFamily="18" charset="0"/>
              </a:rPr>
              <a:t>d</a:t>
            </a:r>
            <a:r>
              <a:rPr lang="en-US" altLang="zh-CN" sz="2800" b="1" dirty="0">
                <a:latin typeface="Times New Roman" panose="02020603050405020304" pitchFamily="18" charset="0"/>
                <a:cs typeface="Times New Roman" panose="02020603050405020304" pitchFamily="18" charset="0"/>
              </a:rPr>
              <a:t> orbitals in real form </a:t>
            </a:r>
            <a:endParaRPr lang="zh-CN" altLang="en-US" sz="28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矩形 2"/>
              <p:cNvSpPr/>
              <p:nvPr/>
            </p:nvSpPr>
            <p:spPr>
              <a:xfrm>
                <a:off x="2094028" y="1376386"/>
                <a:ext cx="8899091" cy="4688463"/>
              </a:xfrm>
              <a:prstGeom prst="rect">
                <a:avLst/>
              </a:prstGeom>
            </p:spPr>
            <p:txBody>
              <a:bodyPr wrap="square">
                <a:spAutoFit/>
              </a:bodyPr>
              <a:lstStyle/>
              <a:p>
                <a:pPr indent="106045">
                  <a:spcAft>
                    <a:spcPts val="360"/>
                  </a:spcAft>
                </a:pPr>
                <a:r>
                  <a:rPr lang="en-US" altLang="zh-CN" sz="2400" dirty="0">
                    <a:latin typeface="Times New Roman" panose="02020603050405020304" pitchFamily="18" charset="0"/>
                    <a:cs typeface="Times New Roman" panose="02020603050405020304" pitchFamily="18" charset="0"/>
                  </a:rPr>
                  <a:t>The </a:t>
                </a:r>
                <a:r>
                  <a:rPr lang="en-US" altLang="zh-CN" sz="2400" dirty="0">
                    <a:solidFill>
                      <a:srgbClr val="2926BF"/>
                    </a:solidFill>
                    <a:latin typeface="Times New Roman" panose="02020603050405020304" pitchFamily="18" charset="0"/>
                    <a:cs typeface="Times New Roman" panose="02020603050405020304" pitchFamily="18" charset="0"/>
                  </a:rPr>
                  <a:t>3</a:t>
                </a:r>
                <a:r>
                  <a:rPr lang="en-US" altLang="zh-CN" sz="2400" i="1" dirty="0">
                    <a:solidFill>
                      <a:srgbClr val="2926BF"/>
                    </a:solidFill>
                    <a:latin typeface="Times New Roman" panose="02020603050405020304" pitchFamily="18" charset="0"/>
                    <a:cs typeface="Times New Roman" panose="02020603050405020304" pitchFamily="18" charset="0"/>
                  </a:rPr>
                  <a:t>d</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orbitals in real form are:</a:t>
                </a:r>
                <a:endParaRPr lang="en-US" altLang="zh-CN" sz="2400" dirty="0">
                  <a:latin typeface="Times New Roman" panose="02020603050405020304" pitchFamily="18" charset="0"/>
                  <a:cs typeface="Times New Roman" panose="02020603050405020304" pitchFamily="18" charset="0"/>
                </a:endParaRPr>
              </a:p>
              <a:p>
                <a:pPr indent="106045">
                  <a:spcAft>
                    <a:spcPts val="360"/>
                  </a:spcAft>
                </a:pPr>
                <a:endParaRPr lang="en-US" altLang="zh-CN" sz="2400" dirty="0">
                  <a:latin typeface="Times New Roman" panose="02020603050405020304" pitchFamily="18" charset="0"/>
                  <a:cs typeface="Times New Roman" panose="02020603050405020304" pitchFamily="18" charset="0"/>
                </a:endParaRPr>
              </a:p>
              <a:p>
                <a:pPr marL="530860"/>
                <a:endParaRPr lang="en-US" altLang="zh-CN" sz="2000" dirty="0">
                  <a:latin typeface="Times New Roman" panose="02020603050405020304" pitchFamily="18" charset="0"/>
                  <a:cs typeface="Times New Roman" panose="02020603050405020304" pitchFamily="18" charset="0"/>
                </a:endParaRPr>
              </a:p>
              <a:p>
                <a:pPr marL="530860"/>
                <a:endParaRPr lang="en-US" altLang="zh-CN" sz="2000" dirty="0">
                  <a:latin typeface="Times New Roman" panose="02020603050405020304" pitchFamily="18" charset="0"/>
                  <a:cs typeface="Times New Roman" panose="02020603050405020304" pitchFamily="18" charset="0"/>
                </a:endParaRPr>
              </a:p>
              <a:p>
                <a:pPr marL="530860"/>
                <a:endParaRPr lang="en-US" altLang="zh-CN" sz="2000" dirty="0">
                  <a:latin typeface="Times New Roman" panose="02020603050405020304" pitchFamily="18" charset="0"/>
                  <a:cs typeface="Times New Roman" panose="02020603050405020304" pitchFamily="18" charset="0"/>
                </a:endParaRPr>
              </a:p>
              <a:p>
                <a:pPr marL="530860"/>
                <a:endParaRPr lang="en-US" altLang="zh-CN" sz="2000" dirty="0">
                  <a:latin typeface="Times New Roman" panose="02020603050405020304" pitchFamily="18" charset="0"/>
                  <a:cs typeface="Times New Roman" panose="02020603050405020304" pitchFamily="18" charset="0"/>
                </a:endParaRPr>
              </a:p>
              <a:p>
                <a:pPr marL="530860"/>
                <a:endParaRPr lang="en-US" altLang="zh-CN" sz="2000" dirty="0">
                  <a:latin typeface="Times New Roman" panose="02020603050405020304" pitchFamily="18" charset="0"/>
                  <a:cs typeface="Times New Roman" panose="02020603050405020304" pitchFamily="18" charset="0"/>
                </a:endParaRPr>
              </a:p>
              <a:p>
                <a:pPr marL="530860"/>
                <a:endParaRPr lang="en-US" altLang="zh-CN" sz="2000" dirty="0">
                  <a:latin typeface="Times New Roman" panose="02020603050405020304" pitchFamily="18" charset="0"/>
                  <a:cs typeface="Times New Roman" panose="02020603050405020304" pitchFamily="18" charset="0"/>
                </a:endParaRPr>
              </a:p>
              <a:p>
                <a:pPr marL="530860"/>
                <a:endParaRPr lang="en-US" altLang="zh-CN" sz="2000" dirty="0">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Note that the so-called</a:t>
                </a:r>
                <a:r>
                  <a:rPr lang="en-US" altLang="zh-CN" sz="2400" dirty="0">
                    <a:solidFill>
                      <a:srgbClr val="2926BF"/>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2400" i="1" dirty="0">
                            <a:solidFill>
                              <a:srgbClr val="2926BF"/>
                            </a:solidFill>
                            <a:latin typeface="Cambria Math" panose="02040503050406030204" pitchFamily="18" charset="0"/>
                          </a:rPr>
                        </m:ctrlPr>
                      </m:sSubPr>
                      <m:e>
                        <m:r>
                          <a:rPr lang="en-US" altLang="zh-CN" sz="2400" i="1" dirty="0">
                            <a:solidFill>
                              <a:srgbClr val="2926BF"/>
                            </a:solidFill>
                            <a:latin typeface="Cambria Math" panose="02040503050406030204" pitchFamily="18" charset="0"/>
                          </a:rPr>
                          <m:t>𝑑</m:t>
                        </m:r>
                      </m:e>
                      <m:sub>
                        <m:r>
                          <a:rPr lang="en-US" altLang="zh-CN" sz="2400" i="1" dirty="0">
                            <a:solidFill>
                              <a:srgbClr val="2926BF"/>
                            </a:solidFill>
                            <a:latin typeface="Cambria Math" panose="02040503050406030204" pitchFamily="18" charset="0"/>
                          </a:rPr>
                          <m:t>𝑧</m:t>
                        </m:r>
                        <m:r>
                          <a:rPr lang="en-US" altLang="zh-CN" sz="2400" i="1" baseline="30000" dirty="0">
                            <a:solidFill>
                              <a:srgbClr val="2926BF"/>
                            </a:solidFill>
                            <a:latin typeface="Cambria Math" panose="02040503050406030204" pitchFamily="18" charset="0"/>
                          </a:rPr>
                          <m:t>2</m:t>
                        </m:r>
                      </m:sub>
                    </m:sSub>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orbital is in fact proportional to </a:t>
                </a:r>
                <a14:m>
                  <m:oMath xmlns:m="http://schemas.openxmlformats.org/officeDocument/2006/math">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3</m:t>
                    </m:r>
                    <m:r>
                      <a:rPr lang="en-US" altLang="zh-CN" sz="2400" i="1" dirty="0">
                        <a:solidFill>
                          <a:srgbClr val="2926BF"/>
                        </a:solidFill>
                        <a:latin typeface="Cambria Math" panose="02040503050406030204" pitchFamily="18" charset="0"/>
                      </a:rPr>
                      <m:t>𝑧</m:t>
                    </m:r>
                    <m:r>
                      <a:rPr lang="en-US" altLang="zh-CN" sz="2400" i="1" baseline="30000" dirty="0">
                        <a:solidFill>
                          <a:srgbClr val="2926BF"/>
                        </a:solidFill>
                        <a:latin typeface="Cambria Math" panose="02040503050406030204" pitchFamily="18" charset="0"/>
                      </a:rPr>
                      <m:t>2</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𝑟</m:t>
                    </m:r>
                    <m:r>
                      <a:rPr lang="en-US" altLang="zh-CN" sz="2400" i="1" baseline="30000" dirty="0">
                        <a:solidFill>
                          <a:srgbClr val="2926BF"/>
                        </a:solidFill>
                        <a:latin typeface="Cambria Math" panose="02040503050406030204" pitchFamily="18" charset="0"/>
                      </a:rPr>
                      <m:t>2</m:t>
                    </m:r>
                    <m:r>
                      <a:rPr lang="en-US" altLang="zh-CN" sz="2400" i="1" dirty="0">
                        <a:solidFill>
                          <a:srgbClr val="2926BF"/>
                        </a:solidFill>
                        <a:latin typeface="Cambria Math" panose="02040503050406030204" pitchFamily="18" charset="0"/>
                      </a:rPr>
                      <m:t>)</m:t>
                    </m:r>
                  </m:oMath>
                </a14:m>
                <a:r>
                  <a:rPr lang="en-US" altLang="zh-CN" sz="2400" dirty="0">
                    <a:solidFill>
                      <a:srgbClr val="2926BF"/>
                    </a:solidFill>
                    <a:latin typeface="Times New Roman" panose="02020603050405020304" pitchFamily="18" charset="0"/>
                    <a:cs typeface="Times New Roman" panose="02020603050405020304" pitchFamily="18" charset="0"/>
                  </a:rPr>
                  <a:t>.</a:t>
                </a:r>
                <a:endParaRPr lang="en-US" altLang="zh-CN" sz="2400" dirty="0">
                  <a:solidFill>
                    <a:srgbClr val="2926BF"/>
                  </a:solidFill>
                  <a:latin typeface="Times New Roman" panose="02020603050405020304" pitchFamily="18" charset="0"/>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2094028" y="1376386"/>
                <a:ext cx="8899091" cy="4688463"/>
              </a:xfrm>
              <a:prstGeom prst="rect">
                <a:avLst/>
              </a:prstGeom>
              <a:blipFill rotWithShape="1">
                <a:blip r:embed="rId1"/>
                <a:stretch>
                  <a:fillRect l="-5" t="-7" r="7" b="13"/>
                </a:stretch>
              </a:blipFill>
            </p:spPr>
            <p:txBody>
              <a:bodyPr/>
              <a:lstStyle/>
              <a:p>
                <a:r>
                  <a:rPr lang="zh-CN" altLang="en-US">
                    <a:noFill/>
                  </a:rPr>
                  <a:t> </a:t>
                </a:r>
              </a:p>
            </p:txBody>
          </p:sp>
        </mc:Fallback>
      </mc:AlternateContent>
      <p:graphicFrame>
        <p:nvGraphicFramePr>
          <p:cNvPr id="4" name="对象 3"/>
          <p:cNvGraphicFramePr>
            <a:graphicFrameLocks noChangeAspect="1"/>
          </p:cNvGraphicFramePr>
          <p:nvPr/>
        </p:nvGraphicFramePr>
        <p:xfrm>
          <a:off x="3300909" y="1995590"/>
          <a:ext cx="4471591" cy="3244919"/>
        </p:xfrm>
        <a:graphic>
          <a:graphicData uri="http://schemas.openxmlformats.org/presentationml/2006/ole">
            <mc:AlternateContent xmlns:mc="http://schemas.openxmlformats.org/markup-compatibility/2006">
              <mc:Choice xmlns:v="urn:schemas-microsoft-com:vml" Requires="v">
                <p:oleObj spid="_x0000_s5" name="Equation" r:id="rId2" imgW="55168800" imgH="40233600" progId="Equation.DSMT4">
                  <p:embed/>
                </p:oleObj>
              </mc:Choice>
              <mc:Fallback>
                <p:oleObj name="Equation" r:id="rId2" imgW="55168800" imgH="40233600" progId="Equation.DSMT4">
                  <p:embed/>
                  <p:pic>
                    <p:nvPicPr>
                      <p:cNvPr id="0" name="图片 4"/>
                      <p:cNvPicPr/>
                      <p:nvPr/>
                    </p:nvPicPr>
                    <p:blipFill>
                      <a:blip r:embed="rId3"/>
                      <a:stretch>
                        <a:fillRect/>
                      </a:stretch>
                    </p:blipFill>
                    <p:spPr>
                      <a:xfrm>
                        <a:off x="3300909" y="1995590"/>
                        <a:ext cx="4471591" cy="3244919"/>
                      </a:xfrm>
                      <a:prstGeom prst="rect">
                        <a:avLst/>
                      </a:prstGeom>
                    </p:spPr>
                  </p:pic>
                </p:oleObj>
              </mc:Fallback>
            </mc:AlternateContent>
          </a:graphicData>
        </a:graphic>
      </p:graphicFrame>
      <mc:AlternateContent xmlns:mc="http://schemas.openxmlformats.org/markup-compatibility/2006">
        <mc:Choice xmlns:a14="http://schemas.microsoft.com/office/drawing/2010/main" Requires="a14">
          <p:sp>
            <p:nvSpPr>
              <p:cNvPr id="6" name="矩形 5"/>
              <p:cNvSpPr/>
              <p:nvPr/>
            </p:nvSpPr>
            <p:spPr>
              <a:xfrm>
                <a:off x="8241926" y="2081410"/>
                <a:ext cx="1087029"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sz="2400" i="1" dirty="0">
                          <a:solidFill>
                            <a:srgbClr val="0C0CFE"/>
                          </a:solidFill>
                          <a:latin typeface="Cambria Math" panose="02040503050406030204" pitchFamily="18" charset="0"/>
                        </a:rPr>
                        <m:t>𝑚</m:t>
                      </m:r>
                      <m:r>
                        <a:rPr lang="en-US" altLang="zh-CN" sz="2400" i="1" dirty="0">
                          <a:solidFill>
                            <a:srgbClr val="0C0CFE"/>
                          </a:solidFill>
                          <a:latin typeface="Cambria Math" panose="02040503050406030204" pitchFamily="18" charset="0"/>
                        </a:rPr>
                        <m:t>=</m:t>
                      </m:r>
                      <m:r>
                        <a:rPr lang="en-US" altLang="zh-CN" sz="2400" i="1" dirty="0">
                          <a:solidFill>
                            <a:srgbClr val="0C0CFE"/>
                          </a:solidFill>
                          <a:latin typeface="Cambria Math" panose="02040503050406030204" pitchFamily="18" charset="0"/>
                        </a:rPr>
                        <m:t>0</m:t>
                      </m:r>
                    </m:oMath>
                  </m:oMathPara>
                </a14:m>
                <a:endParaRPr lang="zh-CN" altLang="en-US" sz="2400" dirty="0">
                  <a:solidFill>
                    <a:srgbClr val="0C0CFE"/>
                  </a:solidFill>
                </a:endParaRPr>
              </a:p>
            </p:txBody>
          </p:sp>
        </mc:Choice>
        <mc:Fallback>
          <p:sp>
            <p:nvSpPr>
              <p:cNvPr id="6" name="矩形 5"/>
              <p:cNvSpPr>
                <a:spLocks noRot="1" noChangeAspect="1" noMove="1" noResize="1" noEditPoints="1" noAdjustHandles="1" noChangeArrowheads="1" noChangeShapeType="1" noTextEdit="1"/>
              </p:cNvSpPr>
              <p:nvPr/>
            </p:nvSpPr>
            <p:spPr>
              <a:xfrm>
                <a:off x="8241926" y="2081410"/>
                <a:ext cx="1087029" cy="461665"/>
              </a:xfrm>
              <a:prstGeom prst="rect">
                <a:avLst/>
              </a:prstGeom>
              <a:blipFill rotWithShape="1">
                <a:blip r:embed="rId4"/>
                <a:stretch>
                  <a:fillRect l="-24" t="-112" r="16" b="1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矩形 6"/>
              <p:cNvSpPr/>
              <p:nvPr/>
            </p:nvSpPr>
            <p:spPr>
              <a:xfrm>
                <a:off x="8241925" y="3041104"/>
                <a:ext cx="1316258"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sz="2400" i="1" dirty="0">
                          <a:solidFill>
                            <a:srgbClr val="0C0CFE"/>
                          </a:solidFill>
                          <a:latin typeface="Cambria Math" panose="02040503050406030204" pitchFamily="18" charset="0"/>
                        </a:rPr>
                        <m:t>𝑚</m:t>
                      </m:r>
                      <m:r>
                        <a:rPr lang="en-US" altLang="zh-CN" sz="2400" i="1" dirty="0">
                          <a:solidFill>
                            <a:srgbClr val="0C0CFE"/>
                          </a:solidFill>
                          <a:latin typeface="Cambria Math" panose="02040503050406030204" pitchFamily="18" charset="0"/>
                        </a:rPr>
                        <m:t>=±</m:t>
                      </m:r>
                      <m:r>
                        <a:rPr lang="en-US" altLang="zh-CN" sz="2400" i="1" dirty="0">
                          <a:solidFill>
                            <a:srgbClr val="0C0CFE"/>
                          </a:solidFill>
                          <a:latin typeface="Cambria Math" panose="02040503050406030204" pitchFamily="18" charset="0"/>
                        </a:rPr>
                        <m:t>1</m:t>
                      </m:r>
                    </m:oMath>
                  </m:oMathPara>
                </a14:m>
                <a:endParaRPr lang="zh-CN" altLang="en-US" sz="2400" dirty="0">
                  <a:solidFill>
                    <a:srgbClr val="0C0CFE"/>
                  </a:solidFill>
                </a:endParaRPr>
              </a:p>
            </p:txBody>
          </p:sp>
        </mc:Choice>
        <mc:Fallback>
          <p:sp>
            <p:nvSpPr>
              <p:cNvPr id="7" name="矩形 6"/>
              <p:cNvSpPr>
                <a:spLocks noRot="1" noChangeAspect="1" noMove="1" noResize="1" noEditPoints="1" noAdjustHandles="1" noChangeArrowheads="1" noChangeShapeType="1" noTextEdit="1"/>
              </p:cNvSpPr>
              <p:nvPr/>
            </p:nvSpPr>
            <p:spPr>
              <a:xfrm>
                <a:off x="8241925" y="3041104"/>
                <a:ext cx="1316258" cy="461665"/>
              </a:xfrm>
              <a:prstGeom prst="rect">
                <a:avLst/>
              </a:prstGeom>
              <a:blipFill rotWithShape="1">
                <a:blip r:embed="rId5"/>
                <a:stretch>
                  <a:fillRect l="-20" t="-19" r="12"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nvSpPr>
            <p:spPr>
              <a:xfrm>
                <a:off x="8241925" y="4339206"/>
                <a:ext cx="1316258"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sz="2400" i="1" dirty="0">
                          <a:solidFill>
                            <a:srgbClr val="0C0CFE"/>
                          </a:solidFill>
                          <a:latin typeface="Cambria Math" panose="02040503050406030204" pitchFamily="18" charset="0"/>
                        </a:rPr>
                        <m:t>𝑚</m:t>
                      </m:r>
                      <m:r>
                        <a:rPr lang="en-US" altLang="zh-CN" sz="2400" i="1" dirty="0">
                          <a:solidFill>
                            <a:srgbClr val="0C0CFE"/>
                          </a:solidFill>
                          <a:latin typeface="Cambria Math" panose="02040503050406030204" pitchFamily="18" charset="0"/>
                        </a:rPr>
                        <m:t>=±</m:t>
                      </m:r>
                      <m:r>
                        <a:rPr lang="en-US" altLang="zh-CN" sz="2400" i="1" dirty="0">
                          <a:solidFill>
                            <a:srgbClr val="0C0CFE"/>
                          </a:solidFill>
                          <a:latin typeface="Cambria Math" panose="02040503050406030204" pitchFamily="18" charset="0"/>
                        </a:rPr>
                        <m:t>2</m:t>
                      </m:r>
                    </m:oMath>
                  </m:oMathPara>
                </a14:m>
                <a:endParaRPr lang="zh-CN" altLang="en-US" sz="2400" dirty="0">
                  <a:solidFill>
                    <a:srgbClr val="0C0CFE"/>
                  </a:solidFill>
                </a:endParaRPr>
              </a:p>
            </p:txBody>
          </p:sp>
        </mc:Choice>
        <mc:Fallback>
          <p:sp>
            <p:nvSpPr>
              <p:cNvPr id="8" name="矩形 7"/>
              <p:cNvSpPr>
                <a:spLocks noRot="1" noChangeAspect="1" noMove="1" noResize="1" noEditPoints="1" noAdjustHandles="1" noChangeArrowheads="1" noChangeShapeType="1" noTextEdit="1"/>
              </p:cNvSpPr>
              <p:nvPr/>
            </p:nvSpPr>
            <p:spPr>
              <a:xfrm>
                <a:off x="8241925" y="4339206"/>
                <a:ext cx="1316258" cy="461665"/>
              </a:xfrm>
              <a:prstGeom prst="rect">
                <a:avLst/>
              </a:prstGeom>
              <a:blipFill rotWithShape="1">
                <a:blip r:embed="rId6"/>
                <a:stretch>
                  <a:fillRect l="-20" t="-54" r="12" b="59"/>
                </a:stretch>
              </a:blipFill>
            </p:spPr>
            <p:txBody>
              <a:bodyPr/>
              <a:lstStyle/>
              <a:p>
                <a:r>
                  <a:rPr lang="zh-CN" altLang="en-US">
                    <a:noFill/>
                  </a:rPr>
                  <a:t> </a:t>
                </a:r>
              </a:p>
            </p:txBody>
          </p:sp>
        </mc:Fallback>
      </mc:AlternateContent>
      <p:sp>
        <p:nvSpPr>
          <p:cNvPr id="9" name="右大括号 8"/>
          <p:cNvSpPr/>
          <p:nvPr/>
        </p:nvSpPr>
        <p:spPr>
          <a:xfrm>
            <a:off x="7879604" y="2872932"/>
            <a:ext cx="185531" cy="844826"/>
          </a:xfrm>
          <a:prstGeom prst="rightBrace">
            <a:avLst/>
          </a:prstGeom>
          <a:ln w="28575">
            <a:solidFill>
              <a:srgbClr val="0C0CF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右大括号 9"/>
          <p:cNvSpPr/>
          <p:nvPr/>
        </p:nvSpPr>
        <p:spPr>
          <a:xfrm>
            <a:off x="7879603" y="4069306"/>
            <a:ext cx="185531" cy="1001462"/>
          </a:xfrm>
          <a:prstGeom prst="rightBrace">
            <a:avLst/>
          </a:prstGeom>
          <a:ln w="28575">
            <a:solidFill>
              <a:srgbClr val="0C0CF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12" name="灯片编号占位符 11"/>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132.205.57.9/facstaff/a-c/bird/c241/images/3ds.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38275" y="76200"/>
            <a:ext cx="6419850" cy="6858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aphicFrame>
        <p:nvGraphicFramePr>
          <p:cNvPr id="5" name="Object 5"/>
          <p:cNvGraphicFramePr>
            <a:graphicFrameLocks noChangeAspect="1"/>
          </p:cNvGraphicFramePr>
          <p:nvPr/>
        </p:nvGraphicFramePr>
        <p:xfrm>
          <a:off x="440531" y="4114800"/>
          <a:ext cx="1995488" cy="612775"/>
        </p:xfrm>
        <a:graphic>
          <a:graphicData uri="http://schemas.openxmlformats.org/presentationml/2006/ole">
            <mc:AlternateContent xmlns:mc="http://schemas.openxmlformats.org/markup-compatibility/2006">
              <mc:Choice xmlns:v="urn:schemas-microsoft-com:vml" Requires="v">
                <p:oleObj spid="_x0000_s2" name="" r:id="rId2" imgW="1459865" imgH="444500" progId="Equation.DSMT4">
                  <p:embed/>
                </p:oleObj>
              </mc:Choice>
              <mc:Fallback>
                <p:oleObj name="" r:id="rId2" imgW="1459865" imgH="444500" progId="Equation.DSMT4">
                  <p:embed/>
                  <p:pic>
                    <p:nvPicPr>
                      <p:cNvPr id="0"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531" y="4114800"/>
                        <a:ext cx="1995488" cy="612775"/>
                      </a:xfrm>
                      <a:prstGeom prst="rect">
                        <a:avLst/>
                      </a:prstGeom>
                      <a:solidFill>
                        <a:schemeClr val="bg1"/>
                      </a:solidFill>
                      <a:ln w="9525">
                        <a:solidFill>
                          <a:srgbClr val="FF0000"/>
                        </a:solidFill>
                        <a:miter lim="800000"/>
                        <a:headEnd/>
                        <a:tailEnd/>
                      </a:ln>
                    </p:spPr>
                  </p:pic>
                </p:oleObj>
              </mc:Fallback>
            </mc:AlternateContent>
          </a:graphicData>
        </a:graphic>
      </p:graphicFrame>
      <p:graphicFrame>
        <p:nvGraphicFramePr>
          <p:cNvPr id="6" name="Object 6"/>
          <p:cNvGraphicFramePr>
            <a:graphicFrameLocks noChangeAspect="1"/>
          </p:cNvGraphicFramePr>
          <p:nvPr/>
        </p:nvGraphicFramePr>
        <p:xfrm>
          <a:off x="1925854" y="5361271"/>
          <a:ext cx="1981200" cy="612775"/>
        </p:xfrm>
        <a:graphic>
          <a:graphicData uri="http://schemas.openxmlformats.org/presentationml/2006/ole">
            <mc:AlternateContent xmlns:mc="http://schemas.openxmlformats.org/markup-compatibility/2006">
              <mc:Choice xmlns:v="urn:schemas-microsoft-com:vml" Requires="v">
                <p:oleObj spid="_x0000_s3" name="" r:id="rId4" imgW="1447165" imgH="444500" progId="Equation.DSMT4">
                  <p:embed/>
                </p:oleObj>
              </mc:Choice>
              <mc:Fallback>
                <p:oleObj name="" r:id="rId4" imgW="1447165" imgH="444500" progId="Equation.DSMT4">
                  <p:embed/>
                  <p:pic>
                    <p:nvPicPr>
                      <p:cNvPr id="0" name="图片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5854" y="5361271"/>
                        <a:ext cx="1981200" cy="612775"/>
                      </a:xfrm>
                      <a:prstGeom prst="rect">
                        <a:avLst/>
                      </a:prstGeom>
                      <a:solidFill>
                        <a:schemeClr val="bg1"/>
                      </a:solidFill>
                      <a:ln w="9525">
                        <a:solidFill>
                          <a:srgbClr val="FF0000"/>
                        </a:solidFill>
                        <a:miter lim="800000"/>
                        <a:headEnd/>
                        <a:tailEnd/>
                      </a:ln>
                    </p:spPr>
                  </p:pic>
                </p:oleObj>
              </mc:Fallback>
            </mc:AlternateContent>
          </a:graphicData>
        </a:graphic>
      </p:graphicFrame>
      <p:graphicFrame>
        <p:nvGraphicFramePr>
          <p:cNvPr id="7" name="Object 7"/>
          <p:cNvGraphicFramePr>
            <a:graphicFrameLocks noChangeAspect="1"/>
          </p:cNvGraphicFramePr>
          <p:nvPr/>
        </p:nvGraphicFramePr>
        <p:xfrm>
          <a:off x="465221" y="609600"/>
          <a:ext cx="2209800" cy="669925"/>
        </p:xfrm>
        <a:graphic>
          <a:graphicData uri="http://schemas.openxmlformats.org/presentationml/2006/ole">
            <mc:AlternateContent xmlns:mc="http://schemas.openxmlformats.org/markup-compatibility/2006">
              <mc:Choice xmlns:v="urn:schemas-microsoft-com:vml" Requires="v">
                <p:oleObj spid="_x0000_s8" name="" r:id="rId6" imgW="1473200" imgH="444500" progId="Equation.DSMT4">
                  <p:embed/>
                </p:oleObj>
              </mc:Choice>
              <mc:Fallback>
                <p:oleObj name="" r:id="rId6" imgW="1473200" imgH="444500" progId="Equation.DSMT4">
                  <p:embed/>
                  <p:pic>
                    <p:nvPicPr>
                      <p:cNvPr id="0" name="图片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5221" y="609600"/>
                        <a:ext cx="2209800" cy="669925"/>
                      </a:xfrm>
                      <a:prstGeom prst="rect">
                        <a:avLst/>
                      </a:prstGeom>
                      <a:solidFill>
                        <a:schemeClr val="bg1"/>
                      </a:solidFill>
                      <a:ln w="9525">
                        <a:solidFill>
                          <a:srgbClr val="FF0000"/>
                        </a:solidFill>
                        <a:miter lim="800000"/>
                        <a:headEnd/>
                        <a:tailEnd/>
                      </a:ln>
                    </p:spPr>
                  </p:pic>
                </p:oleObj>
              </mc:Fallback>
            </mc:AlternateContent>
          </a:graphicData>
        </a:graphic>
      </p:graphicFrame>
      <p:graphicFrame>
        <p:nvGraphicFramePr>
          <p:cNvPr id="9" name="Object 8"/>
          <p:cNvGraphicFramePr>
            <a:graphicFrameLocks noChangeAspect="1"/>
          </p:cNvGraphicFramePr>
          <p:nvPr/>
        </p:nvGraphicFramePr>
        <p:xfrm>
          <a:off x="5291221" y="762000"/>
          <a:ext cx="2641600" cy="693738"/>
        </p:xfrm>
        <a:graphic>
          <a:graphicData uri="http://schemas.openxmlformats.org/presentationml/2006/ole">
            <mc:AlternateContent xmlns:mc="http://schemas.openxmlformats.org/markup-compatibility/2006">
              <mc:Choice xmlns:v="urn:schemas-microsoft-com:vml" Requires="v">
                <p:oleObj spid="_x0000_s10" name="" r:id="rId8" imgW="1701800" imgH="444500" progId="Equation.DSMT4">
                  <p:embed/>
                </p:oleObj>
              </mc:Choice>
              <mc:Fallback>
                <p:oleObj name="" r:id="rId8" imgW="1701800" imgH="444500" progId="Equation.DSMT4">
                  <p:embed/>
                  <p:pic>
                    <p:nvPicPr>
                      <p:cNvPr id="0" name="图片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91221" y="762000"/>
                        <a:ext cx="2641600" cy="693738"/>
                      </a:xfrm>
                      <a:prstGeom prst="rect">
                        <a:avLst/>
                      </a:prstGeom>
                      <a:solidFill>
                        <a:schemeClr val="bg1"/>
                      </a:solidFill>
                      <a:ln w="9525">
                        <a:solidFill>
                          <a:srgbClr val="FF0000"/>
                        </a:solidFill>
                        <a:miter lim="800000"/>
                        <a:headEnd/>
                        <a:tailEnd/>
                      </a:ln>
                    </p:spPr>
                  </p:pic>
                </p:oleObj>
              </mc:Fallback>
            </mc:AlternateContent>
          </a:graphicData>
        </a:graphic>
      </p:graphicFrame>
      <p:graphicFrame>
        <p:nvGraphicFramePr>
          <p:cNvPr id="11" name="Object 9"/>
          <p:cNvGraphicFramePr>
            <a:graphicFrameLocks noChangeAspect="1"/>
          </p:cNvGraphicFramePr>
          <p:nvPr/>
        </p:nvGraphicFramePr>
        <p:xfrm>
          <a:off x="5430921" y="4114800"/>
          <a:ext cx="2362200" cy="693737"/>
        </p:xfrm>
        <a:graphic>
          <a:graphicData uri="http://schemas.openxmlformats.org/presentationml/2006/ole">
            <mc:AlternateContent xmlns:mc="http://schemas.openxmlformats.org/markup-compatibility/2006">
              <mc:Choice xmlns:v="urn:schemas-microsoft-com:vml" Requires="v">
                <p:oleObj spid="_x0000_s12" name="" r:id="rId10" imgW="1524000" imgH="444500" progId="Equation.DSMT4">
                  <p:embed/>
                </p:oleObj>
              </mc:Choice>
              <mc:Fallback>
                <p:oleObj name="" r:id="rId10" imgW="1524000" imgH="444500" progId="Equation.DSMT4">
                  <p:embed/>
                  <p:pic>
                    <p:nvPicPr>
                      <p:cNvPr id="0" name="图片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30921" y="4114800"/>
                        <a:ext cx="2362200" cy="693737"/>
                      </a:xfrm>
                      <a:prstGeom prst="rect">
                        <a:avLst/>
                      </a:prstGeom>
                      <a:solidFill>
                        <a:schemeClr val="bg1"/>
                      </a:solidFill>
                      <a:ln w="9525">
                        <a:solidFill>
                          <a:srgbClr val="FF0000"/>
                        </a:solidFill>
                        <a:miter lim="800000"/>
                        <a:headEnd/>
                        <a:tailEnd/>
                      </a:ln>
                    </p:spPr>
                  </p:pic>
                </p:oleObj>
              </mc:Fallback>
            </mc:AlternateContent>
          </a:graphicData>
        </a:graphic>
      </p:graphicFrame>
      <p:sp>
        <p:nvSpPr>
          <p:cNvPr id="13" name="Text Box 10"/>
          <p:cNvSpPr txBox="1">
            <a:spLocks noChangeArrowheads="1"/>
          </p:cNvSpPr>
          <p:nvPr/>
        </p:nvSpPr>
        <p:spPr bwMode="auto">
          <a:xfrm>
            <a:off x="107141" y="76200"/>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defTabSz="914400" eaLnBrk="1" fontAlgn="base" hangingPunct="1">
              <a:spcBef>
                <a:spcPct val="50000"/>
              </a:spcBef>
              <a:spcAft>
                <a:spcPct val="0"/>
              </a:spcAft>
              <a:defRPr/>
            </a:pPr>
            <a:r>
              <a:rPr lang="en-US" altLang="zh-CN" kern="0" dirty="0">
                <a:solidFill>
                  <a:prstClr val="black"/>
                </a:solidFill>
              </a:rPr>
              <a:t>d-Orbital</a:t>
            </a:r>
            <a:endParaRPr lang="en-US" altLang="zh-CN" kern="0" baseline="-25000" dirty="0">
              <a:solidFill>
                <a:prstClr val="black"/>
              </a:solidFill>
            </a:endParaRPr>
          </a:p>
        </p:txBody>
      </p:sp>
      <p:cxnSp>
        <p:nvCxnSpPr>
          <p:cNvPr id="14" name="直接连接符 13"/>
          <p:cNvCxnSpPr/>
          <p:nvPr/>
        </p:nvCxnSpPr>
        <p:spPr>
          <a:xfrm>
            <a:off x="8123722" y="173255"/>
            <a:ext cx="90865" cy="65740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ectangle 8"/>
          <p:cNvSpPr>
            <a:spLocks noChangeArrowheads="1"/>
          </p:cNvSpPr>
          <p:nvPr/>
        </p:nvSpPr>
        <p:spPr bwMode="auto">
          <a:xfrm>
            <a:off x="8507253" y="3505200"/>
            <a:ext cx="719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defRPr/>
            </a:pPr>
            <a:r>
              <a:rPr kumimoji="1" lang="en-US" altLang="zh-CN" sz="2400" kern="0" dirty="0">
                <a:solidFill>
                  <a:prstClr val="black"/>
                </a:solidFill>
                <a:latin typeface="Times New Roman" panose="02020603050405020304" pitchFamily="18" charset="0"/>
              </a:rPr>
              <a:t>Y</a:t>
            </a:r>
            <a:r>
              <a:rPr kumimoji="1" lang="en-US" altLang="zh-CN" sz="2400" kern="0" baseline="-25000" dirty="0">
                <a:solidFill>
                  <a:prstClr val="black"/>
                </a:solidFill>
                <a:latin typeface="Times New Roman" panose="02020603050405020304" pitchFamily="18" charset="0"/>
              </a:rPr>
              <a:t>2</a:t>
            </a:r>
            <a:r>
              <a:rPr kumimoji="1" lang="en-US" altLang="zh-CN" sz="2400" kern="0" baseline="-25000" dirty="0">
                <a:solidFill>
                  <a:prstClr val="black"/>
                </a:solidFill>
                <a:latin typeface="Times New Roman" panose="02020603050405020304" pitchFamily="18" charset="0"/>
                <a:cs typeface="Times New Roman" panose="02020603050405020304" pitchFamily="18" charset="0"/>
                <a:sym typeface="Symbol" panose="05050102010706020507" pitchFamily="18" charset="2"/>
              </a:rPr>
              <a:t>2</a:t>
            </a:r>
            <a:endParaRPr kumimoji="1" lang="en-US" altLang="zh-CN" sz="2400" kern="0" baseline="-25000" dirty="0">
              <a:solidFill>
                <a:prstClr val="black"/>
              </a:solidFill>
              <a:latin typeface="Times New Roman" panose="02020603050405020304" pitchFamily="18" charset="0"/>
            </a:endParaRPr>
          </a:p>
        </p:txBody>
      </p:sp>
      <p:sp>
        <p:nvSpPr>
          <p:cNvPr id="16" name="Rectangle 6"/>
          <p:cNvSpPr>
            <a:spLocks noChangeArrowheads="1"/>
          </p:cNvSpPr>
          <p:nvPr/>
        </p:nvSpPr>
        <p:spPr bwMode="auto">
          <a:xfrm>
            <a:off x="8488440" y="1998764"/>
            <a:ext cx="719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defRPr/>
            </a:pPr>
            <a:r>
              <a:rPr kumimoji="1" lang="en-US" altLang="zh-CN" sz="2400" kern="0" dirty="0">
                <a:solidFill>
                  <a:prstClr val="black"/>
                </a:solidFill>
                <a:latin typeface="Times New Roman" panose="02020603050405020304" pitchFamily="18" charset="0"/>
              </a:rPr>
              <a:t>Y</a:t>
            </a:r>
            <a:r>
              <a:rPr kumimoji="1" lang="en-US" altLang="zh-CN" sz="2400" kern="0" baseline="-25000" dirty="0">
                <a:solidFill>
                  <a:prstClr val="black"/>
                </a:solidFill>
                <a:latin typeface="Times New Roman" panose="02020603050405020304" pitchFamily="18" charset="0"/>
              </a:rPr>
              <a:t>2</a:t>
            </a:r>
            <a:r>
              <a:rPr kumimoji="1" lang="en-US" altLang="zh-CN" sz="2400" kern="0" baseline="-25000" dirty="0">
                <a:solidFill>
                  <a:prstClr val="black"/>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400" kern="0" baseline="-25000" dirty="0">
                <a:solidFill>
                  <a:prstClr val="black"/>
                </a:solidFill>
                <a:latin typeface="Times New Roman" panose="02020603050405020304" pitchFamily="18" charset="0"/>
              </a:rPr>
              <a:t>1</a:t>
            </a:r>
            <a:endParaRPr kumimoji="1" lang="en-US" altLang="zh-CN" sz="2400" kern="0" baseline="-25000" dirty="0">
              <a:solidFill>
                <a:prstClr val="black"/>
              </a:solidFill>
              <a:latin typeface="Times New Roman" panose="02020603050405020304" pitchFamily="18" charset="0"/>
            </a:endParaRPr>
          </a:p>
        </p:txBody>
      </p:sp>
      <p:sp>
        <p:nvSpPr>
          <p:cNvPr id="17" name="Rectangle 7"/>
          <p:cNvSpPr>
            <a:spLocks noChangeArrowheads="1"/>
          </p:cNvSpPr>
          <p:nvPr/>
        </p:nvSpPr>
        <p:spPr bwMode="auto">
          <a:xfrm>
            <a:off x="8405488" y="487362"/>
            <a:ext cx="608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914400" fontAlgn="base">
              <a:spcBef>
                <a:spcPct val="0"/>
              </a:spcBef>
              <a:spcAft>
                <a:spcPct val="0"/>
              </a:spcAft>
              <a:defRPr/>
            </a:pPr>
            <a:r>
              <a:rPr kumimoji="1" lang="en-US" altLang="zh-CN" sz="2400" kern="0" dirty="0">
                <a:solidFill>
                  <a:prstClr val="black"/>
                </a:solidFill>
                <a:latin typeface="Times New Roman" panose="02020603050405020304" pitchFamily="18" charset="0"/>
              </a:rPr>
              <a:t>Y</a:t>
            </a:r>
            <a:r>
              <a:rPr kumimoji="1" lang="en-US" altLang="zh-CN" sz="2400" kern="0" baseline="-25000" dirty="0">
                <a:solidFill>
                  <a:prstClr val="black"/>
                </a:solidFill>
                <a:latin typeface="Times New Roman" panose="02020603050405020304" pitchFamily="18" charset="0"/>
              </a:rPr>
              <a:t>20</a:t>
            </a:r>
            <a:endParaRPr kumimoji="1" lang="en-US" altLang="zh-CN" sz="2400" kern="0" baseline="-25000" dirty="0">
              <a:solidFill>
                <a:prstClr val="black"/>
              </a:solidFill>
              <a:latin typeface="Times New Roman" panose="02020603050405020304" pitchFamily="18" charset="0"/>
            </a:endParaRPr>
          </a:p>
        </p:txBody>
      </p:sp>
      <p:graphicFrame>
        <p:nvGraphicFramePr>
          <p:cNvPr id="18" name="Object 1"/>
          <p:cNvGraphicFramePr>
            <a:graphicFrameLocks noChangeAspect="1"/>
          </p:cNvGraphicFramePr>
          <p:nvPr/>
        </p:nvGraphicFramePr>
        <p:xfrm>
          <a:off x="9369425" y="944562"/>
          <a:ext cx="2209800" cy="669925"/>
        </p:xfrm>
        <a:graphic>
          <a:graphicData uri="http://schemas.openxmlformats.org/presentationml/2006/ole">
            <mc:AlternateContent xmlns:mc="http://schemas.openxmlformats.org/markup-compatibility/2006">
              <mc:Choice xmlns:v="urn:schemas-microsoft-com:vml" Requires="v">
                <p:oleObj spid="_x0000_s19" name="" r:id="rId12" imgW="1473200" imgH="444500" progId="Equation.DSMT4">
                  <p:embed/>
                </p:oleObj>
              </mc:Choice>
              <mc:Fallback>
                <p:oleObj name="" r:id="rId12" imgW="1473200" imgH="444500" progId="Equation.DSMT4">
                  <p:embed/>
                  <p:pic>
                    <p:nvPicPr>
                      <p:cNvPr id="0" name="图片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69425" y="944562"/>
                        <a:ext cx="2209800" cy="669925"/>
                      </a:xfrm>
                      <a:prstGeom prst="rect">
                        <a:avLst/>
                      </a:prstGeom>
                      <a:noFill/>
                    </p:spPr>
                  </p:pic>
                </p:oleObj>
              </mc:Fallback>
            </mc:AlternateContent>
          </a:graphicData>
        </a:graphic>
      </p:graphicFrame>
      <p:graphicFrame>
        <p:nvGraphicFramePr>
          <p:cNvPr id="20" name="Object 2"/>
          <p:cNvGraphicFramePr>
            <a:graphicFrameLocks noChangeAspect="1"/>
          </p:cNvGraphicFramePr>
          <p:nvPr/>
        </p:nvGraphicFramePr>
        <p:xfrm>
          <a:off x="9369425" y="2149576"/>
          <a:ext cx="1995488" cy="612775"/>
        </p:xfrm>
        <a:graphic>
          <a:graphicData uri="http://schemas.openxmlformats.org/presentationml/2006/ole">
            <mc:AlternateContent xmlns:mc="http://schemas.openxmlformats.org/markup-compatibility/2006">
              <mc:Choice xmlns:v="urn:schemas-microsoft-com:vml" Requires="v">
                <p:oleObj spid="_x0000_s21" name="" r:id="rId13" imgW="1459865" imgH="444500" progId="Equation.DSMT4">
                  <p:embed/>
                </p:oleObj>
              </mc:Choice>
              <mc:Fallback>
                <p:oleObj name="" r:id="rId13" imgW="1459865" imgH="444500" progId="Equation.DSMT4">
                  <p:embed/>
                  <p:pic>
                    <p:nvPicPr>
                      <p:cNvPr id="0" name="图片 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69425" y="2149576"/>
                        <a:ext cx="1995488" cy="612775"/>
                      </a:xfrm>
                      <a:prstGeom prst="rect">
                        <a:avLst/>
                      </a:prstGeom>
                      <a:noFill/>
                    </p:spPr>
                  </p:pic>
                </p:oleObj>
              </mc:Fallback>
            </mc:AlternateContent>
          </a:graphicData>
        </a:graphic>
      </p:graphicFrame>
      <p:graphicFrame>
        <p:nvGraphicFramePr>
          <p:cNvPr id="22" name="Object 3"/>
          <p:cNvGraphicFramePr>
            <a:graphicFrameLocks noChangeAspect="1"/>
          </p:cNvGraphicFramePr>
          <p:nvPr/>
        </p:nvGraphicFramePr>
        <p:xfrm>
          <a:off x="9369425" y="2835376"/>
          <a:ext cx="1981200" cy="612775"/>
        </p:xfrm>
        <a:graphic>
          <a:graphicData uri="http://schemas.openxmlformats.org/presentationml/2006/ole">
            <mc:AlternateContent xmlns:mc="http://schemas.openxmlformats.org/markup-compatibility/2006">
              <mc:Choice xmlns:v="urn:schemas-microsoft-com:vml" Requires="v">
                <p:oleObj spid="_x0000_s23" name="" r:id="rId14" imgW="1447165" imgH="444500" progId="Equation.DSMT4">
                  <p:embed/>
                </p:oleObj>
              </mc:Choice>
              <mc:Fallback>
                <p:oleObj name="" r:id="rId14" imgW="1447165" imgH="444500" progId="Equation.DSMT4">
                  <p:embed/>
                  <p:pic>
                    <p:nvPicPr>
                      <p:cNvPr id="0" name="图片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69425" y="2835376"/>
                        <a:ext cx="1981200" cy="612775"/>
                      </a:xfrm>
                      <a:prstGeom prst="rect">
                        <a:avLst/>
                      </a:prstGeom>
                      <a:noFill/>
                    </p:spPr>
                  </p:pic>
                </p:oleObj>
              </mc:Fallback>
            </mc:AlternateContent>
          </a:graphicData>
        </a:graphic>
      </p:graphicFrame>
      <p:graphicFrame>
        <p:nvGraphicFramePr>
          <p:cNvPr id="24" name="Object 4"/>
          <p:cNvGraphicFramePr>
            <a:graphicFrameLocks noChangeAspect="1"/>
          </p:cNvGraphicFramePr>
          <p:nvPr/>
        </p:nvGraphicFramePr>
        <p:xfrm>
          <a:off x="9369425" y="3829333"/>
          <a:ext cx="2641600" cy="693738"/>
        </p:xfrm>
        <a:graphic>
          <a:graphicData uri="http://schemas.openxmlformats.org/presentationml/2006/ole">
            <mc:AlternateContent xmlns:mc="http://schemas.openxmlformats.org/markup-compatibility/2006">
              <mc:Choice xmlns:v="urn:schemas-microsoft-com:vml" Requires="v">
                <p:oleObj spid="_x0000_s25" name="" r:id="rId15" imgW="1701800" imgH="444500" progId="Equation.DSMT4">
                  <p:embed/>
                </p:oleObj>
              </mc:Choice>
              <mc:Fallback>
                <p:oleObj name="" r:id="rId15" imgW="1701800" imgH="444500" progId="Equation.DSMT4">
                  <p:embed/>
                  <p:pic>
                    <p:nvPicPr>
                      <p:cNvPr id="0" name="图片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369425" y="3829333"/>
                        <a:ext cx="2641600" cy="693738"/>
                      </a:xfrm>
                      <a:prstGeom prst="rect">
                        <a:avLst/>
                      </a:prstGeom>
                      <a:noFill/>
                    </p:spPr>
                  </p:pic>
                </p:oleObj>
              </mc:Fallback>
            </mc:AlternateContent>
          </a:graphicData>
        </a:graphic>
      </p:graphicFrame>
      <p:graphicFrame>
        <p:nvGraphicFramePr>
          <p:cNvPr id="26" name="Object 5"/>
          <p:cNvGraphicFramePr>
            <a:graphicFrameLocks noChangeAspect="1"/>
          </p:cNvGraphicFramePr>
          <p:nvPr/>
        </p:nvGraphicFramePr>
        <p:xfrm>
          <a:off x="9369425" y="4667533"/>
          <a:ext cx="2362200" cy="693738"/>
        </p:xfrm>
        <a:graphic>
          <a:graphicData uri="http://schemas.openxmlformats.org/presentationml/2006/ole">
            <mc:AlternateContent xmlns:mc="http://schemas.openxmlformats.org/markup-compatibility/2006">
              <mc:Choice xmlns:v="urn:schemas-microsoft-com:vml" Requires="v">
                <p:oleObj spid="_x0000_s27" name="" r:id="rId16" imgW="1524000" imgH="444500" progId="Equation.DSMT4">
                  <p:embed/>
                </p:oleObj>
              </mc:Choice>
              <mc:Fallback>
                <p:oleObj name="" r:id="rId16" imgW="1524000" imgH="444500" progId="Equation.DSMT4">
                  <p:embed/>
                  <p:pic>
                    <p:nvPicPr>
                      <p:cNvPr id="0" name="图片 2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369425" y="4667533"/>
                        <a:ext cx="2362200" cy="693738"/>
                      </a:xfrm>
                      <a:prstGeom prst="rect">
                        <a:avLst/>
                      </a:prstGeom>
                      <a:noFill/>
                    </p:spPr>
                  </p:pic>
                </p:oleObj>
              </mc:Fallback>
            </mc:AlternateContent>
          </a:graphicData>
        </a:graphic>
      </p:graphicFrame>
      <p:sp>
        <p:nvSpPr>
          <p:cNvPr id="28" name="灯片编号占位符 27"/>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矩形 2"/>
              <p:cNvSpPr/>
              <p:nvPr/>
            </p:nvSpPr>
            <p:spPr>
              <a:xfrm>
                <a:off x="496772" y="556190"/>
                <a:ext cx="11198455" cy="5575950"/>
              </a:xfrm>
              <a:prstGeom prst="rect">
                <a:avLst/>
              </a:prstGeom>
            </p:spPr>
            <p:txBody>
              <a:bodyPr wrap="square">
                <a:spAutoFit/>
              </a:bodyPr>
              <a:lstStyle/>
              <a:p>
                <a:pPr>
                  <a:lnSpc>
                    <a:spcPct val="121000"/>
                  </a:lnSpc>
                  <a:spcAft>
                    <a:spcPts val="495"/>
                  </a:spcAft>
                </a:pPr>
                <a:r>
                  <a:rPr lang="en-US" altLang="zh-CN" sz="2400" dirty="0">
                    <a:latin typeface="Times New Roman" panose="02020603050405020304" pitchFamily="18" charset="0"/>
                    <a:cs typeface="Times New Roman" panose="02020603050405020304" pitchFamily="18" charset="0"/>
                  </a:rPr>
                  <a:t>The radial wavefunctions </a:t>
                </a:r>
                <a:r>
                  <a:rPr lang="en-US" altLang="zh-CN" sz="2400" i="1" dirty="0">
                    <a:solidFill>
                      <a:srgbClr val="2926BF"/>
                    </a:solidFill>
                    <a:latin typeface="Times New Roman" panose="02020603050405020304" pitchFamily="18" charset="0"/>
                    <a:cs typeface="Times New Roman" panose="02020603050405020304" pitchFamily="18" charset="0"/>
                  </a:rPr>
                  <a:t>R</a:t>
                </a:r>
                <a:r>
                  <a:rPr lang="en-US" altLang="zh-CN" sz="2400" baseline="-25000" dirty="0">
                    <a:solidFill>
                      <a:srgbClr val="2926BF"/>
                    </a:solidFill>
                    <a:latin typeface="Times New Roman" panose="02020603050405020304" pitchFamily="18" charset="0"/>
                    <a:cs typeface="Times New Roman" panose="02020603050405020304" pitchFamily="18" charset="0"/>
                  </a:rPr>
                  <a:t>1</a:t>
                </a:r>
                <a:r>
                  <a:rPr lang="en-US" altLang="zh-CN" sz="2400" i="1" baseline="-25000" dirty="0">
                    <a:solidFill>
                      <a:srgbClr val="2926BF"/>
                    </a:solidFill>
                    <a:latin typeface="Times New Roman" panose="02020603050405020304" pitchFamily="18" charset="0"/>
                    <a:cs typeface="Times New Roman" panose="02020603050405020304" pitchFamily="18" charset="0"/>
                  </a:rPr>
                  <a:t>s </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i="1" dirty="0">
                    <a:solidFill>
                      <a:srgbClr val="2926BF"/>
                    </a:solidFill>
                    <a:latin typeface="Times New Roman" panose="02020603050405020304" pitchFamily="18" charset="0"/>
                    <a:cs typeface="Times New Roman" panose="02020603050405020304" pitchFamily="18" charset="0"/>
                  </a:rPr>
                  <a:t>R</a:t>
                </a:r>
                <a:r>
                  <a:rPr lang="en-US" altLang="zh-CN" sz="2400" baseline="-25000" dirty="0">
                    <a:solidFill>
                      <a:srgbClr val="2926BF"/>
                    </a:solidFill>
                    <a:latin typeface="Times New Roman" panose="02020603050405020304" pitchFamily="18" charset="0"/>
                    <a:cs typeface="Times New Roman" panose="02020603050405020304" pitchFamily="18" charset="0"/>
                  </a:rPr>
                  <a:t>2</a:t>
                </a:r>
                <a:r>
                  <a:rPr lang="en-US" altLang="zh-CN" sz="2400" i="1" baseline="-25000" dirty="0">
                    <a:solidFill>
                      <a:srgbClr val="2926BF"/>
                    </a:solidFill>
                    <a:latin typeface="Times New Roman" panose="02020603050405020304" pitchFamily="18" charset="0"/>
                    <a:cs typeface="Times New Roman" panose="02020603050405020304" pitchFamily="18" charset="0"/>
                  </a:rPr>
                  <a:t>s </a:t>
                </a:r>
                <a:r>
                  <a:rPr lang="en-US" altLang="zh-CN" sz="2400" dirty="0">
                    <a:solidFill>
                      <a:srgbClr val="2926BF"/>
                    </a:solidFill>
                    <a:latin typeface="Times New Roman" panose="02020603050405020304" pitchFamily="18" charset="0"/>
                    <a:cs typeface="Times New Roman" panose="02020603050405020304" pitchFamily="18" charset="0"/>
                  </a:rPr>
                  <a:t>,</a:t>
                </a:r>
                <a:r>
                  <a:rPr lang="en-US" altLang="zh-CN" sz="2400" i="1" dirty="0">
                    <a:solidFill>
                      <a:srgbClr val="2926BF"/>
                    </a:solidFill>
                    <a:latin typeface="Times New Roman" panose="02020603050405020304" pitchFamily="18" charset="0"/>
                    <a:cs typeface="Times New Roman" panose="02020603050405020304" pitchFamily="18" charset="0"/>
                  </a:rPr>
                  <a:t> R</a:t>
                </a:r>
                <a:r>
                  <a:rPr lang="en-US" altLang="zh-CN" sz="2400" baseline="-25000" dirty="0">
                    <a:solidFill>
                      <a:srgbClr val="2926BF"/>
                    </a:solidFill>
                    <a:latin typeface="Times New Roman" panose="02020603050405020304" pitchFamily="18" charset="0"/>
                    <a:cs typeface="Times New Roman" panose="02020603050405020304" pitchFamily="18" charset="0"/>
                  </a:rPr>
                  <a:t>3</a:t>
                </a:r>
                <a:r>
                  <a:rPr lang="en-US" altLang="zh-CN" sz="2400" i="1" baseline="-25000" dirty="0">
                    <a:solidFill>
                      <a:srgbClr val="2926BF"/>
                    </a:solidFill>
                    <a:latin typeface="Times New Roman" panose="02020603050405020304" pitchFamily="18" charset="0"/>
                    <a:cs typeface="Times New Roman" panose="02020603050405020304" pitchFamily="18" charset="0"/>
                  </a:rPr>
                  <a:t>s </a:t>
                </a:r>
                <a:r>
                  <a:rPr lang="en-US" altLang="zh-CN" sz="2400" dirty="0">
                    <a:solidFill>
                      <a:srgbClr val="2926BF"/>
                    </a:solidFill>
                    <a:latin typeface="Times New Roman" panose="02020603050405020304" pitchFamily="18" charset="0"/>
                    <a:ea typeface="Arial" panose="020B0604020202020204"/>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etc. are solutions of the same eigenvalue equation, so they have to be orthogonal with respect to radial integration. Like the wavefunctions for the particle in the box and the harmonic oscillator, the lowest-energy function has no nodes, the next has one node, and so on, each function having one more node than the previous one.</a:t>
                </a:r>
                <a:endParaRPr lang="en-US" altLang="zh-CN" sz="2400" dirty="0">
                  <a:latin typeface="Times New Roman" panose="02020603050405020304" pitchFamily="18" charset="0"/>
                  <a:cs typeface="Times New Roman" panose="02020603050405020304" pitchFamily="18" charset="0"/>
                </a:endParaRPr>
              </a:p>
              <a:p>
                <a:pPr>
                  <a:lnSpc>
                    <a:spcPct val="121000"/>
                  </a:lnSpc>
                  <a:spcAft>
                    <a:spcPts val="405"/>
                  </a:spcAft>
                </a:pPr>
                <a:r>
                  <a:rPr lang="en-US" altLang="zh-CN" sz="2400" dirty="0">
                    <a:latin typeface="Times New Roman" panose="02020603050405020304" pitchFamily="18" charset="0"/>
                    <a:cs typeface="Times New Roman" panose="02020603050405020304" pitchFamily="18" charset="0"/>
                  </a:rPr>
                  <a:t>The radial </a:t>
                </a:r>
                <a:r>
                  <a:rPr lang="en-US" altLang="zh-CN" sz="2400" i="1" dirty="0">
                    <a:solidFill>
                      <a:srgbClr val="2926BF"/>
                    </a:solidFill>
                    <a:latin typeface="Times New Roman" panose="02020603050405020304" pitchFamily="18" charset="0"/>
                    <a:cs typeface="Times New Roman" panose="02020603050405020304" pitchFamily="18" charset="0"/>
                  </a:rPr>
                  <a:t>p</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functions are solutions of a </a:t>
                </a:r>
                <a:r>
                  <a:rPr lang="en-US" altLang="zh-CN" sz="2400" i="1" dirty="0">
                    <a:latin typeface="Times New Roman" panose="02020603050405020304" pitchFamily="18" charset="0"/>
                    <a:cs typeface="Times New Roman" panose="02020603050405020304" pitchFamily="18" charset="0"/>
                  </a:rPr>
                  <a:t>different</a:t>
                </a:r>
                <a:r>
                  <a:rPr lang="en-US" altLang="zh-CN" sz="2400" dirty="0">
                    <a:latin typeface="Times New Roman" panose="02020603050405020304" pitchFamily="18" charset="0"/>
                    <a:cs typeface="Times New Roman" panose="02020603050405020304" pitchFamily="18" charset="0"/>
                  </a:rPr>
                  <a:t> equation (because </a:t>
                </a:r>
                <a:r>
                  <a:rPr lang="en-US" altLang="zh-CN" sz="2400" i="1" dirty="0">
                    <a:solidFill>
                      <a:srgbClr val="2926BF"/>
                    </a:solidFill>
                    <a:latin typeface="Times New Roman" panose="02020603050405020304" pitchFamily="18" charset="0"/>
                    <a:cs typeface="Times New Roman" panose="02020603050405020304" pitchFamily="18" charset="0"/>
                  </a:rPr>
                  <a:t>l</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is different), so they don't have to be orthogonal to the radial </a:t>
                </a:r>
                <a:r>
                  <a:rPr lang="en-US" altLang="zh-CN" sz="2400" i="1" dirty="0">
                    <a:solidFill>
                      <a:srgbClr val="2926BF"/>
                    </a:solidFill>
                    <a:latin typeface="Times New Roman" panose="02020603050405020304" pitchFamily="18" charset="0"/>
                    <a:cs typeface="Times New Roman" panose="02020603050405020304" pitchFamily="18" charset="0"/>
                  </a:rPr>
                  <a:t>s</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functions. However they too are orthogonal to each other, with the number of nodes increasing with increasing energy.</a:t>
                </a:r>
                <a:endParaRPr lang="en-US" altLang="zh-CN" sz="2400" dirty="0">
                  <a:latin typeface="Times New Roman" panose="02020603050405020304" pitchFamily="18" charset="0"/>
                  <a:cs typeface="Times New Roman" panose="02020603050405020304" pitchFamily="18" charset="0"/>
                </a:endParaRPr>
              </a:p>
              <a:p>
                <a:pPr>
                  <a:lnSpc>
                    <a:spcPct val="121000"/>
                  </a:lnSpc>
                  <a:spcAft>
                    <a:spcPts val="405"/>
                  </a:spcAft>
                </a:pPr>
                <a:r>
                  <a:rPr lang="en-US" altLang="zh-CN" sz="2400" dirty="0">
                    <a:latin typeface="Times New Roman" panose="02020603050405020304" pitchFamily="18" charset="0"/>
                    <a:cs typeface="Times New Roman" panose="02020603050405020304" pitchFamily="18" charset="0"/>
                  </a:rPr>
                  <a:t>Also the </a:t>
                </a:r>
                <a:r>
                  <a:rPr lang="en-US" altLang="zh-CN" sz="2400" i="1" dirty="0">
                    <a:latin typeface="Times New Roman" panose="02020603050405020304" pitchFamily="18" charset="0"/>
                    <a:cs typeface="Times New Roman" panose="02020603050405020304" pitchFamily="18" charset="0"/>
                  </a:rPr>
                  <a:t>complete </a:t>
                </a:r>
                <a:r>
                  <a:rPr lang="en-US" altLang="zh-CN" sz="2400" i="1" dirty="0">
                    <a:solidFill>
                      <a:srgbClr val="2926BF"/>
                    </a:solidFill>
                    <a:latin typeface="Times New Roman" panose="02020603050405020304" pitchFamily="18" charset="0"/>
                    <a:cs typeface="Times New Roman" panose="02020603050405020304" pitchFamily="18" charset="0"/>
                  </a:rPr>
                  <a:t>p</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orbitals are orthogonal to the </a:t>
                </a:r>
                <a:r>
                  <a:rPr lang="en-US" altLang="zh-CN" sz="2400" i="1" dirty="0">
                    <a:solidFill>
                      <a:srgbClr val="2926BF"/>
                    </a:solidFill>
                    <a:latin typeface="Times New Roman" panose="02020603050405020304" pitchFamily="18" charset="0"/>
                    <a:cs typeface="Times New Roman" panose="02020603050405020304" pitchFamily="18" charset="0"/>
                  </a:rPr>
                  <a:t>s</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orbitals and to each other, because of the orthogonality of the angular functions </a:t>
                </a:r>
                <a14:m>
                  <m:oMath xmlns:m="http://schemas.openxmlformats.org/officeDocument/2006/math">
                    <m:r>
                      <a:rPr lang="en-US" altLang="zh-CN" sz="2400" i="1" dirty="0">
                        <a:solidFill>
                          <a:srgbClr val="2926BF"/>
                        </a:solidFill>
                        <a:latin typeface="Cambria Math" panose="02040503050406030204" pitchFamily="18" charset="0"/>
                      </a:rPr>
                      <m:t>𝑌</m:t>
                    </m:r>
                    <m:r>
                      <a:rPr lang="en-US" altLang="zh-CN" sz="2400" i="1" baseline="-25000" dirty="0">
                        <a:solidFill>
                          <a:srgbClr val="2926BF"/>
                        </a:solidFill>
                        <a:latin typeface="Cambria Math" panose="02040503050406030204" pitchFamily="18" charset="0"/>
                      </a:rPr>
                      <m:t>𝑙𝑚</m:t>
                    </m:r>
                  </m:oMath>
                </a14:m>
                <a:r>
                  <a:rPr lang="en-US" altLang="zh-CN" sz="2400" i="1" dirty="0">
                    <a:solidFill>
                      <a:srgbClr val="2926BF"/>
                    </a:solidFill>
                    <a:latin typeface="Times New Roman" panose="02020603050405020304" pitchFamily="18" charset="0"/>
                    <a:cs typeface="Times New Roman" panose="02020603050405020304" pitchFamily="18" charset="0"/>
                  </a:rPr>
                  <a:t> .</a:t>
                </a:r>
                <a:endParaRPr lang="en-US" altLang="zh-CN" sz="2400" i="1" dirty="0">
                  <a:solidFill>
                    <a:srgbClr val="2926BF"/>
                  </a:solidFill>
                  <a:latin typeface="Times New Roman" panose="02020603050405020304" pitchFamily="18" charset="0"/>
                  <a:cs typeface="Times New Roman" panose="02020603050405020304" pitchFamily="18" charset="0"/>
                </a:endParaRPr>
              </a:p>
              <a:p>
                <a:pPr>
                  <a:lnSpc>
                    <a:spcPct val="120000"/>
                  </a:lnSpc>
                </a:pPr>
                <a:r>
                  <a:rPr lang="en-US" altLang="zh-CN" sz="2400" dirty="0">
                    <a:latin typeface="Times New Roman" panose="02020603050405020304" pitchFamily="18" charset="0"/>
                    <a:cs typeface="Times New Roman" panose="02020603050405020304" pitchFamily="18" charset="0"/>
                  </a:rPr>
                  <a:t>The atomic orbitals with principal quantum number </a:t>
                </a:r>
                <a14:m>
                  <m:oMath xmlns:m="http://schemas.openxmlformats.org/officeDocument/2006/math">
                    <m:r>
                      <a:rPr lang="en-US" altLang="zh-CN" sz="2400" i="1" dirty="0">
                        <a:solidFill>
                          <a:srgbClr val="2926BF"/>
                        </a:solidFill>
                        <a:latin typeface="Cambria Math" panose="02040503050406030204" pitchFamily="18" charset="0"/>
                      </a:rPr>
                      <m:t>𝑛</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all have </a:t>
                </a:r>
                <a14:m>
                  <m:oMath xmlns:m="http://schemas.openxmlformats.org/officeDocument/2006/math">
                    <m:r>
                      <a:rPr lang="en-US" altLang="zh-CN" sz="2400" i="1" dirty="0">
                        <a:solidFill>
                          <a:srgbClr val="2926BF"/>
                        </a:solidFill>
                        <a:latin typeface="Cambria Math" panose="02040503050406030204" pitchFamily="18" charset="0"/>
                      </a:rPr>
                      <m:t>𝑛</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1</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nodal surfaces. Of these, </a:t>
                </a:r>
                <a:r>
                  <a:rPr lang="en-US" altLang="zh-CN" sz="2400" i="1" dirty="0">
                    <a:solidFill>
                      <a:srgbClr val="2926BF"/>
                    </a:solidFill>
                    <a:latin typeface="Times New Roman" panose="02020603050405020304" pitchFamily="18" charset="0"/>
                    <a:cs typeface="Times New Roman" panose="02020603050405020304" pitchFamily="18" charset="0"/>
                  </a:rPr>
                  <a:t>l</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are </a:t>
                </a:r>
                <a:r>
                  <a:rPr lang="en-US" altLang="zh-CN" sz="2400" i="1" dirty="0">
                    <a:latin typeface="Times New Roman" panose="02020603050405020304" pitchFamily="18" charset="0"/>
                    <a:cs typeface="Times New Roman" panose="02020603050405020304" pitchFamily="18" charset="0"/>
                  </a:rPr>
                  <a:t>angular</a:t>
                </a:r>
                <a:r>
                  <a:rPr lang="en-US" altLang="zh-CN" sz="2400" dirty="0">
                    <a:latin typeface="Times New Roman" panose="02020603050405020304" pitchFamily="18" charset="0"/>
                    <a:cs typeface="Times New Roman" panose="02020603050405020304" pitchFamily="18" charset="0"/>
                  </a:rPr>
                  <a:t> nodes and the rest are </a:t>
                </a:r>
                <a:r>
                  <a:rPr lang="en-US" altLang="zh-CN" sz="2400" i="1" dirty="0">
                    <a:latin typeface="Times New Roman" panose="02020603050405020304" pitchFamily="18" charset="0"/>
                    <a:cs typeface="Times New Roman" panose="02020603050405020304" pitchFamily="18" charset="0"/>
                  </a:rPr>
                  <a:t>radial.</a:t>
                </a:r>
                <a:r>
                  <a:rPr lang="en-US" altLang="zh-CN" sz="2400" dirty="0">
                    <a:latin typeface="Times New Roman" panose="02020603050405020304" pitchFamily="18" charset="0"/>
                    <a:cs typeface="Times New Roman" panose="02020603050405020304" pitchFamily="18" charset="0"/>
                  </a:rPr>
                  <a:t> </a:t>
                </a:r>
                <a:endParaRPr lang="zh-CN" altLang="en-US" sz="2000" dirty="0">
                  <a:latin typeface="Times New Roman" panose="02020603050405020304" pitchFamily="18" charset="0"/>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496772" y="556190"/>
                <a:ext cx="11198455" cy="5575950"/>
              </a:xfrm>
              <a:prstGeom prst="rect">
                <a:avLst/>
              </a:prstGeom>
              <a:blipFill rotWithShape="1">
                <a:blip r:embed="rId1"/>
                <a:stretch>
                  <a:fillRect l="-2" t="-10" r="4" b="10"/>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916108" y="187383"/>
            <a:ext cx="2423997" cy="523220"/>
          </a:xfrm>
          <a:prstGeom prst="rect">
            <a:avLst/>
          </a:prstGeom>
        </p:spPr>
        <p:txBody>
          <a:bodyPr wrap="none">
            <a:spAutoFit/>
          </a:bodyPr>
          <a:lstStyle/>
          <a:p>
            <a:r>
              <a:rPr lang="en-US" altLang="zh-CN" sz="2800" b="1" dirty="0">
                <a:latin typeface="Times New Roman" panose="02020603050405020304" pitchFamily="18" charset="0"/>
                <a:cs typeface="Times New Roman" panose="02020603050405020304" pitchFamily="18" charset="0"/>
              </a:rPr>
              <a:t>Angular nodes</a:t>
            </a:r>
            <a:endParaRPr lang="zh-CN" altLang="en-US" sz="28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矩形 2"/>
              <p:cNvSpPr/>
              <p:nvPr/>
            </p:nvSpPr>
            <p:spPr>
              <a:xfrm>
                <a:off x="339214" y="1098423"/>
                <a:ext cx="11636476" cy="1200329"/>
              </a:xfrm>
              <a:prstGeom prst="rect">
                <a:avLst/>
              </a:prstGeom>
            </p:spPr>
            <p:txBody>
              <a:bodyPr wrap="square">
                <a:spAutoFit/>
              </a:bodyPr>
              <a:lstStyle/>
              <a:p>
                <a:r>
                  <a:rPr lang="en-US" altLang="zh-CN" sz="2400" dirty="0">
                    <a:latin typeface="Times New Roman" panose="02020603050405020304" pitchFamily="18" charset="0"/>
                    <a:cs typeface="Times New Roman" panose="02020603050405020304" pitchFamily="18" charset="0"/>
                  </a:rPr>
                  <a:t>Of the angular nodes, </a:t>
                </a:r>
                <a14:m>
                  <m:oMath xmlns:m="http://schemas.openxmlformats.org/officeDocument/2006/math">
                    <m:d>
                      <m:dPr>
                        <m:begChr m:val="|"/>
                        <m:endChr m:val="|"/>
                        <m:ctrlPr>
                          <a:rPr lang="en-US" altLang="zh-CN" sz="2400" i="1" dirty="0">
                            <a:solidFill>
                              <a:srgbClr val="2926BF"/>
                            </a:solidFill>
                            <a:latin typeface="Cambria Math" panose="02040503050406030204" pitchFamily="18" charset="0"/>
                          </a:rPr>
                        </m:ctrlPr>
                      </m:dPr>
                      <m:e>
                        <m:r>
                          <a:rPr lang="en-US" altLang="zh-CN" sz="2400" i="1" dirty="0">
                            <a:solidFill>
                              <a:srgbClr val="2926BF"/>
                            </a:solidFill>
                            <a:latin typeface="Cambria Math" panose="02040503050406030204" pitchFamily="18" charset="0"/>
                          </a:rPr>
                          <m:t>𝑚</m:t>
                        </m:r>
                      </m:e>
                    </m:d>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are planes perpendicular to the equator (the </a:t>
                </a:r>
                <a:r>
                  <a:rPr lang="en-US" altLang="zh-CN" sz="2400" i="1" dirty="0" err="1">
                    <a:solidFill>
                      <a:srgbClr val="2926BF"/>
                    </a:solidFill>
                    <a:latin typeface="Times New Roman" panose="02020603050405020304" pitchFamily="18" charset="0"/>
                    <a:cs typeface="Times New Roman" panose="02020603050405020304" pitchFamily="18" charset="0"/>
                  </a:rPr>
                  <a:t>xy</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plane) and the rest are conical surfaces defined by particular values of </a:t>
                </a:r>
                <a14:m>
                  <m:oMath xmlns:m="http://schemas.openxmlformats.org/officeDocument/2006/math">
                    <m:r>
                      <a:rPr lang="zh-CN" altLang="en-US" sz="2400" i="1" dirty="0">
                        <a:solidFill>
                          <a:srgbClr val="2926BF"/>
                        </a:solidFill>
                        <a:latin typeface="Cambria Math" panose="02040503050406030204" pitchFamily="18" charset="0"/>
                      </a:rPr>
                      <m:t>𝜃</m:t>
                    </m:r>
                  </m:oMath>
                </a14:m>
                <a:r>
                  <a:rPr lang="en-US" altLang="zh-CN" sz="2400" i="1" dirty="0">
                    <a:solidFill>
                      <a:srgbClr val="2926BF"/>
                    </a:solidFill>
                    <a:latin typeface="Times New Roman" panose="02020603050405020304" pitchFamily="18" charset="0"/>
                    <a:cs typeface="Times New Roman" panose="02020603050405020304" pitchFamily="18" charset="0"/>
                  </a:rPr>
                  <a:t>.</a:t>
                </a:r>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For example, the </a:t>
                </a:r>
                <a14:m>
                  <m:oMath xmlns:m="http://schemas.openxmlformats.org/officeDocument/2006/math">
                    <m:sSub>
                      <m:sSubPr>
                        <m:ctrlPr>
                          <a:rPr lang="en-US" altLang="zh-CN" sz="2400" i="1" dirty="0">
                            <a:solidFill>
                              <a:srgbClr val="2926BF"/>
                            </a:solidFill>
                            <a:latin typeface="Cambria Math" panose="02040503050406030204" pitchFamily="18" charset="0"/>
                          </a:rPr>
                        </m:ctrlPr>
                      </m:sSubPr>
                      <m:e>
                        <m:r>
                          <a:rPr lang="en-US" altLang="zh-CN" sz="2400" i="1" dirty="0">
                            <a:solidFill>
                              <a:srgbClr val="2926BF"/>
                            </a:solidFill>
                            <a:latin typeface="Cambria Math" panose="02040503050406030204" pitchFamily="18" charset="0"/>
                          </a:rPr>
                          <m:t>𝑑</m:t>
                        </m:r>
                      </m:e>
                      <m:sub>
                        <m:r>
                          <a:rPr lang="en-US" altLang="zh-CN" sz="2400" i="1" dirty="0">
                            <a:solidFill>
                              <a:srgbClr val="2926BF"/>
                            </a:solidFill>
                            <a:latin typeface="Cambria Math" panose="02040503050406030204" pitchFamily="18" charset="0"/>
                          </a:rPr>
                          <m:t>𝑧</m:t>
                        </m:r>
                        <m:r>
                          <a:rPr lang="en-US" altLang="zh-CN" sz="2400" i="1" baseline="30000" dirty="0">
                            <a:solidFill>
                              <a:srgbClr val="2926BF"/>
                            </a:solidFill>
                            <a:latin typeface="Cambria Math" panose="02040503050406030204" pitchFamily="18" charset="0"/>
                          </a:rPr>
                          <m:t>2</m:t>
                        </m:r>
                      </m:sub>
                    </m:sSub>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orbital has nodes where </a:t>
                </a:r>
                <a14:m>
                  <m:oMath xmlns:m="http://schemas.openxmlformats.org/officeDocument/2006/math">
                    <m:r>
                      <a:rPr lang="en-US" altLang="zh-CN" sz="2400" i="1" dirty="0">
                        <a:solidFill>
                          <a:srgbClr val="2926BF"/>
                        </a:solidFill>
                        <a:latin typeface="Cambria Math" panose="02040503050406030204" pitchFamily="18" charset="0"/>
                      </a:rPr>
                      <m:t>3</m:t>
                    </m:r>
                    <m:r>
                      <m:rPr>
                        <m:sty m:val="p"/>
                      </m:rPr>
                      <a:rPr lang="en-US" altLang="zh-CN" sz="2400" i="1" dirty="0">
                        <a:solidFill>
                          <a:srgbClr val="2926BF"/>
                        </a:solidFill>
                        <a:latin typeface="Cambria Math" panose="02040503050406030204" pitchFamily="18" charset="0"/>
                      </a:rPr>
                      <m:t>cos</m:t>
                    </m:r>
                    <m:r>
                      <a:rPr lang="en-US" altLang="zh-CN" sz="2400" i="1" baseline="30000" dirty="0">
                        <a:solidFill>
                          <a:srgbClr val="2926BF"/>
                        </a:solidFill>
                        <a:latin typeface="Cambria Math" panose="02040503050406030204" pitchFamily="18" charset="0"/>
                      </a:rPr>
                      <m:t>2</m:t>
                    </m:r>
                    <m:r>
                      <a:rPr lang="zh-CN" altLang="en-US" sz="2400" i="1" dirty="0">
                        <a:solidFill>
                          <a:srgbClr val="2926BF"/>
                        </a:solidFill>
                        <a:latin typeface="Cambria Math" panose="02040503050406030204" pitchFamily="18" charset="0"/>
                      </a:rPr>
                      <m:t>𝜃</m:t>
                    </m:r>
                    <m:r>
                      <a:rPr lang="en-US" altLang="zh-CN" sz="2400" i="1" dirty="0">
                        <a:solidFill>
                          <a:srgbClr val="2926BF"/>
                        </a:solidFill>
                        <a:latin typeface="Cambria Math" panose="02040503050406030204" pitchFamily="18" charset="0"/>
                      </a:rPr>
                      <m:t>=</m:t>
                    </m:r>
                    <m:r>
                      <a:rPr lang="en-US" altLang="zh-CN" sz="2400" i="1" dirty="0">
                        <a:solidFill>
                          <a:srgbClr val="2926BF"/>
                        </a:solidFill>
                        <a:latin typeface="Cambria Math" panose="02040503050406030204" pitchFamily="18" charset="0"/>
                      </a:rPr>
                      <m:t>1</m:t>
                    </m:r>
                  </m:oMath>
                </a14:m>
                <a:r>
                  <a:rPr lang="en-US" altLang="zh-CN" sz="2400" dirty="0">
                    <a:solidFill>
                      <a:srgbClr val="2926BF"/>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i.e.,</a:t>
                </a:r>
                <a14:m>
                  <m:oMath xmlns:m="http://schemas.openxmlformats.org/officeDocument/2006/math">
                    <m:r>
                      <a:rPr lang="zh-CN" altLang="en-US" sz="2400" i="1" dirty="0">
                        <a:solidFill>
                          <a:srgbClr val="2926BF"/>
                        </a:solidFill>
                        <a:latin typeface="Cambria Math" panose="02040503050406030204" pitchFamily="18" charset="0"/>
                      </a:rPr>
                      <m:t>𝜃</m:t>
                    </m:r>
                  </m:oMath>
                </a14:m>
                <a:r>
                  <a:rPr lang="en-US" altLang="zh-CN" sz="2400" i="1" dirty="0">
                    <a:solidFill>
                      <a:srgbClr val="2926BF"/>
                    </a:solidFill>
                    <a:latin typeface="Times New Roman" panose="02020603050405020304" pitchFamily="18" charset="0"/>
                    <a:cs typeface="Times New Roman" panose="02020603050405020304" pitchFamily="18" charset="0"/>
                  </a:rPr>
                  <a:t>=</a:t>
                </a:r>
                <a:r>
                  <a:rPr lang="en-US" altLang="zh-CN" sz="2400" dirty="0">
                    <a:solidFill>
                      <a:srgbClr val="2926BF"/>
                    </a:solidFill>
                    <a:latin typeface="Times New Roman" panose="02020603050405020304" pitchFamily="18" charset="0"/>
                    <a:cs typeface="Times New Roman" panose="02020603050405020304" pitchFamily="18" charset="0"/>
                  </a:rPr>
                  <a:t> 54.74° </a:t>
                </a:r>
                <a:r>
                  <a:rPr lang="en-US" altLang="zh-CN" sz="2400" dirty="0">
                    <a:latin typeface="Times New Roman" panose="02020603050405020304" pitchFamily="18" charset="0"/>
                    <a:cs typeface="Times New Roman" panose="02020603050405020304" pitchFamily="18" charset="0"/>
                  </a:rPr>
                  <a:t>or </a:t>
                </a:r>
                <a:r>
                  <a:rPr lang="en-US" altLang="zh-CN" sz="2400" dirty="0">
                    <a:solidFill>
                      <a:srgbClr val="2926BF"/>
                    </a:solidFill>
                    <a:latin typeface="Times New Roman" panose="02020603050405020304" pitchFamily="18" charset="0"/>
                    <a:cs typeface="Times New Roman" panose="02020603050405020304" pitchFamily="18" charset="0"/>
                  </a:rPr>
                  <a:t>125.26°.</a:t>
                </a:r>
                <a:endParaRPr lang="en-US" altLang="zh-CN" sz="2400" dirty="0">
                  <a:solidFill>
                    <a:srgbClr val="2926BF"/>
                  </a:solidFill>
                  <a:latin typeface="Times New Roman" panose="02020603050405020304" pitchFamily="18" charset="0"/>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339214" y="1098423"/>
                <a:ext cx="11636476" cy="1200329"/>
              </a:xfrm>
              <a:prstGeom prst="rect">
                <a:avLst/>
              </a:prstGeom>
              <a:blipFill rotWithShape="1">
                <a:blip r:embed="rId1"/>
                <a:stretch>
                  <a:fillRect l="-1" t="-42" r="2" b="4"/>
                </a:stretch>
              </a:blipFill>
            </p:spPr>
            <p:txBody>
              <a:bodyPr/>
              <a:lstStyle/>
              <a:p>
                <a:r>
                  <a:rPr lang="zh-CN" altLang="en-US">
                    <a:noFill/>
                  </a:rPr>
                  <a:t> </a:t>
                </a:r>
              </a:p>
            </p:txBody>
          </p:sp>
        </mc:Fallback>
      </mc:AlternateContent>
      <p:pic>
        <p:nvPicPr>
          <p:cNvPr id="4" name="图片 3"/>
          <p:cNvPicPr>
            <a:picLocks noChangeAspect="1"/>
          </p:cNvPicPr>
          <p:nvPr/>
        </p:nvPicPr>
        <p:blipFill>
          <a:blip r:embed="rId2"/>
          <a:stretch>
            <a:fillRect/>
          </a:stretch>
        </p:blipFill>
        <p:spPr>
          <a:xfrm>
            <a:off x="2492691" y="2366507"/>
            <a:ext cx="7115175" cy="4038600"/>
          </a:xfrm>
          <a:prstGeom prst="rect">
            <a:avLst/>
          </a:prstGeom>
        </p:spPr>
      </p:pic>
      <p:sp>
        <p:nvSpPr>
          <p:cNvPr id="5" name="Line 2"/>
          <p:cNvSpPr>
            <a:spLocks noChangeShapeType="1"/>
          </p:cNvSpPr>
          <p:nvPr/>
        </p:nvSpPr>
        <p:spPr bwMode="auto">
          <a:xfrm flipV="1">
            <a:off x="35394" y="854706"/>
            <a:ext cx="12117573" cy="53161"/>
          </a:xfrm>
          <a:prstGeom prst="line">
            <a:avLst/>
          </a:prstGeom>
          <a:noFill/>
          <a:ln w="19050">
            <a:solidFill>
              <a:srgbClr val="3333FF"/>
            </a:solidFill>
            <a:round/>
          </a:ln>
          <a:extLst>
            <a:ext uri="{909E8E84-426E-40DD-AFC4-6F175D3DCCD1}">
              <a14:hiddenFill xmlns:a14="http://schemas.microsoft.com/office/drawing/2010/main">
                <a:noFill/>
              </a14:hiddenFill>
            </a:ext>
          </a:extLst>
        </p:spPr>
        <p:txBody>
          <a:bodyPr/>
          <a:lstStyle/>
          <a:p>
            <a:pPr defTabSz="914400">
              <a:defRPr/>
            </a:pPr>
            <a:endParaRPr lang="zh-CN" altLang="en-US" b="1">
              <a:solidFill>
                <a:prstClr val="black"/>
              </a:solidFill>
              <a:latin typeface="Times New Roman" panose="02020603050405020304" pitchFamily="18" charset="0"/>
              <a:cs typeface="Times New Roman" panose="02020603050405020304" pitchFamily="18" charset="0"/>
            </a:endParaRPr>
          </a:p>
        </p:txBody>
      </p:sp>
      <p:sp>
        <p:nvSpPr>
          <p:cNvPr id="7" name="灯片编号占位符 6"/>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796711" y="2200372"/>
          <a:ext cx="9993209" cy="2320825"/>
        </p:xfrm>
        <a:graphic>
          <a:graphicData uri="http://schemas.openxmlformats.org/drawingml/2006/table">
            <a:tbl>
              <a:tblPr firstRow="1" firstCol="1" bandRow="1">
                <a:tableStyleId>{5C22544A-7EE6-4342-B048-85BDC9FD1C3A}</a:tableStyleId>
              </a:tblPr>
              <a:tblGrid>
                <a:gridCol w="2944267"/>
                <a:gridCol w="2558583"/>
                <a:gridCol w="2040091"/>
                <a:gridCol w="2450268"/>
              </a:tblGrid>
              <a:tr h="354437">
                <a:tc>
                  <a:txBody>
                    <a:bodyPr/>
                    <a:lstStyle/>
                    <a:p>
                      <a:pPr algn="just">
                        <a:spcAft>
                          <a:spcPts val="0"/>
                        </a:spcAft>
                      </a:pPr>
                      <a:r>
                        <a:rPr lang="en-US" sz="1800" kern="100" dirty="0">
                          <a:solidFill>
                            <a:schemeClr val="tx1"/>
                          </a:solidFill>
                          <a:effectLst/>
                        </a:rPr>
                        <a:t>system</a:t>
                      </a:r>
                      <a:endParaRPr lang="zh-CN" sz="16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a:solidFill>
                            <a:schemeClr val="tx1"/>
                          </a:solidFill>
                          <a:effectLst/>
                        </a:rPr>
                        <a:t>Hamiltonian</a:t>
                      </a:r>
                      <a:endParaRPr lang="zh-CN" sz="1600" kern="10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a:solidFill>
                            <a:schemeClr val="tx1"/>
                          </a:solidFill>
                          <a:effectLst/>
                        </a:rPr>
                        <a:t>Energy</a:t>
                      </a:r>
                      <a:endParaRPr lang="zh-CN" sz="1600" kern="10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a:solidFill>
                            <a:schemeClr val="tx1"/>
                          </a:solidFill>
                          <a:effectLst/>
                        </a:rPr>
                        <a:t>Wave function</a:t>
                      </a:r>
                      <a:endParaRPr lang="zh-CN" sz="1600" kern="10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54437">
                <a:tc>
                  <a:txBody>
                    <a:bodyPr/>
                    <a:lstStyle/>
                    <a:p>
                      <a:pPr algn="just">
                        <a:spcAft>
                          <a:spcPts val="0"/>
                        </a:spcAft>
                      </a:pPr>
                      <a:r>
                        <a:rPr lang="en-US" sz="1800" kern="100" dirty="0">
                          <a:solidFill>
                            <a:schemeClr val="tx1"/>
                          </a:solidFill>
                          <a:effectLst/>
                        </a:rPr>
                        <a:t>Free particles</a:t>
                      </a:r>
                      <a:endParaRPr lang="zh-CN" sz="1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a:solidFill>
                            <a:schemeClr val="tx1"/>
                          </a:solidFill>
                          <a:effectLst/>
                        </a:rPr>
                        <a:t> </a:t>
                      </a:r>
                      <a:endParaRPr lang="zh-CN" sz="1600" kern="10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a:solidFill>
                            <a:schemeClr val="tx1"/>
                          </a:solidFill>
                          <a:effectLst/>
                        </a:rPr>
                        <a:t> </a:t>
                      </a:r>
                      <a:endParaRPr lang="zh-CN" sz="1600" kern="10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a:solidFill>
                            <a:schemeClr val="tx1"/>
                          </a:solidFill>
                          <a:effectLst/>
                        </a:rPr>
                        <a:t> </a:t>
                      </a:r>
                      <a:endParaRPr lang="zh-CN" sz="1600" kern="10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54437">
                <a:tc>
                  <a:txBody>
                    <a:bodyPr/>
                    <a:lstStyle/>
                    <a:p>
                      <a:pPr algn="just">
                        <a:spcAft>
                          <a:spcPts val="0"/>
                        </a:spcAft>
                      </a:pPr>
                      <a:r>
                        <a:rPr lang="en-US" sz="1800" kern="100" dirty="0">
                          <a:solidFill>
                            <a:schemeClr val="tx1"/>
                          </a:solidFill>
                          <a:effectLst/>
                        </a:rPr>
                        <a:t>Quantization of translation</a:t>
                      </a:r>
                      <a:endParaRPr lang="zh-CN" sz="1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dirty="0">
                          <a:solidFill>
                            <a:schemeClr val="tx1"/>
                          </a:solidFill>
                          <a:effectLst/>
                        </a:rPr>
                        <a:t> </a:t>
                      </a:r>
                      <a:endParaRPr lang="zh-CN" sz="16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a:solidFill>
                            <a:schemeClr val="tx1"/>
                          </a:solidFill>
                          <a:effectLst/>
                        </a:rPr>
                        <a:t> </a:t>
                      </a:r>
                      <a:endParaRPr lang="zh-CN" sz="1600" kern="10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a:solidFill>
                            <a:schemeClr val="tx1"/>
                          </a:solidFill>
                          <a:effectLst/>
                        </a:rPr>
                        <a:t> </a:t>
                      </a:r>
                      <a:endParaRPr lang="zh-CN" sz="1600" kern="10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54437">
                <a:tc>
                  <a:txBody>
                    <a:bodyPr/>
                    <a:lstStyle/>
                    <a:p>
                      <a:pPr algn="just">
                        <a:spcAft>
                          <a:spcPts val="0"/>
                        </a:spcAft>
                      </a:pPr>
                      <a:r>
                        <a:rPr lang="en-US" sz="1800" kern="100" dirty="0">
                          <a:solidFill>
                            <a:schemeClr val="tx1"/>
                          </a:solidFill>
                          <a:effectLst/>
                        </a:rPr>
                        <a:t>Quantization of vibration</a:t>
                      </a:r>
                      <a:endParaRPr lang="zh-CN" sz="1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dirty="0">
                          <a:solidFill>
                            <a:schemeClr val="tx1"/>
                          </a:solidFill>
                          <a:effectLst/>
                        </a:rPr>
                        <a:t> </a:t>
                      </a:r>
                      <a:endParaRPr lang="zh-CN" sz="16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a:solidFill>
                            <a:schemeClr val="tx1"/>
                          </a:solidFill>
                          <a:effectLst/>
                        </a:rPr>
                        <a:t> </a:t>
                      </a:r>
                      <a:endParaRPr lang="zh-CN" sz="1600" kern="10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a:solidFill>
                            <a:schemeClr val="tx1"/>
                          </a:solidFill>
                          <a:effectLst/>
                        </a:rPr>
                        <a:t> </a:t>
                      </a:r>
                      <a:endParaRPr lang="zh-CN" sz="1600" kern="10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54437">
                <a:tc>
                  <a:txBody>
                    <a:bodyPr/>
                    <a:lstStyle/>
                    <a:p>
                      <a:pPr algn="just">
                        <a:spcAft>
                          <a:spcPts val="0"/>
                        </a:spcAft>
                      </a:pPr>
                      <a:r>
                        <a:rPr lang="en-US" sz="1800" kern="100" dirty="0">
                          <a:solidFill>
                            <a:schemeClr val="tx1"/>
                          </a:solidFill>
                          <a:effectLst/>
                        </a:rPr>
                        <a:t>Quantization of rotation</a:t>
                      </a:r>
                      <a:endParaRPr lang="zh-CN" sz="18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a:solidFill>
                            <a:schemeClr val="tx1"/>
                          </a:solidFill>
                          <a:effectLst/>
                        </a:rPr>
                        <a:t> </a:t>
                      </a:r>
                      <a:endParaRPr lang="zh-CN" sz="1600" kern="10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dirty="0">
                          <a:solidFill>
                            <a:schemeClr val="tx1"/>
                          </a:solidFill>
                          <a:effectLst/>
                        </a:rPr>
                        <a:t> </a:t>
                      </a:r>
                      <a:endParaRPr lang="zh-CN" sz="16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en-US" sz="1800" kern="100" dirty="0">
                          <a:solidFill>
                            <a:schemeClr val="tx1"/>
                          </a:solidFill>
                          <a:effectLst/>
                        </a:rPr>
                        <a:t> </a:t>
                      </a:r>
                      <a:endParaRPr lang="zh-CN" sz="16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54437">
                <a:tc>
                  <a:txBody>
                    <a:bodyPr/>
                    <a:lstStyle/>
                    <a:p>
                      <a:pPr algn="just">
                        <a:spcAft>
                          <a:spcPts val="0"/>
                        </a:spcAft>
                      </a:pPr>
                      <a:r>
                        <a:rPr lang="en-US" altLang="zh-CN" sz="1800" kern="100" dirty="0">
                          <a:solidFill>
                            <a:schemeClr val="tx1"/>
                          </a:solidFill>
                          <a:effectLst/>
                        </a:rPr>
                        <a:t>Quantization of motion in a Coulombic field</a:t>
                      </a:r>
                      <a:endParaRPr lang="zh-CN" altLang="zh-CN" sz="1800" kern="100" dirty="0">
                        <a:solidFill>
                          <a:schemeClr val="tx1"/>
                        </a:solidFill>
                        <a:effectLst/>
                        <a:latin typeface="等线" panose="02010600030101010101" pitchFamily="2" charset="-122"/>
                        <a:ea typeface="+mn-ea"/>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endParaRPr lang="zh-CN" sz="1600" kern="10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endParaRPr lang="zh-CN" sz="16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endParaRPr lang="zh-CN" sz="16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4" name="灯片编号占位符 3"/>
          <p:cNvSpPr>
            <a:spLocks noGrp="1"/>
          </p:cNvSpPr>
          <p:nvPr>
            <p:ph type="sldNum" sz="quarter" idx="12"/>
          </p:nvPr>
        </p:nvSpPr>
        <p:spPr/>
        <p:txBody>
          <a:bodyPr/>
          <a:lstStyle/>
          <a:p>
            <a:fld id="{C29849EA-18B3-4CA7-9730-C7EE55E9A153}" type="slidenum">
              <a:rPr lang="zh-CN" altLang="en-US" smtClean="0"/>
            </a:fld>
            <a:endParaRPr lang="zh-CN" altLang="en-US"/>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commondata" val="eyJoZGlkIjoiMDYxMjJlZjczMmM5Y2ZlY2Y4MTkzNzEwZjA5YzFjZWU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9354</Words>
  <Application>WPS 演示</Application>
  <PresentationFormat>宽屏</PresentationFormat>
  <Paragraphs>499</Paragraphs>
  <Slides>39</Slides>
  <Notes>3</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109</vt:i4>
      </vt:variant>
      <vt:variant>
        <vt:lpstr>幻灯片标题</vt:lpstr>
      </vt:variant>
      <vt:variant>
        <vt:i4>39</vt:i4>
      </vt:variant>
    </vt:vector>
  </HeadingPairs>
  <TitlesOfParts>
    <vt:vector size="167" baseType="lpstr">
      <vt:lpstr>Arial</vt:lpstr>
      <vt:lpstr>宋体</vt:lpstr>
      <vt:lpstr>Wingdings</vt:lpstr>
      <vt:lpstr>Times New Roman</vt:lpstr>
      <vt:lpstr>等线</vt:lpstr>
      <vt:lpstr>Symbol</vt:lpstr>
      <vt:lpstr>Cambria Math</vt:lpstr>
      <vt:lpstr>微软雅黑</vt:lpstr>
      <vt:lpstr>Arial Unicode MS</vt:lpstr>
      <vt:lpstr>等线 Light</vt:lpstr>
      <vt:lpstr>Calibri Light</vt:lpstr>
      <vt:lpstr>Calibri</vt:lpstr>
      <vt:lpstr>Calisto MT</vt:lpstr>
      <vt:lpstr>Arial</vt:lpstr>
      <vt:lpstr>MingLiU</vt:lpstr>
      <vt:lpstr>Segoe Print</vt:lpstr>
      <vt:lpstr>Script MT Bold</vt:lpstr>
      <vt:lpstr>PMingLiU</vt:lpstr>
      <vt:lpstr>Office 主题​​</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Equation.3</vt:lpstr>
      <vt:lpstr>Equation.3</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Equation.COEE2</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Xiamen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Peifeng Su</dc:creator>
  <cp:lastModifiedBy>WPS_1642035560</cp:lastModifiedBy>
  <cp:revision>102</cp:revision>
  <dcterms:created xsi:type="dcterms:W3CDTF">2020-09-01T09:11:00Z</dcterms:created>
  <dcterms:modified xsi:type="dcterms:W3CDTF">2025-09-21T02:19:24Z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9CE7B8DF687744D9A6C48B640513B2E8_12</vt:lpwstr>
  </property>
  <property fmtid="{D5CDD505-2E9C-101B-9397-08002B2CF9AE}" pid="3" name="KSOProductBuildVer">
    <vt:lpwstr>2052-12.1.0.16120</vt:lpwstr>
  </property>
</Properties>
</file>