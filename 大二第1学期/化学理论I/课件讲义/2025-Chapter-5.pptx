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317" r:id="rId2"/>
    <p:sldId id="835" r:id="rId3"/>
    <p:sldId id="837" r:id="rId4"/>
    <p:sldId id="408" r:id="rId5"/>
    <p:sldId id="804" r:id="rId6"/>
    <p:sldId id="309" r:id="rId7"/>
    <p:sldId id="347" r:id="rId8"/>
    <p:sldId id="839" r:id="rId9"/>
    <p:sldId id="360" r:id="rId10"/>
    <p:sldId id="361" r:id="rId11"/>
    <p:sldId id="311" r:id="rId12"/>
    <p:sldId id="824" r:id="rId13"/>
    <p:sldId id="312" r:id="rId14"/>
    <p:sldId id="362" r:id="rId15"/>
    <p:sldId id="838" r:id="rId16"/>
    <p:sldId id="313" r:id="rId17"/>
    <p:sldId id="314" r:id="rId18"/>
    <p:sldId id="825" r:id="rId19"/>
    <p:sldId id="826" r:id="rId20"/>
    <p:sldId id="828" r:id="rId21"/>
    <p:sldId id="830" r:id="rId22"/>
    <p:sldId id="829" r:id="rId23"/>
    <p:sldId id="832" r:id="rId24"/>
    <p:sldId id="315" r:id="rId25"/>
    <p:sldId id="349" r:id="rId26"/>
    <p:sldId id="814" r:id="rId27"/>
    <p:sldId id="350" r:id="rId28"/>
    <p:sldId id="812" r:id="rId29"/>
    <p:sldId id="352" r:id="rId30"/>
    <p:sldId id="318" r:id="rId31"/>
    <p:sldId id="807" r:id="rId32"/>
    <p:sldId id="319" r:id="rId33"/>
    <p:sldId id="354" r:id="rId34"/>
    <p:sldId id="833" r:id="rId35"/>
    <p:sldId id="363" r:id="rId36"/>
    <p:sldId id="322" r:id="rId37"/>
    <p:sldId id="320" r:id="rId38"/>
    <p:sldId id="815" r:id="rId39"/>
  </p:sldIdLst>
  <p:sldSz cx="12192000" cy="6858000"/>
  <p:notesSz cx="6858000" cy="9144000"/>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14" autoAdjust="0"/>
    <p:restoredTop sz="85209" autoAdjust="0"/>
  </p:normalViewPr>
  <p:slideViewPr>
    <p:cSldViewPr snapToGrid="0">
      <p:cViewPr varScale="1">
        <p:scale>
          <a:sx n="137" d="100"/>
          <a:sy n="137" d="100"/>
        </p:scale>
        <p:origin x="70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71F1A4-3598-4933-B6EE-CD42AEE6378D}" type="datetimeFigureOut">
              <a:rPr lang="zh-CN" altLang="en-US" smtClean="0"/>
              <a:t>2025/9/29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9C032-BBD6-4DC7-882F-F65FCD30791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塞曼在</a:t>
            </a:r>
            <a:r>
              <a:rPr lang="en-US" altLang="zh-CN" sz="1200" b="0" i="0" kern="1200" dirty="0">
                <a:solidFill>
                  <a:schemeClr val="tx1"/>
                </a:solidFill>
                <a:effectLst/>
                <a:latin typeface="+mn-lt"/>
                <a:ea typeface="+mn-ea"/>
                <a:cs typeface="+mn-cs"/>
              </a:rPr>
              <a:t>1896</a:t>
            </a:r>
            <a:r>
              <a:rPr lang="zh-CN" altLang="en-US" sz="1200" b="0" i="0" kern="1200" dirty="0">
                <a:solidFill>
                  <a:schemeClr val="tx1"/>
                </a:solidFill>
                <a:effectLst/>
                <a:latin typeface="+mn-lt"/>
                <a:ea typeface="+mn-ea"/>
                <a:cs typeface="+mn-cs"/>
              </a:rPr>
              <a:t>年发现把产生光谱的光源置于足够强的磁场中，磁场作用于发光体使光谱发生变化，一条谱线即会分裂成几条偏振化的谱线，这种现象称为塞曼效应。</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在外磁场中，总自旋为零的原子表现出正常塞曼效应，总自旋不为零的原子表现出反常塞曼效应。</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塞曼效应是是对光的电磁理论的有力支持，证实了原子具有磁矩和空间取向量子化。</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不考虑外加磁场时薛定谔方程的表达式是：</a:t>
            </a:r>
            <a:r>
              <a:rPr lang="en-US" altLang="zh-CN" sz="1200" b="0" i="0" kern="1200" dirty="0">
                <a:solidFill>
                  <a:schemeClr val="tx1"/>
                </a:solidFill>
                <a:effectLst/>
                <a:latin typeface="+mn-lt"/>
                <a:ea typeface="+mn-ea"/>
                <a:cs typeface="+mn-cs"/>
              </a:rPr>
              <a:t>HΨ=EΨ</a:t>
            </a:r>
            <a:r>
              <a:rPr lang="zh-CN" altLang="en-US" sz="1200" b="0" i="0" kern="1200" dirty="0">
                <a:solidFill>
                  <a:schemeClr val="tx1"/>
                </a:solidFill>
                <a:effectLst/>
                <a:latin typeface="+mn-lt"/>
                <a:ea typeface="+mn-ea"/>
                <a:cs typeface="+mn-cs"/>
              </a:rPr>
              <a:t>， 在这个表达式中能量只与</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l</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有关，而与磁量子数无关，也就是说与电子的自旋无关，所以具有同样的</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l</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的电子</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也就是同一轨道中自旋反平行的两个电子</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具有相同的能量；测试原子光谱时只有一条谱线。</a:t>
            </a:r>
            <a:br>
              <a:rPr lang="zh-CN" altLang="en-US" dirty="0"/>
            </a:br>
            <a:r>
              <a:rPr lang="zh-CN" altLang="en-US" sz="1200" b="0" i="0" kern="1200" dirty="0">
                <a:solidFill>
                  <a:schemeClr val="tx1"/>
                </a:solidFill>
                <a:effectLst/>
                <a:latin typeface="+mn-lt"/>
                <a:ea typeface="+mn-ea"/>
                <a:cs typeface="+mn-cs"/>
              </a:rPr>
              <a:t>考虑外加磁场时薛定谔方程的表达式：</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H+Hb</a:t>
            </a:r>
            <a:r>
              <a:rPr lang="en-US" altLang="zh-CN" sz="1200" b="0" i="0" kern="1200" dirty="0">
                <a:solidFill>
                  <a:schemeClr val="tx1"/>
                </a:solidFill>
                <a:effectLst/>
                <a:latin typeface="+mn-lt"/>
                <a:ea typeface="+mn-ea"/>
                <a:cs typeface="+mn-cs"/>
              </a:rPr>
              <a:t>)Ψ=(</a:t>
            </a:r>
            <a:r>
              <a:rPr lang="en-US" altLang="zh-CN" sz="1200" b="0" i="0" kern="1200" dirty="0" err="1">
                <a:solidFill>
                  <a:schemeClr val="tx1"/>
                </a:solidFill>
                <a:effectLst/>
                <a:latin typeface="+mn-lt"/>
                <a:ea typeface="+mn-ea"/>
                <a:cs typeface="+mn-cs"/>
              </a:rPr>
              <a:t>E+Eb</a:t>
            </a:r>
            <a:r>
              <a:rPr lang="en-US" altLang="zh-CN" sz="1200" b="0" i="0" kern="1200" dirty="0">
                <a:solidFill>
                  <a:schemeClr val="tx1"/>
                </a:solidFill>
                <a:effectLst/>
                <a:latin typeface="+mn-lt"/>
                <a:ea typeface="+mn-ea"/>
                <a:cs typeface="+mn-cs"/>
              </a:rPr>
              <a:t>)Ψ, </a:t>
            </a:r>
            <a:r>
              <a:rPr lang="zh-CN" altLang="en-US" sz="1200" b="0" i="0" kern="1200" dirty="0">
                <a:solidFill>
                  <a:schemeClr val="tx1"/>
                </a:solidFill>
                <a:effectLst/>
                <a:latin typeface="+mn-lt"/>
                <a:ea typeface="+mn-ea"/>
                <a:cs typeface="+mn-cs"/>
              </a:rPr>
              <a:t>此时</a:t>
            </a:r>
            <a:r>
              <a:rPr lang="en-US" altLang="zh-CN" sz="1200" b="0" i="0" kern="1200" dirty="0">
                <a:solidFill>
                  <a:schemeClr val="tx1"/>
                </a:solidFill>
                <a:effectLst/>
                <a:latin typeface="+mn-lt"/>
                <a:ea typeface="+mn-ea"/>
                <a:cs typeface="+mn-cs"/>
              </a:rPr>
              <a:t>Hb</a:t>
            </a:r>
            <a:r>
              <a:rPr lang="zh-CN" altLang="en-US" sz="1200" b="0" i="0" kern="1200" dirty="0">
                <a:solidFill>
                  <a:schemeClr val="tx1"/>
                </a:solidFill>
                <a:effectLst/>
                <a:latin typeface="+mn-lt"/>
                <a:ea typeface="+mn-ea"/>
                <a:cs typeface="+mn-cs"/>
              </a:rPr>
              <a:t>表示的是外加磁场对体系哈密顿量的影响</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H+Hb</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是有外加磁场时的哈密顿量；</a:t>
            </a:r>
            <a:r>
              <a:rPr lang="en-US" altLang="zh-CN" sz="1200" b="0" i="0" kern="1200" dirty="0">
                <a:solidFill>
                  <a:schemeClr val="tx1"/>
                </a:solidFill>
                <a:effectLst/>
                <a:latin typeface="+mn-lt"/>
                <a:ea typeface="+mn-ea"/>
                <a:cs typeface="+mn-cs"/>
              </a:rPr>
              <a:t>Eb</a:t>
            </a:r>
            <a:r>
              <a:rPr lang="zh-CN" altLang="en-US" sz="1200" b="0" i="0" kern="1200" dirty="0">
                <a:solidFill>
                  <a:schemeClr val="tx1"/>
                </a:solidFill>
                <a:effectLst/>
                <a:latin typeface="+mn-lt"/>
                <a:ea typeface="+mn-ea"/>
                <a:cs typeface="+mn-cs"/>
              </a:rPr>
              <a:t>则有外场时</a:t>
            </a:r>
            <a:r>
              <a:rPr lang="en-US" altLang="zh-CN" sz="1200" b="0" i="0" kern="1200" dirty="0">
                <a:solidFill>
                  <a:schemeClr val="tx1"/>
                </a:solidFill>
                <a:effectLst/>
                <a:latin typeface="+mn-lt"/>
                <a:ea typeface="+mn-ea"/>
                <a:cs typeface="+mn-cs"/>
              </a:rPr>
              <a:t>Hb</a:t>
            </a:r>
            <a:r>
              <a:rPr lang="zh-CN" altLang="en-US" sz="1200" b="0" i="0" kern="1200" dirty="0">
                <a:solidFill>
                  <a:schemeClr val="tx1"/>
                </a:solidFill>
                <a:effectLst/>
                <a:latin typeface="+mn-lt"/>
                <a:ea typeface="+mn-ea"/>
                <a:cs typeface="+mn-cs"/>
              </a:rPr>
              <a:t>所对应的能量值，</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E+Eb</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是有外磁场时体系的能量；由于在外加磁场下自旋不同的电子有不同的能量，</a:t>
            </a:r>
            <a:r>
              <a:rPr lang="en-US" altLang="zh-CN" sz="1200" b="0" i="0" kern="1200" dirty="0">
                <a:solidFill>
                  <a:schemeClr val="tx1"/>
                </a:solidFill>
                <a:effectLst/>
                <a:latin typeface="+mn-lt"/>
                <a:ea typeface="+mn-ea"/>
                <a:cs typeface="+mn-cs"/>
              </a:rPr>
              <a:t>Eb</a:t>
            </a:r>
            <a:r>
              <a:rPr lang="zh-CN" altLang="en-US" sz="1200" b="0" i="0" kern="1200" dirty="0">
                <a:solidFill>
                  <a:schemeClr val="tx1"/>
                </a:solidFill>
                <a:effectLst/>
                <a:latin typeface="+mn-lt"/>
                <a:ea typeface="+mn-ea"/>
                <a:cs typeface="+mn-cs"/>
              </a:rPr>
              <a:t>值不同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所以在外磁场存在时原子光谱发生了分裂。</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电子自旋假设，很好地解释了反常塞曼效应</a:t>
            </a:r>
          </a:p>
          <a:p>
            <a:endParaRPr lang="zh-CN" altLang="en-US" dirty="0"/>
          </a:p>
        </p:txBody>
      </p:sp>
      <p:sp>
        <p:nvSpPr>
          <p:cNvPr id="4" name="灯片编号占位符 3"/>
          <p:cNvSpPr>
            <a:spLocks noGrp="1"/>
          </p:cNvSpPr>
          <p:nvPr>
            <p:ph type="sldNum" sz="quarter" idx="5"/>
          </p:nvPr>
        </p:nvSpPr>
        <p:spPr/>
        <p:txBody>
          <a:bodyPr/>
          <a:lstStyle/>
          <a:p>
            <a:fld id="{9819C032-BBD6-4DC7-882F-F65FCD30791F}"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在一个多电子体系中，当你测量其中一个电子的自旋时，你不仅瞬间决定了它的状态，也</a:t>
            </a:r>
            <a:r>
              <a:rPr lang="zh-CN" altLang="en-US" b="1" i="0" dirty="0">
                <a:solidFill>
                  <a:srgbClr val="0F1115"/>
                </a:solidFill>
                <a:effectLst/>
                <a:latin typeface="quote-cjk-patch"/>
              </a:rPr>
              <a:t>瞬间影响了其他纠缠电子的状态</a:t>
            </a:r>
            <a:r>
              <a:rPr lang="zh-CN" altLang="en-US" b="0" i="0" dirty="0">
                <a:solidFill>
                  <a:srgbClr val="0F1115"/>
                </a:solidFill>
                <a:effectLst/>
                <a:latin typeface="quote-cjk-patch"/>
              </a:rPr>
              <a:t>。因此，</a:t>
            </a:r>
            <a:r>
              <a:rPr lang="zh-CN" altLang="en-US" b="1" i="0" dirty="0">
                <a:solidFill>
                  <a:srgbClr val="0F1115"/>
                </a:solidFill>
                <a:effectLst/>
                <a:latin typeface="quote-cjk-patch"/>
              </a:rPr>
              <a:t>你无法再独立地、确定地描述任何一个单独电子的自旋</a:t>
            </a:r>
            <a:r>
              <a:rPr lang="zh-CN" altLang="en-US" b="0" i="0" dirty="0">
                <a:solidFill>
                  <a:srgbClr val="0F1115"/>
                </a:solidFill>
                <a:effectLst/>
                <a:latin typeface="quote-cjk-patch"/>
              </a:rPr>
              <a:t>。它们是一个不可分割的整体。</a:t>
            </a:r>
          </a:p>
          <a:p>
            <a:endParaRPr lang="zh-CN" altLang="en-US" dirty="0"/>
          </a:p>
        </p:txBody>
      </p:sp>
      <p:sp>
        <p:nvSpPr>
          <p:cNvPr id="4" name="灯片编号占位符 3"/>
          <p:cNvSpPr>
            <a:spLocks noGrp="1"/>
          </p:cNvSpPr>
          <p:nvPr>
            <p:ph type="sldNum" sz="quarter" idx="5"/>
          </p:nvPr>
        </p:nvSpPr>
        <p:spPr/>
        <p:txBody>
          <a:bodyPr/>
          <a:lstStyle/>
          <a:p>
            <a:fld id="{9819C032-BBD6-4DC7-882F-F65FCD30791F}" type="slidenum">
              <a:rPr lang="zh-CN" altLang="en-US" smtClean="0"/>
              <a:t>15</a:t>
            </a:fld>
            <a:endParaRPr lang="zh-CN" altLang="en-US"/>
          </a:p>
        </p:txBody>
      </p:sp>
    </p:spTree>
    <p:extLst>
      <p:ext uri="{BB962C8B-B14F-4D97-AF65-F5344CB8AC3E}">
        <p14:creationId xmlns:p14="http://schemas.microsoft.com/office/powerpoint/2010/main" val="142285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D64BC1A-D5DB-4DD6-A060-1F8035B07EE3}"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23" name="Rectangle 2"/>
          <p:cNvSpPr>
            <a:spLocks noGrp="1" noRot="1" noChangeAspect="1" noChangeArrowheads="1" noTextEdit="1"/>
          </p:cNvSpPr>
          <p:nvPr>
            <p:ph type="sldImg"/>
          </p:nvPr>
        </p:nvSpPr>
        <p:spPr/>
      </p:sp>
      <p:sp>
        <p:nvSpPr>
          <p:cNvPr id="133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p:txBody>
          <a:bodyPr/>
          <a:lstStyle>
            <a:lvl1pPr>
              <a:defRPr/>
            </a:lvl1pPr>
          </a:lstStyle>
          <a:p>
            <a:pPr>
              <a:defRPr/>
            </a:pPr>
            <a:fld id="{E9D05E25-5D4E-4F82-988A-BBD4F8A322A4}"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E5D6EA-7D01-44D2-A44B-EEADEE89940B}" type="datetimeFigureOut">
              <a:rPr lang="zh-CN" altLang="en-US" smtClean="0"/>
              <a:t>2025/9/29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9849EA-18B3-4CA7-9730-C7EE55E9A15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4.wmf"/><Relationship Id="rId4" Type="http://schemas.openxmlformats.org/officeDocument/2006/relationships/oleObject" Target="../embeddings/oleObject3.bin"/><Relationship Id="rId9"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8.w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oleObject" Target="../embeddings/oleObject9.bin"/><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4.wmf"/><Relationship Id="rId4" Type="http://schemas.openxmlformats.org/officeDocument/2006/relationships/oleObject" Target="../embeddings/oleObject11.bin"/><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4.wmf"/><Relationship Id="rId3" Type="http://schemas.openxmlformats.org/officeDocument/2006/relationships/image" Target="../media/image20.wmf"/><Relationship Id="rId7" Type="http://schemas.openxmlformats.org/officeDocument/2006/relationships/image" Target="../media/image22.wmf"/><Relationship Id="rId12" Type="http://schemas.openxmlformats.org/officeDocument/2006/relationships/oleObject" Target="../embeddings/oleObject17.bin"/><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68.png"/><Relationship Id="rId5" Type="http://schemas.openxmlformats.org/officeDocument/2006/relationships/image" Target="../media/image21.wmf"/><Relationship Id="rId4" Type="http://schemas.openxmlformats.org/officeDocument/2006/relationships/oleObject" Target="../embeddings/oleObject14.bin"/><Relationship Id="rId9" Type="http://schemas.openxmlformats.org/officeDocument/2006/relationships/image" Target="../media/image23.wmf"/></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26.wmf"/><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5.wmf"/><Relationship Id="rId4"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90.png"/><Relationship Id="rId7" Type="http://schemas.openxmlformats.org/officeDocument/2006/relationships/image" Target="../media/image28.wmf"/><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27.wmf"/><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3.wmf"/><Relationship Id="rId12" Type="http://schemas.openxmlformats.org/officeDocument/2006/relationships/oleObject" Target="../embeddings/oleObject27.bin"/><Relationship Id="rId17" Type="http://schemas.openxmlformats.org/officeDocument/2006/relationships/image" Target="../media/image38.wmf"/><Relationship Id="rId2" Type="http://schemas.openxmlformats.org/officeDocument/2006/relationships/oleObject" Target="../embeddings/oleObject22.bin"/><Relationship Id="rId16" Type="http://schemas.openxmlformats.org/officeDocument/2006/relationships/oleObject" Target="../embeddings/oleObject29.bin"/><Relationship Id="rId1" Type="http://schemas.openxmlformats.org/officeDocument/2006/relationships/slideLayout" Target="../slideLayouts/slideLayout1.xml"/><Relationship Id="rId6" Type="http://schemas.openxmlformats.org/officeDocument/2006/relationships/oleObject" Target="../embeddings/oleObject24.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7.w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34.wmf"/><Relationship Id="rId14" Type="http://schemas.openxmlformats.org/officeDocument/2006/relationships/oleObject" Target="../embeddings/oleObject2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1.wmf"/><Relationship Id="rId12" Type="http://schemas.openxmlformats.org/officeDocument/2006/relationships/oleObject" Target="../embeddings/oleObject35.bin"/><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43.wmf"/><Relationship Id="rId5" Type="http://schemas.openxmlformats.org/officeDocument/2006/relationships/image" Target="../media/image40.wmf"/><Relationship Id="rId15" Type="http://schemas.openxmlformats.org/officeDocument/2006/relationships/image" Target="../media/image45.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42.wmf"/><Relationship Id="rId14"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9.wmf"/><Relationship Id="rId18" Type="http://schemas.openxmlformats.org/officeDocument/2006/relationships/oleObject" Target="../embeddings/oleObject35.bin"/><Relationship Id="rId3" Type="http://schemas.openxmlformats.org/officeDocument/2006/relationships/image" Target="../media/image43.wmf"/><Relationship Id="rId7" Type="http://schemas.openxmlformats.org/officeDocument/2006/relationships/image" Target="../media/image46.wmf"/><Relationship Id="rId12" Type="http://schemas.openxmlformats.org/officeDocument/2006/relationships/oleObject" Target="../embeddings/oleObject40.bin"/><Relationship Id="rId17" Type="http://schemas.openxmlformats.org/officeDocument/2006/relationships/image" Target="../media/image51.wmf"/><Relationship Id="rId2" Type="http://schemas.openxmlformats.org/officeDocument/2006/relationships/oleObject" Target="../embeddings/oleObject34.bin"/><Relationship Id="rId16"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37.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0.wmf"/><Relationship Id="rId10" Type="http://schemas.openxmlformats.org/officeDocument/2006/relationships/oleObject" Target="../embeddings/oleObject39.bin"/><Relationship Id="rId19" Type="http://schemas.openxmlformats.org/officeDocument/2006/relationships/image" Target="../media/image52.emf"/><Relationship Id="rId4" Type="http://schemas.openxmlformats.org/officeDocument/2006/relationships/oleObject" Target="../embeddings/oleObject36.bin"/><Relationship Id="rId9" Type="http://schemas.openxmlformats.org/officeDocument/2006/relationships/image" Target="../media/image47.wmf"/><Relationship Id="rId14" Type="http://schemas.openxmlformats.org/officeDocument/2006/relationships/oleObject" Target="../embeddings/oleObject41.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58.wmf"/><Relationship Id="rId3" Type="http://schemas.openxmlformats.org/officeDocument/2006/relationships/image" Target="../media/image53.wmf"/><Relationship Id="rId7" Type="http://schemas.openxmlformats.org/officeDocument/2006/relationships/image" Target="../media/image55.wmf"/><Relationship Id="rId12" Type="http://schemas.openxmlformats.org/officeDocument/2006/relationships/oleObject" Target="../embeddings/oleObject48.bin"/><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56.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1.wmf"/><Relationship Id="rId12" Type="http://schemas.openxmlformats.org/officeDocument/2006/relationships/oleObject" Target="../embeddings/oleObject54.bin"/><Relationship Id="rId2" Type="http://schemas.openxmlformats.org/officeDocument/2006/relationships/oleObject" Target="../embeddings/oleObject49.bin"/><Relationship Id="rId1" Type="http://schemas.openxmlformats.org/officeDocument/2006/relationships/slideLayout" Target="../slideLayouts/slideLayout2.xml"/><Relationship Id="rId6" Type="http://schemas.openxmlformats.org/officeDocument/2006/relationships/oleObject" Target="../embeddings/oleObject51.bin"/><Relationship Id="rId11" Type="http://schemas.openxmlformats.org/officeDocument/2006/relationships/image" Target="../media/image63.wmf"/><Relationship Id="rId5" Type="http://schemas.openxmlformats.org/officeDocument/2006/relationships/image" Target="../media/image60.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62.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68.wmf"/></Relationships>
</file>

<file path=ppt/slides/_rels/slide2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3.wmf"/><Relationship Id="rId12" Type="http://schemas.openxmlformats.org/officeDocument/2006/relationships/oleObject" Target="../embeddings/oleObject66.bin"/><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63.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74.wmf"/><Relationship Id="rId14" Type="http://schemas.openxmlformats.org/officeDocument/2006/relationships/oleObject" Target="../embeddings/oleObject67.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image" Target="../media/image87.png"/><Relationship Id="rId7" Type="http://schemas.openxmlformats.org/officeDocument/2006/relationships/image" Target="../media/image79.wmf"/><Relationship Id="rId1" Type="http://schemas.openxmlformats.org/officeDocument/2006/relationships/slideLayout" Target="../slideLayouts/slideLayout2.xml"/><Relationship Id="rId6" Type="http://schemas.openxmlformats.org/officeDocument/2006/relationships/oleObject" Target="../embeddings/oleObject69.bin"/><Relationship Id="rId5" Type="http://schemas.openxmlformats.org/officeDocument/2006/relationships/image" Target="../media/image78.wmf"/><Relationship Id="rId4" Type="http://schemas.openxmlformats.org/officeDocument/2006/relationships/oleObject" Target="../embeddings/oleObject68.bin"/><Relationship Id="rId9" Type="http://schemas.openxmlformats.org/officeDocument/2006/relationships/image" Target="../media/image80.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1.wmf"/><Relationship Id="rId7" Type="http://schemas.openxmlformats.org/officeDocument/2006/relationships/image" Target="../media/image83.wmf"/><Relationship Id="rId2"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73.bin"/><Relationship Id="rId5" Type="http://schemas.openxmlformats.org/officeDocument/2006/relationships/image" Target="../media/image82.wmf"/><Relationship Id="rId4" Type="http://schemas.openxmlformats.org/officeDocument/2006/relationships/oleObject" Target="../embeddings/oleObject72.bin"/></Relationships>
</file>

<file path=ppt/slides/_rels/slide31.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74.bin"/><Relationship Id="rId1" Type="http://schemas.openxmlformats.org/officeDocument/2006/relationships/slideLayout" Target="../slideLayouts/slideLayout2.xml"/><Relationship Id="rId5" Type="http://schemas.openxmlformats.org/officeDocument/2006/relationships/image" Target="../media/image85.wmf"/><Relationship Id="rId4" Type="http://schemas.openxmlformats.org/officeDocument/2006/relationships/oleObject" Target="../embeddings/oleObject75.bin"/></Relationships>
</file>

<file path=ppt/slides/_rels/slide32.xml.rels><?xml version="1.0" encoding="UTF-8" standalone="yes"?>
<Relationships xmlns="http://schemas.openxmlformats.org/package/2006/relationships"><Relationship Id="rId3" Type="http://schemas.openxmlformats.org/officeDocument/2006/relationships/image" Target="../media/image123.png"/><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76.bin"/></Relationships>
</file>

<file path=ppt/slides/_rels/slide33.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8.wmf"/><Relationship Id="rId5" Type="http://schemas.openxmlformats.org/officeDocument/2006/relationships/oleObject" Target="../embeddings/oleObject78.bin"/><Relationship Id="rId4" Type="http://schemas.openxmlformats.org/officeDocument/2006/relationships/image" Target="../media/image87.wmf"/></Relationships>
</file>

<file path=ppt/slides/_rels/slide34.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80.bin"/><Relationship Id="rId1" Type="http://schemas.openxmlformats.org/officeDocument/2006/relationships/slideLayout" Target="../slideLayouts/slideLayout12.xml"/><Relationship Id="rId6" Type="http://schemas.openxmlformats.org/officeDocument/2006/relationships/image" Target="../media/image92.png"/><Relationship Id="rId5" Type="http://schemas.openxmlformats.org/officeDocument/2006/relationships/image" Target="../media/image91.wmf"/><Relationship Id="rId4" Type="http://schemas.openxmlformats.org/officeDocument/2006/relationships/oleObject" Target="../embeddings/oleObject81.bin"/></Relationships>
</file>

<file path=ppt/slides/_rels/slide35.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wmf"/><Relationship Id="rId4" Type="http://schemas.openxmlformats.org/officeDocument/2006/relationships/image" Target="../media/image95.wmf"/></Relationships>
</file>

<file path=ppt/slides/_rels/slide36.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82.bin"/><Relationship Id="rId1" Type="http://schemas.openxmlformats.org/officeDocument/2006/relationships/slideLayout" Target="../slideLayouts/slideLayout2.xml"/><Relationship Id="rId5" Type="http://schemas.openxmlformats.org/officeDocument/2006/relationships/image" Target="../media/image99.wmf"/><Relationship Id="rId4" Type="http://schemas.openxmlformats.org/officeDocument/2006/relationships/oleObject" Target="../embeddings/oleObject83.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837DAA60-164C-4A4D-854A-9B55DE0CF4EB}"/>
              </a:ext>
            </a:extLst>
          </p:cNvPr>
          <p:cNvGraphicFramePr>
            <a:graphicFrameLocks noGrp="1"/>
          </p:cNvGraphicFramePr>
          <p:nvPr/>
        </p:nvGraphicFramePr>
        <p:xfrm>
          <a:off x="796711" y="2200372"/>
          <a:ext cx="9993209" cy="2320825"/>
        </p:xfrm>
        <a:graphic>
          <a:graphicData uri="http://schemas.openxmlformats.org/drawingml/2006/table">
            <a:tbl>
              <a:tblPr firstRow="1" firstCol="1" bandRow="1">
                <a:tableStyleId>{5C22544A-7EE6-4342-B048-85BDC9FD1C3A}</a:tableStyleId>
              </a:tblPr>
              <a:tblGrid>
                <a:gridCol w="2944267">
                  <a:extLst>
                    <a:ext uri="{9D8B030D-6E8A-4147-A177-3AD203B41FA5}">
                      <a16:colId xmlns:a16="http://schemas.microsoft.com/office/drawing/2014/main" val="3135752763"/>
                    </a:ext>
                  </a:extLst>
                </a:gridCol>
                <a:gridCol w="2558583">
                  <a:extLst>
                    <a:ext uri="{9D8B030D-6E8A-4147-A177-3AD203B41FA5}">
                      <a16:colId xmlns:a16="http://schemas.microsoft.com/office/drawing/2014/main" val="3279252512"/>
                    </a:ext>
                  </a:extLst>
                </a:gridCol>
                <a:gridCol w="2040091">
                  <a:extLst>
                    <a:ext uri="{9D8B030D-6E8A-4147-A177-3AD203B41FA5}">
                      <a16:colId xmlns:a16="http://schemas.microsoft.com/office/drawing/2014/main" val="995394139"/>
                    </a:ext>
                  </a:extLst>
                </a:gridCol>
                <a:gridCol w="2450268">
                  <a:extLst>
                    <a:ext uri="{9D8B030D-6E8A-4147-A177-3AD203B41FA5}">
                      <a16:colId xmlns:a16="http://schemas.microsoft.com/office/drawing/2014/main" val="3918996118"/>
                    </a:ext>
                  </a:extLst>
                </a:gridCol>
              </a:tblGrid>
              <a:tr h="354437">
                <a:tc>
                  <a:txBody>
                    <a:bodyPr/>
                    <a:lstStyle/>
                    <a:p>
                      <a:pPr algn="just">
                        <a:spcAft>
                          <a:spcPts val="0"/>
                        </a:spcAft>
                      </a:pPr>
                      <a:r>
                        <a:rPr lang="en-US" sz="1800" kern="100" dirty="0">
                          <a:solidFill>
                            <a:schemeClr val="tx1"/>
                          </a:solidFill>
                          <a:effectLst/>
                        </a:rPr>
                        <a:t>system</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Hamiltonian</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Energy</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Wave function</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3245097"/>
                  </a:ext>
                </a:extLst>
              </a:tr>
              <a:tr h="354437">
                <a:tc>
                  <a:txBody>
                    <a:bodyPr/>
                    <a:lstStyle/>
                    <a:p>
                      <a:pPr algn="just">
                        <a:spcAft>
                          <a:spcPts val="0"/>
                        </a:spcAft>
                      </a:pPr>
                      <a:r>
                        <a:rPr lang="en-US" sz="1800" kern="100" dirty="0">
                          <a:solidFill>
                            <a:schemeClr val="tx1"/>
                          </a:solidFill>
                          <a:effectLst/>
                        </a:rPr>
                        <a:t>Free particles</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180988"/>
                  </a:ext>
                </a:extLst>
              </a:tr>
              <a:tr h="354437">
                <a:tc>
                  <a:txBody>
                    <a:bodyPr/>
                    <a:lstStyle/>
                    <a:p>
                      <a:pPr algn="just">
                        <a:spcAft>
                          <a:spcPts val="0"/>
                        </a:spcAft>
                      </a:pPr>
                      <a:r>
                        <a:rPr lang="en-US" sz="1800" kern="100" dirty="0">
                          <a:solidFill>
                            <a:schemeClr val="tx1"/>
                          </a:solidFill>
                          <a:effectLst/>
                        </a:rPr>
                        <a:t>Quantization of translation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4341858"/>
                  </a:ext>
                </a:extLst>
              </a:tr>
              <a:tr h="354437">
                <a:tc>
                  <a:txBody>
                    <a:bodyPr/>
                    <a:lstStyle/>
                    <a:p>
                      <a:pPr algn="just">
                        <a:spcAft>
                          <a:spcPts val="0"/>
                        </a:spcAft>
                      </a:pPr>
                      <a:r>
                        <a:rPr lang="en-US" sz="1800" kern="100" dirty="0">
                          <a:solidFill>
                            <a:schemeClr val="tx1"/>
                          </a:solidFill>
                          <a:effectLst/>
                        </a:rPr>
                        <a:t>Quantization of vibration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92813"/>
                  </a:ext>
                </a:extLst>
              </a:tr>
              <a:tr h="354437">
                <a:tc>
                  <a:txBody>
                    <a:bodyPr/>
                    <a:lstStyle/>
                    <a:p>
                      <a:pPr algn="just">
                        <a:spcAft>
                          <a:spcPts val="0"/>
                        </a:spcAft>
                      </a:pPr>
                      <a:r>
                        <a:rPr lang="en-US" sz="1800" kern="100" dirty="0">
                          <a:solidFill>
                            <a:schemeClr val="tx1"/>
                          </a:solidFill>
                          <a:effectLst/>
                        </a:rPr>
                        <a:t>Quantization of rotation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4387917"/>
                  </a:ext>
                </a:extLst>
              </a:tr>
              <a:tr h="354437">
                <a:tc>
                  <a:txBody>
                    <a:bodyPr/>
                    <a:lstStyle/>
                    <a:p>
                      <a:pPr algn="just">
                        <a:spcAft>
                          <a:spcPts val="0"/>
                        </a:spcAft>
                      </a:pPr>
                      <a:r>
                        <a:rPr lang="en-US" altLang="zh-CN" sz="1800" kern="100" dirty="0">
                          <a:solidFill>
                            <a:schemeClr val="tx1"/>
                          </a:solidFill>
                          <a:effectLst/>
                        </a:rPr>
                        <a:t>Quantization of motion in a Coulombic field</a:t>
                      </a:r>
                      <a:endParaRPr lang="zh-CN" altLang="zh-CN" sz="1800" kern="100" dirty="0">
                        <a:solidFill>
                          <a:schemeClr val="tx1"/>
                        </a:solidFill>
                        <a:effectLst/>
                        <a:latin typeface="等线" panose="02010600030101010101" pitchFamily="2" charset="-122"/>
                        <a:ea typeface="+mn-ea"/>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0629285"/>
                  </a:ext>
                </a:extLst>
              </a:tr>
            </a:tbl>
          </a:graphicData>
        </a:graphic>
      </p:graphicFrame>
      <p:sp>
        <p:nvSpPr>
          <p:cNvPr id="4" name="灯片编号占位符 3">
            <a:extLst>
              <a:ext uri="{FF2B5EF4-FFF2-40B4-BE49-F238E27FC236}">
                <a16:creationId xmlns:a16="http://schemas.microsoft.com/office/drawing/2014/main" id="{43D8745F-884E-4E6E-8213-1A16FB6DAAA6}"/>
              </a:ext>
            </a:extLst>
          </p:cNvPr>
          <p:cNvSpPr>
            <a:spLocks noGrp="1"/>
          </p:cNvSpPr>
          <p:nvPr>
            <p:ph type="sldNum" sz="quarter" idx="12"/>
          </p:nvPr>
        </p:nvSpPr>
        <p:spPr/>
        <p:txBody>
          <a:bodyPr/>
          <a:lstStyle/>
          <a:p>
            <a:fld id="{C29849EA-18B3-4CA7-9730-C7EE55E9A153}" type="slidenum">
              <a:rPr lang="zh-CN" altLang="en-US" smtClean="0"/>
              <a:t>1</a:t>
            </a:fld>
            <a:endParaRPr lang="zh-CN" altLang="en-US"/>
          </a:p>
        </p:txBody>
      </p:sp>
    </p:spTree>
    <p:extLst>
      <p:ext uri="{BB962C8B-B14F-4D97-AF65-F5344CB8AC3E}">
        <p14:creationId xmlns:p14="http://schemas.microsoft.com/office/powerpoint/2010/main" val="1326353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CEA7ED0-D13B-4FED-AD7E-8BCA84D56947}"/>
                  </a:ext>
                </a:extLst>
              </p:cNvPr>
              <p:cNvSpPr/>
              <p:nvPr/>
            </p:nvSpPr>
            <p:spPr>
              <a:xfrm>
                <a:off x="3536964" y="3145004"/>
                <a:ext cx="31325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smtClean="0">
                          <a:solidFill>
                            <a:srgbClr val="3333FF"/>
                          </a:solidFill>
                          <a:latin typeface="Cambria Math" panose="02040503050406030204" pitchFamily="18" charset="0"/>
                        </a:rPr>
                        <m:t>𝐻</m:t>
                      </m:r>
                      <m:r>
                        <m:rPr>
                          <m:sty m:val="p"/>
                        </m:rPr>
                        <a:rPr lang="en-US" altLang="zh-CN" sz="2400" b="0" i="0" baseline="30000" dirty="0" smtClean="0">
                          <a:solidFill>
                            <a:srgbClr val="3333FF"/>
                          </a:solidFill>
                          <a:latin typeface="Cambria Math" panose="02040503050406030204" pitchFamily="18" charset="0"/>
                        </a:rPr>
                        <m:t>tot</m:t>
                      </m:r>
                      <m:r>
                        <a:rPr lang="en-US" altLang="zh-CN" sz="2400" b="0" i="1" dirty="0" smtClean="0">
                          <a:solidFill>
                            <a:srgbClr val="3333FF"/>
                          </a:solidFill>
                          <a:latin typeface="Cambria Math" panose="02040503050406030204" pitchFamily="18" charset="0"/>
                        </a:rPr>
                        <m:t>=</m:t>
                      </m:r>
                      <m:r>
                        <a:rPr lang="en-US" altLang="zh-CN" sz="2400" i="1" dirty="0">
                          <a:solidFill>
                            <a:srgbClr val="3333FF"/>
                          </a:solidFill>
                          <a:latin typeface="Cambria Math" panose="02040503050406030204" pitchFamily="18" charset="0"/>
                        </a:rPr>
                        <m:t>𝐻</m:t>
                      </m:r>
                      <m:d>
                        <m:dPr>
                          <m:ctrlPr>
                            <a:rPr lang="en-US" altLang="zh-CN" sz="2400" i="1" dirty="0">
                              <a:solidFill>
                                <a:srgbClr val="3333FF"/>
                              </a:solidFill>
                              <a:latin typeface="Cambria Math" panose="02040503050406030204" pitchFamily="18" charset="0"/>
                            </a:rPr>
                          </m:ctrlPr>
                        </m:dPr>
                        <m:e>
                          <m:r>
                            <a:rPr lang="en-US" altLang="zh-CN" sz="2400" i="1" dirty="0">
                              <a:solidFill>
                                <a:srgbClr val="3333FF"/>
                              </a:solidFill>
                              <a:latin typeface="Cambria Math" panose="02040503050406030204" pitchFamily="18" charset="0"/>
                            </a:rPr>
                            <m:t>𝑟</m:t>
                          </m:r>
                        </m:e>
                      </m:d>
                      <m:r>
                        <a:rPr lang="en-US" altLang="zh-CN" sz="2400" i="1" dirty="0">
                          <a:solidFill>
                            <a:srgbClr val="3333FF"/>
                          </a:solidFill>
                          <a:latin typeface="Cambria Math" panose="02040503050406030204" pitchFamily="18" charset="0"/>
                        </a:rPr>
                        <m:t>+</m:t>
                      </m:r>
                      <m:r>
                        <a:rPr lang="en-US" altLang="zh-CN" sz="2400" i="1" dirty="0">
                          <a:solidFill>
                            <a:srgbClr val="3333FF"/>
                          </a:solidFill>
                          <a:latin typeface="Cambria Math" panose="02040503050406030204" pitchFamily="18" charset="0"/>
                        </a:rPr>
                        <m:t>𝐻</m:t>
                      </m:r>
                      <m:d>
                        <m:dPr>
                          <m:ctrlPr>
                            <a:rPr lang="en-US" altLang="zh-CN" sz="2400" i="1" dirty="0">
                              <a:solidFill>
                                <a:srgbClr val="3333FF"/>
                              </a:solidFill>
                              <a:latin typeface="Cambria Math" panose="02040503050406030204" pitchFamily="18" charset="0"/>
                            </a:rPr>
                          </m:ctrlPr>
                        </m:dPr>
                        <m:e>
                          <m:r>
                            <a:rPr lang="zh-CN" altLang="en-US" sz="2400" i="1" dirty="0">
                              <a:solidFill>
                                <a:srgbClr val="3333FF"/>
                              </a:solidFill>
                              <a:latin typeface="Cambria Math" panose="02040503050406030204" pitchFamily="18" charset="0"/>
                            </a:rPr>
                            <m:t>𝜃</m:t>
                          </m:r>
                          <m:r>
                            <a:rPr lang="en-US" altLang="zh-CN" sz="2400" i="1" dirty="0">
                              <a:solidFill>
                                <a:srgbClr val="3333FF"/>
                              </a:solidFill>
                              <a:latin typeface="Cambria Math" panose="02040503050406030204" pitchFamily="18" charset="0"/>
                            </a:rPr>
                            <m:t>, </m:t>
                          </m:r>
                          <m:r>
                            <a:rPr lang="zh-CN" altLang="en-US" sz="2400" i="1" dirty="0">
                              <a:solidFill>
                                <a:srgbClr val="3333FF"/>
                              </a:solidFill>
                              <a:latin typeface="Cambria Math" panose="02040503050406030204" pitchFamily="18" charset="0"/>
                            </a:rPr>
                            <m:t>𝜑</m:t>
                          </m:r>
                        </m:e>
                      </m:d>
                    </m:oMath>
                  </m:oMathPara>
                </a14:m>
                <a:endParaRPr lang="zh-CN" altLang="en-US" sz="2400" dirty="0"/>
              </a:p>
            </p:txBody>
          </p:sp>
        </mc:Choice>
        <mc:Fallback xmlns="">
          <p:sp>
            <p:nvSpPr>
              <p:cNvPr id="4" name="矩形 3">
                <a:extLst>
                  <a:ext uri="{FF2B5EF4-FFF2-40B4-BE49-F238E27FC236}">
                    <a16:creationId xmlns:a16="http://schemas.microsoft.com/office/drawing/2014/main" id="{6CEA7ED0-D13B-4FED-AD7E-8BCA84D56947}"/>
                  </a:ext>
                </a:extLst>
              </p:cNvPr>
              <p:cNvSpPr>
                <a:spLocks noRot="1" noChangeAspect="1" noMove="1" noResize="1" noEditPoints="1" noAdjustHandles="1" noChangeArrowheads="1" noChangeShapeType="1" noTextEdit="1"/>
              </p:cNvSpPr>
              <p:nvPr/>
            </p:nvSpPr>
            <p:spPr>
              <a:xfrm>
                <a:off x="3536964" y="3145004"/>
                <a:ext cx="3132524" cy="461665"/>
              </a:xfrm>
              <a:prstGeom prst="rect">
                <a:avLst/>
              </a:prstGeom>
              <a:blipFill>
                <a:blip r:embed="rId3"/>
                <a:stretch>
                  <a:fillRect b="-9211"/>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03B80CA5-B762-47CC-A9AE-FA53BE40A7F5}"/>
              </a:ext>
            </a:extLst>
          </p:cNvPr>
          <p:cNvGraphicFramePr>
            <a:graphicFrameLocks noChangeAspect="1"/>
          </p:cNvGraphicFramePr>
          <p:nvPr>
            <p:extLst>
              <p:ext uri="{D42A27DB-BD31-4B8C-83A1-F6EECF244321}">
                <p14:modId xmlns:p14="http://schemas.microsoft.com/office/powerpoint/2010/main" val="1323391333"/>
              </p:ext>
            </p:extLst>
          </p:nvPr>
        </p:nvGraphicFramePr>
        <p:xfrm>
          <a:off x="3546777" y="1969104"/>
          <a:ext cx="3657600" cy="860425"/>
        </p:xfrm>
        <a:graphic>
          <a:graphicData uri="http://schemas.openxmlformats.org/presentationml/2006/ole">
            <mc:AlternateContent xmlns:mc="http://schemas.openxmlformats.org/markup-compatibility/2006">
              <mc:Choice xmlns:v="urn:schemas-microsoft-com:vml" Requires="v">
                <p:oleObj name="Equation" r:id="rId4" imgW="3657873" imgH="861151" progId="Equation.DSMT4">
                  <p:embed/>
                </p:oleObj>
              </mc:Choice>
              <mc:Fallback>
                <p:oleObj name="Equation" r:id="rId4" imgW="3657873" imgH="861151" progId="Equation.DSMT4">
                  <p:embed/>
                  <p:pic>
                    <p:nvPicPr>
                      <p:cNvPr id="0" name=""/>
                      <p:cNvPicPr/>
                      <p:nvPr/>
                    </p:nvPicPr>
                    <p:blipFill>
                      <a:blip r:embed="rId5"/>
                      <a:stretch>
                        <a:fillRect/>
                      </a:stretch>
                    </p:blipFill>
                    <p:spPr>
                      <a:xfrm>
                        <a:off x="3546777" y="1969104"/>
                        <a:ext cx="3657600" cy="860425"/>
                      </a:xfrm>
                      <a:prstGeom prst="rect">
                        <a:avLst/>
                      </a:prstGeom>
                    </p:spPr>
                  </p:pic>
                </p:oleObj>
              </mc:Fallback>
            </mc:AlternateContent>
          </a:graphicData>
        </a:graphic>
      </p:graphicFrame>
      <p:sp>
        <p:nvSpPr>
          <p:cNvPr id="2" name="Line 2">
            <a:extLst>
              <a:ext uri="{FF2B5EF4-FFF2-40B4-BE49-F238E27FC236}">
                <a16:creationId xmlns:a16="http://schemas.microsoft.com/office/drawing/2014/main" id="{4B306104-BC28-51D0-0033-3305EF5B8011}"/>
              </a:ext>
            </a:extLst>
          </p:cNvPr>
          <p:cNvSpPr>
            <a:spLocks noChangeShapeType="1"/>
          </p:cNvSpPr>
          <p:nvPr/>
        </p:nvSpPr>
        <p:spPr bwMode="auto">
          <a:xfrm flipV="1">
            <a:off x="74427"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B3F23B78-7621-F954-F09E-071AE3C1C25B}"/>
              </a:ext>
            </a:extLst>
          </p:cNvPr>
          <p:cNvSpPr txBox="1"/>
          <p:nvPr/>
        </p:nvSpPr>
        <p:spPr>
          <a:xfrm>
            <a:off x="2591873" y="214109"/>
            <a:ext cx="6102626" cy="523220"/>
          </a:xfrm>
          <a:prstGeom prst="rect">
            <a:avLst/>
          </a:prstGeom>
          <a:noFill/>
        </p:spPr>
        <p:txBody>
          <a:bodyPr wrap="square">
            <a:spAutoFit/>
          </a:bodyPr>
          <a:lstStyle/>
          <a:p>
            <a:pPr algn="ctr"/>
            <a:r>
              <a:rPr lang="en-US" altLang="zh-CN" sz="2800" b="1" dirty="0">
                <a:latin typeface="Times New Roman" panose="02020603050405020304" pitchFamily="18" charset="0"/>
                <a:cs typeface="Times New Roman" panose="02020603050405020304" pitchFamily="18" charset="0"/>
              </a:rPr>
              <a:t>Hydrogen-like atom</a:t>
            </a:r>
            <a:endParaRPr lang="zh-CN" altLang="en-US" sz="2800" dirty="0"/>
          </a:p>
        </p:txBody>
      </p:sp>
      <p:sp>
        <p:nvSpPr>
          <p:cNvPr id="9" name="Rectangle 14">
            <a:extLst>
              <a:ext uri="{FF2B5EF4-FFF2-40B4-BE49-F238E27FC236}">
                <a16:creationId xmlns:a16="http://schemas.microsoft.com/office/drawing/2014/main" id="{A61E6D0E-72A2-5010-0D60-11917F4FDDAF}"/>
              </a:ext>
            </a:extLst>
          </p:cNvPr>
          <p:cNvSpPr>
            <a:spLocks noChangeArrowheads="1"/>
          </p:cNvSpPr>
          <p:nvPr/>
        </p:nvSpPr>
        <p:spPr bwMode="auto">
          <a:xfrm>
            <a:off x="357852" y="1324112"/>
            <a:ext cx="10276840" cy="457200"/>
          </a:xfrm>
          <a:prstGeom prst="rect">
            <a:avLst/>
          </a:prstGeom>
          <a:noFill/>
          <a:ln>
            <a:noFill/>
          </a:ln>
          <a:effectLst/>
        </p:spPr>
        <p:txBody>
          <a:bodyPr/>
          <a:lstStyle/>
          <a:p>
            <a:pPr marL="342900" indent="-342900">
              <a:spcBef>
                <a:spcPct val="20000"/>
              </a:spcBef>
              <a:defRPr/>
            </a:pPr>
            <a:r>
              <a:rPr lang="en-US" altLang="zh-CN" sz="2400" dirty="0">
                <a:latin typeface="Times New Roman" panose="02020603050405020304" pitchFamily="18" charset="0"/>
                <a:cs typeface="Times New Roman" panose="02020603050405020304" pitchFamily="18" charset="0"/>
              </a:rPr>
              <a:t>The hydrogen-like atom contains two particles, the proton and the electron </a:t>
            </a:r>
          </a:p>
        </p:txBody>
      </p:sp>
      <p:pic>
        <p:nvPicPr>
          <p:cNvPr id="3" name="图片 2">
            <a:extLst>
              <a:ext uri="{FF2B5EF4-FFF2-40B4-BE49-F238E27FC236}">
                <a16:creationId xmlns:a16="http://schemas.microsoft.com/office/drawing/2014/main" id="{6FA47D86-B328-7EFE-B926-F7EEF94D46A0}"/>
              </a:ext>
            </a:extLst>
          </p:cNvPr>
          <p:cNvPicPr>
            <a:picLocks noChangeAspect="1"/>
          </p:cNvPicPr>
          <p:nvPr/>
        </p:nvPicPr>
        <p:blipFill>
          <a:blip r:embed="rId6"/>
          <a:stretch>
            <a:fillRect/>
          </a:stretch>
        </p:blipFill>
        <p:spPr>
          <a:xfrm>
            <a:off x="3536964" y="3922313"/>
            <a:ext cx="3365284" cy="646232"/>
          </a:xfrm>
          <a:prstGeom prst="rect">
            <a:avLst/>
          </a:prstGeom>
        </p:spPr>
      </p:pic>
    </p:spTree>
    <p:extLst>
      <p:ext uri="{BB962C8B-B14F-4D97-AF65-F5344CB8AC3E}">
        <p14:creationId xmlns:p14="http://schemas.microsoft.com/office/powerpoint/2010/main" val="1853717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E0290921-A13E-EE8A-9573-F68709618802}"/>
              </a:ext>
            </a:extLst>
          </p:cNvPr>
          <p:cNvGraphicFramePr>
            <a:graphicFrameLocks noChangeAspect="1"/>
          </p:cNvGraphicFramePr>
          <p:nvPr>
            <p:extLst>
              <p:ext uri="{D42A27DB-BD31-4B8C-83A1-F6EECF244321}">
                <p14:modId xmlns:p14="http://schemas.microsoft.com/office/powerpoint/2010/main" val="3189188323"/>
              </p:ext>
            </p:extLst>
          </p:nvPr>
        </p:nvGraphicFramePr>
        <p:xfrm>
          <a:off x="514742" y="1471685"/>
          <a:ext cx="4723920" cy="838080"/>
        </p:xfrm>
        <a:graphic>
          <a:graphicData uri="http://schemas.openxmlformats.org/presentationml/2006/ole">
            <mc:AlternateContent xmlns:mc="http://schemas.openxmlformats.org/markup-compatibility/2006">
              <mc:Choice xmlns:v="urn:schemas-microsoft-com:vml" Requires="v">
                <p:oleObj name="Equation" r:id="rId2" imgW="2361960" imgH="419040" progId="Equation.DSMT4">
                  <p:embed/>
                </p:oleObj>
              </mc:Choice>
              <mc:Fallback>
                <p:oleObj name="Equation" r:id="rId2" imgW="2361960" imgH="419040" progId="Equation.DSMT4">
                  <p:embed/>
                  <p:pic>
                    <p:nvPicPr>
                      <p:cNvPr id="5" name="对象 4">
                        <a:extLst>
                          <a:ext uri="{FF2B5EF4-FFF2-40B4-BE49-F238E27FC236}">
                            <a16:creationId xmlns:a16="http://schemas.microsoft.com/office/drawing/2014/main" id="{865BD21E-F3BB-4776-86A2-0F3A89D3DDE8}"/>
                          </a:ext>
                        </a:extLst>
                      </p:cNvPr>
                      <p:cNvPicPr/>
                      <p:nvPr/>
                    </p:nvPicPr>
                    <p:blipFill>
                      <a:blip r:embed="rId3"/>
                      <a:stretch>
                        <a:fillRect/>
                      </a:stretch>
                    </p:blipFill>
                    <p:spPr>
                      <a:xfrm>
                        <a:off x="514742" y="1471685"/>
                        <a:ext cx="4723920" cy="838080"/>
                      </a:xfrm>
                      <a:prstGeom prst="rect">
                        <a:avLst/>
                      </a:prstGeom>
                    </p:spPr>
                  </p:pic>
                </p:oleObj>
              </mc:Fallback>
            </mc:AlternateContent>
          </a:graphicData>
        </a:graphic>
      </p:graphicFrame>
      <p:graphicFrame>
        <p:nvGraphicFramePr>
          <p:cNvPr id="7" name="Object 2">
            <a:extLst>
              <a:ext uri="{FF2B5EF4-FFF2-40B4-BE49-F238E27FC236}">
                <a16:creationId xmlns:a16="http://schemas.microsoft.com/office/drawing/2014/main" id="{656E69EE-3AEF-3106-775E-3B383868EA13}"/>
              </a:ext>
            </a:extLst>
          </p:cNvPr>
          <p:cNvGraphicFramePr>
            <a:graphicFrameLocks noChangeAspect="1"/>
          </p:cNvGraphicFramePr>
          <p:nvPr>
            <p:extLst>
              <p:ext uri="{D42A27DB-BD31-4B8C-83A1-F6EECF244321}">
                <p14:modId xmlns:p14="http://schemas.microsoft.com/office/powerpoint/2010/main" val="1216042849"/>
              </p:ext>
            </p:extLst>
          </p:nvPr>
        </p:nvGraphicFramePr>
        <p:xfrm>
          <a:off x="704635" y="2485404"/>
          <a:ext cx="3794125" cy="949325"/>
        </p:xfrm>
        <a:graphic>
          <a:graphicData uri="http://schemas.openxmlformats.org/presentationml/2006/ole">
            <mc:AlternateContent xmlns:mc="http://schemas.openxmlformats.org/markup-compatibility/2006">
              <mc:Choice xmlns:v="urn:schemas-microsoft-com:vml" Requires="v">
                <p:oleObj name="Equation" r:id="rId4" imgW="1828800" imgH="457200" progId="Equation.DSMT4">
                  <p:embed/>
                </p:oleObj>
              </mc:Choice>
              <mc:Fallback>
                <p:oleObj name="Equation" r:id="rId4" imgW="1828800" imgH="457200" progId="Equation.DSMT4">
                  <p:embed/>
                  <p:pic>
                    <p:nvPicPr>
                      <p:cNvPr id="4" name="Object 2">
                        <a:extLst>
                          <a:ext uri="{FF2B5EF4-FFF2-40B4-BE49-F238E27FC236}">
                            <a16:creationId xmlns:a16="http://schemas.microsoft.com/office/drawing/2014/main" id="{8542ECE4-4EF7-4754-98AB-21E63F829961}"/>
                          </a:ext>
                        </a:extLst>
                      </p:cNvPr>
                      <p:cNvPicPr>
                        <a:picLocks noChangeAspect="1" noChangeArrowheads="1"/>
                      </p:cNvPicPr>
                      <p:nvPr/>
                    </p:nvPicPr>
                    <p:blipFill>
                      <a:blip r:embed="rId5"/>
                      <a:srcRect/>
                      <a:stretch>
                        <a:fillRect/>
                      </a:stretch>
                    </p:blipFill>
                    <p:spPr bwMode="auto">
                      <a:xfrm>
                        <a:off x="704635" y="2485404"/>
                        <a:ext cx="3794125" cy="949325"/>
                      </a:xfrm>
                      <a:prstGeom prst="rect">
                        <a:avLst/>
                      </a:prstGeom>
                      <a:noFill/>
                    </p:spPr>
                  </p:pic>
                </p:oleObj>
              </mc:Fallback>
            </mc:AlternateContent>
          </a:graphicData>
        </a:graphic>
      </p:graphicFrame>
      <p:sp>
        <p:nvSpPr>
          <p:cNvPr id="8" name="Text Box 5">
            <a:extLst>
              <a:ext uri="{FF2B5EF4-FFF2-40B4-BE49-F238E27FC236}">
                <a16:creationId xmlns:a16="http://schemas.microsoft.com/office/drawing/2014/main" id="{3EBBD724-5EC4-0153-AE7E-C0773E349907}"/>
              </a:ext>
            </a:extLst>
          </p:cNvPr>
          <p:cNvSpPr txBox="1">
            <a:spLocks noChangeArrowheads="1"/>
          </p:cNvSpPr>
          <p:nvPr/>
        </p:nvSpPr>
        <p:spPr bwMode="auto">
          <a:xfrm>
            <a:off x="704635" y="3503894"/>
            <a:ext cx="47376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5000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i="1" dirty="0">
                <a:solidFill>
                  <a:srgbClr val="3333FF"/>
                </a:solidFill>
                <a:cs typeface="Times New Roman" panose="02020603050405020304" pitchFamily="18" charset="0"/>
                <a:sym typeface="Symbol" pitchFamily="18" charset="2"/>
              </a:rPr>
              <a:t>l</a:t>
            </a:r>
            <a:r>
              <a:rPr lang="en-US" altLang="zh-CN" dirty="0">
                <a:solidFill>
                  <a:srgbClr val="3333FF"/>
                </a:solidFill>
                <a:cs typeface="Times New Roman" panose="02020603050405020304" pitchFamily="18" charset="0"/>
              </a:rPr>
              <a:t> </a:t>
            </a:r>
            <a:r>
              <a:rPr lang="en-US" altLang="zh-CN" dirty="0">
                <a:solidFill>
                  <a:srgbClr val="3333FF"/>
                </a:solidFill>
                <a:cs typeface="Times New Roman" panose="02020603050405020304" pitchFamily="18" charset="0"/>
                <a:sym typeface="Symbol" panose="05050102010706020507" pitchFamily="18" charset="2"/>
              </a:rPr>
              <a:t> n -1  </a:t>
            </a:r>
          </a:p>
          <a:p>
            <a:pPr eaLnBrk="1" hangingPunct="1"/>
            <a:r>
              <a:rPr lang="en-US" altLang="zh-CN" i="1" dirty="0">
                <a:solidFill>
                  <a:srgbClr val="3333FF"/>
                </a:solidFill>
                <a:cs typeface="Times New Roman" panose="02020603050405020304" pitchFamily="18" charset="0"/>
                <a:sym typeface="Symbol" pitchFamily="18" charset="2"/>
              </a:rPr>
              <a:t>n = 1, 2, 3,……  </a:t>
            </a:r>
          </a:p>
          <a:p>
            <a:pPr eaLnBrk="1" hangingPunct="1"/>
            <a:r>
              <a:rPr lang="en-US" altLang="zh-CN" i="1" dirty="0">
                <a:solidFill>
                  <a:srgbClr val="3333FF"/>
                </a:solidFill>
                <a:cs typeface="Times New Roman" panose="02020603050405020304" pitchFamily="18" charset="0"/>
                <a:sym typeface="Symbol" pitchFamily="18" charset="2"/>
              </a:rPr>
              <a:t>l = 0, 1, 2, ……</a:t>
            </a:r>
          </a:p>
        </p:txBody>
      </p:sp>
      <p:graphicFrame>
        <p:nvGraphicFramePr>
          <p:cNvPr id="9" name="Object 3">
            <a:extLst>
              <a:ext uri="{FF2B5EF4-FFF2-40B4-BE49-F238E27FC236}">
                <a16:creationId xmlns:a16="http://schemas.microsoft.com/office/drawing/2014/main" id="{F92D4896-0B61-2C19-ED42-91B572C118EA}"/>
              </a:ext>
            </a:extLst>
          </p:cNvPr>
          <p:cNvGraphicFramePr>
            <a:graphicFrameLocks noChangeAspect="1"/>
          </p:cNvGraphicFramePr>
          <p:nvPr>
            <p:extLst>
              <p:ext uri="{D42A27DB-BD31-4B8C-83A1-F6EECF244321}">
                <p14:modId xmlns:p14="http://schemas.microsoft.com/office/powerpoint/2010/main" val="77200238"/>
              </p:ext>
            </p:extLst>
          </p:nvPr>
        </p:nvGraphicFramePr>
        <p:xfrm>
          <a:off x="6835902" y="1755404"/>
          <a:ext cx="3581400" cy="508000"/>
        </p:xfrm>
        <a:graphic>
          <a:graphicData uri="http://schemas.openxmlformats.org/presentationml/2006/ole">
            <mc:AlternateContent xmlns:mc="http://schemas.openxmlformats.org/markup-compatibility/2006">
              <mc:Choice xmlns:v="urn:schemas-microsoft-com:vml" Requires="v">
                <p:oleObj name="Equation" r:id="rId6" imgW="1790640" imgH="253800" progId="Equation.DSMT4">
                  <p:embed/>
                </p:oleObj>
              </mc:Choice>
              <mc:Fallback>
                <p:oleObj name="Equation" r:id="rId6" imgW="1790640" imgH="253800" progId="Equation.DSMT4">
                  <p:embed/>
                  <p:pic>
                    <p:nvPicPr>
                      <p:cNvPr id="7" name="Object 3"/>
                      <p:cNvPicPr>
                        <a:picLocks noChangeAspect="1" noChangeArrowheads="1"/>
                      </p:cNvPicPr>
                      <p:nvPr/>
                    </p:nvPicPr>
                    <p:blipFill>
                      <a:blip r:embed="rId7"/>
                      <a:srcRect/>
                      <a:stretch>
                        <a:fillRect/>
                      </a:stretch>
                    </p:blipFill>
                    <p:spPr bwMode="auto">
                      <a:xfrm>
                        <a:off x="6835902" y="1755404"/>
                        <a:ext cx="3581400" cy="508000"/>
                      </a:xfrm>
                      <a:prstGeom prst="rect">
                        <a:avLst/>
                      </a:prstGeom>
                      <a:solidFill>
                        <a:schemeClr val="bg1"/>
                      </a:solidFill>
                    </p:spPr>
                  </p:pic>
                </p:oleObj>
              </mc:Fallback>
            </mc:AlternateContent>
          </a:graphicData>
        </a:graphic>
      </p:graphicFrame>
      <p:graphicFrame>
        <p:nvGraphicFramePr>
          <p:cNvPr id="10" name="Object 4">
            <a:extLst>
              <a:ext uri="{FF2B5EF4-FFF2-40B4-BE49-F238E27FC236}">
                <a16:creationId xmlns:a16="http://schemas.microsoft.com/office/drawing/2014/main" id="{0B14C5EF-DC57-A8F8-2773-32F977CD59E0}"/>
              </a:ext>
            </a:extLst>
          </p:cNvPr>
          <p:cNvGraphicFramePr>
            <a:graphicFrameLocks noChangeAspect="1"/>
          </p:cNvGraphicFramePr>
          <p:nvPr>
            <p:extLst>
              <p:ext uri="{D42A27DB-BD31-4B8C-83A1-F6EECF244321}">
                <p14:modId xmlns:p14="http://schemas.microsoft.com/office/powerpoint/2010/main" val="2803985275"/>
              </p:ext>
            </p:extLst>
          </p:nvPr>
        </p:nvGraphicFramePr>
        <p:xfrm>
          <a:off x="6835902" y="2603893"/>
          <a:ext cx="2997200" cy="508000"/>
        </p:xfrm>
        <a:graphic>
          <a:graphicData uri="http://schemas.openxmlformats.org/presentationml/2006/ole">
            <mc:AlternateContent xmlns:mc="http://schemas.openxmlformats.org/markup-compatibility/2006">
              <mc:Choice xmlns:v="urn:schemas-microsoft-com:vml" Requires="v">
                <p:oleObj name="Equation" r:id="rId8" imgW="1498320" imgH="253800" progId="Equation.DSMT4">
                  <p:embed/>
                </p:oleObj>
              </mc:Choice>
              <mc:Fallback>
                <p:oleObj name="Equation" r:id="rId8" imgW="1498320" imgH="253800" progId="Equation.DSMT4">
                  <p:embed/>
                  <p:pic>
                    <p:nvPicPr>
                      <p:cNvPr id="8" name="Object 4"/>
                      <p:cNvPicPr>
                        <a:picLocks noChangeAspect="1" noChangeArrowheads="1"/>
                      </p:cNvPicPr>
                      <p:nvPr/>
                    </p:nvPicPr>
                    <p:blipFill>
                      <a:blip r:embed="rId9"/>
                      <a:srcRect/>
                      <a:stretch>
                        <a:fillRect/>
                      </a:stretch>
                    </p:blipFill>
                    <p:spPr bwMode="auto">
                      <a:xfrm>
                        <a:off x="6835902" y="2603893"/>
                        <a:ext cx="2997200" cy="508000"/>
                      </a:xfrm>
                      <a:prstGeom prst="rect">
                        <a:avLst/>
                      </a:prstGeom>
                      <a:solidFill>
                        <a:schemeClr val="bg1"/>
                      </a:solidFill>
                    </p:spPr>
                  </p:pic>
                </p:oleObj>
              </mc:Fallback>
            </mc:AlternateContent>
          </a:graphicData>
        </a:graphic>
      </p:graphicFrame>
      <p:sp>
        <p:nvSpPr>
          <p:cNvPr id="12" name="文本框 11">
            <a:extLst>
              <a:ext uri="{FF2B5EF4-FFF2-40B4-BE49-F238E27FC236}">
                <a16:creationId xmlns:a16="http://schemas.microsoft.com/office/drawing/2014/main" id="{6DA904B5-DA61-03E1-A7BB-63520B6F195B}"/>
              </a:ext>
            </a:extLst>
          </p:cNvPr>
          <p:cNvSpPr txBox="1"/>
          <p:nvPr/>
        </p:nvSpPr>
        <p:spPr>
          <a:xfrm>
            <a:off x="6835902" y="3433449"/>
            <a:ext cx="1167307" cy="461665"/>
          </a:xfrm>
          <a:prstGeom prst="rect">
            <a:avLst/>
          </a:prstGeom>
          <a:noFill/>
        </p:spPr>
        <p:txBody>
          <a:bodyPr wrap="none" rtlCol="0">
            <a:spAutoFit/>
          </a:bodyPr>
          <a:lstStyle/>
          <a:p>
            <a:r>
              <a:rPr lang="en-US" altLang="zh-CN" sz="2400" dirty="0">
                <a:solidFill>
                  <a:srgbClr val="3333FF"/>
                </a:solidFill>
                <a:latin typeface="Times New Roman" panose="02020603050405020304" pitchFamily="18" charset="0"/>
                <a:cs typeface="Times New Roman" panose="02020603050405020304" pitchFamily="18" charset="0"/>
              </a:rPr>
              <a:t>|</a:t>
            </a:r>
            <a:r>
              <a:rPr lang="en-US" altLang="zh-CN" sz="2400" i="1" dirty="0">
                <a:solidFill>
                  <a:srgbClr val="3333FF"/>
                </a:solidFill>
                <a:latin typeface="Times New Roman" panose="02020603050405020304" pitchFamily="18" charset="0"/>
                <a:cs typeface="Times New Roman" panose="02020603050405020304" pitchFamily="18" charset="0"/>
              </a:rPr>
              <a:t>m</a:t>
            </a:r>
            <a:r>
              <a:rPr lang="en-US" altLang="zh-CN" sz="2400" dirty="0">
                <a:solidFill>
                  <a:srgbClr val="3333FF"/>
                </a:solidFill>
                <a:latin typeface="Times New Roman" panose="02020603050405020304" pitchFamily="18" charset="0"/>
                <a:cs typeface="Times New Roman" panose="02020603050405020304" pitchFamily="18" charset="0"/>
              </a:rPr>
              <a:t>| </a:t>
            </a:r>
            <a:r>
              <a:rPr lang="en-US" altLang="zh-CN" sz="24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sz="24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solidFill>
                  <a:srgbClr val="3333FF"/>
                </a:solidFill>
                <a:latin typeface="Times New Roman" panose="02020603050405020304" pitchFamily="18" charset="0"/>
                <a:cs typeface="Times New Roman" panose="02020603050405020304" pitchFamily="18" charset="0"/>
              </a:rPr>
              <a:t> </a:t>
            </a:r>
            <a:endParaRPr lang="zh-CN" altLang="en-US" sz="2400" dirty="0">
              <a:solidFill>
                <a:srgbClr val="3333FF"/>
              </a:solidFill>
              <a:latin typeface="Times New Roman" panose="02020603050405020304" pitchFamily="18" charset="0"/>
              <a:cs typeface="Times New Roman" panose="02020603050405020304" pitchFamily="18" charset="0"/>
            </a:endParaRPr>
          </a:p>
        </p:txBody>
      </p:sp>
      <p:sp>
        <p:nvSpPr>
          <p:cNvPr id="13" name="Line 2">
            <a:extLst>
              <a:ext uri="{FF2B5EF4-FFF2-40B4-BE49-F238E27FC236}">
                <a16:creationId xmlns:a16="http://schemas.microsoft.com/office/drawing/2014/main" id="{716FD60E-A9E7-2512-E385-382FD75D7961}"/>
              </a:ext>
            </a:extLst>
          </p:cNvPr>
          <p:cNvSpPr>
            <a:spLocks noChangeShapeType="1"/>
          </p:cNvSpPr>
          <p:nvPr/>
        </p:nvSpPr>
        <p:spPr bwMode="auto">
          <a:xfrm flipV="1">
            <a:off x="74427"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cxnSp>
        <p:nvCxnSpPr>
          <p:cNvPr id="15" name="直接连接符 14">
            <a:extLst>
              <a:ext uri="{FF2B5EF4-FFF2-40B4-BE49-F238E27FC236}">
                <a16:creationId xmlns:a16="http://schemas.microsoft.com/office/drawing/2014/main" id="{8A8CC917-CE28-CC2A-78A3-682BFAA3090D}"/>
              </a:ext>
            </a:extLst>
          </p:cNvPr>
          <p:cNvCxnSpPr/>
          <p:nvPr/>
        </p:nvCxnSpPr>
        <p:spPr>
          <a:xfrm>
            <a:off x="6096000" y="1113183"/>
            <a:ext cx="86139" cy="4701208"/>
          </a:xfrm>
          <a:prstGeom prst="line">
            <a:avLst/>
          </a:prstGeom>
          <a:ln w="19050">
            <a:solidFill>
              <a:srgbClr val="3333FF"/>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9083A3D-9C87-2DA9-98B5-0978E217E062}"/>
              </a:ext>
            </a:extLst>
          </p:cNvPr>
          <p:cNvSpPr txBox="1"/>
          <p:nvPr/>
        </p:nvSpPr>
        <p:spPr>
          <a:xfrm>
            <a:off x="3842809" y="216450"/>
            <a:ext cx="4801314"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类氢原子的三个量子数相互有联系</a:t>
            </a:r>
          </a:p>
        </p:txBody>
      </p:sp>
    </p:spTree>
    <p:extLst>
      <p:ext uri="{BB962C8B-B14F-4D97-AF65-F5344CB8AC3E}">
        <p14:creationId xmlns:p14="http://schemas.microsoft.com/office/powerpoint/2010/main" val="2941912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B047791-3078-454B-8354-0A8323621E58}"/>
              </a:ext>
            </a:extLst>
          </p:cNvPr>
          <p:cNvGrpSpPr/>
          <p:nvPr/>
        </p:nvGrpSpPr>
        <p:grpSpPr>
          <a:xfrm>
            <a:off x="852486" y="2732807"/>
            <a:ext cx="10487025" cy="678815"/>
            <a:chOff x="853120" y="1185228"/>
            <a:chExt cx="10487025" cy="678815"/>
          </a:xfrm>
        </p:grpSpPr>
        <p:sp>
          <p:nvSpPr>
            <p:cNvPr id="7" name="文本框 6"/>
            <p:cNvSpPr txBox="1"/>
            <p:nvPr/>
          </p:nvSpPr>
          <p:spPr>
            <a:xfrm>
              <a:off x="853120" y="1294962"/>
              <a:ext cx="10487025" cy="46037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Dirac equation:</a:t>
              </a:r>
            </a:p>
          </p:txBody>
        </p:sp>
        <p:graphicFrame>
          <p:nvGraphicFramePr>
            <p:cNvPr id="2" name="对象 -2147482620"/>
            <p:cNvGraphicFramePr>
              <a:graphicFrameLocks noChangeAspect="1"/>
            </p:cNvGraphicFramePr>
            <p:nvPr>
              <p:extLst>
                <p:ext uri="{D42A27DB-BD31-4B8C-83A1-F6EECF244321}">
                  <p14:modId xmlns:p14="http://schemas.microsoft.com/office/powerpoint/2010/main" val="1437022971"/>
                </p:ext>
              </p:extLst>
            </p:nvPr>
          </p:nvGraphicFramePr>
          <p:xfrm>
            <a:off x="3533775" y="1185228"/>
            <a:ext cx="3073400" cy="678815"/>
          </p:xfrm>
          <a:graphic>
            <a:graphicData uri="http://schemas.openxmlformats.org/presentationml/2006/ole">
              <mc:AlternateContent xmlns:mc="http://schemas.openxmlformats.org/markup-compatibility/2006">
                <mc:Choice xmlns:v="urn:schemas-microsoft-com:vml" Requires="v">
                  <p:oleObj r:id="rId2" imgW="3073400" imgH="673100" progId="Equation.DSMT4">
                    <p:embed/>
                  </p:oleObj>
                </mc:Choice>
                <mc:Fallback>
                  <p:oleObj r:id="rId2" imgW="3073400" imgH="673100" progId="Equation.DSMT4">
                    <p:embed/>
                    <p:pic>
                      <p:nvPicPr>
                        <p:cNvPr id="2" name="对象 -2147482620"/>
                        <p:cNvPicPr/>
                        <p:nvPr/>
                      </p:nvPicPr>
                      <p:blipFill>
                        <a:blip r:embed="rId3"/>
                        <a:stretch>
                          <a:fillRect/>
                        </a:stretch>
                      </p:blipFill>
                      <p:spPr>
                        <a:xfrm>
                          <a:off x="3533775" y="1185228"/>
                          <a:ext cx="3073400" cy="678815"/>
                        </a:xfrm>
                        <a:prstGeom prst="rect">
                          <a:avLst/>
                        </a:prstGeom>
                        <a:noFill/>
                        <a:ln w="38100">
                          <a:noFill/>
                          <a:miter/>
                        </a:ln>
                      </p:spPr>
                    </p:pic>
                  </p:oleObj>
                </mc:Fallback>
              </mc:AlternateContent>
            </a:graphicData>
          </a:graphic>
        </p:graphicFrame>
      </p:grpSp>
      <p:grpSp>
        <p:nvGrpSpPr>
          <p:cNvPr id="6" name="组合 5"/>
          <p:cNvGrpSpPr/>
          <p:nvPr/>
        </p:nvGrpSpPr>
        <p:grpSpPr>
          <a:xfrm>
            <a:off x="852487" y="1467499"/>
            <a:ext cx="10486390" cy="831850"/>
            <a:chOff x="1343" y="4028"/>
            <a:chExt cx="16514" cy="1310"/>
          </a:xfrm>
        </p:grpSpPr>
        <p:graphicFrame>
          <p:nvGraphicFramePr>
            <p:cNvPr id="4" name="对象 -2147482621"/>
            <p:cNvGraphicFramePr>
              <a:graphicFrameLocks noChangeAspect="1"/>
            </p:cNvGraphicFramePr>
            <p:nvPr/>
          </p:nvGraphicFramePr>
          <p:xfrm>
            <a:off x="6846" y="4028"/>
            <a:ext cx="4767" cy="1311"/>
          </p:xfrm>
          <a:graphic>
            <a:graphicData uri="http://schemas.openxmlformats.org/presentationml/2006/ole">
              <mc:AlternateContent xmlns:mc="http://schemas.openxmlformats.org/markup-compatibility/2006">
                <mc:Choice xmlns:v="urn:schemas-microsoft-com:vml" Requires="v">
                  <p:oleObj r:id="rId4" imgW="2908300" imgH="825500" progId="Equation.DSMT4">
                    <p:embed/>
                  </p:oleObj>
                </mc:Choice>
                <mc:Fallback>
                  <p:oleObj r:id="rId4" imgW="2908300" imgH="825500" progId="Equation.DSMT4">
                    <p:embed/>
                    <p:pic>
                      <p:nvPicPr>
                        <p:cNvPr id="4" name="对象 -2147482621"/>
                        <p:cNvPicPr/>
                        <p:nvPr/>
                      </p:nvPicPr>
                      <p:blipFill>
                        <a:blip r:embed="rId5"/>
                        <a:stretch>
                          <a:fillRect/>
                        </a:stretch>
                      </p:blipFill>
                      <p:spPr>
                        <a:xfrm>
                          <a:off x="6846" y="4028"/>
                          <a:ext cx="4767" cy="1311"/>
                        </a:xfrm>
                        <a:prstGeom prst="rect">
                          <a:avLst/>
                        </a:prstGeom>
                        <a:noFill/>
                        <a:ln w="38100">
                          <a:noFill/>
                          <a:miter/>
                        </a:ln>
                      </p:spPr>
                    </p:pic>
                  </p:oleObj>
                </mc:Fallback>
              </mc:AlternateContent>
            </a:graphicData>
          </a:graphic>
        </p:graphicFrame>
        <p:sp>
          <p:nvSpPr>
            <p:cNvPr id="8" name="文本框 7"/>
            <p:cNvSpPr txBox="1"/>
            <p:nvPr/>
          </p:nvSpPr>
          <p:spPr>
            <a:xfrm>
              <a:off x="1343" y="4321"/>
              <a:ext cx="16515" cy="72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Schrödinger equation:</a:t>
              </a:r>
            </a:p>
          </p:txBody>
        </p:sp>
      </p:grpSp>
      <p:sp>
        <p:nvSpPr>
          <p:cNvPr id="10" name="Line 2">
            <a:extLst>
              <a:ext uri="{FF2B5EF4-FFF2-40B4-BE49-F238E27FC236}">
                <a16:creationId xmlns:a16="http://schemas.microsoft.com/office/drawing/2014/main" id="{934A8CFE-5E19-4096-9270-56B8A90AED43}"/>
              </a:ext>
            </a:extLst>
          </p:cNvPr>
          <p:cNvSpPr>
            <a:spLocks noChangeShapeType="1"/>
          </p:cNvSpPr>
          <p:nvPr/>
        </p:nvSpPr>
        <p:spPr bwMode="auto">
          <a:xfrm flipV="1">
            <a:off x="74427"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583F7D15-EFE8-42C0-B5DC-842C57FA28E5}"/>
              </a:ext>
            </a:extLst>
          </p:cNvPr>
          <p:cNvSpPr txBox="1"/>
          <p:nvPr/>
        </p:nvSpPr>
        <p:spPr>
          <a:xfrm>
            <a:off x="4537293" y="154488"/>
            <a:ext cx="2646878"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自旋量子数的求解</a:t>
            </a:r>
          </a:p>
        </p:txBody>
      </p:sp>
      <p:cxnSp>
        <p:nvCxnSpPr>
          <p:cNvPr id="12" name="直接箭头连接符 11">
            <a:extLst>
              <a:ext uri="{FF2B5EF4-FFF2-40B4-BE49-F238E27FC236}">
                <a16:creationId xmlns:a16="http://schemas.microsoft.com/office/drawing/2014/main" id="{F7068E6D-6454-4A6A-A152-71BE9301299F}"/>
              </a:ext>
            </a:extLst>
          </p:cNvPr>
          <p:cNvCxnSpPr/>
          <p:nvPr/>
        </p:nvCxnSpPr>
        <p:spPr>
          <a:xfrm>
            <a:off x="7690207" y="1890445"/>
            <a:ext cx="101200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75BB5B6-629B-4233-AE7F-B9E92546C95D}"/>
              </a:ext>
            </a:extLst>
          </p:cNvPr>
          <p:cNvSpPr txBox="1"/>
          <p:nvPr/>
        </p:nvSpPr>
        <p:spPr>
          <a:xfrm>
            <a:off x="8955504" y="1636407"/>
            <a:ext cx="1282693" cy="461665"/>
          </a:xfrm>
          <a:prstGeom prst="rect">
            <a:avLst/>
          </a:prstGeom>
          <a:noFill/>
        </p:spPr>
        <p:txBody>
          <a:bodyPr wrap="square" rtlCol="0">
            <a:spAutoFit/>
          </a:bodyPr>
          <a:lstStyle/>
          <a:p>
            <a:r>
              <a:rPr lang="en-US" altLang="zh-CN" sz="2400" i="1" dirty="0">
                <a:latin typeface="Arial" panose="020B0604020202020204" pitchFamily="34" charset="0"/>
                <a:cs typeface="Arial" panose="020B0604020202020204" pitchFamily="34" charset="0"/>
              </a:rPr>
              <a:t>n, l, m</a:t>
            </a:r>
            <a:r>
              <a:rPr lang="en-US" altLang="zh-CN" sz="2400" i="1" baseline="-25000" dirty="0">
                <a:latin typeface="Arial" panose="020B0604020202020204" pitchFamily="34" charset="0"/>
                <a:cs typeface="Arial" panose="020B0604020202020204" pitchFamily="34" charset="0"/>
              </a:rPr>
              <a:t>l</a:t>
            </a:r>
          </a:p>
        </p:txBody>
      </p:sp>
      <p:cxnSp>
        <p:nvCxnSpPr>
          <p:cNvPr id="15" name="直接箭头连接符 14">
            <a:extLst>
              <a:ext uri="{FF2B5EF4-FFF2-40B4-BE49-F238E27FC236}">
                <a16:creationId xmlns:a16="http://schemas.microsoft.com/office/drawing/2014/main" id="{BA72DB27-B411-4C46-B733-99B1298FF9E9}"/>
              </a:ext>
            </a:extLst>
          </p:cNvPr>
          <p:cNvCxnSpPr>
            <a:cxnSpLocks/>
          </p:cNvCxnSpPr>
          <p:nvPr/>
        </p:nvCxnSpPr>
        <p:spPr>
          <a:xfrm>
            <a:off x="6923070" y="3073977"/>
            <a:ext cx="101200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D83A7AC-DED7-4657-982A-FBA3824E9C1E}"/>
              </a:ext>
            </a:extLst>
          </p:cNvPr>
          <p:cNvSpPr txBox="1"/>
          <p:nvPr/>
        </p:nvSpPr>
        <p:spPr>
          <a:xfrm>
            <a:off x="8188368" y="2819939"/>
            <a:ext cx="1402558" cy="460375"/>
          </a:xfrm>
          <a:prstGeom prst="rect">
            <a:avLst/>
          </a:prstGeom>
          <a:noFill/>
        </p:spPr>
        <p:txBody>
          <a:bodyPr wrap="square" rtlCol="0">
            <a:spAutoFit/>
          </a:bodyPr>
          <a:lstStyle/>
          <a:p>
            <a:r>
              <a:rPr lang="en-US" altLang="zh-CN" sz="2400" i="1" dirty="0">
                <a:latin typeface="Arial" panose="020B0604020202020204" pitchFamily="34" charset="0"/>
                <a:cs typeface="Arial" panose="020B0604020202020204" pitchFamily="34" charset="0"/>
              </a:rPr>
              <a:t>n, j, </a:t>
            </a:r>
            <a:r>
              <a:rPr lang="en-US" altLang="zh-CN" sz="2400" i="1" dirty="0" err="1">
                <a:latin typeface="Arial" panose="020B0604020202020204" pitchFamily="34" charset="0"/>
                <a:cs typeface="Arial" panose="020B0604020202020204" pitchFamily="34" charset="0"/>
              </a:rPr>
              <a:t>m</a:t>
            </a:r>
            <a:r>
              <a:rPr lang="en-US" altLang="zh-CN" sz="2400" i="1" baseline="-25000" dirty="0" err="1">
                <a:latin typeface="Arial" panose="020B0604020202020204" pitchFamily="34" charset="0"/>
                <a:cs typeface="Arial" panose="020B0604020202020204" pitchFamily="34" charset="0"/>
              </a:rPr>
              <a:t>j</a:t>
            </a:r>
            <a:endParaRPr lang="en-US" altLang="zh-CN" sz="2400" i="1" baseline="-25000" dirty="0">
              <a:latin typeface="Arial" panose="020B0604020202020204" pitchFamily="34" charset="0"/>
              <a:cs typeface="Arial" panose="020B0604020202020204" pitchFamily="34" charset="0"/>
            </a:endParaRPr>
          </a:p>
        </p:txBody>
      </p:sp>
      <p:graphicFrame>
        <p:nvGraphicFramePr>
          <p:cNvPr id="5" name="对象 4">
            <a:extLst>
              <a:ext uri="{FF2B5EF4-FFF2-40B4-BE49-F238E27FC236}">
                <a16:creationId xmlns:a16="http://schemas.microsoft.com/office/drawing/2014/main" id="{E5F95187-21E5-4E8E-9C18-C946895BC900}"/>
              </a:ext>
            </a:extLst>
          </p:cNvPr>
          <p:cNvGraphicFramePr>
            <a:graphicFrameLocks noChangeAspect="1"/>
          </p:cNvGraphicFramePr>
          <p:nvPr>
            <p:extLst>
              <p:ext uri="{D42A27DB-BD31-4B8C-83A1-F6EECF244321}">
                <p14:modId xmlns:p14="http://schemas.microsoft.com/office/powerpoint/2010/main" val="2954980225"/>
              </p:ext>
            </p:extLst>
          </p:nvPr>
        </p:nvGraphicFramePr>
        <p:xfrm>
          <a:off x="8170781" y="3502573"/>
          <a:ext cx="1079500" cy="342900"/>
        </p:xfrm>
        <a:graphic>
          <a:graphicData uri="http://schemas.openxmlformats.org/presentationml/2006/ole">
            <mc:AlternateContent xmlns:mc="http://schemas.openxmlformats.org/markup-compatibility/2006">
              <mc:Choice xmlns:v="urn:schemas-microsoft-com:vml" Requires="v">
                <p:oleObj name="Equation" r:id="rId6" imgW="1079280" imgH="342720" progId="Equation.DSMT4">
                  <p:embed/>
                </p:oleObj>
              </mc:Choice>
              <mc:Fallback>
                <p:oleObj name="Equation" r:id="rId6" imgW="1079280" imgH="342720" progId="Equation.DSMT4">
                  <p:embed/>
                  <p:pic>
                    <p:nvPicPr>
                      <p:cNvPr id="0" name=""/>
                      <p:cNvPicPr/>
                      <p:nvPr/>
                    </p:nvPicPr>
                    <p:blipFill>
                      <a:blip r:embed="rId7"/>
                      <a:stretch>
                        <a:fillRect/>
                      </a:stretch>
                    </p:blipFill>
                    <p:spPr>
                      <a:xfrm>
                        <a:off x="8170781" y="3502573"/>
                        <a:ext cx="1079500" cy="34290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49766" y="1118478"/>
            <a:ext cx="2145972" cy="461665"/>
          </a:xfrm>
          <a:prstGeom prst="rect">
            <a:avLst/>
          </a:prstGeom>
          <a:solidFill>
            <a:srgbClr val="0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FFFF"/>
                </a:solidFill>
                <a:effectLst/>
                <a:uLnTx/>
                <a:uFillTx/>
                <a:latin typeface="Arial" panose="020B0604020202020204" pitchFamily="34" charset="0"/>
              </a:rPr>
              <a:t>Zeeman effect</a:t>
            </a:r>
          </a:p>
        </p:txBody>
      </p:sp>
      <p:sp>
        <p:nvSpPr>
          <p:cNvPr id="7" name="矩形 6"/>
          <p:cNvSpPr/>
          <p:nvPr/>
        </p:nvSpPr>
        <p:spPr>
          <a:xfrm>
            <a:off x="411596" y="1705610"/>
            <a:ext cx="11548946" cy="830997"/>
          </a:xfrm>
          <a:prstGeom prst="rect">
            <a:avLst/>
          </a:prstGeom>
        </p:spPr>
        <p:txBody>
          <a:bodyPr wrap="square">
            <a:spAutoFit/>
          </a:bodyPr>
          <a:lstStyle/>
          <a:p>
            <a:pPr defTabSz="914400" fontAlgn="base">
              <a:spcBef>
                <a:spcPct val="0"/>
              </a:spcBef>
              <a:spcAft>
                <a:spcPct val="0"/>
              </a:spcAft>
            </a:pPr>
            <a:r>
              <a:rPr lang="en-US" altLang="zh-CN" sz="2400" dirty="0">
                <a:solidFill>
                  <a:srgbClr val="000000"/>
                </a:solidFill>
                <a:latin typeface="Arial" panose="020B0604020202020204" pitchFamily="34" charset="0"/>
              </a:rPr>
              <a:t>The effect of splitting a spectral line into several components in the presence of a static magnetic field.</a:t>
            </a:r>
            <a:endParaRPr lang="zh-CN" altLang="en-US" sz="2400" dirty="0">
              <a:solidFill>
                <a:srgbClr val="000000"/>
              </a:solidFill>
              <a:latin typeface="Arial" panose="020B0604020202020204" pitchFamily="34" charset="0"/>
            </a:endParaRPr>
          </a:p>
        </p:txBody>
      </p:sp>
      <p:sp>
        <p:nvSpPr>
          <p:cNvPr id="10" name="矩形 9"/>
          <p:cNvSpPr/>
          <p:nvPr/>
        </p:nvSpPr>
        <p:spPr>
          <a:xfrm>
            <a:off x="3666272" y="251735"/>
            <a:ext cx="485581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5.1 Spin and identity particles </a:t>
            </a:r>
            <a:endParaRPr lang="zh-CN" altLang="en-US" sz="2800" b="1" dirty="0">
              <a:latin typeface="Times New Roman" panose="02020603050405020304" pitchFamily="18" charset="0"/>
              <a:cs typeface="Times New Roman" panose="02020603050405020304" pitchFamily="18" charset="0"/>
            </a:endParaRPr>
          </a:p>
        </p:txBody>
      </p:sp>
      <p:sp>
        <p:nvSpPr>
          <p:cNvPr id="11"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7038" y="2562743"/>
            <a:ext cx="2599234" cy="2210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4" descr="http://imgsrc.baidu.com/baike/pic/item/e1bf8725e24a7b5e34a80f9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6069" y="2536607"/>
            <a:ext cx="1748470" cy="1860075"/>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p:nvSpPr>
        <p:spPr>
          <a:xfrm>
            <a:off x="4057865" y="2536607"/>
            <a:ext cx="1124026" cy="461665"/>
          </a:xfrm>
          <a:prstGeom prst="rect">
            <a:avLst/>
          </a:prstGeom>
        </p:spPr>
        <p:txBody>
          <a:bodyPr wrap="none">
            <a:spAutoFit/>
          </a:bodyPr>
          <a:lstStyle/>
          <a:p>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Normal</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矩形 14"/>
          <p:cNvSpPr/>
          <p:nvPr/>
        </p:nvSpPr>
        <p:spPr>
          <a:xfrm>
            <a:off x="8131835" y="2475217"/>
            <a:ext cx="1603324" cy="461665"/>
          </a:xfrm>
          <a:prstGeom prst="rect">
            <a:avLst/>
          </a:prstGeom>
        </p:spPr>
        <p:txBody>
          <a:bodyPr wrap="none">
            <a:spAutoFit/>
          </a:bodyPr>
          <a:lstStyle/>
          <a:p>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Anomalous</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7" name="对象 16"/>
          <p:cNvGraphicFramePr>
            <a:graphicFrameLocks noChangeAspect="1"/>
          </p:cNvGraphicFramePr>
          <p:nvPr/>
        </p:nvGraphicFramePr>
        <p:xfrm>
          <a:off x="5381684" y="4803311"/>
          <a:ext cx="5500302" cy="1802954"/>
        </p:xfrm>
        <a:graphic>
          <a:graphicData uri="http://schemas.openxmlformats.org/presentationml/2006/ole">
            <mc:AlternateContent xmlns:mc="http://schemas.openxmlformats.org/markup-compatibility/2006">
              <mc:Choice xmlns:v="urn:schemas-microsoft-com:vml" Requires="v">
                <p:oleObj name="Photo Editor 照片" r:id="rId5" imgW="6915150" imgH="2266950" progId="MSPhotoEd.3">
                  <p:embed/>
                </p:oleObj>
              </mc:Choice>
              <mc:Fallback>
                <p:oleObj name="Photo Editor 照片" r:id="rId5" imgW="6915150" imgH="2266950" progId="MSPhotoEd.3">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1684" y="4803311"/>
                        <a:ext cx="5500302" cy="1802954"/>
                      </a:xfrm>
                      <a:prstGeom prst="rect">
                        <a:avLst/>
                      </a:prstGeom>
                      <a:noFill/>
                      <a:ln>
                        <a:noFill/>
                      </a:ln>
                    </p:spPr>
                  </p:pic>
                </p:oleObj>
              </mc:Fallback>
            </mc:AlternateContent>
          </a:graphicData>
        </a:graphic>
      </p:graphicFrame>
      <p:sp>
        <p:nvSpPr>
          <p:cNvPr id="19" name="矩形 18"/>
          <p:cNvSpPr/>
          <p:nvPr/>
        </p:nvSpPr>
        <p:spPr>
          <a:xfrm>
            <a:off x="1063904" y="4726206"/>
            <a:ext cx="4248521" cy="707886"/>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1925  </a:t>
            </a:r>
            <a:r>
              <a:rPr lang="en-US" altLang="zh-CN" sz="2000" dirty="0" err="1">
                <a:latin typeface="Times New Roman" panose="02020603050405020304" pitchFamily="18" charset="0"/>
                <a:cs typeface="Times New Roman" panose="02020603050405020304" pitchFamily="18" charset="0"/>
              </a:rPr>
              <a:t>Uhlenbeck</a:t>
            </a:r>
            <a:r>
              <a:rPr lang="en-US" altLang="zh-CN" sz="2000" dirty="0">
                <a:latin typeface="Times New Roman" panose="02020603050405020304" pitchFamily="18" charset="0"/>
                <a:cs typeface="Times New Roman" panose="02020603050405020304" pitchFamily="18" charset="0"/>
              </a:rPr>
              <a:t> (1900~1988)  and </a:t>
            </a:r>
            <a:r>
              <a:rPr lang="en-US" altLang="zh-CN" sz="2000" dirty="0" err="1">
                <a:latin typeface="Times New Roman" panose="02020603050405020304" pitchFamily="18" charset="0"/>
                <a:cs typeface="Times New Roman" panose="02020603050405020304" pitchFamily="18" charset="0"/>
              </a:rPr>
              <a:t>Goudsmit</a:t>
            </a:r>
            <a:r>
              <a:rPr lang="en-US" altLang="zh-CN" sz="2000" dirty="0">
                <a:latin typeface="Times New Roman" panose="02020603050405020304" pitchFamily="18" charset="0"/>
                <a:cs typeface="Times New Roman" panose="02020603050405020304" pitchFamily="18" charset="0"/>
              </a:rPr>
              <a:t> (1902~1978)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344906" y="564818"/>
                <a:ext cx="11502188" cy="2864182"/>
              </a:xfrm>
              <a:prstGeom prst="rect">
                <a:avLst/>
              </a:prstGeom>
            </p:spPr>
            <p:txBody>
              <a:bodyPr wrap="square">
                <a:spAutoFit/>
              </a:bodyPr>
              <a:lstStyle/>
              <a:p>
                <a:pPr>
                  <a:lnSpc>
                    <a:spcPct val="120000"/>
                  </a:lnSpc>
                  <a:spcAft>
                    <a:spcPts val="405"/>
                  </a:spcAft>
                </a:pPr>
                <a:r>
                  <a:rPr lang="en-US" altLang="zh-CN" sz="2400" dirty="0">
                    <a:latin typeface="Times New Roman" panose="02020603050405020304" pitchFamily="18" charset="0"/>
                    <a:cs typeface="Times New Roman" panose="02020603050405020304" pitchFamily="18" charset="0"/>
                  </a:rPr>
                  <a:t>We have seen that an electron in an atom has orbital angular momentum, usually designated by the symbol </a:t>
                </a:r>
                <a:r>
                  <a:rPr lang="en-US" altLang="zh-CN" sz="2400" b="1" i="1" dirty="0">
                    <a:latin typeface="Times New Roman" panose="02020603050405020304" pitchFamily="18" charset="0"/>
                    <a:cs typeface="Times New Roman" panose="02020603050405020304" pitchFamily="18" charset="0"/>
                  </a:rPr>
                  <a:t>L</a:t>
                </a:r>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quantum numbers </a:t>
                </a:r>
                <a14:m>
                  <m:oMath xmlns:m="http://schemas.openxmlformats.org/officeDocument/2006/math">
                    <m:r>
                      <a:rPr lang="en-US" altLang="zh-CN" sz="2400" i="1" dirty="0">
                        <a:solidFill>
                          <a:srgbClr val="2926BF"/>
                        </a:solidFill>
                        <a:latin typeface="Cambria Math" panose="02040503050406030204" pitchFamily="18" charset="0"/>
                      </a:rPr>
                      <m:t>𝑙</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describing the magnitude </a:t>
                </a:r>
                <a14:m>
                  <m:oMath xmlns:m="http://schemas.openxmlformats.org/officeDocument/2006/math">
                    <m:r>
                      <a:rPr lang="en-US" altLang="zh-TW" sz="2400" i="1" dirty="0">
                        <a:solidFill>
                          <a:srgbClr val="2926BF"/>
                        </a:solidFill>
                        <a:latin typeface="Cambria Math" panose="02040503050406030204" pitchFamily="18" charset="0"/>
                        <a:ea typeface="Cambria Math" panose="02040503050406030204" pitchFamily="18" charset="0"/>
                      </a:rPr>
                      <m:t>ℏ</m:t>
                    </m:r>
                    <m:rad>
                      <m:radPr>
                        <m:degHide m:val="on"/>
                        <m:ctrlPr>
                          <a:rPr lang="en-US" altLang="zh-TW" sz="2400" i="1" dirty="0">
                            <a:solidFill>
                              <a:srgbClr val="2926BF"/>
                            </a:solidFill>
                            <a:latin typeface="Cambria Math" panose="02040503050406030204" pitchFamily="18" charset="0"/>
                            <a:ea typeface="Cambria Math" panose="02040503050406030204" pitchFamily="18" charset="0"/>
                          </a:rPr>
                        </m:ctrlPr>
                      </m:radPr>
                      <m:deg/>
                      <m:e>
                        <m:r>
                          <a:rPr lang="en-US" altLang="zh-TW" sz="2400" i="1" dirty="0">
                            <a:solidFill>
                              <a:srgbClr val="2926BF"/>
                            </a:solidFill>
                            <a:latin typeface="Cambria Math" panose="02040503050406030204" pitchFamily="18" charset="0"/>
                            <a:ea typeface="Cambria Math" panose="02040503050406030204" pitchFamily="18" charset="0"/>
                          </a:rPr>
                          <m:t>𝑙</m:t>
                        </m:r>
                        <m:d>
                          <m:dPr>
                            <m:ctrlPr>
                              <a:rPr lang="en-US" altLang="zh-TW" sz="2400" i="1" dirty="0">
                                <a:solidFill>
                                  <a:srgbClr val="2926BF"/>
                                </a:solidFill>
                                <a:latin typeface="Cambria Math" panose="02040503050406030204" pitchFamily="18" charset="0"/>
                                <a:ea typeface="Cambria Math" panose="02040503050406030204" pitchFamily="18" charset="0"/>
                              </a:rPr>
                            </m:ctrlPr>
                          </m:dPr>
                          <m:e>
                            <m:r>
                              <a:rPr lang="en-US" altLang="zh-TW" sz="2400" i="1" dirty="0">
                                <a:solidFill>
                                  <a:srgbClr val="2926BF"/>
                                </a:solidFill>
                                <a:latin typeface="Cambria Math" panose="02040503050406030204" pitchFamily="18" charset="0"/>
                                <a:ea typeface="Cambria Math" panose="02040503050406030204" pitchFamily="18" charset="0"/>
                              </a:rPr>
                              <m:t>𝑙</m:t>
                            </m:r>
                            <m:r>
                              <a:rPr lang="en-US" altLang="zh-TW" sz="2400" i="1" dirty="0">
                                <a:solidFill>
                                  <a:srgbClr val="2926BF"/>
                                </a:solidFill>
                                <a:latin typeface="Cambria Math" panose="02040503050406030204" pitchFamily="18" charset="0"/>
                                <a:ea typeface="Cambria Math" panose="02040503050406030204" pitchFamily="18" charset="0"/>
                              </a:rPr>
                              <m:t>+1</m:t>
                            </m:r>
                          </m:e>
                        </m:d>
                      </m:e>
                    </m:rad>
                  </m:oMath>
                </a14:m>
                <a:r>
                  <a:rPr lang="en-US" altLang="zh-CN" sz="2400" dirty="0">
                    <a:latin typeface="Times New Roman" panose="02020603050405020304" pitchFamily="18" charset="0"/>
                    <a:cs typeface="Times New Roman" panose="02020603050405020304" pitchFamily="18" charset="0"/>
                  </a:rPr>
                  <a:t> of the angular momentum vector, and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i="1" baseline="-25000"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describing its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component. Both of these quantum numbers have to be integers because of the boundary conditions on the wavefunction.</a:t>
                </a:r>
              </a:p>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An electron also has an intrinsic angular momentum called spin, designated by the symbol </a:t>
                </a:r>
                <a14:m>
                  <m:oMath xmlns:m="http://schemas.openxmlformats.org/officeDocument/2006/math">
                    <m:acc>
                      <m:accPr>
                        <m:chr m:val="̂"/>
                        <m:ctrlPr>
                          <a:rPr lang="en-US" altLang="zh-CN" sz="2400" b="1" i="1" dirty="0">
                            <a:solidFill>
                              <a:srgbClr val="2926BF"/>
                            </a:solidFill>
                            <a:latin typeface="Cambria Math" panose="02040503050406030204" pitchFamily="18" charset="0"/>
                          </a:rPr>
                        </m:ctrlPr>
                      </m:accPr>
                      <m:e>
                        <m:r>
                          <a:rPr lang="en-US" altLang="zh-CN" sz="2400" b="1" i="1" dirty="0">
                            <a:solidFill>
                              <a:srgbClr val="2926BF"/>
                            </a:solidFill>
                            <a:latin typeface="Cambria Math" panose="02040503050406030204" pitchFamily="18" charset="0"/>
                          </a:rPr>
                          <m:t>𝒔</m:t>
                        </m:r>
                      </m:e>
                    </m:acc>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It has quantum numbers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err="1">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s</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describing its magnitude and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component.</a:t>
                </a:r>
              </a:p>
            </p:txBody>
          </p:sp>
        </mc:Choice>
        <mc:Fallback xmlns="">
          <p:sp>
            <p:nvSpPr>
              <p:cNvPr id="3" name="矩形 2"/>
              <p:cNvSpPr>
                <a:spLocks noRot="1" noChangeAspect="1" noMove="1" noResize="1" noEditPoints="1" noAdjustHandles="1" noChangeArrowheads="1" noChangeShapeType="1" noTextEdit="1"/>
              </p:cNvSpPr>
              <p:nvPr/>
            </p:nvSpPr>
            <p:spPr>
              <a:xfrm>
                <a:off x="344906" y="564818"/>
                <a:ext cx="11502188" cy="2864182"/>
              </a:xfrm>
              <a:prstGeom prst="rect">
                <a:avLst/>
              </a:prstGeom>
              <a:blipFill>
                <a:blip r:embed="rId2"/>
                <a:stretch>
                  <a:fillRect l="-848" t="-426" r="-2704" b="-4043"/>
                </a:stretch>
              </a:blipFill>
            </p:spPr>
            <p:txBody>
              <a:bodyPr/>
              <a:lstStyle/>
              <a:p>
                <a:r>
                  <a:rPr lang="zh-CN" altLang="en-US">
                    <a:noFill/>
                  </a:rPr>
                  <a:t> </a:t>
                </a:r>
              </a:p>
            </p:txBody>
          </p:sp>
        </mc:Fallback>
      </mc:AlternateContent>
      <p:sp>
        <p:nvSpPr>
          <p:cNvPr id="4" name="文本框 3"/>
          <p:cNvSpPr txBox="1"/>
          <p:nvPr/>
        </p:nvSpPr>
        <p:spPr>
          <a:xfrm>
            <a:off x="344906" y="3724462"/>
            <a:ext cx="11191352" cy="830997"/>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自旋是量子力学中一个</a:t>
            </a:r>
            <a:r>
              <a:rPr lang="zh-CN" altLang="en-US" sz="2400" dirty="0">
                <a:solidFill>
                  <a:srgbClr val="FF0000"/>
                </a:solidFill>
                <a:latin typeface="黑体" panose="02010609060101010101" pitchFamily="49" charset="-122"/>
                <a:ea typeface="黑体" panose="02010609060101010101" pitchFamily="49" charset="-122"/>
              </a:rPr>
              <a:t>难以解释</a:t>
            </a:r>
            <a:r>
              <a:rPr lang="zh-CN" altLang="en-US" sz="2400" dirty="0">
                <a:latin typeface="黑体" panose="02010609060101010101" pitchFamily="49" charset="-122"/>
                <a:ea typeface="黑体" panose="02010609060101010101" pitchFamily="49" charset="-122"/>
              </a:rPr>
              <a:t>的微观粒子特征，实验中自旋表现为一个角动量的性质，但它没有经典力学的类似参照。</a:t>
            </a:r>
          </a:p>
        </p:txBody>
      </p:sp>
      <p:sp>
        <p:nvSpPr>
          <p:cNvPr id="2" name="文本框 1">
            <a:extLst>
              <a:ext uri="{FF2B5EF4-FFF2-40B4-BE49-F238E27FC236}">
                <a16:creationId xmlns:a16="http://schemas.microsoft.com/office/drawing/2014/main" id="{EEE5D9FC-0405-E982-B603-5A9C7775B54C}"/>
              </a:ext>
            </a:extLst>
          </p:cNvPr>
          <p:cNvSpPr txBox="1"/>
          <p:nvPr/>
        </p:nvSpPr>
        <p:spPr>
          <a:xfrm>
            <a:off x="344906" y="4850921"/>
            <a:ext cx="6012351"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在非相对论量子力学中，粒子自旋是公理。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79978" y="621339"/>
            <a:ext cx="11306170" cy="949747"/>
          </a:xfrm>
          <a:prstGeom prst="rect">
            <a:avLst/>
          </a:prstGeom>
        </p:spPr>
        <p:txBody>
          <a:bodyPr wrap="square">
            <a:spAutoFit/>
          </a:bodyPr>
          <a:lstStyle/>
          <a:p>
            <a:pPr>
              <a:lnSpc>
                <a:spcPct val="121000"/>
              </a:lnSpc>
            </a:pPr>
            <a:r>
              <a:rPr lang="zh-CN" altLang="en-US" sz="2400" b="0" i="0" dirty="0">
                <a:solidFill>
                  <a:srgbClr val="0F1115"/>
                </a:solidFill>
                <a:effectLst/>
                <a:latin typeface="黑体" panose="02010609060101010101" pitchFamily="49" charset="-122"/>
                <a:ea typeface="黑体" panose="02010609060101010101" pitchFamily="49" charset="-122"/>
              </a:rPr>
              <a:t>自旋无法用处理轨道角动量的角坐标方式来描述，其量子数也不受边界条件的限制。因此，自旋量子数除了可以取整数值外，还可以取半奇数值（如</a:t>
            </a:r>
            <a:r>
              <a:rPr lang="en-US" altLang="zh-CN" sz="2400" b="0" i="0" dirty="0">
                <a:solidFill>
                  <a:srgbClr val="0F1115"/>
                </a:solidFill>
                <a:effectLst/>
                <a:latin typeface="黑体" panose="02010609060101010101" pitchFamily="49" charset="-122"/>
                <a:ea typeface="黑体" panose="02010609060101010101" pitchFamily="49" charset="-122"/>
              </a:rPr>
              <a:t>1/2, 3/2</a:t>
            </a:r>
            <a:r>
              <a:rPr lang="zh-CN" altLang="en-US" sz="2400" b="0" i="0" dirty="0">
                <a:solidFill>
                  <a:srgbClr val="0F1115"/>
                </a:solidFill>
                <a:effectLst/>
                <a:latin typeface="黑体" panose="02010609060101010101" pitchFamily="49" charset="-122"/>
                <a:ea typeface="黑体" panose="02010609060101010101" pitchFamily="49" charset="-122"/>
              </a:rPr>
              <a:t>等）。</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2" name="矩形 1"/>
          <p:cNvSpPr/>
          <p:nvPr/>
        </p:nvSpPr>
        <p:spPr>
          <a:xfrm>
            <a:off x="426720" y="1769832"/>
            <a:ext cx="11338560" cy="830997"/>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We note in passing that nuclei also have spin (important in </a:t>
            </a:r>
            <a:r>
              <a:rPr lang="en-US" altLang="zh-CN" sz="2400" dirty="0" err="1">
                <a:latin typeface="Times New Roman" panose="02020603050405020304" pitchFamily="18" charset="0"/>
                <a:cs typeface="Times New Roman" panose="02020603050405020304" pitchFamily="18" charset="0"/>
              </a:rPr>
              <a:t>n.m.r</a:t>
            </a:r>
            <a:r>
              <a:rPr lang="en-US" altLang="zh-CN" sz="2400" dirty="0">
                <a:latin typeface="Times New Roman" panose="02020603050405020304" pitchFamily="18" charset="0"/>
                <a:cs typeface="Times New Roman" panose="02020603050405020304" pitchFamily="18" charset="0"/>
              </a:rPr>
              <a:t>.). The nuclear spin operator is usually designated </a:t>
            </a:r>
            <a:r>
              <a:rPr lang="en-US" altLang="zh-CN" sz="2400" i="1" dirty="0">
                <a:solidFill>
                  <a:srgbClr val="2926BF"/>
                </a:solidFill>
                <a:latin typeface="Times New Roman" panose="02020603050405020304" pitchFamily="18" charset="0"/>
                <a:cs typeface="Times New Roman" panose="02020603050405020304" pitchFamily="18" charset="0"/>
              </a:rPr>
              <a:t>I</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quantum numbers </a:t>
            </a:r>
            <a:r>
              <a:rPr lang="en-US" altLang="zh-CN" sz="2400" i="1" dirty="0">
                <a:solidFill>
                  <a:srgbClr val="2926BF"/>
                </a:solidFill>
                <a:latin typeface="Times New Roman" panose="02020603050405020304" pitchFamily="18" charset="0"/>
                <a:cs typeface="Times New Roman" panose="02020603050405020304" pitchFamily="18" charset="0"/>
              </a:rPr>
              <a:t>I</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err="1">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I</a:t>
            </a:r>
            <a:r>
              <a:rPr lang="en-US" altLang="zh-CN" sz="2400" i="1" dirty="0" err="1">
                <a:solidFill>
                  <a:srgbClr val="2926BF"/>
                </a:solidFill>
                <a:latin typeface="Times New Roman" panose="02020603050405020304" pitchFamily="18" charset="0"/>
                <a:cs typeface="Times New Roman" panose="02020603050405020304" pitchFamily="18" charset="0"/>
              </a:rPr>
              <a:t>.</a:t>
            </a:r>
            <a:r>
              <a:rPr lang="en-US" altLang="zh-CN" sz="2400" i="1"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Some values are:</a:t>
            </a: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463042675"/>
                  </p:ext>
                </p:extLst>
              </p:nvPr>
            </p:nvGraphicFramePr>
            <p:xfrm>
              <a:off x="3280188" y="2799575"/>
              <a:ext cx="4923184" cy="3010854"/>
            </p:xfrm>
            <a:graphic>
              <a:graphicData uri="http://schemas.openxmlformats.org/drawingml/2006/table">
                <a:tbl>
                  <a:tblPr firstRow="1" bandRow="1">
                    <a:tableStyleId>{2D5ABB26-0587-4C30-8999-92F81FD0307C}</a:tableStyleId>
                  </a:tblPr>
                  <a:tblGrid>
                    <a:gridCol w="2461592">
                      <a:extLst>
                        <a:ext uri="{9D8B030D-6E8A-4147-A177-3AD203B41FA5}">
                          <a16:colId xmlns:a16="http://schemas.microsoft.com/office/drawing/2014/main" val="20000"/>
                        </a:ext>
                      </a:extLst>
                    </a:gridCol>
                    <a:gridCol w="2461592">
                      <a:extLst>
                        <a:ext uri="{9D8B030D-6E8A-4147-A177-3AD203B41FA5}">
                          <a16:colId xmlns:a16="http://schemas.microsoft.com/office/drawing/2014/main" val="20001"/>
                        </a:ext>
                      </a:extLst>
                    </a:gridCol>
                  </a:tblGrid>
                  <a:tr h="66526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H (proton)</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200" smtClean="0">
                                    <a:solidFill>
                                      <a:srgbClr val="2926BF"/>
                                    </a:solidFill>
                                    <a:latin typeface="Cambria Math" panose="02040503050406030204" pitchFamily="18" charset="0"/>
                                  </a:rPr>
                                  <m:t>𝑰</m:t>
                                </m:r>
                                <m:r>
                                  <a:rPr lang="en-US" altLang="zh-CN" sz="2200" smtClean="0">
                                    <a:solidFill>
                                      <a:srgbClr val="2926BF"/>
                                    </a:solidFill>
                                    <a:latin typeface="Cambria Math" panose="02040503050406030204" pitchFamily="18" charset="0"/>
                                  </a:rPr>
                                  <m:t>=</m:t>
                                </m:r>
                                <m:f>
                                  <m:fPr>
                                    <m:ctrlPr>
                                      <a:rPr lang="en-US" altLang="zh-CN" sz="2200" i="1" dirty="0" smtClean="0">
                                        <a:solidFill>
                                          <a:srgbClr val="2926BF"/>
                                        </a:solidFill>
                                        <a:latin typeface="Cambria Math" panose="02040503050406030204" pitchFamily="18" charset="0"/>
                                      </a:rPr>
                                    </m:ctrlPr>
                                  </m:fPr>
                                  <m:num>
                                    <m:r>
                                      <a:rPr lang="en-US" altLang="zh-CN" sz="2200" dirty="0" smtClean="0">
                                        <a:solidFill>
                                          <a:srgbClr val="2926BF"/>
                                        </a:solidFill>
                                        <a:latin typeface="Cambria Math" panose="02040503050406030204" pitchFamily="18" charset="0"/>
                                      </a:rPr>
                                      <m:t>1</m:t>
                                    </m:r>
                                  </m:num>
                                  <m:den>
                                    <m:r>
                                      <a:rPr lang="en-US" altLang="zh-CN" sz="2200" dirty="0" smtClean="0">
                                        <a:solidFill>
                                          <a:srgbClr val="2926BF"/>
                                        </a:solidFill>
                                        <a:latin typeface="Cambria Math" panose="02040503050406030204" pitchFamily="18" charset="0"/>
                                      </a:rPr>
                                      <m:t>2</m:t>
                                    </m:r>
                                  </m:den>
                                </m:f>
                              </m:oMath>
                            </m:oMathPara>
                          </a14:m>
                          <a:endParaRPr lang="zh-CN" altLang="en-US" sz="2200" dirty="0">
                            <a:solidFill>
                              <a:srgbClr val="2926BF"/>
                            </a:solidFill>
                            <a:latin typeface="Calisto MT" panose="02040603050505030304" pitchFamily="18" charset="0"/>
                          </a:endParaRPr>
                        </a:p>
                      </a:txBody>
                      <a:tcPr anchor="ctr"/>
                    </a:tc>
                    <a:extLst>
                      <a:ext uri="{0D108BD9-81ED-4DB2-BD59-A6C34878D82A}">
                        <a16:rowId xmlns:a16="http://schemas.microsoft.com/office/drawing/2014/main" val="10000"/>
                      </a:ext>
                    </a:extLst>
                  </a:tr>
                  <a:tr h="39184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D (deuteron)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200" smtClean="0">
                                    <a:solidFill>
                                      <a:srgbClr val="2926BF"/>
                                    </a:solidFill>
                                    <a:latin typeface="Cambria Math" panose="02040503050406030204" pitchFamily="18" charset="0"/>
                                  </a:rPr>
                                  <m:t>𝑰</m:t>
                                </m:r>
                                <m:r>
                                  <a:rPr lang="en-US" altLang="zh-CN" sz="2200" smtClean="0">
                                    <a:solidFill>
                                      <a:srgbClr val="2926BF"/>
                                    </a:solidFill>
                                    <a:latin typeface="Cambria Math" panose="02040503050406030204" pitchFamily="18" charset="0"/>
                                  </a:rPr>
                                  <m:t>=1</m:t>
                                </m:r>
                              </m:oMath>
                            </m:oMathPara>
                          </a14:m>
                          <a:endParaRPr lang="zh-CN" altLang="en-US" sz="2200" dirty="0">
                            <a:solidFill>
                              <a:srgbClr val="2926BF"/>
                            </a:solidFill>
                            <a:latin typeface="Calisto MT" panose="02040603050505030304" pitchFamily="18" charset="0"/>
                          </a:endParaRPr>
                        </a:p>
                      </a:txBody>
                      <a:tcPr anchor="ctr"/>
                    </a:tc>
                    <a:extLst>
                      <a:ext uri="{0D108BD9-81ED-4DB2-BD59-A6C34878D82A}">
                        <a16:rowId xmlns:a16="http://schemas.microsoft.com/office/drawing/2014/main" val="10001"/>
                      </a:ext>
                    </a:extLst>
                  </a:tr>
                  <a:tr h="66526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F</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200" smtClean="0">
                                    <a:solidFill>
                                      <a:srgbClr val="2926BF"/>
                                    </a:solidFill>
                                    <a:latin typeface="Cambria Math" panose="02040503050406030204" pitchFamily="18" charset="0"/>
                                  </a:rPr>
                                  <m:t>𝑰</m:t>
                                </m:r>
                                <m:r>
                                  <a:rPr lang="en-US" altLang="zh-CN" sz="2200" smtClean="0">
                                    <a:solidFill>
                                      <a:srgbClr val="2926BF"/>
                                    </a:solidFill>
                                    <a:latin typeface="Cambria Math" panose="02040503050406030204" pitchFamily="18" charset="0"/>
                                  </a:rPr>
                                  <m:t>=</m:t>
                                </m:r>
                                <m:f>
                                  <m:fPr>
                                    <m:ctrlPr>
                                      <a:rPr lang="en-US" altLang="zh-CN" sz="2200" i="1" dirty="0" smtClean="0">
                                        <a:solidFill>
                                          <a:srgbClr val="2926BF"/>
                                        </a:solidFill>
                                        <a:latin typeface="Cambria Math" panose="02040503050406030204" pitchFamily="18" charset="0"/>
                                      </a:rPr>
                                    </m:ctrlPr>
                                  </m:fPr>
                                  <m:num>
                                    <m:r>
                                      <a:rPr lang="en-US" altLang="zh-CN" sz="2200" dirty="0" smtClean="0">
                                        <a:solidFill>
                                          <a:srgbClr val="2926BF"/>
                                        </a:solidFill>
                                        <a:latin typeface="Cambria Math" panose="02040503050406030204" pitchFamily="18" charset="0"/>
                                      </a:rPr>
                                      <m:t>1</m:t>
                                    </m:r>
                                  </m:num>
                                  <m:den>
                                    <m:r>
                                      <a:rPr lang="en-US" altLang="zh-CN" sz="2200" dirty="0" smtClean="0">
                                        <a:solidFill>
                                          <a:srgbClr val="2926BF"/>
                                        </a:solidFill>
                                        <a:latin typeface="Cambria Math" panose="02040503050406030204" pitchFamily="18" charset="0"/>
                                      </a:rPr>
                                      <m:t>2</m:t>
                                    </m:r>
                                  </m:den>
                                </m:f>
                              </m:oMath>
                            </m:oMathPara>
                          </a14:m>
                          <a:endParaRPr lang="zh-CN" altLang="en-US" sz="2200" dirty="0">
                            <a:solidFill>
                              <a:srgbClr val="2926BF"/>
                            </a:solidFill>
                            <a:latin typeface="Calisto MT" panose="02040603050505030304" pitchFamily="18" charset="0"/>
                          </a:endParaRPr>
                        </a:p>
                      </a:txBody>
                      <a:tcPr anchor="ctr"/>
                    </a:tc>
                    <a:extLst>
                      <a:ext uri="{0D108BD9-81ED-4DB2-BD59-A6C34878D82A}">
                        <a16:rowId xmlns:a16="http://schemas.microsoft.com/office/drawing/2014/main" val="10002"/>
                      </a:ext>
                    </a:extLst>
                  </a:tr>
                  <a:tr h="39184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aseline="30000" dirty="0">
                              <a:latin typeface="Calisto MT" panose="02040603050505030304" pitchFamily="18" charset="0"/>
                            </a:rPr>
                            <a:t>16</a:t>
                          </a:r>
                          <a:r>
                            <a:rPr lang="en-US" altLang="zh-CN" sz="2200" dirty="0">
                              <a:latin typeface="Calisto MT" panose="02040603050505030304" pitchFamily="18" charset="0"/>
                            </a:rPr>
                            <a:t>O, </a:t>
                          </a:r>
                          <a:r>
                            <a:rPr lang="en-US" altLang="zh-CN" sz="2200" baseline="30000" dirty="0">
                              <a:latin typeface="Calisto MT" panose="02040603050505030304" pitchFamily="18" charset="0"/>
                            </a:rPr>
                            <a:t>12</a:t>
                          </a:r>
                          <a:r>
                            <a:rPr lang="en-US" altLang="zh-CN" sz="2200" dirty="0">
                              <a:latin typeface="Calisto MT" panose="02040603050505030304" pitchFamily="18" charset="0"/>
                            </a:rPr>
                            <a:t>C</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200" smtClean="0">
                                    <a:solidFill>
                                      <a:srgbClr val="2926BF"/>
                                    </a:solidFill>
                                    <a:latin typeface="Cambria Math" panose="02040503050406030204" pitchFamily="18" charset="0"/>
                                  </a:rPr>
                                  <m:t>𝑰</m:t>
                                </m:r>
                                <m:r>
                                  <a:rPr lang="en-US" altLang="zh-CN" sz="2200" smtClean="0">
                                    <a:solidFill>
                                      <a:srgbClr val="2926BF"/>
                                    </a:solidFill>
                                    <a:latin typeface="Cambria Math" panose="02040503050406030204" pitchFamily="18" charset="0"/>
                                  </a:rPr>
                                  <m:t>=0</m:t>
                                </m:r>
                              </m:oMath>
                            </m:oMathPara>
                          </a14:m>
                          <a:endParaRPr lang="zh-CN" altLang="en-US" sz="2200" dirty="0">
                            <a:solidFill>
                              <a:srgbClr val="2926BF"/>
                            </a:solidFill>
                            <a:latin typeface="Calisto MT" panose="02040603050505030304" pitchFamily="18" charset="0"/>
                          </a:endParaRPr>
                        </a:p>
                      </a:txBody>
                      <a:tcPr anchor="ctr"/>
                    </a:tc>
                    <a:extLst>
                      <a:ext uri="{0D108BD9-81ED-4DB2-BD59-A6C34878D82A}">
                        <a16:rowId xmlns:a16="http://schemas.microsoft.com/office/drawing/2014/main" val="10003"/>
                      </a:ext>
                    </a:extLst>
                  </a:tr>
                  <a:tr h="66526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aseline="30000" dirty="0">
                              <a:latin typeface="Calisto MT" panose="02040603050505030304" pitchFamily="18" charset="0"/>
                            </a:rPr>
                            <a:t>13</a:t>
                          </a:r>
                          <a:r>
                            <a:rPr lang="en-US" altLang="zh-CN" sz="2200" dirty="0">
                              <a:latin typeface="Calisto MT" panose="02040603050505030304" pitchFamily="18" charset="0"/>
                            </a:rPr>
                            <a:t>C</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2200" smtClean="0">
                                    <a:solidFill>
                                      <a:srgbClr val="2926BF"/>
                                    </a:solidFill>
                                    <a:latin typeface="Cambria Math" panose="02040503050406030204" pitchFamily="18" charset="0"/>
                                  </a:rPr>
                                  <m:t>𝑰</m:t>
                                </m:r>
                                <m:r>
                                  <a:rPr lang="en-US" altLang="zh-CN" sz="2200" smtClean="0">
                                    <a:solidFill>
                                      <a:srgbClr val="2926BF"/>
                                    </a:solidFill>
                                    <a:latin typeface="Cambria Math" panose="02040503050406030204" pitchFamily="18" charset="0"/>
                                  </a:rPr>
                                  <m:t>=</m:t>
                                </m:r>
                                <m:f>
                                  <m:fPr>
                                    <m:ctrlPr>
                                      <a:rPr lang="en-US" altLang="zh-CN" sz="2200" i="1" dirty="0" smtClean="0">
                                        <a:solidFill>
                                          <a:srgbClr val="2926BF"/>
                                        </a:solidFill>
                                        <a:latin typeface="Cambria Math" panose="02040503050406030204" pitchFamily="18" charset="0"/>
                                      </a:rPr>
                                    </m:ctrlPr>
                                  </m:fPr>
                                  <m:num>
                                    <m:r>
                                      <a:rPr lang="en-US" altLang="zh-CN" sz="2200" dirty="0" smtClean="0">
                                        <a:solidFill>
                                          <a:srgbClr val="2926BF"/>
                                        </a:solidFill>
                                        <a:latin typeface="Cambria Math" panose="02040503050406030204" pitchFamily="18" charset="0"/>
                                      </a:rPr>
                                      <m:t>1</m:t>
                                    </m:r>
                                  </m:num>
                                  <m:den>
                                    <m:r>
                                      <a:rPr lang="en-US" altLang="zh-CN" sz="2200" dirty="0" smtClean="0">
                                        <a:solidFill>
                                          <a:srgbClr val="2926BF"/>
                                        </a:solidFill>
                                        <a:latin typeface="Cambria Math" panose="02040503050406030204" pitchFamily="18" charset="0"/>
                                      </a:rPr>
                                      <m:t>2</m:t>
                                    </m:r>
                                  </m:den>
                                </m:f>
                              </m:oMath>
                            </m:oMathPara>
                          </a14:m>
                          <a:endParaRPr lang="zh-CN" altLang="en-US" sz="2200" dirty="0">
                            <a:solidFill>
                              <a:srgbClr val="2926BF"/>
                            </a:solidFill>
                            <a:latin typeface="Calisto MT" panose="02040603050505030304" pitchFamily="18" charset="0"/>
                          </a:endParaRPr>
                        </a:p>
                      </a:txBody>
                      <a:tcPr anchor="ctr"/>
                    </a:tc>
                    <a:extLst>
                      <a:ext uri="{0D108BD9-81ED-4DB2-BD59-A6C34878D82A}">
                        <a16:rowId xmlns:a16="http://schemas.microsoft.com/office/drawing/2014/main" val="10004"/>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463042675"/>
                  </p:ext>
                </p:extLst>
              </p:nvPr>
            </p:nvGraphicFramePr>
            <p:xfrm>
              <a:off x="3280188" y="2799575"/>
              <a:ext cx="4923184" cy="3010854"/>
            </p:xfrm>
            <a:graphic>
              <a:graphicData uri="http://schemas.openxmlformats.org/drawingml/2006/table">
                <a:tbl>
                  <a:tblPr firstRow="1" bandRow="1">
                    <a:tableStyleId>{2D5ABB26-0587-4C30-8999-92F81FD0307C}</a:tableStyleId>
                  </a:tblPr>
                  <a:tblGrid>
                    <a:gridCol w="2461592">
                      <a:extLst>
                        <a:ext uri="{9D8B030D-6E8A-4147-A177-3AD203B41FA5}">
                          <a16:colId xmlns:a16="http://schemas.microsoft.com/office/drawing/2014/main" val="20000"/>
                        </a:ext>
                      </a:extLst>
                    </a:gridCol>
                    <a:gridCol w="2461592">
                      <a:extLst>
                        <a:ext uri="{9D8B030D-6E8A-4147-A177-3AD203B41FA5}">
                          <a16:colId xmlns:a16="http://schemas.microsoft.com/office/drawing/2014/main" val="20001"/>
                        </a:ext>
                      </a:extLst>
                    </a:gridCol>
                  </a:tblGrid>
                  <a:tr h="71913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H (proton)</a:t>
                          </a:r>
                        </a:p>
                      </a:txBody>
                      <a:tcPr anchor="ctr"/>
                    </a:tc>
                    <a:tc>
                      <a:txBody>
                        <a:bodyPr/>
                        <a:lstStyle/>
                        <a:p>
                          <a:endParaRPr lang="zh-CN"/>
                        </a:p>
                      </a:txBody>
                      <a:tcPr anchor="ctr">
                        <a:blipFill>
                          <a:blip r:embed="rId2"/>
                          <a:stretch>
                            <a:fillRect l="-100000" b="-319492"/>
                          </a:stretch>
                        </a:blipFill>
                      </a:tcPr>
                    </a:tc>
                    <a:extLst>
                      <a:ext uri="{0D108BD9-81ED-4DB2-BD59-A6C34878D82A}">
                        <a16:rowId xmlns:a16="http://schemas.microsoft.com/office/drawing/2014/main" val="10000"/>
                      </a:ext>
                    </a:extLst>
                  </a:tr>
                  <a:tr h="4267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D (deuteron) </a:t>
                          </a:r>
                        </a:p>
                      </a:txBody>
                      <a:tcPr anchor="ctr"/>
                    </a:tc>
                    <a:tc>
                      <a:txBody>
                        <a:bodyPr/>
                        <a:lstStyle/>
                        <a:p>
                          <a:endParaRPr lang="zh-CN"/>
                        </a:p>
                      </a:txBody>
                      <a:tcPr anchor="ctr">
                        <a:blipFill>
                          <a:blip r:embed="rId2"/>
                          <a:stretch>
                            <a:fillRect l="-100000" t="-168571" b="-438571"/>
                          </a:stretch>
                        </a:blipFill>
                      </a:tcPr>
                    </a:tc>
                    <a:extLst>
                      <a:ext uri="{0D108BD9-81ED-4DB2-BD59-A6C34878D82A}">
                        <a16:rowId xmlns:a16="http://schemas.microsoft.com/office/drawing/2014/main" val="10001"/>
                      </a:ext>
                    </a:extLst>
                  </a:tr>
                  <a:tr h="71913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dirty="0">
                              <a:latin typeface="Calisto MT" panose="02040603050505030304" pitchFamily="18" charset="0"/>
                            </a:rPr>
                            <a:t>F</a:t>
                          </a:r>
                        </a:p>
                      </a:txBody>
                      <a:tcPr anchor="ctr"/>
                    </a:tc>
                    <a:tc>
                      <a:txBody>
                        <a:bodyPr/>
                        <a:lstStyle/>
                        <a:p>
                          <a:endParaRPr lang="zh-CN"/>
                        </a:p>
                      </a:txBody>
                      <a:tcPr anchor="ctr">
                        <a:blipFill>
                          <a:blip r:embed="rId2"/>
                          <a:stretch>
                            <a:fillRect l="-100000" t="-157983" b="-157983"/>
                          </a:stretch>
                        </a:blipFill>
                      </a:tcPr>
                    </a:tc>
                    <a:extLst>
                      <a:ext uri="{0D108BD9-81ED-4DB2-BD59-A6C34878D82A}">
                        <a16:rowId xmlns:a16="http://schemas.microsoft.com/office/drawing/2014/main" val="10002"/>
                      </a:ext>
                    </a:extLst>
                  </a:tr>
                  <a:tr h="4267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aseline="30000" dirty="0">
                              <a:latin typeface="Calisto MT" panose="02040603050505030304" pitchFamily="18" charset="0"/>
                            </a:rPr>
                            <a:t>16</a:t>
                          </a:r>
                          <a:r>
                            <a:rPr lang="en-US" altLang="zh-CN" sz="2200" dirty="0">
                              <a:latin typeface="Calisto MT" panose="02040603050505030304" pitchFamily="18" charset="0"/>
                            </a:rPr>
                            <a:t>O, </a:t>
                          </a:r>
                          <a:r>
                            <a:rPr lang="en-US" altLang="zh-CN" sz="2200" baseline="30000" dirty="0">
                              <a:latin typeface="Calisto MT" panose="02040603050505030304" pitchFamily="18" charset="0"/>
                            </a:rPr>
                            <a:t>12</a:t>
                          </a:r>
                          <a:r>
                            <a:rPr lang="en-US" altLang="zh-CN" sz="2200" dirty="0">
                              <a:latin typeface="Calisto MT" panose="02040603050505030304" pitchFamily="18" charset="0"/>
                            </a:rPr>
                            <a:t>C</a:t>
                          </a:r>
                        </a:p>
                      </a:txBody>
                      <a:tcPr anchor="ctr"/>
                    </a:tc>
                    <a:tc>
                      <a:txBody>
                        <a:bodyPr/>
                        <a:lstStyle/>
                        <a:p>
                          <a:endParaRPr lang="zh-CN"/>
                        </a:p>
                      </a:txBody>
                      <a:tcPr anchor="ctr">
                        <a:blipFill>
                          <a:blip r:embed="rId2"/>
                          <a:stretch>
                            <a:fillRect l="-100000" t="-438571" b="-168571"/>
                          </a:stretch>
                        </a:blipFill>
                      </a:tcPr>
                    </a:tc>
                    <a:extLst>
                      <a:ext uri="{0D108BD9-81ED-4DB2-BD59-A6C34878D82A}">
                        <a16:rowId xmlns:a16="http://schemas.microsoft.com/office/drawing/2014/main" val="10003"/>
                      </a:ext>
                    </a:extLst>
                  </a:tr>
                  <a:tr h="71913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aseline="30000" dirty="0">
                              <a:latin typeface="Calisto MT" panose="02040603050505030304" pitchFamily="18" charset="0"/>
                            </a:rPr>
                            <a:t>13</a:t>
                          </a:r>
                          <a:r>
                            <a:rPr lang="en-US" altLang="zh-CN" sz="2200" dirty="0">
                              <a:latin typeface="Calisto MT" panose="02040603050505030304" pitchFamily="18" charset="0"/>
                            </a:rPr>
                            <a:t>C</a:t>
                          </a:r>
                        </a:p>
                      </a:txBody>
                      <a:tcPr anchor="ctr"/>
                    </a:tc>
                    <a:tc>
                      <a:txBody>
                        <a:bodyPr/>
                        <a:lstStyle/>
                        <a:p>
                          <a:endParaRPr lang="zh-CN"/>
                        </a:p>
                      </a:txBody>
                      <a:tcPr anchor="ctr">
                        <a:blipFill>
                          <a:blip r:embed="rId2"/>
                          <a:stretch>
                            <a:fillRect l="-100000" t="-319492"/>
                          </a:stretch>
                        </a:blipFill>
                      </a:tcPr>
                    </a:tc>
                    <a:extLst>
                      <a:ext uri="{0D108BD9-81ED-4DB2-BD59-A6C34878D82A}">
                        <a16:rowId xmlns:a16="http://schemas.microsoft.com/office/drawing/2014/main" val="10004"/>
                      </a:ext>
                    </a:extLst>
                  </a:tr>
                </a:tbl>
              </a:graphicData>
            </a:graphic>
          </p:graphicFram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7"/>
          <p:cNvGraphicFramePr>
            <a:graphicFrameLocks noChangeAspect="1"/>
          </p:cNvGraphicFramePr>
          <p:nvPr>
            <p:extLst>
              <p:ext uri="{D42A27DB-BD31-4B8C-83A1-F6EECF244321}">
                <p14:modId xmlns:p14="http://schemas.microsoft.com/office/powerpoint/2010/main" val="3198920968"/>
              </p:ext>
            </p:extLst>
          </p:nvPr>
        </p:nvGraphicFramePr>
        <p:xfrm>
          <a:off x="2530835" y="4751041"/>
          <a:ext cx="1904400" cy="609120"/>
        </p:xfrm>
        <a:graphic>
          <a:graphicData uri="http://schemas.openxmlformats.org/presentationml/2006/ole">
            <mc:AlternateContent xmlns:mc="http://schemas.openxmlformats.org/markup-compatibility/2006">
              <mc:Choice xmlns:v="urn:schemas-microsoft-com:vml" Requires="v">
                <p:oleObj name="Equation" r:id="rId2" imgW="952200" imgH="304560" progId="Equation.DSMT4">
                  <p:embed/>
                </p:oleObj>
              </mc:Choice>
              <mc:Fallback>
                <p:oleObj name="Equation" r:id="rId2" imgW="952200" imgH="304560" progId="Equation.DSMT4">
                  <p:embed/>
                  <p:pic>
                    <p:nvPicPr>
                      <p:cNvPr id="6" name="Object 7"/>
                      <p:cNvPicPr>
                        <a:picLocks noChangeAspect="1" noChangeArrowheads="1"/>
                      </p:cNvPicPr>
                      <p:nvPr/>
                    </p:nvPicPr>
                    <p:blipFill>
                      <a:blip r:embed="rId3"/>
                      <a:srcRect/>
                      <a:stretch>
                        <a:fillRect/>
                      </a:stretch>
                    </p:blipFill>
                    <p:spPr bwMode="auto">
                      <a:xfrm>
                        <a:off x="2530835" y="4751041"/>
                        <a:ext cx="190440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extLst>
              <p:ext uri="{D42A27DB-BD31-4B8C-83A1-F6EECF244321}">
                <p14:modId xmlns:p14="http://schemas.microsoft.com/office/powerpoint/2010/main" val="655812522"/>
              </p:ext>
            </p:extLst>
          </p:nvPr>
        </p:nvGraphicFramePr>
        <p:xfrm>
          <a:off x="4435235" y="4080588"/>
          <a:ext cx="2184400" cy="531813"/>
        </p:xfrm>
        <a:graphic>
          <a:graphicData uri="http://schemas.openxmlformats.org/presentationml/2006/ole">
            <mc:AlternateContent xmlns:mc="http://schemas.openxmlformats.org/markup-compatibility/2006">
              <mc:Choice xmlns:v="urn:schemas-microsoft-com:vml" Requires="v">
                <p:oleObj name="Equation" r:id="rId4" imgW="26212800" imgH="6400800" progId="Equation.DSMT4">
                  <p:embed/>
                </p:oleObj>
              </mc:Choice>
              <mc:Fallback>
                <p:oleObj name="Equation" r:id="rId4" imgW="26212800" imgH="6400800" progId="Equation.DSMT4">
                  <p:embed/>
                  <p:pic>
                    <p:nvPicPr>
                      <p:cNvPr id="7" name="Object 8"/>
                      <p:cNvPicPr>
                        <a:picLocks noChangeAspect="1" noChangeArrowheads="1"/>
                      </p:cNvPicPr>
                      <p:nvPr/>
                    </p:nvPicPr>
                    <p:blipFill>
                      <a:blip r:embed="rId5"/>
                      <a:srcRect/>
                      <a:stretch>
                        <a:fillRect/>
                      </a:stretch>
                    </p:blipFill>
                    <p:spPr bwMode="auto">
                      <a:xfrm>
                        <a:off x="4435235" y="4080588"/>
                        <a:ext cx="21844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3027366959"/>
              </p:ext>
            </p:extLst>
          </p:nvPr>
        </p:nvGraphicFramePr>
        <p:xfrm>
          <a:off x="5260168" y="4751041"/>
          <a:ext cx="4165200" cy="609120"/>
        </p:xfrm>
        <a:graphic>
          <a:graphicData uri="http://schemas.openxmlformats.org/presentationml/2006/ole">
            <mc:AlternateContent xmlns:mc="http://schemas.openxmlformats.org/markup-compatibility/2006">
              <mc:Choice xmlns:v="urn:schemas-microsoft-com:vml" Requires="v">
                <p:oleObj name="Equation" r:id="rId6" imgW="2082600" imgH="304560" progId="Equation.DSMT4">
                  <p:embed/>
                </p:oleObj>
              </mc:Choice>
              <mc:Fallback>
                <p:oleObj name="Equation" r:id="rId6" imgW="2082600" imgH="304560" progId="Equation.DSMT4">
                  <p:embed/>
                  <p:pic>
                    <p:nvPicPr>
                      <p:cNvPr id="8" name="Object 9"/>
                      <p:cNvPicPr>
                        <a:picLocks noChangeAspect="1" noChangeArrowheads="1"/>
                      </p:cNvPicPr>
                      <p:nvPr/>
                    </p:nvPicPr>
                    <p:blipFill>
                      <a:blip r:embed="rId7"/>
                      <a:srcRect/>
                      <a:stretch>
                        <a:fillRect/>
                      </a:stretch>
                    </p:blipFill>
                    <p:spPr bwMode="auto">
                      <a:xfrm>
                        <a:off x="5260168" y="4751041"/>
                        <a:ext cx="416520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 name="图片 8"/>
          <p:cNvPicPr>
            <a:picLocks noChangeAspect="1"/>
          </p:cNvPicPr>
          <p:nvPr/>
        </p:nvPicPr>
        <p:blipFill>
          <a:blip r:embed="rId8"/>
          <a:stretch>
            <a:fillRect/>
          </a:stretch>
        </p:blipFill>
        <p:spPr>
          <a:xfrm>
            <a:off x="4346097" y="3490742"/>
            <a:ext cx="2362676" cy="471488"/>
          </a:xfrm>
          <a:prstGeom prst="rect">
            <a:avLst/>
          </a:prstGeom>
        </p:spPr>
      </p:pic>
      <p:pic>
        <p:nvPicPr>
          <p:cNvPr id="4"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4265" y="805286"/>
            <a:ext cx="9906266" cy="215810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110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Aft>
                <a:spcPct val="0"/>
              </a:spcAft>
            </a:pPr>
            <a:fld id="{F41A2448-3F00-4676-919D-6FC0D8D1A636}" type="slidenum">
              <a:rPr lang="en-US" altLang="zh-CN">
                <a:solidFill>
                  <a:srgbClr val="000000"/>
                </a:solidFill>
                <a:latin typeface="Arial" panose="020B0604020202020204" pitchFamily="34" charset="0"/>
                <a:ea typeface="宋体" panose="02010600030101010101" pitchFamily="2" charset="-122"/>
              </a:rPr>
              <a:t>9</a:t>
            </a:fld>
            <a:endParaRPr lang="en-US" altLang="zh-CN">
              <a:solidFill>
                <a:srgbClr val="000000"/>
              </a:solidFill>
              <a:latin typeface="Arial" panose="020B0604020202020204" pitchFamily="34" charset="0"/>
              <a:ea typeface="宋体" panose="02010600030101010101" pitchFamily="2" charset="-122"/>
            </a:endParaRPr>
          </a:p>
        </p:txBody>
      </p:sp>
      <p:pic>
        <p:nvPicPr>
          <p:cNvPr id="431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594" y="2612196"/>
            <a:ext cx="7141839" cy="3396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1E918FA-C926-CAF7-C3F3-9633C3698995}"/>
                  </a:ext>
                </a:extLst>
              </p:cNvPr>
              <p:cNvSpPr txBox="1"/>
              <p:nvPr/>
            </p:nvSpPr>
            <p:spPr>
              <a:xfrm>
                <a:off x="533400" y="433628"/>
                <a:ext cx="11201400" cy="2113720"/>
              </a:xfrm>
              <a:prstGeom prst="rect">
                <a:avLst/>
              </a:prstGeom>
              <a:noFill/>
            </p:spPr>
            <p:txBody>
              <a:bodyPr wrap="square">
                <a:spAutoFit/>
              </a:bodyPr>
              <a:lstStyle/>
              <a:p>
                <a:pPr marL="58420" indent="-81280">
                  <a:lnSpc>
                    <a:spcPct val="121000"/>
                  </a:lnSpc>
                  <a:spcAft>
                    <a:spcPts val="315"/>
                  </a:spcAft>
                </a:pPr>
                <a:r>
                  <a:rPr lang="en-US" altLang="zh-CN" sz="2400" dirty="0">
                    <a:latin typeface="Times New Roman" panose="02020603050405020304" pitchFamily="18" charset="0"/>
                    <a:cs typeface="Times New Roman" panose="02020603050405020304" pitchFamily="18" charset="0"/>
                  </a:rPr>
                  <a:t>The differences between spin and orbital angular momentum are:</a:t>
                </a:r>
              </a:p>
              <a:p>
                <a:pPr marL="539750" indent="-81280">
                  <a:lnSpc>
                    <a:spcPct val="121000"/>
                  </a:lnSpc>
                  <a:spcAft>
                    <a:spcPts val="315"/>
                  </a:spcAft>
                </a:pPr>
                <a:r>
                  <a:rPr lang="en-US" altLang="zh-CN" sz="2400" dirty="0">
                    <a:latin typeface="Times New Roman" panose="02020603050405020304" pitchFamily="18" charset="0"/>
                    <a:cs typeface="Times New Roman" panose="02020603050405020304" pitchFamily="18" charset="0"/>
                  </a:rPr>
                  <a:t>• The spin quantum numbers need not be integers </a:t>
                </a:r>
                <a:r>
                  <a:rPr lang="en-US" altLang="zh-TW" sz="2400" dirty="0">
                    <a:latin typeface="Times New Roman" panose="02020603050405020304" pitchFamily="18" charset="0"/>
                    <a:ea typeface="Arial" panose="020B0604020202020204"/>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they may be half-odd-integer.</a:t>
                </a:r>
              </a:p>
              <a:p>
                <a:pPr marL="539750" indent="-81280">
                  <a:lnSpc>
                    <a:spcPct val="121000"/>
                  </a:lnSpc>
                </a:pPr>
                <a:r>
                  <a:rPr lang="en-US" altLang="zh-CN" sz="2400" dirty="0">
                    <a:latin typeface="Times New Roman" panose="02020603050405020304" pitchFamily="18" charset="0"/>
                    <a:cs typeface="Times New Roman" panose="02020603050405020304" pitchFamily="18" charset="0"/>
                  </a:rPr>
                  <a:t>• The quantum number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has a fixed value for a particular kind of fundamental particle. It is always </a:t>
                </a:r>
                <a14:m>
                  <m:oMath xmlns:m="http://schemas.openxmlformats.org/officeDocument/2006/math">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electrons (and for protons and neutrons).</a:t>
                </a:r>
              </a:p>
            </p:txBody>
          </p:sp>
        </mc:Choice>
        <mc:Fallback xmlns="">
          <p:sp>
            <p:nvSpPr>
              <p:cNvPr id="3" name="文本框 2">
                <a:extLst>
                  <a:ext uri="{FF2B5EF4-FFF2-40B4-BE49-F238E27FC236}">
                    <a16:creationId xmlns:a16="http://schemas.microsoft.com/office/drawing/2014/main" id="{31E918FA-C926-CAF7-C3F3-9633C3698995}"/>
                  </a:ext>
                </a:extLst>
              </p:cNvPr>
              <p:cNvSpPr txBox="1">
                <a:spLocks noRot="1" noChangeAspect="1" noMove="1" noResize="1" noEditPoints="1" noAdjustHandles="1" noChangeArrowheads="1" noChangeShapeType="1" noTextEdit="1"/>
              </p:cNvSpPr>
              <p:nvPr/>
            </p:nvSpPr>
            <p:spPr>
              <a:xfrm>
                <a:off x="533400" y="433628"/>
                <a:ext cx="11201400" cy="2113720"/>
              </a:xfrm>
              <a:prstGeom prst="rect">
                <a:avLst/>
              </a:prstGeom>
              <a:blipFill>
                <a:blip r:embed="rId3"/>
                <a:stretch>
                  <a:fillRect l="-871" t="-576" r="-2014" b="-1729"/>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Aft>
                <a:spcPct val="0"/>
              </a:spcAft>
            </a:pPr>
            <a:fld id="{F41A2448-3F00-4676-919D-6FC0D8D1A636}" type="slidenum">
              <a:rPr lang="en-US" altLang="zh-CN">
                <a:solidFill>
                  <a:srgbClr val="000000"/>
                </a:solidFill>
                <a:latin typeface="Arial" panose="020B0604020202020204" pitchFamily="34" charset="0"/>
                <a:ea typeface="宋体" panose="02010600030101010101" pitchFamily="2" charset="-122"/>
              </a:rPr>
              <a:t>10</a:t>
            </a:fld>
            <a:endParaRPr lang="en-US" altLang="zh-CN">
              <a:solidFill>
                <a:srgbClr val="000000"/>
              </a:solidFill>
              <a:latin typeface="Arial" panose="020B0604020202020204" pitchFamily="34" charset="0"/>
              <a:ea typeface="宋体" panose="02010600030101010101" pitchFamily="2" charset="-122"/>
            </a:endParaRPr>
          </a:p>
        </p:txBody>
      </p:sp>
      <p:pic>
        <p:nvPicPr>
          <p:cNvPr id="431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566197"/>
            <a:ext cx="7696200" cy="571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74955" y="171977"/>
            <a:ext cx="302352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Notations for spin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491203" y="1245585"/>
                <a:ext cx="11004112" cy="3396571"/>
              </a:xfrm>
              <a:prstGeom prst="rect">
                <a:avLst/>
              </a:prstGeom>
            </p:spPr>
            <p:txBody>
              <a:bodyPr wrap="square">
                <a:spAutoFit/>
              </a:bodyPr>
              <a:lstStyle/>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The </a:t>
                </a:r>
                <a:r>
                  <a:rPr lang="en-US" altLang="zh-CN" sz="2400" i="1" dirty="0" err="1">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quantum number follows the usual rules for angular momentum: it can take values between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integer steps. Since </a:t>
                </a:r>
                <a:r>
                  <a:rPr lang="en-US" altLang="zh-CN" sz="2400" i="1" dirty="0">
                    <a:solidFill>
                      <a:srgbClr val="2926BF"/>
                    </a:solidFill>
                    <a:latin typeface="Times New Roman" panose="02020603050405020304" pitchFamily="18" charset="0"/>
                    <a:cs typeface="Times New Roman" panose="02020603050405020304" pitchFamily="18" charset="0"/>
                  </a:rPr>
                  <a:t>s </a:t>
                </a:r>
                <a14:m>
                  <m:oMath xmlns:m="http://schemas.openxmlformats.org/officeDocument/2006/math">
                    <m:r>
                      <a:rPr lang="en-US" altLang="zh-CN" sz="2400" i="1" dirty="0">
                        <a:solidFill>
                          <a:srgbClr val="2926BF"/>
                        </a:solidFill>
                        <a:latin typeface="Cambria Math" panose="02040503050406030204" pitchFamily="18" charset="0"/>
                      </a:rPr>
                      <m:t>=</m:t>
                    </m:r>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an electron, </a:t>
                </a:r>
                <a:r>
                  <a:rPr lang="en-US" altLang="zh-CN" sz="2400" i="1" dirty="0" err="1">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can take only the values </a:t>
                </a:r>
                <a14:m>
                  <m:oMath xmlns:m="http://schemas.openxmlformats.org/officeDocument/2006/math">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 </a:t>
                </a:r>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solidFill>
                      <a:srgbClr val="2926BF"/>
                    </a:solidFill>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The state with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a:solidFill>
                          <a:srgbClr val="2926BF"/>
                        </a:solidFill>
                        <a:latin typeface="Cambria Math" panose="02040503050406030204" pitchFamily="18" charset="0"/>
                      </a:rPr>
                      <m:t>=</m:t>
                    </m:r>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latin typeface="Times New Roman" panose="02020603050405020304" pitchFamily="18" charset="0"/>
                    <a:cs typeface="Times New Roman" panose="02020603050405020304" pitchFamily="18" charset="0"/>
                  </a:rPr>
                  <a:t> ('spin up') is denoted by the symbol </a:t>
                </a:r>
                <a14:m>
                  <m:oMath xmlns:m="http://schemas.openxmlformats.org/officeDocument/2006/math">
                    <m:r>
                      <a:rPr lang="zh-CN" altLang="en-US" sz="2400" i="1" dirty="0">
                        <a:solidFill>
                          <a:srgbClr val="2926BF"/>
                        </a:solidFill>
                        <a:latin typeface="Cambria Math" panose="02040503050406030204" pitchFamily="18" charset="0"/>
                      </a:rPr>
                      <m:t>𝛼</m:t>
                    </m:r>
                  </m:oMath>
                </a14:m>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the state with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i="1" baseline="-25000" dirty="0" err="1">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a:solidFill>
                          <a:srgbClr val="2926BF"/>
                        </a:solidFill>
                        <a:latin typeface="Cambria Math" panose="02040503050406030204" pitchFamily="18" charset="0"/>
                      </a:rPr>
                      <m:t>=−</m:t>
                    </m:r>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latin typeface="Times New Roman" panose="02020603050405020304" pitchFamily="18" charset="0"/>
                    <a:cs typeface="Times New Roman" panose="02020603050405020304" pitchFamily="18" charset="0"/>
                  </a:rPr>
                  <a:t> ('spin down') by the symbol </a:t>
                </a:r>
                <a14:m>
                  <m:oMath xmlns:m="http://schemas.openxmlformats.org/officeDocument/2006/math">
                    <m:r>
                      <a:rPr lang="zh-TW" altLang="en-US" sz="2400" i="1" dirty="0">
                        <a:solidFill>
                          <a:srgbClr val="2926BF"/>
                        </a:solidFill>
                        <a:latin typeface="Cambria Math" panose="02040503050406030204" pitchFamily="18" charset="0"/>
                        <a:ea typeface="Arial" panose="020B0604020202020204"/>
                      </a:rPr>
                      <m:t>𝛽</m:t>
                    </m:r>
                  </m:oMath>
                </a14:m>
                <a:r>
                  <a:rPr lang="en-US" altLang="zh-CN" sz="2400" dirty="0">
                    <a:latin typeface="Times New Roman" panose="02020603050405020304" pitchFamily="18" charset="0"/>
                    <a:cs typeface="Times New Roman" panose="02020603050405020304" pitchFamily="18" charset="0"/>
                  </a:rPr>
                  <a:t>. We can also use </a:t>
                </a:r>
                <a14:m>
                  <m:oMath xmlns:m="http://schemas.openxmlformats.org/officeDocument/2006/math">
                    <m:r>
                      <a:rPr lang="zh-CN" altLang="en-US" sz="2400" i="1" dirty="0">
                        <a:solidFill>
                          <a:srgbClr val="2926BF"/>
                        </a:solidFill>
                        <a:latin typeface="Cambria Math" panose="02040503050406030204" pitchFamily="18" charset="0"/>
                      </a:rPr>
                      <m:t>𝜎</m:t>
                    </m:r>
                    <m:r>
                      <a:rPr lang="en-US" altLang="zh-CN" sz="2400" i="1" baseline="-25000" dirty="0" err="1">
                        <a:solidFill>
                          <a:srgbClr val="2926BF"/>
                        </a:solidFill>
                        <a:latin typeface="Cambria Math" panose="02040503050406030204" pitchFamily="18" charset="0"/>
                      </a:rPr>
                      <m:t>𝑚</m:t>
                    </m:r>
                    <m:sSub>
                      <m:sSubPr>
                        <m:ctrlPr>
                          <a:rPr lang="en-US" altLang="zh-CN" sz="2400" i="1" baseline="-25000" dirty="0">
                            <a:solidFill>
                              <a:srgbClr val="2926BF"/>
                            </a:solidFill>
                            <a:latin typeface="Cambria Math" panose="02040503050406030204" pitchFamily="18" charset="0"/>
                          </a:rPr>
                        </m:ctrlPr>
                      </m:sSubPr>
                      <m:e>
                        <m:r>
                          <a:rPr lang="en-US" altLang="zh-CN" sz="2400" i="1" baseline="-25000" dirty="0">
                            <a:solidFill>
                              <a:srgbClr val="2926BF"/>
                            </a:solidFill>
                            <a:latin typeface="Cambria Math" panose="02040503050406030204" pitchFamily="18" charset="0"/>
                          </a:rPr>
                          <m:t>𝑠</m:t>
                        </m:r>
                      </m:e>
                      <m:sub/>
                    </m:sSub>
                  </m:oMath>
                </a14:m>
                <a:r>
                  <a:rPr lang="en-US" altLang="zh-CN" sz="2400" dirty="0">
                    <a:latin typeface="Times New Roman" panose="02020603050405020304" pitchFamily="18" charset="0"/>
                    <a:cs typeface="Times New Roman" panose="02020603050405020304" pitchFamily="18" charset="0"/>
                  </a:rPr>
                  <a:t>for a generic spin function; i.e., </a:t>
                </a: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zh-CN" altLang="en-US" sz="2400" i="1" dirty="0">
                            <a:solidFill>
                              <a:srgbClr val="2926BF"/>
                            </a:solidFill>
                            <a:latin typeface="Cambria Math" panose="02040503050406030204" pitchFamily="18" charset="0"/>
                          </a:rPr>
                          <m:t>𝜎</m:t>
                        </m:r>
                      </m:e>
                      <m:sub>
                        <m:r>
                          <a:rPr lang="en-US" altLang="zh-CN" sz="2400" i="1" dirty="0">
                            <a:solidFill>
                              <a:srgbClr val="2926BF"/>
                            </a:solidFill>
                            <a:latin typeface="Cambria Math" panose="02040503050406030204" pitchFamily="18" charset="0"/>
                          </a:rPr>
                          <m:t>1/2</m:t>
                        </m:r>
                      </m:sub>
                    </m:sSub>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zh-CN" altLang="en-US" sz="2400" i="1" dirty="0">
                            <a:solidFill>
                              <a:srgbClr val="2926BF"/>
                            </a:solidFill>
                            <a:latin typeface="Cambria Math" panose="02040503050406030204" pitchFamily="18" charset="0"/>
                          </a:rPr>
                          <m:t>𝜎</m:t>
                        </m:r>
                      </m:e>
                      <m:sub>
                        <m:r>
                          <a:rPr lang="en-US" altLang="zh-CN" sz="2400" i="1" dirty="0">
                            <a:solidFill>
                              <a:srgbClr val="2926BF"/>
                            </a:solidFill>
                            <a:latin typeface="Cambria Math" panose="02040503050406030204" pitchFamily="18" charset="0"/>
                          </a:rPr>
                          <m:t>−1/2</m:t>
                        </m:r>
                      </m:sub>
                    </m:sSub>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𝛽</m:t>
                    </m:r>
                  </m:oMath>
                </a14:m>
                <a:r>
                  <a:rPr lang="en-US" altLang="zh-CN" sz="2400" dirty="0">
                    <a:solidFill>
                      <a:srgbClr val="2926BF"/>
                    </a:solidFill>
                    <a:latin typeface="Times New Roman" panose="02020603050405020304" pitchFamily="18" charset="0"/>
                    <a:cs typeface="Times New Roman" panose="02020603050405020304" pitchFamily="18" charset="0"/>
                  </a:rPr>
                  <a:t>.</a:t>
                </a:r>
              </a:p>
            </p:txBody>
          </p:sp>
        </mc:Choice>
        <mc:Fallback xmlns="">
          <p:sp>
            <p:nvSpPr>
              <p:cNvPr id="3" name="矩形 2"/>
              <p:cNvSpPr>
                <a:spLocks noRot="1" noChangeAspect="1" noMove="1" noResize="1" noEditPoints="1" noAdjustHandles="1" noChangeArrowheads="1" noChangeShapeType="1" noTextEdit="1"/>
              </p:cNvSpPr>
              <p:nvPr/>
            </p:nvSpPr>
            <p:spPr>
              <a:xfrm>
                <a:off x="491203" y="1245585"/>
                <a:ext cx="11004112" cy="3396571"/>
              </a:xfrm>
              <a:prstGeom prst="rect">
                <a:avLst/>
              </a:prstGeom>
              <a:blipFill rotWithShape="1">
                <a:blip r:embed="rId2"/>
                <a:stretch>
                  <a:fillRect l="-3" t="-10" r="5" b="9"/>
                </a:stretch>
              </a:blipFill>
            </p:spPr>
            <p:txBody>
              <a:bodyPr/>
              <a:lstStyle/>
              <a:p>
                <a:r>
                  <a:rPr lang="zh-CN" altLang="en-US">
                    <a:noFill/>
                  </a:rPr>
                  <a:t> </a:t>
                </a:r>
              </a:p>
            </p:txBody>
          </p:sp>
        </mc:Fallback>
      </mc:AlternateContent>
      <p:sp>
        <p:nvSpPr>
          <p:cNvPr id="5"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491203" y="4840519"/>
            <a:ext cx="11365853" cy="830997"/>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These can be thought of as wavefunctions, but there is no coordinate in the conventional sense</a:t>
            </a: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E2D3A47E-9569-46B5-A2D0-FE66F0D1719C}"/>
              </a:ext>
            </a:extLst>
          </p:cNvPr>
          <p:cNvGraphicFramePr>
            <a:graphicFrameLocks noChangeAspect="1"/>
          </p:cNvGraphicFramePr>
          <p:nvPr>
            <p:extLst>
              <p:ext uri="{D42A27DB-BD31-4B8C-83A1-F6EECF244321}">
                <p14:modId xmlns:p14="http://schemas.microsoft.com/office/powerpoint/2010/main" val="3419151364"/>
              </p:ext>
            </p:extLst>
          </p:nvPr>
        </p:nvGraphicFramePr>
        <p:xfrm>
          <a:off x="7407765" y="1180442"/>
          <a:ext cx="2743200" cy="558720"/>
        </p:xfrm>
        <a:graphic>
          <a:graphicData uri="http://schemas.openxmlformats.org/presentationml/2006/ole">
            <mc:AlternateContent xmlns:mc="http://schemas.openxmlformats.org/markup-compatibility/2006">
              <mc:Choice xmlns:v="urn:schemas-microsoft-com:vml" Requires="v">
                <p:oleObj name="Equation" r:id="rId2" imgW="1371600" imgH="279360" progId="Equation.DSMT4">
                  <p:embed/>
                </p:oleObj>
              </mc:Choice>
              <mc:Fallback>
                <p:oleObj name="Equation" r:id="rId2" imgW="1371600" imgH="279360" progId="Equation.DSMT4">
                  <p:embed/>
                  <p:pic>
                    <p:nvPicPr>
                      <p:cNvPr id="4" name="对象 3">
                        <a:extLst>
                          <a:ext uri="{FF2B5EF4-FFF2-40B4-BE49-F238E27FC236}">
                            <a16:creationId xmlns:a16="http://schemas.microsoft.com/office/drawing/2014/main" id="{E2D3A47E-9569-46B5-A2D0-FE66F0D1719C}"/>
                          </a:ext>
                        </a:extLst>
                      </p:cNvPr>
                      <p:cNvPicPr/>
                      <p:nvPr/>
                    </p:nvPicPr>
                    <p:blipFill>
                      <a:blip r:embed="rId3"/>
                      <a:stretch>
                        <a:fillRect/>
                      </a:stretch>
                    </p:blipFill>
                    <p:spPr>
                      <a:xfrm>
                        <a:off x="7407765" y="1180442"/>
                        <a:ext cx="2743200" cy="55872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8EEDC33-1882-43D7-8671-4E158AED852A}"/>
              </a:ext>
            </a:extLst>
          </p:cNvPr>
          <p:cNvGraphicFramePr>
            <a:graphicFrameLocks noChangeAspect="1"/>
          </p:cNvGraphicFramePr>
          <p:nvPr>
            <p:extLst>
              <p:ext uri="{D42A27DB-BD31-4B8C-83A1-F6EECF244321}">
                <p14:modId xmlns:p14="http://schemas.microsoft.com/office/powerpoint/2010/main" val="513826535"/>
              </p:ext>
            </p:extLst>
          </p:nvPr>
        </p:nvGraphicFramePr>
        <p:xfrm>
          <a:off x="7407765" y="2052008"/>
          <a:ext cx="1422400" cy="508000"/>
        </p:xfrm>
        <a:graphic>
          <a:graphicData uri="http://schemas.openxmlformats.org/presentationml/2006/ole">
            <mc:AlternateContent xmlns:mc="http://schemas.openxmlformats.org/markup-compatibility/2006">
              <mc:Choice xmlns:v="urn:schemas-microsoft-com:vml" Requires="v">
                <p:oleObj name="Equation" r:id="rId4" imgW="711000" imgH="253800" progId="Equation.DSMT4">
                  <p:embed/>
                </p:oleObj>
              </mc:Choice>
              <mc:Fallback>
                <p:oleObj name="Equation" r:id="rId4" imgW="711000" imgH="253800" progId="Equation.DSMT4">
                  <p:embed/>
                  <p:pic>
                    <p:nvPicPr>
                      <p:cNvPr id="5" name="对象 4">
                        <a:extLst>
                          <a:ext uri="{FF2B5EF4-FFF2-40B4-BE49-F238E27FC236}">
                            <a16:creationId xmlns:a16="http://schemas.microsoft.com/office/drawing/2014/main" id="{38EEDC33-1882-43D7-8671-4E158AED852A}"/>
                          </a:ext>
                        </a:extLst>
                      </p:cNvPr>
                      <p:cNvPicPr/>
                      <p:nvPr/>
                    </p:nvPicPr>
                    <p:blipFill>
                      <a:blip r:embed="rId5"/>
                      <a:stretch>
                        <a:fillRect/>
                      </a:stretch>
                    </p:blipFill>
                    <p:spPr>
                      <a:xfrm>
                        <a:off x="7407765" y="2052008"/>
                        <a:ext cx="1422400" cy="5080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6FF5C13A-82B0-4344-BA70-5D5605EC4911}"/>
              </a:ext>
            </a:extLst>
          </p:cNvPr>
          <p:cNvGraphicFramePr>
            <a:graphicFrameLocks noChangeAspect="1"/>
          </p:cNvGraphicFramePr>
          <p:nvPr>
            <p:extLst>
              <p:ext uri="{D42A27DB-BD31-4B8C-83A1-F6EECF244321}">
                <p14:modId xmlns:p14="http://schemas.microsoft.com/office/powerpoint/2010/main" val="3079502432"/>
              </p:ext>
            </p:extLst>
          </p:nvPr>
        </p:nvGraphicFramePr>
        <p:xfrm>
          <a:off x="7460416" y="2816751"/>
          <a:ext cx="2565400" cy="508000"/>
        </p:xfrm>
        <a:graphic>
          <a:graphicData uri="http://schemas.openxmlformats.org/presentationml/2006/ole">
            <mc:AlternateContent xmlns:mc="http://schemas.openxmlformats.org/markup-compatibility/2006">
              <mc:Choice xmlns:v="urn:schemas-microsoft-com:vml" Requires="v">
                <p:oleObj name="Equation" r:id="rId6" imgW="1282680" imgH="253800" progId="Equation.DSMT4">
                  <p:embed/>
                </p:oleObj>
              </mc:Choice>
              <mc:Fallback>
                <p:oleObj name="Equation" r:id="rId6" imgW="1282680" imgH="253800" progId="Equation.DSMT4">
                  <p:embed/>
                  <p:pic>
                    <p:nvPicPr>
                      <p:cNvPr id="6" name="对象 5">
                        <a:extLst>
                          <a:ext uri="{FF2B5EF4-FFF2-40B4-BE49-F238E27FC236}">
                            <a16:creationId xmlns:a16="http://schemas.microsoft.com/office/drawing/2014/main" id="{6FF5C13A-82B0-4344-BA70-5D5605EC4911}"/>
                          </a:ext>
                        </a:extLst>
                      </p:cNvPr>
                      <p:cNvPicPr/>
                      <p:nvPr/>
                    </p:nvPicPr>
                    <p:blipFill>
                      <a:blip r:embed="rId7"/>
                      <a:stretch>
                        <a:fillRect/>
                      </a:stretch>
                    </p:blipFill>
                    <p:spPr>
                      <a:xfrm>
                        <a:off x="7460416" y="2816751"/>
                        <a:ext cx="2565400" cy="508000"/>
                      </a:xfrm>
                      <a:prstGeom prst="rect">
                        <a:avLst/>
                      </a:prstGeom>
                    </p:spPr>
                  </p:pic>
                </p:oleObj>
              </mc:Fallback>
            </mc:AlternateContent>
          </a:graphicData>
        </a:graphic>
      </p:graphicFrame>
      <p:sp>
        <p:nvSpPr>
          <p:cNvPr id="2" name="Line 2">
            <a:extLst>
              <a:ext uri="{FF2B5EF4-FFF2-40B4-BE49-F238E27FC236}">
                <a16:creationId xmlns:a16="http://schemas.microsoft.com/office/drawing/2014/main" id="{DE44D145-8F5E-2618-306E-D1C647A3FAF5}"/>
              </a:ext>
            </a:extLst>
          </p:cNvPr>
          <p:cNvSpPr>
            <a:spLocks noChangeShapeType="1"/>
          </p:cNvSpPr>
          <p:nvPr/>
        </p:nvSpPr>
        <p:spPr bwMode="auto">
          <a:xfrm flipV="1">
            <a:off x="65283"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1A693EEB-EE6F-B89E-2001-F357CCDEBFED}"/>
              </a:ext>
            </a:extLst>
          </p:cNvPr>
          <p:cNvSpPr/>
          <p:nvPr/>
        </p:nvSpPr>
        <p:spPr>
          <a:xfrm>
            <a:off x="4588365" y="241651"/>
            <a:ext cx="3031599" cy="523220"/>
          </a:xfrm>
          <a:prstGeom prst="rect">
            <a:avLst/>
          </a:prstGeom>
        </p:spPr>
        <p:txBody>
          <a:bodyPr wrap="none">
            <a:spAutoFit/>
          </a:bodyPr>
          <a:lstStyle/>
          <a:p>
            <a:r>
              <a:rPr lang="en-US" altLang="zh-CN" sz="2800" b="1" dirty="0">
                <a:solidFill>
                  <a:prstClr val="black"/>
                </a:solidFill>
                <a:latin typeface="Times New Roman" panose="02020603050405020304" pitchFamily="18" charset="0"/>
                <a:cs typeface="Times New Roman" panose="02020603050405020304" pitchFamily="18" charset="0"/>
              </a:rPr>
              <a:t>Spin wavefunction</a:t>
            </a:r>
          </a:p>
        </p:txBody>
      </p:sp>
      <p:graphicFrame>
        <p:nvGraphicFramePr>
          <p:cNvPr id="7" name="对象 6"/>
          <p:cNvGraphicFramePr>
            <a:graphicFrameLocks noChangeAspect="1"/>
          </p:cNvGraphicFramePr>
          <p:nvPr>
            <p:extLst>
              <p:ext uri="{D42A27DB-BD31-4B8C-83A1-F6EECF244321}">
                <p14:modId xmlns:p14="http://schemas.microsoft.com/office/powerpoint/2010/main" val="308196739"/>
              </p:ext>
            </p:extLst>
          </p:nvPr>
        </p:nvGraphicFramePr>
        <p:xfrm>
          <a:off x="2917747" y="3702848"/>
          <a:ext cx="5663520" cy="1777680"/>
        </p:xfrm>
        <a:graphic>
          <a:graphicData uri="http://schemas.openxmlformats.org/presentationml/2006/ole">
            <mc:AlternateContent xmlns:mc="http://schemas.openxmlformats.org/markup-compatibility/2006">
              <mc:Choice xmlns:v="urn:schemas-microsoft-com:vml" Requires="v">
                <p:oleObj name="Equation" r:id="rId8" imgW="67970400" imgH="21336000" progId="Equation.DSMT4">
                  <p:embed/>
                </p:oleObj>
              </mc:Choice>
              <mc:Fallback>
                <p:oleObj name="Equation" r:id="rId8" imgW="67970400" imgH="21336000" progId="Equation.DSMT4">
                  <p:embed/>
                  <p:pic>
                    <p:nvPicPr>
                      <p:cNvPr id="4" name="对象 3"/>
                      <p:cNvPicPr/>
                      <p:nvPr/>
                    </p:nvPicPr>
                    <p:blipFill>
                      <a:blip r:embed="rId9"/>
                      <a:stretch>
                        <a:fillRect/>
                      </a:stretch>
                    </p:blipFill>
                    <p:spPr>
                      <a:xfrm>
                        <a:off x="2917747" y="3702848"/>
                        <a:ext cx="5663520" cy="177768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文本框 7"/>
              <p:cNvSpPr txBox="1"/>
              <p:nvPr/>
            </p:nvSpPr>
            <p:spPr>
              <a:xfrm>
                <a:off x="940813" y="5480528"/>
                <a:ext cx="10038304" cy="946606"/>
              </a:xfrm>
              <a:prstGeom prst="rect">
                <a:avLst/>
              </a:prstGeom>
              <a:noFill/>
            </p:spPr>
            <p:txBody>
              <a:bodyPr wrap="square">
                <a:spAutoFit/>
              </a:bodyPr>
              <a:lstStyle/>
              <a:p>
                <a:pPr>
                  <a:lnSpc>
                    <a:spcPct val="121000"/>
                  </a:lnSpc>
                  <a:spcBef>
                    <a:spcPts val="1200"/>
                  </a:spcBef>
                </a:pPr>
                <a:r>
                  <a:rPr lang="en-US" altLang="zh-CN" sz="2400" dirty="0">
                    <a:latin typeface="Times New Roman" panose="02020603050405020304" pitchFamily="18" charset="0"/>
                    <a:cs typeface="Times New Roman" panose="02020603050405020304" pitchFamily="18" charset="0"/>
                  </a:rPr>
                  <a:t>The symbols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commonly used in orbital energy level diagrams to denote electron occupancy with spin up and down respectively.</a:t>
                </a:r>
              </a:p>
            </p:txBody>
          </p:sp>
        </mc:Choice>
        <mc:Fallback xmlns="">
          <p:sp>
            <p:nvSpPr>
              <p:cNvPr id="8" name="文本框 7"/>
              <p:cNvSpPr txBox="1">
                <a:spLocks noRot="1" noChangeAspect="1" noMove="1" noResize="1" noEditPoints="1" noAdjustHandles="1" noChangeArrowheads="1" noChangeShapeType="1" noTextEdit="1"/>
              </p:cNvSpPr>
              <p:nvPr/>
            </p:nvSpPr>
            <p:spPr>
              <a:xfrm>
                <a:off x="940813" y="5480528"/>
                <a:ext cx="10038304" cy="946606"/>
              </a:xfrm>
              <a:prstGeom prst="rect">
                <a:avLst/>
              </a:prstGeom>
              <a:blipFill>
                <a:blip r:embed="rId11"/>
                <a:stretch>
                  <a:fillRect l="-911" t="-1290" b="-14194"/>
                </a:stretch>
              </a:blipFill>
            </p:spPr>
            <p:txBody>
              <a:bodyPr/>
              <a:lstStyle/>
              <a:p>
                <a:r>
                  <a:rPr lang="zh-CN" altLang="en-US">
                    <a:noFill/>
                  </a:rPr>
                  <a:t> </a:t>
                </a:r>
              </a:p>
            </p:txBody>
          </p:sp>
        </mc:Fallback>
      </mc:AlternateContent>
      <p:sp>
        <p:nvSpPr>
          <p:cNvPr id="9" name="TextBox 6">
            <a:extLst>
              <a:ext uri="{FF2B5EF4-FFF2-40B4-BE49-F238E27FC236}">
                <a16:creationId xmlns:a16="http://schemas.microsoft.com/office/drawing/2014/main" id="{E27504BD-4BBB-4142-9D32-BA77688F53A0}"/>
              </a:ext>
            </a:extLst>
          </p:cNvPr>
          <p:cNvSpPr txBox="1"/>
          <p:nvPr/>
        </p:nvSpPr>
        <p:spPr>
          <a:xfrm>
            <a:off x="2041035" y="1360248"/>
            <a:ext cx="1422184" cy="830997"/>
          </a:xfrm>
          <a:prstGeom prst="rect">
            <a:avLst/>
          </a:prstGeom>
          <a:solidFill>
            <a:srgbClr val="008000"/>
          </a:solidFill>
        </p:spPr>
        <p:txBody>
          <a:bodyPr wrap="none" rtlCol="0">
            <a:spAutoFit/>
          </a:bodyPr>
          <a:lstStyle/>
          <a:p>
            <a:pPr fontAlgn="base">
              <a:spcBef>
                <a:spcPct val="0"/>
              </a:spcBef>
              <a:spcAft>
                <a:spcPct val="0"/>
              </a:spcAft>
            </a:pPr>
            <a:r>
              <a:rPr lang="en-US" altLang="zh-CN" sz="2400" b="1" i="1" dirty="0">
                <a:solidFill>
                  <a:srgbClr val="FFFFFF"/>
                </a:solidFill>
                <a:latin typeface="Arial" panose="020B0604020202020204"/>
              </a:rPr>
              <a:t>S</a:t>
            </a:r>
            <a:r>
              <a:rPr lang="en-US" altLang="zh-CN" sz="2400" b="1" dirty="0">
                <a:solidFill>
                  <a:srgbClr val="FFFFFF"/>
                </a:solidFill>
                <a:latin typeface="Arial" panose="020B0604020202020204"/>
              </a:rPr>
              <a:t>   =  1/2</a:t>
            </a:r>
          </a:p>
          <a:p>
            <a:pPr fontAlgn="base">
              <a:spcBef>
                <a:spcPct val="0"/>
              </a:spcBef>
              <a:spcAft>
                <a:spcPct val="0"/>
              </a:spcAft>
            </a:pPr>
            <a:r>
              <a:rPr lang="en-US" altLang="zh-CN" sz="2400" b="1" i="1" dirty="0" err="1">
                <a:solidFill>
                  <a:srgbClr val="FFFFFF"/>
                </a:solidFill>
                <a:latin typeface="Arial" panose="020B0604020202020204"/>
              </a:rPr>
              <a:t>m</a:t>
            </a:r>
            <a:r>
              <a:rPr lang="en-US" altLang="zh-CN" sz="2400" b="1" i="1" baseline="-25000" dirty="0" err="1">
                <a:solidFill>
                  <a:srgbClr val="FFFFFF"/>
                </a:solidFill>
                <a:latin typeface="Arial" panose="020B0604020202020204"/>
              </a:rPr>
              <a:t>s</a:t>
            </a:r>
            <a:r>
              <a:rPr lang="en-US" altLang="zh-CN" sz="2400" b="1" dirty="0">
                <a:solidFill>
                  <a:srgbClr val="FFFFFF"/>
                </a:solidFill>
                <a:latin typeface="Arial" panose="020B0604020202020204"/>
              </a:rPr>
              <a:t> =  1/2</a:t>
            </a:r>
            <a:endParaRPr lang="zh-CN" altLang="en-US" sz="2400" b="1" dirty="0">
              <a:solidFill>
                <a:srgbClr val="FFFFFF"/>
              </a:solidFill>
              <a:latin typeface="Arial" panose="020B0604020202020204"/>
            </a:endParaRPr>
          </a:p>
        </p:txBody>
      </p:sp>
      <p:sp>
        <p:nvSpPr>
          <p:cNvPr id="10" name="TextBox 1">
            <a:extLst>
              <a:ext uri="{FF2B5EF4-FFF2-40B4-BE49-F238E27FC236}">
                <a16:creationId xmlns:a16="http://schemas.microsoft.com/office/drawing/2014/main" id="{2E5FC62F-24E8-4737-8DFE-CA3007DA4885}"/>
              </a:ext>
            </a:extLst>
          </p:cNvPr>
          <p:cNvSpPr txBox="1"/>
          <p:nvPr/>
        </p:nvSpPr>
        <p:spPr>
          <a:xfrm>
            <a:off x="4996746" y="1475409"/>
            <a:ext cx="721672" cy="523220"/>
          </a:xfrm>
          <a:prstGeom prst="rect">
            <a:avLst/>
          </a:prstGeom>
          <a:solidFill>
            <a:srgbClr val="008000"/>
          </a:solidFill>
        </p:spPr>
        <p:txBody>
          <a:bodyPr wrap="none" rtlCol="0">
            <a:spAutoFit/>
          </a:bodyPr>
          <a:lstStyle/>
          <a:p>
            <a:pPr fontAlgn="base">
              <a:spcBef>
                <a:spcPct val="0"/>
              </a:spcBef>
              <a:spcAft>
                <a:spcPct val="0"/>
              </a:spcAft>
            </a:pPr>
            <a:r>
              <a:rPr lang="en-US" altLang="zh-CN" sz="2800" b="1" dirty="0">
                <a:solidFill>
                  <a:srgbClr val="FFFFFF"/>
                </a:solidFill>
                <a:latin typeface="Arial" panose="020B0604020202020204"/>
                <a:sym typeface="Symbol" panose="05050102010706020507"/>
              </a:rPr>
              <a:t>|</a:t>
            </a:r>
            <a:r>
              <a:rPr lang="zh-CN" altLang="en-US" sz="2800" b="1" dirty="0">
                <a:solidFill>
                  <a:srgbClr val="FFFFFF"/>
                </a:solidFill>
                <a:latin typeface="Arial" panose="020B0604020202020204"/>
                <a:sym typeface="Symbol" panose="05050102010706020507"/>
              </a:rPr>
              <a:t></a:t>
            </a:r>
            <a:r>
              <a:rPr lang="en-US" altLang="zh-CN" sz="2800" b="1" dirty="0">
                <a:solidFill>
                  <a:srgbClr val="FFFFFF"/>
                </a:solidFill>
                <a:latin typeface="Arial" panose="020B0604020202020204"/>
                <a:sym typeface="Symbol" panose="05050102010706020507"/>
              </a:rPr>
              <a:t>&gt;</a:t>
            </a:r>
            <a:endParaRPr lang="zh-CN" altLang="en-US" sz="2800" b="1" dirty="0">
              <a:solidFill>
                <a:srgbClr val="FFFFFF"/>
              </a:solidFill>
              <a:latin typeface="Arial" panose="020B0604020202020204"/>
            </a:endParaRPr>
          </a:p>
        </p:txBody>
      </p:sp>
      <p:sp>
        <p:nvSpPr>
          <p:cNvPr id="11" name="TextBox 8">
            <a:extLst>
              <a:ext uri="{FF2B5EF4-FFF2-40B4-BE49-F238E27FC236}">
                <a16:creationId xmlns:a16="http://schemas.microsoft.com/office/drawing/2014/main" id="{11F71A6F-788D-4CA4-A813-0A7632B42801}"/>
              </a:ext>
            </a:extLst>
          </p:cNvPr>
          <p:cNvSpPr txBox="1"/>
          <p:nvPr/>
        </p:nvSpPr>
        <p:spPr>
          <a:xfrm>
            <a:off x="1983327" y="2418518"/>
            <a:ext cx="1537600" cy="830997"/>
          </a:xfrm>
          <a:prstGeom prst="rect">
            <a:avLst/>
          </a:prstGeom>
          <a:solidFill>
            <a:srgbClr val="002060"/>
          </a:solidFill>
        </p:spPr>
        <p:txBody>
          <a:bodyPr wrap="none" rtlCol="0">
            <a:spAutoFit/>
          </a:bodyPr>
          <a:lstStyle/>
          <a:p>
            <a:pPr fontAlgn="base">
              <a:spcBef>
                <a:spcPct val="0"/>
              </a:spcBef>
              <a:spcAft>
                <a:spcPct val="0"/>
              </a:spcAft>
            </a:pPr>
            <a:r>
              <a:rPr lang="en-US" altLang="zh-CN" sz="2400" b="1" i="1" dirty="0">
                <a:solidFill>
                  <a:srgbClr val="FFFFFF"/>
                </a:solidFill>
                <a:latin typeface="Arial" panose="020B0604020202020204"/>
              </a:rPr>
              <a:t>S</a:t>
            </a:r>
            <a:r>
              <a:rPr lang="en-US" altLang="zh-CN" sz="2400" b="1" dirty="0">
                <a:solidFill>
                  <a:srgbClr val="FFFFFF"/>
                </a:solidFill>
                <a:latin typeface="Arial" panose="020B0604020202020204"/>
              </a:rPr>
              <a:t>   =   1/2</a:t>
            </a:r>
          </a:p>
          <a:p>
            <a:pPr fontAlgn="base">
              <a:spcBef>
                <a:spcPct val="0"/>
              </a:spcBef>
              <a:spcAft>
                <a:spcPct val="0"/>
              </a:spcAft>
            </a:pPr>
            <a:r>
              <a:rPr lang="en-US" altLang="zh-CN" sz="2400" b="1" i="1" dirty="0" err="1">
                <a:solidFill>
                  <a:srgbClr val="FFFFFF"/>
                </a:solidFill>
                <a:latin typeface="Arial" panose="020B0604020202020204"/>
              </a:rPr>
              <a:t>m</a:t>
            </a:r>
            <a:r>
              <a:rPr lang="en-US" altLang="zh-CN" sz="2400" b="1" i="1" baseline="-25000" dirty="0" err="1">
                <a:solidFill>
                  <a:srgbClr val="FFFFFF"/>
                </a:solidFill>
                <a:latin typeface="Arial" panose="020B0604020202020204"/>
              </a:rPr>
              <a:t>s</a:t>
            </a:r>
            <a:r>
              <a:rPr lang="en-US" altLang="zh-CN" sz="2400" b="1" dirty="0">
                <a:solidFill>
                  <a:srgbClr val="FFFFFF"/>
                </a:solidFill>
                <a:latin typeface="Arial" panose="020B0604020202020204"/>
              </a:rPr>
              <a:t> =  -1/2</a:t>
            </a:r>
            <a:endParaRPr lang="zh-CN" altLang="en-US" sz="2400" b="1" dirty="0">
              <a:solidFill>
                <a:srgbClr val="FFFFFF"/>
              </a:solidFill>
              <a:latin typeface="Arial" panose="020B0604020202020204"/>
            </a:endParaRPr>
          </a:p>
        </p:txBody>
      </p:sp>
      <p:sp>
        <p:nvSpPr>
          <p:cNvPr id="12" name="TextBox 9">
            <a:extLst>
              <a:ext uri="{FF2B5EF4-FFF2-40B4-BE49-F238E27FC236}">
                <a16:creationId xmlns:a16="http://schemas.microsoft.com/office/drawing/2014/main" id="{5B187E8E-5AB6-42E9-ABC6-A05796DBA402}"/>
              </a:ext>
            </a:extLst>
          </p:cNvPr>
          <p:cNvSpPr txBox="1"/>
          <p:nvPr/>
        </p:nvSpPr>
        <p:spPr>
          <a:xfrm>
            <a:off x="5040590" y="2586543"/>
            <a:ext cx="692818" cy="523220"/>
          </a:xfrm>
          <a:prstGeom prst="rect">
            <a:avLst/>
          </a:prstGeom>
          <a:solidFill>
            <a:srgbClr val="002060"/>
          </a:solidFill>
        </p:spPr>
        <p:txBody>
          <a:bodyPr wrap="none" rtlCol="0">
            <a:spAutoFit/>
          </a:bodyPr>
          <a:lstStyle/>
          <a:p>
            <a:pPr fontAlgn="base">
              <a:spcBef>
                <a:spcPct val="0"/>
              </a:spcBef>
              <a:spcAft>
                <a:spcPct val="0"/>
              </a:spcAft>
            </a:pPr>
            <a:r>
              <a:rPr lang="en-US" altLang="zh-CN" sz="2800" b="1" dirty="0">
                <a:solidFill>
                  <a:srgbClr val="FFFFFF"/>
                </a:solidFill>
                <a:latin typeface="Arial" panose="020B0604020202020204"/>
                <a:sym typeface="Symbol" panose="05050102010706020507"/>
              </a:rPr>
              <a:t>|</a:t>
            </a:r>
            <a:r>
              <a:rPr lang="zh-CN" altLang="en-US" sz="2800" b="1" dirty="0">
                <a:solidFill>
                  <a:srgbClr val="FFFFFF"/>
                </a:solidFill>
                <a:latin typeface="Arial" panose="020B0604020202020204"/>
                <a:sym typeface="Symbol" panose="05050102010706020507"/>
              </a:rPr>
              <a:t></a:t>
            </a:r>
            <a:r>
              <a:rPr lang="en-US" altLang="zh-CN" sz="2800" b="1" dirty="0">
                <a:solidFill>
                  <a:srgbClr val="FFFFFF"/>
                </a:solidFill>
                <a:latin typeface="Arial" panose="020B0604020202020204"/>
                <a:sym typeface="Symbol" panose="05050102010706020507"/>
              </a:rPr>
              <a:t>&gt;</a:t>
            </a:r>
            <a:endParaRPr lang="zh-CN" altLang="en-US" sz="2800" b="1" dirty="0">
              <a:solidFill>
                <a:srgbClr val="FFFFFF"/>
              </a:solidFill>
              <a:latin typeface="Arial" panose="020B0604020202020204"/>
            </a:endParaRPr>
          </a:p>
        </p:txBody>
      </p:sp>
      <p:sp>
        <p:nvSpPr>
          <p:cNvPr id="13" name="右箭头 17">
            <a:extLst>
              <a:ext uri="{FF2B5EF4-FFF2-40B4-BE49-F238E27FC236}">
                <a16:creationId xmlns:a16="http://schemas.microsoft.com/office/drawing/2014/main" id="{742455A7-6B6A-4634-8AF6-D822C2296B79}"/>
              </a:ext>
            </a:extLst>
          </p:cNvPr>
          <p:cNvSpPr/>
          <p:nvPr/>
        </p:nvSpPr>
        <p:spPr>
          <a:xfrm>
            <a:off x="3844618" y="1644941"/>
            <a:ext cx="864096" cy="261610"/>
          </a:xfrm>
          <a:prstGeom prst="rightArrow">
            <a:avLst/>
          </a:prstGeom>
          <a:solidFill>
            <a:srgbClr val="008000"/>
          </a:solidFill>
          <a:ln w="25400" cap="flat" cmpd="sng" algn="ctr">
            <a:solidFill>
              <a:srgbClr val="BBE0E3">
                <a:shade val="50000"/>
              </a:srgbClr>
            </a:solidFill>
            <a:prstDash val="solid"/>
          </a:ln>
          <a:effectLst/>
        </p:spPr>
        <p:txBody>
          <a:bodyPr rtlCol="0" anchor="ctr"/>
          <a:lstStyle/>
          <a:p>
            <a:pPr algn="ctr" fontAlgn="base">
              <a:spcBef>
                <a:spcPct val="0"/>
              </a:spcBef>
              <a:spcAft>
                <a:spcPct val="0"/>
              </a:spcAft>
              <a:defRPr/>
            </a:pPr>
            <a:endParaRPr lang="zh-CN" altLang="en-US" sz="2400" kern="0">
              <a:solidFill>
                <a:srgbClr val="FFFFFF"/>
              </a:solidFill>
              <a:latin typeface="Arial" panose="020B0604020202020204"/>
            </a:endParaRPr>
          </a:p>
        </p:txBody>
      </p:sp>
      <p:sp>
        <p:nvSpPr>
          <p:cNvPr id="14" name="右箭头 18">
            <a:extLst>
              <a:ext uri="{FF2B5EF4-FFF2-40B4-BE49-F238E27FC236}">
                <a16:creationId xmlns:a16="http://schemas.microsoft.com/office/drawing/2014/main" id="{37735C73-3773-4D5C-A7BF-619548C92A4F}"/>
              </a:ext>
            </a:extLst>
          </p:cNvPr>
          <p:cNvSpPr/>
          <p:nvPr/>
        </p:nvSpPr>
        <p:spPr>
          <a:xfrm>
            <a:off x="3844618" y="2682542"/>
            <a:ext cx="864096" cy="261610"/>
          </a:xfrm>
          <a:prstGeom prst="rightArrow">
            <a:avLst/>
          </a:prstGeom>
          <a:solidFill>
            <a:srgbClr val="000066"/>
          </a:solidFill>
          <a:ln w="25400" cap="flat" cmpd="sng" algn="ctr">
            <a:solidFill>
              <a:srgbClr val="BBE0E3">
                <a:shade val="50000"/>
              </a:srgbClr>
            </a:solidFill>
            <a:prstDash val="solid"/>
          </a:ln>
          <a:effectLst/>
        </p:spPr>
        <p:txBody>
          <a:bodyPr rtlCol="0" anchor="ctr"/>
          <a:lstStyle/>
          <a:p>
            <a:pPr algn="ctr" fontAlgn="base">
              <a:spcBef>
                <a:spcPct val="0"/>
              </a:spcBef>
              <a:spcAft>
                <a:spcPct val="0"/>
              </a:spcAft>
              <a:defRPr/>
            </a:pPr>
            <a:endParaRPr lang="zh-CN" altLang="en-US" sz="2400" kern="0">
              <a:solidFill>
                <a:srgbClr val="FFFFFF"/>
              </a:solidFill>
              <a:latin typeface="Arial" panose="020B0604020202020204"/>
            </a:endParaRPr>
          </a:p>
        </p:txBody>
      </p:sp>
      <p:graphicFrame>
        <p:nvGraphicFramePr>
          <p:cNvPr id="15" name="对象 14">
            <a:hlinkClick r:id="" action="ppaction://ole?verb=0"/>
            <a:extLst>
              <a:ext uri="{FF2B5EF4-FFF2-40B4-BE49-F238E27FC236}">
                <a16:creationId xmlns:a16="http://schemas.microsoft.com/office/drawing/2014/main" id="{39111A63-9B8D-4F3E-8286-E65F23E2C17F}"/>
              </a:ext>
            </a:extLst>
          </p:cNvPr>
          <p:cNvGraphicFramePr>
            <a:graphicFrameLocks noChangeAspect="1"/>
          </p:cNvGraphicFramePr>
          <p:nvPr>
            <p:extLst>
              <p:ext uri="{D42A27DB-BD31-4B8C-83A1-F6EECF244321}">
                <p14:modId xmlns:p14="http://schemas.microsoft.com/office/powerpoint/2010/main" val="3854053587"/>
              </p:ext>
            </p:extLst>
          </p:nvPr>
        </p:nvGraphicFramePr>
        <p:xfrm>
          <a:off x="872141" y="2468584"/>
          <a:ext cx="904875" cy="624840"/>
        </p:xfrm>
        <a:graphic>
          <a:graphicData uri="http://schemas.openxmlformats.org/presentationml/2006/ole">
            <mc:AlternateContent xmlns:mc="http://schemas.openxmlformats.org/markup-compatibility/2006">
              <mc:Choice xmlns:v="urn:schemas-microsoft-com:vml" Requires="v">
                <p:oleObj r:id="rId12" imgW="368300" imgH="254000" progId="Equation.KSEE3">
                  <p:embed/>
                </p:oleObj>
              </mc:Choice>
              <mc:Fallback>
                <p:oleObj r:id="rId12" imgW="368300" imgH="254000" progId="Equation.KSEE3">
                  <p:embed/>
                  <p:pic>
                    <p:nvPicPr>
                      <p:cNvPr id="14" name="对象 13">
                        <a:hlinkClick r:id="" action="ppaction://ole?verb=0"/>
                        <a:extLst>
                          <a:ext uri="{FF2B5EF4-FFF2-40B4-BE49-F238E27FC236}">
                            <a16:creationId xmlns:a16="http://schemas.microsoft.com/office/drawing/2014/main" id="{39111A63-9B8D-4F3E-8286-E65F23E2C17F}"/>
                          </a:ext>
                        </a:extLst>
                      </p:cNvPr>
                      <p:cNvPicPr/>
                      <p:nvPr/>
                    </p:nvPicPr>
                    <p:blipFill>
                      <a:blip r:embed="rId13"/>
                      <a:stretch>
                        <a:fillRect/>
                      </a:stretch>
                    </p:blipFill>
                    <p:spPr>
                      <a:xfrm>
                        <a:off x="872141" y="2468584"/>
                        <a:ext cx="904875" cy="624840"/>
                      </a:xfrm>
                      <a:prstGeom prst="rect">
                        <a:avLst/>
                      </a:prstGeom>
                    </p:spPr>
                  </p:pic>
                </p:oleObj>
              </mc:Fallback>
            </mc:AlternateContent>
          </a:graphicData>
        </a:graphic>
      </p:graphicFrame>
      <p:graphicFrame>
        <p:nvGraphicFramePr>
          <p:cNvPr id="16" name="对象 15">
            <a:hlinkClick r:id="" action="ppaction://ole?verb=0"/>
            <a:extLst>
              <a:ext uri="{FF2B5EF4-FFF2-40B4-BE49-F238E27FC236}">
                <a16:creationId xmlns:a16="http://schemas.microsoft.com/office/drawing/2014/main" id="{F391C007-BFED-4A22-ACC4-961005EF452A}"/>
              </a:ext>
            </a:extLst>
          </p:cNvPr>
          <p:cNvGraphicFramePr>
            <a:graphicFrameLocks noChangeAspect="1"/>
          </p:cNvGraphicFramePr>
          <p:nvPr>
            <p:extLst>
              <p:ext uri="{D42A27DB-BD31-4B8C-83A1-F6EECF244321}">
                <p14:modId xmlns:p14="http://schemas.microsoft.com/office/powerpoint/2010/main" val="3577939531"/>
              </p:ext>
            </p:extLst>
          </p:nvPr>
        </p:nvGraphicFramePr>
        <p:xfrm>
          <a:off x="872141" y="1566884"/>
          <a:ext cx="904875" cy="624840"/>
        </p:xfrm>
        <a:graphic>
          <a:graphicData uri="http://schemas.openxmlformats.org/presentationml/2006/ole">
            <mc:AlternateContent xmlns:mc="http://schemas.openxmlformats.org/markup-compatibility/2006">
              <mc:Choice xmlns:v="urn:schemas-microsoft-com:vml" Requires="v">
                <p:oleObj r:id="rId12" imgW="368300" imgH="254000" progId="Equation.KSEE3">
                  <p:embed/>
                </p:oleObj>
              </mc:Choice>
              <mc:Fallback>
                <p:oleObj r:id="rId12" imgW="368300" imgH="254000" progId="Equation.KSEE3">
                  <p:embed/>
                  <p:pic>
                    <p:nvPicPr>
                      <p:cNvPr id="15" name="对象 14">
                        <a:hlinkClick r:id="" action="ppaction://ole?verb=0"/>
                        <a:extLst>
                          <a:ext uri="{FF2B5EF4-FFF2-40B4-BE49-F238E27FC236}">
                            <a16:creationId xmlns:a16="http://schemas.microsoft.com/office/drawing/2014/main" id="{F391C007-BFED-4A22-ACC4-961005EF452A}"/>
                          </a:ext>
                        </a:extLst>
                      </p:cNvPr>
                      <p:cNvPicPr/>
                      <p:nvPr/>
                    </p:nvPicPr>
                    <p:blipFill>
                      <a:blip r:embed="rId13"/>
                      <a:stretch>
                        <a:fillRect/>
                      </a:stretch>
                    </p:blipFill>
                    <p:spPr>
                      <a:xfrm>
                        <a:off x="872141" y="1566884"/>
                        <a:ext cx="904875" cy="624840"/>
                      </a:xfrm>
                      <a:prstGeom prst="rect">
                        <a:avLst/>
                      </a:prstGeom>
                    </p:spPr>
                  </p:pic>
                </p:oleObj>
              </mc:Fallback>
            </mc:AlternateContent>
          </a:graphicData>
        </a:graphic>
      </p:graphicFrame>
    </p:spTree>
    <p:extLst>
      <p:ext uri="{BB962C8B-B14F-4D97-AF65-F5344CB8AC3E}">
        <p14:creationId xmlns:p14="http://schemas.microsoft.com/office/powerpoint/2010/main" val="428964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033136" y="158554"/>
            <a:ext cx="4807150" cy="523220"/>
          </a:xfrm>
          <a:prstGeom prst="rect">
            <a:avLst/>
          </a:prstGeom>
        </p:spPr>
        <p:txBody>
          <a:bodyPr wrap="none">
            <a:spAutoFit/>
          </a:bodyPr>
          <a:lstStyle/>
          <a:p>
            <a:r>
              <a:rPr lang="en-US" altLang="zh-CN" sz="2800" b="1" dirty="0" err="1">
                <a:latin typeface="Times New Roman" panose="02020603050405020304" pitchFamily="18" charset="0"/>
                <a:cs typeface="Times New Roman" panose="02020603050405020304" pitchFamily="18" charset="0"/>
              </a:rPr>
              <a:t>Wavefunctions</a:t>
            </a:r>
            <a:r>
              <a:rPr lang="en-US" altLang="zh-CN" sz="2800" b="1" dirty="0">
                <a:latin typeface="Times New Roman" panose="02020603050405020304" pitchFamily="18" charset="0"/>
                <a:cs typeface="Times New Roman" panose="02020603050405020304" pitchFamily="18" charset="0"/>
              </a:rPr>
              <a:t> including spin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304014" y="881286"/>
                <a:ext cx="11444438" cy="5902578"/>
              </a:xfrm>
              <a:prstGeom prst="rect">
                <a:avLst/>
              </a:prstGeom>
            </p:spPr>
            <p:txBody>
              <a:bodyPr wrap="square">
                <a:spAutoFit/>
              </a:bodyPr>
              <a:lstStyle/>
              <a:p>
                <a:pPr>
                  <a:lnSpc>
                    <a:spcPct val="121000"/>
                  </a:lnSpc>
                </a:pPr>
                <a:r>
                  <a:rPr lang="en-US" altLang="zh-CN" sz="2400" dirty="0">
                    <a:latin typeface="Times New Roman" panose="02020603050405020304" pitchFamily="18" charset="0"/>
                    <a:cs typeface="Times New Roman" panose="02020603050405020304" pitchFamily="18" charset="0"/>
                  </a:rPr>
                  <a:t>The spin is a new degree of freedom, so we can construct a complete wavefunction for the hydrogen atom by multiplying together an atomic orbital and a spin function. A general one-electron atomic wavefunction or </a:t>
                </a:r>
                <a:r>
                  <a:rPr lang="en-US" altLang="zh-CN" sz="2400" i="1" dirty="0">
                    <a:solidFill>
                      <a:srgbClr val="B02B08"/>
                    </a:solidFill>
                    <a:latin typeface="Times New Roman" panose="02020603050405020304" pitchFamily="18" charset="0"/>
                    <a:cs typeface="Times New Roman" panose="02020603050405020304" pitchFamily="18" charset="0"/>
                  </a:rPr>
                  <a:t>spin-orbital </a:t>
                </a:r>
                <a:r>
                  <a:rPr lang="en-US" altLang="zh-CN" sz="2400" dirty="0">
                    <a:latin typeface="Times New Roman" panose="02020603050405020304" pitchFamily="18" charset="0"/>
                    <a:cs typeface="Times New Roman" panose="02020603050405020304" pitchFamily="18" charset="0"/>
                  </a:rPr>
                  <a:t>is then</a:t>
                </a:r>
              </a:p>
              <a:p>
                <a:pPr>
                  <a:lnSpc>
                    <a:spcPct val="138000"/>
                  </a:lnSpc>
                  <a:spcAft>
                    <a:spcPts val="270"/>
                  </a:spcAft>
                </a:pPr>
                <a:endParaRPr lang="en-US" altLang="zh-CN" sz="2400" dirty="0">
                  <a:latin typeface="Times New Roman" panose="02020603050405020304" pitchFamily="18" charset="0"/>
                  <a:cs typeface="Times New Roman" panose="02020603050405020304" pitchFamily="18" charset="0"/>
                </a:endParaRPr>
              </a:p>
              <a:p>
                <a:pPr>
                  <a:lnSpc>
                    <a:spcPct val="138000"/>
                  </a:lnSpc>
                  <a:spcAft>
                    <a:spcPts val="270"/>
                  </a:spcAft>
                </a:pPr>
                <a:r>
                  <a:rPr lang="en-US" altLang="zh-CN" sz="2400" dirty="0">
                    <a:latin typeface="Times New Roman" panose="02020603050405020304" pitchFamily="18" charset="0"/>
                    <a:cs typeface="Times New Roman" panose="02020603050405020304" pitchFamily="18" charset="0"/>
                  </a:rPr>
                  <a:t>and it satisfies the eigenvalue equations</a:t>
                </a:r>
              </a:p>
              <a:p>
                <a:pPr marL="547370" indent="8255">
                  <a:lnSpc>
                    <a:spcPct val="156000"/>
                  </a:lnSpc>
                  <a:spcAft>
                    <a:spcPts val="270"/>
                  </a:spcAft>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38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38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38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38000"/>
                  </a:lnSpc>
                </a:pPr>
                <a:endParaRPr lang="en-US" altLang="zh-CN" sz="2400" dirty="0">
                  <a:latin typeface="Times New Roman" panose="02020603050405020304" pitchFamily="18" charset="0"/>
                  <a:cs typeface="Times New Roman" panose="02020603050405020304" pitchFamily="18" charset="0"/>
                </a:endParaRPr>
              </a:p>
              <a:p>
                <a:pPr>
                  <a:lnSpc>
                    <a:spcPct val="138000"/>
                  </a:lnSpc>
                </a:pPr>
                <a:r>
                  <a:rPr lang="en-US" altLang="zh-CN" sz="2400" dirty="0">
                    <a:latin typeface="Times New Roman" panose="02020603050405020304" pitchFamily="18" charset="0"/>
                    <a:cs typeface="Times New Roman" panose="02020603050405020304" pitchFamily="18" charset="0"/>
                  </a:rPr>
                  <a:t>We don't need to list the quantum number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because it is always </a:t>
                </a:r>
                <a14:m>
                  <m:oMath xmlns:m="http://schemas.openxmlformats.org/officeDocument/2006/math">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04014" y="881286"/>
                <a:ext cx="11444438" cy="5902578"/>
              </a:xfrm>
              <a:prstGeom prst="rect">
                <a:avLst/>
              </a:prstGeom>
              <a:blipFill rotWithShape="1">
                <a:blip r:embed="rId3"/>
                <a:stretch>
                  <a:fillRect l="-4" t="-9" r="3" b="3"/>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515193685"/>
              </p:ext>
            </p:extLst>
          </p:nvPr>
        </p:nvGraphicFramePr>
        <p:xfrm>
          <a:off x="4033136" y="2325394"/>
          <a:ext cx="3809520" cy="507600"/>
        </p:xfrm>
        <a:graphic>
          <a:graphicData uri="http://schemas.openxmlformats.org/presentationml/2006/ole">
            <mc:AlternateContent xmlns:mc="http://schemas.openxmlformats.org/markup-compatibility/2006">
              <mc:Choice xmlns:v="urn:schemas-microsoft-com:vml" Requires="v">
                <p:oleObj name="Equation" r:id="rId4" imgW="1904760" imgH="253800" progId="Equation.DSMT4">
                  <p:embed/>
                </p:oleObj>
              </mc:Choice>
              <mc:Fallback>
                <p:oleObj name="Equation" r:id="rId4" imgW="1904760" imgH="253800" progId="Equation.DSMT4">
                  <p:embed/>
                  <p:pic>
                    <p:nvPicPr>
                      <p:cNvPr id="0" name="对象 3"/>
                      <p:cNvPicPr/>
                      <p:nvPr/>
                    </p:nvPicPr>
                    <p:blipFill>
                      <a:blip r:embed="rId5"/>
                      <a:stretch>
                        <a:fillRect/>
                      </a:stretch>
                    </p:blipFill>
                    <p:spPr>
                      <a:xfrm>
                        <a:off x="4033136" y="2325394"/>
                        <a:ext cx="3809520" cy="5076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937000" y="3252788"/>
          <a:ext cx="5384800" cy="2971800"/>
        </p:xfrm>
        <a:graphic>
          <a:graphicData uri="http://schemas.openxmlformats.org/presentationml/2006/ole">
            <mc:AlternateContent xmlns:mc="http://schemas.openxmlformats.org/markup-compatibility/2006">
              <mc:Choice xmlns:v="urn:schemas-microsoft-com:vml" Requires="v">
                <p:oleObj name="Equation" r:id="rId6" imgW="64617600" imgH="35661600" progId="Equation.DSMT4">
                  <p:embed/>
                </p:oleObj>
              </mc:Choice>
              <mc:Fallback>
                <p:oleObj name="Equation" r:id="rId6" imgW="64617600" imgH="35661600" progId="Equation.DSMT4">
                  <p:embed/>
                  <p:pic>
                    <p:nvPicPr>
                      <p:cNvPr id="0" name="对象 4"/>
                      <p:cNvPicPr/>
                      <p:nvPr/>
                    </p:nvPicPr>
                    <p:blipFill>
                      <a:blip r:embed="rId7"/>
                      <a:stretch>
                        <a:fillRect/>
                      </a:stretch>
                    </p:blipFill>
                    <p:spPr>
                      <a:xfrm>
                        <a:off x="3937000" y="3252788"/>
                        <a:ext cx="5384800" cy="2971800"/>
                      </a:xfrm>
                      <a:prstGeom prst="rect">
                        <a:avLst/>
                      </a:prstGeom>
                    </p:spPr>
                  </p:pic>
                </p:oleObj>
              </mc:Fallback>
            </mc:AlternateContent>
          </a:graphicData>
        </a:graphic>
      </p:graphicFrame>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4125119" y="235653"/>
            <a:ext cx="4167981" cy="515937"/>
          </a:xfrm>
          <a:prstGeom prst="rect">
            <a:avLst/>
          </a:prstGeom>
          <a:noFill/>
          <a:ln w="12700">
            <a:noFill/>
            <a:miter lim="800000"/>
          </a:ln>
        </p:spPr>
        <p:txBody>
          <a:bodyPr wrap="square" lIns="90488" tIns="44450" rIns="90488" bIns="44450">
            <a:spAutoFit/>
          </a:bodyPr>
          <a:lstStyle/>
          <a:p>
            <a:pPr algn="ctr" eaLnBrk="0" fontAlgn="base" hangingPunct="0">
              <a:spcBef>
                <a:spcPct val="0"/>
              </a:spcBef>
              <a:spcAft>
                <a:spcPct val="0"/>
              </a:spcAft>
            </a:pPr>
            <a:r>
              <a:rPr lang="en-US" altLang="en-US" sz="2800" b="1" dirty="0">
                <a:latin typeface="Times New Roman" panose="02020603050405020304" pitchFamily="18" charset="0"/>
                <a:ea typeface="宋体" panose="02010600030101010101" pitchFamily="2" charset="-122"/>
                <a:cs typeface="Times New Roman" panose="02020603050405020304" pitchFamily="18" charset="0"/>
              </a:rPr>
              <a:t>Quantum Numbers </a:t>
            </a:r>
          </a:p>
        </p:txBody>
      </p:sp>
      <p:sp>
        <p:nvSpPr>
          <p:cNvPr id="6" name="Rectangle 4"/>
          <p:cNvSpPr>
            <a:spLocks noChangeArrowheads="1"/>
          </p:cNvSpPr>
          <p:nvPr/>
        </p:nvSpPr>
        <p:spPr bwMode="auto">
          <a:xfrm>
            <a:off x="1517203" y="1229759"/>
            <a:ext cx="38311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800" b="1">
                <a:latin typeface="Times New Roman" panose="02020603050405020304" pitchFamily="18" charset="0"/>
                <a:ea typeface="宋体" panose="02010600030101010101" pitchFamily="2" charset="-122"/>
              </a:rPr>
              <a:t>n</a:t>
            </a:r>
          </a:p>
        </p:txBody>
      </p:sp>
      <p:sp>
        <p:nvSpPr>
          <p:cNvPr id="7" name="Rectangle 5"/>
          <p:cNvSpPr>
            <a:spLocks noChangeArrowheads="1"/>
          </p:cNvSpPr>
          <p:nvPr/>
        </p:nvSpPr>
        <p:spPr bwMode="auto">
          <a:xfrm>
            <a:off x="1517203" y="2601359"/>
            <a:ext cx="2821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800" b="1" i="1">
                <a:latin typeface="Times New Roman" panose="02020603050405020304" pitchFamily="18" charset="0"/>
                <a:ea typeface="宋体" panose="02010600030101010101" pitchFamily="2" charset="-122"/>
              </a:rPr>
              <a:t>l</a:t>
            </a:r>
          </a:p>
        </p:txBody>
      </p:sp>
      <p:sp>
        <p:nvSpPr>
          <p:cNvPr id="8" name="Rectangle 6"/>
          <p:cNvSpPr>
            <a:spLocks noChangeArrowheads="1"/>
          </p:cNvSpPr>
          <p:nvPr/>
        </p:nvSpPr>
        <p:spPr bwMode="auto">
          <a:xfrm>
            <a:off x="1517203" y="3852309"/>
            <a:ext cx="59952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3200" b="1">
                <a:latin typeface="Times New Roman" panose="02020603050405020304" pitchFamily="18" charset="0"/>
                <a:ea typeface="宋体" panose="02010600030101010101" pitchFamily="2" charset="-122"/>
              </a:rPr>
              <a:t>m</a:t>
            </a:r>
            <a:r>
              <a:rPr lang="en-US" altLang="en-US" sz="3200" b="1" i="1" baseline="-25000">
                <a:latin typeface="Times New Roman" panose="02020603050405020304" pitchFamily="18" charset="0"/>
                <a:ea typeface="宋体" panose="02010600030101010101" pitchFamily="2" charset="-122"/>
              </a:rPr>
              <a:t>l</a:t>
            </a:r>
          </a:p>
        </p:txBody>
      </p:sp>
      <p:sp>
        <p:nvSpPr>
          <p:cNvPr id="9" name="Rectangle 9"/>
          <p:cNvSpPr>
            <a:spLocks noChangeArrowheads="1"/>
          </p:cNvSpPr>
          <p:nvPr/>
        </p:nvSpPr>
        <p:spPr bwMode="auto">
          <a:xfrm>
            <a:off x="3117403" y="1275797"/>
            <a:ext cx="595355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1                  2                      3                           4</a:t>
            </a:r>
          </a:p>
        </p:txBody>
      </p:sp>
      <p:sp>
        <p:nvSpPr>
          <p:cNvPr id="10" name="Rectangle 10"/>
          <p:cNvSpPr>
            <a:spLocks noChangeArrowheads="1"/>
          </p:cNvSpPr>
          <p:nvPr/>
        </p:nvSpPr>
        <p:spPr bwMode="auto">
          <a:xfrm>
            <a:off x="3117403" y="2647397"/>
            <a:ext cx="741549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0             0         1         0     1       2        0      1        2        3</a:t>
            </a:r>
          </a:p>
        </p:txBody>
      </p:sp>
      <p:sp>
        <p:nvSpPr>
          <p:cNvPr id="11" name="Rectangle 11"/>
          <p:cNvSpPr>
            <a:spLocks noChangeArrowheads="1"/>
          </p:cNvSpPr>
          <p:nvPr/>
        </p:nvSpPr>
        <p:spPr bwMode="auto">
          <a:xfrm>
            <a:off x="3117403" y="4018997"/>
            <a:ext cx="7554954"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dirty="0">
                <a:latin typeface="Times New Roman" panose="02020603050405020304" pitchFamily="18" charset="0"/>
                <a:ea typeface="宋体" panose="02010600030101010101" pitchFamily="2" charset="-122"/>
              </a:rPr>
              <a:t> 0            0    -1  0  +1  0 -1 0 +1            0 -1 0 +1</a:t>
            </a:r>
          </a:p>
          <a:p>
            <a:pPr eaLnBrk="0" fontAlgn="base" hangingPunct="0">
              <a:spcBef>
                <a:spcPct val="0"/>
              </a:spcBef>
              <a:spcAft>
                <a:spcPct val="0"/>
              </a:spcAft>
            </a:pPr>
            <a:r>
              <a:rPr lang="en-US" altLang="en-US" sz="2400" b="1" dirty="0">
                <a:latin typeface="Times New Roman" panose="02020603050405020304" pitchFamily="18" charset="0"/>
                <a:ea typeface="宋体" panose="02010600030101010101" pitchFamily="2" charset="-122"/>
              </a:rPr>
              <a:t>                                        </a:t>
            </a:r>
          </a:p>
          <a:p>
            <a:pPr eaLnBrk="0" fontAlgn="base" hangingPunct="0">
              <a:spcBef>
                <a:spcPct val="0"/>
              </a:spcBef>
              <a:spcAft>
                <a:spcPct val="0"/>
              </a:spcAft>
            </a:pPr>
            <a:r>
              <a:rPr lang="en-US" altLang="en-US" sz="2400" b="1" dirty="0">
                <a:latin typeface="Times New Roman" panose="02020603050405020304" pitchFamily="18" charset="0"/>
                <a:ea typeface="宋体" panose="02010600030101010101" pitchFamily="2" charset="-122"/>
              </a:rPr>
              <a:t>                                          -2 -1 0 +1 +2        -2 -1 0 +1 +2</a:t>
            </a:r>
          </a:p>
          <a:p>
            <a:pPr eaLnBrk="0" fontAlgn="base" hangingPunct="0">
              <a:spcBef>
                <a:spcPct val="0"/>
              </a:spcBef>
              <a:spcAft>
                <a:spcPct val="0"/>
              </a:spcAft>
            </a:pPr>
            <a:r>
              <a:rPr lang="en-US" altLang="en-US" sz="2400" b="1" dirty="0">
                <a:latin typeface="Times New Roman" panose="02020603050405020304" pitchFamily="18" charset="0"/>
                <a:ea typeface="宋体" panose="02010600030101010101" pitchFamily="2" charset="-122"/>
              </a:rPr>
              <a:t>                                                                 -3 -2 -1 0 +1 +2 +3</a:t>
            </a:r>
          </a:p>
        </p:txBody>
      </p:sp>
      <p:sp>
        <p:nvSpPr>
          <p:cNvPr id="12" name="Line 12"/>
          <p:cNvSpPr>
            <a:spLocks noChangeShapeType="1"/>
          </p:cNvSpPr>
          <p:nvPr/>
        </p:nvSpPr>
        <p:spPr bwMode="auto">
          <a:xfrm>
            <a:off x="3284090" y="1761572"/>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3" name="Line 13"/>
          <p:cNvSpPr>
            <a:spLocks noChangeShapeType="1"/>
          </p:cNvSpPr>
          <p:nvPr/>
        </p:nvSpPr>
        <p:spPr bwMode="auto">
          <a:xfrm>
            <a:off x="3284090" y="3133172"/>
            <a:ext cx="0"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4" name="Line 14"/>
          <p:cNvSpPr>
            <a:spLocks noChangeShapeType="1"/>
          </p:cNvSpPr>
          <p:nvPr/>
        </p:nvSpPr>
        <p:spPr bwMode="auto">
          <a:xfrm flipH="1">
            <a:off x="4498528" y="1761572"/>
            <a:ext cx="2397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5" name="Line 15"/>
          <p:cNvSpPr>
            <a:spLocks noChangeShapeType="1"/>
          </p:cNvSpPr>
          <p:nvPr/>
        </p:nvSpPr>
        <p:spPr bwMode="auto">
          <a:xfrm>
            <a:off x="4822378" y="1761572"/>
            <a:ext cx="4302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6" name="Line 16"/>
          <p:cNvSpPr>
            <a:spLocks noChangeShapeType="1"/>
          </p:cNvSpPr>
          <p:nvPr/>
        </p:nvSpPr>
        <p:spPr bwMode="auto">
          <a:xfrm>
            <a:off x="4427090" y="3133172"/>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7" name="Line 17"/>
          <p:cNvSpPr>
            <a:spLocks noChangeShapeType="1"/>
          </p:cNvSpPr>
          <p:nvPr/>
        </p:nvSpPr>
        <p:spPr bwMode="auto">
          <a:xfrm flipH="1">
            <a:off x="4955728" y="3133172"/>
            <a:ext cx="3921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8" name="Line 18"/>
          <p:cNvSpPr>
            <a:spLocks noChangeShapeType="1"/>
          </p:cNvSpPr>
          <p:nvPr/>
        </p:nvSpPr>
        <p:spPr bwMode="auto">
          <a:xfrm flipH="1">
            <a:off x="5260528" y="3209372"/>
            <a:ext cx="873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19" name="Line 19"/>
          <p:cNvSpPr>
            <a:spLocks noChangeShapeType="1"/>
          </p:cNvSpPr>
          <p:nvPr/>
        </p:nvSpPr>
        <p:spPr bwMode="auto">
          <a:xfrm>
            <a:off x="5355778" y="3133172"/>
            <a:ext cx="2016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0" name="Line 20"/>
          <p:cNvSpPr>
            <a:spLocks noChangeShapeType="1"/>
          </p:cNvSpPr>
          <p:nvPr/>
        </p:nvSpPr>
        <p:spPr bwMode="auto">
          <a:xfrm flipH="1">
            <a:off x="6174928" y="1761572"/>
            <a:ext cx="3921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1" name="Line 21"/>
          <p:cNvSpPr>
            <a:spLocks noChangeShapeType="1"/>
          </p:cNvSpPr>
          <p:nvPr/>
        </p:nvSpPr>
        <p:spPr bwMode="auto">
          <a:xfrm>
            <a:off x="6636890" y="1761572"/>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2" name="Line 22"/>
          <p:cNvSpPr>
            <a:spLocks noChangeShapeType="1"/>
          </p:cNvSpPr>
          <p:nvPr/>
        </p:nvSpPr>
        <p:spPr bwMode="auto">
          <a:xfrm>
            <a:off x="6727378" y="1685372"/>
            <a:ext cx="5826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3" name="Line 23"/>
          <p:cNvSpPr>
            <a:spLocks noChangeShapeType="1"/>
          </p:cNvSpPr>
          <p:nvPr/>
        </p:nvSpPr>
        <p:spPr bwMode="auto">
          <a:xfrm flipH="1">
            <a:off x="6022528" y="3133172"/>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4" name="Line 24"/>
          <p:cNvSpPr>
            <a:spLocks noChangeShapeType="1"/>
          </p:cNvSpPr>
          <p:nvPr/>
        </p:nvSpPr>
        <p:spPr bwMode="auto">
          <a:xfrm flipH="1">
            <a:off x="6632128" y="3133172"/>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5" name="Line 25"/>
          <p:cNvSpPr>
            <a:spLocks noChangeShapeType="1"/>
          </p:cNvSpPr>
          <p:nvPr/>
        </p:nvSpPr>
        <p:spPr bwMode="auto">
          <a:xfrm flipH="1">
            <a:off x="6403528" y="3133172"/>
            <a:ext cx="3159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6" name="Line 26"/>
          <p:cNvSpPr>
            <a:spLocks noChangeShapeType="1"/>
          </p:cNvSpPr>
          <p:nvPr/>
        </p:nvSpPr>
        <p:spPr bwMode="auto">
          <a:xfrm>
            <a:off x="6727378" y="3133172"/>
            <a:ext cx="2016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7" name="Line 27"/>
          <p:cNvSpPr>
            <a:spLocks noChangeShapeType="1"/>
          </p:cNvSpPr>
          <p:nvPr/>
        </p:nvSpPr>
        <p:spPr bwMode="auto">
          <a:xfrm>
            <a:off x="7398890" y="3133172"/>
            <a:ext cx="0" cy="1039812"/>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8" name="Line 28"/>
          <p:cNvSpPr>
            <a:spLocks noChangeShapeType="1"/>
          </p:cNvSpPr>
          <p:nvPr/>
        </p:nvSpPr>
        <p:spPr bwMode="auto">
          <a:xfrm flipH="1">
            <a:off x="6632128" y="4199972"/>
            <a:ext cx="7731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29" name="Line 29"/>
          <p:cNvSpPr>
            <a:spLocks noChangeShapeType="1"/>
          </p:cNvSpPr>
          <p:nvPr/>
        </p:nvSpPr>
        <p:spPr bwMode="auto">
          <a:xfrm flipH="1">
            <a:off x="7165528" y="4199972"/>
            <a:ext cx="2397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0" name="Line 30"/>
          <p:cNvSpPr>
            <a:spLocks noChangeShapeType="1"/>
          </p:cNvSpPr>
          <p:nvPr/>
        </p:nvSpPr>
        <p:spPr bwMode="auto">
          <a:xfrm flipH="1">
            <a:off x="6936928" y="4199972"/>
            <a:ext cx="4683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1" name="Line 31"/>
          <p:cNvSpPr>
            <a:spLocks noChangeShapeType="1"/>
          </p:cNvSpPr>
          <p:nvPr/>
        </p:nvSpPr>
        <p:spPr bwMode="auto">
          <a:xfrm>
            <a:off x="7413178" y="4199972"/>
            <a:ext cx="4302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2" name="Line 32"/>
          <p:cNvSpPr>
            <a:spLocks noChangeShapeType="1"/>
          </p:cNvSpPr>
          <p:nvPr/>
        </p:nvSpPr>
        <p:spPr bwMode="auto">
          <a:xfrm>
            <a:off x="7413178" y="4199972"/>
            <a:ext cx="492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3" name="Line 33"/>
          <p:cNvSpPr>
            <a:spLocks noChangeShapeType="1"/>
          </p:cNvSpPr>
          <p:nvPr/>
        </p:nvSpPr>
        <p:spPr bwMode="auto">
          <a:xfrm flipH="1">
            <a:off x="8079928" y="3133172"/>
            <a:ext cx="873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4" name="Line 34"/>
          <p:cNvSpPr>
            <a:spLocks noChangeShapeType="1"/>
          </p:cNvSpPr>
          <p:nvPr/>
        </p:nvSpPr>
        <p:spPr bwMode="auto">
          <a:xfrm flipH="1">
            <a:off x="8232328" y="1685372"/>
            <a:ext cx="5445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5" name="Line 35"/>
          <p:cNvSpPr>
            <a:spLocks noChangeShapeType="1"/>
          </p:cNvSpPr>
          <p:nvPr/>
        </p:nvSpPr>
        <p:spPr bwMode="auto">
          <a:xfrm>
            <a:off x="8937178" y="1685372"/>
            <a:ext cx="5064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6" name="Line 36"/>
          <p:cNvSpPr>
            <a:spLocks noChangeShapeType="1"/>
          </p:cNvSpPr>
          <p:nvPr/>
        </p:nvSpPr>
        <p:spPr bwMode="auto">
          <a:xfrm>
            <a:off x="8937178" y="1609172"/>
            <a:ext cx="1268412" cy="963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7" name="Line 37"/>
          <p:cNvSpPr>
            <a:spLocks noChangeShapeType="1"/>
          </p:cNvSpPr>
          <p:nvPr/>
        </p:nvSpPr>
        <p:spPr bwMode="auto">
          <a:xfrm flipH="1">
            <a:off x="8765728" y="1685372"/>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8" name="Line 38"/>
          <p:cNvSpPr>
            <a:spLocks noChangeShapeType="1"/>
          </p:cNvSpPr>
          <p:nvPr/>
        </p:nvSpPr>
        <p:spPr bwMode="auto">
          <a:xfrm flipH="1">
            <a:off x="8460928" y="3133172"/>
            <a:ext cx="3159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39" name="Line 39"/>
          <p:cNvSpPr>
            <a:spLocks noChangeShapeType="1"/>
          </p:cNvSpPr>
          <p:nvPr/>
        </p:nvSpPr>
        <p:spPr bwMode="auto">
          <a:xfrm flipH="1">
            <a:off x="8689528" y="3133172"/>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0" name="Line 40"/>
          <p:cNvSpPr>
            <a:spLocks noChangeShapeType="1"/>
          </p:cNvSpPr>
          <p:nvPr/>
        </p:nvSpPr>
        <p:spPr bwMode="auto">
          <a:xfrm>
            <a:off x="8784778" y="3133172"/>
            <a:ext cx="2016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1" name="Line 41"/>
          <p:cNvSpPr>
            <a:spLocks noChangeShapeType="1"/>
          </p:cNvSpPr>
          <p:nvPr/>
        </p:nvSpPr>
        <p:spPr bwMode="auto">
          <a:xfrm>
            <a:off x="9532490" y="3133172"/>
            <a:ext cx="0" cy="1039812"/>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2" name="Line 42"/>
          <p:cNvSpPr>
            <a:spLocks noChangeShapeType="1"/>
          </p:cNvSpPr>
          <p:nvPr/>
        </p:nvSpPr>
        <p:spPr bwMode="auto">
          <a:xfrm flipH="1">
            <a:off x="8841928" y="4199972"/>
            <a:ext cx="6969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3" name="Line 43"/>
          <p:cNvSpPr>
            <a:spLocks noChangeShapeType="1"/>
          </p:cNvSpPr>
          <p:nvPr/>
        </p:nvSpPr>
        <p:spPr bwMode="auto">
          <a:xfrm flipH="1">
            <a:off x="9146728" y="4199972"/>
            <a:ext cx="3921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4" name="Line 44"/>
          <p:cNvSpPr>
            <a:spLocks noChangeShapeType="1"/>
          </p:cNvSpPr>
          <p:nvPr/>
        </p:nvSpPr>
        <p:spPr bwMode="auto">
          <a:xfrm flipH="1">
            <a:off x="9375328" y="4199972"/>
            <a:ext cx="1635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5" name="Line 45"/>
          <p:cNvSpPr>
            <a:spLocks noChangeShapeType="1"/>
          </p:cNvSpPr>
          <p:nvPr/>
        </p:nvSpPr>
        <p:spPr bwMode="auto">
          <a:xfrm>
            <a:off x="9546778" y="4199972"/>
            <a:ext cx="2016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6" name="Line 46"/>
          <p:cNvSpPr>
            <a:spLocks noChangeShapeType="1"/>
          </p:cNvSpPr>
          <p:nvPr/>
        </p:nvSpPr>
        <p:spPr bwMode="auto">
          <a:xfrm>
            <a:off x="9546778" y="4199972"/>
            <a:ext cx="5064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7" name="Line 47"/>
          <p:cNvSpPr>
            <a:spLocks noChangeShapeType="1"/>
          </p:cNvSpPr>
          <p:nvPr/>
        </p:nvSpPr>
        <p:spPr bwMode="auto">
          <a:xfrm>
            <a:off x="10346878" y="3095072"/>
            <a:ext cx="125412" cy="2030412"/>
          </a:xfrm>
          <a:prstGeom prst="line">
            <a:avLst/>
          </a:prstGeom>
          <a:noFill/>
          <a:ln w="508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en-US" sz="2400" b="0" i="0" u="none" strike="noStrike" kern="0" cap="none" spc="0" normalizeH="0" baseline="0" noProof="0">
              <a:ln>
                <a:noFill/>
              </a:ln>
              <a:effectLst/>
              <a:uLnTx/>
              <a:uFillTx/>
              <a:latin typeface="Times New Roman" panose="02020603050405020304" pitchFamily="18" charset="0"/>
            </a:endParaRPr>
          </a:p>
        </p:txBody>
      </p:sp>
      <p:sp>
        <p:nvSpPr>
          <p:cNvPr id="48" name="Rectangle 49"/>
          <p:cNvSpPr>
            <a:spLocks noChangeArrowheads="1"/>
          </p:cNvSpPr>
          <p:nvPr/>
        </p:nvSpPr>
        <p:spPr bwMode="auto">
          <a:xfrm>
            <a:off x="491114" y="5622485"/>
            <a:ext cx="116213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base" hangingPunct="0">
              <a:spcBef>
                <a:spcPct val="50000"/>
              </a:spcBef>
              <a:spcAft>
                <a:spcPct val="0"/>
              </a:spcAft>
              <a:buFontTx/>
              <a:buChar char="•"/>
            </a:pPr>
            <a:r>
              <a:rPr lang="en-US" altLang="en-US" sz="2400" u="sng" dirty="0">
                <a:latin typeface="Times New Roman" panose="02020603050405020304" pitchFamily="18" charset="0"/>
                <a:ea typeface="宋体" panose="02010600030101010101" pitchFamily="2" charset="-122"/>
              </a:rPr>
              <a:t> The total number of orbitals for a given value of n is n</a:t>
            </a:r>
            <a:r>
              <a:rPr lang="en-US" altLang="en-US" sz="2400" u="sng" baseline="30000" dirty="0">
                <a:latin typeface="Times New Roman" panose="02020603050405020304" pitchFamily="18" charset="0"/>
                <a:ea typeface="宋体" panose="02010600030101010101" pitchFamily="2" charset="-122"/>
              </a:rPr>
              <a:t>2</a:t>
            </a:r>
            <a:r>
              <a:rPr lang="en-US" altLang="en-US" sz="2400" u="sng" dirty="0">
                <a:latin typeface="Times New Roman" panose="02020603050405020304" pitchFamily="18" charset="0"/>
                <a:ea typeface="宋体" panose="02010600030101010101" pitchFamily="2" charset="-122"/>
              </a:rPr>
              <a:t>.</a:t>
            </a:r>
            <a:r>
              <a:rPr lang="en-US" altLang="en-US" sz="2400" u="sng" dirty="0">
                <a:latin typeface="Times New Roman" panose="02020603050405020304" pitchFamily="18" charset="0"/>
              </a:rPr>
              <a:t> </a:t>
            </a:r>
            <a:r>
              <a:rPr lang="en-US" altLang="zh-CN" sz="2400" u="sng" dirty="0">
                <a:latin typeface="Times New Roman" panose="02020603050405020304" pitchFamily="18" charset="0"/>
              </a:rPr>
              <a:t>Considering the spin, the degeneracy is 2</a:t>
            </a:r>
            <a:r>
              <a:rPr lang="en-US" altLang="en-US" sz="2400" u="sng" dirty="0">
                <a:latin typeface="Times New Roman" panose="02020603050405020304" pitchFamily="18" charset="0"/>
                <a:ea typeface="宋体" panose="02010600030101010101" pitchFamily="2" charset="-122"/>
              </a:rPr>
              <a:t> n</a:t>
            </a:r>
            <a:r>
              <a:rPr lang="en-US" altLang="en-US" sz="2400" u="sng" baseline="30000" dirty="0">
                <a:latin typeface="Times New Roman" panose="02020603050405020304" pitchFamily="18" charset="0"/>
                <a:ea typeface="宋体" panose="02010600030101010101" pitchFamily="2" charset="-122"/>
              </a:rPr>
              <a:t>2</a:t>
            </a:r>
            <a:endParaRPr lang="en-US" altLang="en-US" sz="2400" u="sng" dirty="0">
              <a:latin typeface="Times New Roman" panose="02020603050405020304" pitchFamily="18" charset="0"/>
              <a:ea typeface="宋体" panose="02010600030101010101" pitchFamily="2" charset="-122"/>
            </a:endParaRPr>
          </a:p>
        </p:txBody>
      </p:sp>
      <p:sp>
        <p:nvSpPr>
          <p:cNvPr id="5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0-#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7D67991-E348-13A5-68EF-1AE120A13DBA}"/>
              </a:ext>
            </a:extLst>
          </p:cNvPr>
          <p:cNvSpPr txBox="1"/>
          <p:nvPr/>
        </p:nvSpPr>
        <p:spPr>
          <a:xfrm>
            <a:off x="865413" y="1687288"/>
            <a:ext cx="10287001" cy="1938992"/>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From hydrogen like atoms to multi-electron systems (atoms, molecules, radicals…), what happens?</a:t>
            </a:r>
          </a:p>
          <a:p>
            <a:endParaRPr lang="en-US" altLang="zh-CN" sz="2400" dirty="0">
              <a:latin typeface="Arial" panose="020B0604020202020204" pitchFamily="34" charset="0"/>
              <a:cs typeface="Arial" panose="020B0604020202020204" pitchFamily="34" charset="0"/>
            </a:endParaRPr>
          </a:p>
          <a:p>
            <a:pPr marL="457200" indent="-457200">
              <a:buAutoNum type="arabicPeriod"/>
            </a:pPr>
            <a:r>
              <a:rPr lang="zh-CN" altLang="en-US" sz="2400" dirty="0">
                <a:latin typeface="黑体" panose="02010609060101010101" pitchFamily="49" charset="-122"/>
                <a:ea typeface="黑体" panose="02010609060101010101" pitchFamily="49" charset="-122"/>
                <a:cs typeface="Arial" panose="020B0604020202020204" pitchFamily="34" charset="0"/>
              </a:rPr>
              <a:t>电子自旋，对于多电子体系，讨论单个电子的自旋没有意义！</a:t>
            </a:r>
            <a:endParaRPr lang="en-US" altLang="zh-CN" sz="2400" dirty="0">
              <a:latin typeface="黑体" panose="02010609060101010101" pitchFamily="49" charset="-122"/>
              <a:ea typeface="黑体" panose="02010609060101010101" pitchFamily="49" charset="-122"/>
              <a:cs typeface="Arial" panose="020B0604020202020204" pitchFamily="34" charset="0"/>
            </a:endParaRPr>
          </a:p>
          <a:p>
            <a:pPr marL="457200" indent="-457200">
              <a:buAutoNum type="arabicPeriod"/>
            </a:pPr>
            <a:r>
              <a:rPr lang="zh-CN" altLang="en-US" sz="2400" dirty="0">
                <a:latin typeface="黑体" panose="02010609060101010101" pitchFamily="49" charset="-122"/>
                <a:ea typeface="黑体" panose="02010609060101010101" pitchFamily="49" charset="-122"/>
                <a:cs typeface="Arial" panose="020B0604020202020204" pitchFamily="34" charset="0"/>
              </a:rPr>
              <a:t>电子轨道角动量</a:t>
            </a:r>
            <a:r>
              <a:rPr lang="en-US" altLang="zh-CN" sz="2400" dirty="0">
                <a:latin typeface="黑体" panose="02010609060101010101" pitchFamily="49" charset="-122"/>
                <a:ea typeface="黑体" panose="02010609060101010101" pitchFamily="49" charset="-122"/>
                <a:cs typeface="Arial" panose="020B0604020202020204" pitchFamily="34" charset="0"/>
              </a:rPr>
              <a:t>…</a:t>
            </a:r>
            <a:endParaRPr lang="zh-CN" altLang="en-US" sz="2400" dirty="0">
              <a:latin typeface="黑体" panose="02010609060101010101" pitchFamily="49" charset="-122"/>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347564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9012" y="184602"/>
            <a:ext cx="1794658"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Two spins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421698" y="1054751"/>
                <a:ext cx="11329286" cy="5384423"/>
              </a:xfrm>
              <a:prstGeom prst="rect">
                <a:avLst/>
              </a:prstGeom>
            </p:spPr>
            <p:txBody>
              <a:bodyPr wrap="square">
                <a:spAutoFit/>
              </a:bodyPr>
              <a:lstStyle/>
              <a:p>
                <a:pPr>
                  <a:lnSpc>
                    <a:spcPct val="121000"/>
                  </a:lnSpc>
                </a:pPr>
                <a:r>
                  <a:rPr lang="en-US" altLang="zh-CN" sz="2400" dirty="0">
                    <a:latin typeface="Times New Roman" panose="02020603050405020304" pitchFamily="18" charset="0"/>
                    <a:cs typeface="Times New Roman" panose="02020603050405020304" pitchFamily="18" charset="0"/>
                  </a:rPr>
                  <a:t>If we have two electrons, they each have spin </a:t>
                </a:r>
                <a14:m>
                  <m:oMath xmlns:m="http://schemas.openxmlformats.org/officeDocument/2006/math">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oMath>
                </a14:m>
                <a:r>
                  <a:rPr lang="en-US" altLang="zh-CN" sz="2400"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each has spin states </a:t>
                </a:r>
                <a14:m>
                  <m:oMath xmlns:m="http://schemas.openxmlformats.org/officeDocument/2006/math">
                    <m:r>
                      <a:rPr lang="zh-CN" altLang="en-US" sz="2400" i="1" dirty="0">
                        <a:solidFill>
                          <a:srgbClr val="2926BF"/>
                        </a:solidFill>
                        <a:latin typeface="Cambria Math" panose="02040503050406030204" pitchFamily="18" charset="0"/>
                      </a:rPr>
                      <m:t>𝛼</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𝛽</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Using subscripts </a:t>
                </a:r>
                <a:r>
                  <a:rPr lang="en-US" altLang="zh-CN" sz="2400" dirty="0">
                    <a:solidFill>
                      <a:srgbClr val="2926BF"/>
                    </a:solidFill>
                    <a:latin typeface="Times New Roman" panose="02020603050405020304" pitchFamily="18" charset="0"/>
                    <a:cs typeface="Times New Roman" panose="02020603050405020304" pitchFamily="18" charset="0"/>
                  </a:rPr>
                  <a:t>1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2926BF"/>
                    </a:solidFill>
                    <a:latin typeface="Times New Roman" panose="02020603050405020304" pitchFamily="18" charset="0"/>
                    <a:cs typeface="Times New Roman" panose="02020603050405020304" pitchFamily="18" charset="0"/>
                  </a:rPr>
                  <a:t>2 </a:t>
                </a:r>
                <a:r>
                  <a:rPr lang="en-US" altLang="zh-CN" sz="2400" dirty="0">
                    <a:latin typeface="Times New Roman" panose="02020603050405020304" pitchFamily="18" charset="0"/>
                    <a:cs typeface="Times New Roman" panose="02020603050405020304" pitchFamily="18" charset="0"/>
                  </a:rPr>
                  <a:t>to label the electrons, the possible states of the system are</a:t>
                </a:r>
              </a:p>
              <a:p>
                <a:pPr algn="r">
                  <a:lnSpc>
                    <a:spcPts val="800"/>
                  </a:lnSpc>
                  <a:spcAft>
                    <a:spcPts val="1255"/>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gn="r">
                  <a:lnSpc>
                    <a:spcPts val="800"/>
                  </a:lnSpc>
                  <a:spcAft>
                    <a:spcPts val="1255"/>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2000"/>
                  </a:lnSpc>
                </a:pPr>
                <a:r>
                  <a:rPr lang="en-US" altLang="zh-CN" sz="2400" dirty="0">
                    <a:latin typeface="Times New Roman" panose="02020603050405020304" pitchFamily="18" charset="0"/>
                    <a:cs typeface="Times New Roman" panose="02020603050405020304" pitchFamily="18" charset="0"/>
                  </a:rPr>
                  <a:t>Now the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component of the total spin is described by the operator</a:t>
                </a:r>
                <a14:m>
                  <m:oMath xmlns:m="http://schemas.openxmlformats.org/officeDocument/2006/math">
                    <m:r>
                      <a:rPr lang="en-US" altLang="zh-CN" sz="2400" b="0" i="0" dirty="0" smtClean="0">
                        <a:solidFill>
                          <a:srgbClr val="2926BF"/>
                        </a:solidFill>
                        <a:latin typeface="Cambria Math" panose="02040503050406030204" pitchFamily="18" charset="0"/>
                      </a:rPr>
                      <m:t> </m:t>
                    </m:r>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𝑆</m:t>
                        </m:r>
                      </m:e>
                    </m:acc>
                    <m:r>
                      <a:rPr lang="en-US" altLang="zh-CN" sz="2400" i="1" baseline="-25000" dirty="0" err="1">
                        <a:solidFill>
                          <a:srgbClr val="2926BF"/>
                        </a:solidFill>
                        <a:latin typeface="Cambria Math" panose="02040503050406030204" pitchFamily="18" charset="0"/>
                      </a:rPr>
                      <m:t>𝑧</m:t>
                    </m:r>
                    <m:r>
                      <a:rPr lang="en-US" altLang="zh-CN" sz="2400" i="1" dirty="0">
                        <a:solidFill>
                          <a:srgbClr val="2926BF"/>
                        </a:solidFill>
                        <a:latin typeface="Cambria Math" panose="02040503050406030204" pitchFamily="18" charset="0"/>
                      </a:rPr>
                      <m:t>=</m:t>
                    </m:r>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𝑠</m:t>
                        </m:r>
                      </m:e>
                    </m:acc>
                    <m:r>
                      <a:rPr lang="en-US" altLang="zh-CN" sz="2400" i="1" baseline="-25000" dirty="0">
                        <a:solidFill>
                          <a:srgbClr val="2926BF"/>
                        </a:solidFill>
                        <a:latin typeface="Cambria Math" panose="02040503050406030204" pitchFamily="18" charset="0"/>
                      </a:rPr>
                      <m:t>1</m:t>
                    </m:r>
                    <m:r>
                      <a:rPr lang="en-US" altLang="zh-CN" sz="2400" i="1" baseline="-25000" dirty="0">
                        <a:solidFill>
                          <a:srgbClr val="2926BF"/>
                        </a:solidFill>
                        <a:latin typeface="Cambria Math" panose="02040503050406030204" pitchFamily="18" charset="0"/>
                      </a:rPr>
                      <m:t>𝑧</m:t>
                    </m:r>
                    <m:r>
                      <a:rPr lang="en-US" altLang="zh-CN" sz="2400" i="1" dirty="0">
                        <a:solidFill>
                          <a:srgbClr val="2926BF"/>
                        </a:solidFill>
                        <a:latin typeface="Cambria Math" panose="02040503050406030204" pitchFamily="18" charset="0"/>
                      </a:rPr>
                      <m:t>+</m:t>
                    </m:r>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𝑠</m:t>
                        </m:r>
                      </m:e>
                    </m:acc>
                    <m:r>
                      <a:rPr lang="en-US" altLang="zh-CN" sz="2400" i="1" baseline="-25000" dirty="0">
                        <a:solidFill>
                          <a:srgbClr val="2926BF"/>
                        </a:solidFill>
                        <a:latin typeface="Cambria Math" panose="02040503050406030204" pitchFamily="18" charset="0"/>
                      </a:rPr>
                      <m:t>2</m:t>
                    </m:r>
                    <m:r>
                      <a:rPr lang="en-US" altLang="zh-CN" sz="2400" i="1" baseline="-25000" dirty="0">
                        <a:solidFill>
                          <a:srgbClr val="2926BF"/>
                        </a:solidFill>
                        <a:latin typeface="Cambria Math" panose="02040503050406030204" pitchFamily="18" charset="0"/>
                      </a:rPr>
                      <m:t>𝑧</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which is just the sum of the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components of the individual spin vectors. </a:t>
                </a:r>
                <a14:m>
                  <m:oMath xmlns:m="http://schemas.openxmlformats.org/officeDocument/2006/math">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𝑠</m:t>
                        </m:r>
                      </m:e>
                    </m:acc>
                    <m:r>
                      <a:rPr lang="en-US" altLang="zh-CN" sz="2400" i="1" baseline="-25000" dirty="0">
                        <a:solidFill>
                          <a:srgbClr val="2926BF"/>
                        </a:solidFill>
                        <a:latin typeface="Cambria Math" panose="02040503050406030204" pitchFamily="18" charset="0"/>
                      </a:rPr>
                      <m:t>1</m:t>
                    </m:r>
                    <m:r>
                      <a:rPr lang="en-US" altLang="zh-CN" sz="2400" i="1" baseline="-25000" dirty="0">
                        <a:solidFill>
                          <a:srgbClr val="2926BF"/>
                        </a:solidFill>
                        <a:latin typeface="Cambria Math" panose="02040503050406030204" pitchFamily="18" charset="0"/>
                      </a:rPr>
                      <m:t>𝑧</m:t>
                    </m:r>
                    <m:r>
                      <a:rPr lang="en-US" altLang="zh-CN" sz="2400" i="1" baseline="-25000" dirty="0">
                        <a:solidFill>
                          <a:srgbClr val="2926BF"/>
                        </a:solidFill>
                        <a:latin typeface="Cambria Math" panose="02040503050406030204" pitchFamily="18" charset="0"/>
                      </a:rPr>
                      <m:t> </m:t>
                    </m:r>
                    <m:r>
                      <a:rPr lang="en-US" altLang="zh-CN" sz="2400" baseline="-25000"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doesn't have any effect on the spin functions of electron 2, and vice versa, so</a:t>
                </a:r>
              </a:p>
              <a:p>
                <a:pPr marL="799465">
                  <a:spcAft>
                    <a:spcPts val="90"/>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marL="799465">
                  <a:spcAft>
                    <a:spcPts val="90"/>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marL="799465" algn="r">
                  <a:spcAft>
                    <a:spcPts val="90"/>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1000"/>
                  </a:lnSpc>
                  <a:spcBef>
                    <a:spcPts val="2400"/>
                  </a:spcBef>
                </a:pP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is an eigenfunction of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eigenvalue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ℏ</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which we can write as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ea typeface="Cambria Math" panose="02040503050406030204" pitchFamily="18" charset="0"/>
                      </a:rPr>
                      <m:t>ℏ</m:t>
                    </m:r>
                  </m:oMath>
                </a14:m>
                <a:r>
                  <a:rPr lang="en-US" altLang="zh-CN" sz="2400" dirty="0">
                    <a:latin typeface="Times New Roman" panose="02020603050405020304" pitchFamily="18" charset="0"/>
                    <a:cs typeface="Times New Roman" panose="02020603050405020304" pitchFamily="18" charset="0"/>
                  </a:rPr>
                  <a:t> with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=1</m:t>
                    </m:r>
                  </m:oMath>
                </a14:m>
                <a:r>
                  <a:rPr lang="en-US" altLang="zh-CN" sz="2400" i="1" dirty="0">
                    <a:solidFill>
                      <a:srgbClr val="2926BF"/>
                    </a:solidFill>
                    <a:latin typeface="Times New Roman" panose="02020603050405020304" pitchFamily="18" charset="0"/>
                    <a:cs typeface="Times New Roman" panose="02020603050405020304" pitchFamily="18" charset="0"/>
                  </a:rPr>
                  <a:t>.</a:t>
                </a:r>
              </a:p>
            </p:txBody>
          </p:sp>
        </mc:Choice>
        <mc:Fallback xmlns="">
          <p:sp>
            <p:nvSpPr>
              <p:cNvPr id="3" name="矩形 2"/>
              <p:cNvSpPr>
                <a:spLocks noRot="1" noChangeAspect="1" noMove="1" noResize="1" noEditPoints="1" noAdjustHandles="1" noChangeArrowheads="1" noChangeShapeType="1" noTextEdit="1"/>
              </p:cNvSpPr>
              <p:nvPr/>
            </p:nvSpPr>
            <p:spPr>
              <a:xfrm>
                <a:off x="421698" y="1054751"/>
                <a:ext cx="11329286" cy="5384423"/>
              </a:xfrm>
              <a:prstGeom prst="rect">
                <a:avLst/>
              </a:prstGeom>
              <a:blipFill>
                <a:blip r:embed="rId3"/>
                <a:stretch>
                  <a:fillRect l="-807" r="-968" b="-1699"/>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4286185" y="2221567"/>
          <a:ext cx="3149280" cy="457200"/>
        </p:xfrm>
        <a:graphic>
          <a:graphicData uri="http://schemas.openxmlformats.org/presentationml/2006/ole">
            <mc:AlternateContent xmlns:mc="http://schemas.openxmlformats.org/markup-compatibility/2006">
              <mc:Choice xmlns:v="urn:schemas-microsoft-com:vml" Requires="v">
                <p:oleObj name="Equation" r:id="rId4" imgW="37795200" imgH="5486400" progId="Equation.DSMT4">
                  <p:embed/>
                </p:oleObj>
              </mc:Choice>
              <mc:Fallback>
                <p:oleObj name="Equation" r:id="rId4" imgW="37795200" imgH="5486400" progId="Equation.DSMT4">
                  <p:embed/>
                  <p:pic>
                    <p:nvPicPr>
                      <p:cNvPr id="0" name="对象 3"/>
                      <p:cNvPicPr/>
                      <p:nvPr/>
                    </p:nvPicPr>
                    <p:blipFill>
                      <a:blip r:embed="rId5"/>
                      <a:stretch>
                        <a:fillRect/>
                      </a:stretch>
                    </p:blipFill>
                    <p:spPr>
                      <a:xfrm>
                        <a:off x="4286185" y="2221567"/>
                        <a:ext cx="3149280" cy="4572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491474" y="4066964"/>
          <a:ext cx="5205412" cy="1422400"/>
        </p:xfrm>
        <a:graphic>
          <a:graphicData uri="http://schemas.openxmlformats.org/presentationml/2006/ole">
            <mc:AlternateContent xmlns:mc="http://schemas.openxmlformats.org/markup-compatibility/2006">
              <mc:Choice xmlns:v="urn:schemas-microsoft-com:vml" Requires="v">
                <p:oleObj name="Equation" r:id="rId6" imgW="62484000" imgH="17068800" progId="Equation.DSMT4">
                  <p:embed/>
                </p:oleObj>
              </mc:Choice>
              <mc:Fallback>
                <p:oleObj name="Equation" r:id="rId6" imgW="62484000" imgH="17068800" progId="Equation.DSMT4">
                  <p:embed/>
                  <p:pic>
                    <p:nvPicPr>
                      <p:cNvPr id="0" name="对象 4"/>
                      <p:cNvPicPr/>
                      <p:nvPr/>
                    </p:nvPicPr>
                    <p:blipFill>
                      <a:blip r:embed="rId7"/>
                      <a:stretch>
                        <a:fillRect/>
                      </a:stretch>
                    </p:blipFill>
                    <p:spPr>
                      <a:xfrm>
                        <a:off x="3491474" y="4066964"/>
                        <a:ext cx="5205412" cy="1422400"/>
                      </a:xfrm>
                      <a:prstGeom prst="rect">
                        <a:avLst/>
                      </a:prstGeom>
                    </p:spPr>
                  </p:pic>
                </p:oleObj>
              </mc:Fallback>
            </mc:AlternateContent>
          </a:graphicData>
        </a:graphic>
      </p:graphicFrame>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38286" y="222003"/>
            <a:ext cx="566591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Two spins: singlet and triplet states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70069" y="1149876"/>
                <a:ext cx="11648222" cy="2712859"/>
              </a:xfrm>
              <a:prstGeom prst="rect">
                <a:avLst/>
              </a:prstGeom>
            </p:spPr>
            <p:txBody>
              <a:bodyPr wrap="square">
                <a:spAutoFit/>
              </a:bodyPr>
              <a:lstStyle/>
              <a:p>
                <a:pPr algn="just">
                  <a:lnSpc>
                    <a:spcPct val="120000"/>
                  </a:lnSpc>
                </a:pPr>
                <a14:m>
                  <m:oMath xmlns:m="http://schemas.openxmlformats.org/officeDocument/2006/math">
                    <m:r>
                      <a:rPr lang="en-US" altLang="zh-CN" sz="2400" i="1" dirty="0" smtClean="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=1 </m:t>
                    </m:r>
                  </m:oMath>
                </a14:m>
                <a:r>
                  <a:rPr lang="en-US" altLang="zh-CN" sz="2400" dirty="0">
                    <a:latin typeface="Times New Roman" panose="02020603050405020304" pitchFamily="18" charset="0"/>
                    <a:cs typeface="Times New Roman" panose="02020603050405020304" pitchFamily="18" charset="0"/>
                  </a:rPr>
                  <a:t>for the wavefunction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the same way,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and</a:t>
                </a:r>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zh-TW" altLang="zh-CN" sz="2400" dirty="0">
                    <a:solidFill>
                      <a:srgbClr val="2926BF"/>
                    </a:solidFill>
                    <a:latin typeface="Times New Roman" panose="02020603050405020304" pitchFamily="18" charset="0"/>
                    <a:ea typeface="MingLiU" panose="02020509000000000000" charset="-12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have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has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=−1</m:t>
                    </m:r>
                  </m:oMath>
                </a14:m>
                <a:r>
                  <a:rPr lang="en-US" altLang="zh-CN" sz="2400" i="1" dirty="0">
                    <a:solidFill>
                      <a:srgbClr val="2926BF"/>
                    </a:solidFill>
                    <a:latin typeface="Times New Roman" panose="02020603050405020304" pitchFamily="18" charset="0"/>
                    <a:cs typeface="Times New Roman" panose="02020603050405020304" pitchFamily="18" charset="0"/>
                  </a:rPr>
                  <a:t>.</a:t>
                </a:r>
              </a:p>
              <a:p>
                <a:pPr>
                  <a:lnSpc>
                    <a:spcPct val="120000"/>
                  </a:lnSpc>
                </a:pPr>
                <a:r>
                  <a:rPr lang="en-US" altLang="zh-CN" sz="2400" dirty="0">
                    <a:latin typeface="Times New Roman" panose="02020603050405020304" pitchFamily="18" charset="0"/>
                    <a:cs typeface="Times New Roman" panose="02020603050405020304" pitchFamily="18" charset="0"/>
                  </a:rPr>
                  <a:t>Remembering that angular momentum eigenfunctions come in sets with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𝐽</m:t>
                    </m:r>
                    <m:r>
                      <a:rPr lang="en-US" altLang="zh-CN" sz="2400"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 </m:t>
                    </m:r>
                    <m:r>
                      <a:rPr lang="en-US" altLang="zh-CN" sz="2400" i="1" dirty="0">
                        <a:solidFill>
                          <a:srgbClr val="2926BF"/>
                        </a:solidFill>
                        <a:latin typeface="Cambria Math" panose="02040503050406030204" pitchFamily="18" charset="0"/>
                      </a:rPr>
                      <m:t>𝐽</m:t>
                    </m:r>
                    <m:r>
                      <a:rPr lang="en-US" altLang="zh-CN" sz="2400" i="1" dirty="0">
                        <a:solidFill>
                          <a:srgbClr val="2926BF"/>
                        </a:solidFill>
                        <a:latin typeface="Cambria Math" panose="02040503050406030204" pitchFamily="18" charset="0"/>
                      </a:rPr>
                      <m:t>−1,. .., −</m:t>
                    </m:r>
                    <m:r>
                      <a:rPr lang="en-US" altLang="zh-CN" sz="2400" i="1" dirty="0">
                        <a:solidFill>
                          <a:srgbClr val="2926BF"/>
                        </a:solidFill>
                        <a:latin typeface="Cambria Math" panose="02040503050406030204" pitchFamily="18" charset="0"/>
                      </a:rPr>
                      <m:t>𝐽</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we see that we have a set with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=1, 0 </m:t>
                    </m:r>
                    <m:r>
                      <a:rPr lang="en-US" altLang="zh-CN" sz="2400" i="1" dirty="0">
                        <a:latin typeface="Cambria Math" panose="02040503050406030204" pitchFamily="18" charset="0"/>
                      </a:rPr>
                      <m:t>𝑎𝑛𝑑</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which has </a:t>
                </a:r>
                <a14:m>
                  <m:oMath xmlns:m="http://schemas.openxmlformats.org/officeDocument/2006/math">
                    <m:r>
                      <a:rPr lang="en-US" altLang="zh-CN" sz="2400" i="1" dirty="0">
                        <a:solidFill>
                          <a:srgbClr val="2926BF"/>
                        </a:solidFill>
                        <a:latin typeface="Cambria Math" panose="02040503050406030204" pitchFamily="18" charset="0"/>
                      </a:rPr>
                      <m:t>𝑆</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 second function with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=0 </m:t>
                    </m:r>
                  </m:oMath>
                </a14:m>
                <a:r>
                  <a:rPr lang="en-US" altLang="zh-CN" sz="2400" dirty="0">
                    <a:latin typeface="Times New Roman" panose="02020603050405020304" pitchFamily="18" charset="0"/>
                    <a:cs typeface="Times New Roman" panose="02020603050405020304" pitchFamily="18" charset="0"/>
                  </a:rPr>
                  <a:t>which is the sole member of a set with </a:t>
                </a:r>
                <a14:m>
                  <m:oMath xmlns:m="http://schemas.openxmlformats.org/officeDocument/2006/math">
                    <m:r>
                      <a:rPr lang="en-US" altLang="zh-CN" sz="2400" i="1" dirty="0">
                        <a:solidFill>
                          <a:srgbClr val="2926BF"/>
                        </a:solidFill>
                        <a:latin typeface="Cambria Math" panose="02040503050406030204" pitchFamily="18" charset="0"/>
                      </a:rPr>
                      <m:t>𝑆</m:t>
                    </m:r>
                    <m:r>
                      <a:rPr lang="en-US" altLang="zh-CN" sz="2400" i="1"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a:t>
                </a:r>
              </a:p>
              <a:p>
                <a:pPr>
                  <a:lnSpc>
                    <a:spcPct val="120000"/>
                  </a:lnSpc>
                </a:pPr>
                <a:r>
                  <a:rPr lang="en-US" altLang="zh-CN" sz="2400" dirty="0">
                    <a:latin typeface="Times New Roman" panose="02020603050405020304" pitchFamily="18" charset="0"/>
                    <a:cs typeface="Times New Roman" panose="02020603050405020304" pitchFamily="18" charset="0"/>
                  </a:rPr>
                  <a:t>Clearly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oMath>
                </a14:m>
                <a:r>
                  <a:rPr lang="zh-CN" altLang="en-US" sz="2400"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belong to the set of functions with </a:t>
                </a:r>
                <a14:m>
                  <m:oMath xmlns:m="http://schemas.openxmlformats.org/officeDocument/2006/math">
                    <m:r>
                      <a:rPr lang="en-US" altLang="zh-CN" sz="2400" i="1" dirty="0">
                        <a:solidFill>
                          <a:srgbClr val="2926BF"/>
                        </a:solidFill>
                        <a:latin typeface="Cambria Math" panose="02040503050406030204" pitchFamily="18" charset="0"/>
                      </a:rPr>
                      <m:t>𝑆</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endParaRPr lang="en-US" altLang="zh-CN" sz="2400" i="1" dirty="0">
                  <a:solidFill>
                    <a:srgbClr val="B02B08"/>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70069" y="1149876"/>
                <a:ext cx="11648222" cy="2712859"/>
              </a:xfrm>
              <a:prstGeom prst="rect">
                <a:avLst/>
              </a:prstGeom>
              <a:blipFill>
                <a:blip r:embed="rId2"/>
                <a:stretch>
                  <a:fillRect l="-785" t="-449" r="-837" b="-427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graphicFrame>
            <p:nvGraphicFramePr>
              <p:cNvPr id="4" name="表格 3"/>
              <p:cNvGraphicFramePr>
                <a:graphicFrameLocks noGrp="1"/>
              </p:cNvGraphicFramePr>
              <p:nvPr>
                <p:extLst>
                  <p:ext uri="{D42A27DB-BD31-4B8C-83A1-F6EECF244321}">
                    <p14:modId xmlns:p14="http://schemas.microsoft.com/office/powerpoint/2010/main" val="3013840044"/>
                  </p:ext>
                </p:extLst>
              </p:nvPr>
            </p:nvGraphicFramePr>
            <p:xfrm>
              <a:off x="4481130" y="4053849"/>
              <a:ext cx="2934707" cy="1097280"/>
            </p:xfrm>
            <a:graphic>
              <a:graphicData uri="http://schemas.openxmlformats.org/drawingml/2006/table">
                <a:tbl>
                  <a:tblPr/>
                  <a:tblGrid>
                    <a:gridCol w="1654547">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61918">
                    <a:tc>
                      <a:txBody>
                        <a:bodyPr/>
                        <a:lstStyle/>
                        <a:p>
                          <a:pPr algn="ctr"/>
                          <a14:m>
                            <m:oMathPara xmlns:m="http://schemas.openxmlformats.org/officeDocument/2006/math">
                              <m:oMathParaPr>
                                <m:jc m:val="centerGroup"/>
                              </m:oMathParaPr>
                              <m:oMath xmlns:m="http://schemas.openxmlformats.org/officeDocument/2006/math">
                                <m:r>
                                  <a:rPr lang="zh-CN" altLang="en-US" sz="2400" i="1" dirty="0" smtClean="0">
                                    <a:solidFill>
                                      <a:srgbClr val="3333FF"/>
                                    </a:solidFill>
                                    <a:latin typeface="Cambria Math" panose="02040503050406030204" pitchFamily="18" charset="0"/>
                                  </a:rPr>
                                  <m:t>𝛼</m:t>
                                </m:r>
                                <m:r>
                                  <a:rPr lang="en-US" altLang="zh-CN" sz="2400" i="1" baseline="-25000" dirty="0">
                                    <a:solidFill>
                                      <a:srgbClr val="3333FF"/>
                                    </a:solidFill>
                                    <a:latin typeface="Cambria Math" panose="02040503050406030204" pitchFamily="18" charset="0"/>
                                  </a:rPr>
                                  <m:t>1</m:t>
                                </m:r>
                                <m:r>
                                  <a:rPr lang="zh-CN" altLang="en-US" sz="2400" i="1" dirty="0">
                                    <a:solidFill>
                                      <a:srgbClr val="3333FF"/>
                                    </a:solidFill>
                                    <a:latin typeface="Cambria Math" panose="02040503050406030204" pitchFamily="18" charset="0"/>
                                  </a:rPr>
                                  <m:t>𝛼</m:t>
                                </m:r>
                                <m:r>
                                  <a:rPr lang="en-US" altLang="zh-CN" sz="2400" i="1" baseline="-25000" dirty="0">
                                    <a:solidFill>
                                      <a:srgbClr val="3333FF"/>
                                    </a:solidFill>
                                    <a:latin typeface="Cambria Math" panose="02040503050406030204" pitchFamily="18" charset="0"/>
                                  </a:rPr>
                                  <m:t>2</m:t>
                                </m:r>
                                <m:r>
                                  <a:rPr lang="zh-CN" altLang="en-US" sz="2400" i="1" dirty="0">
                                    <a:solidFill>
                                      <a:srgbClr val="3333FF"/>
                                    </a:solidFill>
                                    <a:latin typeface="Cambria Math" panose="02040503050406030204" pitchFamily="18" charset="0"/>
                                  </a:rPr>
                                  <m:t> </m:t>
                                </m:r>
                              </m:oMath>
                            </m:oMathPara>
                          </a14:m>
                          <a:endParaRPr lang="zh-CN" altLang="en-US" sz="2400" dirty="0">
                            <a:solidFill>
                              <a:srgbClr val="3333FF"/>
                            </a:solidFill>
                            <a:latin typeface="Calisto MT" panose="02040603050505030304" pitchFamily="18" charset="0"/>
                          </a:endParaRPr>
                        </a:p>
                      </a:txBody>
                      <a:tcPr marL="0" marR="0" marT="0" marB="0">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R="116205" indent="0" algn="r"/>
                          <a14:m>
                            <m:oMathPara xmlns:m="http://schemas.openxmlformats.org/officeDocument/2006/math">
                              <m:oMathParaPr>
                                <m:jc m:val="centerGroup"/>
                              </m:oMathParaPr>
                              <m:oMath xmlns:m="http://schemas.openxmlformats.org/officeDocument/2006/math">
                                <m:r>
                                  <a:rPr lang="en-US" altLang="zh-CN" sz="2400" i="1" dirty="0" smtClean="0">
                                    <a:solidFill>
                                      <a:srgbClr val="3333FF"/>
                                    </a:solidFill>
                                    <a:latin typeface="Cambria Math" panose="02040503050406030204" pitchFamily="18" charset="0"/>
                                  </a:rPr>
                                  <m:t>𝑀</m:t>
                                </m:r>
                                <m:r>
                                  <a:rPr lang="en-US" altLang="zh-CN" sz="2400" i="1" baseline="-25000" dirty="0">
                                    <a:solidFill>
                                      <a:srgbClr val="3333FF"/>
                                    </a:solidFill>
                                    <a:latin typeface="Cambria Math" panose="02040503050406030204" pitchFamily="18" charset="0"/>
                                  </a:rPr>
                                  <m:t>𝑠</m:t>
                                </m:r>
                                <m:r>
                                  <a:rPr lang="en-US" altLang="zh-CN" sz="2400" i="1" dirty="0">
                                    <a:solidFill>
                                      <a:srgbClr val="3333FF"/>
                                    </a:solidFill>
                                    <a:latin typeface="Cambria Math" panose="02040503050406030204" pitchFamily="18" charset="0"/>
                                  </a:rPr>
                                  <m:t>=1</m:t>
                                </m:r>
                              </m:oMath>
                            </m:oMathPara>
                          </a14:m>
                          <a:endParaRPr lang="en-US" sz="2400" dirty="0">
                            <a:solidFill>
                              <a:srgbClr val="3333FF"/>
                            </a:solidFill>
                            <a:latin typeface="Calisto MT" panose="02040603050505030304" pitchFamily="18" charset="0"/>
                          </a:endParaRPr>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1918">
                    <a:tc>
                      <a:txBody>
                        <a:bodyPr/>
                        <a:lstStyle/>
                        <a:p>
                          <a:pPr indent="0" algn="ctr"/>
                          <a14:m>
                            <m:oMath xmlns:m="http://schemas.openxmlformats.org/officeDocument/2006/math">
                              <m:r>
                                <a:rPr lang="zh-CN" altLang="en-US" sz="2400" i="1" dirty="0" smtClean="0">
                                  <a:solidFill>
                                    <a:srgbClr val="3333FF"/>
                                  </a:solidFill>
                                  <a:latin typeface="Cambria Math" panose="02040503050406030204" pitchFamily="18" charset="0"/>
                                </a:rPr>
                                <m:t>𝛼</m:t>
                              </m:r>
                              <m:r>
                                <a:rPr lang="en-US" altLang="zh-CN" sz="2400" i="1" baseline="-25000" dirty="0">
                                  <a:solidFill>
                                    <a:srgbClr val="3333FF"/>
                                  </a:solidFill>
                                  <a:latin typeface="Cambria Math" panose="02040503050406030204" pitchFamily="18" charset="0"/>
                                </a:rPr>
                                <m:t>1</m:t>
                              </m:r>
                              <m:r>
                                <a:rPr lang="zh-CN" altLang="en-US" sz="2400" i="1" dirty="0" smtClean="0">
                                  <a:solidFill>
                                    <a:srgbClr val="3333FF"/>
                                  </a:solidFill>
                                  <a:latin typeface="Cambria Math" panose="02040503050406030204" pitchFamily="18" charset="0"/>
                                </a:rPr>
                                <m:t>𝛽</m:t>
                              </m:r>
                              <m:r>
                                <a:rPr lang="en-US" altLang="zh-CN" sz="2400" i="1" baseline="-25000" dirty="0">
                                  <a:solidFill>
                                    <a:srgbClr val="3333FF"/>
                                  </a:solidFill>
                                  <a:latin typeface="Cambria Math" panose="02040503050406030204" pitchFamily="18" charset="0"/>
                                </a:rPr>
                                <m:t>2</m:t>
                              </m:r>
                              <m:r>
                                <a:rPr lang="en-US" altLang="zh-CN" sz="2400" i="1" dirty="0">
                                  <a:solidFill>
                                    <a:srgbClr val="3333FF"/>
                                  </a:solidFill>
                                  <a:latin typeface="Cambria Math" panose="02040503050406030204" pitchFamily="18" charset="0"/>
                                </a:rPr>
                                <m:t> </m:t>
                              </m:r>
                            </m:oMath>
                          </a14:m>
                          <a:r>
                            <a:rPr lang="en-US" sz="2400" i="0" dirty="0">
                              <a:solidFill>
                                <a:srgbClr val="3333FF"/>
                              </a:solidFill>
                              <a:latin typeface="Calisto MT" panose="02040603050505030304" pitchFamily="18" charset="0"/>
                            </a:rPr>
                            <a:t>,</a:t>
                          </a:r>
                          <a14:m>
                            <m:oMath xmlns:m="http://schemas.openxmlformats.org/officeDocument/2006/math">
                              <m:r>
                                <a:rPr lang="en-US" altLang="zh-CN" sz="2400" b="0" i="0" dirty="0" smtClean="0">
                                  <a:solidFill>
                                    <a:srgbClr val="3333FF"/>
                                  </a:solidFill>
                                  <a:latin typeface="Cambria Math" panose="02040503050406030204" pitchFamily="18" charset="0"/>
                                </a:rPr>
                                <m:t>  </m:t>
                              </m:r>
                              <m:r>
                                <a:rPr lang="zh-CN" altLang="en-US" sz="2400" i="1" dirty="0" smtClean="0">
                                  <a:solidFill>
                                    <a:srgbClr val="3333FF"/>
                                  </a:solidFill>
                                  <a:latin typeface="Cambria Math" panose="02040503050406030204" pitchFamily="18" charset="0"/>
                                </a:rPr>
                                <m:t>𝛽</m:t>
                              </m:r>
                              <m:r>
                                <a:rPr lang="en-US" altLang="zh-CN" sz="2400" i="1" baseline="-25000" dirty="0">
                                  <a:solidFill>
                                    <a:srgbClr val="3333FF"/>
                                  </a:solidFill>
                                  <a:latin typeface="Cambria Math" panose="02040503050406030204" pitchFamily="18" charset="0"/>
                                </a:rPr>
                                <m:t>1</m:t>
                              </m:r>
                              <m:r>
                                <a:rPr lang="zh-CN" altLang="en-US" sz="2400" i="1" dirty="0">
                                  <a:solidFill>
                                    <a:srgbClr val="3333FF"/>
                                  </a:solidFill>
                                  <a:latin typeface="Cambria Math" panose="02040503050406030204" pitchFamily="18" charset="0"/>
                                </a:rPr>
                                <m:t>𝛼</m:t>
                              </m:r>
                              <m:r>
                                <a:rPr lang="en-US" altLang="zh-CN" sz="2400" i="1" baseline="-25000" dirty="0">
                                  <a:solidFill>
                                    <a:srgbClr val="3333FF"/>
                                  </a:solidFill>
                                  <a:latin typeface="Cambria Math" panose="02040503050406030204" pitchFamily="18" charset="0"/>
                                </a:rPr>
                                <m:t>2</m:t>
                              </m:r>
                              <m:r>
                                <a:rPr lang="en-US" altLang="zh-CN" sz="2400" i="1" dirty="0">
                                  <a:solidFill>
                                    <a:srgbClr val="3333FF"/>
                                  </a:solidFill>
                                  <a:latin typeface="Cambria Math" panose="02040503050406030204" pitchFamily="18" charset="0"/>
                                </a:rPr>
                                <m:t> </m:t>
                              </m:r>
                            </m:oMath>
                          </a14:m>
                          <a:endParaRPr lang="en-US" sz="2400" i="1" dirty="0">
                            <a:solidFill>
                              <a:srgbClr val="3333FF"/>
                            </a:solidFill>
                            <a:latin typeface="Calisto MT" panose="02040603050505030304" pitchFamily="18" charset="0"/>
                          </a:endParaRPr>
                        </a:p>
                      </a:txBody>
                      <a:tcPr marL="0" marR="0" marT="0" marB="0">
                        <a:lnL w="12700"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R="116205" indent="0" algn="ctr"/>
                          <a:r>
                            <a:rPr lang="en-US" sz="2400" baseline="0" dirty="0">
                              <a:solidFill>
                                <a:srgbClr val="3333FF"/>
                              </a:solidFill>
                              <a:latin typeface="Calisto MT" panose="02040603050505030304" pitchFamily="18" charset="0"/>
                            </a:rPr>
                            <a:t>           </a:t>
                          </a:r>
                          <a:r>
                            <a:rPr lang="en-US" sz="2400" dirty="0">
                              <a:solidFill>
                                <a:srgbClr val="3333FF"/>
                              </a:solidFill>
                              <a:latin typeface="Calisto MT" panose="02040603050505030304" pitchFamily="18" charset="0"/>
                            </a:rPr>
                            <a:t>0</a:t>
                          </a:r>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1918">
                    <a:tc>
                      <a:txBody>
                        <a:bodyPr/>
                        <a:lstStyle/>
                        <a:p>
                          <a:pPr indent="0" algn="ctr"/>
                          <a14:m>
                            <m:oMathPara xmlns:m="http://schemas.openxmlformats.org/officeDocument/2006/math">
                              <m:oMathParaPr>
                                <m:jc m:val="centerGroup"/>
                              </m:oMathParaPr>
                              <m:oMath xmlns:m="http://schemas.openxmlformats.org/officeDocument/2006/math">
                                <m:r>
                                  <a:rPr lang="zh-CN" altLang="en-US" sz="2400" i="1" dirty="0" smtClean="0">
                                    <a:solidFill>
                                      <a:srgbClr val="3333FF"/>
                                    </a:solidFill>
                                    <a:latin typeface="Cambria Math" panose="02040503050406030204" pitchFamily="18" charset="0"/>
                                  </a:rPr>
                                  <m:t>𝛽</m:t>
                                </m:r>
                                <m:r>
                                  <a:rPr lang="en-US" altLang="zh-CN" sz="2400" i="1" baseline="-25000" dirty="0">
                                    <a:solidFill>
                                      <a:srgbClr val="3333FF"/>
                                    </a:solidFill>
                                    <a:latin typeface="Cambria Math" panose="02040503050406030204" pitchFamily="18" charset="0"/>
                                  </a:rPr>
                                  <m:t>1</m:t>
                                </m:r>
                                <m:r>
                                  <a:rPr lang="zh-CN" altLang="en-US" sz="2400" i="1" dirty="0" smtClean="0">
                                    <a:solidFill>
                                      <a:srgbClr val="3333FF"/>
                                    </a:solidFill>
                                    <a:latin typeface="Cambria Math" panose="02040503050406030204" pitchFamily="18" charset="0"/>
                                  </a:rPr>
                                  <m:t>𝛽</m:t>
                                </m:r>
                                <m:r>
                                  <a:rPr lang="en-US" altLang="zh-CN" sz="2400" i="1" baseline="-25000" dirty="0">
                                    <a:solidFill>
                                      <a:srgbClr val="3333FF"/>
                                    </a:solidFill>
                                    <a:latin typeface="Cambria Math" panose="02040503050406030204" pitchFamily="18" charset="0"/>
                                  </a:rPr>
                                  <m:t>2</m:t>
                                </m:r>
                                <m:r>
                                  <a:rPr lang="en-US" altLang="zh-CN" sz="2400" i="1" dirty="0">
                                    <a:solidFill>
                                      <a:srgbClr val="3333FF"/>
                                    </a:solidFill>
                                    <a:latin typeface="Cambria Math" panose="02040503050406030204" pitchFamily="18" charset="0"/>
                                  </a:rPr>
                                  <m:t> </m:t>
                                </m:r>
                              </m:oMath>
                            </m:oMathPara>
                          </a14:m>
                          <a:endParaRPr lang="en-US" sz="2400" dirty="0">
                            <a:solidFill>
                              <a:srgbClr val="3333FF"/>
                            </a:solidFill>
                            <a:latin typeface="Calisto MT" panose="02040603050505030304" pitchFamily="18" charset="0"/>
                          </a:endParaRPr>
                        </a:p>
                      </a:txBody>
                      <a:tcPr marL="0" marR="0" marT="0" marB="0">
                        <a:lnL w="12700" cap="flat" cmpd="sng" algn="ctr">
                          <a:solidFill>
                            <a:schemeClr val="tx1"/>
                          </a:solidFill>
                          <a:prstDash val="solid"/>
                          <a:round/>
                          <a:headEnd type="none" w="med" len="med"/>
                          <a:tailEnd type="none" w="med" len="me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116205" indent="0" algn="ctr"/>
                          <a:r>
                            <a:rPr lang="en-US" sz="2400" dirty="0">
                              <a:solidFill>
                                <a:srgbClr val="3333FF"/>
                              </a:solidFill>
                              <a:latin typeface="Calisto MT" panose="02040603050505030304" pitchFamily="18" charset="0"/>
                            </a:rPr>
                            <a:t>           -1</a:t>
                          </a:r>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Choice>
        <mc:Fallback>
          <p:graphicFrame>
            <p:nvGraphicFramePr>
              <p:cNvPr id="4" name="表格 3"/>
              <p:cNvGraphicFramePr>
                <a:graphicFrameLocks noGrp="1"/>
              </p:cNvGraphicFramePr>
              <p:nvPr>
                <p:extLst>
                  <p:ext uri="{D42A27DB-BD31-4B8C-83A1-F6EECF244321}">
                    <p14:modId xmlns:p14="http://schemas.microsoft.com/office/powerpoint/2010/main" val="3013840044"/>
                  </p:ext>
                </p:extLst>
              </p:nvPr>
            </p:nvGraphicFramePr>
            <p:xfrm>
              <a:off x="4481130" y="4053849"/>
              <a:ext cx="2934707" cy="1097280"/>
            </p:xfrm>
            <a:graphic>
              <a:graphicData uri="http://schemas.openxmlformats.org/drawingml/2006/table">
                <a:tbl>
                  <a:tblPr/>
                  <a:tblGrid>
                    <a:gridCol w="1654547">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65760">
                    <a:tc>
                      <a:txBody>
                        <a:bodyPr/>
                        <a:lstStyle/>
                        <a:p>
                          <a:endParaRPr lang="zh-CN"/>
                        </a:p>
                      </a:txBody>
                      <a:tcPr marL="0" marR="0" marT="0" marB="0">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blipFill>
                          <a:blip r:embed="rId3"/>
                          <a:stretch>
                            <a:fillRect l="-368" t="-3333" r="-77941" b="-251667"/>
                          </a:stretch>
                        </a:blipFill>
                      </a:tcPr>
                    </a:tc>
                    <a:tc>
                      <a:txBody>
                        <a:bodyPr/>
                        <a:lstStyle/>
                        <a:p>
                          <a:endParaRPr lang="zh-CN"/>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blipFill>
                          <a:blip r:embed="rId3"/>
                          <a:stretch>
                            <a:fillRect l="-130000" t="-3333" r="-952" b="-251667"/>
                          </a:stretch>
                        </a:blipFill>
                      </a:tcPr>
                    </a:tc>
                    <a:extLst>
                      <a:ext uri="{0D108BD9-81ED-4DB2-BD59-A6C34878D82A}">
                        <a16:rowId xmlns:a16="http://schemas.microsoft.com/office/drawing/2014/main" val="10000"/>
                      </a:ext>
                    </a:extLst>
                  </a:tr>
                  <a:tr h="365760">
                    <a:tc>
                      <a:txBody>
                        <a:bodyPr/>
                        <a:lstStyle/>
                        <a:p>
                          <a:endParaRPr lang="zh-CN"/>
                        </a:p>
                      </a:txBody>
                      <a:tcPr marL="0" marR="0" marT="0" marB="0">
                        <a:lnL w="12700" cap="flat" cmpd="sng" algn="ctr">
                          <a:solidFill>
                            <a:schemeClr val="tx1"/>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blipFill>
                          <a:blip r:embed="rId3"/>
                          <a:stretch>
                            <a:fillRect l="-368" t="-101639" r="-77941" b="-147541"/>
                          </a:stretch>
                        </a:blipFill>
                      </a:tcPr>
                    </a:tc>
                    <a:tc>
                      <a:txBody>
                        <a:bodyPr/>
                        <a:lstStyle/>
                        <a:p>
                          <a:pPr marR="116205" indent="0" algn="ctr"/>
                          <a:r>
                            <a:rPr lang="en-US" sz="2400" baseline="0" dirty="0">
                              <a:solidFill>
                                <a:srgbClr val="3333FF"/>
                              </a:solidFill>
                              <a:latin typeface="Calisto MT" panose="02040603050505030304" pitchFamily="18" charset="0"/>
                            </a:rPr>
                            <a:t>           </a:t>
                          </a:r>
                          <a:r>
                            <a:rPr lang="en-US" sz="2400" dirty="0">
                              <a:solidFill>
                                <a:srgbClr val="3333FF"/>
                              </a:solidFill>
                              <a:latin typeface="Calisto MT" panose="02040603050505030304" pitchFamily="18" charset="0"/>
                            </a:rPr>
                            <a:t>0</a:t>
                          </a:r>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5760">
                    <a:tc>
                      <a:txBody>
                        <a:bodyPr/>
                        <a:lstStyle/>
                        <a:p>
                          <a:endParaRPr lang="zh-CN"/>
                        </a:p>
                      </a:txBody>
                      <a:tcPr marL="0" marR="0" marT="0" marB="0">
                        <a:lnL w="12700" cap="flat" cmpd="sng" algn="ctr">
                          <a:solidFill>
                            <a:schemeClr val="tx1"/>
                          </a:solidFill>
                          <a:prstDash val="solid"/>
                          <a:round/>
                          <a:headEnd type="none" w="med" len="med"/>
                          <a:tailEnd type="none" w="med" len="me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68" t="-205000" r="-77941" b="-50000"/>
                          </a:stretch>
                        </a:blipFill>
                      </a:tcPr>
                    </a:tc>
                    <a:tc>
                      <a:txBody>
                        <a:bodyPr/>
                        <a:lstStyle/>
                        <a:p>
                          <a:pPr marR="116205" indent="0" algn="ctr"/>
                          <a:r>
                            <a:rPr lang="en-US" sz="2400" dirty="0">
                              <a:solidFill>
                                <a:srgbClr val="3333FF"/>
                              </a:solidFill>
                              <a:latin typeface="Calisto MT" panose="02040603050505030304" pitchFamily="18" charset="0"/>
                            </a:rPr>
                            <a:t>           -1</a:t>
                          </a:r>
                        </a:p>
                      </a:txBody>
                      <a:tcPr marL="0" marR="0" marT="0" marB="0" anchor="ctr">
                        <a:lnL w="12700" cmpd="sng">
                          <a:noFill/>
                          <a:prstDash val="soli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mc:Fallback>
      </mc:AlternateContent>
      <p:sp>
        <p:nvSpPr>
          <p:cNvPr id="5"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6DE690D-7320-CA30-1528-31B3B0786B52}"/>
              </a:ext>
            </a:extLst>
          </p:cNvPr>
          <p:cNvSpPr txBox="1"/>
          <p:nvPr/>
        </p:nvSpPr>
        <p:spPr>
          <a:xfrm>
            <a:off x="369536" y="5477291"/>
            <a:ext cx="9417963"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对于单个电子，</a:t>
            </a:r>
            <a:r>
              <a:rPr lang="en-US" altLang="zh-CN" sz="2400" dirty="0">
                <a:latin typeface="黑体" panose="02010609060101010101" pitchFamily="49" charset="-122"/>
                <a:ea typeface="黑体" panose="02010609060101010101" pitchFamily="49" charset="-122"/>
              </a:rPr>
              <a:t>S</a:t>
            </a:r>
            <a:r>
              <a:rPr lang="en-US" altLang="zh-CN" sz="2400" baseline="-25000" dirty="0">
                <a:latin typeface="黑体" panose="02010609060101010101" pitchFamily="49" charset="-122"/>
                <a:ea typeface="黑体" panose="02010609060101010101" pitchFamily="49" charset="-122"/>
              </a:rPr>
              <a:t>Z</a:t>
            </a:r>
            <a:r>
              <a:rPr lang="zh-CN" altLang="en-US" sz="2400" dirty="0">
                <a:latin typeface="黑体" panose="02010609060101010101" pitchFamily="49" charset="-122"/>
                <a:ea typeface="黑体" panose="02010609060101010101" pitchFamily="49" charset="-122"/>
              </a:rPr>
              <a:t>足以确定状态，但如何确定多个电子体系的自旋？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Line 2"/>
          <p:cNvSpPr>
            <a:spLocks noChangeShapeType="1"/>
          </p:cNvSpPr>
          <p:nvPr/>
        </p:nvSpPr>
        <p:spPr bwMode="auto">
          <a:xfrm flipV="1">
            <a:off x="65283"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3" name="矩形 2"/>
          <p:cNvSpPr/>
          <p:nvPr/>
        </p:nvSpPr>
        <p:spPr>
          <a:xfrm>
            <a:off x="4588365" y="241651"/>
            <a:ext cx="2739789" cy="523220"/>
          </a:xfrm>
          <a:prstGeom prst="rect">
            <a:avLst/>
          </a:prstGeom>
        </p:spPr>
        <p:txBody>
          <a:bodyPr wrap="none">
            <a:spAutoFit/>
          </a:bodyPr>
          <a:lstStyle/>
          <a:p>
            <a:r>
              <a:rPr lang="en-US" altLang="zh-CN" sz="2800" b="1" dirty="0">
                <a:solidFill>
                  <a:prstClr val="black"/>
                </a:solidFill>
                <a:latin typeface="Times New Roman" panose="02020603050405020304" pitchFamily="18" charset="0"/>
                <a:cs typeface="Times New Roman" panose="02020603050405020304" pitchFamily="18" charset="0"/>
              </a:rPr>
              <a:t>Ladder operator</a:t>
            </a:r>
          </a:p>
        </p:txBody>
      </p:sp>
      <p:sp>
        <p:nvSpPr>
          <p:cNvPr id="20" name="矩形 19"/>
          <p:cNvSpPr/>
          <p:nvPr/>
        </p:nvSpPr>
        <p:spPr>
          <a:xfrm>
            <a:off x="1445939" y="2144585"/>
            <a:ext cx="4418965" cy="355790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矩形 20"/>
          <p:cNvSpPr/>
          <p:nvPr/>
        </p:nvSpPr>
        <p:spPr>
          <a:xfrm>
            <a:off x="430229" y="1029781"/>
            <a:ext cx="10671142" cy="830997"/>
          </a:xfrm>
          <a:prstGeom prst="rect">
            <a:avLst/>
          </a:prstGeom>
        </p:spPr>
        <p:txBody>
          <a:bodyPr wrap="square">
            <a:spAutoFit/>
          </a:bodyPr>
          <a:lstStyle/>
          <a:p>
            <a:pPr fontAlgn="base">
              <a:spcBef>
                <a:spcPct val="0"/>
              </a:spcBef>
              <a:spcAft>
                <a:spcPct val="0"/>
              </a:spcAft>
            </a:pPr>
            <a:r>
              <a:rPr lang="en-US" altLang="zh-CN" sz="2400" dirty="0">
                <a:solidFill>
                  <a:srgbClr val="000000"/>
                </a:solidFill>
                <a:latin typeface="Times New Roman" panose="02020603050405020304" pitchFamily="18" charset="0"/>
                <a:cs typeface="Times New Roman" panose="02020603050405020304" pitchFamily="18" charset="0"/>
              </a:rPr>
              <a:t>Orbital angular momentum and spin angular momentum have common mathematical properties that are not dependent on a coordinate representation</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29" name="TextBox 3"/>
          <p:cNvSpPr txBox="1"/>
          <p:nvPr/>
        </p:nvSpPr>
        <p:spPr>
          <a:xfrm>
            <a:off x="9178086" y="3098748"/>
            <a:ext cx="1114408" cy="707886"/>
          </a:xfrm>
          <a:prstGeom prst="rect">
            <a:avLst/>
          </a:prstGeom>
          <a:noFill/>
        </p:spPr>
        <p:txBody>
          <a:bodyPr wrap="none" rtlCol="0">
            <a:spAutoFit/>
          </a:bodyPr>
          <a:lstStyle/>
          <a:p>
            <a:pPr fontAlgn="base">
              <a:spcBef>
                <a:spcPct val="0"/>
              </a:spcBef>
              <a:spcAft>
                <a:spcPct val="0"/>
              </a:spcAft>
            </a:pPr>
            <a:r>
              <a:rPr lang="en-US" altLang="zh-CN" sz="2000" i="1" dirty="0">
                <a:solidFill>
                  <a:srgbClr val="000000"/>
                </a:solidFill>
                <a:latin typeface="Times New Roman" panose="02020603050405020304" pitchFamily="18" charset="0"/>
                <a:cs typeface="Times New Roman" panose="02020603050405020304" pitchFamily="18" charset="0"/>
              </a:rPr>
              <a:t>S</a:t>
            </a:r>
            <a:r>
              <a:rPr lang="en-US" altLang="zh-CN" sz="2000" dirty="0">
                <a:solidFill>
                  <a:srgbClr val="000000"/>
                </a:solidFill>
                <a:latin typeface="Times New Roman" panose="02020603050405020304" pitchFamily="18" charset="0"/>
                <a:cs typeface="Times New Roman" panose="02020603050405020304" pitchFamily="18" charset="0"/>
              </a:rPr>
              <a:t> =  1/2</a:t>
            </a:r>
          </a:p>
          <a:p>
            <a:pPr fontAlgn="base">
              <a:spcBef>
                <a:spcPct val="0"/>
              </a:spcBef>
              <a:spcAft>
                <a:spcPct val="0"/>
              </a:spcAft>
            </a:pPr>
            <a:r>
              <a:rPr lang="en-US" altLang="zh-CN" sz="2000" i="1" dirty="0" err="1">
                <a:solidFill>
                  <a:srgbClr val="000000"/>
                </a:solidFill>
                <a:latin typeface="Times New Roman" panose="02020603050405020304" pitchFamily="18" charset="0"/>
                <a:cs typeface="Times New Roman" panose="02020603050405020304" pitchFamily="18" charset="0"/>
              </a:rPr>
              <a:t>m</a:t>
            </a:r>
            <a:r>
              <a:rPr lang="en-US" altLang="zh-CN" sz="2000" i="1" baseline="-25000" dirty="0" err="1">
                <a:solidFill>
                  <a:srgbClr val="000000"/>
                </a:solidFill>
                <a:latin typeface="Times New Roman" panose="02020603050405020304" pitchFamily="18" charset="0"/>
                <a:cs typeface="Times New Roman" panose="02020603050405020304" pitchFamily="18" charset="0"/>
              </a:rPr>
              <a:t>s</a:t>
            </a:r>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a:rPr>
              <a:t></a:t>
            </a:r>
            <a:r>
              <a:rPr lang="en-US" altLang="zh-CN" sz="2000" dirty="0">
                <a:solidFill>
                  <a:srgbClr val="000000"/>
                </a:solidFill>
                <a:latin typeface="Times New Roman" panose="02020603050405020304" pitchFamily="18" charset="0"/>
                <a:cs typeface="Times New Roman" panose="02020603050405020304" pitchFamily="18" charset="0"/>
              </a:rPr>
              <a:t>1/2</a:t>
            </a:r>
            <a:endParaRPr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31" name="矩形 30"/>
          <p:cNvSpPr/>
          <p:nvPr/>
        </p:nvSpPr>
        <p:spPr>
          <a:xfrm>
            <a:off x="5958884" y="2144586"/>
            <a:ext cx="4418965" cy="35579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aphicFrame>
        <p:nvGraphicFramePr>
          <p:cNvPr id="2" name="对象 1">
            <a:hlinkClick r:id="" action="ppaction://ole?verb=0"/>
          </p:cNvPr>
          <p:cNvGraphicFramePr>
            <a:graphicFrameLocks noChangeAspect="1"/>
          </p:cNvGraphicFramePr>
          <p:nvPr>
            <p:extLst>
              <p:ext uri="{D42A27DB-BD31-4B8C-83A1-F6EECF244321}">
                <p14:modId xmlns:p14="http://schemas.microsoft.com/office/powerpoint/2010/main" val="740416784"/>
              </p:ext>
            </p:extLst>
          </p:nvPr>
        </p:nvGraphicFramePr>
        <p:xfrm>
          <a:off x="1875199" y="2232850"/>
          <a:ext cx="564515" cy="490855"/>
        </p:xfrm>
        <a:graphic>
          <a:graphicData uri="http://schemas.openxmlformats.org/presentationml/2006/ole">
            <mc:AlternateContent xmlns:mc="http://schemas.openxmlformats.org/markup-compatibility/2006">
              <mc:Choice xmlns:v="urn:schemas-microsoft-com:vml" Requires="v">
                <p:oleObj r:id="rId2" imgW="292100" imgH="254000" progId="Equation.KSEE3">
                  <p:embed/>
                </p:oleObj>
              </mc:Choice>
              <mc:Fallback>
                <p:oleObj r:id="rId2" imgW="292100" imgH="254000" progId="Equation.KSEE3">
                  <p:embed/>
                  <p:pic>
                    <p:nvPicPr>
                      <p:cNvPr id="2" name="对象 1">
                        <a:hlinkClick r:id="" action="ppaction://ole?verb=0"/>
                      </p:cNvPr>
                      <p:cNvPicPr/>
                      <p:nvPr/>
                    </p:nvPicPr>
                    <p:blipFill>
                      <a:blip r:embed="rId3"/>
                      <a:stretch>
                        <a:fillRect/>
                      </a:stretch>
                    </p:blipFill>
                    <p:spPr>
                      <a:xfrm>
                        <a:off x="1875199" y="2232850"/>
                        <a:ext cx="564515" cy="490855"/>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extLst>
              <p:ext uri="{D42A27DB-BD31-4B8C-83A1-F6EECF244321}">
                <p14:modId xmlns:p14="http://schemas.microsoft.com/office/powerpoint/2010/main" val="3811784967"/>
              </p:ext>
            </p:extLst>
          </p:nvPr>
        </p:nvGraphicFramePr>
        <p:xfrm>
          <a:off x="2516549" y="2232533"/>
          <a:ext cx="1054735" cy="441960"/>
        </p:xfrm>
        <a:graphic>
          <a:graphicData uri="http://schemas.openxmlformats.org/presentationml/2006/ole">
            <mc:AlternateContent xmlns:mc="http://schemas.openxmlformats.org/markup-compatibility/2006">
              <mc:Choice xmlns:v="urn:schemas-microsoft-com:vml" Requires="v">
                <p:oleObj r:id="rId4" imgW="545465" imgH="228600" progId="Equation.KSEE3">
                  <p:embed/>
                </p:oleObj>
              </mc:Choice>
              <mc:Fallback>
                <p:oleObj r:id="rId4" imgW="545465" imgH="228600" progId="Equation.KSEE3">
                  <p:embed/>
                  <p:pic>
                    <p:nvPicPr>
                      <p:cNvPr id="4" name="对象 3">
                        <a:hlinkClick r:id="" action="ppaction://ole?verb=0"/>
                      </p:cNvPr>
                      <p:cNvPicPr/>
                      <p:nvPr/>
                    </p:nvPicPr>
                    <p:blipFill>
                      <a:blip r:embed="rId5"/>
                      <a:stretch>
                        <a:fillRect/>
                      </a:stretch>
                    </p:blipFill>
                    <p:spPr>
                      <a:xfrm>
                        <a:off x="2516549" y="2232533"/>
                        <a:ext cx="1054735" cy="441960"/>
                      </a:xfrm>
                      <a:prstGeom prst="rect">
                        <a:avLst/>
                      </a:prstGeom>
                    </p:spPr>
                  </p:pic>
                </p:oleObj>
              </mc:Fallback>
            </mc:AlternateContent>
          </a:graphicData>
        </a:graphic>
      </p:graphicFrame>
      <p:graphicFrame>
        <p:nvGraphicFramePr>
          <p:cNvPr id="6" name="对象 5">
            <a:hlinkClick r:id="" action="ppaction://ole?verb=0"/>
          </p:cNvPr>
          <p:cNvGraphicFramePr>
            <a:graphicFrameLocks noChangeAspect="1"/>
          </p:cNvGraphicFramePr>
          <p:nvPr>
            <p:extLst>
              <p:ext uri="{D42A27DB-BD31-4B8C-83A1-F6EECF244321}">
                <p14:modId xmlns:p14="http://schemas.microsoft.com/office/powerpoint/2010/main" val="2790424322"/>
              </p:ext>
            </p:extLst>
          </p:nvPr>
        </p:nvGraphicFramePr>
        <p:xfrm>
          <a:off x="1874882" y="2936748"/>
          <a:ext cx="2602230" cy="1031240"/>
        </p:xfrm>
        <a:graphic>
          <a:graphicData uri="http://schemas.openxmlformats.org/presentationml/2006/ole">
            <mc:AlternateContent xmlns:mc="http://schemas.openxmlformats.org/markup-compatibility/2006">
              <mc:Choice xmlns:v="urn:schemas-microsoft-com:vml" Requires="v">
                <p:oleObj r:id="rId6" imgW="1346200" imgH="533400" progId="Equation.KSEE3">
                  <p:embed/>
                </p:oleObj>
              </mc:Choice>
              <mc:Fallback>
                <p:oleObj r:id="rId6" imgW="1346200" imgH="533400" progId="Equation.KSEE3">
                  <p:embed/>
                  <p:pic>
                    <p:nvPicPr>
                      <p:cNvPr id="6" name="对象 5">
                        <a:hlinkClick r:id="" action="ppaction://ole?verb=0"/>
                      </p:cNvPr>
                      <p:cNvPicPr/>
                      <p:nvPr/>
                    </p:nvPicPr>
                    <p:blipFill>
                      <a:blip r:embed="rId7"/>
                      <a:stretch>
                        <a:fillRect/>
                      </a:stretch>
                    </p:blipFill>
                    <p:spPr>
                      <a:xfrm>
                        <a:off x="1874882" y="2936748"/>
                        <a:ext cx="2602230" cy="1031240"/>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extLst>
              <p:ext uri="{D42A27DB-BD31-4B8C-83A1-F6EECF244321}">
                <p14:modId xmlns:p14="http://schemas.microsoft.com/office/powerpoint/2010/main" val="492275718"/>
              </p:ext>
            </p:extLst>
          </p:nvPr>
        </p:nvGraphicFramePr>
        <p:xfrm>
          <a:off x="1874882" y="4066413"/>
          <a:ext cx="3167380" cy="441960"/>
        </p:xfrm>
        <a:graphic>
          <a:graphicData uri="http://schemas.openxmlformats.org/presentationml/2006/ole">
            <mc:AlternateContent xmlns:mc="http://schemas.openxmlformats.org/markup-compatibility/2006">
              <mc:Choice xmlns:v="urn:schemas-microsoft-com:vml" Requires="v">
                <p:oleObj r:id="rId8" imgW="1638300" imgH="228600" progId="Equation.KSEE3">
                  <p:embed/>
                </p:oleObj>
              </mc:Choice>
              <mc:Fallback>
                <p:oleObj r:id="rId8" imgW="1638300" imgH="228600" progId="Equation.KSEE3">
                  <p:embed/>
                  <p:pic>
                    <p:nvPicPr>
                      <p:cNvPr id="8" name="对象 7">
                        <a:hlinkClick r:id="" action="ppaction://ole?verb=0"/>
                      </p:cNvPr>
                      <p:cNvPicPr/>
                      <p:nvPr/>
                    </p:nvPicPr>
                    <p:blipFill>
                      <a:blip r:embed="rId9"/>
                      <a:stretch>
                        <a:fillRect/>
                      </a:stretch>
                    </p:blipFill>
                    <p:spPr>
                      <a:xfrm>
                        <a:off x="1874882" y="4066413"/>
                        <a:ext cx="3167380" cy="441960"/>
                      </a:xfrm>
                      <a:prstGeom prst="rect">
                        <a:avLst/>
                      </a:prstGeom>
                    </p:spPr>
                  </p:pic>
                </p:oleObj>
              </mc:Fallback>
            </mc:AlternateContent>
          </a:graphicData>
        </a:graphic>
      </p:graphicFrame>
      <p:graphicFrame>
        <p:nvGraphicFramePr>
          <p:cNvPr id="10" name="对象 9">
            <a:hlinkClick r:id="" action="ppaction://ole?verb=0"/>
          </p:cNvPr>
          <p:cNvGraphicFramePr>
            <a:graphicFrameLocks noChangeAspect="1"/>
          </p:cNvGraphicFramePr>
          <p:nvPr>
            <p:extLst>
              <p:ext uri="{D42A27DB-BD31-4B8C-83A1-F6EECF244321}">
                <p14:modId xmlns:p14="http://schemas.microsoft.com/office/powerpoint/2010/main" val="560406788"/>
              </p:ext>
            </p:extLst>
          </p:nvPr>
        </p:nvGraphicFramePr>
        <p:xfrm>
          <a:off x="1875199" y="4621086"/>
          <a:ext cx="1571625" cy="1081405"/>
        </p:xfrm>
        <a:graphic>
          <a:graphicData uri="http://schemas.openxmlformats.org/presentationml/2006/ole">
            <mc:AlternateContent xmlns:mc="http://schemas.openxmlformats.org/markup-compatibility/2006">
              <mc:Choice xmlns:v="urn:schemas-microsoft-com:vml" Requires="v">
                <p:oleObj r:id="rId10" imgW="812800" imgH="558800" progId="Equation.KSEE3">
                  <p:embed/>
                </p:oleObj>
              </mc:Choice>
              <mc:Fallback>
                <p:oleObj r:id="rId10" imgW="812800" imgH="558800" progId="Equation.KSEE3">
                  <p:embed/>
                  <p:pic>
                    <p:nvPicPr>
                      <p:cNvPr id="10" name="对象 9">
                        <a:hlinkClick r:id="" action="ppaction://ole?verb=0"/>
                      </p:cNvPr>
                      <p:cNvPicPr/>
                      <p:nvPr/>
                    </p:nvPicPr>
                    <p:blipFill>
                      <a:blip r:embed="rId11"/>
                      <a:stretch>
                        <a:fillRect/>
                      </a:stretch>
                    </p:blipFill>
                    <p:spPr>
                      <a:xfrm>
                        <a:off x="1875199" y="4621086"/>
                        <a:ext cx="1571625" cy="1081405"/>
                      </a:xfrm>
                      <a:prstGeom prst="rect">
                        <a:avLst/>
                      </a:prstGeom>
                    </p:spPr>
                  </p:pic>
                </p:oleObj>
              </mc:Fallback>
            </mc:AlternateContent>
          </a:graphicData>
        </a:graphic>
      </p:graphicFrame>
      <p:graphicFrame>
        <p:nvGraphicFramePr>
          <p:cNvPr id="12" name="对象 11">
            <a:hlinkClick r:id="" action="ppaction://ole?verb=0"/>
          </p:cNvPr>
          <p:cNvGraphicFramePr>
            <a:graphicFrameLocks noChangeAspect="1"/>
          </p:cNvGraphicFramePr>
          <p:nvPr>
            <p:extLst>
              <p:ext uri="{D42A27DB-BD31-4B8C-83A1-F6EECF244321}">
                <p14:modId xmlns:p14="http://schemas.microsoft.com/office/powerpoint/2010/main" val="122712032"/>
              </p:ext>
            </p:extLst>
          </p:nvPr>
        </p:nvGraphicFramePr>
        <p:xfrm>
          <a:off x="6423704" y="2232850"/>
          <a:ext cx="711835" cy="490855"/>
        </p:xfrm>
        <a:graphic>
          <a:graphicData uri="http://schemas.openxmlformats.org/presentationml/2006/ole">
            <mc:AlternateContent xmlns:mc="http://schemas.openxmlformats.org/markup-compatibility/2006">
              <mc:Choice xmlns:v="urn:schemas-microsoft-com:vml" Requires="v">
                <p:oleObj r:id="rId12" imgW="368300" imgH="254000" progId="Equation.KSEE3">
                  <p:embed/>
                </p:oleObj>
              </mc:Choice>
              <mc:Fallback>
                <p:oleObj r:id="rId12" imgW="368300" imgH="254000" progId="Equation.KSEE3">
                  <p:embed/>
                  <p:pic>
                    <p:nvPicPr>
                      <p:cNvPr id="12" name="对象 11">
                        <a:hlinkClick r:id="" action="ppaction://ole?verb=0"/>
                      </p:cNvPr>
                      <p:cNvPicPr/>
                      <p:nvPr/>
                    </p:nvPicPr>
                    <p:blipFill>
                      <a:blip r:embed="rId13"/>
                      <a:stretch>
                        <a:fillRect/>
                      </a:stretch>
                    </p:blipFill>
                    <p:spPr>
                      <a:xfrm>
                        <a:off x="6423704" y="2232850"/>
                        <a:ext cx="711835" cy="490855"/>
                      </a:xfrm>
                      <a:prstGeom prst="rect">
                        <a:avLst/>
                      </a:prstGeom>
                    </p:spPr>
                  </p:pic>
                </p:oleObj>
              </mc:Fallback>
            </mc:AlternateContent>
          </a:graphicData>
        </a:graphic>
      </p:graphicFrame>
      <p:graphicFrame>
        <p:nvGraphicFramePr>
          <p:cNvPr id="14" name="对象 13">
            <a:hlinkClick r:id="" action="ppaction://ole?verb=0"/>
          </p:cNvPr>
          <p:cNvGraphicFramePr>
            <a:graphicFrameLocks noChangeAspect="1"/>
          </p:cNvGraphicFramePr>
          <p:nvPr>
            <p:extLst>
              <p:ext uri="{D42A27DB-BD31-4B8C-83A1-F6EECF244321}">
                <p14:modId xmlns:p14="http://schemas.microsoft.com/office/powerpoint/2010/main" val="1491811969"/>
              </p:ext>
            </p:extLst>
          </p:nvPr>
        </p:nvGraphicFramePr>
        <p:xfrm>
          <a:off x="6067787" y="2937066"/>
          <a:ext cx="2994660" cy="982345"/>
        </p:xfrm>
        <a:graphic>
          <a:graphicData uri="http://schemas.openxmlformats.org/presentationml/2006/ole">
            <mc:AlternateContent xmlns:mc="http://schemas.openxmlformats.org/markup-compatibility/2006">
              <mc:Choice xmlns:v="urn:schemas-microsoft-com:vml" Requires="v">
                <p:oleObj r:id="rId14" imgW="1548765" imgH="508000" progId="Equation.KSEE3">
                  <p:embed/>
                </p:oleObj>
              </mc:Choice>
              <mc:Fallback>
                <p:oleObj r:id="rId14" imgW="1548765" imgH="508000" progId="Equation.KSEE3">
                  <p:embed/>
                  <p:pic>
                    <p:nvPicPr>
                      <p:cNvPr id="14" name="对象 13">
                        <a:hlinkClick r:id="" action="ppaction://ole?verb=0"/>
                      </p:cNvPr>
                      <p:cNvPicPr/>
                      <p:nvPr/>
                    </p:nvPicPr>
                    <p:blipFill>
                      <a:blip r:embed="rId15"/>
                      <a:stretch>
                        <a:fillRect/>
                      </a:stretch>
                    </p:blipFill>
                    <p:spPr>
                      <a:xfrm>
                        <a:off x="6067787" y="2937066"/>
                        <a:ext cx="2994660" cy="982345"/>
                      </a:xfrm>
                      <a:prstGeom prst="rect">
                        <a:avLst/>
                      </a:prstGeom>
                    </p:spPr>
                  </p:pic>
                </p:oleObj>
              </mc:Fallback>
            </mc:AlternateContent>
          </a:graphicData>
        </a:graphic>
      </p:graphicFrame>
      <p:graphicFrame>
        <p:nvGraphicFramePr>
          <p:cNvPr id="16" name="对象 15">
            <a:hlinkClick r:id="" action="ppaction://ole?verb=0"/>
          </p:cNvPr>
          <p:cNvGraphicFramePr>
            <a:graphicFrameLocks noChangeAspect="1"/>
          </p:cNvGraphicFramePr>
          <p:nvPr>
            <p:extLst>
              <p:ext uri="{D42A27DB-BD31-4B8C-83A1-F6EECF244321}">
                <p14:modId xmlns:p14="http://schemas.microsoft.com/office/powerpoint/2010/main" val="2657243402"/>
              </p:ext>
            </p:extLst>
          </p:nvPr>
        </p:nvGraphicFramePr>
        <p:xfrm>
          <a:off x="6254024" y="4526741"/>
          <a:ext cx="1571625" cy="1081405"/>
        </p:xfrm>
        <a:graphic>
          <a:graphicData uri="http://schemas.openxmlformats.org/presentationml/2006/ole">
            <mc:AlternateContent xmlns:mc="http://schemas.openxmlformats.org/markup-compatibility/2006">
              <mc:Choice xmlns:v="urn:schemas-microsoft-com:vml" Requires="v">
                <p:oleObj r:id="rId16" imgW="812800" imgH="558800" progId="Equation.KSEE3">
                  <p:embed/>
                </p:oleObj>
              </mc:Choice>
              <mc:Fallback>
                <p:oleObj r:id="rId16" imgW="812800" imgH="558800" progId="Equation.KSEE3">
                  <p:embed/>
                  <p:pic>
                    <p:nvPicPr>
                      <p:cNvPr id="16" name="对象 15">
                        <a:hlinkClick r:id="" action="ppaction://ole?verb=0"/>
                      </p:cNvPr>
                      <p:cNvPicPr/>
                      <p:nvPr/>
                    </p:nvPicPr>
                    <p:blipFill>
                      <a:blip r:embed="rId17"/>
                      <a:stretch>
                        <a:fillRect/>
                      </a:stretch>
                    </p:blipFill>
                    <p:spPr>
                      <a:xfrm>
                        <a:off x="6254024" y="4526741"/>
                        <a:ext cx="1571625" cy="1081405"/>
                      </a:xfrm>
                      <a:prstGeom prst="rect">
                        <a:avLst/>
                      </a:prstGeom>
                    </p:spPr>
                  </p:pic>
                </p:oleObj>
              </mc:Fallback>
            </mc:AlternateContent>
          </a:graphicData>
        </a:graphic>
      </p:graphicFrame>
    </p:spTree>
    <p:extLst>
      <p:ext uri="{BB962C8B-B14F-4D97-AF65-F5344CB8AC3E}">
        <p14:creationId xmlns:p14="http://schemas.microsoft.com/office/powerpoint/2010/main" val="4047056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a:extLst>
              <a:ext uri="{FF2B5EF4-FFF2-40B4-BE49-F238E27FC236}">
                <a16:creationId xmlns:a16="http://schemas.microsoft.com/office/drawing/2014/main" id="{1BDEA746-4917-4E1F-B5AB-660CA4103D37}"/>
              </a:ext>
            </a:extLst>
          </p:cNvPr>
          <p:cNvGraphicFramePr>
            <a:graphicFrameLocks noChangeAspect="1"/>
          </p:cNvGraphicFramePr>
          <p:nvPr>
            <p:extLst>
              <p:ext uri="{D42A27DB-BD31-4B8C-83A1-F6EECF244321}">
                <p14:modId xmlns:p14="http://schemas.microsoft.com/office/powerpoint/2010/main" val="2131406901"/>
              </p:ext>
            </p:extLst>
          </p:nvPr>
        </p:nvGraphicFramePr>
        <p:xfrm>
          <a:off x="5006152" y="1275681"/>
          <a:ext cx="1554162" cy="635000"/>
        </p:xfrm>
        <a:graphic>
          <a:graphicData uri="http://schemas.openxmlformats.org/presentationml/2006/ole">
            <mc:AlternateContent xmlns:mc="http://schemas.openxmlformats.org/markup-compatibility/2006">
              <mc:Choice xmlns:v="urn:schemas-microsoft-com:vml" Requires="v">
                <p:oleObj name="Equation" r:id="rId2" imgW="14935200" imgH="6096000" progId="Equation.DSMT4">
                  <p:embed/>
                </p:oleObj>
              </mc:Choice>
              <mc:Fallback>
                <p:oleObj name="Equation" r:id="rId2" imgW="14935200" imgH="6096000" progId="Equation.DSMT4">
                  <p:embed/>
                  <p:pic>
                    <p:nvPicPr>
                      <p:cNvPr id="10" name="对象 9">
                        <a:extLst>
                          <a:ext uri="{FF2B5EF4-FFF2-40B4-BE49-F238E27FC236}">
                            <a16:creationId xmlns:a16="http://schemas.microsoft.com/office/drawing/2014/main" id="{1BDEA746-4917-4E1F-B5AB-660CA4103D37}"/>
                          </a:ext>
                        </a:extLst>
                      </p:cNvPr>
                      <p:cNvPicPr>
                        <a:picLocks noChangeAspect="1" noChangeArrowheads="1"/>
                      </p:cNvPicPr>
                      <p:nvPr/>
                    </p:nvPicPr>
                    <p:blipFill>
                      <a:blip r:embed="rId3"/>
                      <a:srcRect/>
                      <a:stretch>
                        <a:fillRect/>
                      </a:stretch>
                    </p:blipFill>
                    <p:spPr bwMode="auto">
                      <a:xfrm>
                        <a:off x="5006152" y="1275681"/>
                        <a:ext cx="1554162"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对象 10">
            <a:extLst>
              <a:ext uri="{FF2B5EF4-FFF2-40B4-BE49-F238E27FC236}">
                <a16:creationId xmlns:a16="http://schemas.microsoft.com/office/drawing/2014/main" id="{CC4B1FF4-B195-40E9-BB6C-CE9B519A2253}"/>
              </a:ext>
            </a:extLst>
          </p:cNvPr>
          <p:cNvGraphicFramePr>
            <a:graphicFrameLocks noChangeAspect="1"/>
          </p:cNvGraphicFramePr>
          <p:nvPr>
            <p:extLst>
              <p:ext uri="{D42A27DB-BD31-4B8C-83A1-F6EECF244321}">
                <p14:modId xmlns:p14="http://schemas.microsoft.com/office/powerpoint/2010/main" val="501444032"/>
              </p:ext>
            </p:extLst>
          </p:nvPr>
        </p:nvGraphicFramePr>
        <p:xfrm>
          <a:off x="5007739" y="600993"/>
          <a:ext cx="1587500" cy="633413"/>
        </p:xfrm>
        <a:graphic>
          <a:graphicData uri="http://schemas.openxmlformats.org/presentationml/2006/ole">
            <mc:AlternateContent xmlns:mc="http://schemas.openxmlformats.org/markup-compatibility/2006">
              <mc:Choice xmlns:v="urn:schemas-microsoft-com:vml" Requires="v">
                <p:oleObj name="Equation" r:id="rId4" imgW="15240000" imgH="6096000" progId="Equation.DSMT4">
                  <p:embed/>
                </p:oleObj>
              </mc:Choice>
              <mc:Fallback>
                <p:oleObj name="Equation" r:id="rId4" imgW="15240000" imgH="6096000" progId="Equation.DSMT4">
                  <p:embed/>
                  <p:pic>
                    <p:nvPicPr>
                      <p:cNvPr id="11" name="对象 10">
                        <a:extLst>
                          <a:ext uri="{FF2B5EF4-FFF2-40B4-BE49-F238E27FC236}">
                            <a16:creationId xmlns:a16="http://schemas.microsoft.com/office/drawing/2014/main" id="{CC4B1FF4-B195-40E9-BB6C-CE9B519A2253}"/>
                          </a:ext>
                        </a:extLst>
                      </p:cNvPr>
                      <p:cNvPicPr>
                        <a:picLocks noChangeAspect="1" noChangeArrowheads="1"/>
                      </p:cNvPicPr>
                      <p:nvPr/>
                    </p:nvPicPr>
                    <p:blipFill>
                      <a:blip r:embed="rId5"/>
                      <a:srcRect/>
                      <a:stretch>
                        <a:fillRect/>
                      </a:stretch>
                    </p:blipFill>
                    <p:spPr bwMode="auto">
                      <a:xfrm>
                        <a:off x="5007739" y="600993"/>
                        <a:ext cx="1587500"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对象 11">
            <a:extLst>
              <a:ext uri="{FF2B5EF4-FFF2-40B4-BE49-F238E27FC236}">
                <a16:creationId xmlns:a16="http://schemas.microsoft.com/office/drawing/2014/main" id="{1BDF55E9-49D0-4B33-BEFC-07B7FBE22F3F}"/>
              </a:ext>
            </a:extLst>
          </p:cNvPr>
          <p:cNvGraphicFramePr>
            <a:graphicFrameLocks noChangeAspect="1"/>
          </p:cNvGraphicFramePr>
          <p:nvPr>
            <p:extLst>
              <p:ext uri="{D42A27DB-BD31-4B8C-83A1-F6EECF244321}">
                <p14:modId xmlns:p14="http://schemas.microsoft.com/office/powerpoint/2010/main" val="2027499486"/>
              </p:ext>
            </p:extLst>
          </p:nvPr>
        </p:nvGraphicFramePr>
        <p:xfrm>
          <a:off x="5006152" y="2056929"/>
          <a:ext cx="1301750" cy="635000"/>
        </p:xfrm>
        <a:graphic>
          <a:graphicData uri="http://schemas.openxmlformats.org/presentationml/2006/ole">
            <mc:AlternateContent xmlns:mc="http://schemas.openxmlformats.org/markup-compatibility/2006">
              <mc:Choice xmlns:v="urn:schemas-microsoft-com:vml" Requires="v">
                <p:oleObj name="Equation" r:id="rId6" imgW="12496800" imgH="6096000" progId="Equation.DSMT4">
                  <p:embed/>
                </p:oleObj>
              </mc:Choice>
              <mc:Fallback>
                <p:oleObj name="Equation" r:id="rId6" imgW="12496800" imgH="6096000" progId="Equation.DSMT4">
                  <p:embed/>
                  <p:pic>
                    <p:nvPicPr>
                      <p:cNvPr id="12" name="对象 11">
                        <a:extLst>
                          <a:ext uri="{FF2B5EF4-FFF2-40B4-BE49-F238E27FC236}">
                            <a16:creationId xmlns:a16="http://schemas.microsoft.com/office/drawing/2014/main" id="{1BDF55E9-49D0-4B33-BEFC-07B7FBE22F3F}"/>
                          </a:ext>
                        </a:extLst>
                      </p:cNvPr>
                      <p:cNvPicPr>
                        <a:picLocks noChangeAspect="1" noChangeArrowheads="1"/>
                      </p:cNvPicPr>
                      <p:nvPr/>
                    </p:nvPicPr>
                    <p:blipFill>
                      <a:blip r:embed="rId7"/>
                      <a:srcRect/>
                      <a:stretch>
                        <a:fillRect/>
                      </a:stretch>
                    </p:blipFill>
                    <p:spPr bwMode="auto">
                      <a:xfrm>
                        <a:off x="5006152" y="2056929"/>
                        <a:ext cx="130175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对象 12">
            <a:extLst>
              <a:ext uri="{FF2B5EF4-FFF2-40B4-BE49-F238E27FC236}">
                <a16:creationId xmlns:a16="http://schemas.microsoft.com/office/drawing/2014/main" id="{D6D89577-B6F0-4FFB-99A7-F56165D33CE1}"/>
              </a:ext>
            </a:extLst>
          </p:cNvPr>
          <p:cNvGraphicFramePr>
            <a:graphicFrameLocks noChangeAspect="1"/>
          </p:cNvGraphicFramePr>
          <p:nvPr>
            <p:extLst>
              <p:ext uri="{D42A27DB-BD31-4B8C-83A1-F6EECF244321}">
                <p14:modId xmlns:p14="http://schemas.microsoft.com/office/powerpoint/2010/main" val="3508927629"/>
              </p:ext>
            </p:extLst>
          </p:nvPr>
        </p:nvGraphicFramePr>
        <p:xfrm>
          <a:off x="5006152" y="2838177"/>
          <a:ext cx="1301750" cy="635000"/>
        </p:xfrm>
        <a:graphic>
          <a:graphicData uri="http://schemas.openxmlformats.org/presentationml/2006/ole">
            <mc:AlternateContent xmlns:mc="http://schemas.openxmlformats.org/markup-compatibility/2006">
              <mc:Choice xmlns:v="urn:schemas-microsoft-com:vml" Requires="v">
                <p:oleObj name="Equation" r:id="rId8" imgW="12496800" imgH="6096000" progId="Equation.DSMT4">
                  <p:embed/>
                </p:oleObj>
              </mc:Choice>
              <mc:Fallback>
                <p:oleObj name="Equation" r:id="rId8" imgW="12496800" imgH="6096000" progId="Equation.DSMT4">
                  <p:embed/>
                  <p:pic>
                    <p:nvPicPr>
                      <p:cNvPr id="13" name="对象 12">
                        <a:extLst>
                          <a:ext uri="{FF2B5EF4-FFF2-40B4-BE49-F238E27FC236}">
                            <a16:creationId xmlns:a16="http://schemas.microsoft.com/office/drawing/2014/main" id="{D6D89577-B6F0-4FFB-99A7-F56165D33CE1}"/>
                          </a:ext>
                        </a:extLst>
                      </p:cNvPr>
                      <p:cNvPicPr>
                        <a:picLocks noChangeAspect="1" noChangeArrowheads="1"/>
                      </p:cNvPicPr>
                      <p:nvPr/>
                    </p:nvPicPr>
                    <p:blipFill>
                      <a:blip r:embed="rId9"/>
                      <a:srcRect/>
                      <a:stretch>
                        <a:fillRect/>
                      </a:stretch>
                    </p:blipFill>
                    <p:spPr bwMode="auto">
                      <a:xfrm>
                        <a:off x="5006152" y="2838177"/>
                        <a:ext cx="130175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a:extLst>
              <a:ext uri="{FF2B5EF4-FFF2-40B4-BE49-F238E27FC236}">
                <a16:creationId xmlns:a16="http://schemas.microsoft.com/office/drawing/2014/main" id="{9C034E1C-A83D-AFD1-9431-C735DBD52B77}"/>
              </a:ext>
            </a:extLst>
          </p:cNvPr>
          <p:cNvGraphicFramePr>
            <a:graphicFrameLocks noChangeAspect="1"/>
          </p:cNvGraphicFramePr>
          <p:nvPr>
            <p:extLst>
              <p:ext uri="{D42A27DB-BD31-4B8C-83A1-F6EECF244321}">
                <p14:modId xmlns:p14="http://schemas.microsoft.com/office/powerpoint/2010/main" val="2569834229"/>
              </p:ext>
            </p:extLst>
          </p:nvPr>
        </p:nvGraphicFramePr>
        <p:xfrm>
          <a:off x="4186429" y="3957519"/>
          <a:ext cx="3238200" cy="634500"/>
        </p:xfrm>
        <a:graphic>
          <a:graphicData uri="http://schemas.openxmlformats.org/presentationml/2006/ole">
            <mc:AlternateContent xmlns:mc="http://schemas.openxmlformats.org/markup-compatibility/2006">
              <mc:Choice xmlns:v="urn:schemas-microsoft-com:vml" Requires="v">
                <p:oleObj name="Equation" r:id="rId10" imgW="1295280" imgH="253800" progId="Equation.DSMT4">
                  <p:embed/>
                </p:oleObj>
              </mc:Choice>
              <mc:Fallback>
                <p:oleObj name="Equation" r:id="rId10" imgW="1295280" imgH="253800" progId="Equation.DSMT4">
                  <p:embed/>
                  <p:pic>
                    <p:nvPicPr>
                      <p:cNvPr id="2" name="对象 1">
                        <a:extLst>
                          <a:ext uri="{FF2B5EF4-FFF2-40B4-BE49-F238E27FC236}">
                            <a16:creationId xmlns:a16="http://schemas.microsoft.com/office/drawing/2014/main" id="{9C034E1C-A83D-AFD1-9431-C735DBD52B77}"/>
                          </a:ext>
                        </a:extLst>
                      </p:cNvPr>
                      <p:cNvPicPr/>
                      <p:nvPr/>
                    </p:nvPicPr>
                    <p:blipFill>
                      <a:blip r:embed="rId11"/>
                      <a:stretch>
                        <a:fillRect/>
                      </a:stretch>
                    </p:blipFill>
                    <p:spPr>
                      <a:xfrm>
                        <a:off x="4186429" y="3957519"/>
                        <a:ext cx="3238200" cy="6345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2343687A-8B04-8588-064D-2777DB6AEA08}"/>
              </a:ext>
            </a:extLst>
          </p:cNvPr>
          <p:cNvGraphicFramePr>
            <a:graphicFrameLocks noChangeAspect="1"/>
          </p:cNvGraphicFramePr>
          <p:nvPr>
            <p:extLst>
              <p:ext uri="{D42A27DB-BD31-4B8C-83A1-F6EECF244321}">
                <p14:modId xmlns:p14="http://schemas.microsoft.com/office/powerpoint/2010/main" val="1023091490"/>
              </p:ext>
            </p:extLst>
          </p:nvPr>
        </p:nvGraphicFramePr>
        <p:xfrm>
          <a:off x="4181202" y="4738767"/>
          <a:ext cx="2126700" cy="634500"/>
        </p:xfrm>
        <a:graphic>
          <a:graphicData uri="http://schemas.openxmlformats.org/presentationml/2006/ole">
            <mc:AlternateContent xmlns:mc="http://schemas.openxmlformats.org/markup-compatibility/2006">
              <mc:Choice xmlns:v="urn:schemas-microsoft-com:vml" Requires="v">
                <p:oleObj name="Equation" r:id="rId12" imgW="850680" imgH="253800" progId="Equation.DSMT4">
                  <p:embed/>
                </p:oleObj>
              </mc:Choice>
              <mc:Fallback>
                <p:oleObj name="Equation" r:id="rId12" imgW="850680" imgH="253800" progId="Equation.DSMT4">
                  <p:embed/>
                  <p:pic>
                    <p:nvPicPr>
                      <p:cNvPr id="3" name="对象 2">
                        <a:extLst>
                          <a:ext uri="{FF2B5EF4-FFF2-40B4-BE49-F238E27FC236}">
                            <a16:creationId xmlns:a16="http://schemas.microsoft.com/office/drawing/2014/main" id="{2343687A-8B04-8588-064D-2777DB6AEA08}"/>
                          </a:ext>
                        </a:extLst>
                      </p:cNvPr>
                      <p:cNvPicPr/>
                      <p:nvPr/>
                    </p:nvPicPr>
                    <p:blipFill>
                      <a:blip r:embed="rId13"/>
                      <a:stretch>
                        <a:fillRect/>
                      </a:stretch>
                    </p:blipFill>
                    <p:spPr>
                      <a:xfrm>
                        <a:off x="4181202" y="4738767"/>
                        <a:ext cx="2126700" cy="6345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62810780-B186-7C77-1B29-EDF00620803A}"/>
              </a:ext>
            </a:extLst>
          </p:cNvPr>
          <p:cNvGraphicFramePr>
            <a:graphicFrameLocks noChangeAspect="1"/>
          </p:cNvGraphicFramePr>
          <p:nvPr>
            <p:extLst>
              <p:ext uri="{D42A27DB-BD31-4B8C-83A1-F6EECF244321}">
                <p14:modId xmlns:p14="http://schemas.microsoft.com/office/powerpoint/2010/main" val="2763593646"/>
              </p:ext>
            </p:extLst>
          </p:nvPr>
        </p:nvGraphicFramePr>
        <p:xfrm>
          <a:off x="4211590" y="5384479"/>
          <a:ext cx="2158200" cy="634500"/>
        </p:xfrm>
        <a:graphic>
          <a:graphicData uri="http://schemas.openxmlformats.org/presentationml/2006/ole">
            <mc:AlternateContent xmlns:mc="http://schemas.openxmlformats.org/markup-compatibility/2006">
              <mc:Choice xmlns:v="urn:schemas-microsoft-com:vml" Requires="v">
                <p:oleObj name="Equation" r:id="rId14" imgW="863280" imgH="253800" progId="Equation.DSMT4">
                  <p:embed/>
                </p:oleObj>
              </mc:Choice>
              <mc:Fallback>
                <p:oleObj name="Equation" r:id="rId14" imgW="863280" imgH="253800" progId="Equation.DSMT4">
                  <p:embed/>
                  <p:pic>
                    <p:nvPicPr>
                      <p:cNvPr id="16" name="对象 15">
                        <a:extLst>
                          <a:ext uri="{FF2B5EF4-FFF2-40B4-BE49-F238E27FC236}">
                            <a16:creationId xmlns:a16="http://schemas.microsoft.com/office/drawing/2014/main" id="{62810780-B186-7C77-1B29-EDF00620803A}"/>
                          </a:ext>
                        </a:extLst>
                      </p:cNvPr>
                      <p:cNvPicPr/>
                      <p:nvPr/>
                    </p:nvPicPr>
                    <p:blipFill>
                      <a:blip r:embed="rId15"/>
                      <a:stretch>
                        <a:fillRect/>
                      </a:stretch>
                    </p:blipFill>
                    <p:spPr>
                      <a:xfrm>
                        <a:off x="4211590" y="5384479"/>
                        <a:ext cx="2158200" cy="634500"/>
                      </a:xfrm>
                      <a:prstGeom prst="rect">
                        <a:avLst/>
                      </a:prstGeom>
                    </p:spPr>
                  </p:pic>
                </p:oleObj>
              </mc:Fallback>
            </mc:AlternateContent>
          </a:graphicData>
        </a:graphic>
      </p:graphicFrame>
    </p:spTree>
    <p:extLst>
      <p:ext uri="{BB962C8B-B14F-4D97-AF65-F5344CB8AC3E}">
        <p14:creationId xmlns:p14="http://schemas.microsoft.com/office/powerpoint/2010/main" val="224203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CBD69D84-28E0-4191-988C-9CB621A4B6E9}"/>
              </a:ext>
            </a:extLst>
          </p:cNvPr>
          <p:cNvGraphicFramePr>
            <a:graphicFrameLocks noChangeAspect="1"/>
          </p:cNvGraphicFramePr>
          <p:nvPr>
            <p:extLst>
              <p:ext uri="{D42A27DB-BD31-4B8C-83A1-F6EECF244321}">
                <p14:modId xmlns:p14="http://schemas.microsoft.com/office/powerpoint/2010/main" val="4001659936"/>
              </p:ext>
            </p:extLst>
          </p:nvPr>
        </p:nvGraphicFramePr>
        <p:xfrm>
          <a:off x="7918711" y="433346"/>
          <a:ext cx="2590560" cy="507600"/>
        </p:xfrm>
        <a:graphic>
          <a:graphicData uri="http://schemas.openxmlformats.org/presentationml/2006/ole">
            <mc:AlternateContent xmlns:mc="http://schemas.openxmlformats.org/markup-compatibility/2006">
              <mc:Choice xmlns:v="urn:schemas-microsoft-com:vml" Requires="v">
                <p:oleObj name="Equation" r:id="rId2" imgW="1295280" imgH="253800" progId="Equation.DSMT4">
                  <p:embed/>
                </p:oleObj>
              </mc:Choice>
              <mc:Fallback>
                <p:oleObj name="Equation" r:id="rId2" imgW="1295280" imgH="253800" progId="Equation.DSMT4">
                  <p:embed/>
                  <p:pic>
                    <p:nvPicPr>
                      <p:cNvPr id="5" name="对象 4"/>
                      <p:cNvPicPr/>
                      <p:nvPr/>
                    </p:nvPicPr>
                    <p:blipFill>
                      <a:blip r:embed="rId3"/>
                      <a:stretch>
                        <a:fillRect/>
                      </a:stretch>
                    </p:blipFill>
                    <p:spPr>
                      <a:xfrm>
                        <a:off x="7918711" y="433346"/>
                        <a:ext cx="2590560" cy="5076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621BD8A-2113-4D97-9663-501B9C8A8857}"/>
              </a:ext>
            </a:extLst>
          </p:cNvPr>
          <p:cNvGraphicFramePr>
            <a:graphicFrameLocks noChangeAspect="1"/>
          </p:cNvGraphicFramePr>
          <p:nvPr>
            <p:extLst>
              <p:ext uri="{D42A27DB-BD31-4B8C-83A1-F6EECF244321}">
                <p14:modId xmlns:p14="http://schemas.microsoft.com/office/powerpoint/2010/main" val="2498930164"/>
              </p:ext>
            </p:extLst>
          </p:nvPr>
        </p:nvGraphicFramePr>
        <p:xfrm>
          <a:off x="7943872" y="1860306"/>
          <a:ext cx="1726560" cy="507600"/>
        </p:xfrm>
        <a:graphic>
          <a:graphicData uri="http://schemas.openxmlformats.org/presentationml/2006/ole">
            <mc:AlternateContent xmlns:mc="http://schemas.openxmlformats.org/markup-compatibility/2006">
              <mc:Choice xmlns:v="urn:schemas-microsoft-com:vml" Requires="v">
                <p:oleObj name="Equation" r:id="rId4" imgW="863280" imgH="253800" progId="Equation.DSMT4">
                  <p:embed/>
                </p:oleObj>
              </mc:Choice>
              <mc:Fallback>
                <p:oleObj name="Equation" r:id="rId4" imgW="863280" imgH="253800" progId="Equation.DSMT4">
                  <p:embed/>
                  <p:pic>
                    <p:nvPicPr>
                      <p:cNvPr id="7" name="对象 6"/>
                      <p:cNvPicPr/>
                      <p:nvPr/>
                    </p:nvPicPr>
                    <p:blipFill>
                      <a:blip r:embed="rId5"/>
                      <a:stretch>
                        <a:fillRect/>
                      </a:stretch>
                    </p:blipFill>
                    <p:spPr>
                      <a:xfrm>
                        <a:off x="7943872" y="1860306"/>
                        <a:ext cx="1726560" cy="5076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FA965823-6C8F-4A20-B1CB-CDB159CC80F4}"/>
              </a:ext>
            </a:extLst>
          </p:cNvPr>
          <p:cNvGraphicFramePr>
            <a:graphicFrameLocks noChangeAspect="1"/>
          </p:cNvGraphicFramePr>
          <p:nvPr>
            <p:extLst>
              <p:ext uri="{D42A27DB-BD31-4B8C-83A1-F6EECF244321}">
                <p14:modId xmlns:p14="http://schemas.microsoft.com/office/powerpoint/2010/main" val="2800017232"/>
              </p:ext>
            </p:extLst>
          </p:nvPr>
        </p:nvGraphicFramePr>
        <p:xfrm>
          <a:off x="1027812" y="2367906"/>
          <a:ext cx="5130801" cy="609600"/>
        </p:xfrm>
        <a:graphic>
          <a:graphicData uri="http://schemas.openxmlformats.org/presentationml/2006/ole">
            <mc:AlternateContent xmlns:mc="http://schemas.openxmlformats.org/markup-compatibility/2006">
              <mc:Choice xmlns:v="urn:schemas-microsoft-com:vml" Requires="v">
                <p:oleObj name="Equation" r:id="rId6" imgW="2565360" imgH="304560" progId="Equation.DSMT4">
                  <p:embed/>
                </p:oleObj>
              </mc:Choice>
              <mc:Fallback>
                <p:oleObj name="Equation" r:id="rId6" imgW="2565360" imgH="304560" progId="Equation.DSMT4">
                  <p:embed/>
                  <p:pic>
                    <p:nvPicPr>
                      <p:cNvPr id="8" name="对象 7"/>
                      <p:cNvPicPr/>
                      <p:nvPr/>
                    </p:nvPicPr>
                    <p:blipFill>
                      <a:blip r:embed="rId7"/>
                      <a:stretch>
                        <a:fillRect/>
                      </a:stretch>
                    </p:blipFill>
                    <p:spPr>
                      <a:xfrm>
                        <a:off x="1027812" y="2367906"/>
                        <a:ext cx="5130801" cy="609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8DC87BA-3CAE-4CFB-9346-CBB1E31877E1}"/>
              </a:ext>
            </a:extLst>
          </p:cNvPr>
          <p:cNvGraphicFramePr>
            <a:graphicFrameLocks noChangeAspect="1"/>
          </p:cNvGraphicFramePr>
          <p:nvPr>
            <p:extLst>
              <p:ext uri="{D42A27DB-BD31-4B8C-83A1-F6EECF244321}">
                <p14:modId xmlns:p14="http://schemas.microsoft.com/office/powerpoint/2010/main" val="3699169955"/>
              </p:ext>
            </p:extLst>
          </p:nvPr>
        </p:nvGraphicFramePr>
        <p:xfrm>
          <a:off x="1002413" y="3231106"/>
          <a:ext cx="3454400" cy="508000"/>
        </p:xfrm>
        <a:graphic>
          <a:graphicData uri="http://schemas.openxmlformats.org/presentationml/2006/ole">
            <mc:AlternateContent xmlns:mc="http://schemas.openxmlformats.org/markup-compatibility/2006">
              <mc:Choice xmlns:v="urn:schemas-microsoft-com:vml" Requires="v">
                <p:oleObj name="Equation" r:id="rId8" imgW="1726920" imgH="253800" progId="Equation.DSMT4">
                  <p:embed/>
                </p:oleObj>
              </mc:Choice>
              <mc:Fallback>
                <p:oleObj name="Equation" r:id="rId8" imgW="1726920" imgH="253800" progId="Equation.DSMT4">
                  <p:embed/>
                  <p:pic>
                    <p:nvPicPr>
                      <p:cNvPr id="9" name="对象 8"/>
                      <p:cNvPicPr/>
                      <p:nvPr/>
                    </p:nvPicPr>
                    <p:blipFill>
                      <a:blip r:embed="rId9"/>
                      <a:stretch>
                        <a:fillRect/>
                      </a:stretch>
                    </p:blipFill>
                    <p:spPr>
                      <a:xfrm>
                        <a:off x="1002413" y="3231106"/>
                        <a:ext cx="3454400" cy="5080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7B42EB0-9360-4BE8-8E53-984B39A7313D}"/>
              </a:ext>
            </a:extLst>
          </p:cNvPr>
          <p:cNvGraphicFramePr>
            <a:graphicFrameLocks noChangeAspect="1"/>
          </p:cNvGraphicFramePr>
          <p:nvPr>
            <p:extLst>
              <p:ext uri="{D42A27DB-BD31-4B8C-83A1-F6EECF244321}">
                <p14:modId xmlns:p14="http://schemas.microsoft.com/office/powerpoint/2010/main" val="339120737"/>
              </p:ext>
            </p:extLst>
          </p:nvPr>
        </p:nvGraphicFramePr>
        <p:xfrm>
          <a:off x="1002411" y="3992706"/>
          <a:ext cx="5181601" cy="863600"/>
        </p:xfrm>
        <a:graphic>
          <a:graphicData uri="http://schemas.openxmlformats.org/presentationml/2006/ole">
            <mc:AlternateContent xmlns:mc="http://schemas.openxmlformats.org/markup-compatibility/2006">
              <mc:Choice xmlns:v="urn:schemas-microsoft-com:vml" Requires="v">
                <p:oleObj name="Equation" r:id="rId10" imgW="2590560" imgH="431640" progId="Equation.DSMT4">
                  <p:embed/>
                </p:oleObj>
              </mc:Choice>
              <mc:Fallback>
                <p:oleObj name="Equation" r:id="rId10" imgW="2590560" imgH="431640" progId="Equation.DSMT4">
                  <p:embed/>
                  <p:pic>
                    <p:nvPicPr>
                      <p:cNvPr id="10" name="对象 9"/>
                      <p:cNvPicPr/>
                      <p:nvPr/>
                    </p:nvPicPr>
                    <p:blipFill>
                      <a:blip r:embed="rId11"/>
                      <a:stretch>
                        <a:fillRect/>
                      </a:stretch>
                    </p:blipFill>
                    <p:spPr>
                      <a:xfrm>
                        <a:off x="1002411" y="3992706"/>
                        <a:ext cx="5181601" cy="863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26F13A6-8F75-4A52-B6B7-A8212006145D}"/>
              </a:ext>
            </a:extLst>
          </p:cNvPr>
          <p:cNvGraphicFramePr>
            <a:graphicFrameLocks noChangeAspect="1"/>
          </p:cNvGraphicFramePr>
          <p:nvPr>
            <p:extLst>
              <p:ext uri="{D42A27DB-BD31-4B8C-83A1-F6EECF244321}">
                <p14:modId xmlns:p14="http://schemas.microsoft.com/office/powerpoint/2010/main" val="2877941131"/>
              </p:ext>
            </p:extLst>
          </p:nvPr>
        </p:nvGraphicFramePr>
        <p:xfrm>
          <a:off x="1027814" y="4952188"/>
          <a:ext cx="5588000" cy="609600"/>
        </p:xfrm>
        <a:graphic>
          <a:graphicData uri="http://schemas.openxmlformats.org/presentationml/2006/ole">
            <mc:AlternateContent xmlns:mc="http://schemas.openxmlformats.org/markup-compatibility/2006">
              <mc:Choice xmlns:v="urn:schemas-microsoft-com:vml" Requires="v">
                <p:oleObj name="Equation" r:id="rId12" imgW="2793960" imgH="304560" progId="Equation.DSMT4">
                  <p:embed/>
                </p:oleObj>
              </mc:Choice>
              <mc:Fallback>
                <p:oleObj name="Equation" r:id="rId12" imgW="2793960" imgH="304560" progId="Equation.DSMT4">
                  <p:embed/>
                  <p:pic>
                    <p:nvPicPr>
                      <p:cNvPr id="11" name="对象 10"/>
                      <p:cNvPicPr/>
                      <p:nvPr/>
                    </p:nvPicPr>
                    <p:blipFill>
                      <a:blip r:embed="rId13"/>
                      <a:stretch>
                        <a:fillRect/>
                      </a:stretch>
                    </p:blipFill>
                    <p:spPr>
                      <a:xfrm>
                        <a:off x="1027814" y="4952188"/>
                        <a:ext cx="5588000" cy="609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1B5196F-D6AC-4BEB-9FFE-E0F47275F5FE}"/>
              </a:ext>
            </a:extLst>
          </p:cNvPr>
          <p:cNvGraphicFramePr>
            <a:graphicFrameLocks noChangeAspect="1"/>
          </p:cNvGraphicFramePr>
          <p:nvPr>
            <p:extLst>
              <p:ext uri="{D42A27DB-BD31-4B8C-83A1-F6EECF244321}">
                <p14:modId xmlns:p14="http://schemas.microsoft.com/office/powerpoint/2010/main" val="1685207302"/>
              </p:ext>
            </p:extLst>
          </p:nvPr>
        </p:nvGraphicFramePr>
        <p:xfrm>
          <a:off x="1002411" y="5871506"/>
          <a:ext cx="6526213" cy="531813"/>
        </p:xfrm>
        <a:graphic>
          <a:graphicData uri="http://schemas.openxmlformats.org/presentationml/2006/ole">
            <mc:AlternateContent xmlns:mc="http://schemas.openxmlformats.org/markup-compatibility/2006">
              <mc:Choice xmlns:v="urn:schemas-microsoft-com:vml" Requires="v">
                <p:oleObj name="Equation" r:id="rId14" imgW="3263760" imgH="266400" progId="Equation.DSMT4">
                  <p:embed/>
                </p:oleObj>
              </mc:Choice>
              <mc:Fallback>
                <p:oleObj name="Equation" r:id="rId14" imgW="3263760" imgH="266400" progId="Equation.DSMT4">
                  <p:embed/>
                  <p:pic>
                    <p:nvPicPr>
                      <p:cNvPr id="12" name="对象 11"/>
                      <p:cNvPicPr/>
                      <p:nvPr/>
                    </p:nvPicPr>
                    <p:blipFill>
                      <a:blip r:embed="rId15"/>
                      <a:stretch>
                        <a:fillRect/>
                      </a:stretch>
                    </p:blipFill>
                    <p:spPr>
                      <a:xfrm>
                        <a:off x="1002411" y="5871506"/>
                        <a:ext cx="6526213" cy="53181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4BA384D-7B8C-428E-B3BB-1D78D75BA13E}"/>
              </a:ext>
            </a:extLst>
          </p:cNvPr>
          <p:cNvGraphicFramePr>
            <a:graphicFrameLocks noChangeAspect="1"/>
          </p:cNvGraphicFramePr>
          <p:nvPr>
            <p:extLst>
              <p:ext uri="{D42A27DB-BD31-4B8C-83A1-F6EECF244321}">
                <p14:modId xmlns:p14="http://schemas.microsoft.com/office/powerpoint/2010/main" val="1411734397"/>
              </p:ext>
            </p:extLst>
          </p:nvPr>
        </p:nvGraphicFramePr>
        <p:xfrm>
          <a:off x="5461680" y="1403106"/>
          <a:ext cx="634320" cy="457200"/>
        </p:xfrm>
        <a:graphic>
          <a:graphicData uri="http://schemas.openxmlformats.org/presentationml/2006/ole">
            <mc:AlternateContent xmlns:mc="http://schemas.openxmlformats.org/markup-compatibility/2006">
              <mc:Choice xmlns:v="urn:schemas-microsoft-com:vml" Requires="v">
                <p:oleObj name="Equation" r:id="rId16" imgW="317160" imgH="228600" progId="Equation.DSMT4">
                  <p:embed/>
                </p:oleObj>
              </mc:Choice>
              <mc:Fallback>
                <p:oleObj name="Equation" r:id="rId16" imgW="317160" imgH="228600" progId="Equation.DSMT4">
                  <p:embed/>
                  <p:pic>
                    <p:nvPicPr>
                      <p:cNvPr id="0" name=""/>
                      <p:cNvPicPr/>
                      <p:nvPr/>
                    </p:nvPicPr>
                    <p:blipFill>
                      <a:blip r:embed="rId17"/>
                      <a:stretch>
                        <a:fillRect/>
                      </a:stretch>
                    </p:blipFill>
                    <p:spPr>
                      <a:xfrm>
                        <a:off x="5461680" y="1403106"/>
                        <a:ext cx="634320" cy="457200"/>
                      </a:xfrm>
                      <a:prstGeom prst="rect">
                        <a:avLst/>
                      </a:prstGeom>
                      <a:ln>
                        <a:solidFill>
                          <a:srgbClr val="3333FF"/>
                        </a:solidFill>
                      </a:ln>
                    </p:spPr>
                  </p:pic>
                </p:oleObj>
              </mc:Fallback>
            </mc:AlternateContent>
          </a:graphicData>
        </a:graphic>
      </p:graphicFrame>
      <p:graphicFrame>
        <p:nvGraphicFramePr>
          <p:cNvPr id="2" name="对象 1">
            <a:extLst>
              <a:ext uri="{FF2B5EF4-FFF2-40B4-BE49-F238E27FC236}">
                <a16:creationId xmlns:a16="http://schemas.microsoft.com/office/drawing/2014/main" id="{E1015A0F-B401-411A-B32C-9D8C1A82BCFA}"/>
              </a:ext>
            </a:extLst>
          </p:cNvPr>
          <p:cNvGraphicFramePr>
            <a:graphicFrameLocks noChangeAspect="1"/>
          </p:cNvGraphicFramePr>
          <p:nvPr>
            <p:extLst>
              <p:ext uri="{D42A27DB-BD31-4B8C-83A1-F6EECF244321}">
                <p14:modId xmlns:p14="http://schemas.microsoft.com/office/powerpoint/2010/main" val="2494376528"/>
              </p:ext>
            </p:extLst>
          </p:nvPr>
        </p:nvGraphicFramePr>
        <p:xfrm>
          <a:off x="7893071" y="1106434"/>
          <a:ext cx="1914681" cy="570544"/>
        </p:xfrm>
        <a:graphic>
          <a:graphicData uri="http://schemas.openxmlformats.org/presentationml/2006/ole">
            <mc:AlternateContent xmlns:mc="http://schemas.openxmlformats.org/markup-compatibility/2006">
              <mc:Choice xmlns:v="urn:schemas-microsoft-com:vml" Requires="v">
                <p:oleObj name="Equation" r:id="rId18" imgW="2125959" imgH="633983" progId="Equation.DSMT4">
                  <p:embed/>
                </p:oleObj>
              </mc:Choice>
              <mc:Fallback>
                <p:oleObj name="Equation" r:id="rId18" imgW="2125959" imgH="633983" progId="Equation.DSMT4">
                  <p:embed/>
                  <p:pic>
                    <p:nvPicPr>
                      <p:cNvPr id="0" name=""/>
                      <p:cNvPicPr/>
                      <p:nvPr/>
                    </p:nvPicPr>
                    <p:blipFill>
                      <a:blip r:embed="rId19"/>
                      <a:stretch>
                        <a:fillRect/>
                      </a:stretch>
                    </p:blipFill>
                    <p:spPr>
                      <a:xfrm>
                        <a:off x="7893071" y="1106434"/>
                        <a:ext cx="1914681" cy="570544"/>
                      </a:xfrm>
                      <a:prstGeom prst="rect">
                        <a:avLst/>
                      </a:prstGeom>
                    </p:spPr>
                  </p:pic>
                </p:oleObj>
              </mc:Fallback>
            </mc:AlternateContent>
          </a:graphicData>
        </a:graphic>
      </p:graphicFrame>
    </p:spTree>
    <p:extLst>
      <p:ext uri="{BB962C8B-B14F-4D97-AF65-F5344CB8AC3E}">
        <p14:creationId xmlns:p14="http://schemas.microsoft.com/office/powerpoint/2010/main" val="3579215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a:extLst>
              <a:ext uri="{FF2B5EF4-FFF2-40B4-BE49-F238E27FC236}">
                <a16:creationId xmlns:a16="http://schemas.microsoft.com/office/drawing/2014/main" id="{FA965823-6C8F-4A20-B1CB-CDB159CC80F4}"/>
              </a:ext>
            </a:extLst>
          </p:cNvPr>
          <p:cNvGraphicFramePr>
            <a:graphicFrameLocks noChangeAspect="1"/>
          </p:cNvGraphicFramePr>
          <p:nvPr>
            <p:extLst>
              <p:ext uri="{D42A27DB-BD31-4B8C-83A1-F6EECF244321}">
                <p14:modId xmlns:p14="http://schemas.microsoft.com/office/powerpoint/2010/main" val="318840494"/>
              </p:ext>
            </p:extLst>
          </p:nvPr>
        </p:nvGraphicFramePr>
        <p:xfrm>
          <a:off x="965199" y="1992405"/>
          <a:ext cx="3556000" cy="609600"/>
        </p:xfrm>
        <a:graphic>
          <a:graphicData uri="http://schemas.openxmlformats.org/presentationml/2006/ole">
            <mc:AlternateContent xmlns:mc="http://schemas.openxmlformats.org/markup-compatibility/2006">
              <mc:Choice xmlns:v="urn:schemas-microsoft-com:vml" Requires="v">
                <p:oleObj name="Equation" r:id="rId2" imgW="1777680" imgH="304560" progId="Equation.DSMT4">
                  <p:embed/>
                </p:oleObj>
              </mc:Choice>
              <mc:Fallback>
                <p:oleObj name="Equation" r:id="rId2" imgW="1777680" imgH="304560" progId="Equation.DSMT4">
                  <p:embed/>
                  <p:pic>
                    <p:nvPicPr>
                      <p:cNvPr id="7" name="对象 6">
                        <a:extLst>
                          <a:ext uri="{FF2B5EF4-FFF2-40B4-BE49-F238E27FC236}">
                            <a16:creationId xmlns:a16="http://schemas.microsoft.com/office/drawing/2014/main" id="{FA965823-6C8F-4A20-B1CB-CDB159CC80F4}"/>
                          </a:ext>
                        </a:extLst>
                      </p:cNvPr>
                      <p:cNvPicPr/>
                      <p:nvPr/>
                    </p:nvPicPr>
                    <p:blipFill>
                      <a:blip r:embed="rId3"/>
                      <a:stretch>
                        <a:fillRect/>
                      </a:stretch>
                    </p:blipFill>
                    <p:spPr>
                      <a:xfrm>
                        <a:off x="965199" y="1992405"/>
                        <a:ext cx="3556000" cy="609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8DC87BA-3CAE-4CFB-9346-CBB1E31877E1}"/>
              </a:ext>
            </a:extLst>
          </p:cNvPr>
          <p:cNvGraphicFramePr>
            <a:graphicFrameLocks noChangeAspect="1"/>
          </p:cNvGraphicFramePr>
          <p:nvPr>
            <p:extLst>
              <p:ext uri="{D42A27DB-BD31-4B8C-83A1-F6EECF244321}">
                <p14:modId xmlns:p14="http://schemas.microsoft.com/office/powerpoint/2010/main" val="2726942081"/>
              </p:ext>
            </p:extLst>
          </p:nvPr>
        </p:nvGraphicFramePr>
        <p:xfrm>
          <a:off x="6832600" y="2043113"/>
          <a:ext cx="1676400" cy="508000"/>
        </p:xfrm>
        <a:graphic>
          <a:graphicData uri="http://schemas.openxmlformats.org/presentationml/2006/ole">
            <mc:AlternateContent xmlns:mc="http://schemas.openxmlformats.org/markup-compatibility/2006">
              <mc:Choice xmlns:v="urn:schemas-microsoft-com:vml" Requires="v">
                <p:oleObj name="Equation" r:id="rId4" imgW="838080" imgH="253800" progId="Equation.DSMT4">
                  <p:embed/>
                </p:oleObj>
              </mc:Choice>
              <mc:Fallback>
                <p:oleObj name="Equation" r:id="rId4" imgW="838080" imgH="253800" progId="Equation.DSMT4">
                  <p:embed/>
                  <p:pic>
                    <p:nvPicPr>
                      <p:cNvPr id="8" name="对象 7">
                        <a:extLst>
                          <a:ext uri="{FF2B5EF4-FFF2-40B4-BE49-F238E27FC236}">
                            <a16:creationId xmlns:a16="http://schemas.microsoft.com/office/drawing/2014/main" id="{B8DC87BA-3CAE-4CFB-9346-CBB1E31877E1}"/>
                          </a:ext>
                        </a:extLst>
                      </p:cNvPr>
                      <p:cNvPicPr/>
                      <p:nvPr/>
                    </p:nvPicPr>
                    <p:blipFill>
                      <a:blip r:embed="rId5"/>
                      <a:stretch>
                        <a:fillRect/>
                      </a:stretch>
                    </p:blipFill>
                    <p:spPr>
                      <a:xfrm>
                        <a:off x="6832600" y="2043113"/>
                        <a:ext cx="1676400" cy="5080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7B42EB0-9360-4BE8-8E53-984B39A7313D}"/>
              </a:ext>
            </a:extLst>
          </p:cNvPr>
          <p:cNvGraphicFramePr>
            <a:graphicFrameLocks noChangeAspect="1"/>
          </p:cNvGraphicFramePr>
          <p:nvPr>
            <p:extLst>
              <p:ext uri="{D42A27DB-BD31-4B8C-83A1-F6EECF244321}">
                <p14:modId xmlns:p14="http://schemas.microsoft.com/office/powerpoint/2010/main" val="269643688"/>
              </p:ext>
            </p:extLst>
          </p:nvPr>
        </p:nvGraphicFramePr>
        <p:xfrm>
          <a:off x="965199" y="2963725"/>
          <a:ext cx="5334000" cy="863600"/>
        </p:xfrm>
        <a:graphic>
          <a:graphicData uri="http://schemas.openxmlformats.org/presentationml/2006/ole">
            <mc:AlternateContent xmlns:mc="http://schemas.openxmlformats.org/markup-compatibility/2006">
              <mc:Choice xmlns:v="urn:schemas-microsoft-com:vml" Requires="v">
                <p:oleObj name="Equation" r:id="rId6" imgW="2666880" imgH="431640" progId="Equation.DSMT4">
                  <p:embed/>
                </p:oleObj>
              </mc:Choice>
              <mc:Fallback>
                <p:oleObj name="Equation" r:id="rId6" imgW="2666880" imgH="431640" progId="Equation.DSMT4">
                  <p:embed/>
                  <p:pic>
                    <p:nvPicPr>
                      <p:cNvPr id="9" name="对象 8">
                        <a:extLst>
                          <a:ext uri="{FF2B5EF4-FFF2-40B4-BE49-F238E27FC236}">
                            <a16:creationId xmlns:a16="http://schemas.microsoft.com/office/drawing/2014/main" id="{47B42EB0-9360-4BE8-8E53-984B39A7313D}"/>
                          </a:ext>
                        </a:extLst>
                      </p:cNvPr>
                      <p:cNvPicPr/>
                      <p:nvPr/>
                    </p:nvPicPr>
                    <p:blipFill>
                      <a:blip r:embed="rId7"/>
                      <a:stretch>
                        <a:fillRect/>
                      </a:stretch>
                    </p:blipFill>
                    <p:spPr>
                      <a:xfrm>
                        <a:off x="965199" y="2963725"/>
                        <a:ext cx="5334000" cy="863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26F13A6-8F75-4A52-B6B7-A8212006145D}"/>
              </a:ext>
            </a:extLst>
          </p:cNvPr>
          <p:cNvGraphicFramePr>
            <a:graphicFrameLocks noChangeAspect="1"/>
          </p:cNvGraphicFramePr>
          <p:nvPr>
            <p:extLst>
              <p:ext uri="{D42A27DB-BD31-4B8C-83A1-F6EECF244321}">
                <p14:modId xmlns:p14="http://schemas.microsoft.com/office/powerpoint/2010/main" val="83991195"/>
              </p:ext>
            </p:extLst>
          </p:nvPr>
        </p:nvGraphicFramePr>
        <p:xfrm>
          <a:off x="899478" y="4216725"/>
          <a:ext cx="5562600" cy="609600"/>
        </p:xfrm>
        <a:graphic>
          <a:graphicData uri="http://schemas.openxmlformats.org/presentationml/2006/ole">
            <mc:AlternateContent xmlns:mc="http://schemas.openxmlformats.org/markup-compatibility/2006">
              <mc:Choice xmlns:v="urn:schemas-microsoft-com:vml" Requires="v">
                <p:oleObj name="Equation" r:id="rId8" imgW="2781000" imgH="304560" progId="Equation.DSMT4">
                  <p:embed/>
                </p:oleObj>
              </mc:Choice>
              <mc:Fallback>
                <p:oleObj name="Equation" r:id="rId8" imgW="2781000" imgH="304560" progId="Equation.DSMT4">
                  <p:embed/>
                  <p:pic>
                    <p:nvPicPr>
                      <p:cNvPr id="10" name="对象 9">
                        <a:extLst>
                          <a:ext uri="{FF2B5EF4-FFF2-40B4-BE49-F238E27FC236}">
                            <a16:creationId xmlns:a16="http://schemas.microsoft.com/office/drawing/2014/main" id="{C26F13A6-8F75-4A52-B6B7-A8212006145D}"/>
                          </a:ext>
                        </a:extLst>
                      </p:cNvPr>
                      <p:cNvPicPr/>
                      <p:nvPr/>
                    </p:nvPicPr>
                    <p:blipFill>
                      <a:blip r:embed="rId9"/>
                      <a:stretch>
                        <a:fillRect/>
                      </a:stretch>
                    </p:blipFill>
                    <p:spPr>
                      <a:xfrm>
                        <a:off x="899478" y="4216725"/>
                        <a:ext cx="5562600" cy="609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1B5196F-D6AC-4BEB-9FFE-E0F47275F5FE}"/>
              </a:ext>
            </a:extLst>
          </p:cNvPr>
          <p:cNvGraphicFramePr>
            <a:graphicFrameLocks noChangeAspect="1"/>
          </p:cNvGraphicFramePr>
          <p:nvPr>
            <p:extLst>
              <p:ext uri="{D42A27DB-BD31-4B8C-83A1-F6EECF244321}">
                <p14:modId xmlns:p14="http://schemas.microsoft.com/office/powerpoint/2010/main" val="435117447"/>
              </p:ext>
            </p:extLst>
          </p:nvPr>
        </p:nvGraphicFramePr>
        <p:xfrm>
          <a:off x="1016792" y="5215725"/>
          <a:ext cx="5230813" cy="531812"/>
        </p:xfrm>
        <a:graphic>
          <a:graphicData uri="http://schemas.openxmlformats.org/presentationml/2006/ole">
            <mc:AlternateContent xmlns:mc="http://schemas.openxmlformats.org/markup-compatibility/2006">
              <mc:Choice xmlns:v="urn:schemas-microsoft-com:vml" Requires="v">
                <p:oleObj name="Equation" r:id="rId10" imgW="2616120" imgH="266400" progId="Equation.DSMT4">
                  <p:embed/>
                </p:oleObj>
              </mc:Choice>
              <mc:Fallback>
                <p:oleObj name="Equation" r:id="rId10" imgW="2616120" imgH="266400" progId="Equation.DSMT4">
                  <p:embed/>
                  <p:pic>
                    <p:nvPicPr>
                      <p:cNvPr id="11" name="对象 10">
                        <a:extLst>
                          <a:ext uri="{FF2B5EF4-FFF2-40B4-BE49-F238E27FC236}">
                            <a16:creationId xmlns:a16="http://schemas.microsoft.com/office/drawing/2014/main" id="{91B5196F-D6AC-4BEB-9FFE-E0F47275F5FE}"/>
                          </a:ext>
                        </a:extLst>
                      </p:cNvPr>
                      <p:cNvPicPr/>
                      <p:nvPr/>
                    </p:nvPicPr>
                    <p:blipFill>
                      <a:blip r:embed="rId11"/>
                      <a:stretch>
                        <a:fillRect/>
                      </a:stretch>
                    </p:blipFill>
                    <p:spPr>
                      <a:xfrm>
                        <a:off x="1016792" y="5215725"/>
                        <a:ext cx="5230813" cy="53181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4BA384D-7B8C-428E-B3BB-1D78D75BA13E}"/>
              </a:ext>
            </a:extLst>
          </p:cNvPr>
          <p:cNvGraphicFramePr>
            <a:graphicFrameLocks noChangeAspect="1"/>
          </p:cNvGraphicFramePr>
          <p:nvPr>
            <p:extLst>
              <p:ext uri="{D42A27DB-BD31-4B8C-83A1-F6EECF244321}">
                <p14:modId xmlns:p14="http://schemas.microsoft.com/office/powerpoint/2010/main" val="2327362290"/>
              </p:ext>
            </p:extLst>
          </p:nvPr>
        </p:nvGraphicFramePr>
        <p:xfrm>
          <a:off x="5461680" y="587005"/>
          <a:ext cx="634320" cy="457200"/>
        </p:xfrm>
        <a:graphic>
          <a:graphicData uri="http://schemas.openxmlformats.org/presentationml/2006/ole">
            <mc:AlternateContent xmlns:mc="http://schemas.openxmlformats.org/markup-compatibility/2006">
              <mc:Choice xmlns:v="urn:schemas-microsoft-com:vml" Requires="v">
                <p:oleObj name="Equation" r:id="rId12" imgW="317160" imgH="228600" progId="Equation.DSMT4">
                  <p:embed/>
                </p:oleObj>
              </mc:Choice>
              <mc:Fallback>
                <p:oleObj name="Equation" r:id="rId12" imgW="317160" imgH="228600" progId="Equation.DSMT4">
                  <p:embed/>
                  <p:pic>
                    <p:nvPicPr>
                      <p:cNvPr id="12" name="对象 11">
                        <a:extLst>
                          <a:ext uri="{FF2B5EF4-FFF2-40B4-BE49-F238E27FC236}">
                            <a16:creationId xmlns:a16="http://schemas.microsoft.com/office/drawing/2014/main" id="{D4BA384D-7B8C-428E-B3BB-1D78D75BA13E}"/>
                          </a:ext>
                        </a:extLst>
                      </p:cNvPr>
                      <p:cNvPicPr/>
                      <p:nvPr/>
                    </p:nvPicPr>
                    <p:blipFill>
                      <a:blip r:embed="rId13"/>
                      <a:stretch>
                        <a:fillRect/>
                      </a:stretch>
                    </p:blipFill>
                    <p:spPr>
                      <a:xfrm>
                        <a:off x="5461680" y="587005"/>
                        <a:ext cx="634320" cy="457200"/>
                      </a:xfrm>
                      <a:prstGeom prst="rect">
                        <a:avLst/>
                      </a:prstGeom>
                      <a:ln>
                        <a:solidFill>
                          <a:srgbClr val="3333FF"/>
                        </a:solidFill>
                      </a:ln>
                    </p:spPr>
                  </p:pic>
                </p:oleObj>
              </mc:Fallback>
            </mc:AlternateContent>
          </a:graphicData>
        </a:graphic>
      </p:graphicFrame>
    </p:spTree>
    <p:extLst>
      <p:ext uri="{BB962C8B-B14F-4D97-AF65-F5344CB8AC3E}">
        <p14:creationId xmlns:p14="http://schemas.microsoft.com/office/powerpoint/2010/main" val="117317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a:extLst>
              <a:ext uri="{FF2B5EF4-FFF2-40B4-BE49-F238E27FC236}">
                <a16:creationId xmlns:a16="http://schemas.microsoft.com/office/drawing/2014/main" id="{FA965823-6C8F-4A20-B1CB-CDB159CC80F4}"/>
              </a:ext>
            </a:extLst>
          </p:cNvPr>
          <p:cNvGraphicFramePr>
            <a:graphicFrameLocks noChangeAspect="1"/>
          </p:cNvGraphicFramePr>
          <p:nvPr>
            <p:extLst>
              <p:ext uri="{D42A27DB-BD31-4B8C-83A1-F6EECF244321}">
                <p14:modId xmlns:p14="http://schemas.microsoft.com/office/powerpoint/2010/main" val="1661558677"/>
              </p:ext>
            </p:extLst>
          </p:nvPr>
        </p:nvGraphicFramePr>
        <p:xfrm>
          <a:off x="546666" y="1718478"/>
          <a:ext cx="8458200" cy="609600"/>
        </p:xfrm>
        <a:graphic>
          <a:graphicData uri="http://schemas.openxmlformats.org/presentationml/2006/ole">
            <mc:AlternateContent xmlns:mc="http://schemas.openxmlformats.org/markup-compatibility/2006">
              <mc:Choice xmlns:v="urn:schemas-microsoft-com:vml" Requires="v">
                <p:oleObj name="Equation" r:id="rId2" imgW="4228920" imgH="304560" progId="Equation.DSMT4">
                  <p:embed/>
                </p:oleObj>
              </mc:Choice>
              <mc:Fallback>
                <p:oleObj name="Equation" r:id="rId2" imgW="4228920" imgH="304560" progId="Equation.DSMT4">
                  <p:embed/>
                  <p:pic>
                    <p:nvPicPr>
                      <p:cNvPr id="7" name="对象 6">
                        <a:extLst>
                          <a:ext uri="{FF2B5EF4-FFF2-40B4-BE49-F238E27FC236}">
                            <a16:creationId xmlns:a16="http://schemas.microsoft.com/office/drawing/2014/main" id="{FA965823-6C8F-4A20-B1CB-CDB159CC80F4}"/>
                          </a:ext>
                        </a:extLst>
                      </p:cNvPr>
                      <p:cNvPicPr/>
                      <p:nvPr/>
                    </p:nvPicPr>
                    <p:blipFill>
                      <a:blip r:embed="rId3"/>
                      <a:stretch>
                        <a:fillRect/>
                      </a:stretch>
                    </p:blipFill>
                    <p:spPr>
                      <a:xfrm>
                        <a:off x="546666" y="1718478"/>
                        <a:ext cx="8458200" cy="609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8DC87BA-3CAE-4CFB-9346-CBB1E31877E1}"/>
              </a:ext>
            </a:extLst>
          </p:cNvPr>
          <p:cNvGraphicFramePr>
            <a:graphicFrameLocks noChangeAspect="1"/>
          </p:cNvGraphicFramePr>
          <p:nvPr>
            <p:extLst>
              <p:ext uri="{D42A27DB-BD31-4B8C-83A1-F6EECF244321}">
                <p14:modId xmlns:p14="http://schemas.microsoft.com/office/powerpoint/2010/main" val="1555640947"/>
              </p:ext>
            </p:extLst>
          </p:nvPr>
        </p:nvGraphicFramePr>
        <p:xfrm>
          <a:off x="546666" y="2508848"/>
          <a:ext cx="9829800" cy="609600"/>
        </p:xfrm>
        <a:graphic>
          <a:graphicData uri="http://schemas.openxmlformats.org/presentationml/2006/ole">
            <mc:AlternateContent xmlns:mc="http://schemas.openxmlformats.org/markup-compatibility/2006">
              <mc:Choice xmlns:v="urn:schemas-microsoft-com:vml" Requires="v">
                <p:oleObj name="Equation" r:id="rId4" imgW="4914720" imgH="304560" progId="Equation.DSMT4">
                  <p:embed/>
                </p:oleObj>
              </mc:Choice>
              <mc:Fallback>
                <p:oleObj name="Equation" r:id="rId4" imgW="4914720" imgH="304560" progId="Equation.DSMT4">
                  <p:embed/>
                  <p:pic>
                    <p:nvPicPr>
                      <p:cNvPr id="8" name="对象 7">
                        <a:extLst>
                          <a:ext uri="{FF2B5EF4-FFF2-40B4-BE49-F238E27FC236}">
                            <a16:creationId xmlns:a16="http://schemas.microsoft.com/office/drawing/2014/main" id="{B8DC87BA-3CAE-4CFB-9346-CBB1E31877E1}"/>
                          </a:ext>
                        </a:extLst>
                      </p:cNvPr>
                      <p:cNvPicPr/>
                      <p:nvPr/>
                    </p:nvPicPr>
                    <p:blipFill>
                      <a:blip r:embed="rId5"/>
                      <a:stretch>
                        <a:fillRect/>
                      </a:stretch>
                    </p:blipFill>
                    <p:spPr>
                      <a:xfrm>
                        <a:off x="546666" y="2508848"/>
                        <a:ext cx="9829800" cy="6096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7B42EB0-9360-4BE8-8E53-984B39A7313D}"/>
              </a:ext>
            </a:extLst>
          </p:cNvPr>
          <p:cNvGraphicFramePr>
            <a:graphicFrameLocks noChangeAspect="1"/>
          </p:cNvGraphicFramePr>
          <p:nvPr>
            <p:extLst>
              <p:ext uri="{D42A27DB-BD31-4B8C-83A1-F6EECF244321}">
                <p14:modId xmlns:p14="http://schemas.microsoft.com/office/powerpoint/2010/main" val="777525130"/>
              </p:ext>
            </p:extLst>
          </p:nvPr>
        </p:nvGraphicFramePr>
        <p:xfrm>
          <a:off x="521266" y="3376904"/>
          <a:ext cx="9880600" cy="863600"/>
        </p:xfrm>
        <a:graphic>
          <a:graphicData uri="http://schemas.openxmlformats.org/presentationml/2006/ole">
            <mc:AlternateContent xmlns:mc="http://schemas.openxmlformats.org/markup-compatibility/2006">
              <mc:Choice xmlns:v="urn:schemas-microsoft-com:vml" Requires="v">
                <p:oleObj name="Equation" r:id="rId6" imgW="4940280" imgH="431640" progId="Equation.DSMT4">
                  <p:embed/>
                </p:oleObj>
              </mc:Choice>
              <mc:Fallback>
                <p:oleObj name="Equation" r:id="rId6" imgW="4940280" imgH="431640" progId="Equation.DSMT4">
                  <p:embed/>
                  <p:pic>
                    <p:nvPicPr>
                      <p:cNvPr id="9" name="对象 8">
                        <a:extLst>
                          <a:ext uri="{FF2B5EF4-FFF2-40B4-BE49-F238E27FC236}">
                            <a16:creationId xmlns:a16="http://schemas.microsoft.com/office/drawing/2014/main" id="{47B42EB0-9360-4BE8-8E53-984B39A7313D}"/>
                          </a:ext>
                        </a:extLst>
                      </p:cNvPr>
                      <p:cNvPicPr/>
                      <p:nvPr/>
                    </p:nvPicPr>
                    <p:blipFill>
                      <a:blip r:embed="rId7"/>
                      <a:stretch>
                        <a:fillRect/>
                      </a:stretch>
                    </p:blipFill>
                    <p:spPr>
                      <a:xfrm>
                        <a:off x="521266" y="3376904"/>
                        <a:ext cx="9880600" cy="863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26F13A6-8F75-4A52-B6B7-A8212006145D}"/>
              </a:ext>
            </a:extLst>
          </p:cNvPr>
          <p:cNvGraphicFramePr>
            <a:graphicFrameLocks noChangeAspect="1"/>
          </p:cNvGraphicFramePr>
          <p:nvPr>
            <p:extLst>
              <p:ext uri="{D42A27DB-BD31-4B8C-83A1-F6EECF244321}">
                <p14:modId xmlns:p14="http://schemas.microsoft.com/office/powerpoint/2010/main" val="3332955763"/>
              </p:ext>
            </p:extLst>
          </p:nvPr>
        </p:nvGraphicFramePr>
        <p:xfrm>
          <a:off x="546666" y="4557030"/>
          <a:ext cx="2540000" cy="533400"/>
        </p:xfrm>
        <a:graphic>
          <a:graphicData uri="http://schemas.openxmlformats.org/presentationml/2006/ole">
            <mc:AlternateContent xmlns:mc="http://schemas.openxmlformats.org/markup-compatibility/2006">
              <mc:Choice xmlns:v="urn:schemas-microsoft-com:vml" Requires="v">
                <p:oleObj name="Equation" r:id="rId8" imgW="1269720" imgH="266400" progId="Equation.DSMT4">
                  <p:embed/>
                </p:oleObj>
              </mc:Choice>
              <mc:Fallback>
                <p:oleObj name="Equation" r:id="rId8" imgW="1269720" imgH="266400" progId="Equation.DSMT4">
                  <p:embed/>
                  <p:pic>
                    <p:nvPicPr>
                      <p:cNvPr id="10" name="对象 9">
                        <a:extLst>
                          <a:ext uri="{FF2B5EF4-FFF2-40B4-BE49-F238E27FC236}">
                            <a16:creationId xmlns:a16="http://schemas.microsoft.com/office/drawing/2014/main" id="{C26F13A6-8F75-4A52-B6B7-A8212006145D}"/>
                          </a:ext>
                        </a:extLst>
                      </p:cNvPr>
                      <p:cNvPicPr/>
                      <p:nvPr/>
                    </p:nvPicPr>
                    <p:blipFill>
                      <a:blip r:embed="rId9"/>
                      <a:stretch>
                        <a:fillRect/>
                      </a:stretch>
                    </p:blipFill>
                    <p:spPr>
                      <a:xfrm>
                        <a:off x="546666" y="4557030"/>
                        <a:ext cx="2540000" cy="5334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1B5196F-D6AC-4BEB-9FFE-E0F47275F5FE}"/>
              </a:ext>
            </a:extLst>
          </p:cNvPr>
          <p:cNvGraphicFramePr>
            <a:graphicFrameLocks noChangeAspect="1"/>
          </p:cNvGraphicFramePr>
          <p:nvPr>
            <p:extLst>
              <p:ext uri="{D42A27DB-BD31-4B8C-83A1-F6EECF244321}">
                <p14:modId xmlns:p14="http://schemas.microsoft.com/office/powerpoint/2010/main" val="2463431393"/>
              </p:ext>
            </p:extLst>
          </p:nvPr>
        </p:nvGraphicFramePr>
        <p:xfrm>
          <a:off x="655852" y="5406956"/>
          <a:ext cx="7643812" cy="531813"/>
        </p:xfrm>
        <a:graphic>
          <a:graphicData uri="http://schemas.openxmlformats.org/presentationml/2006/ole">
            <mc:AlternateContent xmlns:mc="http://schemas.openxmlformats.org/markup-compatibility/2006">
              <mc:Choice xmlns:v="urn:schemas-microsoft-com:vml" Requires="v">
                <p:oleObj name="Equation" r:id="rId10" imgW="3822480" imgH="266400" progId="Equation.DSMT4">
                  <p:embed/>
                </p:oleObj>
              </mc:Choice>
              <mc:Fallback>
                <p:oleObj name="Equation" r:id="rId10" imgW="3822480" imgH="266400" progId="Equation.DSMT4">
                  <p:embed/>
                  <p:pic>
                    <p:nvPicPr>
                      <p:cNvPr id="11" name="对象 10">
                        <a:extLst>
                          <a:ext uri="{FF2B5EF4-FFF2-40B4-BE49-F238E27FC236}">
                            <a16:creationId xmlns:a16="http://schemas.microsoft.com/office/drawing/2014/main" id="{91B5196F-D6AC-4BEB-9FFE-E0F47275F5FE}"/>
                          </a:ext>
                        </a:extLst>
                      </p:cNvPr>
                      <p:cNvPicPr/>
                      <p:nvPr/>
                    </p:nvPicPr>
                    <p:blipFill>
                      <a:blip r:embed="rId11"/>
                      <a:stretch>
                        <a:fillRect/>
                      </a:stretch>
                    </p:blipFill>
                    <p:spPr>
                      <a:xfrm>
                        <a:off x="655852" y="5406956"/>
                        <a:ext cx="7643812" cy="531813"/>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84931006-0C71-4E59-992A-2877295F7CDF}"/>
              </a:ext>
            </a:extLst>
          </p:cNvPr>
          <p:cNvGraphicFramePr>
            <a:graphicFrameLocks noChangeAspect="1"/>
          </p:cNvGraphicFramePr>
          <p:nvPr>
            <p:extLst>
              <p:ext uri="{D42A27DB-BD31-4B8C-83A1-F6EECF244321}">
                <p14:modId xmlns:p14="http://schemas.microsoft.com/office/powerpoint/2010/main" val="4173285322"/>
              </p:ext>
            </p:extLst>
          </p:nvPr>
        </p:nvGraphicFramePr>
        <p:xfrm>
          <a:off x="4775766" y="666765"/>
          <a:ext cx="1473120" cy="457200"/>
        </p:xfrm>
        <a:graphic>
          <a:graphicData uri="http://schemas.openxmlformats.org/presentationml/2006/ole">
            <mc:AlternateContent xmlns:mc="http://schemas.openxmlformats.org/markup-compatibility/2006">
              <mc:Choice xmlns:v="urn:schemas-microsoft-com:vml" Requires="v">
                <p:oleObj name="Equation" r:id="rId12" imgW="736560" imgH="228600" progId="Equation.DSMT4">
                  <p:embed/>
                </p:oleObj>
              </mc:Choice>
              <mc:Fallback>
                <p:oleObj name="Equation" r:id="rId12" imgW="736560" imgH="228600" progId="Equation.DSMT4">
                  <p:embed/>
                  <p:pic>
                    <p:nvPicPr>
                      <p:cNvPr id="0" name=""/>
                      <p:cNvPicPr/>
                      <p:nvPr/>
                    </p:nvPicPr>
                    <p:blipFill>
                      <a:blip r:embed="rId13"/>
                      <a:stretch>
                        <a:fillRect/>
                      </a:stretch>
                    </p:blipFill>
                    <p:spPr>
                      <a:xfrm>
                        <a:off x="4775766" y="666765"/>
                        <a:ext cx="1473120" cy="457200"/>
                      </a:xfrm>
                      <a:prstGeom prst="rect">
                        <a:avLst/>
                      </a:prstGeom>
                      <a:ln>
                        <a:solidFill>
                          <a:srgbClr val="3333FF"/>
                        </a:solidFill>
                      </a:ln>
                    </p:spPr>
                  </p:pic>
                </p:oleObj>
              </mc:Fallback>
            </mc:AlternateContent>
          </a:graphicData>
        </a:graphic>
      </p:graphicFrame>
    </p:spTree>
    <p:extLst>
      <p:ext uri="{BB962C8B-B14F-4D97-AF65-F5344CB8AC3E}">
        <p14:creationId xmlns:p14="http://schemas.microsoft.com/office/powerpoint/2010/main" val="2764378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a:extLst>
              <a:ext uri="{FF2B5EF4-FFF2-40B4-BE49-F238E27FC236}">
                <a16:creationId xmlns:a16="http://schemas.microsoft.com/office/drawing/2014/main" id="{FA965823-6C8F-4A20-B1CB-CDB159CC80F4}"/>
              </a:ext>
            </a:extLst>
          </p:cNvPr>
          <p:cNvGraphicFramePr>
            <a:graphicFrameLocks noChangeAspect="1"/>
          </p:cNvGraphicFramePr>
          <p:nvPr>
            <p:extLst>
              <p:ext uri="{D42A27DB-BD31-4B8C-83A1-F6EECF244321}">
                <p14:modId xmlns:p14="http://schemas.microsoft.com/office/powerpoint/2010/main" val="568300573"/>
              </p:ext>
            </p:extLst>
          </p:nvPr>
        </p:nvGraphicFramePr>
        <p:xfrm>
          <a:off x="546666" y="1678453"/>
          <a:ext cx="7772400" cy="609600"/>
        </p:xfrm>
        <a:graphic>
          <a:graphicData uri="http://schemas.openxmlformats.org/presentationml/2006/ole">
            <mc:AlternateContent xmlns:mc="http://schemas.openxmlformats.org/markup-compatibility/2006">
              <mc:Choice xmlns:v="urn:schemas-microsoft-com:vml" Requires="v">
                <p:oleObj name="Equation" r:id="rId2" imgW="3886200" imgH="304560" progId="Equation.DSMT4">
                  <p:embed/>
                </p:oleObj>
              </mc:Choice>
              <mc:Fallback>
                <p:oleObj name="Equation" r:id="rId2" imgW="3886200" imgH="304560" progId="Equation.DSMT4">
                  <p:embed/>
                  <p:pic>
                    <p:nvPicPr>
                      <p:cNvPr id="7" name="对象 6">
                        <a:extLst>
                          <a:ext uri="{FF2B5EF4-FFF2-40B4-BE49-F238E27FC236}">
                            <a16:creationId xmlns:a16="http://schemas.microsoft.com/office/drawing/2014/main" id="{FA965823-6C8F-4A20-B1CB-CDB159CC80F4}"/>
                          </a:ext>
                        </a:extLst>
                      </p:cNvPr>
                      <p:cNvPicPr/>
                      <p:nvPr/>
                    </p:nvPicPr>
                    <p:blipFill>
                      <a:blip r:embed="rId3"/>
                      <a:stretch>
                        <a:fillRect/>
                      </a:stretch>
                    </p:blipFill>
                    <p:spPr>
                      <a:xfrm>
                        <a:off x="546666" y="1678453"/>
                        <a:ext cx="7772400" cy="609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8DC87BA-3CAE-4CFB-9346-CBB1E31877E1}"/>
              </a:ext>
            </a:extLst>
          </p:cNvPr>
          <p:cNvGraphicFramePr>
            <a:graphicFrameLocks noChangeAspect="1"/>
          </p:cNvGraphicFramePr>
          <p:nvPr>
            <p:extLst>
              <p:ext uri="{D42A27DB-BD31-4B8C-83A1-F6EECF244321}">
                <p14:modId xmlns:p14="http://schemas.microsoft.com/office/powerpoint/2010/main" val="4082581857"/>
              </p:ext>
            </p:extLst>
          </p:nvPr>
        </p:nvGraphicFramePr>
        <p:xfrm>
          <a:off x="466665" y="2628750"/>
          <a:ext cx="5359400" cy="533400"/>
        </p:xfrm>
        <a:graphic>
          <a:graphicData uri="http://schemas.openxmlformats.org/presentationml/2006/ole">
            <mc:AlternateContent xmlns:mc="http://schemas.openxmlformats.org/markup-compatibility/2006">
              <mc:Choice xmlns:v="urn:schemas-microsoft-com:vml" Requires="v">
                <p:oleObj name="Equation" r:id="rId4" imgW="2679480" imgH="266400" progId="Equation.DSMT4">
                  <p:embed/>
                </p:oleObj>
              </mc:Choice>
              <mc:Fallback>
                <p:oleObj name="Equation" r:id="rId4" imgW="2679480" imgH="266400" progId="Equation.DSMT4">
                  <p:embed/>
                  <p:pic>
                    <p:nvPicPr>
                      <p:cNvPr id="8" name="对象 7">
                        <a:extLst>
                          <a:ext uri="{FF2B5EF4-FFF2-40B4-BE49-F238E27FC236}">
                            <a16:creationId xmlns:a16="http://schemas.microsoft.com/office/drawing/2014/main" id="{B8DC87BA-3CAE-4CFB-9346-CBB1E31877E1}"/>
                          </a:ext>
                        </a:extLst>
                      </p:cNvPr>
                      <p:cNvPicPr/>
                      <p:nvPr/>
                    </p:nvPicPr>
                    <p:blipFill>
                      <a:blip r:embed="rId5"/>
                      <a:stretch>
                        <a:fillRect/>
                      </a:stretch>
                    </p:blipFill>
                    <p:spPr>
                      <a:xfrm>
                        <a:off x="466665" y="2628750"/>
                        <a:ext cx="5359400" cy="5334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7B42EB0-9360-4BE8-8E53-984B39A7313D}"/>
              </a:ext>
            </a:extLst>
          </p:cNvPr>
          <p:cNvGraphicFramePr>
            <a:graphicFrameLocks noChangeAspect="1"/>
          </p:cNvGraphicFramePr>
          <p:nvPr>
            <p:extLst>
              <p:ext uri="{D42A27DB-BD31-4B8C-83A1-F6EECF244321}">
                <p14:modId xmlns:p14="http://schemas.microsoft.com/office/powerpoint/2010/main" val="2825056641"/>
              </p:ext>
            </p:extLst>
          </p:nvPr>
        </p:nvGraphicFramePr>
        <p:xfrm>
          <a:off x="369888" y="3338513"/>
          <a:ext cx="9855200" cy="863600"/>
        </p:xfrm>
        <a:graphic>
          <a:graphicData uri="http://schemas.openxmlformats.org/presentationml/2006/ole">
            <mc:AlternateContent xmlns:mc="http://schemas.openxmlformats.org/markup-compatibility/2006">
              <mc:Choice xmlns:v="urn:schemas-microsoft-com:vml" Requires="v">
                <p:oleObj name="Equation" r:id="rId6" imgW="4927320" imgH="431640" progId="Equation.DSMT4">
                  <p:embed/>
                </p:oleObj>
              </mc:Choice>
              <mc:Fallback>
                <p:oleObj name="Equation" r:id="rId6" imgW="4927320" imgH="431640" progId="Equation.DSMT4">
                  <p:embed/>
                  <p:pic>
                    <p:nvPicPr>
                      <p:cNvPr id="9" name="对象 8">
                        <a:extLst>
                          <a:ext uri="{FF2B5EF4-FFF2-40B4-BE49-F238E27FC236}">
                            <a16:creationId xmlns:a16="http://schemas.microsoft.com/office/drawing/2014/main" id="{47B42EB0-9360-4BE8-8E53-984B39A7313D}"/>
                          </a:ext>
                        </a:extLst>
                      </p:cNvPr>
                      <p:cNvPicPr/>
                      <p:nvPr/>
                    </p:nvPicPr>
                    <p:blipFill>
                      <a:blip r:embed="rId7"/>
                      <a:stretch>
                        <a:fillRect/>
                      </a:stretch>
                    </p:blipFill>
                    <p:spPr>
                      <a:xfrm>
                        <a:off x="369888" y="3338513"/>
                        <a:ext cx="9855200" cy="863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26F13A6-8F75-4A52-B6B7-A8212006145D}"/>
              </a:ext>
            </a:extLst>
          </p:cNvPr>
          <p:cNvGraphicFramePr>
            <a:graphicFrameLocks noChangeAspect="1"/>
          </p:cNvGraphicFramePr>
          <p:nvPr>
            <p:extLst>
              <p:ext uri="{D42A27DB-BD31-4B8C-83A1-F6EECF244321}">
                <p14:modId xmlns:p14="http://schemas.microsoft.com/office/powerpoint/2010/main" val="309503486"/>
              </p:ext>
            </p:extLst>
          </p:nvPr>
        </p:nvGraphicFramePr>
        <p:xfrm>
          <a:off x="546666" y="4557030"/>
          <a:ext cx="2540000" cy="533400"/>
        </p:xfrm>
        <a:graphic>
          <a:graphicData uri="http://schemas.openxmlformats.org/presentationml/2006/ole">
            <mc:AlternateContent xmlns:mc="http://schemas.openxmlformats.org/markup-compatibility/2006">
              <mc:Choice xmlns:v="urn:schemas-microsoft-com:vml" Requires="v">
                <p:oleObj name="Equation" r:id="rId8" imgW="1269720" imgH="266400" progId="Equation.DSMT4">
                  <p:embed/>
                </p:oleObj>
              </mc:Choice>
              <mc:Fallback>
                <p:oleObj name="Equation" r:id="rId8" imgW="1269720" imgH="266400" progId="Equation.DSMT4">
                  <p:embed/>
                  <p:pic>
                    <p:nvPicPr>
                      <p:cNvPr id="10" name="对象 9">
                        <a:extLst>
                          <a:ext uri="{FF2B5EF4-FFF2-40B4-BE49-F238E27FC236}">
                            <a16:creationId xmlns:a16="http://schemas.microsoft.com/office/drawing/2014/main" id="{C26F13A6-8F75-4A52-B6B7-A8212006145D}"/>
                          </a:ext>
                        </a:extLst>
                      </p:cNvPr>
                      <p:cNvPicPr/>
                      <p:nvPr/>
                    </p:nvPicPr>
                    <p:blipFill>
                      <a:blip r:embed="rId9"/>
                      <a:stretch>
                        <a:fillRect/>
                      </a:stretch>
                    </p:blipFill>
                    <p:spPr>
                      <a:xfrm>
                        <a:off x="546666" y="4557030"/>
                        <a:ext cx="2540000" cy="5334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1B5196F-D6AC-4BEB-9FFE-E0F47275F5FE}"/>
              </a:ext>
            </a:extLst>
          </p:cNvPr>
          <p:cNvGraphicFramePr>
            <a:graphicFrameLocks noChangeAspect="1"/>
          </p:cNvGraphicFramePr>
          <p:nvPr>
            <p:extLst>
              <p:ext uri="{D42A27DB-BD31-4B8C-83A1-F6EECF244321}">
                <p14:modId xmlns:p14="http://schemas.microsoft.com/office/powerpoint/2010/main" val="1479831926"/>
              </p:ext>
            </p:extLst>
          </p:nvPr>
        </p:nvGraphicFramePr>
        <p:xfrm>
          <a:off x="484673" y="5445347"/>
          <a:ext cx="5764213" cy="531813"/>
        </p:xfrm>
        <a:graphic>
          <a:graphicData uri="http://schemas.openxmlformats.org/presentationml/2006/ole">
            <mc:AlternateContent xmlns:mc="http://schemas.openxmlformats.org/markup-compatibility/2006">
              <mc:Choice xmlns:v="urn:schemas-microsoft-com:vml" Requires="v">
                <p:oleObj name="Equation" r:id="rId10" imgW="2882880" imgH="266400" progId="Equation.DSMT4">
                  <p:embed/>
                </p:oleObj>
              </mc:Choice>
              <mc:Fallback>
                <p:oleObj name="Equation" r:id="rId10" imgW="2882880" imgH="266400" progId="Equation.DSMT4">
                  <p:embed/>
                  <p:pic>
                    <p:nvPicPr>
                      <p:cNvPr id="11" name="对象 10">
                        <a:extLst>
                          <a:ext uri="{FF2B5EF4-FFF2-40B4-BE49-F238E27FC236}">
                            <a16:creationId xmlns:a16="http://schemas.microsoft.com/office/drawing/2014/main" id="{91B5196F-D6AC-4BEB-9FFE-E0F47275F5FE}"/>
                          </a:ext>
                        </a:extLst>
                      </p:cNvPr>
                      <p:cNvPicPr/>
                      <p:nvPr/>
                    </p:nvPicPr>
                    <p:blipFill>
                      <a:blip r:embed="rId11"/>
                      <a:stretch>
                        <a:fillRect/>
                      </a:stretch>
                    </p:blipFill>
                    <p:spPr>
                      <a:xfrm>
                        <a:off x="484673" y="5445347"/>
                        <a:ext cx="5764213" cy="531813"/>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84931006-0C71-4E59-992A-2877295F7CDF}"/>
              </a:ext>
            </a:extLst>
          </p:cNvPr>
          <p:cNvGraphicFramePr>
            <a:graphicFrameLocks noChangeAspect="1"/>
          </p:cNvGraphicFramePr>
          <p:nvPr>
            <p:extLst>
              <p:ext uri="{D42A27DB-BD31-4B8C-83A1-F6EECF244321}">
                <p14:modId xmlns:p14="http://schemas.microsoft.com/office/powerpoint/2010/main" val="1039992267"/>
              </p:ext>
            </p:extLst>
          </p:nvPr>
        </p:nvGraphicFramePr>
        <p:xfrm>
          <a:off x="4775766" y="666765"/>
          <a:ext cx="1473120" cy="457200"/>
        </p:xfrm>
        <a:graphic>
          <a:graphicData uri="http://schemas.openxmlformats.org/presentationml/2006/ole">
            <mc:AlternateContent xmlns:mc="http://schemas.openxmlformats.org/markup-compatibility/2006">
              <mc:Choice xmlns:v="urn:schemas-microsoft-com:vml" Requires="v">
                <p:oleObj name="Equation" r:id="rId12" imgW="736560" imgH="228600" progId="Equation.DSMT4">
                  <p:embed/>
                </p:oleObj>
              </mc:Choice>
              <mc:Fallback>
                <p:oleObj name="Equation" r:id="rId12" imgW="736560" imgH="228600" progId="Equation.DSMT4">
                  <p:embed/>
                  <p:pic>
                    <p:nvPicPr>
                      <p:cNvPr id="2" name="对象 1">
                        <a:extLst>
                          <a:ext uri="{FF2B5EF4-FFF2-40B4-BE49-F238E27FC236}">
                            <a16:creationId xmlns:a16="http://schemas.microsoft.com/office/drawing/2014/main" id="{84931006-0C71-4E59-992A-2877295F7CDF}"/>
                          </a:ext>
                        </a:extLst>
                      </p:cNvPr>
                      <p:cNvPicPr/>
                      <p:nvPr/>
                    </p:nvPicPr>
                    <p:blipFill>
                      <a:blip r:embed="rId13"/>
                      <a:stretch>
                        <a:fillRect/>
                      </a:stretch>
                    </p:blipFill>
                    <p:spPr>
                      <a:xfrm>
                        <a:off x="4775766" y="666765"/>
                        <a:ext cx="1473120" cy="457200"/>
                      </a:xfrm>
                      <a:prstGeom prst="rect">
                        <a:avLst/>
                      </a:prstGeom>
                      <a:ln>
                        <a:solidFill>
                          <a:srgbClr val="3333FF"/>
                        </a:solidFill>
                      </a:ln>
                    </p:spPr>
                  </p:pic>
                </p:oleObj>
              </mc:Fallback>
            </mc:AlternateContent>
          </a:graphicData>
        </a:graphic>
      </p:graphicFrame>
    </p:spTree>
    <p:extLst>
      <p:ext uri="{BB962C8B-B14F-4D97-AF65-F5344CB8AC3E}">
        <p14:creationId xmlns:p14="http://schemas.microsoft.com/office/powerpoint/2010/main" val="1915821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3263591" y="497928"/>
              <a:ext cx="6376082" cy="1841564"/>
            </p:xfrm>
            <a:graphic>
              <a:graphicData uri="http://schemas.openxmlformats.org/drawingml/2006/table">
                <a:tbl>
                  <a:tblPr/>
                  <a:tblGrid>
                    <a:gridCol w="423745">
                      <a:extLst>
                        <a:ext uri="{9D8B030D-6E8A-4147-A177-3AD203B41FA5}">
                          <a16:colId xmlns:a16="http://schemas.microsoft.com/office/drawing/2014/main" val="20000"/>
                        </a:ext>
                      </a:extLst>
                    </a:gridCol>
                    <a:gridCol w="2922314">
                      <a:extLst>
                        <a:ext uri="{9D8B030D-6E8A-4147-A177-3AD203B41FA5}">
                          <a16:colId xmlns:a16="http://schemas.microsoft.com/office/drawing/2014/main" val="20001"/>
                        </a:ext>
                      </a:extLst>
                    </a:gridCol>
                    <a:gridCol w="3030023">
                      <a:extLst>
                        <a:ext uri="{9D8B030D-6E8A-4147-A177-3AD203B41FA5}">
                          <a16:colId xmlns:a16="http://schemas.microsoft.com/office/drawing/2014/main" val="20002"/>
                        </a:ext>
                      </a:extLst>
                    </a:gridCol>
                  </a:tblGrid>
                  <a:tr h="183766">
                    <a:tc>
                      <a:txBody>
                        <a:bodyPr/>
                        <a:lstStyle/>
                        <a:p>
                          <a:pPr algn="ctr"/>
                          <a14:m>
                            <m:oMathPara xmlns:m="http://schemas.openxmlformats.org/officeDocument/2006/math">
                              <m:oMathParaPr>
                                <m:jc m:val="centerGroup"/>
                              </m:oMathParaPr>
                              <m:oMath xmlns:m="http://schemas.openxmlformats.org/officeDocument/2006/math">
                                <m:r>
                                  <a:rPr lang="zh-CN" altLang="en-US" sz="2400" i="1" dirty="0" smtClean="0">
                                    <a:solidFill>
                                      <a:srgbClr val="2926BF"/>
                                    </a:solidFill>
                                    <a:latin typeface="Cambria Math" panose="02040503050406030204" pitchFamily="18" charset="0"/>
                                  </a:rPr>
                                  <m:t>𝑀</m:t>
                                </m:r>
                                <m:r>
                                  <a:rPr lang="zh-CN" altLang="en-US" sz="2400" i="1" baseline="-25000" dirty="0">
                                    <a:solidFill>
                                      <a:srgbClr val="2926BF"/>
                                    </a:solidFill>
                                    <a:latin typeface="Cambria Math" panose="02040503050406030204" pitchFamily="18" charset="0"/>
                                  </a:rPr>
                                  <m:t>𝑠</m:t>
                                </m:r>
                              </m:oMath>
                            </m:oMathPara>
                          </a14:m>
                          <a:endParaRPr lang="en-US" sz="2400" dirty="0">
                            <a:solidFill>
                              <a:srgbClr val="2926BF"/>
                            </a:solidFill>
                            <a:latin typeface="Calisto MT" panose="0204060305050503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 xmlns:m="http://schemas.openxmlformats.org/officeDocument/2006/math">
                              <m:r>
                                <a:rPr lang="en-US" altLang="zh-CN" sz="2400" i="1" dirty="0" smtClean="0">
                                  <a:solidFill>
                                    <a:srgbClr val="2926BF"/>
                                  </a:solidFill>
                                  <a:latin typeface="Cambria Math" panose="02040503050406030204" pitchFamily="18" charset="0"/>
                                </a:rPr>
                                <m:t>𝑆</m:t>
                              </m:r>
                              <m:r>
                                <a:rPr lang="en-US" altLang="zh-CN" sz="2400" i="1" dirty="0" smtClean="0">
                                  <a:solidFill>
                                    <a:srgbClr val="2926BF"/>
                                  </a:solidFill>
                                  <a:latin typeface="Cambria Math" panose="02040503050406030204" pitchFamily="18" charset="0"/>
                                </a:rPr>
                                <m:t>=1</m:t>
                              </m:r>
                            </m:oMath>
                          </a14:m>
                          <a:r>
                            <a:rPr lang="en-US" altLang="zh-CN" sz="2400" i="0" dirty="0">
                              <a:solidFill>
                                <a:schemeClr val="tx1"/>
                              </a:solidFill>
                              <a:latin typeface="Calisto MT" panose="02040603050505030304" pitchFamily="18" charset="0"/>
                            </a:rPr>
                            <a:t> (triplet)</a:t>
                          </a:r>
                          <a:endParaRPr sz="2400" i="0" dirty="0">
                            <a:solidFill>
                              <a:schemeClr val="tx1"/>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116205" indent="0" algn="ctr"/>
                          <a14:m>
                            <m:oMath xmlns:m="http://schemas.openxmlformats.org/officeDocument/2006/math">
                              <m:r>
                                <a:rPr lang="en-US" altLang="zh-CN" sz="2400" i="1" dirty="0" smtClean="0">
                                  <a:solidFill>
                                    <a:srgbClr val="2926BF"/>
                                  </a:solidFill>
                                  <a:latin typeface="Cambria Math" panose="02040503050406030204" pitchFamily="18" charset="0"/>
                                </a:rPr>
                                <m:t>𝑆</m:t>
                              </m:r>
                              <m:r>
                                <a:rPr lang="en-US" altLang="zh-CN" sz="2400" i="1" dirty="0" smtClean="0">
                                  <a:solidFill>
                                    <a:srgbClr val="2926BF"/>
                                  </a:solidFill>
                                  <a:latin typeface="Cambria Math" panose="02040503050406030204" pitchFamily="18" charset="0"/>
                                </a:rPr>
                                <m:t>=0</m:t>
                              </m:r>
                            </m:oMath>
                          </a14:m>
                          <a:r>
                            <a:rPr lang="en-US" sz="2400" dirty="0">
                              <a:solidFill>
                                <a:srgbClr val="2926BF"/>
                              </a:solidFill>
                              <a:latin typeface="Calisto MT" panose="02040603050505030304" pitchFamily="18" charset="0"/>
                            </a:rPr>
                            <a:t> </a:t>
                          </a:r>
                          <a:r>
                            <a:rPr lang="en-US" altLang="zh-CN" sz="2400" i="0" dirty="0">
                              <a:solidFill>
                                <a:schemeClr val="tx1"/>
                              </a:solidFill>
                              <a:latin typeface="Calisto MT" panose="02040603050505030304" pitchFamily="18" charset="0"/>
                            </a:rPr>
                            <a:t>(singlet)</a:t>
                          </a:r>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3766">
                    <a:tc>
                      <a:txBody>
                        <a:bodyPr/>
                        <a:lstStyle/>
                        <a:p>
                          <a:pPr algn="ctr"/>
                          <a:r>
                            <a:rPr lang="en-US" altLang="zh-CN" sz="2400" dirty="0">
                              <a:solidFill>
                                <a:srgbClr val="2926BF"/>
                              </a:solidFill>
                              <a:latin typeface="Calisto MT" panose="02040603050505030304" pitchFamily="18" charset="0"/>
                            </a:rPr>
                            <a:t>1</a:t>
                          </a:r>
                          <a:endParaRPr sz="2400" dirty="0">
                            <a:solidFill>
                              <a:srgbClr val="2926BF"/>
                            </a:solidFill>
                            <a:latin typeface="Calisto MT" panose="0204060305050503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zh-CN" altLang="en-US" sz="2400" i="1" dirty="0" smtClean="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zh-CN" altLang="en-US" sz="2400" i="1" dirty="0">
                                    <a:solidFill>
                                      <a:srgbClr val="2926BF"/>
                                    </a:solidFill>
                                    <a:latin typeface="Cambria Math" panose="02040503050406030204" pitchFamily="18" charset="0"/>
                                  </a:rPr>
                                  <m:t> </m:t>
                                </m:r>
                              </m:oMath>
                            </m:oMathPara>
                          </a14:m>
                          <a:endParaRPr lang="zh-CN" alt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116205" indent="0" algn="ctr"/>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43107">
                    <a:tc>
                      <a:txBody>
                        <a:bodyPr/>
                        <a:lstStyle/>
                        <a:p>
                          <a:pPr marR="116205" indent="0" algn="ctr"/>
                          <a:r>
                            <a:rPr lang="en-US" sz="2400" baseline="0" dirty="0">
                              <a:solidFill>
                                <a:srgbClr val="2926BF"/>
                              </a:solidFill>
                              <a:latin typeface="Calisto MT" panose="02040603050505030304" pitchFamily="18" charset="0"/>
                            </a:rPr>
                            <a:t> </a:t>
                          </a:r>
                          <a:r>
                            <a:rPr lang="en-US" sz="2400" dirty="0">
                              <a:solidFill>
                                <a:srgbClr val="2926BF"/>
                              </a:solidFill>
                              <a:latin typeface="Calisto MT" panose="02040603050505030304" pitchFamily="18" charset="0"/>
                            </a:rPr>
                            <a:t>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r>
                            <a:rPr lang="en-US" altLang="zh-CN" sz="2400" i="0" baseline="0" dirty="0">
                              <a:solidFill>
                                <a:srgbClr val="2926BF"/>
                              </a:solidFill>
                              <a:latin typeface="Calisto MT" panose="02040603050505030304" pitchFamily="18" charset="0"/>
                            </a:rPr>
                            <a:t> </a:t>
                          </a:r>
                          <a14:m>
                            <m:oMath xmlns:m="http://schemas.openxmlformats.org/officeDocument/2006/math">
                              <m:rad>
                                <m:radPr>
                                  <m:degHide m:val="on"/>
                                  <m:ctrlPr>
                                    <a:rPr lang="en-US" altLang="zh-CN" sz="2400" i="1" dirty="0" smtClean="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e>
                              </m:rad>
                              <m:d>
                                <m:dPr>
                                  <m:ctrlPr>
                                    <a:rPr lang="en-US" altLang="zh-CN" sz="2400" i="1" dirty="0">
                                      <a:solidFill>
                                        <a:srgbClr val="2926BF"/>
                                      </a:solidFill>
                                      <a:latin typeface="Cambria Math" panose="02040503050406030204" pitchFamily="18" charset="0"/>
                                    </a:rPr>
                                  </m:ctrlPr>
                                </m:dPr>
                                <m:e>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b="0" i="0" dirty="0" smtClean="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m:rPr>
                                      <m:nor/>
                                    </m:rPr>
                                    <a:rPr lang="en-US" altLang="zh-CN" sz="2400" i="1" dirty="0">
                                      <a:solidFill>
                                        <a:srgbClr val="2926BF"/>
                                      </a:solidFill>
                                      <a:latin typeface="Calisto MT" panose="02040603050505030304" pitchFamily="18" charset="0"/>
                                    </a:rPr>
                                    <m:t> </m:t>
                                  </m:r>
                                </m:e>
                              </m:d>
                            </m:oMath>
                          </a14:m>
                          <a:endParaRPr lang="en-US" sz="2400" i="1"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116205" indent="0" algn="ctr"/>
                          <a:r>
                            <a:rPr lang="en-US" sz="2400" baseline="0" dirty="0">
                              <a:solidFill>
                                <a:srgbClr val="2926BF"/>
                              </a:solidFill>
                              <a:latin typeface="Calisto MT" panose="02040603050505030304" pitchFamily="18" charset="0"/>
                            </a:rPr>
                            <a:t> </a:t>
                          </a:r>
                          <a14:m>
                            <m:oMath xmlns:m="http://schemas.openxmlformats.org/officeDocument/2006/math">
                              <m:rad>
                                <m:radPr>
                                  <m:degHide m:val="on"/>
                                  <m:ctrlPr>
                                    <a:rPr lang="en-US" altLang="zh-CN" sz="2400" i="1" dirty="0" smtClean="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e>
                              </m:rad>
                              <m:d>
                                <m:dPr>
                                  <m:ctrlPr>
                                    <a:rPr lang="en-US" altLang="zh-CN" sz="2400" i="1" dirty="0">
                                      <a:solidFill>
                                        <a:srgbClr val="2926BF"/>
                                      </a:solidFill>
                                      <a:latin typeface="Cambria Math" panose="02040503050406030204" pitchFamily="18" charset="0"/>
                                    </a:rPr>
                                  </m:ctrlPr>
                                </m:dPr>
                                <m:e>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b="0" i="0" dirty="0" smtClean="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m:rPr>
                                      <m:nor/>
                                    </m:rPr>
                                    <a:rPr lang="en-US" altLang="zh-CN" sz="2400" i="1" dirty="0">
                                      <a:solidFill>
                                        <a:srgbClr val="2926BF"/>
                                      </a:solidFill>
                                      <a:latin typeface="Calisto MT" panose="02040603050505030304" pitchFamily="18" charset="0"/>
                                    </a:rPr>
                                    <m:t> </m:t>
                                  </m:r>
                                </m:e>
                              </m:d>
                            </m:oMath>
                          </a14:m>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3819">
                    <a:tc>
                      <a:txBody>
                        <a:bodyPr/>
                        <a:lstStyle/>
                        <a:p>
                          <a:pPr marR="116205" indent="0" algn="ctr"/>
                          <a:r>
                            <a:rPr lang="en-US" sz="2400" dirty="0">
                              <a:solidFill>
                                <a:srgbClr val="2926BF"/>
                              </a:solidFill>
                              <a:latin typeface="Calisto MT" panose="02040603050505030304" pitchFamily="18" charset="0"/>
                            </a:rPr>
                            <a:t>-1</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14:m>
                            <m:oMathPara xmlns:m="http://schemas.openxmlformats.org/officeDocument/2006/math">
                              <m:oMathParaPr>
                                <m:jc m:val="centerGroup"/>
                              </m:oMathParaPr>
                              <m:oMath xmlns:m="http://schemas.openxmlformats.org/officeDocument/2006/math">
                                <m:r>
                                  <a:rPr lang="zh-CN" altLang="en-US" sz="2400" i="1" dirty="0" smtClean="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smtClean="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m:oMathPara>
                          </a14:m>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116205" indent="0" algn="ctr"/>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mc:Choice>
        <mc:Fallback xmlns="">
          <p:graphicFrame>
            <p:nvGraphicFramePr>
              <p:cNvPr id="2" name="表格 1"/>
              <p:cNvGraphicFramePr>
                <a:graphicFrameLocks noGrp="1"/>
              </p:cNvGraphicFramePr>
              <p:nvPr/>
            </p:nvGraphicFramePr>
            <p:xfrm>
              <a:off x="3263591" y="497928"/>
              <a:ext cx="6376082" cy="1841564"/>
            </p:xfrm>
            <a:graphic>
              <a:graphicData uri="http://schemas.openxmlformats.org/drawingml/2006/table">
                <a:tbl>
                  <a:tblPr/>
                  <a:tblGrid>
                    <a:gridCol w="423745"/>
                    <a:gridCol w="2922314"/>
                    <a:gridCol w="3030023"/>
                  </a:tblGrid>
                  <a:tr h="365760">
                    <a:tc>
                      <a:txBody>
                        <a:bodyPr/>
                        <a:lstStyle/>
                        <a:p>
                          <a:endParaRPr lang="zh-CN"/>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r>
                  <a:tr h="365760">
                    <a:tc>
                      <a:txBody>
                        <a:bodyPr/>
                        <a:lstStyle/>
                        <a:p>
                          <a:pPr algn="ctr"/>
                          <a:r>
                            <a:rPr lang="en-US" altLang="zh-CN" sz="2400" dirty="0">
                              <a:solidFill>
                                <a:srgbClr val="2926BF"/>
                              </a:solidFill>
                              <a:latin typeface="Calisto MT" panose="02040603050505030304" pitchFamily="18" charset="0"/>
                            </a:rPr>
                            <a:t>1</a:t>
                          </a:r>
                          <a:endParaRPr sz="2400" dirty="0">
                            <a:solidFill>
                              <a:srgbClr val="2926BF"/>
                            </a:solidFill>
                            <a:latin typeface="Calisto MT" panose="0204060305050503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pPr marR="116205" indent="0" algn="ctr"/>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738505">
                    <a:tc>
                      <a:txBody>
                        <a:bodyPr/>
                        <a:lstStyle/>
                        <a:p>
                          <a:pPr marR="116205" indent="0" algn="ctr"/>
                          <a:r>
                            <a:rPr lang="en-US" sz="2400" baseline="0" dirty="0">
                              <a:solidFill>
                                <a:srgbClr val="2926BF"/>
                              </a:solidFill>
                              <a:latin typeface="Calisto MT" panose="02040603050505030304" pitchFamily="18" charset="0"/>
                            </a:rPr>
                            <a:t> </a:t>
                          </a:r>
                          <a:r>
                            <a:rPr lang="en-US" sz="2400" dirty="0">
                              <a:solidFill>
                                <a:srgbClr val="2926BF"/>
                              </a:solidFill>
                              <a:latin typeface="Calisto MT" panose="02040603050505030304" pitchFamily="18" charset="0"/>
                            </a:rPr>
                            <a:t>0</a:t>
                          </a:r>
                          <a:endParaRPr lang="en-US" sz="2400" dirty="0">
                            <a:solidFill>
                              <a:srgbClr val="2926BF"/>
                            </a:solidFill>
                            <a:latin typeface="Calisto MT" panose="0204060305050503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blipFill>
                      </a:tcPr>
                    </a:tc>
                  </a:tr>
                  <a:tr h="731520">
                    <a:tc>
                      <a:txBody>
                        <a:bodyPr/>
                        <a:lstStyle/>
                        <a:p>
                          <a:pPr marR="116205" indent="0" algn="ctr"/>
                          <a:r>
                            <a:rPr lang="en-US" sz="2400" dirty="0">
                              <a:solidFill>
                                <a:srgbClr val="2926BF"/>
                              </a:solidFill>
                              <a:latin typeface="Calisto MT" panose="02040603050505030304" pitchFamily="18" charset="0"/>
                            </a:rPr>
                            <a:t>-1</a:t>
                          </a:r>
                          <a:endParaRPr lang="en-US" sz="2400" dirty="0">
                            <a:solidFill>
                              <a:srgbClr val="2926BF"/>
                            </a:solidFill>
                            <a:latin typeface="Calisto MT" panose="0204060305050503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pPr marR="116205" indent="0" algn="ctr"/>
                          <a:endParaRPr lang="en-US" sz="24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mc:AlternateContent xmlns:mc="http://schemas.openxmlformats.org/markup-compatibility/2006" xmlns:a14="http://schemas.microsoft.com/office/drawing/2010/main">
        <mc:Choice Requires="a14">
          <p:sp>
            <p:nvSpPr>
              <p:cNvPr id="3" name="矩形 2"/>
              <p:cNvSpPr/>
              <p:nvPr/>
            </p:nvSpPr>
            <p:spPr>
              <a:xfrm>
                <a:off x="361309" y="2546521"/>
                <a:ext cx="11521440" cy="3312895"/>
              </a:xfrm>
              <a:prstGeom prst="rect">
                <a:avLst/>
              </a:prstGeom>
            </p:spPr>
            <p:txBody>
              <a:bodyPr wrap="square">
                <a:spAutoFit/>
              </a:bodyPr>
              <a:lstStyle/>
              <a:p>
                <a:pPr>
                  <a:lnSpc>
                    <a:spcPct val="125000"/>
                  </a:lnSpc>
                </a:pPr>
                <a:r>
                  <a:rPr lang="en-US" altLang="zh-CN" sz="2400" dirty="0">
                    <a:latin typeface="Times New Roman" panose="02020603050405020304" pitchFamily="18" charset="0"/>
                    <a:cs typeface="Times New Roman" panose="02020603050405020304" pitchFamily="18" charset="0"/>
                  </a:rPr>
                  <a:t>The third function of this set turns out to be neither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oMath>
                </a14:m>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nor</a:t>
                </a:r>
                <a:r>
                  <a:rPr lang="en-US" altLang="zh-CN" sz="2400" dirty="0">
                    <a:latin typeface="Times New Roman" panose="02020603050405020304" pitchFamily="18" charset="0"/>
                    <a:cs typeface="Times New Roman" panose="02020603050405020304" pitchFamily="18" charset="0"/>
                  </a:rPr>
                  <a:t>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oMath>
                </a14:m>
                <a:r>
                  <a:rPr lang="en-US" altLang="zh-CN" sz="2400" dirty="0">
                    <a:solidFill>
                      <a:srgbClr val="1D1A83"/>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but a mixture, </a:t>
                </a:r>
                <a14:m>
                  <m:oMath xmlns:m="http://schemas.openxmlformats.org/officeDocument/2006/math">
                    <m:rad>
                      <m:radPr>
                        <m:degHide m:val="on"/>
                        <m:ctrlPr>
                          <a:rPr lang="en-US" altLang="zh-CN" sz="2400" i="1" dirty="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e>
                    </m:rad>
                    <m:d>
                      <m:dPr>
                        <m:ctrlPr>
                          <a:rPr lang="en-US" altLang="zh-CN" sz="2400" i="1" dirty="0">
                            <a:solidFill>
                              <a:srgbClr val="2926BF"/>
                            </a:solidFill>
                            <a:latin typeface="Cambria Math" panose="02040503050406030204" pitchFamily="18" charset="0"/>
                          </a:rPr>
                        </m:ctrlPr>
                      </m:dPr>
                      <m:e>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m:rPr>
                            <m:nor/>
                          </m:rPr>
                          <a:rPr lang="en-US" altLang="zh-CN" sz="2400" i="1" dirty="0">
                            <a:solidFill>
                              <a:srgbClr val="2926BF"/>
                            </a:solidFill>
                            <a:latin typeface="Times New Roman" panose="02020603050405020304" pitchFamily="18" charset="0"/>
                            <a:cs typeface="Times New Roman" panose="02020603050405020304" pitchFamily="18" charset="0"/>
                          </a:rPr>
                          <m:t> </m:t>
                        </m:r>
                      </m:e>
                    </m:d>
                  </m:oMath>
                </a14:m>
                <a:r>
                  <a:rPr lang="en-US" altLang="zh-CN" sz="2400" dirty="0">
                    <a:latin typeface="Times New Roman" panose="02020603050405020304" pitchFamily="18" charset="0"/>
                    <a:cs typeface="Times New Roman" panose="02020603050405020304" pitchFamily="18" charset="0"/>
                  </a:rPr>
                  <a:t>. Like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oMath>
                </a14:m>
                <a:r>
                  <a:rPr lang="zh-CN" altLang="en-US" sz="2400"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it is </a:t>
                </a:r>
                <a:r>
                  <a:rPr lang="en-US" altLang="zh-CN" sz="2400" i="1" dirty="0">
                    <a:solidFill>
                      <a:srgbClr val="B02B08"/>
                    </a:solidFill>
                    <a:latin typeface="Times New Roman" panose="02020603050405020304" pitchFamily="18" charset="0"/>
                    <a:cs typeface="Times New Roman" panose="02020603050405020304" pitchFamily="18" charset="0"/>
                  </a:rPr>
                  <a:t>symmetric</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respect to exchange of the labels </a:t>
                </a:r>
                <a:r>
                  <a:rPr lang="en-US" altLang="zh-CN" sz="2400" dirty="0">
                    <a:solidFill>
                      <a:srgbClr val="2926BF"/>
                    </a:solidFill>
                    <a:latin typeface="Times New Roman" panose="02020603050405020304" pitchFamily="18" charset="0"/>
                    <a:cs typeface="Times New Roman" panose="02020603050405020304" pitchFamily="18" charset="0"/>
                  </a:rPr>
                  <a:t>1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2926BF"/>
                    </a:solidFill>
                    <a:latin typeface="Times New Roman" panose="02020603050405020304" pitchFamily="18" charset="0"/>
                    <a:cs typeface="Times New Roman" panose="02020603050405020304" pitchFamily="18" charset="0"/>
                  </a:rPr>
                  <a:t>2. </a:t>
                </a:r>
                <a:r>
                  <a:rPr lang="en-US" altLang="zh-CN" sz="2400" dirty="0">
                    <a:latin typeface="Times New Roman" panose="02020603050405020304" pitchFamily="18" charset="0"/>
                    <a:cs typeface="Times New Roman" panose="02020603050405020304" pitchFamily="18" charset="0"/>
                  </a:rPr>
                  <a:t>These three functions are the components of a spin </a:t>
                </a:r>
                <a:r>
                  <a:rPr lang="en-US" altLang="zh-CN" sz="2400" i="1" dirty="0">
                    <a:solidFill>
                      <a:srgbClr val="B02B08"/>
                    </a:solidFill>
                    <a:latin typeface="Times New Roman" panose="02020603050405020304" pitchFamily="18" charset="0"/>
                    <a:cs typeface="Times New Roman" panose="02020603050405020304" pitchFamily="18" charset="0"/>
                  </a:rPr>
                  <a:t>triplet.</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 remaining function, with </a:t>
                </a:r>
                <a14:m>
                  <m:oMath xmlns:m="http://schemas.openxmlformats.org/officeDocument/2006/math">
                    <m:r>
                      <a:rPr lang="en-US" altLang="zh-CN" sz="2400" i="1" dirty="0">
                        <a:solidFill>
                          <a:srgbClr val="2926BF"/>
                        </a:solidFill>
                        <a:latin typeface="Cambria Math" panose="02040503050406030204" pitchFamily="18" charset="0"/>
                      </a:rPr>
                      <m:t>𝑆</m:t>
                    </m:r>
                    <m:r>
                      <a:rPr lang="en-US" altLang="zh-CN" sz="2400" i="1"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rPr>
                      <m:t>𝑀</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=0</m:t>
                    </m:r>
                  </m:oMath>
                </a14:m>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a:t>
                </a:r>
                <a14:m>
                  <m:oMath xmlns:m="http://schemas.openxmlformats.org/officeDocument/2006/math">
                    <m:rad>
                      <m:radPr>
                        <m:degHide m:val="on"/>
                        <m:ctrlPr>
                          <a:rPr lang="en-US" altLang="zh-CN" sz="2400" i="1" dirty="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2</m:t>
                            </m:r>
                          </m:den>
                        </m:f>
                      </m:e>
                    </m:rad>
                    <m:d>
                      <m:dPr>
                        <m:ctrlPr>
                          <a:rPr lang="en-US" altLang="zh-CN" sz="2400" i="1" dirty="0">
                            <a:solidFill>
                              <a:srgbClr val="2926BF"/>
                            </a:solidFill>
                            <a:latin typeface="Cambria Math" panose="02040503050406030204" pitchFamily="18" charset="0"/>
                          </a:rPr>
                        </m:ctrlPr>
                      </m:dPr>
                      <m:e>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2</m:t>
                        </m:r>
                        <m:r>
                          <a:rPr lang="en-US" altLang="zh-CN" sz="2400"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𝛽</m:t>
                        </m:r>
                        <m:r>
                          <a:rPr lang="en-US" altLang="zh-CN" sz="2400" i="1" baseline="-25000" dirty="0">
                            <a:solidFill>
                              <a:srgbClr val="2926BF"/>
                            </a:solidFill>
                            <a:latin typeface="Cambria Math" panose="02040503050406030204" pitchFamily="18" charset="0"/>
                          </a:rPr>
                          <m:t>1</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2</m:t>
                        </m:r>
                        <m:r>
                          <m:rPr>
                            <m:nor/>
                          </m:rPr>
                          <a:rPr lang="en-US" altLang="zh-CN" sz="2400" i="1" dirty="0">
                            <a:solidFill>
                              <a:srgbClr val="2926BF"/>
                            </a:solidFill>
                            <a:latin typeface="Times New Roman" panose="02020603050405020304" pitchFamily="18" charset="0"/>
                            <a:cs typeface="Times New Roman" panose="02020603050405020304" pitchFamily="18" charset="0"/>
                          </a:rPr>
                          <m:t> </m:t>
                        </m:r>
                      </m:e>
                    </m:d>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；note that it is </a:t>
                </a:r>
                <a:r>
                  <a:rPr lang="en-US" altLang="zh-CN" sz="2400" i="1" dirty="0" err="1">
                    <a:solidFill>
                      <a:srgbClr val="B02B08"/>
                    </a:solidFill>
                    <a:latin typeface="Times New Roman" panose="02020603050405020304" pitchFamily="18" charset="0"/>
                    <a:cs typeface="Times New Roman" panose="02020603050405020304" pitchFamily="18" charset="0"/>
                  </a:rPr>
                  <a:t>antisymmetric</a:t>
                </a:r>
                <a:r>
                  <a:rPr lang="en-US" altLang="zh-CN" sz="2400" i="1"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respect to exchange of electron labels. It is a spin </a:t>
                </a:r>
                <a:r>
                  <a:rPr lang="en-US" altLang="zh-CN" sz="2400" i="1" dirty="0">
                    <a:solidFill>
                      <a:srgbClr val="B02B08"/>
                    </a:solidFill>
                    <a:latin typeface="Times New Roman" panose="02020603050405020304" pitchFamily="18" charset="0"/>
                    <a:cs typeface="Times New Roman" panose="02020603050405020304" pitchFamily="18" charset="0"/>
                  </a:rPr>
                  <a:t>singlet.</a:t>
                </a:r>
              </a:p>
            </p:txBody>
          </p:sp>
        </mc:Choice>
        <mc:Fallback xmlns="">
          <p:sp>
            <p:nvSpPr>
              <p:cNvPr id="3" name="矩形 2"/>
              <p:cNvSpPr>
                <a:spLocks noRot="1" noChangeAspect="1" noMove="1" noResize="1" noEditPoints="1" noAdjustHandles="1" noChangeArrowheads="1" noChangeShapeType="1" noTextEdit="1"/>
              </p:cNvSpPr>
              <p:nvPr/>
            </p:nvSpPr>
            <p:spPr>
              <a:xfrm>
                <a:off x="361309" y="2546521"/>
                <a:ext cx="11521440" cy="3312895"/>
              </a:xfrm>
              <a:prstGeom prst="rect">
                <a:avLst/>
              </a:prstGeom>
              <a:blipFill>
                <a:blip r:embed="rId3"/>
                <a:stretch>
                  <a:fillRect l="-794" r="-741" b="-3315"/>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16770" y="270979"/>
            <a:ext cx="348364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5.2 Identical particles</a:t>
            </a:r>
          </a:p>
        </p:txBody>
      </p:sp>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402826" y="1536174"/>
            <a:ext cx="11172923" cy="378565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黑体" panose="02010609060101010101" pitchFamily="49" charset="-122"/>
                <a:ea typeface="黑体" panose="02010609060101010101" pitchFamily="49" charset="-122"/>
              </a:rPr>
              <a:t>在经典力学中，尽管两个物体表观性质完全相同，我们仍然可以区分它们。因为它们在运动过程中都有自己确定的位置和速度。</a:t>
            </a:r>
            <a:endParaRPr lang="en-US" altLang="zh-CN" sz="24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dirty="0">
                <a:latin typeface="黑体" panose="02010609060101010101" pitchFamily="49" charset="-122"/>
                <a:ea typeface="黑体" panose="02010609060101010101" pitchFamily="49" charset="-122"/>
              </a:rPr>
              <a:t>在量子力学中，质量、电荷、自旋等固有性质完全相同的微观粒子称为“全同粒子”</a:t>
            </a:r>
            <a:endParaRPr lang="en-US" altLang="zh-CN" sz="24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dirty="0">
                <a:latin typeface="黑体" panose="02010609060101010101" pitchFamily="49" charset="-122"/>
                <a:ea typeface="黑体" panose="02010609060101010101" pitchFamily="49" charset="-122"/>
              </a:rPr>
              <a:t>在量子力学中，粒子的状态不再用位置和速度描述，而是用波函数描述。由于波粒二象性，两个粒子在运动中。其波函数在空间中发生重叠，我们无法分辨两个粒子。</a:t>
            </a:r>
            <a:endParaRPr lang="en-US" altLang="zh-CN" sz="24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dirty="0">
                <a:latin typeface="黑体" panose="02010609060101010101" pitchFamily="49" charset="-122"/>
                <a:ea typeface="黑体" panose="02010609060101010101" pitchFamily="49" charset="-122"/>
              </a:rPr>
              <a:t>全同粒子的不可区分特性是微观粒子固有特性。由全同粒子所组成的体系中，两个粒子相互交换并不引起体系状态的改变，这就是“全同性原理”。从而，全同粒子拥有经典体系所没有的量子特性。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22653" y="1686832"/>
            <a:ext cx="10860024" cy="2233560"/>
          </a:xfrm>
          <a:prstGeom prst="rect">
            <a:avLst/>
          </a:prstGeom>
        </p:spPr>
        <p:txBody>
          <a:bodyPr wrap="square">
            <a:spAutoFit/>
          </a:bodyPr>
          <a:lstStyle/>
          <a:p>
            <a:pPr>
              <a:lnSpc>
                <a:spcPct val="150000"/>
              </a:lnSpc>
            </a:pPr>
            <a:r>
              <a:rPr lang="zh-CN" altLang="en-US" sz="2400" dirty="0">
                <a:latin typeface="黑体" panose="02010609060101010101" pitchFamily="49" charset="-122"/>
                <a:ea typeface="黑体" panose="02010609060101010101" pitchFamily="49" charset="-122"/>
              </a:rPr>
              <a:t>根据量子力学，当几个粒子在彼此相互作用后，由于各个粒子所拥有的特性已综合成为整体性质，无法单独描述各个粒子的性质，只能描述整体系统的性质。</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en-US" sz="2400" dirty="0">
                <a:latin typeface="黑体" panose="02010609060101010101" pitchFamily="49" charset="-122"/>
                <a:ea typeface="黑体" panose="02010609060101010101" pitchFamily="49" charset="-122"/>
              </a:rPr>
              <a:t>因此，对于一个子系统的测量结果无法独立于对其他子系统的测量。</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a:t>
            </a:r>
            <a:r>
              <a:rPr lang="en-US"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(x</a:t>
            </a:r>
            <a:r>
              <a:rPr lang="en-US" altLang="zh-CN" sz="2400" baseline="-25000" dirty="0">
                <a:solidFill>
                  <a:srgbClr val="3333FF"/>
                </a:solidFill>
                <a:latin typeface="黑体" panose="02010609060101010101" pitchFamily="49" charset="-122"/>
                <a:ea typeface="黑体" panose="02010609060101010101" pitchFamily="49" charset="-122"/>
                <a:sym typeface="Symbol" panose="05050102010706020507" pitchFamily="18" charset="2"/>
              </a:rPr>
              <a:t>1</a:t>
            </a:r>
            <a:r>
              <a:rPr lang="en-US"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,x</a:t>
            </a:r>
            <a:r>
              <a:rPr lang="en-US" altLang="zh-CN" sz="2400" baseline="-25000" dirty="0">
                <a:solidFill>
                  <a:srgbClr val="3333FF"/>
                </a:solidFill>
                <a:latin typeface="黑体" panose="02010609060101010101" pitchFamily="49" charset="-122"/>
                <a:ea typeface="黑体" panose="02010609060101010101" pitchFamily="49" charset="-122"/>
                <a:sym typeface="Symbol" panose="05050102010706020507" pitchFamily="18" charset="2"/>
              </a:rPr>
              <a:t>2</a:t>
            </a:r>
            <a:r>
              <a:rPr lang="en-US"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  (x</a:t>
            </a:r>
            <a:r>
              <a:rPr lang="en-US" altLang="zh-CN" sz="2400" baseline="-25000" dirty="0">
                <a:solidFill>
                  <a:srgbClr val="3333FF"/>
                </a:solidFill>
                <a:latin typeface="黑体" panose="02010609060101010101" pitchFamily="49" charset="-122"/>
                <a:ea typeface="黑体" panose="02010609060101010101" pitchFamily="49" charset="-122"/>
                <a:sym typeface="Symbol" panose="05050102010706020507" pitchFamily="18" charset="2"/>
              </a:rPr>
              <a:t>1</a:t>
            </a:r>
            <a:r>
              <a:rPr lang="en-US"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)(x</a:t>
            </a:r>
            <a:r>
              <a:rPr lang="en-US" altLang="zh-CN" sz="2400" baseline="-25000" dirty="0">
                <a:solidFill>
                  <a:srgbClr val="3333FF"/>
                </a:solidFill>
                <a:latin typeface="黑体" panose="02010609060101010101" pitchFamily="49" charset="-122"/>
                <a:ea typeface="黑体" panose="02010609060101010101" pitchFamily="49" charset="-122"/>
                <a:sym typeface="Symbol" panose="05050102010706020507" pitchFamily="18" charset="2"/>
              </a:rPr>
              <a:t>2</a:t>
            </a:r>
            <a:r>
              <a:rPr lang="en-US" altLang="zh-CN" sz="2400" dirty="0">
                <a:solidFill>
                  <a:srgbClr val="3333FF"/>
                </a:solidFill>
                <a:latin typeface="黑体" panose="02010609060101010101" pitchFamily="49" charset="-122"/>
                <a:ea typeface="黑体" panose="02010609060101010101" pitchFamily="49" charset="-122"/>
                <a:sym typeface="Symbol" panose="05050102010706020507" pitchFamily="18" charset="2"/>
              </a:rPr>
              <a:t>)</a:t>
            </a:r>
            <a:endParaRPr lang="zh-CN" altLang="en-US" sz="2400" dirty="0">
              <a:solidFill>
                <a:srgbClr val="3333FF"/>
              </a:solidFill>
              <a:latin typeface="黑体" panose="02010609060101010101" pitchFamily="49" charset="-122"/>
              <a:ea typeface="黑体" panose="02010609060101010101" pitchFamily="49" charset="-122"/>
            </a:endParaRPr>
          </a:p>
        </p:txBody>
      </p:sp>
      <p:sp>
        <p:nvSpPr>
          <p:cNvPr id="2" name="Line 2">
            <a:extLst>
              <a:ext uri="{FF2B5EF4-FFF2-40B4-BE49-F238E27FC236}">
                <a16:creationId xmlns:a16="http://schemas.microsoft.com/office/drawing/2014/main" id="{FFBE6FB5-11AA-78DE-F729-278FA76147C7}"/>
              </a:ext>
            </a:extLst>
          </p:cNvPr>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3F9842FC-FFC7-5299-3ECB-711D8C084E2B}"/>
              </a:ext>
            </a:extLst>
          </p:cNvPr>
          <p:cNvSpPr txBox="1"/>
          <p:nvPr/>
        </p:nvSpPr>
        <p:spPr>
          <a:xfrm>
            <a:off x="3301092" y="203614"/>
            <a:ext cx="6097656" cy="523220"/>
          </a:xfrm>
          <a:prstGeom prst="rect">
            <a:avLst/>
          </a:prstGeom>
          <a:noFill/>
        </p:spPr>
        <p:txBody>
          <a:bodyPr wrap="square">
            <a:spAutoFit/>
          </a:bodyPr>
          <a:lstStyle/>
          <a:p>
            <a:r>
              <a:rPr lang="zh-CN" altLang="en-US" sz="2800" dirty="0">
                <a:latin typeface="黑体" panose="02010609060101010101" pitchFamily="49" charset="-122"/>
                <a:ea typeface="黑体" panose="02010609060101010101" pitchFamily="49" charset="-122"/>
              </a:rPr>
              <a:t>量子纠缠</a:t>
            </a:r>
            <a:r>
              <a:rPr lang="zh-CN" altLang="en-US" sz="2800" dirty="0">
                <a:latin typeface="Arial" panose="020B0604020202020204" pitchFamily="34" charset="0"/>
                <a:ea typeface="黑体" panose="02010609060101010101" pitchFamily="49" charset="-122"/>
                <a:cs typeface="Arial" panose="020B0604020202020204" pitchFamily="34" charset="0"/>
              </a:rPr>
              <a:t>（</a:t>
            </a:r>
            <a:r>
              <a:rPr lang="en-US" altLang="zh-CN" sz="2800" dirty="0">
                <a:latin typeface="Arial" panose="020B0604020202020204" pitchFamily="34" charset="0"/>
                <a:ea typeface="黑体" panose="02010609060101010101" pitchFamily="49" charset="-122"/>
                <a:cs typeface="Arial" panose="020B0604020202020204" pitchFamily="34" charset="0"/>
              </a:rPr>
              <a:t>quantum entanglement</a:t>
            </a:r>
            <a:r>
              <a:rPr lang="zh-CN" altLang="en-US" sz="2800" dirty="0">
                <a:latin typeface="Arial" panose="020B0604020202020204" pitchFamily="34" charset="0"/>
                <a:ea typeface="黑体" panose="02010609060101010101" pitchFamily="49" charset="-122"/>
                <a:cs typeface="Arial" panose="020B0604020202020204" pitchFamily="34" charset="0"/>
              </a:rPr>
              <a:t>）</a:t>
            </a:r>
            <a:endParaRPr lang="zh-CN" altLang="en-US" sz="2800" dirty="0"/>
          </a:p>
        </p:txBody>
      </p:sp>
    </p:spTree>
    <p:extLst>
      <p:ext uri="{BB962C8B-B14F-4D97-AF65-F5344CB8AC3E}">
        <p14:creationId xmlns:p14="http://schemas.microsoft.com/office/powerpoint/2010/main" val="280317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nvGraphicFramePr>
        <p:xfrm>
          <a:off x="2722125" y="606042"/>
          <a:ext cx="6270625" cy="482600"/>
        </p:xfrm>
        <a:graphic>
          <a:graphicData uri="http://schemas.openxmlformats.org/presentationml/2006/ole">
            <mc:AlternateContent xmlns:mc="http://schemas.openxmlformats.org/markup-compatibility/2006">
              <mc:Choice xmlns:v="urn:schemas-microsoft-com:vml" Requires="v">
                <p:oleObj name="Equation" r:id="rId2" imgW="75285600" imgH="5791200" progId="Equation.DSMT4">
                  <p:embed/>
                </p:oleObj>
              </mc:Choice>
              <mc:Fallback>
                <p:oleObj name="Equation" r:id="rId2" imgW="75285600" imgH="5791200" progId="Equation.DSMT4">
                  <p:embed/>
                  <p:pic>
                    <p:nvPicPr>
                      <p:cNvPr id="0" name="Object 4"/>
                      <p:cNvPicPr>
                        <a:picLocks noChangeAspect="1" noChangeArrowheads="1"/>
                      </p:cNvPicPr>
                      <p:nvPr/>
                    </p:nvPicPr>
                    <p:blipFill>
                      <a:blip r:embed="rId3"/>
                      <a:srcRect/>
                      <a:stretch>
                        <a:fillRect/>
                      </a:stretch>
                    </p:blipFill>
                    <p:spPr bwMode="auto">
                      <a:xfrm>
                        <a:off x="2722125" y="606042"/>
                        <a:ext cx="627062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1"/>
          <p:cNvSpPr txBox="1"/>
          <p:nvPr/>
        </p:nvSpPr>
        <p:spPr>
          <a:xfrm>
            <a:off x="506987" y="1248796"/>
            <a:ext cx="11383347" cy="461665"/>
          </a:xfrm>
          <a:prstGeom prst="rect">
            <a:avLst/>
          </a:prstGeom>
          <a:noFill/>
        </p:spPr>
        <p:txBody>
          <a:bodyPr wrap="square" rtlCol="0">
            <a:spAutoFit/>
          </a:bodyPr>
          <a:lstStyle/>
          <a:p>
            <a:r>
              <a:rPr lang="en-US" altLang="zh-CN" sz="2400" dirty="0">
                <a:solidFill>
                  <a:srgbClr val="000000"/>
                </a:solidFill>
                <a:latin typeface="Times New Roman" panose="02020603050405020304" pitchFamily="18" charset="0"/>
                <a:cs typeface="Times New Roman" panose="02020603050405020304" pitchFamily="18" charset="0"/>
              </a:rPr>
              <a:t>The permute operation should not change the physical property of the state wave function</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graphicFrame>
        <p:nvGraphicFramePr>
          <p:cNvPr id="6" name="对象 5"/>
          <p:cNvGraphicFramePr>
            <a:graphicFrameLocks noChangeAspect="1"/>
          </p:cNvGraphicFramePr>
          <p:nvPr/>
        </p:nvGraphicFramePr>
        <p:xfrm>
          <a:off x="2711012" y="1685542"/>
          <a:ext cx="6426200" cy="609600"/>
        </p:xfrm>
        <a:graphic>
          <a:graphicData uri="http://schemas.openxmlformats.org/presentationml/2006/ole">
            <mc:AlternateContent xmlns:mc="http://schemas.openxmlformats.org/markup-compatibility/2006">
              <mc:Choice xmlns:v="urn:schemas-microsoft-com:vml" Requires="v">
                <p:oleObj name="Equation" r:id="rId4" imgW="77114400" imgH="7315200" progId="Equation.DSMT4">
                  <p:embed/>
                </p:oleObj>
              </mc:Choice>
              <mc:Fallback>
                <p:oleObj name="Equation" r:id="rId4" imgW="77114400" imgH="7315200" progId="Equation.DSMT4">
                  <p:embed/>
                  <p:pic>
                    <p:nvPicPr>
                      <p:cNvPr id="0" name="对象 5"/>
                      <p:cNvPicPr>
                        <a:picLocks noChangeAspect="1" noChangeArrowheads="1"/>
                      </p:cNvPicPr>
                      <p:nvPr/>
                    </p:nvPicPr>
                    <p:blipFill>
                      <a:blip r:embed="rId5"/>
                      <a:srcRect/>
                      <a:stretch>
                        <a:fillRect/>
                      </a:stretch>
                    </p:blipFill>
                    <p:spPr bwMode="auto">
                      <a:xfrm>
                        <a:off x="2711012" y="1685542"/>
                        <a:ext cx="6426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nvGraphicFramePr>
        <p:xfrm>
          <a:off x="5501707" y="3617155"/>
          <a:ext cx="838080" cy="354960"/>
        </p:xfrm>
        <a:graphic>
          <a:graphicData uri="http://schemas.openxmlformats.org/presentationml/2006/ole">
            <mc:AlternateContent xmlns:mc="http://schemas.openxmlformats.org/markup-compatibility/2006">
              <mc:Choice xmlns:v="urn:schemas-microsoft-com:vml" Requires="v">
                <p:oleObj name="Equation" r:id="rId6" imgW="419100" imgH="177800" progId="Equation.DSMT4">
                  <p:embed/>
                </p:oleObj>
              </mc:Choice>
              <mc:Fallback>
                <p:oleObj name="Equation" r:id="rId6" imgW="419100" imgH="1778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1707" y="3617155"/>
                        <a:ext cx="838080" cy="354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p:cNvGraphicFramePr>
            <a:graphicFrameLocks noChangeAspect="1"/>
          </p:cNvGraphicFramePr>
          <p:nvPr/>
        </p:nvGraphicFramePr>
        <p:xfrm>
          <a:off x="2869762" y="2431528"/>
          <a:ext cx="6108700" cy="419100"/>
        </p:xfrm>
        <a:graphic>
          <a:graphicData uri="http://schemas.openxmlformats.org/presentationml/2006/ole">
            <mc:AlternateContent xmlns:mc="http://schemas.openxmlformats.org/markup-compatibility/2006">
              <mc:Choice xmlns:v="urn:schemas-microsoft-com:vml" Requires="v">
                <p:oleObj name="Equation" r:id="rId8" imgW="6108700" imgH="419100" progId="Equation.DSMT4">
                  <p:embed/>
                </p:oleObj>
              </mc:Choice>
              <mc:Fallback>
                <p:oleObj name="Equation" r:id="rId8" imgW="6108700" imgH="4191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9762" y="2431528"/>
                        <a:ext cx="6108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0"/>
          <p:cNvGraphicFramePr>
            <a:graphicFrameLocks noChangeAspect="1"/>
          </p:cNvGraphicFramePr>
          <p:nvPr/>
        </p:nvGraphicFramePr>
        <p:xfrm>
          <a:off x="2717362" y="3068254"/>
          <a:ext cx="6413500" cy="419100"/>
        </p:xfrm>
        <a:graphic>
          <a:graphicData uri="http://schemas.openxmlformats.org/presentationml/2006/ole">
            <mc:AlternateContent xmlns:mc="http://schemas.openxmlformats.org/markup-compatibility/2006">
              <mc:Choice xmlns:v="urn:schemas-microsoft-com:vml" Requires="v">
                <p:oleObj name="Equation" r:id="rId10" imgW="153924000" imgH="10058400" progId="Equation.DSMT4">
                  <p:embed/>
                </p:oleObj>
              </mc:Choice>
              <mc:Fallback>
                <p:oleObj name="Equation" r:id="rId10" imgW="153924000" imgH="10058400" progId="Equation.DSMT4">
                  <p:embed/>
                  <p:pic>
                    <p:nvPicPr>
                      <p:cNvPr id="0" name="Object 10"/>
                      <p:cNvPicPr>
                        <a:picLocks noChangeAspect="1" noChangeArrowheads="1"/>
                      </p:cNvPicPr>
                      <p:nvPr/>
                    </p:nvPicPr>
                    <p:blipFill>
                      <a:blip r:embed="rId11"/>
                      <a:srcRect/>
                      <a:stretch>
                        <a:fillRect/>
                      </a:stretch>
                    </p:blipFill>
                    <p:spPr bwMode="auto">
                      <a:xfrm>
                        <a:off x="2717362" y="3068254"/>
                        <a:ext cx="6413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1"/>
          <p:cNvGraphicFramePr>
            <a:graphicFrameLocks noChangeAspect="1"/>
          </p:cNvGraphicFramePr>
          <p:nvPr/>
        </p:nvGraphicFramePr>
        <p:xfrm>
          <a:off x="3050737" y="4235265"/>
          <a:ext cx="2794000" cy="419100"/>
        </p:xfrm>
        <a:graphic>
          <a:graphicData uri="http://schemas.openxmlformats.org/presentationml/2006/ole">
            <mc:AlternateContent xmlns:mc="http://schemas.openxmlformats.org/markup-compatibility/2006">
              <mc:Choice xmlns:v="urn:schemas-microsoft-com:vml" Requires="v">
                <p:oleObj name="Equation" r:id="rId12" imgW="2794000" imgH="419100" progId="Equation.DSMT4">
                  <p:embed/>
                </p:oleObj>
              </mc:Choice>
              <mc:Fallback>
                <p:oleObj name="Equation" r:id="rId12" imgW="2794000" imgH="4191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50737" y="4235265"/>
                        <a:ext cx="2794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12"/>
          <p:cNvSpPr txBox="1">
            <a:spLocks noChangeArrowheads="1"/>
          </p:cNvSpPr>
          <p:nvPr/>
        </p:nvSpPr>
        <p:spPr bwMode="auto">
          <a:xfrm>
            <a:off x="6006662" y="4200340"/>
            <a:ext cx="313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en-US" altLang="zh-CN" sz="2400" dirty="0">
                <a:solidFill>
                  <a:srgbClr val="000000"/>
                </a:solidFill>
                <a:latin typeface="Times New Roman" panose="02020603050405020304" pitchFamily="18" charset="0"/>
              </a:rPr>
              <a:t>the </a:t>
            </a:r>
            <a:r>
              <a:rPr lang="en-US" altLang="zh-CN" sz="2400" dirty="0" err="1">
                <a:solidFill>
                  <a:srgbClr val="000000"/>
                </a:solidFill>
                <a:latin typeface="Times New Roman" panose="02020603050405020304" pitchFamily="18" charset="0"/>
              </a:rPr>
              <a:t>eigenfunctions</a:t>
            </a:r>
            <a:r>
              <a:rPr lang="en-US" altLang="zh-CN" sz="2400" dirty="0">
                <a:solidFill>
                  <a:srgbClr val="000000"/>
                </a:solidFill>
                <a:latin typeface="Times New Roman" panose="02020603050405020304" pitchFamily="18" charset="0"/>
              </a:rPr>
              <a:t> of </a:t>
            </a:r>
            <a:r>
              <a:rPr lang="en-US" altLang="zh-CN" sz="2400" i="1" dirty="0" err="1">
                <a:solidFill>
                  <a:srgbClr val="000000"/>
                </a:solidFill>
                <a:latin typeface="Times New Roman" panose="02020603050405020304" pitchFamily="18" charset="0"/>
              </a:rPr>
              <a:t>P</a:t>
            </a:r>
            <a:r>
              <a:rPr lang="en-US" altLang="zh-CN" sz="2400" i="1" baseline="-25000" dirty="0" err="1">
                <a:solidFill>
                  <a:srgbClr val="000000"/>
                </a:solidFill>
                <a:latin typeface="Times New Roman" panose="02020603050405020304" pitchFamily="18" charset="0"/>
              </a:rPr>
              <a:t>ij</a:t>
            </a:r>
            <a:endParaRPr lang="en-US" altLang="zh-CN" sz="2400" i="1" dirty="0">
              <a:solidFill>
                <a:srgbClr val="000000"/>
              </a:solidFill>
              <a:latin typeface="Times New Roman" panose="02020603050405020304" pitchFamily="18" charset="0"/>
            </a:endParaRPr>
          </a:p>
        </p:txBody>
      </p:sp>
      <p:sp>
        <p:nvSpPr>
          <p:cNvPr id="21" name="Text Box 13"/>
          <p:cNvSpPr txBox="1">
            <a:spLocks noChangeArrowheads="1"/>
          </p:cNvSpPr>
          <p:nvPr/>
        </p:nvSpPr>
        <p:spPr bwMode="auto">
          <a:xfrm>
            <a:off x="4051655" y="4755826"/>
            <a:ext cx="358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en-US" altLang="zh-CN" sz="2400" i="1" dirty="0">
                <a:solidFill>
                  <a:srgbClr val="009999"/>
                </a:solidFill>
                <a:latin typeface="Times New Roman" panose="02020603050405020304" pitchFamily="18" charset="0"/>
              </a:rPr>
              <a:t>symmetric or antisymmetric</a:t>
            </a:r>
          </a:p>
        </p:txBody>
      </p:sp>
      <p:graphicFrame>
        <p:nvGraphicFramePr>
          <p:cNvPr id="14" name="Object 4"/>
          <p:cNvGraphicFramePr>
            <a:graphicFrameLocks noChangeAspect="1"/>
          </p:cNvGraphicFramePr>
          <p:nvPr/>
        </p:nvGraphicFramePr>
        <p:xfrm>
          <a:off x="5082736" y="5438076"/>
          <a:ext cx="1524000" cy="609600"/>
        </p:xfrm>
        <a:graphic>
          <a:graphicData uri="http://schemas.openxmlformats.org/presentationml/2006/ole">
            <mc:AlternateContent xmlns:mc="http://schemas.openxmlformats.org/markup-compatibility/2006">
              <mc:Choice xmlns:v="urn:schemas-microsoft-com:vml" Requires="v">
                <p:oleObj name="Equation" r:id="rId14" imgW="18288000" imgH="7315200" progId="Equation.DSMT4">
                  <p:embed/>
                </p:oleObj>
              </mc:Choice>
              <mc:Fallback>
                <p:oleObj name="Equation" r:id="rId14" imgW="18288000" imgH="7315200" progId="Equation.DSMT4">
                  <p:embed/>
                  <p:pic>
                    <p:nvPicPr>
                      <p:cNvPr id="0" name="Object 4"/>
                      <p:cNvPicPr>
                        <a:picLocks noChangeAspect="1" noChangeArrowheads="1"/>
                      </p:cNvPicPr>
                      <p:nvPr/>
                    </p:nvPicPr>
                    <p:blipFill>
                      <a:blip r:embed="rId15"/>
                      <a:srcRect/>
                      <a:stretch>
                        <a:fillRect/>
                      </a:stretch>
                    </p:blipFill>
                    <p:spPr bwMode="auto">
                      <a:xfrm>
                        <a:off x="5082736" y="5438076"/>
                        <a:ext cx="15240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00057" y="543176"/>
            <a:ext cx="2481770" cy="461665"/>
          </a:xfrm>
          <a:prstGeom prst="rect">
            <a:avLst/>
          </a:prstGeom>
          <a:noFill/>
          <a:ln>
            <a:noFill/>
          </a:ln>
          <a:effectLst>
            <a:outerShdw blurRad="44450" dist="27940" dir="5400000" algn="ctr">
              <a:srgbClr val="000000">
                <a:alpha val="32000"/>
              </a:srgbClr>
            </a:outerShdw>
          </a:effectLst>
        </p:spPr>
        <p:txBody>
          <a:bodyPr wrap="none">
            <a:spAutoFit/>
          </a:bodyPr>
          <a:lstStyle/>
          <a:p>
            <a:pPr defTabSz="914400" fontAlgn="base">
              <a:spcBef>
                <a:spcPct val="0"/>
              </a:spcBef>
              <a:spcAft>
                <a:spcPct val="0"/>
              </a:spcAft>
            </a:pPr>
            <a:r>
              <a:rPr lang="en-US" altLang="zh-CN" sz="2400" dirty="0">
                <a:latin typeface="Times New Roman" panose="02020603050405020304" pitchFamily="18" charset="0"/>
                <a:cs typeface="Times New Roman" panose="02020603050405020304" pitchFamily="18" charset="0"/>
              </a:rPr>
              <a:t>N-particle systems</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700057" y="2375597"/>
                <a:ext cx="10860000" cy="1229952"/>
              </a:xfrm>
              <a:prstGeom prst="rect">
                <a:avLst/>
              </a:prstGeom>
            </p:spPr>
            <p:txBody>
              <a:bodyPr wrap="square">
                <a:spAutoFit/>
              </a:bodyPr>
              <a:lstStyle/>
              <a:p>
                <a:pPr defTabSz="914400" fontAlgn="base">
                  <a:spcBef>
                    <a:spcPct val="0"/>
                  </a:spcBef>
                  <a:spcAft>
                    <a:spcPct val="0"/>
                  </a:spcAft>
                </a:pPr>
                <a:r>
                  <a:rPr lang="en-US" altLang="zh-CN" sz="2400" dirty="0">
                    <a:solidFill>
                      <a:srgbClr val="000000"/>
                    </a:solidFill>
                    <a:latin typeface="Times New Roman" panose="02020603050405020304" pitchFamily="18" charset="0"/>
                    <a:cs typeface="Times New Roman" panose="02020603050405020304" pitchFamily="18" charset="0"/>
                  </a:rPr>
                  <a:t>They (</a:t>
                </a:r>
                <a14:m>
                  <m:oMath xmlns:m="http://schemas.openxmlformats.org/officeDocument/2006/math">
                    <m:acc>
                      <m:accPr>
                        <m:chr m:val="̂"/>
                        <m:ctrlPr>
                          <a:rPr lang="en-US" altLang="zh-CN" sz="2400" i="1" dirty="0" smtClean="0">
                            <a:solidFill>
                              <a:srgbClr val="000000"/>
                            </a:solidFill>
                            <a:latin typeface="Cambria Math" panose="02040503050406030204" pitchFamily="18" charset="0"/>
                            <a:cs typeface="Times New Roman" panose="02020603050405020304" pitchFamily="18" charset="0"/>
                          </a:rPr>
                        </m:ctrlPr>
                      </m:accPr>
                      <m:e>
                        <m:r>
                          <a:rPr lang="en-US" altLang="zh-CN" sz="2400" b="0" i="1" dirty="0" smtClean="0">
                            <a:solidFill>
                              <a:srgbClr val="000000"/>
                            </a:solidFill>
                            <a:latin typeface="Cambria Math" panose="02040503050406030204" pitchFamily="18" charset="0"/>
                            <a:cs typeface="Times New Roman" panose="02020603050405020304" pitchFamily="18" charset="0"/>
                          </a:rPr>
                          <m:t>𝑃</m:t>
                        </m:r>
                      </m:e>
                    </m:acc>
                    <m:r>
                      <a:rPr lang="en-US" altLang="zh-CN" sz="2400" i="1" baseline="-25000" dirty="0">
                        <a:solidFill>
                          <a:srgbClr val="000000"/>
                        </a:solidFill>
                        <a:latin typeface="Cambria Math" panose="02040503050406030204" pitchFamily="18" charset="0"/>
                        <a:cs typeface="Times New Roman" panose="02020603050405020304" pitchFamily="18" charset="0"/>
                        <a:sym typeface="Symbol" panose="05050102010706020507"/>
                      </a:rPr>
                      <m:t></m:t>
                    </m:r>
                    <m:r>
                      <a:rPr lang="en-US" altLang="zh-CN" sz="2400" i="1" dirty="0">
                        <a:solidFill>
                          <a:srgbClr val="000000"/>
                        </a:solidFill>
                        <a:latin typeface="Cambria Math" panose="02040503050406030204" pitchFamily="18" charset="0"/>
                        <a:cs typeface="Times New Roman" panose="02020603050405020304" pitchFamily="18" charset="0"/>
                      </a:rPr>
                      <m:t> </m:t>
                    </m:r>
                  </m:oMath>
                </a14:m>
                <a:r>
                  <a:rPr lang="en-US" altLang="zh-CN" sz="2400" dirty="0">
                    <a:solidFill>
                      <a:srgbClr val="000000"/>
                    </a:solidFill>
                    <a:latin typeface="Times New Roman" panose="02020603050405020304" pitchFamily="18" charset="0"/>
                    <a:cs typeface="Times New Roman" panose="02020603050405020304" pitchFamily="18" charset="0"/>
                  </a:rPr>
                  <a:t>and </a:t>
                </a:r>
                <a14:m>
                  <m:oMath xmlns:m="http://schemas.openxmlformats.org/officeDocument/2006/math">
                    <m:acc>
                      <m:accPr>
                        <m:chr m:val="̂"/>
                        <m:ctrlPr>
                          <a:rPr lang="en-US" altLang="zh-CN" sz="2400" i="1" dirty="0" smtClean="0">
                            <a:solidFill>
                              <a:srgbClr val="000000"/>
                            </a:solidFill>
                            <a:latin typeface="Cambria Math" panose="02040503050406030204" pitchFamily="18" charset="0"/>
                            <a:cs typeface="Times New Roman" panose="02020603050405020304" pitchFamily="18" charset="0"/>
                          </a:rPr>
                        </m:ctrlPr>
                      </m:accPr>
                      <m:e>
                        <m:r>
                          <a:rPr lang="en-US" altLang="zh-CN" sz="2400" b="0" i="1" dirty="0" smtClean="0">
                            <a:solidFill>
                              <a:srgbClr val="000000"/>
                            </a:solidFill>
                            <a:latin typeface="Cambria Math" panose="02040503050406030204" pitchFamily="18" charset="0"/>
                            <a:cs typeface="Times New Roman" panose="02020603050405020304" pitchFamily="18" charset="0"/>
                          </a:rPr>
                          <m:t>𝐻</m:t>
                        </m:r>
                      </m:e>
                    </m:acc>
                  </m:oMath>
                </a14:m>
                <a:r>
                  <a:rPr lang="en-US" altLang="zh-CN" sz="2400" dirty="0">
                    <a:solidFill>
                      <a:srgbClr val="000000"/>
                    </a:solidFill>
                    <a:latin typeface="Times New Roman" panose="02020603050405020304" pitchFamily="18" charset="0"/>
                    <a:cs typeface="Times New Roman" panose="02020603050405020304" pitchFamily="18" charset="0"/>
                  </a:rPr>
                  <a:t>) possess simultaneous </a:t>
                </a:r>
                <a:r>
                  <a:rPr lang="en-US" altLang="zh-CN" sz="2400" dirty="0" err="1">
                    <a:solidFill>
                      <a:srgbClr val="000000"/>
                    </a:solidFill>
                    <a:latin typeface="Times New Roman" panose="02020603050405020304" pitchFamily="18" charset="0"/>
                    <a:cs typeface="Times New Roman" panose="02020603050405020304" pitchFamily="18" charset="0"/>
                  </a:rPr>
                  <a:t>eigenfunctions</a:t>
                </a:r>
                <a:r>
                  <a:rPr lang="en-US" altLang="zh-CN" sz="2400" dirty="0">
                    <a:solidFill>
                      <a:srgbClr val="000000"/>
                    </a:solidFill>
                    <a:latin typeface="Times New Roman" panose="02020603050405020304" pitchFamily="18" charset="0"/>
                    <a:cs typeface="Times New Roman" panose="02020603050405020304" pitchFamily="18" charset="0"/>
                  </a:rPr>
                  <a:t>. There are only two functions, </a:t>
                </a:r>
                <a14:m>
                  <m:oMath xmlns:m="http://schemas.openxmlformats.org/officeDocument/2006/math">
                    <m:r>
                      <m:rPr>
                        <m:sty m:val="p"/>
                      </m:rPr>
                      <a:rPr lang="el-GR" altLang="zh-CN" sz="240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a:rPr>
                      <m:t>Ψ</m:t>
                    </m:r>
                    <m:r>
                      <a:rPr lang="en-US" altLang="zh-CN" sz="2400" i="1" baseline="-25000" dirty="0">
                        <a:solidFill>
                          <a:srgbClr val="000000"/>
                        </a:solidFill>
                        <a:latin typeface="Cambria Math" panose="02040503050406030204" pitchFamily="18" charset="0"/>
                        <a:cs typeface="Times New Roman" panose="02020603050405020304" pitchFamily="18" charset="0"/>
                      </a:rPr>
                      <m:t>𝑆</m:t>
                    </m:r>
                  </m:oMath>
                </a14:m>
                <a:r>
                  <a:rPr lang="en-US" altLang="zh-CN" sz="2400" dirty="0">
                    <a:solidFill>
                      <a:srgbClr val="000000"/>
                    </a:solidFill>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altLang="zh-CN" sz="240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a:rPr>
                      <m:t>Ψ</m:t>
                    </m:r>
                    <m:r>
                      <a:rPr lang="en-US" altLang="zh-CN" sz="2400" i="1" baseline="-25000" dirty="0">
                        <a:solidFill>
                          <a:srgbClr val="000000"/>
                        </a:solidFill>
                        <a:latin typeface="Cambria Math" panose="02040503050406030204" pitchFamily="18" charset="0"/>
                        <a:cs typeface="Times New Roman" panose="02020603050405020304" pitchFamily="18" charset="0"/>
                      </a:rPr>
                      <m:t>𝐴</m:t>
                    </m:r>
                  </m:oMath>
                </a14:m>
                <a:r>
                  <a:rPr lang="en-US" altLang="zh-CN" sz="2400" dirty="0">
                    <a:solidFill>
                      <a:srgbClr val="000000"/>
                    </a:solidFill>
                    <a:latin typeface="Times New Roman" panose="02020603050405020304" pitchFamily="18" charset="0"/>
                    <a:cs typeface="Times New Roman" panose="02020603050405020304" pitchFamily="18" charset="0"/>
                  </a:rPr>
                  <a:t>, which are simultaneous </a:t>
                </a:r>
                <a:r>
                  <a:rPr lang="en-US" altLang="zh-CN" sz="2400" dirty="0" err="1">
                    <a:solidFill>
                      <a:srgbClr val="000000"/>
                    </a:solidFill>
                    <a:latin typeface="Times New Roman" panose="02020603050405020304" pitchFamily="18" charset="0"/>
                    <a:cs typeface="Times New Roman" panose="02020603050405020304" pitchFamily="18" charset="0"/>
                  </a:rPr>
                  <a:t>eigenfunctions</a:t>
                </a:r>
                <a:r>
                  <a:rPr lang="en-US" altLang="zh-CN" sz="2400" dirty="0">
                    <a:solidFill>
                      <a:srgbClr val="000000"/>
                    </a:solidFill>
                    <a:latin typeface="Times New Roman" panose="02020603050405020304" pitchFamily="18" charset="0"/>
                    <a:cs typeface="Times New Roman" panose="02020603050405020304" pitchFamily="18" charset="0"/>
                  </a:rPr>
                  <a:t> of </a:t>
                </a:r>
                <a14:m>
                  <m:oMath xmlns:m="http://schemas.openxmlformats.org/officeDocument/2006/math">
                    <m:acc>
                      <m:accPr>
                        <m:chr m:val="̂"/>
                        <m:ctrlPr>
                          <a:rPr lang="en-US" altLang="zh-CN" sz="2400" i="1" dirty="0">
                            <a:solidFill>
                              <a:srgbClr val="000000"/>
                            </a:solidFill>
                            <a:latin typeface="Cambria Math" panose="02040503050406030204" pitchFamily="18" charset="0"/>
                            <a:cs typeface="Times New Roman" panose="02020603050405020304" pitchFamily="18" charset="0"/>
                          </a:rPr>
                        </m:ctrlPr>
                      </m:accPr>
                      <m:e>
                        <m:r>
                          <a:rPr lang="en-US" altLang="zh-CN" sz="2400" i="1" dirty="0">
                            <a:solidFill>
                              <a:srgbClr val="000000"/>
                            </a:solidFill>
                            <a:latin typeface="Cambria Math" panose="02040503050406030204" pitchFamily="18" charset="0"/>
                            <a:cs typeface="Times New Roman" panose="02020603050405020304" pitchFamily="18" charset="0"/>
                          </a:rPr>
                          <m:t>𝐻</m:t>
                        </m:r>
                      </m:e>
                    </m:acc>
                  </m:oMath>
                </a14:m>
                <a:r>
                  <a:rPr lang="en-US" altLang="zh-CN" sz="2400" dirty="0">
                    <a:solidFill>
                      <a:srgbClr val="000000"/>
                    </a:solidFill>
                    <a:latin typeface="Times New Roman" panose="02020603050405020304" pitchFamily="18" charset="0"/>
                    <a:cs typeface="Times New Roman" panose="02020603050405020304" pitchFamily="18" charset="0"/>
                  </a:rPr>
                  <a:t> and all of the pairwise exchange operators </a:t>
                </a:r>
                <a14:m>
                  <m:oMath xmlns:m="http://schemas.openxmlformats.org/officeDocument/2006/math">
                    <m:acc>
                      <m:accPr>
                        <m:chr m:val="̂"/>
                        <m:ctrlPr>
                          <a:rPr lang="en-US" altLang="zh-CN" sz="2400" i="1" dirty="0">
                            <a:solidFill>
                              <a:srgbClr val="000000"/>
                            </a:solidFill>
                            <a:latin typeface="Cambria Math" panose="02040503050406030204" pitchFamily="18" charset="0"/>
                            <a:cs typeface="Times New Roman" panose="02020603050405020304" pitchFamily="18" charset="0"/>
                          </a:rPr>
                        </m:ctrlPr>
                      </m:accPr>
                      <m:e>
                        <m:r>
                          <a:rPr lang="en-US" altLang="zh-CN" sz="2400" i="1" dirty="0">
                            <a:solidFill>
                              <a:srgbClr val="000000"/>
                            </a:solidFill>
                            <a:latin typeface="Cambria Math" panose="02040503050406030204" pitchFamily="18" charset="0"/>
                            <a:cs typeface="Times New Roman" panose="02020603050405020304" pitchFamily="18" charset="0"/>
                          </a:rPr>
                          <m:t>𝑃</m:t>
                        </m:r>
                      </m:e>
                    </m:acc>
                    <m:r>
                      <a:rPr lang="en-US" altLang="zh-CN" sz="2400" i="1" baseline="-25000" dirty="0">
                        <a:solidFill>
                          <a:srgbClr val="000000"/>
                        </a:solidFill>
                        <a:latin typeface="Cambria Math" panose="02040503050406030204" pitchFamily="18" charset="0"/>
                        <a:cs typeface="Times New Roman" panose="02020603050405020304" pitchFamily="18" charset="0"/>
                        <a:sym typeface="Symbol" panose="05050102010706020507"/>
                      </a:rPr>
                      <m:t></m:t>
                    </m:r>
                    <m:r>
                      <a:rPr lang="en-US" altLang="zh-CN" sz="2400" i="1" dirty="0">
                        <a:solidFill>
                          <a:srgbClr val="000000"/>
                        </a:solidFill>
                        <a:latin typeface="Cambria Math" panose="02040503050406030204" pitchFamily="18" charset="0"/>
                        <a:cs typeface="Times New Roman" panose="02020603050405020304" pitchFamily="18" charset="0"/>
                      </a:rPr>
                      <m:t> </m:t>
                    </m:r>
                  </m:oMath>
                </a14:m>
                <a:endParaRPr lang="zh-CN" altLang="en-US" sz="24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700057" y="2375597"/>
                <a:ext cx="10860000" cy="1229952"/>
              </a:xfrm>
              <a:prstGeom prst="rect">
                <a:avLst/>
              </a:prstGeom>
              <a:blipFill rotWithShape="1">
                <a:blip r:embed="rId3"/>
                <a:stretch>
                  <a:fillRect l="-3" t="-5" r="5" b="-5316"/>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nvGraphicFramePr>
        <p:xfrm>
          <a:off x="3406180" y="1036389"/>
          <a:ext cx="5790960" cy="685440"/>
        </p:xfrm>
        <a:graphic>
          <a:graphicData uri="http://schemas.openxmlformats.org/presentationml/2006/ole">
            <mc:AlternateContent xmlns:mc="http://schemas.openxmlformats.org/markup-compatibility/2006">
              <mc:Choice xmlns:v="urn:schemas-microsoft-com:vml" Requires="v">
                <p:oleObj name="Equation" r:id="rId4" imgW="69494400" imgH="8229600" progId="Equation.DSMT4">
                  <p:embed/>
                </p:oleObj>
              </mc:Choice>
              <mc:Fallback>
                <p:oleObj name="Equation" r:id="rId4" imgW="69494400" imgH="8229600" progId="Equation.DSMT4">
                  <p:embed/>
                  <p:pic>
                    <p:nvPicPr>
                      <p:cNvPr id="0" name="对象 1"/>
                      <p:cNvPicPr/>
                      <p:nvPr/>
                    </p:nvPicPr>
                    <p:blipFill>
                      <a:blip r:embed="rId5"/>
                      <a:stretch>
                        <a:fillRect/>
                      </a:stretch>
                    </p:blipFill>
                    <p:spPr>
                      <a:xfrm>
                        <a:off x="3406180" y="1036389"/>
                        <a:ext cx="5790960" cy="68544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888353" y="1744153"/>
          <a:ext cx="4495680" cy="609120"/>
        </p:xfrm>
        <a:graphic>
          <a:graphicData uri="http://schemas.openxmlformats.org/presentationml/2006/ole">
            <mc:AlternateContent xmlns:mc="http://schemas.openxmlformats.org/markup-compatibility/2006">
              <mc:Choice xmlns:v="urn:schemas-microsoft-com:vml" Requires="v">
                <p:oleObj name="Equation" r:id="rId6" imgW="53949600" imgH="7315200" progId="Equation.DSMT4">
                  <p:embed/>
                </p:oleObj>
              </mc:Choice>
              <mc:Fallback>
                <p:oleObj name="Equation" r:id="rId6" imgW="53949600" imgH="7315200" progId="Equation.DSMT4">
                  <p:embed/>
                  <p:pic>
                    <p:nvPicPr>
                      <p:cNvPr id="0" name="对象 2"/>
                      <p:cNvPicPr/>
                      <p:nvPr/>
                    </p:nvPicPr>
                    <p:blipFill>
                      <a:blip r:embed="rId7"/>
                      <a:stretch>
                        <a:fillRect/>
                      </a:stretch>
                    </p:blipFill>
                    <p:spPr>
                      <a:xfrm>
                        <a:off x="3888353" y="1744153"/>
                        <a:ext cx="4495680" cy="609120"/>
                      </a:xfrm>
                      <a:prstGeom prst="rect">
                        <a:avLst/>
                      </a:prstGeom>
                      <a:ln>
                        <a:solidFill>
                          <a:schemeClr val="accent1"/>
                        </a:solidFill>
                      </a:ln>
                    </p:spPr>
                  </p:pic>
                </p:oleObj>
              </mc:Fallback>
            </mc:AlternateContent>
          </a:graphicData>
        </a:graphic>
      </p:graphicFrame>
      <p:graphicFrame>
        <p:nvGraphicFramePr>
          <p:cNvPr id="2" name="对象 1"/>
          <p:cNvGraphicFramePr>
            <a:graphicFrameLocks noChangeAspect="1"/>
          </p:cNvGraphicFramePr>
          <p:nvPr/>
        </p:nvGraphicFramePr>
        <p:xfrm>
          <a:off x="2702251" y="4156671"/>
          <a:ext cx="4698720" cy="1117440"/>
        </p:xfrm>
        <a:graphic>
          <a:graphicData uri="http://schemas.openxmlformats.org/presentationml/2006/ole">
            <mc:AlternateContent xmlns:mc="http://schemas.openxmlformats.org/markup-compatibility/2006">
              <mc:Choice xmlns:v="urn:schemas-microsoft-com:vml" Requires="v">
                <p:oleObj name="Equation" r:id="rId8" imgW="56388000" imgH="13411200" progId="Equation.DSMT4">
                  <p:embed/>
                </p:oleObj>
              </mc:Choice>
              <mc:Fallback>
                <p:oleObj name="Equation" r:id="rId8" imgW="56388000" imgH="13411200" progId="Equation.DSMT4">
                  <p:embed/>
                  <p:pic>
                    <p:nvPicPr>
                      <p:cNvPr id="0" name="对象 3"/>
                      <p:cNvPicPr/>
                      <p:nvPr/>
                    </p:nvPicPr>
                    <p:blipFill>
                      <a:blip r:embed="rId9"/>
                      <a:stretch>
                        <a:fillRect/>
                      </a:stretch>
                    </p:blipFill>
                    <p:spPr>
                      <a:xfrm>
                        <a:off x="2702251" y="4156671"/>
                        <a:ext cx="4698720" cy="1117440"/>
                      </a:xfrm>
                      <a:prstGeom prst="rect">
                        <a:avLst/>
                      </a:prstGeom>
                    </p:spPr>
                  </p:pic>
                </p:oleObj>
              </mc:Fallback>
            </mc:AlternateContent>
          </a:graphicData>
        </a:graphic>
      </p:graphicFrame>
      <p:sp>
        <p:nvSpPr>
          <p:cNvPr id="3" name="矩形 2"/>
          <p:cNvSpPr/>
          <p:nvPr/>
        </p:nvSpPr>
        <p:spPr>
          <a:xfrm>
            <a:off x="8265207" y="4728353"/>
            <a:ext cx="1157689" cy="461665"/>
          </a:xfrm>
          <a:prstGeom prst="rect">
            <a:avLst/>
          </a:prstGeom>
        </p:spPr>
        <p:txBody>
          <a:bodyPr wrap="none">
            <a:spAutoFit/>
          </a:bodyPr>
          <a:lstStyle/>
          <a:p>
            <a:r>
              <a:rPr lang="zh-CN" altLang="en-US" sz="2400" dirty="0">
                <a:latin typeface="Times New Roman" panose="02020603050405020304" pitchFamily="18" charset="0"/>
                <a:cs typeface="Times New Roman" panose="02020603050405020304" pitchFamily="18" charset="0"/>
              </a:rPr>
              <a:t>fermion</a:t>
            </a:r>
          </a:p>
        </p:txBody>
      </p:sp>
      <p:sp>
        <p:nvSpPr>
          <p:cNvPr id="10" name="矩形 9"/>
          <p:cNvSpPr/>
          <p:nvPr/>
        </p:nvSpPr>
        <p:spPr>
          <a:xfrm>
            <a:off x="8265207" y="4156671"/>
            <a:ext cx="952505" cy="461665"/>
          </a:xfrm>
          <a:prstGeom prst="rect">
            <a:avLst/>
          </a:prstGeom>
        </p:spPr>
        <p:txBody>
          <a:bodyPr wrap="none">
            <a:spAutoFit/>
          </a:bodyPr>
          <a:lstStyle/>
          <a:p>
            <a:r>
              <a:rPr lang="zh-CN" altLang="en-US" sz="2400" dirty="0">
                <a:latin typeface="Times New Roman" panose="02020603050405020304" pitchFamily="18" charset="0"/>
                <a:cs typeface="Times New Roman" panose="02020603050405020304" pitchFamily="18" charset="0"/>
              </a:rPr>
              <a:t>boson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95218" y="985443"/>
            <a:ext cx="10801564" cy="3742371"/>
          </a:xfrm>
          <a:prstGeom prst="rect">
            <a:avLst/>
          </a:prstGeom>
        </p:spPr>
        <p:txBody>
          <a:bodyPr wrap="square">
            <a:spAutoFit/>
          </a:bodyPr>
          <a:lstStyle/>
          <a:p>
            <a:pPr>
              <a:lnSpc>
                <a:spcPct val="125000"/>
              </a:lnSpc>
            </a:pPr>
            <a:r>
              <a:rPr lang="en-US" altLang="zh-CN" sz="2400" dirty="0">
                <a:latin typeface="Times New Roman" panose="02020603050405020304" pitchFamily="18" charset="0"/>
                <a:cs typeface="Times New Roman" panose="02020603050405020304" pitchFamily="18" charset="0"/>
              </a:rPr>
              <a:t>A fermion is a type of particle that obeys the rules of </a:t>
            </a:r>
            <a:r>
              <a:rPr lang="en-US" altLang="zh-CN" sz="2400" dirty="0">
                <a:solidFill>
                  <a:srgbClr val="FF0000"/>
                </a:solidFill>
                <a:latin typeface="Times New Roman" panose="02020603050405020304" pitchFamily="18" charset="0"/>
                <a:cs typeface="Times New Roman" panose="02020603050405020304" pitchFamily="18" charset="0"/>
              </a:rPr>
              <a:t>Fermi-Dirac statistics</a:t>
            </a:r>
            <a:r>
              <a:rPr lang="en-US" altLang="zh-CN" sz="2400" dirty="0">
                <a:latin typeface="Times New Roman" panose="02020603050405020304" pitchFamily="18" charset="0"/>
                <a:cs typeface="Times New Roman" panose="02020603050405020304" pitchFamily="18" charset="0"/>
              </a:rPr>
              <a:t>, namely the Pauli Exclusion Principle. These fermions also have a quantum spin with contains a half-integer value, such as 1/2, -1/2, -3/2, and so on. </a:t>
            </a:r>
          </a:p>
          <a:p>
            <a:pPr>
              <a:lnSpc>
                <a:spcPct val="125000"/>
              </a:lnSpc>
            </a:pPr>
            <a:r>
              <a:rPr lang="en-US" altLang="zh-CN" sz="2400" dirty="0">
                <a:latin typeface="Times New Roman" panose="02020603050405020304" pitchFamily="18" charset="0"/>
                <a:cs typeface="Times New Roman" panose="02020603050405020304" pitchFamily="18" charset="0"/>
              </a:rPr>
              <a:t>If a particle belongs to a fermion, the quantum state for this kind of particle should be singly occupied. </a:t>
            </a:r>
          </a:p>
          <a:p>
            <a:pPr>
              <a:lnSpc>
                <a:spcPct val="125000"/>
              </a:lnSpc>
            </a:pPr>
            <a:endParaRPr lang="en-US" altLang="zh-CN" sz="2400" dirty="0">
              <a:latin typeface="Times New Roman" panose="02020603050405020304" pitchFamily="18" charset="0"/>
              <a:cs typeface="Times New Roman" panose="02020603050405020304" pitchFamily="18" charset="0"/>
            </a:endParaRPr>
          </a:p>
          <a:p>
            <a:pPr>
              <a:lnSpc>
                <a:spcPct val="125000"/>
              </a:lnSpc>
            </a:pPr>
            <a:r>
              <a:rPr lang="en-US" altLang="zh-CN" sz="2400" dirty="0">
                <a:latin typeface="Times New Roman" panose="02020603050405020304" pitchFamily="18" charset="0"/>
                <a:cs typeface="Times New Roman" panose="02020603050405020304" pitchFamily="18" charset="0"/>
              </a:rPr>
              <a:t>By comparison, there are other types of particles, called bosons, that have an integer spin, such as 0, 1, -1, -2, 2, etc.)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21023" y="293612"/>
            <a:ext cx="7558479"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Symmetric and antisymmetric orbital functions </a:t>
            </a:r>
            <a:endParaRPr lang="zh-CN" altLang="en-US" sz="2800" b="1" dirty="0">
              <a:latin typeface="Times New Roman" panose="02020603050405020304" pitchFamily="18" charset="0"/>
              <a:cs typeface="Times New Roman" panose="02020603050405020304" pitchFamily="18" charset="0"/>
            </a:endParaRPr>
          </a:p>
        </p:txBody>
      </p:sp>
      <p:sp>
        <p:nvSpPr>
          <p:cNvPr id="5" name="矩形 4"/>
          <p:cNvSpPr/>
          <p:nvPr/>
        </p:nvSpPr>
        <p:spPr>
          <a:xfrm>
            <a:off x="357523" y="2372509"/>
            <a:ext cx="11473314" cy="1460208"/>
          </a:xfrm>
          <a:prstGeom prst="rect">
            <a:avLst/>
          </a:prstGeom>
        </p:spPr>
        <p:txBody>
          <a:bodyPr wrap="square">
            <a:spAutoFit/>
          </a:bodyPr>
          <a:lstStyle/>
          <a:p>
            <a:pPr>
              <a:lnSpc>
                <a:spcPct val="120000"/>
              </a:lnSpc>
              <a:spcBef>
                <a:spcPts val="600"/>
              </a:spcBef>
            </a:pPr>
            <a:r>
              <a:rPr lang="en-US" altLang="zh-CN" sz="2400" dirty="0">
                <a:latin typeface="Times New Roman" panose="02020603050405020304" pitchFamily="18" charset="0"/>
                <a:cs typeface="Times New Roman" panose="02020603050405020304" pitchFamily="18" charset="0"/>
              </a:rPr>
              <a:t>This function doesn't change if we switch the electrons </a:t>
            </a:r>
            <a:r>
              <a:rPr lang="en-US" altLang="zh-TW" sz="2400" dirty="0">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it is </a:t>
            </a:r>
            <a:r>
              <a:rPr lang="en-US" altLang="zh-CN" sz="2400" i="1" dirty="0">
                <a:solidFill>
                  <a:srgbClr val="B02B08"/>
                </a:solidFill>
                <a:latin typeface="Times New Roman" panose="02020603050405020304" pitchFamily="18" charset="0"/>
                <a:cs typeface="Times New Roman" panose="02020603050405020304" pitchFamily="18" charset="0"/>
              </a:rPr>
              <a:t>symmetric </a:t>
            </a:r>
            <a:r>
              <a:rPr lang="en-US" altLang="zh-CN" sz="2400" dirty="0">
                <a:latin typeface="Times New Roman" panose="02020603050405020304" pitchFamily="18" charset="0"/>
                <a:cs typeface="Times New Roman" panose="02020603050405020304" pitchFamily="18" charset="0"/>
              </a:rPr>
              <a:t>with respect to electron exchange.</a:t>
            </a:r>
          </a:p>
          <a:p>
            <a:pPr marL="701675" algn="r">
              <a:lnSpc>
                <a:spcPct val="120000"/>
              </a:lnSpc>
              <a:spcBef>
                <a:spcPts val="600"/>
              </a:spcBef>
            </a:pPr>
            <a:endParaRPr lang="en-US" altLang="zh-CN" sz="2400" dirty="0">
              <a:solidFill>
                <a:srgbClr val="2926BF"/>
              </a:solidFill>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267730589"/>
              </p:ext>
            </p:extLst>
          </p:nvPr>
        </p:nvGraphicFramePr>
        <p:xfrm>
          <a:off x="4129766" y="5191362"/>
          <a:ext cx="4291920" cy="457200"/>
        </p:xfrm>
        <a:graphic>
          <a:graphicData uri="http://schemas.openxmlformats.org/presentationml/2006/ole">
            <mc:AlternateContent xmlns:mc="http://schemas.openxmlformats.org/markup-compatibility/2006">
              <mc:Choice xmlns:v="urn:schemas-microsoft-com:vml" Requires="v">
                <p:oleObj name="Equation" r:id="rId2" imgW="51511200" imgH="5486400" progId="Equation.DSMT4">
                  <p:embed/>
                </p:oleObj>
              </mc:Choice>
              <mc:Fallback>
                <p:oleObj name="Equation" r:id="rId2" imgW="51511200" imgH="5486400" progId="Equation.DSMT4">
                  <p:embed/>
                  <p:pic>
                    <p:nvPicPr>
                      <p:cNvPr id="7" name="对象 6"/>
                      <p:cNvPicPr/>
                      <p:nvPr/>
                    </p:nvPicPr>
                    <p:blipFill>
                      <a:blip r:embed="rId3"/>
                      <a:stretch>
                        <a:fillRect/>
                      </a:stretch>
                    </p:blipFill>
                    <p:spPr>
                      <a:xfrm>
                        <a:off x="4129766" y="5191362"/>
                        <a:ext cx="4291920" cy="457200"/>
                      </a:xfrm>
                      <a:prstGeom prst="rect">
                        <a:avLst/>
                      </a:prstGeom>
                    </p:spPr>
                  </p:pic>
                </p:oleObj>
              </mc:Fallback>
            </mc:AlternateContent>
          </a:graphicData>
        </a:graphic>
      </p:graphicFrame>
      <p:sp>
        <p:nvSpPr>
          <p:cNvPr id="8"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9203755" y="3244330"/>
            <a:ext cx="524503" cy="461665"/>
          </a:xfrm>
          <a:prstGeom prst="rect">
            <a:avLst/>
          </a:prstGeom>
          <a:noFill/>
        </p:spPr>
        <p:txBody>
          <a:bodyPr wrap="none" rtlCol="0">
            <a:spAutoFit/>
          </a:bodyPr>
          <a:lstStyle/>
          <a:p>
            <a:r>
              <a:rPr lang="zh-CN" altLang="en-US" sz="2400" dirty="0">
                <a:solidFill>
                  <a:srgbClr val="FF0000"/>
                </a:solidFill>
                <a:sym typeface="Symbol" panose="05050102010706020507" pitchFamily="18" charset="2"/>
              </a:rPr>
              <a:t></a:t>
            </a:r>
            <a:r>
              <a:rPr lang="en-US" altLang="zh-CN" sz="2400" baseline="-25000" dirty="0">
                <a:solidFill>
                  <a:srgbClr val="FF0000"/>
                </a:solidFill>
                <a:sym typeface="Symbol" panose="05050102010706020507" pitchFamily="18" charset="2"/>
              </a:rPr>
              <a:t>S</a:t>
            </a:r>
            <a:endParaRPr lang="zh-CN" altLang="en-US" sz="2400" baseline="-25000" dirty="0">
              <a:solidFill>
                <a:srgbClr val="FF0000"/>
              </a:solidFill>
            </a:endParaRPr>
          </a:p>
        </p:txBody>
      </p:sp>
      <p:sp>
        <p:nvSpPr>
          <p:cNvPr id="10" name="文本框 9"/>
          <p:cNvSpPr txBox="1"/>
          <p:nvPr/>
        </p:nvSpPr>
        <p:spPr>
          <a:xfrm>
            <a:off x="9179710" y="5186897"/>
            <a:ext cx="548548" cy="461665"/>
          </a:xfrm>
          <a:prstGeom prst="rect">
            <a:avLst/>
          </a:prstGeom>
          <a:noFill/>
        </p:spPr>
        <p:txBody>
          <a:bodyPr wrap="none" rtlCol="0">
            <a:spAutoFit/>
          </a:bodyPr>
          <a:lstStyle/>
          <a:p>
            <a:r>
              <a:rPr lang="zh-CN" altLang="en-US" sz="2400" dirty="0">
                <a:solidFill>
                  <a:srgbClr val="FF0000"/>
                </a:solidFill>
                <a:sym typeface="Symbol" panose="05050102010706020507" pitchFamily="18" charset="2"/>
              </a:rPr>
              <a:t></a:t>
            </a:r>
            <a:r>
              <a:rPr lang="en-US" altLang="zh-CN" sz="2400" baseline="-25000" dirty="0">
                <a:solidFill>
                  <a:srgbClr val="FF0000"/>
                </a:solidFill>
                <a:sym typeface="Symbol" panose="05050102010706020507" pitchFamily="18" charset="2"/>
              </a:rPr>
              <a:t>A</a:t>
            </a:r>
            <a:endParaRPr lang="zh-CN" altLang="en-US" sz="2400" baseline="-25000" dirty="0">
              <a:solidFill>
                <a:srgbClr val="FF0000"/>
              </a:solidFill>
            </a:endParaRPr>
          </a:p>
        </p:txBody>
      </p:sp>
      <p:graphicFrame>
        <p:nvGraphicFramePr>
          <p:cNvPr id="6" name="对象 5"/>
          <p:cNvGraphicFramePr>
            <a:graphicFrameLocks noChangeAspect="1"/>
          </p:cNvGraphicFramePr>
          <p:nvPr/>
        </p:nvGraphicFramePr>
        <p:xfrm>
          <a:off x="4141788" y="3244850"/>
          <a:ext cx="4318000" cy="457200"/>
        </p:xfrm>
        <a:graphic>
          <a:graphicData uri="http://schemas.openxmlformats.org/presentationml/2006/ole">
            <mc:AlternateContent xmlns:mc="http://schemas.openxmlformats.org/markup-compatibility/2006">
              <mc:Choice xmlns:v="urn:schemas-microsoft-com:vml" Requires="v">
                <p:oleObj name="Equation" r:id="rId4" imgW="51816000" imgH="5486400" progId="Equation.DSMT4">
                  <p:embed/>
                </p:oleObj>
              </mc:Choice>
              <mc:Fallback>
                <p:oleObj name="Equation" r:id="rId4" imgW="51816000" imgH="5486400" progId="Equation.DSMT4">
                  <p:embed/>
                  <p:pic>
                    <p:nvPicPr>
                      <p:cNvPr id="6" name="对象 5"/>
                      <p:cNvPicPr/>
                      <p:nvPr/>
                    </p:nvPicPr>
                    <p:blipFill>
                      <a:blip r:embed="rId5"/>
                      <a:stretch>
                        <a:fillRect/>
                      </a:stretch>
                    </p:blipFill>
                    <p:spPr>
                      <a:xfrm>
                        <a:off x="4141788" y="3244850"/>
                        <a:ext cx="4318000" cy="457200"/>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DC579970-FCCA-A735-8C5D-D433252DBB80}"/>
              </a:ext>
            </a:extLst>
          </p:cNvPr>
          <p:cNvSpPr txBox="1"/>
          <p:nvPr/>
        </p:nvSpPr>
        <p:spPr>
          <a:xfrm>
            <a:off x="409429" y="1209438"/>
            <a:ext cx="11336257"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Electronic wave function can be regarded as the product of spatial part and spin part</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04CC33A1-E858-4826-A14D-796CCAA488F8}"/>
              </a:ext>
            </a:extLst>
          </p:cNvPr>
          <p:cNvSpPr txBox="1"/>
          <p:nvPr/>
        </p:nvSpPr>
        <p:spPr>
          <a:xfrm>
            <a:off x="409429" y="3929620"/>
            <a:ext cx="10863943" cy="940066"/>
          </a:xfrm>
          <a:prstGeom prst="rect">
            <a:avLst/>
          </a:prstGeom>
          <a:noFill/>
        </p:spPr>
        <p:txBody>
          <a:bodyPr wrap="square">
            <a:spAutoFit/>
          </a:bodyPr>
          <a:lstStyle/>
          <a:p>
            <a:pPr>
              <a:lnSpc>
                <a:spcPct val="120000"/>
              </a:lnSpc>
              <a:spcBef>
                <a:spcPts val="600"/>
              </a:spcBef>
            </a:pPr>
            <a:r>
              <a:rPr lang="en-US" altLang="zh-CN" sz="2400" dirty="0">
                <a:latin typeface="Times New Roman" panose="02020603050405020304" pitchFamily="18" charset="0"/>
                <a:cs typeface="Times New Roman" panose="02020603050405020304" pitchFamily="18" charset="0"/>
              </a:rPr>
              <a:t>This function changes sign if we switch the electrons </a:t>
            </a:r>
            <a:r>
              <a:rPr lang="en-US" altLang="zh-TW" sz="2400" dirty="0">
                <a:latin typeface="Times New Roman" panose="02020603050405020304" pitchFamily="18" charset="0"/>
                <a:ea typeface="Arial" panose="020B0604020202020204"/>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it is </a:t>
            </a:r>
            <a:r>
              <a:rPr lang="en-US" altLang="zh-CN" sz="2400" i="1" dirty="0">
                <a:solidFill>
                  <a:srgbClr val="B02B08"/>
                </a:solidFill>
                <a:latin typeface="Times New Roman" panose="02020603050405020304" pitchFamily="18" charset="0"/>
                <a:cs typeface="Times New Roman" panose="02020603050405020304" pitchFamily="18" charset="0"/>
              </a:rPr>
              <a:t>antisymmetric </a:t>
            </a:r>
            <a:r>
              <a:rPr lang="en-US" altLang="zh-CN" sz="2400" dirty="0">
                <a:latin typeface="Times New Roman" panose="02020603050405020304" pitchFamily="18" charset="0"/>
                <a:cs typeface="Times New Roman" panose="02020603050405020304" pitchFamily="18" charset="0"/>
              </a:rPr>
              <a:t>with respect to electron exchange.</a:t>
            </a:r>
          </a:p>
        </p:txBody>
      </p:sp>
      <p:graphicFrame>
        <p:nvGraphicFramePr>
          <p:cNvPr id="15" name="对象 14">
            <a:extLst>
              <a:ext uri="{FF2B5EF4-FFF2-40B4-BE49-F238E27FC236}">
                <a16:creationId xmlns:a16="http://schemas.microsoft.com/office/drawing/2014/main" id="{33C4A57C-8906-3476-A765-21BF36A565C2}"/>
              </a:ext>
            </a:extLst>
          </p:cNvPr>
          <p:cNvGraphicFramePr>
            <a:graphicFrameLocks noChangeAspect="1"/>
          </p:cNvGraphicFramePr>
          <p:nvPr>
            <p:extLst>
              <p:ext uri="{D42A27DB-BD31-4B8C-83A1-F6EECF244321}">
                <p14:modId xmlns:p14="http://schemas.microsoft.com/office/powerpoint/2010/main" val="2090009814"/>
              </p:ext>
            </p:extLst>
          </p:nvPr>
        </p:nvGraphicFramePr>
        <p:xfrm>
          <a:off x="3869995" y="1768006"/>
          <a:ext cx="5333760" cy="507600"/>
        </p:xfrm>
        <a:graphic>
          <a:graphicData uri="http://schemas.openxmlformats.org/presentationml/2006/ole">
            <mc:AlternateContent xmlns:mc="http://schemas.openxmlformats.org/markup-compatibility/2006">
              <mc:Choice xmlns:v="urn:schemas-microsoft-com:vml" Requires="v">
                <p:oleObj name="Equation" r:id="rId6" imgW="64008000" imgH="6096000" progId="Equation.DSMT4">
                  <p:embed/>
                </p:oleObj>
              </mc:Choice>
              <mc:Fallback>
                <p:oleObj name="Equation" r:id="rId6" imgW="64008000" imgH="6096000" progId="Equation.DSMT4">
                  <p:embed/>
                  <p:pic>
                    <p:nvPicPr>
                      <p:cNvPr id="11" name="对象 10"/>
                      <p:cNvPicPr/>
                      <p:nvPr/>
                    </p:nvPicPr>
                    <p:blipFill>
                      <a:blip r:embed="rId7"/>
                      <a:stretch>
                        <a:fillRect/>
                      </a:stretch>
                    </p:blipFill>
                    <p:spPr>
                      <a:xfrm>
                        <a:off x="3869995" y="1768006"/>
                        <a:ext cx="5333760" cy="507600"/>
                      </a:xfrm>
                      <a:prstGeom prst="rect">
                        <a:avLst/>
                      </a:prstGeom>
                    </p:spPr>
                  </p:pic>
                </p:oleObj>
              </mc:Fallback>
            </mc:AlternateContent>
          </a:graphicData>
        </a:graphic>
      </p:graphicFrame>
    </p:spTree>
    <p:extLst>
      <p:ext uri="{BB962C8B-B14F-4D97-AF65-F5344CB8AC3E}">
        <p14:creationId xmlns:p14="http://schemas.microsoft.com/office/powerpoint/2010/main" val="13823471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54044" y="219192"/>
            <a:ext cx="6142583" cy="523220"/>
          </a:xfrm>
          <a:prstGeom prst="rect">
            <a:avLst/>
          </a:prstGeom>
          <a:noFill/>
        </p:spPr>
        <p:txBody>
          <a:bodyPr wrap="square">
            <a:spAutoFit/>
          </a:bodyPr>
          <a:lstStyle/>
          <a:p>
            <a:pPr fontAlgn="base">
              <a:spcBef>
                <a:spcPct val="20000"/>
              </a:spcBef>
              <a:spcAft>
                <a:spcPct val="0"/>
              </a:spcAft>
            </a:pPr>
            <a:r>
              <a:rPr lang="en-US" altLang="zh-CN" sz="2800" b="1" dirty="0">
                <a:solidFill>
                  <a:srgbClr val="000000"/>
                </a:solidFill>
                <a:latin typeface="Times New Roman" panose="02020603050405020304" pitchFamily="18" charset="0"/>
                <a:ea typeface="Arial Unicode MS" pitchFamily="34" charset="-122"/>
                <a:cs typeface="Times New Roman" panose="02020603050405020304" pitchFamily="18" charset="0"/>
              </a:rPr>
              <a:t>For a system of two identical </a:t>
            </a:r>
            <a:r>
              <a:rPr lang="en-GB" altLang="zh-CN" sz="2800" b="1" dirty="0">
                <a:solidFill>
                  <a:srgbClr val="000000"/>
                </a:solidFill>
                <a:latin typeface="Times New Roman" panose="02020603050405020304" pitchFamily="18" charset="0"/>
                <a:ea typeface="Arial Unicode MS" pitchFamily="34" charset="-122"/>
                <a:cs typeface="Times New Roman" panose="02020603050405020304" pitchFamily="18" charset="0"/>
              </a:rPr>
              <a:t>particles</a:t>
            </a:r>
            <a:endParaRPr lang="zh-CN" altLang="en-US" sz="2800" b="1"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11" name="矩形 10"/>
          <p:cNvSpPr/>
          <p:nvPr/>
        </p:nvSpPr>
        <p:spPr>
          <a:xfrm>
            <a:off x="1552284" y="2185244"/>
            <a:ext cx="1579278" cy="461665"/>
          </a:xfrm>
          <a:prstGeom prst="rect">
            <a:avLst/>
          </a:prstGeom>
        </p:spPr>
        <p:txBody>
          <a:bodyPr wrap="none">
            <a:spAutoFit/>
          </a:bodyPr>
          <a:lstStyle/>
          <a:p>
            <a:pPr algn="ctr" fontAlgn="base">
              <a:spcBef>
                <a:spcPct val="20000"/>
              </a:spcBef>
              <a:spcAft>
                <a:spcPct val="0"/>
              </a:spcAft>
            </a:pPr>
            <a:r>
              <a:rPr lang="en-GB"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two bosons</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12" name="矩形 11"/>
          <p:cNvSpPr/>
          <p:nvPr/>
        </p:nvSpPr>
        <p:spPr>
          <a:xfrm>
            <a:off x="1553313" y="2898230"/>
            <a:ext cx="1816523" cy="461665"/>
          </a:xfrm>
          <a:prstGeom prst="rect">
            <a:avLst/>
          </a:prstGeom>
        </p:spPr>
        <p:txBody>
          <a:bodyPr wrap="none">
            <a:spAutoFit/>
          </a:bodyPr>
          <a:lstStyle/>
          <a:p>
            <a:pPr algn="ctr" fontAlgn="base">
              <a:spcBef>
                <a:spcPct val="20000"/>
              </a:spcBef>
              <a:spcAft>
                <a:spcPct val="0"/>
              </a:spcAft>
            </a:pPr>
            <a:r>
              <a:rPr lang="en-GB"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two fermions</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13" name="矩形 12"/>
          <p:cNvSpPr/>
          <p:nvPr/>
        </p:nvSpPr>
        <p:spPr>
          <a:xfrm>
            <a:off x="301196" y="1042427"/>
            <a:ext cx="11641988" cy="830997"/>
          </a:xfrm>
          <a:prstGeom prst="rect">
            <a:avLst/>
          </a:prstGeom>
        </p:spPr>
        <p:txBody>
          <a:bodyPr wrap="square">
            <a:spAutoFit/>
          </a:bodyPr>
          <a:lstStyle/>
          <a:p>
            <a:pPr fontAlgn="base">
              <a:spcAft>
                <a:spcPct val="0"/>
              </a:spcAft>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If a system is composed of several kinds of particles, then its wave function must be separately symmetric or </a:t>
            </a:r>
            <a:r>
              <a:rPr lang="en-US" altLang="zh-CN" sz="2400" dirty="0" err="1">
                <a:solidFill>
                  <a:srgbClr val="000000"/>
                </a:solidFill>
                <a:latin typeface="Times New Roman" panose="02020603050405020304" pitchFamily="18" charset="0"/>
                <a:ea typeface="Arial Unicode MS" pitchFamily="34" charset="-122"/>
                <a:cs typeface="Times New Roman" panose="02020603050405020304" pitchFamily="18" charset="0"/>
              </a:rPr>
              <a:t>antisymmetric</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with respect to each type of particle.</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1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295740992"/>
              </p:ext>
            </p:extLst>
          </p:nvPr>
        </p:nvGraphicFramePr>
        <p:xfrm>
          <a:off x="3818304" y="2007984"/>
          <a:ext cx="5003280" cy="838080"/>
        </p:xfrm>
        <a:graphic>
          <a:graphicData uri="http://schemas.openxmlformats.org/presentationml/2006/ole">
            <mc:AlternateContent xmlns:mc="http://schemas.openxmlformats.org/markup-compatibility/2006">
              <mc:Choice xmlns:v="urn:schemas-microsoft-com:vml" Requires="v">
                <p:oleObj name="Equation" r:id="rId2" imgW="2501640" imgH="419040" progId="Equation.DSMT4">
                  <p:embed/>
                </p:oleObj>
              </mc:Choice>
              <mc:Fallback>
                <p:oleObj name="Equation" r:id="rId2" imgW="2501640" imgH="419040" progId="Equation.DSMT4">
                  <p:embed/>
                  <p:pic>
                    <p:nvPicPr>
                      <p:cNvPr id="0" name="对象 5"/>
                      <p:cNvPicPr/>
                      <p:nvPr/>
                    </p:nvPicPr>
                    <p:blipFill>
                      <a:blip r:embed="rId3"/>
                      <a:stretch>
                        <a:fillRect/>
                      </a:stretch>
                    </p:blipFill>
                    <p:spPr>
                      <a:xfrm>
                        <a:off x="3818304" y="2007984"/>
                        <a:ext cx="5003280" cy="83808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81571461"/>
              </p:ext>
            </p:extLst>
          </p:nvPr>
        </p:nvGraphicFramePr>
        <p:xfrm>
          <a:off x="3818304" y="2881398"/>
          <a:ext cx="5003280" cy="838080"/>
        </p:xfrm>
        <a:graphic>
          <a:graphicData uri="http://schemas.openxmlformats.org/presentationml/2006/ole">
            <mc:AlternateContent xmlns:mc="http://schemas.openxmlformats.org/markup-compatibility/2006">
              <mc:Choice xmlns:v="urn:schemas-microsoft-com:vml" Requires="v">
                <p:oleObj name="Equation" r:id="rId4" imgW="2501640" imgH="419040" progId="Equation.DSMT4">
                  <p:embed/>
                </p:oleObj>
              </mc:Choice>
              <mc:Fallback>
                <p:oleObj name="Equation" r:id="rId4" imgW="2501640" imgH="419040" progId="Equation.DSMT4">
                  <p:embed/>
                  <p:pic>
                    <p:nvPicPr>
                      <p:cNvPr id="0" name="对象 6"/>
                      <p:cNvPicPr/>
                      <p:nvPr/>
                    </p:nvPicPr>
                    <p:blipFill>
                      <a:blip r:embed="rId5"/>
                      <a:stretch>
                        <a:fillRect/>
                      </a:stretch>
                    </p:blipFill>
                    <p:spPr>
                      <a:xfrm>
                        <a:off x="3818304" y="2881398"/>
                        <a:ext cx="5003280" cy="838080"/>
                      </a:xfrm>
                      <a:prstGeom prst="rect">
                        <a:avLst/>
                      </a:prstGeom>
                    </p:spPr>
                  </p:pic>
                </p:oleObj>
              </mc:Fallback>
            </mc:AlternateContent>
          </a:graphicData>
        </a:graphic>
      </p:graphicFrame>
      <p:sp>
        <p:nvSpPr>
          <p:cNvPr id="6" name="文本框 5"/>
          <p:cNvSpPr txBox="1"/>
          <p:nvPr/>
        </p:nvSpPr>
        <p:spPr>
          <a:xfrm>
            <a:off x="481493" y="4018592"/>
            <a:ext cx="6673622"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Electronic wave function should be </a:t>
            </a:r>
            <a:r>
              <a:rPr lang="en-US" altLang="zh-CN" sz="2400" i="1" dirty="0">
                <a:solidFill>
                  <a:srgbClr val="B02B08"/>
                </a:solidFill>
                <a:latin typeface="Times New Roman" panose="02020603050405020304" pitchFamily="18" charset="0"/>
                <a:cs typeface="Times New Roman" panose="02020603050405020304" pitchFamily="18" charset="0"/>
              </a:rPr>
              <a:t>antisymmetric. </a:t>
            </a:r>
            <a:r>
              <a:rPr lang="en-US" altLang="zh-CN" sz="2400" dirty="0">
                <a:latin typeface="Times New Roman" panose="02020603050405020304" pitchFamily="18" charset="0"/>
                <a:cs typeface="Times New Roman" panose="02020603050405020304" pitchFamily="18" charset="0"/>
              </a:rPr>
              <a:t> </a:t>
            </a:r>
            <a:endParaRPr lang="zh-CN" altLang="en-US" sz="2400" baseline="-25000" dirty="0">
              <a:solidFill>
                <a:srgbClr val="FF0000"/>
              </a:solidFill>
            </a:endParaRPr>
          </a:p>
        </p:txBody>
      </p:sp>
      <p:sp>
        <p:nvSpPr>
          <p:cNvPr id="7" name="文本框 6">
            <a:extLst>
              <a:ext uri="{FF2B5EF4-FFF2-40B4-BE49-F238E27FC236}">
                <a16:creationId xmlns:a16="http://schemas.microsoft.com/office/drawing/2014/main" id="{7F92C618-A3B2-7C09-2710-29FD9574EAAE}"/>
              </a:ext>
            </a:extLst>
          </p:cNvPr>
          <p:cNvSpPr txBox="1"/>
          <p:nvPr/>
        </p:nvSpPr>
        <p:spPr>
          <a:xfrm>
            <a:off x="1825756" y="4630510"/>
            <a:ext cx="5363969" cy="461665"/>
          </a:xfrm>
          <a:prstGeom prst="rect">
            <a:avLst/>
          </a:prstGeom>
          <a:noFill/>
        </p:spPr>
        <p:txBody>
          <a:bodyPr wrap="none" rtlCol="0">
            <a:spAutoFit/>
          </a:bodyPr>
          <a:lstStyle/>
          <a:p>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aseline="-25000" dirty="0" err="1">
                <a:latin typeface="Times New Roman" panose="02020603050405020304" pitchFamily="18" charset="0"/>
                <a:cs typeface="Times New Roman" panose="02020603050405020304" pitchFamily="18" charset="0"/>
                <a:sym typeface="Symbol" panose="05050102010706020507" pitchFamily="18" charset="2"/>
              </a:rPr>
              <a:t>ele</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 (spatial function)  (spin function)</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6244CBE4-59B5-0A58-408D-60BF9535A6D1}"/>
              </a:ext>
            </a:extLst>
          </p:cNvPr>
          <p:cNvSpPr txBox="1"/>
          <p:nvPr/>
        </p:nvSpPr>
        <p:spPr>
          <a:xfrm>
            <a:off x="3131562" y="5224841"/>
            <a:ext cx="6096000" cy="369332"/>
          </a:xfrm>
          <a:prstGeom prst="rect">
            <a:avLst/>
          </a:prstGeom>
          <a:noFill/>
        </p:spPr>
        <p:txBody>
          <a:bodyPr wrap="square">
            <a:spAutoFit/>
          </a:bodyPr>
          <a:lstStyle/>
          <a:p>
            <a:r>
              <a:rPr lang="en-US" altLang="zh-CN" sz="1800" i="1" dirty="0">
                <a:solidFill>
                  <a:srgbClr val="B02B08"/>
                </a:solidFill>
                <a:latin typeface="Times New Roman" panose="02020603050405020304" pitchFamily="18" charset="0"/>
                <a:cs typeface="Times New Roman" panose="02020603050405020304" pitchFamily="18" charset="0"/>
              </a:rPr>
              <a:t>symmetric</a:t>
            </a:r>
            <a:endParaRPr lang="zh-CN" altLang="en-US" dirty="0"/>
          </a:p>
        </p:txBody>
      </p:sp>
      <p:sp>
        <p:nvSpPr>
          <p:cNvPr id="16" name="文本框 15">
            <a:extLst>
              <a:ext uri="{FF2B5EF4-FFF2-40B4-BE49-F238E27FC236}">
                <a16:creationId xmlns:a16="http://schemas.microsoft.com/office/drawing/2014/main" id="{151DA1FC-9FEE-1189-DFE5-929EE68848BB}"/>
              </a:ext>
            </a:extLst>
          </p:cNvPr>
          <p:cNvSpPr txBox="1"/>
          <p:nvPr/>
        </p:nvSpPr>
        <p:spPr>
          <a:xfrm>
            <a:off x="5148943" y="5214982"/>
            <a:ext cx="6096000" cy="369332"/>
          </a:xfrm>
          <a:prstGeom prst="rect">
            <a:avLst/>
          </a:prstGeom>
          <a:noFill/>
        </p:spPr>
        <p:txBody>
          <a:bodyPr wrap="square">
            <a:spAutoFit/>
          </a:bodyPr>
          <a:lstStyle/>
          <a:p>
            <a:r>
              <a:rPr lang="en-US" altLang="zh-CN" sz="1800" i="1" dirty="0">
                <a:solidFill>
                  <a:srgbClr val="B02B08"/>
                </a:solidFill>
                <a:latin typeface="Times New Roman" panose="02020603050405020304" pitchFamily="18" charset="0"/>
                <a:cs typeface="Times New Roman" panose="02020603050405020304" pitchFamily="18" charset="0"/>
              </a:rPr>
              <a:t>antisymmetric</a:t>
            </a:r>
            <a:endParaRPr lang="zh-CN" altLang="en-US" dirty="0"/>
          </a:p>
        </p:txBody>
      </p:sp>
      <p:sp>
        <p:nvSpPr>
          <p:cNvPr id="24" name="文本框 23">
            <a:extLst>
              <a:ext uri="{FF2B5EF4-FFF2-40B4-BE49-F238E27FC236}">
                <a16:creationId xmlns:a16="http://schemas.microsoft.com/office/drawing/2014/main" id="{8905A43B-C1CE-8E5F-DAE2-22ABF0599D4E}"/>
              </a:ext>
            </a:extLst>
          </p:cNvPr>
          <p:cNvSpPr txBox="1"/>
          <p:nvPr/>
        </p:nvSpPr>
        <p:spPr>
          <a:xfrm>
            <a:off x="2977335" y="5772666"/>
            <a:ext cx="1812379" cy="369332"/>
          </a:xfrm>
          <a:prstGeom prst="rect">
            <a:avLst/>
          </a:prstGeom>
          <a:noFill/>
        </p:spPr>
        <p:txBody>
          <a:bodyPr wrap="square">
            <a:spAutoFit/>
          </a:bodyPr>
          <a:lstStyle/>
          <a:p>
            <a:r>
              <a:rPr lang="en-US" altLang="zh-CN" sz="1800" i="1" dirty="0">
                <a:solidFill>
                  <a:srgbClr val="B02B08"/>
                </a:solidFill>
                <a:latin typeface="Times New Roman" panose="02020603050405020304" pitchFamily="18" charset="0"/>
                <a:cs typeface="Times New Roman" panose="02020603050405020304" pitchFamily="18" charset="0"/>
              </a:rPr>
              <a:t>antisymmetric</a:t>
            </a:r>
            <a:endParaRPr lang="zh-CN" altLang="en-US" dirty="0"/>
          </a:p>
        </p:txBody>
      </p:sp>
      <p:sp>
        <p:nvSpPr>
          <p:cNvPr id="26" name="文本框 25">
            <a:extLst>
              <a:ext uri="{FF2B5EF4-FFF2-40B4-BE49-F238E27FC236}">
                <a16:creationId xmlns:a16="http://schemas.microsoft.com/office/drawing/2014/main" id="{7CCA0AB6-E0EE-EB17-29E1-5B851FD45719}"/>
              </a:ext>
            </a:extLst>
          </p:cNvPr>
          <p:cNvSpPr txBox="1"/>
          <p:nvPr/>
        </p:nvSpPr>
        <p:spPr>
          <a:xfrm>
            <a:off x="5269472" y="5772666"/>
            <a:ext cx="2100943" cy="369332"/>
          </a:xfrm>
          <a:prstGeom prst="rect">
            <a:avLst/>
          </a:prstGeom>
          <a:noFill/>
        </p:spPr>
        <p:txBody>
          <a:bodyPr wrap="square">
            <a:spAutoFit/>
          </a:bodyPr>
          <a:lstStyle/>
          <a:p>
            <a:r>
              <a:rPr lang="en-US" altLang="zh-CN" sz="1800" i="1" dirty="0">
                <a:solidFill>
                  <a:srgbClr val="B02B08"/>
                </a:solidFill>
                <a:latin typeface="Times New Roman" panose="02020603050405020304" pitchFamily="18" charset="0"/>
                <a:cs typeface="Times New Roman" panose="02020603050405020304" pitchFamily="18" charset="0"/>
              </a:rPr>
              <a:t>symmetric</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42574" y="214390"/>
            <a:ext cx="3225563"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The Pauli principle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279133" y="1090572"/>
                <a:ext cx="11752446" cy="4918334"/>
              </a:xfrm>
              <a:prstGeom prst="rect">
                <a:avLst/>
              </a:prstGeom>
            </p:spPr>
            <p:txBody>
              <a:bodyPr wrap="square">
                <a:spAutoFit/>
              </a:bodyPr>
              <a:lstStyle/>
              <a:p>
                <a:pPr marL="856615" algn="r">
                  <a:lnSpc>
                    <a:spcPts val="800"/>
                  </a:lnSpc>
                  <a:spcAft>
                    <a:spcPts val="405"/>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1000"/>
                  </a:lnSpc>
                  <a:spcBef>
                    <a:spcPts val="600"/>
                  </a:spcBef>
                </a:pPr>
                <a:r>
                  <a:rPr lang="en-US" altLang="zh-CN" sz="2400" dirty="0">
                    <a:latin typeface="Times New Roman" panose="02020603050405020304" pitchFamily="18" charset="0"/>
                    <a:cs typeface="Times New Roman" panose="02020603050405020304" pitchFamily="18" charset="0"/>
                  </a:rPr>
                  <a:t>We can combine these with singlet and triplet spin functions respectively to obtain acceptable overall wavefunctions.</a:t>
                </a:r>
              </a:p>
              <a:p>
                <a:pPr indent="114300" algn="r">
                  <a:spcAft>
                    <a:spcPts val="540"/>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gn="r">
                  <a:lnSpc>
                    <a:spcPct val="115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gn="r">
                  <a:lnSpc>
                    <a:spcPct val="115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gn="r">
                  <a:lnSpc>
                    <a:spcPct val="115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gn="just">
                  <a:lnSpc>
                    <a:spcPct val="121000"/>
                  </a:lnSpc>
                  <a:spcBef>
                    <a:spcPts val="1800"/>
                  </a:spcBef>
                </a:pPr>
                <a:endParaRPr lang="en-US" altLang="zh-CN" sz="2400" dirty="0">
                  <a:latin typeface="Times New Roman" panose="02020603050405020304" pitchFamily="18" charset="0"/>
                  <a:cs typeface="Times New Roman" panose="02020603050405020304" pitchFamily="18" charset="0"/>
                </a:endParaRPr>
              </a:p>
              <a:p>
                <a:pPr algn="just">
                  <a:lnSpc>
                    <a:spcPct val="121000"/>
                  </a:lnSpc>
                  <a:spcBef>
                    <a:spcPts val="3600"/>
                  </a:spcBef>
                </a:pPr>
                <a:r>
                  <a:rPr lang="en-US" altLang="zh-CN" sz="2400" dirty="0">
                    <a:latin typeface="Times New Roman" panose="02020603050405020304" pitchFamily="18" charset="0"/>
                    <a:cs typeface="Times New Roman" panose="02020603050405020304" pitchFamily="18" charset="0"/>
                  </a:rPr>
                  <a:t>Note that </a:t>
                </a:r>
                <a:r>
                  <a:rPr lang="en-US" altLang="zh-CN" sz="2400" i="1" dirty="0">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zh-CN" altLang="en-US" sz="2400" i="1" dirty="0" smtClean="0">
                            <a:solidFill>
                              <a:srgbClr val="2926BF"/>
                            </a:solidFill>
                            <a:latin typeface="Cambria Math" panose="02040503050406030204" pitchFamily="18" charset="0"/>
                          </a:rPr>
                          <m:t>𝜙</m:t>
                        </m:r>
                      </m:e>
                      <m:sub>
                        <m:r>
                          <a:rPr lang="en-US" altLang="zh-CN" sz="2400" i="1" dirty="0">
                            <a:solidFill>
                              <a:srgbClr val="2926BF"/>
                            </a:solidFill>
                            <a:latin typeface="Cambria Math" panose="02040503050406030204" pitchFamily="18" charset="0"/>
                          </a:rPr>
                          <m:t>𝑎</m:t>
                        </m:r>
                      </m:sub>
                    </m:sSub>
                    <m:r>
                      <a:rPr lang="en-US" altLang="zh-CN" sz="2400" i="1" dirty="0">
                        <a:solidFill>
                          <a:srgbClr val="2926BF"/>
                        </a:solidFill>
                        <a:latin typeface="Cambria Math" panose="02040503050406030204" pitchFamily="18" charset="0"/>
                      </a:rPr>
                      <m:t>=</m:t>
                    </m:r>
                    <m:sSub>
                      <m:sSubPr>
                        <m:ctrlPr>
                          <a:rPr lang="en-US" altLang="zh-CN" sz="2400" i="1" dirty="0">
                            <a:solidFill>
                              <a:srgbClr val="2926BF"/>
                            </a:solidFill>
                            <a:latin typeface="Cambria Math" panose="02040503050406030204" pitchFamily="18" charset="0"/>
                          </a:rPr>
                        </m:ctrlPr>
                      </m:sSubPr>
                      <m:e>
                        <m:r>
                          <a:rPr lang="zh-CN" altLang="en-US" sz="2400" i="1" dirty="0" smtClean="0">
                            <a:solidFill>
                              <a:srgbClr val="2926BF"/>
                            </a:solidFill>
                            <a:latin typeface="Cambria Math" panose="02040503050406030204" pitchFamily="18" charset="0"/>
                          </a:rPr>
                          <m:t>𝜙</m:t>
                        </m:r>
                      </m:e>
                      <m:sub>
                        <m:r>
                          <a:rPr lang="en-US" altLang="zh-CN" sz="2400" i="1" dirty="0">
                            <a:solidFill>
                              <a:srgbClr val="2926BF"/>
                            </a:solidFill>
                            <a:latin typeface="Cambria Math" panose="02040503050406030204" pitchFamily="18" charset="0"/>
                          </a:rPr>
                          <m:t>𝑏</m:t>
                        </m:r>
                      </m:sub>
                    </m:sSub>
                  </m:oMath>
                </a14:m>
                <a:r>
                  <a:rPr lang="en-US" altLang="zh-TW" sz="2400" i="1"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 wavefunction of triplet state vanishes. Thus two electrons can go into the same orbital only if they have opposite spins (singlet state).</a:t>
                </a:r>
              </a:p>
            </p:txBody>
          </p:sp>
        </mc:Choice>
        <mc:Fallback xmlns="">
          <p:sp>
            <p:nvSpPr>
              <p:cNvPr id="9" name="矩形 8"/>
              <p:cNvSpPr>
                <a:spLocks noRot="1" noChangeAspect="1" noMove="1" noResize="1" noEditPoints="1" noAdjustHandles="1" noChangeArrowheads="1" noChangeShapeType="1" noTextEdit="1"/>
              </p:cNvSpPr>
              <p:nvPr/>
            </p:nvSpPr>
            <p:spPr>
              <a:xfrm>
                <a:off x="279133" y="1090572"/>
                <a:ext cx="11752446" cy="4918334"/>
              </a:xfrm>
              <a:prstGeom prst="rect">
                <a:avLst/>
              </a:prstGeom>
              <a:blipFill>
                <a:blip r:embed="rId3"/>
                <a:stretch>
                  <a:fillRect l="-830" r="-778" b="-1859"/>
                </a:stretch>
              </a:blipFill>
            </p:spPr>
            <p:txBody>
              <a:bodyPr/>
              <a:lstStyle/>
              <a:p>
                <a:r>
                  <a:rPr lang="zh-CN" altLang="en-US">
                    <a:noFill/>
                  </a:rPr>
                  <a:t> </a:t>
                </a:r>
              </a:p>
            </p:txBody>
          </p:sp>
        </mc:Fallback>
      </mc:AlternateContent>
      <p:graphicFrame>
        <p:nvGraphicFramePr>
          <p:cNvPr id="11" name="对象 10"/>
          <p:cNvGraphicFramePr>
            <a:graphicFrameLocks noChangeAspect="1"/>
          </p:cNvGraphicFramePr>
          <p:nvPr>
            <p:extLst>
              <p:ext uri="{D42A27DB-BD31-4B8C-83A1-F6EECF244321}">
                <p14:modId xmlns:p14="http://schemas.microsoft.com/office/powerpoint/2010/main" val="1702046717"/>
              </p:ext>
            </p:extLst>
          </p:nvPr>
        </p:nvGraphicFramePr>
        <p:xfrm>
          <a:off x="2027588" y="2121249"/>
          <a:ext cx="7035120" cy="2844720"/>
        </p:xfrm>
        <a:graphic>
          <a:graphicData uri="http://schemas.openxmlformats.org/presentationml/2006/ole">
            <mc:AlternateContent xmlns:mc="http://schemas.openxmlformats.org/markup-compatibility/2006">
              <mc:Choice xmlns:v="urn:schemas-microsoft-com:vml" Requires="v">
                <p:oleObj name="Equation" r:id="rId4" imgW="3517560" imgH="1422360" progId="Equation.DSMT4">
                  <p:embed/>
                </p:oleObj>
              </mc:Choice>
              <mc:Fallback>
                <p:oleObj name="Equation" r:id="rId4" imgW="3517560" imgH="1422360" progId="Equation.DSMT4">
                  <p:embed/>
                  <p:pic>
                    <p:nvPicPr>
                      <p:cNvPr id="0" name="对象 10"/>
                      <p:cNvPicPr/>
                      <p:nvPr/>
                    </p:nvPicPr>
                    <p:blipFill>
                      <a:blip r:embed="rId5"/>
                      <a:stretch>
                        <a:fillRect/>
                      </a:stretch>
                    </p:blipFill>
                    <p:spPr>
                      <a:xfrm>
                        <a:off x="2027588" y="2121249"/>
                        <a:ext cx="7035120" cy="2844720"/>
                      </a:xfrm>
                      <a:prstGeom prst="rect">
                        <a:avLst/>
                      </a:prstGeom>
                    </p:spPr>
                  </p:pic>
                </p:oleObj>
              </mc:Fallback>
            </mc:AlternateContent>
          </a:graphicData>
        </a:graphic>
      </p:graphicFrame>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9" name="Rectangle 3"/>
          <p:cNvSpPr>
            <a:spLocks noChangeArrowheads="1"/>
          </p:cNvSpPr>
          <p:nvPr/>
        </p:nvSpPr>
        <p:spPr bwMode="auto">
          <a:xfrm>
            <a:off x="2286000" y="1066800"/>
            <a:ext cx="47244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914400" fontAlgn="base">
              <a:spcBef>
                <a:spcPct val="20000"/>
              </a:spcBef>
              <a:spcAft>
                <a:spcPct val="0"/>
              </a:spcAft>
            </a:pPr>
            <a:endParaRPr lang="zh-CN" altLang="zh-CN" sz="240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44035" name="Object 5"/>
          <p:cNvGraphicFramePr>
            <a:graphicFrameLocks noChangeAspect="1"/>
          </p:cNvGraphicFramePr>
          <p:nvPr/>
        </p:nvGraphicFramePr>
        <p:xfrm>
          <a:off x="2399781" y="2907023"/>
          <a:ext cx="5359400" cy="1422400"/>
        </p:xfrm>
        <a:graphic>
          <a:graphicData uri="http://schemas.openxmlformats.org/presentationml/2006/ole">
            <mc:AlternateContent xmlns:mc="http://schemas.openxmlformats.org/markup-compatibility/2006">
              <mc:Choice xmlns:v="urn:schemas-microsoft-com:vml" Requires="v">
                <p:oleObj name="Equation" r:id="rId3" imgW="64312800" imgH="17068800" progId="Equation.DSMT4">
                  <p:embed/>
                </p:oleObj>
              </mc:Choice>
              <mc:Fallback>
                <p:oleObj name="Equation" r:id="rId3" imgW="64312800" imgH="17068800" progId="Equation.DSMT4">
                  <p:embed/>
                  <p:pic>
                    <p:nvPicPr>
                      <p:cNvPr id="0" name="Object 5"/>
                      <p:cNvPicPr>
                        <a:picLocks noChangeAspect="1" noChangeArrowheads="1"/>
                      </p:cNvPicPr>
                      <p:nvPr/>
                    </p:nvPicPr>
                    <p:blipFill>
                      <a:blip r:embed="rId4"/>
                      <a:srcRect/>
                      <a:stretch>
                        <a:fillRect/>
                      </a:stretch>
                    </p:blipFill>
                    <p:spPr bwMode="auto">
                      <a:xfrm>
                        <a:off x="2399781" y="2907023"/>
                        <a:ext cx="5359400" cy="142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0" name="Text Box 7"/>
          <p:cNvSpPr txBox="1">
            <a:spLocks noChangeArrowheads="1"/>
          </p:cNvSpPr>
          <p:nvPr/>
        </p:nvSpPr>
        <p:spPr bwMode="auto">
          <a:xfrm>
            <a:off x="2673440" y="274469"/>
            <a:ext cx="75376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en-US" altLang="zh-CN" sz="2800" b="1" dirty="0">
                <a:solidFill>
                  <a:srgbClr val="000000"/>
                </a:solidFill>
                <a:latin typeface="Times New Roman" panose="02020603050405020304" pitchFamily="18" charset="0"/>
                <a:cs typeface="Times New Roman" panose="02020603050405020304" pitchFamily="18" charset="0"/>
              </a:rPr>
              <a:t>How to construct </a:t>
            </a:r>
            <a:r>
              <a:rPr lang="en-US" altLang="zh-CN" sz="2800" b="1" dirty="0" err="1">
                <a:solidFill>
                  <a:srgbClr val="000000"/>
                </a:solidFill>
                <a:latin typeface="Times New Roman" panose="02020603050405020304" pitchFamily="18" charset="0"/>
                <a:cs typeface="Times New Roman" panose="02020603050405020304" pitchFamily="18" charset="0"/>
              </a:rPr>
              <a:t>antisymmetric</a:t>
            </a:r>
            <a:r>
              <a:rPr lang="en-US" altLang="zh-CN" sz="2800" b="1" dirty="0">
                <a:solidFill>
                  <a:srgbClr val="000000"/>
                </a:solidFill>
                <a:latin typeface="Times New Roman" panose="02020603050405020304" pitchFamily="18" charset="0"/>
                <a:cs typeface="Times New Roman" panose="02020603050405020304" pitchFamily="18" charset="0"/>
              </a:rPr>
              <a:t> wave function?</a:t>
            </a:r>
          </a:p>
        </p:txBody>
      </p:sp>
      <p:graphicFrame>
        <p:nvGraphicFramePr>
          <p:cNvPr id="44037" name="Object 9"/>
          <p:cNvGraphicFramePr>
            <a:graphicFrameLocks noChangeAspect="1"/>
          </p:cNvGraphicFramePr>
          <p:nvPr>
            <p:extLst>
              <p:ext uri="{D42A27DB-BD31-4B8C-83A1-F6EECF244321}">
                <p14:modId xmlns:p14="http://schemas.microsoft.com/office/powerpoint/2010/main" val="4063910050"/>
              </p:ext>
            </p:extLst>
          </p:nvPr>
        </p:nvGraphicFramePr>
        <p:xfrm>
          <a:off x="2673440" y="4378254"/>
          <a:ext cx="3327120" cy="1625040"/>
        </p:xfrm>
        <a:graphic>
          <a:graphicData uri="http://schemas.openxmlformats.org/presentationml/2006/ole">
            <mc:AlternateContent xmlns:mc="http://schemas.openxmlformats.org/markup-compatibility/2006">
              <mc:Choice xmlns:v="urn:schemas-microsoft-com:vml" Requires="v">
                <p:oleObj name="Equation" r:id="rId5" imgW="1663700" imgH="812800" progId="Equation.DSMT4">
                  <p:embed/>
                </p:oleObj>
              </mc:Choice>
              <mc:Fallback>
                <p:oleObj name="Equation" r:id="rId5" imgW="1663700" imgH="8128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3440" y="4378254"/>
                        <a:ext cx="3327120" cy="1625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3" name="Text Box 11"/>
          <p:cNvSpPr txBox="1">
            <a:spLocks noChangeArrowheads="1"/>
          </p:cNvSpPr>
          <p:nvPr/>
        </p:nvSpPr>
        <p:spPr bwMode="auto">
          <a:xfrm>
            <a:off x="8400448" y="3156558"/>
            <a:ext cx="1653017" cy="461665"/>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en-US" altLang="zh-CN" sz="2400" dirty="0">
                <a:latin typeface="Times New Roman" panose="02020603050405020304" pitchFamily="18" charset="0"/>
                <a:cs typeface="Times New Roman" panose="02020603050405020304" pitchFamily="18" charset="0"/>
              </a:rPr>
              <a:t>Spin-orbital</a:t>
            </a:r>
          </a:p>
        </p:txBody>
      </p:sp>
      <p:sp>
        <p:nvSpPr>
          <p:cNvPr id="2" name="TextBox 1"/>
          <p:cNvSpPr txBox="1"/>
          <p:nvPr/>
        </p:nvSpPr>
        <p:spPr>
          <a:xfrm>
            <a:off x="365096" y="2848518"/>
            <a:ext cx="1737976" cy="461665"/>
          </a:xfrm>
          <a:prstGeom prst="rect">
            <a:avLst/>
          </a:prstGeom>
          <a:noFill/>
        </p:spPr>
        <p:txBody>
          <a:bodyPr wrap="none" rtlCol="0">
            <a:spAutoFit/>
          </a:bodyPr>
          <a:lstStyle/>
          <a:p>
            <a:pPr defTabSz="914400" fontAlgn="base">
              <a:spcBef>
                <a:spcPct val="0"/>
              </a:spcBef>
              <a:spcAft>
                <a:spcPct val="0"/>
              </a:spcAft>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For Li atom:</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3" name="TextBox 1"/>
          <p:cNvSpPr txBox="1"/>
          <p:nvPr/>
        </p:nvSpPr>
        <p:spPr>
          <a:xfrm>
            <a:off x="321782" y="1266990"/>
            <a:ext cx="1824538" cy="461665"/>
          </a:xfrm>
          <a:prstGeom prst="rect">
            <a:avLst/>
          </a:prstGeom>
          <a:noFill/>
        </p:spPr>
        <p:txBody>
          <a:bodyPr wrap="none" rtlCol="0">
            <a:spAutoFit/>
          </a:bodyPr>
          <a:lstStyle/>
          <a:p>
            <a:pPr defTabSz="914400" fontAlgn="base">
              <a:spcBef>
                <a:spcPct val="0"/>
              </a:spcBef>
              <a:spcAft>
                <a:spcPct val="0"/>
              </a:spcAft>
            </a:pP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For He atom:</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Object 5"/>
          <p:cNvGraphicFramePr>
            <a:graphicFrameLocks noChangeAspect="1"/>
          </p:cNvGraphicFramePr>
          <p:nvPr/>
        </p:nvGraphicFramePr>
        <p:xfrm>
          <a:off x="2399781" y="1266990"/>
          <a:ext cx="6197600" cy="1066800"/>
        </p:xfrm>
        <a:graphic>
          <a:graphicData uri="http://schemas.openxmlformats.org/presentationml/2006/ole">
            <mc:AlternateContent xmlns:mc="http://schemas.openxmlformats.org/markup-compatibility/2006">
              <mc:Choice xmlns:v="urn:schemas-microsoft-com:vml" Requires="v">
                <p:oleObj name="Equation" r:id="rId7" imgW="74371200" imgH="12801600" progId="Equation.DSMT4">
                  <p:embed/>
                </p:oleObj>
              </mc:Choice>
              <mc:Fallback>
                <p:oleObj name="Equation" r:id="rId7" imgW="74371200" imgH="12801600" progId="Equation.DSMT4">
                  <p:embed/>
                  <p:pic>
                    <p:nvPicPr>
                      <p:cNvPr id="0" name="Object 5"/>
                      <p:cNvPicPr>
                        <a:picLocks noChangeAspect="1" noChangeArrowheads="1"/>
                      </p:cNvPicPr>
                      <p:nvPr/>
                    </p:nvPicPr>
                    <p:blipFill>
                      <a:blip r:embed="rId8"/>
                      <a:srcRect/>
                      <a:stretch>
                        <a:fillRect/>
                      </a:stretch>
                    </p:blipFill>
                    <p:spPr bwMode="auto">
                      <a:xfrm>
                        <a:off x="2399781" y="1266990"/>
                        <a:ext cx="6197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F03CDA06-75C3-493D-8664-2F2AB0DF19A3}"/>
              </a:ext>
            </a:extLst>
          </p:cNvPr>
          <p:cNvGraphicFramePr>
            <a:graphicFrameLocks noChangeAspect="1"/>
          </p:cNvGraphicFramePr>
          <p:nvPr>
            <p:extLst>
              <p:ext uri="{D42A27DB-BD31-4B8C-83A1-F6EECF244321}">
                <p14:modId xmlns:p14="http://schemas.microsoft.com/office/powerpoint/2010/main" val="3321721110"/>
              </p:ext>
            </p:extLst>
          </p:nvPr>
        </p:nvGraphicFramePr>
        <p:xfrm>
          <a:off x="4710113" y="946150"/>
          <a:ext cx="2514600" cy="508000"/>
        </p:xfrm>
        <a:graphic>
          <a:graphicData uri="http://schemas.openxmlformats.org/presentationml/2006/ole">
            <mc:AlternateContent xmlns:mc="http://schemas.openxmlformats.org/markup-compatibility/2006">
              <mc:Choice xmlns:v="urn:schemas-microsoft-com:vml" Requires="v">
                <p:oleObj name="Equation" r:id="rId2" imgW="1257120" imgH="253800" progId="Equation.DSMT4">
                  <p:embed/>
                </p:oleObj>
              </mc:Choice>
              <mc:Fallback>
                <p:oleObj name="Equation" r:id="rId2" imgW="1257120" imgH="253800" progId="Equation.DSMT4">
                  <p:embed/>
                  <p:pic>
                    <p:nvPicPr>
                      <p:cNvPr id="0" name=""/>
                      <p:cNvPicPr/>
                      <p:nvPr/>
                    </p:nvPicPr>
                    <p:blipFill>
                      <a:blip r:embed="rId3"/>
                      <a:stretch>
                        <a:fillRect/>
                      </a:stretch>
                    </p:blipFill>
                    <p:spPr>
                      <a:xfrm>
                        <a:off x="4710113" y="946150"/>
                        <a:ext cx="2514600" cy="508000"/>
                      </a:xfrm>
                      <a:prstGeom prst="rect">
                        <a:avLst/>
                      </a:prstGeom>
                    </p:spPr>
                  </p:pic>
                </p:oleObj>
              </mc:Fallback>
            </mc:AlternateContent>
          </a:graphicData>
        </a:graphic>
      </p:graphicFrame>
      <p:grpSp>
        <p:nvGrpSpPr>
          <p:cNvPr id="2" name="组合 1">
            <a:extLst>
              <a:ext uri="{FF2B5EF4-FFF2-40B4-BE49-F238E27FC236}">
                <a16:creationId xmlns:a16="http://schemas.microsoft.com/office/drawing/2014/main" id="{9B1EBEFD-AEDC-3A8F-DD77-E09A137E6C0C}"/>
              </a:ext>
            </a:extLst>
          </p:cNvPr>
          <p:cNvGrpSpPr/>
          <p:nvPr/>
        </p:nvGrpSpPr>
        <p:grpSpPr>
          <a:xfrm>
            <a:off x="2874963" y="1890423"/>
            <a:ext cx="5740400" cy="1879600"/>
            <a:chOff x="2874963" y="2062163"/>
            <a:chExt cx="5740400" cy="1879600"/>
          </a:xfrm>
        </p:grpSpPr>
        <p:graphicFrame>
          <p:nvGraphicFramePr>
            <p:cNvPr id="7" name="对象 6">
              <a:extLst>
                <a:ext uri="{FF2B5EF4-FFF2-40B4-BE49-F238E27FC236}">
                  <a16:creationId xmlns:a16="http://schemas.microsoft.com/office/drawing/2014/main" id="{BFBB9F3A-607E-4EA7-B06A-DCD53CA82DAB}"/>
                </a:ext>
              </a:extLst>
            </p:cNvPr>
            <p:cNvGraphicFramePr>
              <a:graphicFrameLocks noChangeAspect="1"/>
            </p:cNvGraphicFramePr>
            <p:nvPr>
              <p:extLst>
                <p:ext uri="{D42A27DB-BD31-4B8C-83A1-F6EECF244321}">
                  <p14:modId xmlns:p14="http://schemas.microsoft.com/office/powerpoint/2010/main" val="2535372071"/>
                </p:ext>
              </p:extLst>
            </p:nvPr>
          </p:nvGraphicFramePr>
          <p:xfrm>
            <a:off x="2874963" y="2062163"/>
            <a:ext cx="5740400" cy="1879600"/>
          </p:xfrm>
          <a:graphic>
            <a:graphicData uri="http://schemas.openxmlformats.org/presentationml/2006/ole">
              <mc:AlternateContent xmlns:mc="http://schemas.openxmlformats.org/markup-compatibility/2006">
                <mc:Choice xmlns:v="urn:schemas-microsoft-com:vml" Requires="v">
                  <p:oleObj name="Equation" r:id="rId4" imgW="2869920" imgH="939600" progId="Equation.DSMT4">
                    <p:embed/>
                  </p:oleObj>
                </mc:Choice>
                <mc:Fallback>
                  <p:oleObj name="Equation" r:id="rId4" imgW="2869920" imgH="939600" progId="Equation.DSMT4">
                    <p:embed/>
                    <p:pic>
                      <p:nvPicPr>
                        <p:cNvPr id="0" name=""/>
                        <p:cNvPicPr/>
                        <p:nvPr/>
                      </p:nvPicPr>
                      <p:blipFill>
                        <a:blip r:embed="rId5"/>
                        <a:stretch>
                          <a:fillRect/>
                        </a:stretch>
                      </p:blipFill>
                      <p:spPr>
                        <a:xfrm>
                          <a:off x="2874963" y="2062163"/>
                          <a:ext cx="5740400" cy="1879600"/>
                        </a:xfrm>
                        <a:prstGeom prst="rect">
                          <a:avLst/>
                        </a:prstGeom>
                      </p:spPr>
                    </p:pic>
                  </p:oleObj>
                </mc:Fallback>
              </mc:AlternateContent>
            </a:graphicData>
          </a:graphic>
        </p:graphicFrame>
        <p:sp>
          <p:nvSpPr>
            <p:cNvPr id="3" name="文本框 2">
              <a:extLst>
                <a:ext uri="{FF2B5EF4-FFF2-40B4-BE49-F238E27FC236}">
                  <a16:creationId xmlns:a16="http://schemas.microsoft.com/office/drawing/2014/main" id="{3FDEF37A-7B5A-1202-D2D9-508A26F17CEE}"/>
                </a:ext>
              </a:extLst>
            </p:cNvPr>
            <p:cNvSpPr txBox="1"/>
            <p:nvPr/>
          </p:nvSpPr>
          <p:spPr>
            <a:xfrm>
              <a:off x="2874963" y="2771584"/>
              <a:ext cx="1517485" cy="461665"/>
            </a:xfrm>
            <a:prstGeom prst="rect">
              <a:avLst/>
            </a:prstGeom>
            <a:solidFill>
              <a:schemeClr val="bg1"/>
            </a:solidFill>
          </p:spPr>
          <p:txBody>
            <a:bodyPr wrap="square">
              <a:spAutoFit/>
            </a:bodyPr>
            <a:lstStyle/>
            <a:p>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(1,2,…</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endParaRPr lang="zh-CN" altLang="en-US" sz="2400" dirty="0"/>
            </a:p>
          </p:txBody>
        </p:sp>
      </p:grpSp>
      <p:pic>
        <p:nvPicPr>
          <p:cNvPr id="5" name="图片 4">
            <a:extLst>
              <a:ext uri="{FF2B5EF4-FFF2-40B4-BE49-F238E27FC236}">
                <a16:creationId xmlns:a16="http://schemas.microsoft.com/office/drawing/2014/main" id="{9FAD38D5-8C64-00EE-7D6C-C5691AA754AD}"/>
              </a:ext>
            </a:extLst>
          </p:cNvPr>
          <p:cNvPicPr>
            <a:picLocks noChangeAspect="1"/>
          </p:cNvPicPr>
          <p:nvPr/>
        </p:nvPicPr>
        <p:blipFill>
          <a:blip r:embed="rId6"/>
          <a:stretch>
            <a:fillRect/>
          </a:stretch>
        </p:blipFill>
        <p:spPr>
          <a:xfrm>
            <a:off x="2357249" y="4386476"/>
            <a:ext cx="6382078" cy="749339"/>
          </a:xfrm>
          <a:prstGeom prst="rect">
            <a:avLst/>
          </a:prstGeom>
        </p:spPr>
      </p:pic>
    </p:spTree>
    <p:extLst>
      <p:ext uri="{BB962C8B-B14F-4D97-AF65-F5344CB8AC3E}">
        <p14:creationId xmlns:p14="http://schemas.microsoft.com/office/powerpoint/2010/main" val="49959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8"/>
          <p:cNvSpPr txBox="1">
            <a:spLocks noChangeArrowheads="1"/>
          </p:cNvSpPr>
          <p:nvPr/>
        </p:nvSpPr>
        <p:spPr>
          <a:xfrm>
            <a:off x="1752600" y="147693"/>
            <a:ext cx="7772400" cy="457200"/>
          </a:xfrm>
          <a:prstGeom prst="rect">
            <a:avLst/>
          </a:prstGeom>
          <a:noFill/>
        </p:spPr>
        <p:txBody>
          <a:bodyPr lIns="90487" tIns="44450" rIns="90487" bIns="4445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800" dirty="0">
                <a:solidFill>
                  <a:prstClr val="black"/>
                </a:solidFill>
                <a:latin typeface="Times New Roman" panose="02020603050405020304" pitchFamily="18" charset="0"/>
                <a:cs typeface="Times New Roman" panose="02020603050405020304" pitchFamily="18" charset="0"/>
              </a:rPr>
              <a:t>The electronic configuration (for ground state) </a:t>
            </a:r>
          </a:p>
        </p:txBody>
      </p:sp>
      <p:pic>
        <p:nvPicPr>
          <p:cNvPr id="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9475" y="1303338"/>
            <a:ext cx="9398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Rectangle 3"/>
          <p:cNvSpPr>
            <a:spLocks noChangeArrowheads="1"/>
          </p:cNvSpPr>
          <p:nvPr/>
        </p:nvSpPr>
        <p:spPr bwMode="auto">
          <a:xfrm>
            <a:off x="6227763" y="1550989"/>
            <a:ext cx="50800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defTabSz="914400" eaLnBrk="0" hangingPunct="0">
              <a:spcBef>
                <a:spcPct val="0"/>
              </a:spcBef>
            </a:pPr>
            <a:r>
              <a:rPr lang="en-US" altLang="zh-CN" b="1">
                <a:solidFill>
                  <a:prstClr val="black"/>
                </a:solidFill>
              </a:rPr>
              <a:t>2s</a:t>
            </a:r>
          </a:p>
        </p:txBody>
      </p:sp>
      <p:sp>
        <p:nvSpPr>
          <p:cNvPr id="6" name="Rectangle 4"/>
          <p:cNvSpPr>
            <a:spLocks noChangeArrowheads="1"/>
          </p:cNvSpPr>
          <p:nvPr/>
        </p:nvSpPr>
        <p:spPr bwMode="auto">
          <a:xfrm>
            <a:off x="1895475" y="1249363"/>
            <a:ext cx="2806700" cy="5016500"/>
          </a:xfrm>
          <a:prstGeom prst="rect">
            <a:avLst/>
          </a:prstGeom>
          <a:gradFill rotWithShape="0">
            <a:gsLst>
              <a:gs pos="0">
                <a:srgbClr val="FCFEB9"/>
              </a:gs>
              <a:gs pos="100000">
                <a:srgbClr val="E2E4A6"/>
              </a:gs>
            </a:gsLst>
            <a:path path="shape">
              <a:fillToRect l="50000" t="50000" r="50000" b="50000"/>
            </a:path>
          </a:gradFill>
          <a:ln w="12700">
            <a:solidFill>
              <a:schemeClr val="tx1"/>
            </a:solidFill>
            <a:miter lim="800000"/>
          </a:ln>
        </p:spPr>
        <p:txBody>
          <a:bodyPr lIns="90487" tIns="44450" rIns="90487" bIns="44450"/>
          <a:lstStyle/>
          <a:p>
            <a:pPr marL="342900" indent="-342900" defTabSz="914400" eaLnBrk="0" hangingPunct="0">
              <a:spcBef>
                <a:spcPct val="20000"/>
              </a:spcBef>
              <a:buFontTx/>
              <a:buChar char="•"/>
            </a:pPr>
            <a:r>
              <a:rPr lang="en-US" altLang="zh-CN" sz="2800" dirty="0">
                <a:solidFill>
                  <a:prstClr val="black"/>
                </a:solidFill>
                <a:latin typeface="Times" pitchFamily="18" charset="0"/>
              </a:rPr>
              <a:t>H  = 1s</a:t>
            </a:r>
            <a:r>
              <a:rPr lang="en-US" altLang="zh-CN" sz="2800" baseline="30000" dirty="0">
                <a:solidFill>
                  <a:prstClr val="black"/>
                </a:solidFill>
                <a:latin typeface="Times" pitchFamily="18" charset="0"/>
              </a:rPr>
              <a:t>1</a:t>
            </a:r>
          </a:p>
          <a:p>
            <a:pPr marL="342900" indent="-342900" defTabSz="914400" eaLnBrk="0" hangingPunct="0">
              <a:spcBef>
                <a:spcPct val="20000"/>
              </a:spcBef>
              <a:buFontTx/>
              <a:buChar char="•"/>
            </a:pPr>
            <a:r>
              <a:rPr lang="en-US" altLang="zh-CN" sz="2800" dirty="0">
                <a:solidFill>
                  <a:prstClr val="black"/>
                </a:solidFill>
                <a:latin typeface="Times" pitchFamily="18" charset="0"/>
              </a:rPr>
              <a:t>He = 1s</a:t>
            </a:r>
            <a:r>
              <a:rPr lang="en-US" altLang="zh-CN" sz="2800" baseline="30000" dirty="0">
                <a:solidFill>
                  <a:prstClr val="black"/>
                </a:solidFill>
                <a:latin typeface="Times" pitchFamily="18" charset="0"/>
              </a:rPr>
              <a:t>2</a:t>
            </a:r>
          </a:p>
          <a:p>
            <a:pPr marL="342900" indent="-342900" defTabSz="914400" eaLnBrk="0" hangingPunct="0">
              <a:spcBef>
                <a:spcPct val="20000"/>
              </a:spcBef>
              <a:buFontTx/>
              <a:buChar char="•"/>
            </a:pPr>
            <a:r>
              <a:rPr lang="en-US" altLang="zh-CN" sz="2800" dirty="0">
                <a:solidFill>
                  <a:prstClr val="black"/>
                </a:solidFill>
                <a:latin typeface="Times" pitchFamily="18" charset="0"/>
              </a:rPr>
              <a:t>Li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1</a:t>
            </a:r>
          </a:p>
          <a:p>
            <a:pPr marL="342900" indent="-342900" defTabSz="914400" eaLnBrk="0" hangingPunct="0">
              <a:spcBef>
                <a:spcPct val="20000"/>
              </a:spcBef>
              <a:buFontTx/>
              <a:buChar char="•"/>
            </a:pPr>
            <a:r>
              <a:rPr lang="en-US" altLang="zh-CN" sz="2800" dirty="0">
                <a:solidFill>
                  <a:prstClr val="black"/>
                </a:solidFill>
                <a:latin typeface="Times" pitchFamily="18" charset="0"/>
              </a:rPr>
              <a:t>Be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a:t>
            </a:r>
          </a:p>
          <a:p>
            <a:pPr marL="342900" indent="-342900" defTabSz="914400" eaLnBrk="0" hangingPunct="0">
              <a:spcBef>
                <a:spcPct val="20000"/>
              </a:spcBef>
              <a:buFontTx/>
              <a:buChar char="•"/>
            </a:pPr>
            <a:r>
              <a:rPr lang="en-US" altLang="zh-CN" sz="2800" dirty="0">
                <a:solidFill>
                  <a:prstClr val="black"/>
                </a:solidFill>
                <a:latin typeface="Times" pitchFamily="18" charset="0"/>
              </a:rPr>
              <a:t>B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1</a:t>
            </a:r>
          </a:p>
          <a:p>
            <a:pPr marL="342900" indent="-342900" defTabSz="914400" eaLnBrk="0" hangingPunct="0">
              <a:spcBef>
                <a:spcPct val="20000"/>
              </a:spcBef>
              <a:buFontTx/>
              <a:buChar char="•"/>
            </a:pPr>
            <a:r>
              <a:rPr lang="en-US" altLang="zh-CN" sz="2800" dirty="0">
                <a:solidFill>
                  <a:prstClr val="black"/>
                </a:solidFill>
                <a:latin typeface="Times" pitchFamily="18" charset="0"/>
              </a:rPr>
              <a:t>C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2</a:t>
            </a:r>
          </a:p>
          <a:p>
            <a:pPr marL="342900" indent="-342900" defTabSz="914400" eaLnBrk="0" hangingPunct="0">
              <a:spcBef>
                <a:spcPct val="20000"/>
              </a:spcBef>
              <a:buFontTx/>
              <a:buChar char="•"/>
            </a:pPr>
            <a:r>
              <a:rPr lang="en-US" altLang="zh-CN" sz="2800" dirty="0">
                <a:solidFill>
                  <a:prstClr val="black"/>
                </a:solidFill>
                <a:latin typeface="Times" pitchFamily="18" charset="0"/>
              </a:rPr>
              <a:t>N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3</a:t>
            </a:r>
          </a:p>
          <a:p>
            <a:pPr marL="342900" indent="-342900" defTabSz="914400" eaLnBrk="0" hangingPunct="0">
              <a:spcBef>
                <a:spcPct val="20000"/>
              </a:spcBef>
              <a:buFontTx/>
              <a:buChar char="•"/>
            </a:pPr>
            <a:r>
              <a:rPr lang="en-US" altLang="zh-CN" sz="2800" dirty="0">
                <a:solidFill>
                  <a:prstClr val="black"/>
                </a:solidFill>
                <a:latin typeface="Times" pitchFamily="18" charset="0"/>
              </a:rPr>
              <a:t>O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4</a:t>
            </a:r>
          </a:p>
          <a:p>
            <a:pPr marL="342900" indent="-342900" defTabSz="914400" eaLnBrk="0" hangingPunct="0">
              <a:spcBef>
                <a:spcPct val="20000"/>
              </a:spcBef>
              <a:buFontTx/>
              <a:buChar char="•"/>
            </a:pPr>
            <a:r>
              <a:rPr lang="en-US" altLang="zh-CN" sz="2800" dirty="0">
                <a:solidFill>
                  <a:prstClr val="black"/>
                </a:solidFill>
                <a:latin typeface="Times" pitchFamily="18" charset="0"/>
              </a:rPr>
              <a:t>F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5</a:t>
            </a:r>
          </a:p>
          <a:p>
            <a:pPr marL="342900" indent="-342900" defTabSz="914400" eaLnBrk="0" hangingPunct="0">
              <a:spcBef>
                <a:spcPct val="20000"/>
              </a:spcBef>
              <a:buFontTx/>
              <a:buChar char="•"/>
            </a:pPr>
            <a:r>
              <a:rPr lang="en-US" altLang="zh-CN" sz="2800" dirty="0">
                <a:solidFill>
                  <a:prstClr val="black"/>
                </a:solidFill>
                <a:latin typeface="Times" pitchFamily="18" charset="0"/>
              </a:rPr>
              <a:t>Ne = 1s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2s</a:t>
            </a:r>
            <a:r>
              <a:rPr lang="en-US" altLang="zh-CN" sz="2800" baseline="30000" dirty="0">
                <a:solidFill>
                  <a:prstClr val="black"/>
                </a:solidFill>
                <a:latin typeface="Times" pitchFamily="18" charset="0"/>
              </a:rPr>
              <a:t>2 </a:t>
            </a:r>
            <a:r>
              <a:rPr lang="en-US" altLang="zh-CN" sz="2800" dirty="0">
                <a:solidFill>
                  <a:prstClr val="black"/>
                </a:solidFill>
                <a:latin typeface="Times" pitchFamily="18" charset="0"/>
              </a:rPr>
              <a:t>2p</a:t>
            </a:r>
            <a:r>
              <a:rPr lang="en-US" altLang="zh-CN" sz="2800" baseline="30000" dirty="0">
                <a:solidFill>
                  <a:prstClr val="black"/>
                </a:solidFill>
                <a:latin typeface="Times" pitchFamily="18" charset="0"/>
              </a:rPr>
              <a:t>6</a:t>
            </a:r>
          </a:p>
        </p:txBody>
      </p:sp>
      <p:pic>
        <p:nvPicPr>
          <p:cNvPr id="7"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00" y="1765300"/>
            <a:ext cx="17018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736600"/>
            <a:ext cx="482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 name="Rectangle 7"/>
          <p:cNvSpPr>
            <a:spLocks noChangeArrowheads="1"/>
          </p:cNvSpPr>
          <p:nvPr/>
        </p:nvSpPr>
        <p:spPr bwMode="auto">
          <a:xfrm>
            <a:off x="5160963" y="741364"/>
            <a:ext cx="39113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p>
            <a:pPr defTabSz="914400" eaLnBrk="0" hangingPunct="0">
              <a:spcBef>
                <a:spcPct val="0"/>
              </a:spcBef>
            </a:pPr>
            <a:r>
              <a:rPr lang="en-US" altLang="zh-CN" b="1">
                <a:solidFill>
                  <a:prstClr val="black"/>
                </a:solidFill>
              </a:rPr>
              <a:t>1s</a:t>
            </a:r>
          </a:p>
        </p:txBody>
      </p:sp>
      <p:sp>
        <p:nvSpPr>
          <p:cNvPr id="10" name="Rectangle 8"/>
          <p:cNvSpPr>
            <a:spLocks noChangeArrowheads="1"/>
          </p:cNvSpPr>
          <p:nvPr/>
        </p:nvSpPr>
        <p:spPr bwMode="auto">
          <a:xfrm>
            <a:off x="5111750" y="1225551"/>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1" name="Rectangle 9"/>
          <p:cNvSpPr>
            <a:spLocks noChangeArrowheads="1"/>
          </p:cNvSpPr>
          <p:nvPr/>
        </p:nvSpPr>
        <p:spPr bwMode="auto">
          <a:xfrm>
            <a:off x="5111750" y="1722439"/>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2" name="Rectangle 10"/>
          <p:cNvSpPr>
            <a:spLocks noChangeArrowheads="1"/>
          </p:cNvSpPr>
          <p:nvPr/>
        </p:nvSpPr>
        <p:spPr bwMode="auto">
          <a:xfrm>
            <a:off x="5111750" y="2228851"/>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3" name="Rectangle 11"/>
          <p:cNvSpPr>
            <a:spLocks noChangeArrowheads="1"/>
          </p:cNvSpPr>
          <p:nvPr/>
        </p:nvSpPr>
        <p:spPr bwMode="auto">
          <a:xfrm>
            <a:off x="5111750" y="2727326"/>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4" name="Rectangle 12"/>
          <p:cNvSpPr>
            <a:spLocks noChangeArrowheads="1"/>
          </p:cNvSpPr>
          <p:nvPr/>
        </p:nvSpPr>
        <p:spPr bwMode="auto">
          <a:xfrm>
            <a:off x="5111750" y="3233739"/>
            <a:ext cx="520700" cy="420687"/>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5" name="Rectangle 13"/>
          <p:cNvSpPr>
            <a:spLocks noChangeArrowheads="1"/>
          </p:cNvSpPr>
          <p:nvPr/>
        </p:nvSpPr>
        <p:spPr bwMode="auto">
          <a:xfrm>
            <a:off x="5111750" y="3813175"/>
            <a:ext cx="520700" cy="420688"/>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6" name="Rectangle 14"/>
          <p:cNvSpPr>
            <a:spLocks noChangeArrowheads="1"/>
          </p:cNvSpPr>
          <p:nvPr/>
        </p:nvSpPr>
        <p:spPr bwMode="auto">
          <a:xfrm>
            <a:off x="5111750" y="4318001"/>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7" name="Rectangle 15"/>
          <p:cNvSpPr>
            <a:spLocks noChangeArrowheads="1"/>
          </p:cNvSpPr>
          <p:nvPr/>
        </p:nvSpPr>
        <p:spPr bwMode="auto">
          <a:xfrm>
            <a:off x="5111750" y="4816476"/>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8" name="Rectangle 16"/>
          <p:cNvSpPr>
            <a:spLocks noChangeArrowheads="1"/>
          </p:cNvSpPr>
          <p:nvPr/>
        </p:nvSpPr>
        <p:spPr bwMode="auto">
          <a:xfrm>
            <a:off x="5111750" y="5322889"/>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19" name="Rectangle 17"/>
          <p:cNvSpPr>
            <a:spLocks noChangeArrowheads="1"/>
          </p:cNvSpPr>
          <p:nvPr/>
        </p:nvSpPr>
        <p:spPr bwMode="auto">
          <a:xfrm>
            <a:off x="5111750" y="5819776"/>
            <a:ext cx="520700" cy="422275"/>
          </a:xfrm>
          <a:prstGeom prst="rect">
            <a:avLst/>
          </a:prstGeom>
          <a:solidFill>
            <a:srgbClr val="FAFD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0" name="Line 19"/>
          <p:cNvSpPr>
            <a:spLocks noChangeShapeType="1"/>
          </p:cNvSpPr>
          <p:nvPr/>
        </p:nvSpPr>
        <p:spPr bwMode="auto">
          <a:xfrm>
            <a:off x="5486400" y="17589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21" name="Rectangle 20"/>
          <p:cNvSpPr>
            <a:spLocks noChangeArrowheads="1"/>
          </p:cNvSpPr>
          <p:nvPr/>
        </p:nvSpPr>
        <p:spPr bwMode="auto">
          <a:xfrm>
            <a:off x="6178550" y="2228851"/>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2" name="Rectangle 21"/>
          <p:cNvSpPr>
            <a:spLocks noChangeArrowheads="1"/>
          </p:cNvSpPr>
          <p:nvPr/>
        </p:nvSpPr>
        <p:spPr bwMode="auto">
          <a:xfrm>
            <a:off x="6178550" y="2727326"/>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3" name="Rectangle 22"/>
          <p:cNvSpPr>
            <a:spLocks noChangeArrowheads="1"/>
          </p:cNvSpPr>
          <p:nvPr/>
        </p:nvSpPr>
        <p:spPr bwMode="auto">
          <a:xfrm>
            <a:off x="6178550" y="3233739"/>
            <a:ext cx="520700" cy="420687"/>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4" name="Rectangle 23"/>
          <p:cNvSpPr>
            <a:spLocks noChangeArrowheads="1"/>
          </p:cNvSpPr>
          <p:nvPr/>
        </p:nvSpPr>
        <p:spPr bwMode="auto">
          <a:xfrm>
            <a:off x="6178550" y="3813175"/>
            <a:ext cx="520700" cy="420688"/>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5" name="Rectangle 24"/>
          <p:cNvSpPr>
            <a:spLocks noChangeArrowheads="1"/>
          </p:cNvSpPr>
          <p:nvPr/>
        </p:nvSpPr>
        <p:spPr bwMode="auto">
          <a:xfrm>
            <a:off x="6178550" y="4318001"/>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6" name="Rectangle 25"/>
          <p:cNvSpPr>
            <a:spLocks noChangeArrowheads="1"/>
          </p:cNvSpPr>
          <p:nvPr/>
        </p:nvSpPr>
        <p:spPr bwMode="auto">
          <a:xfrm>
            <a:off x="6178550" y="4816476"/>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7" name="Rectangle 26"/>
          <p:cNvSpPr>
            <a:spLocks noChangeArrowheads="1"/>
          </p:cNvSpPr>
          <p:nvPr/>
        </p:nvSpPr>
        <p:spPr bwMode="auto">
          <a:xfrm>
            <a:off x="6178550" y="5322889"/>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8" name="Rectangle 27"/>
          <p:cNvSpPr>
            <a:spLocks noChangeArrowheads="1"/>
          </p:cNvSpPr>
          <p:nvPr/>
        </p:nvSpPr>
        <p:spPr bwMode="auto">
          <a:xfrm>
            <a:off x="6178550" y="5819776"/>
            <a:ext cx="520700" cy="422275"/>
          </a:xfrm>
          <a:prstGeom prst="rect">
            <a:avLst/>
          </a:prstGeom>
          <a:solidFill>
            <a:srgbClr val="00FF00"/>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29" name="Rectangle 28"/>
          <p:cNvSpPr>
            <a:spLocks noChangeArrowheads="1"/>
          </p:cNvSpPr>
          <p:nvPr/>
        </p:nvSpPr>
        <p:spPr bwMode="auto">
          <a:xfrm>
            <a:off x="7092950" y="3233739"/>
            <a:ext cx="520700" cy="420687"/>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0" name="Rectangle 29"/>
          <p:cNvSpPr>
            <a:spLocks noChangeArrowheads="1"/>
          </p:cNvSpPr>
          <p:nvPr/>
        </p:nvSpPr>
        <p:spPr bwMode="auto">
          <a:xfrm>
            <a:off x="7092950" y="3813175"/>
            <a:ext cx="520700" cy="420688"/>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1" name="Rectangle 30"/>
          <p:cNvSpPr>
            <a:spLocks noChangeArrowheads="1"/>
          </p:cNvSpPr>
          <p:nvPr/>
        </p:nvSpPr>
        <p:spPr bwMode="auto">
          <a:xfrm>
            <a:off x="7092950" y="4318001"/>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2" name="Rectangle 31"/>
          <p:cNvSpPr>
            <a:spLocks noChangeArrowheads="1"/>
          </p:cNvSpPr>
          <p:nvPr/>
        </p:nvSpPr>
        <p:spPr bwMode="auto">
          <a:xfrm>
            <a:off x="7092950" y="48164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3" name="Rectangle 32"/>
          <p:cNvSpPr>
            <a:spLocks noChangeArrowheads="1"/>
          </p:cNvSpPr>
          <p:nvPr/>
        </p:nvSpPr>
        <p:spPr bwMode="auto">
          <a:xfrm>
            <a:off x="7092950" y="5322889"/>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4" name="Rectangle 33"/>
          <p:cNvSpPr>
            <a:spLocks noChangeArrowheads="1"/>
          </p:cNvSpPr>
          <p:nvPr/>
        </p:nvSpPr>
        <p:spPr bwMode="auto">
          <a:xfrm>
            <a:off x="7092950" y="58197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5" name="Rectangle 34"/>
          <p:cNvSpPr>
            <a:spLocks noChangeArrowheads="1"/>
          </p:cNvSpPr>
          <p:nvPr/>
        </p:nvSpPr>
        <p:spPr bwMode="auto">
          <a:xfrm>
            <a:off x="7626350" y="3233739"/>
            <a:ext cx="520700" cy="420687"/>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6" name="Rectangle 35"/>
          <p:cNvSpPr>
            <a:spLocks noChangeArrowheads="1"/>
          </p:cNvSpPr>
          <p:nvPr/>
        </p:nvSpPr>
        <p:spPr bwMode="auto">
          <a:xfrm>
            <a:off x="7626350" y="3813175"/>
            <a:ext cx="520700" cy="420688"/>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7" name="Rectangle 36"/>
          <p:cNvSpPr>
            <a:spLocks noChangeArrowheads="1"/>
          </p:cNvSpPr>
          <p:nvPr/>
        </p:nvSpPr>
        <p:spPr bwMode="auto">
          <a:xfrm>
            <a:off x="7626350" y="4318001"/>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8" name="Rectangle 37"/>
          <p:cNvSpPr>
            <a:spLocks noChangeArrowheads="1"/>
          </p:cNvSpPr>
          <p:nvPr/>
        </p:nvSpPr>
        <p:spPr bwMode="auto">
          <a:xfrm>
            <a:off x="7626350" y="48164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39" name="Rectangle 38"/>
          <p:cNvSpPr>
            <a:spLocks noChangeArrowheads="1"/>
          </p:cNvSpPr>
          <p:nvPr/>
        </p:nvSpPr>
        <p:spPr bwMode="auto">
          <a:xfrm>
            <a:off x="7626350" y="5322889"/>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0" name="Rectangle 39"/>
          <p:cNvSpPr>
            <a:spLocks noChangeArrowheads="1"/>
          </p:cNvSpPr>
          <p:nvPr/>
        </p:nvSpPr>
        <p:spPr bwMode="auto">
          <a:xfrm>
            <a:off x="7626350" y="58197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1" name="Rectangle 40"/>
          <p:cNvSpPr>
            <a:spLocks noChangeArrowheads="1"/>
          </p:cNvSpPr>
          <p:nvPr/>
        </p:nvSpPr>
        <p:spPr bwMode="auto">
          <a:xfrm>
            <a:off x="8159750" y="3233739"/>
            <a:ext cx="520700" cy="420687"/>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2" name="Rectangle 41"/>
          <p:cNvSpPr>
            <a:spLocks noChangeArrowheads="1"/>
          </p:cNvSpPr>
          <p:nvPr/>
        </p:nvSpPr>
        <p:spPr bwMode="auto">
          <a:xfrm>
            <a:off x="8159750" y="3813175"/>
            <a:ext cx="520700" cy="420688"/>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3" name="Rectangle 42"/>
          <p:cNvSpPr>
            <a:spLocks noChangeArrowheads="1"/>
          </p:cNvSpPr>
          <p:nvPr/>
        </p:nvSpPr>
        <p:spPr bwMode="auto">
          <a:xfrm>
            <a:off x="8159750" y="4318001"/>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4" name="Rectangle 43"/>
          <p:cNvSpPr>
            <a:spLocks noChangeArrowheads="1"/>
          </p:cNvSpPr>
          <p:nvPr/>
        </p:nvSpPr>
        <p:spPr bwMode="auto">
          <a:xfrm>
            <a:off x="8159750" y="48164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5" name="Rectangle 44"/>
          <p:cNvSpPr>
            <a:spLocks noChangeArrowheads="1"/>
          </p:cNvSpPr>
          <p:nvPr/>
        </p:nvSpPr>
        <p:spPr bwMode="auto">
          <a:xfrm>
            <a:off x="8159750" y="5322889"/>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6" name="Rectangle 45"/>
          <p:cNvSpPr>
            <a:spLocks noChangeArrowheads="1"/>
          </p:cNvSpPr>
          <p:nvPr/>
        </p:nvSpPr>
        <p:spPr bwMode="auto">
          <a:xfrm>
            <a:off x="8159750" y="5819776"/>
            <a:ext cx="520700" cy="422275"/>
          </a:xfrm>
          <a:prstGeom prst="rect">
            <a:avLst/>
          </a:prstGeom>
          <a:solidFill>
            <a:srgbClr val="00B7A5"/>
          </a:solidFill>
          <a:ln w="12700">
            <a:solidFill>
              <a:schemeClr val="hlink"/>
            </a:solidFill>
            <a:miter lim="800000"/>
          </a:ln>
        </p:spPr>
        <p:txBody>
          <a:bodyPr wrap="none" anchor="ctr"/>
          <a:lstStyle/>
          <a:p>
            <a:pPr defTabSz="914400"/>
            <a:endParaRPr lang="zh-CN" altLang="en-US">
              <a:solidFill>
                <a:prstClr val="black"/>
              </a:solidFill>
            </a:endParaRPr>
          </a:p>
        </p:txBody>
      </p:sp>
      <p:sp>
        <p:nvSpPr>
          <p:cNvPr id="47" name="Rectangle 46"/>
          <p:cNvSpPr>
            <a:spLocks noChangeArrowheads="1"/>
          </p:cNvSpPr>
          <p:nvPr/>
        </p:nvSpPr>
        <p:spPr bwMode="auto">
          <a:xfrm>
            <a:off x="7599363" y="2341564"/>
            <a:ext cx="558800" cy="366767"/>
          </a:xfrm>
          <a:prstGeom prst="rect">
            <a:avLst/>
          </a:prstGeom>
          <a:solidFill>
            <a:srgbClr val="C0FEF9"/>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pPr defTabSz="914400" eaLnBrk="0" hangingPunct="0">
              <a:spcBef>
                <a:spcPct val="0"/>
              </a:spcBef>
            </a:pPr>
            <a:r>
              <a:rPr lang="en-US" altLang="zh-CN" b="1">
                <a:solidFill>
                  <a:srgbClr val="6E0043"/>
                </a:solidFill>
              </a:rPr>
              <a:t>2p</a:t>
            </a:r>
          </a:p>
        </p:txBody>
      </p:sp>
      <p:sp>
        <p:nvSpPr>
          <p:cNvPr id="48" name="Line 47"/>
          <p:cNvSpPr>
            <a:spLocks noChangeShapeType="1"/>
          </p:cNvSpPr>
          <p:nvPr/>
        </p:nvSpPr>
        <p:spPr bwMode="auto">
          <a:xfrm flipV="1">
            <a:off x="5257800" y="12192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49" name="Line 48"/>
          <p:cNvSpPr>
            <a:spLocks noChangeShapeType="1"/>
          </p:cNvSpPr>
          <p:nvPr/>
        </p:nvSpPr>
        <p:spPr bwMode="auto">
          <a:xfrm flipV="1">
            <a:off x="5257800" y="17526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0" name="Line 49"/>
          <p:cNvSpPr>
            <a:spLocks noChangeShapeType="1"/>
          </p:cNvSpPr>
          <p:nvPr/>
        </p:nvSpPr>
        <p:spPr bwMode="auto">
          <a:xfrm>
            <a:off x="5486400" y="2292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1" name="Line 50"/>
          <p:cNvSpPr>
            <a:spLocks noChangeShapeType="1"/>
          </p:cNvSpPr>
          <p:nvPr/>
        </p:nvSpPr>
        <p:spPr bwMode="auto">
          <a:xfrm flipV="1">
            <a:off x="5257800" y="2286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2" name="Line 51"/>
          <p:cNvSpPr>
            <a:spLocks noChangeShapeType="1"/>
          </p:cNvSpPr>
          <p:nvPr/>
        </p:nvSpPr>
        <p:spPr bwMode="auto">
          <a:xfrm>
            <a:off x="5486400" y="27495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3" name="Line 52"/>
          <p:cNvSpPr>
            <a:spLocks noChangeShapeType="1"/>
          </p:cNvSpPr>
          <p:nvPr/>
        </p:nvSpPr>
        <p:spPr bwMode="auto">
          <a:xfrm flipV="1">
            <a:off x="5257800" y="27432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4" name="Line 53"/>
          <p:cNvSpPr>
            <a:spLocks noChangeShapeType="1"/>
          </p:cNvSpPr>
          <p:nvPr/>
        </p:nvSpPr>
        <p:spPr bwMode="auto">
          <a:xfrm>
            <a:off x="5486400" y="32829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5" name="Line 54"/>
          <p:cNvSpPr>
            <a:spLocks noChangeShapeType="1"/>
          </p:cNvSpPr>
          <p:nvPr/>
        </p:nvSpPr>
        <p:spPr bwMode="auto">
          <a:xfrm flipV="1">
            <a:off x="5257800" y="32766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6" name="Line 55"/>
          <p:cNvSpPr>
            <a:spLocks noChangeShapeType="1"/>
          </p:cNvSpPr>
          <p:nvPr/>
        </p:nvSpPr>
        <p:spPr bwMode="auto">
          <a:xfrm>
            <a:off x="5486400" y="3816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7" name="Line 56"/>
          <p:cNvSpPr>
            <a:spLocks noChangeShapeType="1"/>
          </p:cNvSpPr>
          <p:nvPr/>
        </p:nvSpPr>
        <p:spPr bwMode="auto">
          <a:xfrm flipV="1">
            <a:off x="5257800" y="3810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8" name="Line 57"/>
          <p:cNvSpPr>
            <a:spLocks noChangeShapeType="1"/>
          </p:cNvSpPr>
          <p:nvPr/>
        </p:nvSpPr>
        <p:spPr bwMode="auto">
          <a:xfrm>
            <a:off x="5486400" y="4349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59" name="Line 58"/>
          <p:cNvSpPr>
            <a:spLocks noChangeShapeType="1"/>
          </p:cNvSpPr>
          <p:nvPr/>
        </p:nvSpPr>
        <p:spPr bwMode="auto">
          <a:xfrm flipV="1">
            <a:off x="5257800" y="4343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0" name="Line 59"/>
          <p:cNvSpPr>
            <a:spLocks noChangeShapeType="1"/>
          </p:cNvSpPr>
          <p:nvPr/>
        </p:nvSpPr>
        <p:spPr bwMode="auto">
          <a:xfrm>
            <a:off x="5486400" y="48069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1" name="Line 60"/>
          <p:cNvSpPr>
            <a:spLocks noChangeShapeType="1"/>
          </p:cNvSpPr>
          <p:nvPr/>
        </p:nvSpPr>
        <p:spPr bwMode="auto">
          <a:xfrm flipV="1">
            <a:off x="5257800" y="48006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2" name="Line 61"/>
          <p:cNvSpPr>
            <a:spLocks noChangeShapeType="1"/>
          </p:cNvSpPr>
          <p:nvPr/>
        </p:nvSpPr>
        <p:spPr bwMode="auto">
          <a:xfrm>
            <a:off x="5486400" y="5340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3" name="Line 62"/>
          <p:cNvSpPr>
            <a:spLocks noChangeShapeType="1"/>
          </p:cNvSpPr>
          <p:nvPr/>
        </p:nvSpPr>
        <p:spPr bwMode="auto">
          <a:xfrm flipV="1">
            <a:off x="5257800" y="5334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4" name="Line 63"/>
          <p:cNvSpPr>
            <a:spLocks noChangeShapeType="1"/>
          </p:cNvSpPr>
          <p:nvPr/>
        </p:nvSpPr>
        <p:spPr bwMode="auto">
          <a:xfrm>
            <a:off x="5486400" y="5873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5" name="Line 64"/>
          <p:cNvSpPr>
            <a:spLocks noChangeShapeType="1"/>
          </p:cNvSpPr>
          <p:nvPr/>
        </p:nvSpPr>
        <p:spPr bwMode="auto">
          <a:xfrm flipV="1">
            <a:off x="5257800" y="5867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6" name="Line 65"/>
          <p:cNvSpPr>
            <a:spLocks noChangeShapeType="1"/>
          </p:cNvSpPr>
          <p:nvPr/>
        </p:nvSpPr>
        <p:spPr bwMode="auto">
          <a:xfrm>
            <a:off x="6553200" y="27495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7" name="Line 66"/>
          <p:cNvSpPr>
            <a:spLocks noChangeShapeType="1"/>
          </p:cNvSpPr>
          <p:nvPr/>
        </p:nvSpPr>
        <p:spPr bwMode="auto">
          <a:xfrm flipV="1">
            <a:off x="6324600" y="27432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8" name="Line 67"/>
          <p:cNvSpPr>
            <a:spLocks noChangeShapeType="1"/>
          </p:cNvSpPr>
          <p:nvPr/>
        </p:nvSpPr>
        <p:spPr bwMode="auto">
          <a:xfrm>
            <a:off x="6553200" y="32829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69" name="Line 68"/>
          <p:cNvSpPr>
            <a:spLocks noChangeShapeType="1"/>
          </p:cNvSpPr>
          <p:nvPr/>
        </p:nvSpPr>
        <p:spPr bwMode="auto">
          <a:xfrm flipV="1">
            <a:off x="6324600" y="32766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0" name="Line 69"/>
          <p:cNvSpPr>
            <a:spLocks noChangeShapeType="1"/>
          </p:cNvSpPr>
          <p:nvPr/>
        </p:nvSpPr>
        <p:spPr bwMode="auto">
          <a:xfrm>
            <a:off x="6553200" y="3816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1" name="Line 70"/>
          <p:cNvSpPr>
            <a:spLocks noChangeShapeType="1"/>
          </p:cNvSpPr>
          <p:nvPr/>
        </p:nvSpPr>
        <p:spPr bwMode="auto">
          <a:xfrm flipV="1">
            <a:off x="6324600" y="3810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2" name="Line 71"/>
          <p:cNvSpPr>
            <a:spLocks noChangeShapeType="1"/>
          </p:cNvSpPr>
          <p:nvPr/>
        </p:nvSpPr>
        <p:spPr bwMode="auto">
          <a:xfrm>
            <a:off x="6553200" y="4349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3" name="Line 72"/>
          <p:cNvSpPr>
            <a:spLocks noChangeShapeType="1"/>
          </p:cNvSpPr>
          <p:nvPr/>
        </p:nvSpPr>
        <p:spPr bwMode="auto">
          <a:xfrm flipV="1">
            <a:off x="6324600" y="4343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4" name="Line 73"/>
          <p:cNvSpPr>
            <a:spLocks noChangeShapeType="1"/>
          </p:cNvSpPr>
          <p:nvPr/>
        </p:nvSpPr>
        <p:spPr bwMode="auto">
          <a:xfrm>
            <a:off x="6553200" y="5340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5" name="Line 74"/>
          <p:cNvSpPr>
            <a:spLocks noChangeShapeType="1"/>
          </p:cNvSpPr>
          <p:nvPr/>
        </p:nvSpPr>
        <p:spPr bwMode="auto">
          <a:xfrm flipV="1">
            <a:off x="6324600" y="5334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6" name="Line 75"/>
          <p:cNvSpPr>
            <a:spLocks noChangeShapeType="1"/>
          </p:cNvSpPr>
          <p:nvPr/>
        </p:nvSpPr>
        <p:spPr bwMode="auto">
          <a:xfrm>
            <a:off x="6553200" y="48831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7" name="Line 76"/>
          <p:cNvSpPr>
            <a:spLocks noChangeShapeType="1"/>
          </p:cNvSpPr>
          <p:nvPr/>
        </p:nvSpPr>
        <p:spPr bwMode="auto">
          <a:xfrm flipV="1">
            <a:off x="6324600" y="48768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8" name="Line 77"/>
          <p:cNvSpPr>
            <a:spLocks noChangeShapeType="1"/>
          </p:cNvSpPr>
          <p:nvPr/>
        </p:nvSpPr>
        <p:spPr bwMode="auto">
          <a:xfrm>
            <a:off x="6553200" y="5873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79" name="Line 78"/>
          <p:cNvSpPr>
            <a:spLocks noChangeShapeType="1"/>
          </p:cNvSpPr>
          <p:nvPr/>
        </p:nvSpPr>
        <p:spPr bwMode="auto">
          <a:xfrm flipV="1">
            <a:off x="6324600" y="5867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0" name="Line 79"/>
          <p:cNvSpPr>
            <a:spLocks noChangeShapeType="1"/>
          </p:cNvSpPr>
          <p:nvPr/>
        </p:nvSpPr>
        <p:spPr bwMode="auto">
          <a:xfrm flipV="1">
            <a:off x="6324600" y="22098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1" name="Line 80"/>
          <p:cNvSpPr>
            <a:spLocks noChangeShapeType="1"/>
          </p:cNvSpPr>
          <p:nvPr/>
        </p:nvSpPr>
        <p:spPr bwMode="auto">
          <a:xfrm flipV="1">
            <a:off x="7315200" y="32766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2" name="Line 81"/>
          <p:cNvSpPr>
            <a:spLocks noChangeShapeType="1"/>
          </p:cNvSpPr>
          <p:nvPr/>
        </p:nvSpPr>
        <p:spPr bwMode="auto">
          <a:xfrm flipV="1">
            <a:off x="7772400" y="3810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3" name="Line 82"/>
          <p:cNvSpPr>
            <a:spLocks noChangeShapeType="1"/>
          </p:cNvSpPr>
          <p:nvPr/>
        </p:nvSpPr>
        <p:spPr bwMode="auto">
          <a:xfrm flipV="1">
            <a:off x="7315200" y="3810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4" name="Line 83"/>
          <p:cNvSpPr>
            <a:spLocks noChangeShapeType="1"/>
          </p:cNvSpPr>
          <p:nvPr/>
        </p:nvSpPr>
        <p:spPr bwMode="auto">
          <a:xfrm flipV="1">
            <a:off x="8305800" y="4343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5" name="Line 84"/>
          <p:cNvSpPr>
            <a:spLocks noChangeShapeType="1"/>
          </p:cNvSpPr>
          <p:nvPr/>
        </p:nvSpPr>
        <p:spPr bwMode="auto">
          <a:xfrm flipV="1">
            <a:off x="7772400" y="4343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6" name="Line 85"/>
          <p:cNvSpPr>
            <a:spLocks noChangeShapeType="1"/>
          </p:cNvSpPr>
          <p:nvPr/>
        </p:nvSpPr>
        <p:spPr bwMode="auto">
          <a:xfrm flipV="1">
            <a:off x="7315200" y="4343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7" name="Line 86"/>
          <p:cNvSpPr>
            <a:spLocks noChangeShapeType="1"/>
          </p:cNvSpPr>
          <p:nvPr/>
        </p:nvSpPr>
        <p:spPr bwMode="auto">
          <a:xfrm flipV="1">
            <a:off x="8305800" y="48768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8" name="Line 87"/>
          <p:cNvSpPr>
            <a:spLocks noChangeShapeType="1"/>
          </p:cNvSpPr>
          <p:nvPr/>
        </p:nvSpPr>
        <p:spPr bwMode="auto">
          <a:xfrm flipV="1">
            <a:off x="7772400" y="48768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89" name="Line 88"/>
          <p:cNvSpPr>
            <a:spLocks noChangeShapeType="1"/>
          </p:cNvSpPr>
          <p:nvPr/>
        </p:nvSpPr>
        <p:spPr bwMode="auto">
          <a:xfrm flipV="1">
            <a:off x="7315200" y="48768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0" name="Line 89"/>
          <p:cNvSpPr>
            <a:spLocks noChangeShapeType="1"/>
          </p:cNvSpPr>
          <p:nvPr/>
        </p:nvSpPr>
        <p:spPr bwMode="auto">
          <a:xfrm flipV="1">
            <a:off x="8305800" y="5334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1" name="Line 90"/>
          <p:cNvSpPr>
            <a:spLocks noChangeShapeType="1"/>
          </p:cNvSpPr>
          <p:nvPr/>
        </p:nvSpPr>
        <p:spPr bwMode="auto">
          <a:xfrm flipV="1">
            <a:off x="7772400" y="5334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2" name="Line 91"/>
          <p:cNvSpPr>
            <a:spLocks noChangeShapeType="1"/>
          </p:cNvSpPr>
          <p:nvPr/>
        </p:nvSpPr>
        <p:spPr bwMode="auto">
          <a:xfrm flipV="1">
            <a:off x="7315200" y="53340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3" name="Line 92"/>
          <p:cNvSpPr>
            <a:spLocks noChangeShapeType="1"/>
          </p:cNvSpPr>
          <p:nvPr/>
        </p:nvSpPr>
        <p:spPr bwMode="auto">
          <a:xfrm flipV="1">
            <a:off x="8305800" y="5867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4" name="Line 93"/>
          <p:cNvSpPr>
            <a:spLocks noChangeShapeType="1"/>
          </p:cNvSpPr>
          <p:nvPr/>
        </p:nvSpPr>
        <p:spPr bwMode="auto">
          <a:xfrm flipV="1">
            <a:off x="7772400" y="5867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5" name="Line 94"/>
          <p:cNvSpPr>
            <a:spLocks noChangeShapeType="1"/>
          </p:cNvSpPr>
          <p:nvPr/>
        </p:nvSpPr>
        <p:spPr bwMode="auto">
          <a:xfrm flipV="1">
            <a:off x="7315200" y="5867400"/>
            <a:ext cx="0" cy="3810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6" name="Line 95"/>
          <p:cNvSpPr>
            <a:spLocks noChangeShapeType="1"/>
          </p:cNvSpPr>
          <p:nvPr/>
        </p:nvSpPr>
        <p:spPr bwMode="auto">
          <a:xfrm>
            <a:off x="7467600" y="48831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7" name="Line 96"/>
          <p:cNvSpPr>
            <a:spLocks noChangeShapeType="1"/>
          </p:cNvSpPr>
          <p:nvPr/>
        </p:nvSpPr>
        <p:spPr bwMode="auto">
          <a:xfrm>
            <a:off x="7924800" y="53403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8" name="Line 97"/>
          <p:cNvSpPr>
            <a:spLocks noChangeShapeType="1"/>
          </p:cNvSpPr>
          <p:nvPr/>
        </p:nvSpPr>
        <p:spPr bwMode="auto">
          <a:xfrm>
            <a:off x="7467600" y="54165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99" name="Line 98"/>
          <p:cNvSpPr>
            <a:spLocks noChangeShapeType="1"/>
          </p:cNvSpPr>
          <p:nvPr/>
        </p:nvSpPr>
        <p:spPr bwMode="auto">
          <a:xfrm>
            <a:off x="7467600" y="5873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0" name="Line 99"/>
          <p:cNvSpPr>
            <a:spLocks noChangeShapeType="1"/>
          </p:cNvSpPr>
          <p:nvPr/>
        </p:nvSpPr>
        <p:spPr bwMode="auto">
          <a:xfrm>
            <a:off x="7924800" y="5873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1" name="Line 100"/>
          <p:cNvSpPr>
            <a:spLocks noChangeShapeType="1"/>
          </p:cNvSpPr>
          <p:nvPr/>
        </p:nvSpPr>
        <p:spPr bwMode="auto">
          <a:xfrm>
            <a:off x="8458200" y="5873750"/>
            <a:ext cx="0" cy="368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2" name="Line 101"/>
          <p:cNvSpPr>
            <a:spLocks noChangeShapeType="1"/>
          </p:cNvSpPr>
          <p:nvPr/>
        </p:nvSpPr>
        <p:spPr bwMode="auto">
          <a:xfrm>
            <a:off x="2063750" y="1676400"/>
            <a:ext cx="3568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3" name="Line 102"/>
          <p:cNvSpPr>
            <a:spLocks noChangeShapeType="1"/>
          </p:cNvSpPr>
          <p:nvPr/>
        </p:nvSpPr>
        <p:spPr bwMode="auto">
          <a:xfrm>
            <a:off x="2063750" y="2209800"/>
            <a:ext cx="46355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4" name="Line 103"/>
          <p:cNvSpPr>
            <a:spLocks noChangeShapeType="1"/>
          </p:cNvSpPr>
          <p:nvPr/>
        </p:nvSpPr>
        <p:spPr bwMode="auto">
          <a:xfrm>
            <a:off x="2063750" y="2667000"/>
            <a:ext cx="46355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5" name="Line 104"/>
          <p:cNvSpPr>
            <a:spLocks noChangeShapeType="1"/>
          </p:cNvSpPr>
          <p:nvPr/>
        </p:nvSpPr>
        <p:spPr bwMode="auto">
          <a:xfrm>
            <a:off x="2063750" y="3200400"/>
            <a:ext cx="46355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6" name="Line 105"/>
          <p:cNvSpPr>
            <a:spLocks noChangeShapeType="1"/>
          </p:cNvSpPr>
          <p:nvPr/>
        </p:nvSpPr>
        <p:spPr bwMode="auto">
          <a:xfrm>
            <a:off x="2063750" y="3733800"/>
            <a:ext cx="6616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7" name="Line 106"/>
          <p:cNvSpPr>
            <a:spLocks noChangeShapeType="1"/>
          </p:cNvSpPr>
          <p:nvPr/>
        </p:nvSpPr>
        <p:spPr bwMode="auto">
          <a:xfrm>
            <a:off x="2063750" y="4267200"/>
            <a:ext cx="6616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8" name="Line 107"/>
          <p:cNvSpPr>
            <a:spLocks noChangeShapeType="1"/>
          </p:cNvSpPr>
          <p:nvPr/>
        </p:nvSpPr>
        <p:spPr bwMode="auto">
          <a:xfrm>
            <a:off x="2063750" y="4800600"/>
            <a:ext cx="6616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09" name="Line 108"/>
          <p:cNvSpPr>
            <a:spLocks noChangeShapeType="1"/>
          </p:cNvSpPr>
          <p:nvPr/>
        </p:nvSpPr>
        <p:spPr bwMode="auto">
          <a:xfrm>
            <a:off x="2063750" y="5334000"/>
            <a:ext cx="6616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10" name="Line 109"/>
          <p:cNvSpPr>
            <a:spLocks noChangeShapeType="1"/>
          </p:cNvSpPr>
          <p:nvPr/>
        </p:nvSpPr>
        <p:spPr bwMode="auto">
          <a:xfrm>
            <a:off x="2063750" y="5791200"/>
            <a:ext cx="6616700" cy="0"/>
          </a:xfrm>
          <a:prstGeom prst="line">
            <a:avLst/>
          </a:prstGeom>
          <a:noFill/>
          <a:ln w="12700">
            <a:pattFill prst="smCheck">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sp>
        <p:nvSpPr>
          <p:cNvPr id="111" name="Line 110"/>
          <p:cNvSpPr>
            <a:spLocks noChangeShapeType="1"/>
          </p:cNvSpPr>
          <p:nvPr/>
        </p:nvSpPr>
        <p:spPr bwMode="auto">
          <a:xfrm>
            <a:off x="1933575" y="6324600"/>
            <a:ext cx="6724650" cy="0"/>
          </a:xfrm>
          <a:prstGeom prst="line">
            <a:avLst/>
          </a:prstGeom>
          <a:noFill/>
          <a:ln w="57150" cmpd="thinThick">
            <a:pattFill prst="pct90">
              <a:fgClr>
                <a:srgbClr val="B50069"/>
              </a:fgClr>
              <a:bgClr>
                <a:schemeClr val="bg1"/>
              </a:bgClr>
            </a:pattFill>
            <a:round/>
          </a:ln>
          <a:extLst>
            <a:ext uri="{909E8E84-426E-40DD-AFC4-6F175D3DCCD1}">
              <a14:hiddenFill xmlns:a14="http://schemas.microsoft.com/office/drawing/2010/main">
                <a:noFill/>
              </a14:hiddenFill>
            </a:ext>
          </a:extLst>
        </p:spPr>
        <p:txBody>
          <a:bodyPr wrap="none" anchor="ctr"/>
          <a:lstStyle/>
          <a:p>
            <a:pPr defTabSz="914400"/>
            <a:endParaRPr lang="zh-CN" altLang="en-US">
              <a:solidFill>
                <a:prstClr val="black"/>
              </a:solidFill>
            </a:endParaRPr>
          </a:p>
        </p:txBody>
      </p:sp>
      <p:pic>
        <p:nvPicPr>
          <p:cNvPr id="112" name="Picture 1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2300" y="939800"/>
            <a:ext cx="16383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3"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9658" y="2174467"/>
            <a:ext cx="5739410" cy="16101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14" name="矩形 113"/>
          <p:cNvSpPr/>
          <p:nvPr/>
        </p:nvSpPr>
        <p:spPr>
          <a:xfrm>
            <a:off x="2207568" y="2808288"/>
            <a:ext cx="1944216" cy="425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55172" y="271242"/>
            <a:ext cx="2888932"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The helium atom </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420087" y="1076036"/>
            <a:ext cx="11348185" cy="4097084"/>
          </a:xfrm>
          <a:prstGeom prst="rect">
            <a:avLst/>
          </a:prstGeom>
        </p:spPr>
        <p:txBody>
          <a:bodyPr wrap="square">
            <a:spAutoFit/>
          </a:bodyPr>
          <a:lstStyle/>
          <a:p>
            <a:pPr>
              <a:lnSpc>
                <a:spcPct val="122000"/>
              </a:lnSpc>
              <a:spcAft>
                <a:spcPts val="360"/>
              </a:spcAft>
            </a:pPr>
            <a:r>
              <a:rPr lang="en-US" altLang="zh-CN" sz="2400" dirty="0">
                <a:latin typeface="Times New Roman" panose="02020603050405020304" pitchFamily="18" charset="0"/>
                <a:cs typeface="Times New Roman" panose="02020603050405020304" pitchFamily="18" charset="0"/>
              </a:rPr>
              <a:t>The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baseline="30000" dirty="0">
                <a:solidFill>
                  <a:srgbClr val="2926BF"/>
                </a:solidFill>
                <a:latin typeface="Times New Roman" panose="02020603050405020304" pitchFamily="18" charset="0"/>
                <a:cs typeface="Times New Roman" panose="02020603050405020304" pitchFamily="18" charset="0"/>
              </a:rPr>
              <a:t>2</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configuration of the He atom has only one possible state, a singlet, so we consider the excited </a:t>
            </a:r>
            <a:r>
              <a:rPr lang="en-US" altLang="zh-CN" sz="2400" dirty="0">
                <a:solidFill>
                  <a:srgbClr val="2926BF"/>
                </a:solidFill>
                <a:latin typeface="Times New Roman" panose="02020603050405020304" pitchFamily="18" charset="0"/>
                <a:cs typeface="Times New Roman" panose="02020603050405020304" pitchFamily="18" charset="0"/>
              </a:rPr>
              <a:t>l</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2</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configuration to explore the energy differences between singlet and triplet.</a:t>
            </a:r>
          </a:p>
          <a:p>
            <a:pPr>
              <a:lnSpc>
                <a:spcPct val="121000"/>
              </a:lnSpc>
              <a:spcAft>
                <a:spcPts val="360"/>
              </a:spcAft>
            </a:pPr>
            <a:r>
              <a:rPr lang="en-US" altLang="zh-CN" sz="2400" dirty="0">
                <a:solidFill>
                  <a:srgbClr val="FF0000"/>
                </a:solidFill>
                <a:latin typeface="Times New Roman" panose="02020603050405020304" pitchFamily="18" charset="0"/>
                <a:cs typeface="Times New Roman" panose="02020603050405020304" pitchFamily="18" charset="0"/>
              </a:rPr>
              <a:t>For the l</a:t>
            </a:r>
            <a:r>
              <a:rPr lang="en-US" altLang="zh-CN" sz="2400" i="1" dirty="0">
                <a:solidFill>
                  <a:srgbClr val="FF0000"/>
                </a:solidFill>
                <a:latin typeface="Times New Roman" panose="02020603050405020304" pitchFamily="18" charset="0"/>
                <a:cs typeface="Times New Roman" panose="02020603050405020304" pitchFamily="18" charset="0"/>
              </a:rPr>
              <a:t>s</a:t>
            </a:r>
            <a:r>
              <a:rPr lang="en-US" altLang="zh-CN" sz="2400" dirty="0">
                <a:solidFill>
                  <a:srgbClr val="FF0000"/>
                </a:solidFill>
                <a:latin typeface="Times New Roman" panose="02020603050405020304" pitchFamily="18" charset="0"/>
                <a:cs typeface="Times New Roman" panose="02020603050405020304" pitchFamily="18" charset="0"/>
              </a:rPr>
              <a:t>2</a:t>
            </a:r>
            <a:r>
              <a:rPr lang="en-US" altLang="zh-CN" sz="2400" i="1" dirty="0">
                <a:solidFill>
                  <a:srgbClr val="FF0000"/>
                </a:solidFill>
                <a:latin typeface="Times New Roman" panose="02020603050405020304" pitchFamily="18" charset="0"/>
                <a:cs typeface="Times New Roman" panose="02020603050405020304" pitchFamily="18" charset="0"/>
              </a:rPr>
              <a:t>s</a:t>
            </a:r>
            <a:r>
              <a:rPr lang="en-US" altLang="zh-CN" sz="2400" dirty="0">
                <a:solidFill>
                  <a:srgbClr val="FF0000"/>
                </a:solidFill>
                <a:latin typeface="Times New Roman" panose="02020603050405020304" pitchFamily="18" charset="0"/>
                <a:cs typeface="Times New Roman" panose="02020603050405020304" pitchFamily="18" charset="0"/>
              </a:rPr>
              <a:t> configuration, </a:t>
            </a:r>
            <a:r>
              <a:rPr lang="en-US" altLang="zh-CN" sz="2400" dirty="0">
                <a:latin typeface="Times New Roman" panose="02020603050405020304" pitchFamily="18" charset="0"/>
                <a:cs typeface="Times New Roman" panose="02020603050405020304" pitchFamily="18" charset="0"/>
              </a:rPr>
              <a:t>the possible states are the spin singlet, </a:t>
            </a:r>
            <a:r>
              <a:rPr lang="en-US" altLang="zh-CN" sz="2400" dirty="0">
                <a:solidFill>
                  <a:srgbClr val="FF0000"/>
                </a:solidFill>
                <a:latin typeface="Times New Roman" panose="02020603050405020304" pitchFamily="18" charset="0"/>
                <a:cs typeface="Times New Roman" panose="02020603050405020304" pitchFamily="18" charset="0"/>
              </a:rPr>
              <a:t>for which the orbital function is symmetric:</a:t>
            </a:r>
          </a:p>
          <a:p>
            <a:pPr marL="630555" algn="r">
              <a:lnSpc>
                <a:spcPct val="121000"/>
              </a:lnSpc>
              <a:spcAft>
                <a:spcPts val="360"/>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1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1000"/>
              </a:lnSpc>
              <a:spcBef>
                <a:spcPts val="1200"/>
              </a:spcBef>
            </a:pPr>
            <a:r>
              <a:rPr lang="en-US" altLang="zh-CN" sz="2400" dirty="0">
                <a:latin typeface="Times New Roman" panose="02020603050405020304" pitchFamily="18" charset="0"/>
                <a:cs typeface="Times New Roman" panose="02020603050405020304" pitchFamily="18" charset="0"/>
              </a:rPr>
              <a:t>and the spin triplet, for which the </a:t>
            </a:r>
            <a:r>
              <a:rPr lang="en-US" altLang="zh-CN" sz="2400" dirty="0">
                <a:solidFill>
                  <a:srgbClr val="3333FF"/>
                </a:solidFill>
                <a:latin typeface="Times New Roman" panose="02020603050405020304" pitchFamily="18" charset="0"/>
                <a:cs typeface="Times New Roman" panose="02020603050405020304" pitchFamily="18" charset="0"/>
              </a:rPr>
              <a:t>orbital</a:t>
            </a:r>
            <a:r>
              <a:rPr lang="en-US" altLang="zh-CN" sz="2400" dirty="0">
                <a:latin typeface="Times New Roman" panose="02020603050405020304" pitchFamily="18" charset="0"/>
                <a:cs typeface="Times New Roman" panose="02020603050405020304" pitchFamily="18" charset="0"/>
              </a:rPr>
              <a:t> function is antisymmetric:</a:t>
            </a:r>
          </a:p>
          <a:p>
            <a:pPr marL="630555" algn="r">
              <a:lnSpc>
                <a:spcPct val="121000"/>
              </a:lnSpc>
              <a:spcAft>
                <a:spcPts val="360"/>
              </a:spcAft>
            </a:pPr>
            <a:r>
              <a:rPr lang="en-US" altLang="zh-CN" sz="2400" dirty="0">
                <a:solidFill>
                  <a:srgbClr val="2926BF"/>
                </a:solidFill>
                <a:latin typeface="Times New Roman" panose="02020603050405020304" pitchFamily="18" charset="0"/>
                <a:cs typeface="Times New Roman" panose="02020603050405020304" pitchFamily="18" charset="0"/>
              </a:rPr>
              <a:t>   </a:t>
            </a:r>
          </a:p>
        </p:txBody>
      </p:sp>
      <p:graphicFrame>
        <p:nvGraphicFramePr>
          <p:cNvPr id="4" name="对象 3"/>
          <p:cNvGraphicFramePr>
            <a:graphicFrameLocks noChangeAspect="1"/>
          </p:cNvGraphicFramePr>
          <p:nvPr>
            <p:extLst>
              <p:ext uri="{D42A27DB-BD31-4B8C-83A1-F6EECF244321}">
                <p14:modId xmlns:p14="http://schemas.microsoft.com/office/powerpoint/2010/main" val="3922087544"/>
              </p:ext>
            </p:extLst>
          </p:nvPr>
        </p:nvGraphicFramePr>
        <p:xfrm>
          <a:off x="2398713" y="3197225"/>
          <a:ext cx="7391400" cy="889000"/>
        </p:xfrm>
        <a:graphic>
          <a:graphicData uri="http://schemas.openxmlformats.org/presentationml/2006/ole">
            <mc:AlternateContent xmlns:mc="http://schemas.openxmlformats.org/markup-compatibility/2006">
              <mc:Choice xmlns:v="urn:schemas-microsoft-com:vml" Requires="v">
                <p:oleObj name="Equation" r:id="rId2" imgW="3695400" imgH="444240" progId="Equation.DSMT4">
                  <p:embed/>
                </p:oleObj>
              </mc:Choice>
              <mc:Fallback>
                <p:oleObj name="Equation" r:id="rId2" imgW="3695400" imgH="444240" progId="Equation.DSMT4">
                  <p:embed/>
                  <p:pic>
                    <p:nvPicPr>
                      <p:cNvPr id="0" name="对象 3"/>
                      <p:cNvPicPr/>
                      <p:nvPr/>
                    </p:nvPicPr>
                    <p:blipFill>
                      <a:blip r:embed="rId3"/>
                      <a:stretch>
                        <a:fillRect/>
                      </a:stretch>
                    </p:blipFill>
                    <p:spPr>
                      <a:xfrm>
                        <a:off x="2398713" y="3197225"/>
                        <a:ext cx="7391400" cy="8890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50045411"/>
              </p:ext>
            </p:extLst>
          </p:nvPr>
        </p:nvGraphicFramePr>
        <p:xfrm>
          <a:off x="2398713" y="4897438"/>
          <a:ext cx="7289800" cy="887412"/>
        </p:xfrm>
        <a:graphic>
          <a:graphicData uri="http://schemas.openxmlformats.org/presentationml/2006/ole">
            <mc:AlternateContent xmlns:mc="http://schemas.openxmlformats.org/markup-compatibility/2006">
              <mc:Choice xmlns:v="urn:schemas-microsoft-com:vml" Requires="v">
                <p:oleObj name="Equation" r:id="rId4" imgW="3644640" imgH="444240" progId="Equation.DSMT4">
                  <p:embed/>
                </p:oleObj>
              </mc:Choice>
              <mc:Fallback>
                <p:oleObj name="Equation" r:id="rId4" imgW="3644640" imgH="444240" progId="Equation.DSMT4">
                  <p:embed/>
                  <p:pic>
                    <p:nvPicPr>
                      <p:cNvPr id="0" name="对象 4"/>
                      <p:cNvPicPr/>
                      <p:nvPr/>
                    </p:nvPicPr>
                    <p:blipFill>
                      <a:blip r:embed="rId5"/>
                      <a:stretch>
                        <a:fillRect/>
                      </a:stretch>
                    </p:blipFill>
                    <p:spPr>
                      <a:xfrm>
                        <a:off x="2398713" y="4897438"/>
                        <a:ext cx="7289800" cy="887412"/>
                      </a:xfrm>
                      <a:prstGeom prst="rect">
                        <a:avLst/>
                      </a:prstGeom>
                    </p:spPr>
                  </p:pic>
                </p:oleObj>
              </mc:Fallback>
            </mc:AlternateContent>
          </a:graphicData>
        </a:graphic>
      </p:graphicFrame>
      <p:sp>
        <p:nvSpPr>
          <p:cNvPr id="7"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CA7F9066-134F-5A38-EADA-A0BB4FAE0E6F}"/>
              </a:ext>
            </a:extLst>
          </p:cNvPr>
          <p:cNvSpPr txBox="1"/>
          <p:nvPr/>
        </p:nvSpPr>
        <p:spPr>
          <a:xfrm>
            <a:off x="1881641" y="3429000"/>
            <a:ext cx="1034143" cy="461665"/>
          </a:xfrm>
          <a:prstGeom prst="rect">
            <a:avLst/>
          </a:prstGeom>
          <a:solidFill>
            <a:schemeClr val="bg1"/>
          </a:solidFill>
        </p:spPr>
        <p:txBody>
          <a:bodyPr wrap="square">
            <a:spAutoFit/>
          </a:bodyPr>
          <a:lstStyle/>
          <a:p>
            <a:r>
              <a:rPr lang="zh-CN" altLang="en-US" sz="24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aseline="-250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singlet </a:t>
            </a:r>
            <a:endParaRPr lang="zh-CN" altLang="en-US" sz="2400" baseline="-25000" dirty="0">
              <a:solidFill>
                <a:srgbClr val="3333FF"/>
              </a:solidFill>
            </a:endParaRPr>
          </a:p>
        </p:txBody>
      </p:sp>
      <p:sp>
        <p:nvSpPr>
          <p:cNvPr id="9" name="文本框 8">
            <a:extLst>
              <a:ext uri="{FF2B5EF4-FFF2-40B4-BE49-F238E27FC236}">
                <a16:creationId xmlns:a16="http://schemas.microsoft.com/office/drawing/2014/main" id="{5A153F6C-381E-9D80-6526-BDDD8E705960}"/>
              </a:ext>
            </a:extLst>
          </p:cNvPr>
          <p:cNvSpPr txBox="1"/>
          <p:nvPr/>
        </p:nvSpPr>
        <p:spPr>
          <a:xfrm>
            <a:off x="1838096" y="5100393"/>
            <a:ext cx="1034143" cy="461665"/>
          </a:xfrm>
          <a:prstGeom prst="rect">
            <a:avLst/>
          </a:prstGeom>
          <a:solidFill>
            <a:schemeClr val="bg1"/>
          </a:solidFill>
        </p:spPr>
        <p:txBody>
          <a:bodyPr wrap="square">
            <a:spAutoFit/>
          </a:bodyPr>
          <a:lstStyle/>
          <a:p>
            <a:r>
              <a:rPr lang="zh-CN" altLang="en-US" sz="24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aseline="-25000" dirty="0">
                <a:solidFill>
                  <a:srgbClr val="3333FF"/>
                </a:solidFill>
                <a:latin typeface="Times New Roman" panose="02020603050405020304" pitchFamily="18" charset="0"/>
                <a:cs typeface="Times New Roman" panose="02020603050405020304" pitchFamily="18" charset="0"/>
                <a:sym typeface="Symbol" panose="05050102010706020507" pitchFamily="18" charset="2"/>
              </a:rPr>
              <a:t>triplet </a:t>
            </a:r>
            <a:endParaRPr lang="zh-CN" altLang="en-US" sz="2400" baseline="-25000" dirty="0">
              <a:solidFill>
                <a:srgbClr val="3333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1365" y="187166"/>
            <a:ext cx="1988045"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Fermi holes</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447649" y="2171174"/>
            <a:ext cx="11463688" cy="1853713"/>
          </a:xfrm>
          <a:prstGeom prst="rect">
            <a:avLst/>
          </a:prstGeom>
        </p:spPr>
        <p:txBody>
          <a:bodyPr wrap="square">
            <a:spAutoFit/>
          </a:bodyPr>
          <a:lstStyle/>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Consider a wavefunction for two electrons with the symmetric spin function (triplet), when the spatial parts of the electrons are the same,</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 wavefunction must vanish. That is, the probability of two electrons with the same spin being in the same place is </a:t>
            </a:r>
            <a:r>
              <a:rPr lang="en-US" altLang="zh-CN" sz="2400" i="1" dirty="0">
                <a:latin typeface="Times New Roman" panose="02020603050405020304" pitchFamily="18" charset="0"/>
                <a:cs typeface="Times New Roman" panose="02020603050405020304" pitchFamily="18" charset="0"/>
              </a:rPr>
              <a:t>zero.</a:t>
            </a:r>
          </a:p>
          <a:p>
            <a:r>
              <a:rPr lang="en-US" altLang="zh-CN" sz="2400" dirty="0">
                <a:latin typeface="Times New Roman" panose="02020603050405020304" pitchFamily="18" charset="0"/>
                <a:cs typeface="Times New Roman" panose="02020603050405020304" pitchFamily="18" charset="0"/>
              </a:rPr>
              <a:t>There is no such limitation for electrons of opposite spin.</a:t>
            </a:r>
            <a:endParaRPr lang="zh-CN" altLang="en-US" sz="2400" dirty="0">
              <a:latin typeface="Times New Roman" panose="02020603050405020304" pitchFamily="18" charset="0"/>
              <a:cs typeface="Times New Roman" panose="02020603050405020304" pitchFamily="18" charset="0"/>
            </a:endParaRPr>
          </a:p>
        </p:txBody>
      </p:sp>
      <p:sp>
        <p:nvSpPr>
          <p:cNvPr id="4"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242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71714" y="1762341"/>
            <a:ext cx="10903858" cy="2777107"/>
          </a:xfrm>
          <a:prstGeom prst="rect">
            <a:avLst/>
          </a:prstGeom>
        </p:spPr>
        <p:txBody>
          <a:bodyPr wrap="square">
            <a:spAutoFit/>
          </a:bodyPr>
          <a:lstStyle/>
          <a:p>
            <a:pPr marL="342900" indent="-342900">
              <a:lnSpc>
                <a:spcPct val="120000"/>
              </a:lnSpc>
              <a:spcAft>
                <a:spcPts val="405"/>
              </a:spcAf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While the spin is not directly affected by electron repulsion, the interplay between orbital and spin angular momentum that results from the Pauli principle means that it is not useful to think about individual electron spins either, so we can only </a:t>
            </a:r>
            <a:r>
              <a:rPr lang="en-US" altLang="zh-CN" sz="2400" dirty="0">
                <a:solidFill>
                  <a:srgbClr val="FF0000"/>
                </a:solidFill>
                <a:latin typeface="Times New Roman" panose="02020603050405020304" pitchFamily="18" charset="0"/>
                <a:cs typeface="Times New Roman" panose="02020603050405020304" pitchFamily="18" charset="0"/>
              </a:rPr>
              <a:t>use the total spin</a:t>
            </a:r>
            <a:r>
              <a:rPr lang="en-US" altLang="zh-CN" sz="2400" dirty="0">
                <a:latin typeface="Times New Roman" panose="02020603050405020304" pitchFamily="18" charset="0"/>
                <a:cs typeface="Times New Roman" panose="02020603050405020304" pitchFamily="18" charset="0"/>
              </a:rPr>
              <a:t>, with quantum numbers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i="1" baseline="-25000" dirty="0">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a:t>
            </a:r>
          </a:p>
          <a:p>
            <a:pPr marL="342900" indent="-342900">
              <a:lnSpc>
                <a:spcPct val="122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To reduce the electron repulsion energy as much as possible, we need as many Fermi holes as possible, which in turn means as many parallel electron spins as possible.</a:t>
            </a:r>
          </a:p>
        </p:txBody>
      </p:sp>
    </p:spTree>
    <p:extLst>
      <p:ext uri="{BB962C8B-B14F-4D97-AF65-F5344CB8AC3E}">
        <p14:creationId xmlns:p14="http://schemas.microsoft.com/office/powerpoint/2010/main" val="1329436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3aea453-348a-4847-adc9-751cc0b78bed"/>
  <p:tag name="COMMONDATA" val="eyJoZGlkIjoiOTQyOThlNDJhZDY5MDdlNzJmMmU1YWI3ZWJjZTYwM2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4104</TotalTime>
  <Words>2494</Words>
  <Application>Microsoft Office PowerPoint</Application>
  <PresentationFormat>宽屏</PresentationFormat>
  <Paragraphs>221</Paragraphs>
  <Slides>38</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38</vt:i4>
      </vt:variant>
    </vt:vector>
  </HeadingPairs>
  <TitlesOfParts>
    <vt:vector size="54" baseType="lpstr">
      <vt:lpstr>quote-cjk-patch</vt:lpstr>
      <vt:lpstr>等线</vt:lpstr>
      <vt:lpstr>黑体</vt:lpstr>
      <vt:lpstr>Arial</vt:lpstr>
      <vt:lpstr>Calibri</vt:lpstr>
      <vt:lpstr>Calibri Light</vt:lpstr>
      <vt:lpstr>Calisto MT</vt:lpstr>
      <vt:lpstr>Cambria Math</vt:lpstr>
      <vt:lpstr>Symbol</vt:lpstr>
      <vt:lpstr>Times</vt:lpstr>
      <vt:lpstr>Times New Roman</vt:lpstr>
      <vt:lpstr>Office 主题​​</vt:lpstr>
      <vt:lpstr>Equation</vt:lpstr>
      <vt:lpstr>Equation.DSMT4</vt:lpstr>
      <vt:lpstr>Photo Editor 照片</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Xiamen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Peifeng Su</dc:creator>
  <cp:lastModifiedBy>FTCC</cp:lastModifiedBy>
  <cp:revision>305</cp:revision>
  <dcterms:created xsi:type="dcterms:W3CDTF">2020-09-01T09:11:00Z</dcterms:created>
  <dcterms:modified xsi:type="dcterms:W3CDTF">2025-09-29T01:37:03Z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0ED42559EDBC4B75B4E906DB13DE9579</vt:lpwstr>
  </property>
  <property fmtid="{D5CDD505-2E9C-101B-9397-08002B2CF9AE}" pid="3" name="KSOProductBuildVer">
    <vt:lpwstr>2052-11.1.0.12358</vt:lpwstr>
  </property>
</Properties>
</file>