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  <p:sldMasterId id="2147483700" r:id="rId2"/>
  </p:sldMasterIdLst>
  <p:notesMasterIdLst>
    <p:notesMasterId r:id="rId46"/>
  </p:notesMasterIdLst>
  <p:handoutMasterIdLst>
    <p:handoutMasterId r:id="rId47"/>
  </p:handoutMasterIdLst>
  <p:sldIdLst>
    <p:sldId id="844" r:id="rId3"/>
    <p:sldId id="845" r:id="rId4"/>
    <p:sldId id="797" r:id="rId5"/>
    <p:sldId id="763" r:id="rId6"/>
    <p:sldId id="304" r:id="rId7"/>
    <p:sldId id="305" r:id="rId8"/>
    <p:sldId id="307" r:id="rId9"/>
    <p:sldId id="736" r:id="rId10"/>
    <p:sldId id="841" r:id="rId11"/>
    <p:sldId id="761" r:id="rId12"/>
    <p:sldId id="798" r:id="rId13"/>
    <p:sldId id="815" r:id="rId14"/>
    <p:sldId id="371" r:id="rId15"/>
    <p:sldId id="328" r:id="rId16"/>
    <p:sldId id="370" r:id="rId17"/>
    <p:sldId id="366" r:id="rId18"/>
    <p:sldId id="368" r:id="rId19"/>
    <p:sldId id="369" r:id="rId20"/>
    <p:sldId id="568" r:id="rId21"/>
    <p:sldId id="809" r:id="rId22"/>
    <p:sldId id="846" r:id="rId23"/>
    <p:sldId id="847" r:id="rId24"/>
    <p:sldId id="854" r:id="rId25"/>
    <p:sldId id="855" r:id="rId26"/>
    <p:sldId id="848" r:id="rId27"/>
    <p:sldId id="852" r:id="rId28"/>
    <p:sldId id="333" r:id="rId29"/>
    <p:sldId id="843" r:id="rId30"/>
    <p:sldId id="332" r:id="rId31"/>
    <p:sldId id="330" r:id="rId32"/>
    <p:sldId id="823" r:id="rId33"/>
    <p:sldId id="836" r:id="rId34"/>
    <p:sldId id="372" r:id="rId35"/>
    <p:sldId id="331" r:id="rId36"/>
    <p:sldId id="373" r:id="rId37"/>
    <p:sldId id="840" r:id="rId38"/>
    <p:sldId id="374" r:id="rId39"/>
    <p:sldId id="851" r:id="rId40"/>
    <p:sldId id="367" r:id="rId41"/>
    <p:sldId id="853" r:id="rId42"/>
    <p:sldId id="856" r:id="rId43"/>
    <p:sldId id="849" r:id="rId44"/>
    <p:sldId id="850" r:id="rId45"/>
  </p:sldIdLst>
  <p:sldSz cx="12192000" cy="6858000"/>
  <p:notesSz cx="6645275" cy="97774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>
          <p15:clr>
            <a:srgbClr val="A4A3A4"/>
          </p15:clr>
        </p15:guide>
        <p15:guide id="2" pos="38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CC00CC"/>
    <a:srgbClr val="006600"/>
    <a:srgbClr val="FF0000"/>
    <a:srgbClr val="9900FF"/>
    <a:srgbClr val="00CC99"/>
    <a:srgbClr val="FFFF66"/>
    <a:srgbClr val="FF99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79581" autoAdjust="0"/>
  </p:normalViewPr>
  <p:slideViewPr>
    <p:cSldViewPr>
      <p:cViewPr varScale="1">
        <p:scale>
          <a:sx n="65" d="100"/>
          <a:sy n="65" d="100"/>
        </p:scale>
        <p:origin x="1344" y="58"/>
      </p:cViewPr>
      <p:guideLst>
        <p:guide orient="horz" pos="2188"/>
        <p:guide pos="3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88463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CA7B838-3872-421B-8873-E88DF576153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641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3500" y="733425"/>
            <a:ext cx="6518275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5025"/>
            <a:ext cx="5314950" cy="439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EDAC15C-3B43-4582-9808-6C645FB2543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3793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C15C-3B43-4582-9808-6C645FB25436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30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C15C-3B43-4582-9808-6C645FB25436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219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空间反演操作下是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奇函数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μ → -μ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初态和末态必须具有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相反的宇称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，矩阵元才可能非零。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矩阵元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&lt;f| μ |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必须在所有对称操作下保持不变。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μ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是奇宇称，所以为了保持整个矩阵元的宇称为偶（不变），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和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|f&gt;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的宇称必须相反。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C15C-3B43-4582-9808-6C645FB25436}" type="slidenum">
              <a:rPr lang="en-US" altLang="zh-CN" smtClean="0"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6282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1F3B-CCEF-499E-A15F-BB0CA2C7E7B0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92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3C15B-28D5-4B2C-B16F-4C7830BB98DB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62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AC13D-FF0F-4E17-A32C-9B46EAE36E39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45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B99B-F74F-40B6-B563-E6D17747FF67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38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5407-F527-404D-8371-900A42DE6D6E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37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8D16-65A5-46D3-A7D9-B1D7AECEE066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68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4170-E8B7-4925-BD6B-EC14CE2B14DE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74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AAF9E-02D8-4C34-A2A8-23C0ED18FC9B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7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FB72-B632-4373-829A-8E1FD1FC7D9F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13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A8-832A-455D-BD09-0B4D6F20AC0C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13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1BE7-5316-47AE-82CD-433C2FD03231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48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10DC19-9271-4D8E-BC42-6844083F5D5B}" type="datetime1">
              <a:rPr lang="zh-CN" altLang="en-US" smtClean="0">
                <a:solidFill>
                  <a:srgbClr val="000000"/>
                </a:solidFill>
              </a:rPr>
              <a:t>2025/10/26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05E25-5D4E-4F82-988A-BBD4F8A322A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945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8E7C-F4CD-420C-881C-679FC8055956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077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8AC8-B097-4B64-AF85-F02ED74D8105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581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9958-9CF0-44E7-A4F6-2AB25EEB441D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632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39AD-48C7-4B12-848A-CA4BCCE21745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86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B775-E1E2-4E7B-A505-6AE89F0FBD20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526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855E-D9E0-45B9-8347-38876C30FE0B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0906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ABD2-4A59-4635-91E8-060B08C9D5C2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21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CE7D-308D-4D1D-AB67-E0EAA2CE4CFB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929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A5BE-AE98-4FEA-8A5F-22744B9A6F50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0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A2D9B-4790-4C33-9215-C74447D3867C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311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71560-F173-4C12-A8D6-7C2FB7FEE73A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44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B9D65-A977-47BF-99A7-62E796515872}" type="datetime1">
              <a:rPr lang="zh-CN" altLang="en-US" smtClean="0"/>
              <a:t>2025/10/26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7A708-C3FB-469F-AA16-7802890F573B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45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ACD9D-E5DD-4263-B172-CA870ADA77F3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849EA-18B3-4CA7-9730-C7EE55E9A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13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EE7F-ACB0-4A41-9F59-58043A424EBA}" type="datetime1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42A72-7DFB-4E48-AFB7-E601B574A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97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6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NULL"/><Relationship Id="rId1" Type="http://schemas.openxmlformats.org/officeDocument/2006/relationships/slideLayout" Target="../slideLayouts/slideLayout14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0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7AD0C8A-35E7-EB06-8E95-A5140788F462}"/>
              </a:ext>
            </a:extLst>
          </p:cNvPr>
          <p:cNvSpPr/>
          <p:nvPr/>
        </p:nvSpPr>
        <p:spPr>
          <a:xfrm>
            <a:off x="4151784" y="332656"/>
            <a:ext cx="2954655" cy="461665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量子力学的基本假设</a:t>
            </a:r>
            <a:endParaRPr lang="zh-CN" altLang="en-US" sz="2400" b="1" dirty="0">
              <a:solidFill>
                <a:srgbClr val="00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AD5A7B-1616-A375-38E8-4E1EE7B36AF3}"/>
              </a:ext>
            </a:extLst>
          </p:cNvPr>
          <p:cNvSpPr/>
          <p:nvPr/>
        </p:nvSpPr>
        <p:spPr>
          <a:xfrm>
            <a:off x="1455804" y="2269320"/>
            <a:ext cx="2747641" cy="1015663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黑体" pitchFamily="2" charset="-122"/>
              </a:rPr>
              <a:t>如果势能算符简单</a:t>
            </a:r>
            <a:endParaRPr lang="en-US" altLang="zh-CN" sz="2000" dirty="0">
              <a:solidFill>
                <a:srgbClr val="000000"/>
              </a:solidFill>
              <a:latin typeface="Arial" charset="0"/>
              <a:ea typeface="黑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黑体" pitchFamily="2" charset="-122"/>
              </a:rPr>
              <a:t>“一维定态，氢原子问题”，解析求解</a:t>
            </a:r>
            <a:endParaRPr lang="zh-CN" altLang="en-US" sz="2400" b="1" dirty="0">
              <a:solidFill>
                <a:srgbClr val="00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FC8A38FB-46E5-D2CB-599C-7B44CE9E87E1}"/>
              </a:ext>
            </a:extLst>
          </p:cNvPr>
          <p:cNvSpPr txBox="1"/>
          <p:nvPr/>
        </p:nvSpPr>
        <p:spPr>
          <a:xfrm>
            <a:off x="4707500" y="1340767"/>
            <a:ext cx="1499128" cy="4616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黑体" pitchFamily="2" charset="-122"/>
              </a:rPr>
              <a:t>H = T + </a:t>
            </a:r>
            <a:r>
              <a:rPr lang="en-US" altLang="zh-CN" sz="2400" b="1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V</a:t>
            </a:r>
            <a:endParaRPr lang="zh-CN" altLang="en-US" sz="2400" b="1" dirty="0">
              <a:solidFill>
                <a:srgbClr val="FF0000"/>
              </a:solidFill>
              <a:latin typeface="Arial" charset="0"/>
              <a:ea typeface="黑体" pitchFamily="2" charset="-122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A3392E7-4D8D-0354-8613-BF8CCA04C03D}"/>
              </a:ext>
            </a:extLst>
          </p:cNvPr>
          <p:cNvCxnSpPr/>
          <p:nvPr/>
        </p:nvCxnSpPr>
        <p:spPr bwMode="auto">
          <a:xfrm flipH="1">
            <a:off x="4059428" y="1916830"/>
            <a:ext cx="648072" cy="2160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BE401A1-012D-8D91-9574-B4184E4F1F8C}"/>
              </a:ext>
            </a:extLst>
          </p:cNvPr>
          <p:cNvCxnSpPr/>
          <p:nvPr/>
        </p:nvCxnSpPr>
        <p:spPr bwMode="auto">
          <a:xfrm>
            <a:off x="6195206" y="1880826"/>
            <a:ext cx="683786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20DD5CD-C635-9C6F-CB04-E9D4C22E26C3}"/>
              </a:ext>
            </a:extLst>
          </p:cNvPr>
          <p:cNvSpPr/>
          <p:nvPr/>
        </p:nvSpPr>
        <p:spPr>
          <a:xfrm>
            <a:off x="6596160" y="2443768"/>
            <a:ext cx="2088232" cy="707886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黑体" pitchFamily="2" charset="-122"/>
              </a:rPr>
              <a:t>势能算符复杂</a:t>
            </a:r>
            <a:endParaRPr lang="en-US" altLang="zh-CN" sz="2000" dirty="0">
              <a:solidFill>
                <a:srgbClr val="000000"/>
              </a:solidFill>
              <a:latin typeface="Arial" charset="0"/>
              <a:ea typeface="黑体" pitchFamily="2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黑体" pitchFamily="2" charset="-122"/>
              </a:rPr>
              <a:t>近似方法（变分）</a:t>
            </a:r>
            <a:endParaRPr lang="en-US" altLang="zh-CN" sz="2000" dirty="0">
              <a:solidFill>
                <a:srgbClr val="000000"/>
              </a:solidFill>
              <a:latin typeface="Arial" charset="0"/>
              <a:ea typeface="黑体" pitchFamily="2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C106456-ABF4-4082-F2CB-09828E6D87F4}"/>
              </a:ext>
            </a:extLst>
          </p:cNvPr>
          <p:cNvCxnSpPr/>
          <p:nvPr/>
        </p:nvCxnSpPr>
        <p:spPr bwMode="auto">
          <a:xfrm>
            <a:off x="5411223" y="898448"/>
            <a:ext cx="0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D9031BB-5AFF-0710-F08C-55BE762C0A9F}"/>
              </a:ext>
            </a:extLst>
          </p:cNvPr>
          <p:cNvCxnSpPr/>
          <p:nvPr/>
        </p:nvCxnSpPr>
        <p:spPr bwMode="auto">
          <a:xfrm>
            <a:off x="7587820" y="3306469"/>
            <a:ext cx="0" cy="11521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24">
            <a:extLst>
              <a:ext uri="{FF2B5EF4-FFF2-40B4-BE49-F238E27FC236}">
                <a16:creationId xmlns:a16="http://schemas.microsoft.com/office/drawing/2014/main" id="{500427A6-1B94-ED7E-CAAD-256C61CD30F8}"/>
              </a:ext>
            </a:extLst>
          </p:cNvPr>
          <p:cNvSpPr txBox="1"/>
          <p:nvPr/>
        </p:nvSpPr>
        <p:spPr>
          <a:xfrm>
            <a:off x="5519936" y="3439675"/>
            <a:ext cx="1723549" cy="70788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黑体" pitchFamily="2" charset="-122"/>
              </a:rPr>
              <a:t>反对称波函数</a:t>
            </a:r>
            <a:endParaRPr lang="en-US" altLang="zh-CN" sz="2000" dirty="0">
              <a:solidFill>
                <a:srgbClr val="000000"/>
              </a:solidFill>
              <a:latin typeface="Arial" charset="0"/>
              <a:ea typeface="黑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黑体" pitchFamily="2" charset="-122"/>
              </a:rPr>
              <a:t>中心场近似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1D3D88AF-240D-7EE7-392B-4E682FCA373A}"/>
              </a:ext>
            </a:extLst>
          </p:cNvPr>
          <p:cNvSpPr txBox="1"/>
          <p:nvPr/>
        </p:nvSpPr>
        <p:spPr>
          <a:xfrm>
            <a:off x="6747686" y="4524198"/>
            <a:ext cx="1680268" cy="4001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 err="1">
                <a:solidFill>
                  <a:srgbClr val="000000"/>
                </a:solidFill>
                <a:latin typeface="Arial" charset="0"/>
                <a:ea typeface="黑体" pitchFamily="2" charset="-122"/>
              </a:rPr>
              <a:t>Hartree-Fock</a:t>
            </a:r>
            <a:endParaRPr lang="zh-CN" altLang="en-US" sz="2000" dirty="0">
              <a:solidFill>
                <a:srgbClr val="00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F1CCA1-843A-7C8A-A8AD-A3FD917891C8}"/>
              </a:ext>
            </a:extLst>
          </p:cNvPr>
          <p:cNvSpPr txBox="1"/>
          <p:nvPr/>
        </p:nvSpPr>
        <p:spPr>
          <a:xfrm>
            <a:off x="7155772" y="5648489"/>
            <a:ext cx="800219" cy="461665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微扰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EFBDDFC-5E6A-F7B9-BAA1-ECE1509D77ED}"/>
              </a:ext>
            </a:extLst>
          </p:cNvPr>
          <p:cNvCxnSpPr/>
          <p:nvPr/>
        </p:nvCxnSpPr>
        <p:spPr bwMode="auto">
          <a:xfrm>
            <a:off x="7575434" y="5013175"/>
            <a:ext cx="0" cy="5929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4342E47-21A8-333F-7825-2719CA5EA45C}"/>
              </a:ext>
            </a:extLst>
          </p:cNvPr>
          <p:cNvCxnSpPr/>
          <p:nvPr/>
        </p:nvCxnSpPr>
        <p:spPr bwMode="auto">
          <a:xfrm>
            <a:off x="8811956" y="2824447"/>
            <a:ext cx="4320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C7E4A8B-D15D-0196-F221-6F0684644FB4}"/>
              </a:ext>
            </a:extLst>
          </p:cNvPr>
          <p:cNvSpPr txBox="1"/>
          <p:nvPr/>
        </p:nvSpPr>
        <p:spPr>
          <a:xfrm>
            <a:off x="9371568" y="2577096"/>
            <a:ext cx="2236510" cy="400110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简单分子轨道理论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B4A3308-FBD3-5455-DD8E-991CF743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22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E618C-DA3B-BD44-AC41-E3575691C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C8B4F6-E04D-C2D5-B88A-2B88ADBA2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836712"/>
            <a:ext cx="8958040" cy="501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51566" y="241684"/>
            <a:ext cx="61915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Treatments of multi-electron systems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7C97E9-E544-73E3-3841-0F2523C78793}"/>
              </a:ext>
            </a:extLst>
          </p:cNvPr>
          <p:cNvSpPr/>
          <p:nvPr/>
        </p:nvSpPr>
        <p:spPr>
          <a:xfrm>
            <a:off x="479376" y="1700808"/>
            <a:ext cx="11023600" cy="3317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14300">
              <a:lnSpc>
                <a:spcPct val="120000"/>
              </a:lnSpc>
              <a:spcAft>
                <a:spcPts val="765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summarize the steps so far in calculations of electronic structure:</a:t>
            </a:r>
          </a:p>
          <a:p>
            <a:pPr marL="899795" indent="-457200">
              <a:lnSpc>
                <a:spcPct val="121000"/>
              </a:lnSpc>
              <a:spcAft>
                <a:spcPts val="360"/>
              </a:spcAft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Born-Oppenheimer approximation (clamped nuclei) to separate electronic from nuclear motion.</a:t>
            </a:r>
          </a:p>
          <a:p>
            <a:pPr marL="899795" indent="-457200">
              <a:lnSpc>
                <a:spcPct val="120000"/>
              </a:lnSpc>
              <a:spcAft>
                <a:spcPts val="540"/>
              </a:spcAft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Independent-electron approximation (central-field approximation in the case of atoms): each electron moves in a potential which is an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interactions with the other electrons. Quantitative calculations via the Self-Consistent Field (SCF) method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(make the wavefunction antisymmetric with respect to exchange)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4B857B-00F1-24E4-DDF9-26128505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58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35360" y="596458"/>
            <a:ext cx="109041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most important issue in independent-particle approximation is how to construct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eigen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function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of Hamiltonian H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0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independent-particle approximation) can be expressed as Slater determinant.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1EBABD-21B7-6E3B-837A-F7B7CC9A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BF4D35-4050-E2ED-2C6E-276C6D34A6FD}"/>
              </a:ext>
            </a:extLst>
          </p:cNvPr>
          <p:cNvSpPr/>
          <p:nvPr/>
        </p:nvSpPr>
        <p:spPr>
          <a:xfrm>
            <a:off x="8472264" y="1628800"/>
            <a:ext cx="1836264" cy="1346197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ECF2591-291B-FAEC-9B8A-6DA8D54C7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264" y="1628800"/>
            <a:ext cx="2263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LCAO-MO:      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63372A-0BEE-7E5F-BFF6-B75B519D2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985" y="2306787"/>
            <a:ext cx="914659" cy="6556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2397569-256D-DC31-9583-2E43F0902158}"/>
              </a:ext>
            </a:extLst>
          </p:cNvPr>
          <p:cNvSpPr txBox="1"/>
          <p:nvPr/>
        </p:nvSpPr>
        <p:spPr>
          <a:xfrm>
            <a:off x="8700723" y="2307595"/>
            <a:ext cx="396262" cy="650223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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DBD4EFF-9269-E341-F3AD-B38234836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692" y="2229722"/>
            <a:ext cx="5544506" cy="1346197"/>
          </a:xfrm>
          <a:prstGeom prst="rect">
            <a:avLst/>
          </a:prstGeom>
        </p:spPr>
      </p:pic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69CC833-91C0-12AD-8436-998FB0B5D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715261"/>
              </p:ext>
            </p:extLst>
          </p:nvPr>
        </p:nvGraphicFramePr>
        <p:xfrm>
          <a:off x="1204260" y="4496285"/>
          <a:ext cx="13462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253800" progId="Equation.DSMT4">
                  <p:embed/>
                </p:oleObj>
              </mc:Choice>
              <mc:Fallback>
                <p:oleObj name="Equation" r:id="rId5" imgW="672840" imgH="253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69CC833-91C0-12AD-8436-998FB0B5DE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260" y="4496285"/>
                        <a:ext cx="13462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6B45568-D9BA-CD15-2D5C-29F233587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626710"/>
              </p:ext>
            </p:extLst>
          </p:nvPr>
        </p:nvGraphicFramePr>
        <p:xfrm>
          <a:off x="1204260" y="3553641"/>
          <a:ext cx="1346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431640" progId="Equation.DSMT4">
                  <p:embed/>
                </p:oleObj>
              </mc:Choice>
              <mc:Fallback>
                <p:oleObj name="Equation" r:id="rId7" imgW="672840" imgH="4316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6B45568-D9BA-CD15-2D5C-29F233587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04260" y="3553641"/>
                        <a:ext cx="13462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38064AA-CE69-1496-CB6E-907284556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511225"/>
              </p:ext>
            </p:extLst>
          </p:nvPr>
        </p:nvGraphicFramePr>
        <p:xfrm>
          <a:off x="3007090" y="4266603"/>
          <a:ext cx="27416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457200" progId="Equation.DSMT4">
                  <p:embed/>
                </p:oleObj>
              </mc:Choice>
              <mc:Fallback>
                <p:oleObj name="Equation" r:id="rId9" imgW="1371600" imgH="457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F38064AA-CE69-1496-CB6E-9072845569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07090" y="4266603"/>
                        <a:ext cx="2741613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585DA1B-CE3F-E4A5-26AF-08DB7AAB9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237584"/>
              </p:ext>
            </p:extLst>
          </p:nvPr>
        </p:nvGraphicFramePr>
        <p:xfrm>
          <a:off x="1271464" y="5373216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3600" imgH="253800" progId="Equation.DSMT4">
                  <p:embed/>
                </p:oleObj>
              </mc:Choice>
              <mc:Fallback>
                <p:oleObj name="Equation" r:id="rId11" imgW="723600" imgH="2538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585DA1B-CE3F-E4A5-26AF-08DB7AAB9D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71464" y="5373216"/>
                        <a:ext cx="1447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">
            <a:extLst>
              <a:ext uri="{FF2B5EF4-FFF2-40B4-BE49-F238E27FC236}">
                <a16:creationId xmlns:a16="http://schemas.microsoft.com/office/drawing/2014/main" id="{DDB5AE67-E35F-9049-55CE-43D4402F9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295" y="3282879"/>
            <a:ext cx="3657188" cy="279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42270" y="262842"/>
            <a:ext cx="64491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Orbital energies in many-electron atoms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21050" y="1159360"/>
                <a:ext cx="6896230" cy="14567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405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the many-electron atom, the operator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405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𝑉</m:t>
                        </m:r>
                      </m:e>
                    </m:acc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=−1/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𝑟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is replaced by the function that behaves like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−1/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𝑟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large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r,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but like 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𝑍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𝑟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near the nucleus.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50" y="1159360"/>
                <a:ext cx="6896230" cy="1456745"/>
              </a:xfrm>
              <a:prstGeom prst="rect">
                <a:avLst/>
              </a:prstGeom>
              <a:blipFill>
                <a:blip r:embed="rId2"/>
                <a:stretch>
                  <a:fillRect l="-1326" t="-837" r="-2476" b="-8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7491904" y="1265602"/>
            <a:ext cx="4229805" cy="4898714"/>
            <a:chOff x="6537292" y="1072055"/>
            <a:chExt cx="5143500" cy="595690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7292" y="1072055"/>
              <a:ext cx="5143500" cy="355282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6513" y="4542932"/>
              <a:ext cx="4972050" cy="2486025"/>
            </a:xfrm>
            <a:prstGeom prst="rect">
              <a:avLst/>
            </a:prstGeom>
          </p:spPr>
        </p:pic>
      </p:grpSp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AE4EF6-BAF0-A477-0C8C-1317EF287933}"/>
              </a:ext>
            </a:extLst>
          </p:cNvPr>
          <p:cNvSpPr txBox="1"/>
          <p:nvPr/>
        </p:nvSpPr>
        <p:spPr>
          <a:xfrm>
            <a:off x="421050" y="2833789"/>
            <a:ext cx="66132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在多电子原子中，轨道的性质与氢原子不同，但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波函数始终存在一个径向节面，因而在原子核附近出现概率密度的峰值；而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径向密度函数则没有节面。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因此，多电子原子中的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电子比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电子更强烈地感受到原子核的吸引作用，导致其能量更低。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951E46-78C6-62DA-8A69-E73381A0C729}"/>
              </a:ext>
            </a:extLst>
          </p:cNvPr>
          <p:cNvSpPr txBox="1"/>
          <p:nvPr/>
        </p:nvSpPr>
        <p:spPr>
          <a:xfrm>
            <a:off x="450182" y="5552511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第六章：变分法研究核有效电荷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25D8DB6-F311-BF3E-8A74-500AE53C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0303" y="343382"/>
            <a:ext cx="11454063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electron is more effectively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screened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the nucleus by the other electrons than a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electron, or equivalently 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electron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penetrates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through the other electrons to the nucleus more effectively than 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Either way, 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orbitals have lower energy than 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the difference in energy increases as we go across the period from Li to Ne.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same thing happens in each row of the periodic table, so the orbital energy level pattern becomes something like the following (omitting 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level):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37" y="3538103"/>
            <a:ext cx="5837997" cy="286879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33265C-626C-190C-E189-3EE83A3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59496" y="445194"/>
            <a:ext cx="88325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energy difference between 2s and 2p increases quite sharply: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086" y="2186320"/>
            <a:ext cx="5667375" cy="37433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69251" y="1056063"/>
          <a:ext cx="45497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740800" imgH="10972800" progId="Equation.DSMT4">
                  <p:embed/>
                </p:oleObj>
              </mc:Choice>
              <mc:Fallback>
                <p:oleObj name="Equation" r:id="rId3" imgW="59740800" imgH="109728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9251" y="1056063"/>
                        <a:ext cx="4549775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6B5E77-B66C-10F9-C274-07F0F3BE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58365" y="1776487"/>
            <a:ext cx="11184097" cy="2819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   Pauli exclusion principle: every orbital may contain only two electrons of opposite spins.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 startAt="2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principle of minimum energy: Whilst being compatible with the Pauli principle, electrons occupy the orbital with the lowest energy first.</a:t>
            </a:r>
          </a:p>
          <a:p>
            <a:pPr marL="457200" marR="0" lvl="0" indent="-45720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 startAt="2"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Hund's First Rule: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the ground configuration of an atom, the term that is lowest in energy has the maximum possible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58365" y="1147393"/>
            <a:ext cx="2201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ground state</a:t>
            </a:r>
          </a:p>
        </p:txBody>
      </p:sp>
      <p:sp>
        <p:nvSpPr>
          <p:cNvPr id="4" name="矩形 3"/>
          <p:cNvSpPr/>
          <p:nvPr/>
        </p:nvSpPr>
        <p:spPr>
          <a:xfrm>
            <a:off x="1275058" y="217218"/>
            <a:ext cx="93507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building up principle and the electronic configurations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BE3B93-1332-A535-FA13-BAF98B46C018}"/>
              </a:ext>
            </a:extLst>
          </p:cNvPr>
          <p:cNvSpPr txBox="1"/>
          <p:nvPr/>
        </p:nvSpPr>
        <p:spPr>
          <a:xfrm>
            <a:off x="3046180" y="500248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多电子原子波函数如何表征？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6AC5E3-9F3C-DF7B-9D07-D4117640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172914-71D3-202E-B22A-9EF0DE144880}"/>
              </a:ext>
            </a:extLst>
          </p:cNvPr>
          <p:cNvSpPr txBox="1"/>
          <p:nvPr/>
        </p:nvSpPr>
        <p:spPr>
          <a:xfrm>
            <a:off x="458992" y="494792"/>
            <a:ext cx="113256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尽管多电子原子中存在复杂的电子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电子排斥，在中心力场 近似下，原子核产生的库仑势是球对称的，这使得整个体系的总哈密顿量具有球对称性。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8CC8B0-2A33-6405-317D-9ADE2A991E13}"/>
              </a:ext>
            </a:extLst>
          </p:cNvPr>
          <p:cNvSpPr txBox="1"/>
          <p:nvPr/>
        </p:nvSpPr>
        <p:spPr>
          <a:xfrm>
            <a:off x="458992" y="1412776"/>
            <a:ext cx="11089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如果一个系统的哈密顿量具有球对称性，那么它与 </a:t>
            </a:r>
            <a:r>
              <a:rPr lang="en-US" altLang="zh-CN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² 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 </a:t>
            </a:r>
            <a:r>
              <a:rPr lang="en-US" altLang="zh-CN" i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对易，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²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 </a:t>
            </a:r>
            <a:r>
              <a:rPr lang="en-US" altLang="zh-CN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Lz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的本征值（即量子数 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 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）在时间演化中是守恒的，</a:t>
            </a:r>
            <a:r>
              <a:rPr lang="zh-CN" altLang="en-US" dirty="0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哈密顿量与</a:t>
            </a:r>
            <a:r>
              <a:rPr lang="en-US" altLang="zh-CN" i="1" dirty="0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² </a:t>
            </a:r>
            <a:r>
              <a:rPr lang="zh-CN" altLang="en-US" dirty="0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 </a:t>
            </a:r>
            <a:r>
              <a:rPr lang="en-US" altLang="zh-CN" i="1" dirty="0" err="1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有共同的本征函数，哈密顿量的本征函数特征可以用其表征。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46848F-F90A-42E9-B0EF-0340817E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E1D731-150B-1DA6-EA50-BBDDD8436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2686908"/>
            <a:ext cx="8134935" cy="400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47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27848" y="235682"/>
            <a:ext cx="25010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Configurations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7368" y="1844824"/>
            <a:ext cx="11617692" cy="2429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1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configuration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of an atom or molecule simply specifies which orbital shells contain electrons.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 comes from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independent-particle approximation.</a:t>
            </a:r>
            <a:endParaRPr kumimoji="0" lang="en-US" altLang="zh-CN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1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the He atom, the ground (lowest-energy) configuration is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excited configurations include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ground configuration of the C atom is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21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closed shell, there is only one pattern:</a:t>
            </a: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9376" y="1268760"/>
            <a:ext cx="2996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368" y="4277751"/>
            <a:ext cx="6237605" cy="4996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1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open shell, the number of the filling patterns:</a:t>
            </a:r>
          </a:p>
        </p:txBody>
      </p:sp>
      <p:sp>
        <p:nvSpPr>
          <p:cNvPr id="3" name="矩形 2"/>
          <p:cNvSpPr/>
          <p:nvPr/>
        </p:nvSpPr>
        <p:spPr>
          <a:xfrm>
            <a:off x="4367808" y="1003671"/>
            <a:ext cx="11929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subshell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接箭头连接符 9"/>
          <p:cNvCxnSpPr>
            <a:stCxn id="3" idx="1"/>
            <a:endCxn id="7" idx="3"/>
          </p:cNvCxnSpPr>
          <p:nvPr/>
        </p:nvCxnSpPr>
        <p:spPr bwMode="auto">
          <a:xfrm flipH="1">
            <a:off x="3475709" y="1234504"/>
            <a:ext cx="892099" cy="26508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030177" y="4941168"/>
          <a:ext cx="236160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46400" imgH="11582400" progId="Equation.DSMT4">
                  <p:embed/>
                </p:oleObj>
              </mc:Choice>
              <mc:Fallback>
                <p:oleObj name="Equation" r:id="rId2" imgW="28346400" imgH="115824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30177" y="4941168"/>
                        <a:ext cx="2361600" cy="96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593287E-4EBB-60CB-D035-8C11CC7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7811" y="227936"/>
            <a:ext cx="30871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7.2 Atomic Spectra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1800" y="1290037"/>
            <a:ext cx="43508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spectrum of atomic hydrogen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984324" y="3062205"/>
          <a:ext cx="126936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0" imgH="9448800" progId="Equation.DSMT4">
                  <p:embed/>
                </p:oleObj>
              </mc:Choice>
              <mc:Fallback>
                <p:oleObj name="Equation" r:id="rId2" imgW="15240000" imgH="94488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324" y="3062205"/>
                        <a:ext cx="1269360" cy="78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61800" y="1843729"/>
            <a:ext cx="106221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state of an electron in a hydrogen atom is specified by three quantum numbers,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and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its energy is given by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4" descr="http://www-physics.ucsd.edu/was-sdphul/labs/2dl/exp5/exp5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078" y="2676542"/>
            <a:ext cx="4783873" cy="2713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984324" y="4033219"/>
          <a:ext cx="96480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82400" imgH="9448800" progId="Equation.DSMT4">
                  <p:embed/>
                </p:oleObj>
              </mc:Choice>
              <mc:Fallback>
                <p:oleObj name="Equation" r:id="rId5" imgW="11582400" imgH="9448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324" y="4033219"/>
                        <a:ext cx="964800" cy="78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3296371" y="5635506"/>
            <a:ext cx="51700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hydrogen to multi-electrons atom?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1894EB5-BE03-4650-3027-A2C41E80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6A09B46-4DCD-D873-7435-F7E35BBD514D}"/>
              </a:ext>
            </a:extLst>
          </p:cNvPr>
          <p:cNvSpPr txBox="1"/>
          <p:nvPr/>
        </p:nvSpPr>
        <p:spPr>
          <a:xfrm>
            <a:off x="623392" y="458083"/>
            <a:ext cx="105131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尽管电子间的排斥并不直接影响自旋，但单独考虑单个电子的自旋没有意义。只能使用总自旋角动量，并用量子数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来描述。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58477F1-482A-7285-C9B0-C3C79338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556792"/>
            <a:ext cx="9836411" cy="4464496"/>
          </a:xfrm>
          <a:prstGeom prst="rect">
            <a:avLst/>
          </a:prstGeom>
        </p:spPr>
      </p:pic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F058165-4BA1-34A6-E951-EEB62E51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42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40C81C6-1A18-4569-ACCD-3DBB9E4E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73" y="764972"/>
            <a:ext cx="3124471" cy="407705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791744" y="548680"/>
            <a:ext cx="7939927" cy="436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电子相互作用打破了氢原子中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的简并性：对于给定的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值越高的状态能量往往越高（因为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越高意味着角动量越大，这样的电子往往离原子核更远，因此内层电子倾向于“屏蔽”原子核）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在真实的原子中，电子相互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，可以交换轨道角动量。其结果是，单个电子的轨道角动量不再具有确定的量值，我们只能通过量子数 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来考虑总轨道角动量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defTabSz="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电子排布将电子描述为：在由所有其他轨道产生的平均场中，每个电子独立地在轨道上运动。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DEAA27A-B95F-EABD-11B9-A74F7DF1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FD36CE-0C6C-BC0D-AED4-705B38520330}"/>
              </a:ext>
            </a:extLst>
          </p:cNvPr>
          <p:cNvSpPr/>
          <p:nvPr/>
        </p:nvSpPr>
        <p:spPr>
          <a:xfrm>
            <a:off x="551384" y="5373216"/>
            <a:ext cx="10871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independent-electron picture of an atom, each electron has well-defined angular momentum quantum numbers </a:t>
            </a:r>
            <a:r>
              <a:rPr lang="en-US" altLang="zh-CN" sz="24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zh-CN" sz="2400" i="1" baseline="-250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400" i="1" dirty="0" err="1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 err="1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dirty="0" err="1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i="1" dirty="0">
              <a:solidFill>
                <a:srgbClr val="2926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439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90771" y="238096"/>
            <a:ext cx="52421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Configurations, terms and levels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402AA8-D8DF-6F8A-7118-069F6A18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97484A-67D7-51C8-B810-3D9722CCBE23}"/>
              </a:ext>
            </a:extLst>
          </p:cNvPr>
          <p:cNvSpPr txBox="1"/>
          <p:nvPr/>
        </p:nvSpPr>
        <p:spPr>
          <a:xfrm>
            <a:off x="407368" y="1844824"/>
            <a:ext cx="11071851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原子或分子的电子组态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仅用于确定哪些电子壳层中存在电子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。对于氦原子，其基态（能量最低）组态为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1s²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；激发态组态则包括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1s2s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1s2p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。碳原子的基态组态为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1s²2s²2p²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电子同时具有轨道角动量和自旋角动量。总轨道角动量记为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；作为角动量，它对应量子数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，其中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L </a:t>
            </a:r>
            <a:r>
              <a:rPr lang="en-US" altLang="zh-CN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- 1,…,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-L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。由于轨道波函数必须是单值的，这些量子数均为整数。同理，体系存在总自旋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，对应量子数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2926B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的特定取值共同定义了一个谱项。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77006A-93EB-F032-D11F-8CD62336ACCD}"/>
              </a:ext>
            </a:extLst>
          </p:cNvPr>
          <p:cNvSpPr txBox="1"/>
          <p:nvPr/>
        </p:nvSpPr>
        <p:spPr>
          <a:xfrm>
            <a:off x="4799856" y="101390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组态、谱项、能级</a:t>
            </a:r>
          </a:p>
        </p:txBody>
      </p:sp>
    </p:spTree>
    <p:extLst>
      <p:ext uri="{BB962C8B-B14F-4D97-AF65-F5344CB8AC3E}">
        <p14:creationId xmlns:p14="http://schemas.microsoft.com/office/powerpoint/2010/main" val="68559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82555" y="482869"/>
            <a:ext cx="11271380" cy="144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total electronic spin angular momentum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total electronic spin angular momentum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of an n-electron atom is defined as the vector sum of the spins of the individual electron:</a:t>
            </a:r>
          </a:p>
        </p:txBody>
      </p:sp>
      <p:graphicFrame>
        <p:nvGraphicFramePr>
          <p:cNvPr id="6" name="Object 0"/>
          <p:cNvGraphicFramePr>
            <a:graphicFrameLocks noChangeAspect="1"/>
          </p:cNvGraphicFramePr>
          <p:nvPr/>
        </p:nvGraphicFramePr>
        <p:xfrm>
          <a:off x="4875719" y="2105408"/>
          <a:ext cx="16906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6765" imgH="342900" progId="Equation.3">
                  <p:embed/>
                </p:oleObj>
              </mc:Choice>
              <mc:Fallback>
                <p:oleObj name="Equation" r:id="rId2" imgW="786765" imgH="342900" progId="Equation.3">
                  <p:embed/>
                  <p:pic>
                    <p:nvPicPr>
                      <p:cNvPr id="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719" y="2105408"/>
                        <a:ext cx="1690688" cy="733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89249" y="2783989"/>
            <a:ext cx="113646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a fixed S value, the quantum number M</a:t>
            </a:r>
            <a:r>
              <a: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takes on </a:t>
            </a:r>
            <a:r>
              <a:rPr kumimoji="1" lang="en-US" altLang="zh-CN" sz="2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2S+1 values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ranging from –S to S. 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01689" y="3330782"/>
            <a:ext cx="1158862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Example: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Find the possible values of the quantum number S for states of carbon atom that arise from the electron configuration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1s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2s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2p3d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Solution: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454784" y="4427312"/>
            <a:ext cx="77724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1s electrons: 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+ ½ - ½ =0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2s electrons: 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+ ½ - ½ =0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2p electrons: 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½     3d electrons: 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½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Addition of two angular momenta rule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8746111" y="611714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 =  1, 0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E819C-EDB8-5A2C-603D-3AD4DC18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466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92108" y="355281"/>
            <a:ext cx="11495092" cy="126188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total electronic orbital angular momentum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total electronic orbital angular momentum of an n-electron atom is defined as the vector sum of the angular momenta of the individual electron: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5463603" y="1968755"/>
          <a:ext cx="16906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6765" imgH="342900" progId="Equation.3">
                  <p:embed/>
                </p:oleObj>
              </mc:Choice>
              <mc:Fallback>
                <p:oleObj name="Equation" r:id="rId2" imgW="786765" imgH="3429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3603" y="1968755"/>
                        <a:ext cx="1690688" cy="733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92359" y="2599223"/>
            <a:ext cx="1145799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total-electronic-orbital-angular-momentum quantum number L of an atom is indicated by a code letter:</a:t>
            </a:r>
          </a:p>
        </p:txBody>
      </p:sp>
      <p:grpSp>
        <p:nvGrpSpPr>
          <p:cNvPr id="7" name="Group 5"/>
          <p:cNvGrpSpPr/>
          <p:nvPr/>
        </p:nvGrpSpPr>
        <p:grpSpPr bwMode="auto">
          <a:xfrm>
            <a:off x="3820404" y="3491855"/>
            <a:ext cx="4977086" cy="830263"/>
            <a:chOff x="480" y="3408"/>
            <a:chExt cx="4944" cy="523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80" y="3408"/>
              <a:ext cx="4944" cy="523"/>
            </a:xfrm>
            <a:prstGeom prst="rect">
              <a:avLst/>
            </a:prstGeom>
            <a:noFill/>
            <a:ln w="9525">
              <a:solidFill>
                <a:srgbClr val="66CC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L 	0	1	2	3	4	5	6	7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Letter	S	P	D	F	G	H	I	K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480" y="3696"/>
              <a:ext cx="49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92359" y="4844341"/>
            <a:ext cx="1173169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 a fixed L value, the quantum number M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ħ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---the z component of the total electronic orbital angular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momentum) takes on </a:t>
            </a:r>
            <a:r>
              <a:rPr kumimoji="1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2L+1 values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ranging from –L to L.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E5133F-94F6-5EC0-409C-EA1BAD2A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756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/>
          <p:cNvGrpSpPr/>
          <p:nvPr/>
        </p:nvGrpSpPr>
        <p:grpSpPr bwMode="auto">
          <a:xfrm>
            <a:off x="2286000" y="804864"/>
            <a:ext cx="7848600" cy="1709737"/>
            <a:chOff x="480" y="507"/>
            <a:chExt cx="4944" cy="1077"/>
          </a:xfrm>
        </p:grpSpPr>
        <p:grpSp>
          <p:nvGrpSpPr>
            <p:cNvPr id="19" name="Group 3"/>
            <p:cNvGrpSpPr/>
            <p:nvPr/>
          </p:nvGrpSpPr>
          <p:grpSpPr bwMode="auto">
            <a:xfrm>
              <a:off x="480" y="945"/>
              <a:ext cx="4944" cy="639"/>
              <a:chOff x="480" y="3408"/>
              <a:chExt cx="4944" cy="639"/>
            </a:xfrm>
          </p:grpSpPr>
          <p:sp>
            <p:nvSpPr>
              <p:cNvPr id="23" name="Text Box 4"/>
              <p:cNvSpPr txBox="1">
                <a:spLocks noChangeArrowheads="1"/>
              </p:cNvSpPr>
              <p:nvPr/>
            </p:nvSpPr>
            <p:spPr bwMode="auto">
              <a:xfrm>
                <a:off x="480" y="3408"/>
                <a:ext cx="4944" cy="63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66CCFF"/>
                </a:solidFill>
                <a:miter lim="800000"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l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	0	1	2	3	4	5	6	7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Letter	s	p	d	f	g	h	</a:t>
                </a:r>
                <a:r>
                  <a:rPr kumimoji="1" lang="en-US" altLang="zh-CN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	k</a:t>
                </a:r>
              </a:p>
            </p:txBody>
          </p:sp>
          <p:sp>
            <p:nvSpPr>
              <p:cNvPr id="24" name="Line 5"/>
              <p:cNvSpPr>
                <a:spLocks noChangeShapeType="1"/>
              </p:cNvSpPr>
              <p:nvPr/>
            </p:nvSpPr>
            <p:spPr bwMode="auto">
              <a:xfrm>
                <a:off x="480" y="3696"/>
                <a:ext cx="4944" cy="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0" name="Text Box 6"/>
            <p:cNvSpPr txBox="1">
              <a:spLocks noChangeArrowheads="1"/>
            </p:cNvSpPr>
            <p:nvPr/>
          </p:nvSpPr>
          <p:spPr bwMode="auto">
            <a:xfrm>
              <a:off x="518" y="539"/>
              <a:ext cx="1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Orbital symbol</a:t>
              </a:r>
            </a:p>
          </p:txBody>
        </p:sp>
        <p:graphicFrame>
          <p:nvGraphicFramePr>
            <p:cNvPr id="21" name="Object 7"/>
            <p:cNvGraphicFramePr>
              <a:graphicFrameLocks noChangeAspect="1"/>
            </p:cNvGraphicFramePr>
            <p:nvPr/>
          </p:nvGraphicFramePr>
          <p:xfrm>
            <a:off x="2265" y="507"/>
            <a:ext cx="1274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93165" imgH="266700" progId="Equation.3">
                    <p:embed/>
                  </p:oleObj>
                </mc:Choice>
                <mc:Fallback>
                  <p:oleObj name="Equation" r:id="rId2" imgW="1193165" imgH="266700" progId="Equation.3">
                    <p:embed/>
                    <p:pic>
                      <p:nvPicPr>
                        <p:cNvPr id="2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5" y="507"/>
                          <a:ext cx="1274" cy="28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8"/>
            <p:cNvGraphicFramePr>
              <a:graphicFrameLocks noChangeAspect="1"/>
            </p:cNvGraphicFramePr>
            <p:nvPr/>
          </p:nvGraphicFramePr>
          <p:xfrm>
            <a:off x="4187" y="535"/>
            <a:ext cx="867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12165" imgH="254000" progId="Equation.3">
                    <p:embed/>
                  </p:oleObj>
                </mc:Choice>
                <mc:Fallback>
                  <p:oleObj name="Equation" r:id="rId4" imgW="812165" imgH="254000" progId="Equation.3">
                    <p:embed/>
                    <p:pic>
                      <p:nvPicPr>
                        <p:cNvPr id="2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7" y="535"/>
                          <a:ext cx="867" cy="27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9"/>
          <p:cNvGrpSpPr/>
          <p:nvPr/>
        </p:nvGrpSpPr>
        <p:grpSpPr bwMode="auto">
          <a:xfrm>
            <a:off x="2346326" y="3657600"/>
            <a:ext cx="7864475" cy="2743200"/>
            <a:chOff x="518" y="2304"/>
            <a:chExt cx="4954" cy="1728"/>
          </a:xfrm>
        </p:grpSpPr>
        <p:grpSp>
          <p:nvGrpSpPr>
            <p:cNvPr id="26" name="Group 10"/>
            <p:cNvGrpSpPr/>
            <p:nvPr/>
          </p:nvGrpSpPr>
          <p:grpSpPr bwMode="auto">
            <a:xfrm>
              <a:off x="528" y="2662"/>
              <a:ext cx="4944" cy="639"/>
              <a:chOff x="480" y="3408"/>
              <a:chExt cx="4944" cy="639"/>
            </a:xfrm>
          </p:grpSpPr>
          <p:sp>
            <p:nvSpPr>
              <p:cNvPr id="32" name="Text Box 11"/>
              <p:cNvSpPr txBox="1">
                <a:spLocks noChangeArrowheads="1"/>
              </p:cNvSpPr>
              <p:nvPr/>
            </p:nvSpPr>
            <p:spPr bwMode="auto">
              <a:xfrm>
                <a:off x="480" y="3408"/>
                <a:ext cx="4944" cy="639"/>
              </a:xfrm>
              <a:prstGeom prst="rect">
                <a:avLst/>
              </a:prstGeom>
              <a:noFill/>
              <a:ln w="9525">
                <a:solidFill>
                  <a:srgbClr val="66CCFF"/>
                </a:solidFill>
                <a:miter lim="800000"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L 	0	1	2	3	4	5	6	7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Letter	S	P	D	F	G	H	I	K</a:t>
                </a:r>
              </a:p>
            </p:txBody>
          </p:sp>
          <p:sp>
            <p:nvSpPr>
              <p:cNvPr id="33" name="Line 12"/>
              <p:cNvSpPr>
                <a:spLocks noChangeShapeType="1"/>
              </p:cNvSpPr>
              <p:nvPr/>
            </p:nvSpPr>
            <p:spPr bwMode="auto">
              <a:xfrm>
                <a:off x="480" y="3696"/>
                <a:ext cx="4944" cy="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518" y="2304"/>
              <a:ext cx="11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Term symbol</a:t>
              </a:r>
            </a:p>
          </p:txBody>
        </p:sp>
        <p:graphicFrame>
          <p:nvGraphicFramePr>
            <p:cNvPr id="28" name="Object 14"/>
            <p:cNvGraphicFramePr>
              <a:graphicFrameLocks noChangeAspect="1"/>
            </p:cNvGraphicFramePr>
            <p:nvPr/>
          </p:nvGraphicFramePr>
          <p:xfrm>
            <a:off x="2134" y="2326"/>
            <a:ext cx="1274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93800" imgH="254000" progId="Equation.3">
                    <p:embed/>
                  </p:oleObj>
                </mc:Choice>
                <mc:Fallback>
                  <p:oleObj name="Equation" r:id="rId6" imgW="1193800" imgH="254000" progId="Equation.3">
                    <p:embed/>
                    <p:pic>
                      <p:nvPicPr>
                        <p:cNvPr id="2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4" y="2326"/>
                          <a:ext cx="1274" cy="27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5"/>
            <p:cNvGraphicFramePr>
              <a:graphicFrameLocks noChangeAspect="1"/>
            </p:cNvGraphicFramePr>
            <p:nvPr/>
          </p:nvGraphicFramePr>
          <p:xfrm>
            <a:off x="4009" y="2311"/>
            <a:ext cx="93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76300" imgH="241300" progId="Equation.3">
                    <p:embed/>
                  </p:oleObj>
                </mc:Choice>
                <mc:Fallback>
                  <p:oleObj name="Equation" r:id="rId8" imgW="876300" imgH="241300" progId="Equation.3">
                    <p:embed/>
                    <p:pic>
                      <p:nvPicPr>
                        <p:cNvPr id="2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9" y="2311"/>
                          <a:ext cx="93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3216" y="3456"/>
              <a:ext cx="17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400" b="0" i="1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= -L, -L+1, …, L</a:t>
              </a:r>
            </a:p>
          </p:txBody>
        </p:sp>
        <p:sp>
          <p:nvSpPr>
            <p:cNvPr id="31" name="Text Box 17"/>
            <p:cNvSpPr txBox="1">
              <a:spLocks noChangeArrowheads="1"/>
            </p:cNvSpPr>
            <p:nvPr/>
          </p:nvSpPr>
          <p:spPr bwMode="auto">
            <a:xfrm>
              <a:off x="3696" y="3744"/>
              <a:ext cx="7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(2</a:t>
              </a:r>
              <a:r>
                <a:rPr kumimoji="1" lang="en-US" altLang="zh-CN" sz="24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+ 1)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06C572-A7F4-A4B5-E3B4-43F3A0A3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914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98106" y="304801"/>
            <a:ext cx="1117807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Example: Find the possible values of the quantum number L for states of carbon atom that arise from the electron configuration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1s</a:t>
            </a:r>
            <a:r>
              <a:rPr kumimoji="1" lang="en-US" altLang="zh-CN" sz="24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2s</a:t>
            </a:r>
            <a:r>
              <a:rPr kumimoji="1" lang="en-US" altLang="zh-CN" sz="24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2p3d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Solution: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570" y="2174083"/>
            <a:ext cx="2895401" cy="1737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229180" y="1628240"/>
            <a:ext cx="4176713" cy="466725"/>
          </a:xfrm>
          <a:prstGeom prst="rect">
            <a:avLst/>
          </a:prstGeom>
          <a:noFill/>
          <a:ln w="9525">
            <a:solidFill>
              <a:srgbClr val="CCE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Angular momentums are vectors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164226" y="1676716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" name="Group 12"/>
          <p:cNvGrpSpPr/>
          <p:nvPr/>
        </p:nvGrpSpPr>
        <p:grpSpPr bwMode="auto">
          <a:xfrm>
            <a:off x="2732178" y="2283099"/>
            <a:ext cx="1728778" cy="2035174"/>
            <a:chOff x="339" y="878"/>
            <a:chExt cx="4896" cy="1282"/>
          </a:xfrm>
        </p:grpSpPr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528" y="1824"/>
              <a:ext cx="2976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632" y="1824"/>
              <a:ext cx="0" cy="33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39" y="878"/>
              <a:ext cx="4896" cy="98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       l=0       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     l=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       l=2</a:t>
              </a:r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67004" y="4227520"/>
            <a:ext cx="112402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total-orbital-angular-momentum quantum number ranges from 1+2 = 3 to |1-2| = 1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5074670" y="5208542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3, 2, 1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8310E2B-F2A0-895E-95E4-C77ADD70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370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EA9385-EE5F-42B8-95D6-A91AE4F3E4B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280639" y="1199449"/>
            <a:ext cx="116307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given electron configuration gives rise in general to several different atomic states.</a:t>
            </a:r>
          </a:p>
        </p:txBody>
      </p:sp>
      <p:sp>
        <p:nvSpPr>
          <p:cNvPr id="291846" name="Text Box 6"/>
          <p:cNvSpPr txBox="1">
            <a:spLocks noChangeArrowheads="1"/>
          </p:cNvSpPr>
          <p:nvPr/>
        </p:nvSpPr>
        <p:spPr bwMode="auto">
          <a:xfrm>
            <a:off x="5316364" y="2028896"/>
            <a:ext cx="4972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291847" name="Text Box 7"/>
          <p:cNvSpPr txBox="1">
            <a:spLocks noChangeArrowheads="1"/>
          </p:cNvSpPr>
          <p:nvPr/>
        </p:nvSpPr>
        <p:spPr bwMode="auto">
          <a:xfrm>
            <a:off x="4905202" y="1952696"/>
            <a:ext cx="7232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+ 1</a:t>
            </a:r>
          </a:p>
        </p:txBody>
      </p:sp>
      <p:sp>
        <p:nvSpPr>
          <p:cNvPr id="291848" name="Text Box 8"/>
          <p:cNvSpPr txBox="1">
            <a:spLocks noChangeArrowheads="1"/>
          </p:cNvSpPr>
          <p:nvPr/>
        </p:nvSpPr>
        <p:spPr bwMode="auto">
          <a:xfrm>
            <a:off x="2521629" y="2793081"/>
            <a:ext cx="36182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degeneracy: (2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+ 1)(2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+ 1)</a:t>
            </a:r>
          </a:p>
        </p:txBody>
      </p:sp>
      <p:sp>
        <p:nvSpPr>
          <p:cNvPr id="291850" name="Text Box 10"/>
          <p:cNvSpPr txBox="1">
            <a:spLocks noChangeArrowheads="1"/>
          </p:cNvSpPr>
          <p:nvPr/>
        </p:nvSpPr>
        <p:spPr bwMode="auto">
          <a:xfrm>
            <a:off x="6514849" y="2793081"/>
            <a:ext cx="36391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Electron-spin multiplicity: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2S + 1</a:t>
            </a:r>
          </a:p>
        </p:txBody>
      </p:sp>
      <p:sp>
        <p:nvSpPr>
          <p:cNvPr id="8" name="矩形 7"/>
          <p:cNvSpPr/>
          <p:nvPr/>
        </p:nvSpPr>
        <p:spPr>
          <a:xfrm>
            <a:off x="5000036" y="289259"/>
            <a:ext cx="23349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Term symbols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4746" y="3423217"/>
            <a:ext cx="11498867" cy="2320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0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information is presented in the form of a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term symbol.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central item represents the quantum number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but it is expressed as a letter: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etc., for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etc. It is conventional to use lower-case letters for one-electron properties and upper-case for many-electron properties, and these letters follow the scheme used for one-electron orbital angular momenta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2822-775C-4C8C-8E64-03F21777E97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551384" y="1268760"/>
            <a:ext cx="71628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Configurations of Completely filled subshells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M</a:t>
            </a:r>
            <a:r>
              <a: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si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=0     --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      S=0</a:t>
            </a:r>
            <a:endParaRPr kumimoji="1" lang="en-US" altLang="zh-CN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M</a:t>
            </a:r>
            <a:r>
              <a: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l</a:t>
            </a:r>
            <a:r>
              <a:rPr kumimoji="1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=0     --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       L=0</a:t>
            </a:r>
            <a:endParaRPr kumimoji="1" lang="en-US" altLang="zh-CN" sz="24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Only one term:      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5885108" y="3773418"/>
            <a:ext cx="57555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 need not worry about any restrictions imposed by the exclusion principle</a:t>
            </a: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856184" y="4887353"/>
            <a:ext cx="4267200" cy="1014413"/>
          </a:xfrm>
          <a:prstGeom prst="rect">
            <a:avLst/>
          </a:prstGeom>
          <a:noFill/>
          <a:ln w="9525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sz="24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=1, </a:t>
            </a:r>
            <a:r>
              <a:rPr kumimoji="1" lang="en-US" altLang="zh-CN" sz="24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en-US" altLang="zh-CN" sz="24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                 L=  2, 1,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s1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½   m</a:t>
            </a:r>
            <a:r>
              <a:rPr kumimoji="1" lang="en-US" altLang="zh-CN" sz="2400" b="0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s2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½    S=1, 0</a:t>
            </a:r>
          </a:p>
        </p:txBody>
      </p:sp>
      <p:grpSp>
        <p:nvGrpSpPr>
          <p:cNvPr id="28" name="Group 10"/>
          <p:cNvGrpSpPr/>
          <p:nvPr/>
        </p:nvGrpSpPr>
        <p:grpSpPr bwMode="auto">
          <a:xfrm>
            <a:off x="6237854" y="4985415"/>
            <a:ext cx="3101975" cy="938213"/>
            <a:chOff x="3456" y="3264"/>
            <a:chExt cx="1954" cy="591"/>
          </a:xfrm>
        </p:grpSpPr>
        <p:sp>
          <p:nvSpPr>
            <p:cNvPr id="29" name="Line 6"/>
            <p:cNvSpPr>
              <a:spLocks noChangeShapeType="1"/>
            </p:cNvSpPr>
            <p:nvPr/>
          </p:nvSpPr>
          <p:spPr bwMode="auto">
            <a:xfrm>
              <a:off x="3456" y="3504"/>
              <a:ext cx="38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3606" y="3264"/>
              <a:ext cx="1770" cy="291"/>
            </a:xfrm>
            <a:prstGeom prst="rect">
              <a:avLst/>
            </a:prstGeom>
            <a:noFill/>
            <a:ln w="9525">
              <a:solidFill>
                <a:srgbClr val="FF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D, </a:t>
              </a:r>
              <a:r>
                <a:rPr kumimoji="1" lang="en-US" altLang="zh-CN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D, </a:t>
              </a:r>
              <a:r>
                <a:rPr kumimoji="1" lang="en-US" altLang="zh-CN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P, </a:t>
              </a:r>
              <a:r>
                <a:rPr kumimoji="1" lang="en-US" altLang="zh-CN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P, </a:t>
              </a:r>
              <a:r>
                <a:rPr kumimoji="1" lang="en-US" altLang="zh-CN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S, </a:t>
              </a:r>
              <a:r>
                <a:rPr kumimoji="1" lang="en-US" altLang="zh-CN" sz="2400" b="0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4162" y="3567"/>
              <a:ext cx="1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terms</a:t>
              </a:r>
            </a:p>
          </p:txBody>
        </p:sp>
      </p:grp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551384" y="3632054"/>
            <a:ext cx="4572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eriod" startAt="2"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Nonequivalent electrons.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(2p)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(3p)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2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77405" y="224895"/>
            <a:ext cx="44423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Derivation of Atomic Terms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33919F-EEF0-6385-4763-EE51CC39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A5CB214-7248-A90A-F29C-58F4502FA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2" y="530134"/>
            <a:ext cx="27606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c.  Equivalent electrons : 1s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2s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2p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E847C2B-F8C5-60A1-B55E-CF241303C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2" y="2140514"/>
            <a:ext cx="2495936" cy="2246769"/>
          </a:xfrm>
          <a:prstGeom prst="rect">
            <a:avLst/>
          </a:prstGeom>
          <a:noFill/>
          <a:ln w="9525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Equivalent electrons have the same value of n and the same value of l. Two electrons should avoid to have the same four quantum numbers.</a:t>
            </a:r>
          </a:p>
        </p:txBody>
      </p:sp>
      <p:pic>
        <p:nvPicPr>
          <p:cNvPr id="8" name="Picture 121">
            <a:extLst>
              <a:ext uri="{FF2B5EF4-FFF2-40B4-BE49-F238E27FC236}">
                <a16:creationId xmlns:a16="http://schemas.microsoft.com/office/drawing/2014/main" id="{902F1124-2BB2-E5AD-3CB7-7EB8D35E5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790" y="136524"/>
            <a:ext cx="6034088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9" name="Group 2">
            <a:extLst>
              <a:ext uri="{FF2B5EF4-FFF2-40B4-BE49-F238E27FC236}">
                <a16:creationId xmlns:a16="http://schemas.microsoft.com/office/drawing/2014/main" id="{058F4202-5E3F-56C2-6ADD-72D97588256D}"/>
              </a:ext>
            </a:extLst>
          </p:cNvPr>
          <p:cNvGrpSpPr>
            <a:grpSpLocks/>
          </p:cNvGrpSpPr>
          <p:nvPr/>
        </p:nvGrpSpPr>
        <p:grpSpPr bwMode="auto">
          <a:xfrm>
            <a:off x="3474840" y="977899"/>
            <a:ext cx="3124200" cy="304800"/>
            <a:chOff x="171" y="624"/>
            <a:chExt cx="1968" cy="192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0DB14295-EEE4-34DF-9C60-5C53D64FC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6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FB9AC3B0-1D21-F754-7B60-9F123C5AD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" y="62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F62EB041-9039-056B-05F1-B5765C071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62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DECC02FF-F4D8-A6A2-C3A0-A16A3D82F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6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DC3DF67D-2E95-ED67-2239-4AA7D647A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6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49059983-05D0-76FE-51A0-595239A390A8}"/>
              </a:ext>
            </a:extLst>
          </p:cNvPr>
          <p:cNvGrpSpPr>
            <a:grpSpLocks/>
          </p:cNvGrpSpPr>
          <p:nvPr/>
        </p:nvGrpSpPr>
        <p:grpSpPr bwMode="auto">
          <a:xfrm>
            <a:off x="3474840" y="1358899"/>
            <a:ext cx="3124200" cy="304800"/>
            <a:chOff x="171" y="864"/>
            <a:chExt cx="1968" cy="192"/>
          </a:xfrm>
        </p:grpSpPr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1AC1378D-0168-DD7C-9749-D2F9FC473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8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DC4546F3-340D-74B7-BE67-81317BD59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8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2224333E-73F9-BF4F-AF51-E77388333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8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8D06E02E-F52F-185C-677E-4C99AB7CCF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" y="86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2C523885-42A7-E67C-8630-886A54EFB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5" y="86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</p:grpSp>
      <p:sp>
        <p:nvSpPr>
          <p:cNvPr id="21" name="Rectangle 18">
            <a:extLst>
              <a:ext uri="{FF2B5EF4-FFF2-40B4-BE49-F238E27FC236}">
                <a16:creationId xmlns:a16="http://schemas.microsoft.com/office/drawing/2014/main" id="{A5E8B34F-EDFB-772D-5A44-F0A0BBB9A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240" y="977899"/>
            <a:ext cx="1371600" cy="304800"/>
          </a:xfrm>
          <a:prstGeom prst="rect">
            <a:avLst/>
          </a:prstGeom>
          <a:solidFill>
            <a:srgbClr val="99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1C5527E1-98CA-0D04-36EE-1A2646C04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240" y="1358899"/>
            <a:ext cx="1371600" cy="304800"/>
          </a:xfrm>
          <a:prstGeom prst="rect">
            <a:avLst/>
          </a:prstGeom>
          <a:solidFill>
            <a:srgbClr val="99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BECD3BBF-A557-4420-93C4-D8C8A9D60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040" y="977899"/>
            <a:ext cx="1371600" cy="304800"/>
          </a:xfrm>
          <a:prstGeom prst="rect">
            <a:avLst/>
          </a:prstGeom>
          <a:solidFill>
            <a:srgbClr val="99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C94F84C8-FFAD-E36D-01BA-B8644C4A0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040" y="1358899"/>
            <a:ext cx="1371600" cy="304800"/>
          </a:xfrm>
          <a:prstGeom prst="rect">
            <a:avLst/>
          </a:prstGeom>
          <a:solidFill>
            <a:srgbClr val="99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5" name="Group 22">
            <a:extLst>
              <a:ext uri="{FF2B5EF4-FFF2-40B4-BE49-F238E27FC236}">
                <a16:creationId xmlns:a16="http://schemas.microsoft.com/office/drawing/2014/main" id="{E9DE54A2-3AC3-74C3-60AE-50F18759DB6B}"/>
              </a:ext>
            </a:extLst>
          </p:cNvPr>
          <p:cNvGrpSpPr>
            <a:grpSpLocks/>
          </p:cNvGrpSpPr>
          <p:nvPr/>
        </p:nvGrpSpPr>
        <p:grpSpPr bwMode="auto">
          <a:xfrm>
            <a:off x="3474840" y="1739899"/>
            <a:ext cx="6019800" cy="4876800"/>
            <a:chOff x="180" y="1104"/>
            <a:chExt cx="3792" cy="3072"/>
          </a:xfrm>
        </p:grpSpPr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9713B66D-88A6-975C-0BCC-279691FF1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20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86D873BB-70A9-790A-417D-B96A2CE59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11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194DDEED-1DB0-D022-E180-4AA75CDCA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13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B20D71DB-A572-573A-86C9-3016598FB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15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118A86A5-C027-43C2-BF70-2C58389D0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18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BA8B6DFA-F074-2C38-6BAF-D77D3EB8E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32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7DA1A26F-B177-7AAC-20B7-5281C8D63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30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D8640643-1675-C823-5A5B-FD804CDED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27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F82ED22A-2BA5-7E54-9E78-39312AE6C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25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8D74755B-DD34-D699-59AE-3D66096F3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23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6C6FE8A2-5EC6-281E-3671-12F130BEF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37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F568AAB7-4C9D-AB01-2C33-894DD68B3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35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055E2DDC-AF83-6936-A3AC-18955D925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39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25022678-0767-4D42-4D94-4B09BC80F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37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B0EBA82F-DD48-E096-660B-2D6700161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35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86332D82-53D9-4CF3-8141-6D4E5F43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32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7253232F-C4CC-ED96-DE93-D4298FC77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30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D45B16B2-D19B-814F-0698-02FBC17FF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7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FB5354FF-73C9-18DA-6710-33A4E2559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5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9100A562-953F-8BE3-1CA7-871BEDE0C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3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F4D0C720-95B8-CB57-0ACC-98D59413F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0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B12D1929-E26D-30C0-F024-54A4C560D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18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78CA197F-7759-8076-B826-048EA55D8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15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A4D02A88-EFFF-135B-9267-FE23CD567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39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C3C64140-E9BE-F9D9-AA9C-7D6B510D2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13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2F67C9E9-0B06-51DF-5229-901B9B5F7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11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52835F6F-6CEC-F3F8-EFBA-B994BFFD5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11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F5F1D60C-F79B-983B-43CA-4BF1E5B91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13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4" name="Rectangle 51">
              <a:extLst>
                <a:ext uri="{FF2B5EF4-FFF2-40B4-BE49-F238E27FC236}">
                  <a16:creationId xmlns:a16="http://schemas.microsoft.com/office/drawing/2014/main" id="{52681FEC-3B0A-5FC4-3193-7B6FCFBC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15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00FFBB5B-48D7-4696-EECB-FBE1A8D7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18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6" name="Rectangle 53">
              <a:extLst>
                <a:ext uri="{FF2B5EF4-FFF2-40B4-BE49-F238E27FC236}">
                  <a16:creationId xmlns:a16="http://schemas.microsoft.com/office/drawing/2014/main" id="{FEC8DA7A-86C4-4AFF-7CE0-F02A5D52A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20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7" name="Rectangle 54">
              <a:extLst>
                <a:ext uri="{FF2B5EF4-FFF2-40B4-BE49-F238E27FC236}">
                  <a16:creationId xmlns:a16="http://schemas.microsoft.com/office/drawing/2014/main" id="{15C1AABF-39CC-318D-8B11-FFFD1B87A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23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8" name="Rectangle 55">
              <a:extLst>
                <a:ext uri="{FF2B5EF4-FFF2-40B4-BE49-F238E27FC236}">
                  <a16:creationId xmlns:a16="http://schemas.microsoft.com/office/drawing/2014/main" id="{A9DF1952-CC23-9333-08A8-B7BF82162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25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060E6ACC-6A6A-E168-8B3F-21DC09086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27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0" name="Rectangle 57">
              <a:extLst>
                <a:ext uri="{FF2B5EF4-FFF2-40B4-BE49-F238E27FC236}">
                  <a16:creationId xmlns:a16="http://schemas.microsoft.com/office/drawing/2014/main" id="{6AFFB6FA-7DC3-D485-B4D8-026D35447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302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id="{F4788173-5B57-B82B-39E3-D940CDEE4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326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2" name="Rectangle 59">
              <a:extLst>
                <a:ext uri="{FF2B5EF4-FFF2-40B4-BE49-F238E27FC236}">
                  <a16:creationId xmlns:a16="http://schemas.microsoft.com/office/drawing/2014/main" id="{0780E7F6-AAD8-C607-8074-D0AA45B90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350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3" name="Rectangle 60">
              <a:extLst>
                <a:ext uri="{FF2B5EF4-FFF2-40B4-BE49-F238E27FC236}">
                  <a16:creationId xmlns:a16="http://schemas.microsoft.com/office/drawing/2014/main" id="{F259FF4A-AC77-EE41-F891-9C43F2788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374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4" name="Rectangle 61">
              <a:extLst>
                <a:ext uri="{FF2B5EF4-FFF2-40B4-BE49-F238E27FC236}">
                  <a16:creationId xmlns:a16="http://schemas.microsoft.com/office/drawing/2014/main" id="{894F3304-F8F4-B944-64EB-C6C72C121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3984"/>
              <a:ext cx="624" cy="19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83CE8B88-780B-BEB2-C9C7-CED84CDE33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" y="110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7C238D5E-E2BF-1D29-D6B3-5A5D3AE66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" y="158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3303D7F8-E1F1-BCFE-0604-D9FDCAE05A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" y="182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CEC0B443-BA24-9CA1-EAA9-CA98D534C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4" y="134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001CDB2C-F6B2-8110-8148-58AC10FBD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110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2DE9BC3B-EA01-CE38-1C95-7C0115D9F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34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DD31B4B9-CEA0-9385-EF01-5E2FC1FF1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6" y="158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A781D2FE-EAB2-F0E9-4FAC-79DCEA3BF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182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E8B8B0B5-F91E-4183-107C-E30AABD09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206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510DCBD2-C829-9C3D-6C0A-AFB84083D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6" y="206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0077FAA8-3A61-D58A-3E46-9916797F2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4" y="230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D9605ADB-FC3F-6612-5F41-20242CB77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230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6B681A5D-651E-382F-E194-DDE970055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254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F9E3D736-1EC7-9B6A-EC8B-9A4EC33EE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" y="254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35DB96A2-29B1-F41B-5148-5443D5679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278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7F4CE6AA-D855-6D8B-D032-E9F76DB21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278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7A17DE15-E8CA-9720-8C7C-3F85F50C60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4" y="302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C764267B-225E-5486-BF42-469B8ABB2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6" y="302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F3E2AF4C-F7FB-0F3F-BCAE-7AB272380D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4" y="326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3C822392-792D-1CE1-8248-E02FB1DF4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326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DB631C71-6F83-35FA-C787-F602781FE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350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C90E7313-D3EC-013C-BDB5-D58547EBB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6" y="350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9734916C-4246-1E2B-9225-61EE3B237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374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A332E5D6-11D6-AF08-A864-265A0A747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374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EF9E268D-0E74-F73B-94F9-A6A988419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398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4C00EA11-9A1F-4CF5-60F4-D9F2908E1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6" y="3984"/>
              <a:ext cx="0" cy="192"/>
            </a:xfrm>
            <a:prstGeom prst="line">
              <a:avLst/>
            </a:prstGeom>
            <a:noFill/>
            <a:ln w="38100">
              <a:solidFill>
                <a:srgbClr val="DEF6F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1" name="Rectangle 88">
              <a:extLst>
                <a:ext uri="{FF2B5EF4-FFF2-40B4-BE49-F238E27FC236}">
                  <a16:creationId xmlns:a16="http://schemas.microsoft.com/office/drawing/2014/main" id="{A6866E29-B4DE-F850-1B70-0F486CA0A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10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" name="Rectangle 89">
              <a:extLst>
                <a:ext uri="{FF2B5EF4-FFF2-40B4-BE49-F238E27FC236}">
                  <a16:creationId xmlns:a16="http://schemas.microsoft.com/office/drawing/2014/main" id="{337B9E99-7044-F0C8-B6BA-1D0633DFE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34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3" name="Rectangle 90">
              <a:extLst>
                <a:ext uri="{FF2B5EF4-FFF2-40B4-BE49-F238E27FC236}">
                  <a16:creationId xmlns:a16="http://schemas.microsoft.com/office/drawing/2014/main" id="{013D853A-6EDA-E461-B223-D78C05E48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58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4" name="Rectangle 91">
              <a:extLst>
                <a:ext uri="{FF2B5EF4-FFF2-40B4-BE49-F238E27FC236}">
                  <a16:creationId xmlns:a16="http://schemas.microsoft.com/office/drawing/2014/main" id="{A1BF74B9-698B-9909-A67F-1D6E4EBD1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182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95" name="Rectangle 92">
              <a:extLst>
                <a:ext uri="{FF2B5EF4-FFF2-40B4-BE49-F238E27FC236}">
                  <a16:creationId xmlns:a16="http://schemas.microsoft.com/office/drawing/2014/main" id="{EF5A9CC9-E3AD-CFE4-8D45-3EB0B60DD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206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6" name="Rectangle 93">
              <a:extLst>
                <a:ext uri="{FF2B5EF4-FFF2-40B4-BE49-F238E27FC236}">
                  <a16:creationId xmlns:a16="http://schemas.microsoft.com/office/drawing/2014/main" id="{ED20E3C8-AEE4-EC07-1993-B0D7A93CE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230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7" name="Rectangle 94">
              <a:extLst>
                <a:ext uri="{FF2B5EF4-FFF2-40B4-BE49-F238E27FC236}">
                  <a16:creationId xmlns:a16="http://schemas.microsoft.com/office/drawing/2014/main" id="{5D86F724-FFAF-12E4-74FB-63C3B7997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254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8" name="Rectangle 95">
              <a:extLst>
                <a:ext uri="{FF2B5EF4-FFF2-40B4-BE49-F238E27FC236}">
                  <a16:creationId xmlns:a16="http://schemas.microsoft.com/office/drawing/2014/main" id="{95630D94-E12D-5F62-638E-4CB306462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278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9" name="Rectangle 96">
              <a:extLst>
                <a:ext uri="{FF2B5EF4-FFF2-40B4-BE49-F238E27FC236}">
                  <a16:creationId xmlns:a16="http://schemas.microsoft.com/office/drawing/2014/main" id="{7EC0B60F-2AE6-432A-E789-8EC6A1F86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302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00" name="Rectangle 97">
              <a:extLst>
                <a:ext uri="{FF2B5EF4-FFF2-40B4-BE49-F238E27FC236}">
                  <a16:creationId xmlns:a16="http://schemas.microsoft.com/office/drawing/2014/main" id="{5D6B87A1-85D1-6412-3611-4ED109A7C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326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01" name="Rectangle 98">
              <a:extLst>
                <a:ext uri="{FF2B5EF4-FFF2-40B4-BE49-F238E27FC236}">
                  <a16:creationId xmlns:a16="http://schemas.microsoft.com/office/drawing/2014/main" id="{0F38673E-1805-92FE-13BD-D2191C3A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350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02" name="Rectangle 99">
              <a:extLst>
                <a:ext uri="{FF2B5EF4-FFF2-40B4-BE49-F238E27FC236}">
                  <a16:creationId xmlns:a16="http://schemas.microsoft.com/office/drawing/2014/main" id="{88477448-7ED6-D94F-D687-7C21C6BB5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374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03" name="Rectangle 100">
              <a:extLst>
                <a:ext uri="{FF2B5EF4-FFF2-40B4-BE49-F238E27FC236}">
                  <a16:creationId xmlns:a16="http://schemas.microsoft.com/office/drawing/2014/main" id="{697C1653-5D40-28E9-9998-810F09F41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398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104" name="Rectangle 101">
              <a:extLst>
                <a:ext uri="{FF2B5EF4-FFF2-40B4-BE49-F238E27FC236}">
                  <a16:creationId xmlns:a16="http://schemas.microsoft.com/office/drawing/2014/main" id="{DA5B161C-D0BE-D92E-A4AF-EBF861055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110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5" name="Rectangle 102">
              <a:extLst>
                <a:ext uri="{FF2B5EF4-FFF2-40B4-BE49-F238E27FC236}">
                  <a16:creationId xmlns:a16="http://schemas.microsoft.com/office/drawing/2014/main" id="{E8235D0C-F07A-B943-D4E3-E7474668E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134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6" name="Rectangle 103">
              <a:extLst>
                <a:ext uri="{FF2B5EF4-FFF2-40B4-BE49-F238E27FC236}">
                  <a16:creationId xmlns:a16="http://schemas.microsoft.com/office/drawing/2014/main" id="{92F1DBCE-F5A5-927D-C29F-B7CBD3896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158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7" name="Rectangle 104">
              <a:extLst>
                <a:ext uri="{FF2B5EF4-FFF2-40B4-BE49-F238E27FC236}">
                  <a16:creationId xmlns:a16="http://schemas.microsoft.com/office/drawing/2014/main" id="{7C0B5B7F-4027-5B50-96F0-BF4675513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182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8" name="Rectangle 105">
              <a:extLst>
                <a:ext uri="{FF2B5EF4-FFF2-40B4-BE49-F238E27FC236}">
                  <a16:creationId xmlns:a16="http://schemas.microsoft.com/office/drawing/2014/main" id="{C75364A5-2D92-17F2-25E0-20AC1EBEC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206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9" name="Rectangle 106">
              <a:extLst>
                <a:ext uri="{FF2B5EF4-FFF2-40B4-BE49-F238E27FC236}">
                  <a16:creationId xmlns:a16="http://schemas.microsoft.com/office/drawing/2014/main" id="{6E426A70-6209-C0AE-A489-20DB650BD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230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" name="Rectangle 107">
              <a:extLst>
                <a:ext uri="{FF2B5EF4-FFF2-40B4-BE49-F238E27FC236}">
                  <a16:creationId xmlns:a16="http://schemas.microsoft.com/office/drawing/2014/main" id="{8B8ED534-1E37-7271-6FC0-8E08712BC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254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11" name="Rectangle 108">
              <a:extLst>
                <a:ext uri="{FF2B5EF4-FFF2-40B4-BE49-F238E27FC236}">
                  <a16:creationId xmlns:a16="http://schemas.microsoft.com/office/drawing/2014/main" id="{AAC3950E-717E-57F8-EAA7-F6CD54E86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278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12" name="Rectangle 109">
              <a:extLst>
                <a:ext uri="{FF2B5EF4-FFF2-40B4-BE49-F238E27FC236}">
                  <a16:creationId xmlns:a16="http://schemas.microsoft.com/office/drawing/2014/main" id="{78112441-1F0A-D7EB-AC26-F48708F29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302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3" name="Rectangle 110">
              <a:extLst>
                <a:ext uri="{FF2B5EF4-FFF2-40B4-BE49-F238E27FC236}">
                  <a16:creationId xmlns:a16="http://schemas.microsoft.com/office/drawing/2014/main" id="{61E76E57-AB63-83CA-27C8-FA48D6EEC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326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4" name="Rectangle 111">
              <a:extLst>
                <a:ext uri="{FF2B5EF4-FFF2-40B4-BE49-F238E27FC236}">
                  <a16:creationId xmlns:a16="http://schemas.microsoft.com/office/drawing/2014/main" id="{A640BBA7-0504-DA7D-5F76-BD61672E6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350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5" name="Rectangle 112">
              <a:extLst>
                <a:ext uri="{FF2B5EF4-FFF2-40B4-BE49-F238E27FC236}">
                  <a16:creationId xmlns:a16="http://schemas.microsoft.com/office/drawing/2014/main" id="{CEA2D91C-0B5E-29F9-E47B-9F72F2793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374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16" name="Rectangle 113">
              <a:extLst>
                <a:ext uri="{FF2B5EF4-FFF2-40B4-BE49-F238E27FC236}">
                  <a16:creationId xmlns:a16="http://schemas.microsoft.com/office/drawing/2014/main" id="{126B64B7-58CF-B461-53FF-74DBA1CE0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3984"/>
              <a:ext cx="864" cy="192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17" name="AutoShape 114">
            <a:extLst>
              <a:ext uri="{FF2B5EF4-FFF2-40B4-BE49-F238E27FC236}">
                <a16:creationId xmlns:a16="http://schemas.microsoft.com/office/drawing/2014/main" id="{2AFB3BEB-EFF0-8791-753B-935CD8FED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7090" y="215899"/>
            <a:ext cx="1981200" cy="533400"/>
          </a:xfrm>
          <a:prstGeom prst="wedgeRectCallout">
            <a:avLst>
              <a:gd name="adj1" fmla="val -175722"/>
              <a:gd name="adj2" fmla="val 113690"/>
            </a:avLst>
          </a:prstGeom>
          <a:solidFill>
            <a:srgbClr val="0000FF"/>
          </a:solidFill>
          <a:ln w="28575">
            <a:solidFill>
              <a:srgbClr val="DEF6F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1+1=2</a:t>
            </a:r>
          </a:p>
        </p:txBody>
      </p:sp>
      <p:sp>
        <p:nvSpPr>
          <p:cNvPr id="118" name="AutoShape 115">
            <a:extLst>
              <a:ext uri="{FF2B5EF4-FFF2-40B4-BE49-F238E27FC236}">
                <a16:creationId xmlns:a16="http://schemas.microsoft.com/office/drawing/2014/main" id="{780F4BE6-D5AE-5191-E16F-EAC4BF13C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7090" y="1130299"/>
            <a:ext cx="1981200" cy="533400"/>
          </a:xfrm>
          <a:prstGeom prst="wedgeRectCallout">
            <a:avLst>
              <a:gd name="adj1" fmla="val -93190"/>
              <a:gd name="adj2" fmla="val -47319"/>
            </a:avLst>
          </a:prstGeom>
          <a:solidFill>
            <a:srgbClr val="0000FF"/>
          </a:solidFill>
          <a:ln w="28575">
            <a:solidFill>
              <a:srgbClr val="DEF6F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1/2+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（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-1/2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）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=0</a:t>
            </a:r>
          </a:p>
        </p:txBody>
      </p:sp>
      <p:sp>
        <p:nvSpPr>
          <p:cNvPr id="119" name="AutoShape 116">
            <a:extLst>
              <a:ext uri="{FF2B5EF4-FFF2-40B4-BE49-F238E27FC236}">
                <a16:creationId xmlns:a16="http://schemas.microsoft.com/office/drawing/2014/main" id="{73D46F60-914E-CF11-463A-511570633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7090" y="2730499"/>
            <a:ext cx="1981200" cy="533400"/>
          </a:xfrm>
          <a:prstGeom prst="wedgeRectCallout">
            <a:avLst>
              <a:gd name="adj1" fmla="val -163704"/>
              <a:gd name="adj2" fmla="val -280060"/>
            </a:avLst>
          </a:prstGeom>
          <a:solidFill>
            <a:srgbClr val="0000FF"/>
          </a:solidFill>
          <a:ln w="28575">
            <a:solidFill>
              <a:srgbClr val="DEF6F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1+0=1</a:t>
            </a:r>
          </a:p>
        </p:txBody>
      </p:sp>
      <p:sp>
        <p:nvSpPr>
          <p:cNvPr id="120" name="AutoShape 117">
            <a:extLst>
              <a:ext uri="{FF2B5EF4-FFF2-40B4-BE49-F238E27FC236}">
                <a16:creationId xmlns:a16="http://schemas.microsoft.com/office/drawing/2014/main" id="{813BA00F-4DF8-1665-E2AD-536B6E5BB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7090" y="1892299"/>
            <a:ext cx="1981200" cy="533400"/>
          </a:xfrm>
          <a:prstGeom prst="wedgeRectCallout">
            <a:avLst>
              <a:gd name="adj1" fmla="val -92949"/>
              <a:gd name="adj2" fmla="val -123514"/>
            </a:avLst>
          </a:prstGeom>
          <a:solidFill>
            <a:srgbClr val="0000FF"/>
          </a:solidFill>
          <a:ln w="28575">
            <a:solidFill>
              <a:srgbClr val="DEF6F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1/2+1/2=1</a:t>
            </a:r>
          </a:p>
        </p:txBody>
      </p:sp>
    </p:spTree>
    <p:extLst>
      <p:ext uri="{BB962C8B-B14F-4D97-AF65-F5344CB8AC3E}">
        <p14:creationId xmlns:p14="http://schemas.microsoft.com/office/powerpoint/2010/main" val="312244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21" grpId="0" animBg="1" autoUpdateAnimBg="0"/>
      <p:bldP spid="22" grpId="0" animBg="1" autoUpdateAnimBg="0"/>
      <p:bldP spid="23" grpId="0" animBg="1" autoUpdateAnimBg="0"/>
      <p:bldP spid="24" grpId="0" animBg="1" autoUpdateAnimBg="0"/>
      <p:bldP spid="117" grpId="0" animBg="1" autoUpdateAnimBg="0"/>
      <p:bldP spid="118" grpId="0" animBg="1" autoUpdateAnimBg="0"/>
      <p:bldP spid="119" grpId="0" animBg="1" autoUpdateAnimBg="0"/>
      <p:bldP spid="120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25D236-E73E-6059-7760-F71EDD25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0E0CDE-1F13-8A02-6865-AD029735FD69}"/>
              </a:ext>
            </a:extLst>
          </p:cNvPr>
          <p:cNvSpPr txBox="1"/>
          <p:nvPr/>
        </p:nvSpPr>
        <p:spPr>
          <a:xfrm>
            <a:off x="479376" y="836712"/>
            <a:ext cx="109570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列中选出最大的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，它有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2L +1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个分量，这些分量属于相同的谱项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AutoNum type="arabicParenBoth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列中，选出与上述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值对应的最大的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，这就是该谱项的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值，它有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2S+1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个分量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AutoNum type="arabicParenBoth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把上述所有可能的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(2L+1)(2S+1)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个微观状态挑出来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AutoNum type="arabicParenBoth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如果某些微观状态的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的值一样，任选一个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AutoNum type="arabicParenBoth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从剩下的微观状态中重复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1-4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步，得到另一个谱项。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365837-B515-8E6D-DD26-5A7172177784}"/>
              </a:ext>
            </a:extLst>
          </p:cNvPr>
          <p:cNvSpPr txBox="1"/>
          <p:nvPr/>
        </p:nvSpPr>
        <p:spPr>
          <a:xfrm>
            <a:off x="479376" y="3634077"/>
            <a:ext cx="10957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一般情况下，谱项与微观状态并非一一对应的关系，如果若干个微观状态的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的值一样，它们的线性组合分属于不同的谱项。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EFC2EA-5AF8-3B9E-B171-609DA22A97D1}"/>
              </a:ext>
            </a:extLst>
          </p:cNvPr>
          <p:cNvSpPr txBox="1"/>
          <p:nvPr/>
        </p:nvSpPr>
        <p:spPr>
          <a:xfrm>
            <a:off x="479376" y="4943100"/>
            <a:ext cx="11103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这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个行列式，大部分不是自旋匹配的本征函数！行列式是总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Sz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的本征函数，但可能不是总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的本征函数。</a:t>
            </a:r>
          </a:p>
        </p:txBody>
      </p:sp>
    </p:spTree>
    <p:extLst>
      <p:ext uri="{BB962C8B-B14F-4D97-AF65-F5344CB8AC3E}">
        <p14:creationId xmlns:p14="http://schemas.microsoft.com/office/powerpoint/2010/main" val="3794044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D97AFA-2378-54CE-7D21-95AA7D15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91EEB3-1829-2C20-5142-1BF6C2F24A74}"/>
              </a:ext>
            </a:extLst>
          </p:cNvPr>
          <p:cNvSpPr txBox="1"/>
          <p:nvPr/>
        </p:nvSpPr>
        <p:spPr>
          <a:xfrm>
            <a:off x="3215680" y="26064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Excited </a:t>
            </a:r>
            <a:r>
              <a:rPr lang="en-US" altLang="zh-CN" sz="28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of He atom </a:t>
            </a:r>
            <a:endParaRPr lang="zh-CN" altLang="en-US" sz="2800" dirty="0"/>
          </a:p>
        </p:txBody>
      </p:sp>
      <p:sp>
        <p:nvSpPr>
          <p:cNvPr id="7" name="Line 2">
            <a:extLst>
              <a:ext uri="{FF2B5EF4-FFF2-40B4-BE49-F238E27FC236}">
                <a16:creationId xmlns:a16="http://schemas.microsoft.com/office/drawing/2014/main" id="{8C621A4A-09BE-AF46-9756-D155F7068C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A19531-5F51-6174-C5DF-85FFF728C79A}"/>
              </a:ext>
            </a:extLst>
          </p:cNvPr>
          <p:cNvSpPr txBox="1"/>
          <p:nvPr/>
        </p:nvSpPr>
        <p:spPr>
          <a:xfrm>
            <a:off x="839416" y="2939611"/>
            <a:ext cx="39549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有几个微观状态？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谱项？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谱项对应的波函数？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BF3598-953F-A6C5-4B37-90090177FE55}"/>
              </a:ext>
            </a:extLst>
          </p:cNvPr>
          <p:cNvSpPr txBox="1"/>
          <p:nvPr/>
        </p:nvSpPr>
        <p:spPr>
          <a:xfrm>
            <a:off x="477556" y="1449898"/>
            <a:ext cx="11233248" cy="95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6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300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of the He atom has only one possible state, a singlet, so we consider the excited </a:t>
            </a:r>
            <a:r>
              <a:rPr lang="en-US" altLang="zh-CN" sz="24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i="1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to explore the energy differences between singlet and triplet.</a:t>
            </a:r>
          </a:p>
        </p:txBody>
      </p:sp>
    </p:spTree>
    <p:extLst>
      <p:ext uri="{BB962C8B-B14F-4D97-AF65-F5344CB8AC3E}">
        <p14:creationId xmlns:p14="http://schemas.microsoft.com/office/powerpoint/2010/main" val="2179262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3275D5-D48E-95C7-AB57-0CA3848D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67615E-0F6E-1157-2117-CDF1CD44E844}"/>
              </a:ext>
            </a:extLst>
          </p:cNvPr>
          <p:cNvSpPr/>
          <p:nvPr/>
        </p:nvSpPr>
        <p:spPr>
          <a:xfrm>
            <a:off x="421907" y="1412776"/>
            <a:ext cx="11348185" cy="3144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1000"/>
              </a:lnSpc>
              <a:spcAft>
                <a:spcPts val="36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l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possible states are the spin singlet,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which the orbital function is symmetric:</a:t>
            </a:r>
          </a:p>
          <a:p>
            <a:pPr marL="630555" algn="r">
              <a:lnSpc>
                <a:spcPct val="121000"/>
              </a:lnSpc>
              <a:spcAft>
                <a:spcPts val="360"/>
              </a:spcAft>
            </a:pPr>
            <a:endParaRPr lang="en-US" altLang="zh-CN" sz="2400" dirty="0">
              <a:solidFill>
                <a:srgbClr val="2926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1000"/>
              </a:lnSpc>
              <a:spcBef>
                <a:spcPts val="1200"/>
              </a:spcBef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1000"/>
              </a:lnSpc>
              <a:spcBef>
                <a:spcPts val="12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spin triplet, for which the 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orbital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is antisymmetric:</a:t>
            </a:r>
          </a:p>
          <a:p>
            <a:pPr marL="630555" algn="r">
              <a:lnSpc>
                <a:spcPct val="121000"/>
              </a:lnSpc>
              <a:spcAft>
                <a:spcPts val="360"/>
              </a:spcAft>
            </a:pPr>
            <a:r>
              <a:rPr lang="en-US" altLang="zh-CN" sz="2400" dirty="0">
                <a:solidFill>
                  <a:srgbClr val="2926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636D2BA-976F-F491-4D3A-19F234DA15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64957"/>
              </p:ext>
            </p:extLst>
          </p:nvPr>
        </p:nvGraphicFramePr>
        <p:xfrm>
          <a:off x="2451100" y="2522491"/>
          <a:ext cx="7391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95400" imgH="444240" progId="Equation.DSMT4">
                  <p:embed/>
                </p:oleObj>
              </mc:Choice>
              <mc:Fallback>
                <p:oleObj name="Equation" r:id="rId2" imgW="3695400" imgH="4442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51100" y="2522491"/>
                        <a:ext cx="7391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AE63CDC-BBE7-9D01-ED4F-9D59E5A0C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5315"/>
              </p:ext>
            </p:extLst>
          </p:nvPr>
        </p:nvGraphicFramePr>
        <p:xfrm>
          <a:off x="2451100" y="4222704"/>
          <a:ext cx="728980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640" imgH="444240" progId="Equation.DSMT4">
                  <p:embed/>
                </p:oleObj>
              </mc:Choice>
              <mc:Fallback>
                <p:oleObj name="Equation" r:id="rId4" imgW="3644640" imgH="4442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51100" y="4222704"/>
                        <a:ext cx="7289800" cy="887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5F61957-9A71-2BC9-4F4F-BD47C0F68FF8}"/>
              </a:ext>
            </a:extLst>
          </p:cNvPr>
          <p:cNvSpPr txBox="1"/>
          <p:nvPr/>
        </p:nvSpPr>
        <p:spPr>
          <a:xfrm>
            <a:off x="1934028" y="2754266"/>
            <a:ext cx="103414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</a:t>
            </a:r>
            <a:r>
              <a:rPr lang="en-US" altLang="zh-CN" sz="2400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singlet </a:t>
            </a:r>
            <a:endParaRPr lang="zh-CN" altLang="en-US" sz="2400" baseline="-25000" dirty="0">
              <a:solidFill>
                <a:srgbClr val="3333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C0C518-49D1-023A-FD68-5192220C60EF}"/>
              </a:ext>
            </a:extLst>
          </p:cNvPr>
          <p:cNvSpPr txBox="1"/>
          <p:nvPr/>
        </p:nvSpPr>
        <p:spPr>
          <a:xfrm>
            <a:off x="1890483" y="4425659"/>
            <a:ext cx="103414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</a:t>
            </a:r>
            <a:r>
              <a:rPr lang="en-US" altLang="zh-CN" sz="2400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triplet </a:t>
            </a:r>
            <a:endParaRPr lang="zh-CN" altLang="en-US" sz="2400" baseline="-25000" dirty="0">
              <a:solidFill>
                <a:srgbClr val="3333FF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B2CB42-DCA1-40C1-AFFE-36F97BB53B5E}"/>
              </a:ext>
            </a:extLst>
          </p:cNvPr>
          <p:cNvSpPr txBox="1"/>
          <p:nvPr/>
        </p:nvSpPr>
        <p:spPr>
          <a:xfrm>
            <a:off x="10632504" y="2791906"/>
            <a:ext cx="595035" cy="646331"/>
          </a:xfrm>
          <a:prstGeom prst="rect">
            <a:avLst/>
          </a:prstGeom>
          <a:solidFill>
            <a:srgbClr val="3333FF"/>
          </a:solidFill>
        </p:spPr>
        <p:txBody>
          <a:bodyPr wrap="none" rtlCol="0">
            <a:spAutoFit/>
          </a:bodyPr>
          <a:lstStyle/>
          <a:p>
            <a:r>
              <a:rPr lang="en-US" altLang="zh-CN" sz="36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20A5A2-5648-5F3A-C66B-A0632DF5C171}"/>
              </a:ext>
            </a:extLst>
          </p:cNvPr>
          <p:cNvSpPr txBox="1"/>
          <p:nvPr/>
        </p:nvSpPr>
        <p:spPr>
          <a:xfrm>
            <a:off x="10652781" y="4333325"/>
            <a:ext cx="595035" cy="646331"/>
          </a:xfrm>
          <a:prstGeom prst="rect">
            <a:avLst/>
          </a:prstGeom>
          <a:solidFill>
            <a:srgbClr val="3333FF"/>
          </a:solidFill>
        </p:spPr>
        <p:txBody>
          <a:bodyPr wrap="none" rtlCol="0">
            <a:spAutoFit/>
          </a:bodyPr>
          <a:lstStyle/>
          <a:p>
            <a:r>
              <a:rPr lang="en-US" altLang="zh-CN" sz="36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609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8F4F74-8C60-484C-F32A-567428DC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D12389EB-4873-32FE-1F2B-A0FAF30DC701}"/>
              </a:ext>
            </a:extLst>
          </p:cNvPr>
          <p:cNvSpPr txBox="1">
            <a:spLocks/>
          </p:cNvSpPr>
          <p:nvPr/>
        </p:nvSpPr>
        <p:spPr bwMode="auto">
          <a:xfrm>
            <a:off x="6976268" y="6245359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spcBef>
                <a:spcPct val="0"/>
              </a:spcBef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3E590E-135D-4FAE-BBBA-B756EF360C20}" type="slidenum">
              <a:rPr lang="en-US" altLang="zh-CN" smtClean="0">
                <a:solidFill>
                  <a:srgbClr val="000000"/>
                </a:solidFill>
                <a:latin typeface="Arial"/>
              </a:rPr>
              <a:pPr/>
              <a:t>25</a:t>
            </a:fld>
            <a:endParaRPr lang="en-US" altLang="zh-CN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C967E9A9-5A88-D76D-22A4-25150DEF7F61}"/>
              </a:ext>
            </a:extLst>
          </p:cNvPr>
          <p:cNvGrpSpPr>
            <a:grpSpLocks/>
          </p:cNvGrpSpPr>
          <p:nvPr/>
        </p:nvGrpSpPr>
        <p:grpSpPr bwMode="auto">
          <a:xfrm>
            <a:off x="5182393" y="2898909"/>
            <a:ext cx="2819400" cy="304800"/>
            <a:chOff x="2296" y="2200"/>
            <a:chExt cx="1776" cy="192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C25AA8B-88CC-5DCD-5B30-D689C9C34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220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D2CE8431-50DB-B50E-499A-C0847E4B6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220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1BF4644B-F5A8-0C7B-D3DF-A0F9DAEEF4D7}"/>
              </a:ext>
            </a:extLst>
          </p:cNvPr>
          <p:cNvGrpSpPr>
            <a:grpSpLocks/>
          </p:cNvGrpSpPr>
          <p:nvPr/>
        </p:nvGrpSpPr>
        <p:grpSpPr bwMode="auto">
          <a:xfrm>
            <a:off x="5191918" y="2895734"/>
            <a:ext cx="2819400" cy="304800"/>
            <a:chOff x="2160" y="1824"/>
            <a:chExt cx="1776" cy="192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F0AE4F3C-A751-92EB-6065-0024C3D65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82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8677F04-08D5-9262-380F-577ABE68A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82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D8F937A9-F30A-8E63-6FE1-74617A345536}"/>
              </a:ext>
            </a:extLst>
          </p:cNvPr>
          <p:cNvGrpSpPr>
            <a:grpSpLocks/>
          </p:cNvGrpSpPr>
          <p:nvPr/>
        </p:nvGrpSpPr>
        <p:grpSpPr bwMode="auto">
          <a:xfrm>
            <a:off x="5187156" y="6321559"/>
            <a:ext cx="2819400" cy="304800"/>
            <a:chOff x="2296" y="3640"/>
            <a:chExt cx="1776" cy="192"/>
          </a:xfrm>
        </p:grpSpPr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EC95EEC8-60BE-EBEF-01E2-4755CD63F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364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EFDAEB8B-A1BC-1995-DD21-261835E83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364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9132AA92-F2DA-A267-B90E-2B656A947C8E}"/>
              </a:ext>
            </a:extLst>
          </p:cNvPr>
          <p:cNvGrpSpPr>
            <a:grpSpLocks/>
          </p:cNvGrpSpPr>
          <p:nvPr/>
        </p:nvGrpSpPr>
        <p:grpSpPr bwMode="auto">
          <a:xfrm>
            <a:off x="5191918" y="6324734"/>
            <a:ext cx="2819400" cy="304800"/>
            <a:chOff x="2160" y="3984"/>
            <a:chExt cx="1776" cy="192"/>
          </a:xfrm>
        </p:grpSpPr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6847154A-C56C-B5EC-26C0-B7A8C0136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98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3480E6DC-7EAD-4056-FF42-7968C1B78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98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EBF5410E-4736-9301-EF1F-07F0621E5BAE}"/>
              </a:ext>
            </a:extLst>
          </p:cNvPr>
          <p:cNvGrpSpPr>
            <a:grpSpLocks/>
          </p:cNvGrpSpPr>
          <p:nvPr/>
        </p:nvGrpSpPr>
        <p:grpSpPr bwMode="auto">
          <a:xfrm>
            <a:off x="5182393" y="5178559"/>
            <a:ext cx="2819400" cy="304800"/>
            <a:chOff x="2296" y="3640"/>
            <a:chExt cx="1776" cy="192"/>
          </a:xfrm>
        </p:grpSpPr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8771685A-0AF1-0AE2-7237-8FDC49387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364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6442B7FF-034C-6F77-7049-6A4982438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364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10A02B9F-C0AE-1B52-293F-DBD51F4085CF}"/>
              </a:ext>
            </a:extLst>
          </p:cNvPr>
          <p:cNvGrpSpPr>
            <a:grpSpLocks/>
          </p:cNvGrpSpPr>
          <p:nvPr/>
        </p:nvGrpSpPr>
        <p:grpSpPr bwMode="auto">
          <a:xfrm>
            <a:off x="5191918" y="5181734"/>
            <a:ext cx="2819400" cy="304800"/>
            <a:chOff x="2160" y="3264"/>
            <a:chExt cx="1776" cy="192"/>
          </a:xfrm>
        </p:grpSpPr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770C7A8F-F984-A3F2-310B-954373FDB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E77F7F54-2656-566E-174D-2F7C5786C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26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2" name="Group 20">
            <a:extLst>
              <a:ext uri="{FF2B5EF4-FFF2-40B4-BE49-F238E27FC236}">
                <a16:creationId xmlns:a16="http://schemas.microsoft.com/office/drawing/2014/main" id="{C7717FA4-EE5C-0A2C-ED5D-228F140A898A}"/>
              </a:ext>
            </a:extLst>
          </p:cNvPr>
          <p:cNvGrpSpPr>
            <a:grpSpLocks/>
          </p:cNvGrpSpPr>
          <p:nvPr/>
        </p:nvGrpSpPr>
        <p:grpSpPr bwMode="auto">
          <a:xfrm>
            <a:off x="5182393" y="1752734"/>
            <a:ext cx="2819400" cy="304800"/>
            <a:chOff x="2296" y="1480"/>
            <a:chExt cx="1776" cy="192"/>
          </a:xfrm>
        </p:grpSpPr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FB47469C-6026-D39E-CF37-CCE22EA8A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148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68CF9038-8B02-5B8B-A4C0-3FC650297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148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5" name="Group 23">
            <a:extLst>
              <a:ext uri="{FF2B5EF4-FFF2-40B4-BE49-F238E27FC236}">
                <a16:creationId xmlns:a16="http://schemas.microsoft.com/office/drawing/2014/main" id="{41DEE69A-5220-F88E-D8EF-C35E9AEF23A1}"/>
              </a:ext>
            </a:extLst>
          </p:cNvPr>
          <p:cNvGrpSpPr>
            <a:grpSpLocks/>
          </p:cNvGrpSpPr>
          <p:nvPr/>
        </p:nvGrpSpPr>
        <p:grpSpPr bwMode="auto">
          <a:xfrm>
            <a:off x="5191918" y="1752734"/>
            <a:ext cx="2819400" cy="304800"/>
            <a:chOff x="2160" y="1104"/>
            <a:chExt cx="1776" cy="192"/>
          </a:xfrm>
        </p:grpSpPr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28EE7229-E729-F09E-7804-B2680A5C1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10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30486E8B-61AC-281E-C0FE-6447756C5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0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8" name="Group 26">
            <a:extLst>
              <a:ext uri="{FF2B5EF4-FFF2-40B4-BE49-F238E27FC236}">
                <a16:creationId xmlns:a16="http://schemas.microsoft.com/office/drawing/2014/main" id="{D8954410-A6BE-2DFC-76A4-3DCEF7BB8C2B}"/>
              </a:ext>
            </a:extLst>
          </p:cNvPr>
          <p:cNvGrpSpPr>
            <a:grpSpLocks/>
          </p:cNvGrpSpPr>
          <p:nvPr/>
        </p:nvGrpSpPr>
        <p:grpSpPr bwMode="auto">
          <a:xfrm>
            <a:off x="5191918" y="993909"/>
            <a:ext cx="2819400" cy="304800"/>
            <a:chOff x="3984" y="1480"/>
            <a:chExt cx="1776" cy="192"/>
          </a:xfrm>
        </p:grpSpPr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65982916-0CAB-990B-CFD8-1ABA3820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8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DE410A10-7F5D-28E1-6C99-8E5C6D700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480"/>
              <a:ext cx="86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31" name="Group 29">
            <a:extLst>
              <a:ext uri="{FF2B5EF4-FFF2-40B4-BE49-F238E27FC236}">
                <a16:creationId xmlns:a16="http://schemas.microsoft.com/office/drawing/2014/main" id="{D1E4CCC3-0C34-F612-B075-877C042FAC48}"/>
              </a:ext>
            </a:extLst>
          </p:cNvPr>
          <p:cNvGrpSpPr>
            <a:grpSpLocks/>
          </p:cNvGrpSpPr>
          <p:nvPr/>
        </p:nvGrpSpPr>
        <p:grpSpPr bwMode="auto">
          <a:xfrm>
            <a:off x="5191918" y="990734"/>
            <a:ext cx="2819400" cy="304800"/>
            <a:chOff x="2160" y="624"/>
            <a:chExt cx="1776" cy="192"/>
          </a:xfrm>
        </p:grpSpPr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C9BC953F-3DB5-DDB8-C49F-0CB60CEF1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62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F95522C9-6B21-6F21-6788-8C7ACD89F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624"/>
              <a:ext cx="864" cy="19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FFFF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34" name="Group 35">
            <a:extLst>
              <a:ext uri="{FF2B5EF4-FFF2-40B4-BE49-F238E27FC236}">
                <a16:creationId xmlns:a16="http://schemas.microsoft.com/office/drawing/2014/main" id="{2D4B7DCB-8FF4-5758-2E23-730D41E3015D}"/>
              </a:ext>
            </a:extLst>
          </p:cNvPr>
          <p:cNvGrpSpPr>
            <a:grpSpLocks/>
          </p:cNvGrpSpPr>
          <p:nvPr/>
        </p:nvGrpSpPr>
        <p:grpSpPr bwMode="auto">
          <a:xfrm>
            <a:off x="1991518" y="152534"/>
            <a:ext cx="3124200" cy="6477000"/>
            <a:chOff x="144" y="96"/>
            <a:chExt cx="1968" cy="4080"/>
          </a:xfrm>
        </p:grpSpPr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EF6FD3C1-8D18-86BC-8743-B91524E71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96"/>
              <a:ext cx="1968" cy="48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</a:rPr>
                <a:t>微状态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i="1" kern="0" dirty="0">
                  <a:solidFill>
                    <a:srgbClr val="FFFFFF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1600" b="1" i="1" kern="0" baseline="-25000" dirty="0">
                  <a:solidFill>
                    <a:srgbClr val="FFFFFF"/>
                  </a:solidFill>
                  <a:latin typeface="Times New Roman" panose="02020603050405020304" pitchFamily="18" charset="0"/>
                </a:rPr>
                <a:t>l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kern="0" dirty="0">
                  <a:solidFill>
                    <a:srgbClr val="FFFFFF"/>
                  </a:solidFill>
                  <a:latin typeface="Times New Roman" panose="02020603050405020304" pitchFamily="18" charset="0"/>
                </a:rPr>
                <a:t>   1                  0                  -1</a:t>
              </a:r>
              <a:endParaRPr lang="en-US" altLang="zh-CN" sz="2400" kern="0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B2010368-0520-60A6-9027-E3822BF03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6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D987EEE7-1978-551A-5F79-9BD505DD7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" y="62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8" name="Line 39">
              <a:extLst>
                <a:ext uri="{FF2B5EF4-FFF2-40B4-BE49-F238E27FC236}">
                  <a16:creationId xmlns:a16="http://schemas.microsoft.com/office/drawing/2014/main" id="{26308CA9-22FB-2DDB-984F-C325E050B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62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38F4605D-A2D6-96E6-02F4-4E7AB5497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6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127E81E1-16BB-DEB2-2B8A-4E73225B6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6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8170BCD2-3BDF-828D-75B3-F6287D30F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8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84EAE85C-692B-5745-F11A-2A2A1C7C7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0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3" name="Rectangle 44">
              <a:extLst>
                <a:ext uri="{FF2B5EF4-FFF2-40B4-BE49-F238E27FC236}">
                  <a16:creationId xmlns:a16="http://schemas.microsoft.com/office/drawing/2014/main" id="{BEEAD0F8-BAEF-994C-3400-2516B5E30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4" name="Rectangle 45">
              <a:extLst>
                <a:ext uri="{FF2B5EF4-FFF2-40B4-BE49-F238E27FC236}">
                  <a16:creationId xmlns:a16="http://schemas.microsoft.com/office/drawing/2014/main" id="{2517C40C-83CB-5F1C-8DCC-E914ECB69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3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5" name="Rectangle 46">
              <a:extLst>
                <a:ext uri="{FF2B5EF4-FFF2-40B4-BE49-F238E27FC236}">
                  <a16:creationId xmlns:a16="http://schemas.microsoft.com/office/drawing/2014/main" id="{7ECEA29A-0F1E-0A2B-C646-BF922BF24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5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6" name="Rectangle 47">
              <a:extLst>
                <a:ext uri="{FF2B5EF4-FFF2-40B4-BE49-F238E27FC236}">
                  <a16:creationId xmlns:a16="http://schemas.microsoft.com/office/drawing/2014/main" id="{D1C72ACD-CA07-7561-C08D-5691788F7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8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7" name="Rectangle 48">
              <a:extLst>
                <a:ext uri="{FF2B5EF4-FFF2-40B4-BE49-F238E27FC236}">
                  <a16:creationId xmlns:a16="http://schemas.microsoft.com/office/drawing/2014/main" id="{79456722-C18E-7FEB-841B-379AF7EDC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8" name="Rectangle 49">
              <a:extLst>
                <a:ext uri="{FF2B5EF4-FFF2-40B4-BE49-F238E27FC236}">
                  <a16:creationId xmlns:a16="http://schemas.microsoft.com/office/drawing/2014/main" id="{CECBAF7A-5968-46A2-967A-E27A2E338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0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7C3790B1-F405-D971-7254-909398F04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7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FB673ECE-5CEB-7246-8294-1A30A8655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5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1" name="Rectangle 52">
              <a:extLst>
                <a:ext uri="{FF2B5EF4-FFF2-40B4-BE49-F238E27FC236}">
                  <a16:creationId xmlns:a16="http://schemas.microsoft.com/office/drawing/2014/main" id="{91BFAEC3-7D36-7D91-3124-CD0B23526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3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2" name="Rectangle 53">
              <a:extLst>
                <a:ext uri="{FF2B5EF4-FFF2-40B4-BE49-F238E27FC236}">
                  <a16:creationId xmlns:a16="http://schemas.microsoft.com/office/drawing/2014/main" id="{C4663605-8F3E-C5FD-8A2E-4C885F118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7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3" name="Rectangle 54">
              <a:extLst>
                <a:ext uri="{FF2B5EF4-FFF2-40B4-BE49-F238E27FC236}">
                  <a16:creationId xmlns:a16="http://schemas.microsoft.com/office/drawing/2014/main" id="{AB4A844E-3A6F-BC33-2D37-161E064F8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5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4" name="Rectangle 55">
              <a:extLst>
                <a:ext uri="{FF2B5EF4-FFF2-40B4-BE49-F238E27FC236}">
                  <a16:creationId xmlns:a16="http://schemas.microsoft.com/office/drawing/2014/main" id="{A5D4D83E-3187-95D5-4470-C8C4397D1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9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5" name="Rectangle 56">
              <a:extLst>
                <a:ext uri="{FF2B5EF4-FFF2-40B4-BE49-F238E27FC236}">
                  <a16:creationId xmlns:a16="http://schemas.microsoft.com/office/drawing/2014/main" id="{5FB5DA1A-B143-4C81-45B2-EE768BA0E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7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6" name="Rectangle 57">
              <a:extLst>
                <a:ext uri="{FF2B5EF4-FFF2-40B4-BE49-F238E27FC236}">
                  <a16:creationId xmlns:a16="http://schemas.microsoft.com/office/drawing/2014/main" id="{EEDB91BC-05B7-516D-1ED3-C82EFC114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5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7" name="Rectangle 58">
              <a:extLst>
                <a:ext uri="{FF2B5EF4-FFF2-40B4-BE49-F238E27FC236}">
                  <a16:creationId xmlns:a16="http://schemas.microsoft.com/office/drawing/2014/main" id="{0D99C00B-F209-BFE8-CD28-09A1D9D15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2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8" name="Rectangle 59">
              <a:extLst>
                <a:ext uri="{FF2B5EF4-FFF2-40B4-BE49-F238E27FC236}">
                  <a16:creationId xmlns:a16="http://schemas.microsoft.com/office/drawing/2014/main" id="{948304EA-26AC-350F-CAA5-DE957728F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0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9" name="Rectangle 60">
              <a:extLst>
                <a:ext uri="{FF2B5EF4-FFF2-40B4-BE49-F238E27FC236}">
                  <a16:creationId xmlns:a16="http://schemas.microsoft.com/office/drawing/2014/main" id="{68D188D9-E617-41FF-17B9-D059D3C98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7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0" name="Rectangle 61">
              <a:extLst>
                <a:ext uri="{FF2B5EF4-FFF2-40B4-BE49-F238E27FC236}">
                  <a16:creationId xmlns:a16="http://schemas.microsoft.com/office/drawing/2014/main" id="{FFC7F7D7-0DF5-5900-4349-2EACFAEFA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5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1" name="Rectangle 62">
              <a:extLst>
                <a:ext uri="{FF2B5EF4-FFF2-40B4-BE49-F238E27FC236}">
                  <a16:creationId xmlns:a16="http://schemas.microsoft.com/office/drawing/2014/main" id="{59D0B790-A324-C160-67A6-768A29103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2" name="Rectangle 63">
              <a:extLst>
                <a:ext uri="{FF2B5EF4-FFF2-40B4-BE49-F238E27FC236}">
                  <a16:creationId xmlns:a16="http://schemas.microsoft.com/office/drawing/2014/main" id="{C71A47E3-7F53-21BA-1CE7-624FEEF79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3" name="Rectangle 64">
              <a:extLst>
                <a:ext uri="{FF2B5EF4-FFF2-40B4-BE49-F238E27FC236}">
                  <a16:creationId xmlns:a16="http://schemas.microsoft.com/office/drawing/2014/main" id="{9F9E9335-AC45-73BC-6D52-E35154B60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8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4" name="Rectangle 65">
              <a:extLst>
                <a:ext uri="{FF2B5EF4-FFF2-40B4-BE49-F238E27FC236}">
                  <a16:creationId xmlns:a16="http://schemas.microsoft.com/office/drawing/2014/main" id="{3945DA01-2896-0761-E337-B2038F782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5" name="Rectangle 66">
              <a:extLst>
                <a:ext uri="{FF2B5EF4-FFF2-40B4-BE49-F238E27FC236}">
                  <a16:creationId xmlns:a16="http://schemas.microsoft.com/office/drawing/2014/main" id="{CA0326FA-238F-2974-C902-49B1A53A1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9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6" name="Rectangle 67">
              <a:extLst>
                <a:ext uri="{FF2B5EF4-FFF2-40B4-BE49-F238E27FC236}">
                  <a16:creationId xmlns:a16="http://schemas.microsoft.com/office/drawing/2014/main" id="{D59B88AE-D8F9-6850-AFBA-1D2FFB0DE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3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7" name="Rectangle 68">
              <a:extLst>
                <a:ext uri="{FF2B5EF4-FFF2-40B4-BE49-F238E27FC236}">
                  <a16:creationId xmlns:a16="http://schemas.microsoft.com/office/drawing/2014/main" id="{441B6F1C-659D-FC3C-70C7-62069FD15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1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8" name="Rectangle 69">
              <a:extLst>
                <a:ext uri="{FF2B5EF4-FFF2-40B4-BE49-F238E27FC236}">
                  <a16:creationId xmlns:a16="http://schemas.microsoft.com/office/drawing/2014/main" id="{D69087FC-45AA-DEE1-B072-2F4C4B1C6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8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9" name="Rectangle 70">
              <a:extLst>
                <a:ext uri="{FF2B5EF4-FFF2-40B4-BE49-F238E27FC236}">
                  <a16:creationId xmlns:a16="http://schemas.microsoft.com/office/drawing/2014/main" id="{0B7C8520-DE1C-30FA-5303-AFD8B4CC3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8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0" name="Rectangle 71">
              <a:extLst>
                <a:ext uri="{FF2B5EF4-FFF2-40B4-BE49-F238E27FC236}">
                  <a16:creationId xmlns:a16="http://schemas.microsoft.com/office/drawing/2014/main" id="{08706CB0-D69E-1992-7A4E-8FA164ED4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1" name="Rectangle 72">
              <a:extLst>
                <a:ext uri="{FF2B5EF4-FFF2-40B4-BE49-F238E27FC236}">
                  <a16:creationId xmlns:a16="http://schemas.microsoft.com/office/drawing/2014/main" id="{E49563B6-E318-8B56-E00D-057493F37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3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2" name="Rectangle 73">
              <a:extLst>
                <a:ext uri="{FF2B5EF4-FFF2-40B4-BE49-F238E27FC236}">
                  <a16:creationId xmlns:a16="http://schemas.microsoft.com/office/drawing/2014/main" id="{8A8E9EE1-1B46-4C1F-A958-5C8EF63EB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5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3" name="Rectangle 74">
              <a:extLst>
                <a:ext uri="{FF2B5EF4-FFF2-40B4-BE49-F238E27FC236}">
                  <a16:creationId xmlns:a16="http://schemas.microsoft.com/office/drawing/2014/main" id="{6E05DBBD-E1C0-F669-3C79-E4FE92B80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8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4" name="Rectangle 75">
              <a:extLst>
                <a:ext uri="{FF2B5EF4-FFF2-40B4-BE49-F238E27FC236}">
                  <a16:creationId xmlns:a16="http://schemas.microsoft.com/office/drawing/2014/main" id="{A68CB169-287F-00EC-E6EB-4405D2080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5" name="Rectangle 76">
              <a:extLst>
                <a:ext uri="{FF2B5EF4-FFF2-40B4-BE49-F238E27FC236}">
                  <a16:creationId xmlns:a16="http://schemas.microsoft.com/office/drawing/2014/main" id="{6DB30815-4606-AEBE-3BDB-873CEC36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3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6" name="Rectangle 77">
              <a:extLst>
                <a:ext uri="{FF2B5EF4-FFF2-40B4-BE49-F238E27FC236}">
                  <a16:creationId xmlns:a16="http://schemas.microsoft.com/office/drawing/2014/main" id="{6F2FC9F0-C026-F43A-2AA1-77DFA1D29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7" name="Rectangle 78">
              <a:extLst>
                <a:ext uri="{FF2B5EF4-FFF2-40B4-BE49-F238E27FC236}">
                  <a16:creationId xmlns:a16="http://schemas.microsoft.com/office/drawing/2014/main" id="{276C1340-5DC2-8A2C-6A79-A578B30C4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7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8" name="Rectangle 79">
              <a:extLst>
                <a:ext uri="{FF2B5EF4-FFF2-40B4-BE49-F238E27FC236}">
                  <a16:creationId xmlns:a16="http://schemas.microsoft.com/office/drawing/2014/main" id="{63133248-55AB-43BF-C38F-3F834B171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02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9" name="Rectangle 80">
              <a:extLst>
                <a:ext uri="{FF2B5EF4-FFF2-40B4-BE49-F238E27FC236}">
                  <a16:creationId xmlns:a16="http://schemas.microsoft.com/office/drawing/2014/main" id="{60450DBA-6167-3BB1-A832-714220A58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26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0" name="Rectangle 81">
              <a:extLst>
                <a:ext uri="{FF2B5EF4-FFF2-40B4-BE49-F238E27FC236}">
                  <a16:creationId xmlns:a16="http://schemas.microsoft.com/office/drawing/2014/main" id="{00E20773-01A6-C450-7F08-6546501A7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0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1" name="Rectangle 82">
              <a:extLst>
                <a:ext uri="{FF2B5EF4-FFF2-40B4-BE49-F238E27FC236}">
                  <a16:creationId xmlns:a16="http://schemas.microsoft.com/office/drawing/2014/main" id="{5A84C214-4245-7568-9C14-3D0CBF613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74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2" name="Rectangle 83">
              <a:extLst>
                <a:ext uri="{FF2B5EF4-FFF2-40B4-BE49-F238E27FC236}">
                  <a16:creationId xmlns:a16="http://schemas.microsoft.com/office/drawing/2014/main" id="{430620B6-FE7A-E4F6-5A8F-3E1F166BA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984"/>
              <a:ext cx="624" cy="192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3" name="Line 84">
              <a:extLst>
                <a:ext uri="{FF2B5EF4-FFF2-40B4-BE49-F238E27FC236}">
                  <a16:creationId xmlns:a16="http://schemas.microsoft.com/office/drawing/2014/main" id="{5B4C6DAE-A452-6B50-D5BF-70EA46CC6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" y="86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4" name="Line 85">
              <a:extLst>
                <a:ext uri="{FF2B5EF4-FFF2-40B4-BE49-F238E27FC236}">
                  <a16:creationId xmlns:a16="http://schemas.microsoft.com/office/drawing/2014/main" id="{FF006C54-7C8B-306D-C9C2-A0E055BAE1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" y="110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5" name="Line 86">
              <a:extLst>
                <a:ext uri="{FF2B5EF4-FFF2-40B4-BE49-F238E27FC236}">
                  <a16:creationId xmlns:a16="http://schemas.microsoft.com/office/drawing/2014/main" id="{CDB2B107-01A2-6FB5-4946-4EA5F85BC4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" y="158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6" name="Line 87">
              <a:extLst>
                <a:ext uri="{FF2B5EF4-FFF2-40B4-BE49-F238E27FC236}">
                  <a16:creationId xmlns:a16="http://schemas.microsoft.com/office/drawing/2014/main" id="{83BCEBAC-A565-460D-35FB-0356EBA29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" y="182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7" name="Line 88">
              <a:extLst>
                <a:ext uri="{FF2B5EF4-FFF2-40B4-BE49-F238E27FC236}">
                  <a16:creationId xmlns:a16="http://schemas.microsoft.com/office/drawing/2014/main" id="{C8BA6035-6DDC-915F-C3AB-E85936D69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86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8" name="Line 89">
              <a:extLst>
                <a:ext uri="{FF2B5EF4-FFF2-40B4-BE49-F238E27FC236}">
                  <a16:creationId xmlns:a16="http://schemas.microsoft.com/office/drawing/2014/main" id="{669499A8-ACFA-CB19-91F5-3E8C9EDD4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134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9" name="Line 90">
              <a:extLst>
                <a:ext uri="{FF2B5EF4-FFF2-40B4-BE49-F238E27FC236}">
                  <a16:creationId xmlns:a16="http://schemas.microsoft.com/office/drawing/2014/main" id="{067B708D-6815-A8B6-1518-696C04DCB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10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0" name="Line 91">
              <a:extLst>
                <a:ext uri="{FF2B5EF4-FFF2-40B4-BE49-F238E27FC236}">
                  <a16:creationId xmlns:a16="http://schemas.microsoft.com/office/drawing/2014/main" id="{86994296-CDFA-7BBF-8B67-418349CEF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34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1" name="Line 92">
              <a:extLst>
                <a:ext uri="{FF2B5EF4-FFF2-40B4-BE49-F238E27FC236}">
                  <a16:creationId xmlns:a16="http://schemas.microsoft.com/office/drawing/2014/main" id="{F3A7FEA2-4404-F857-6065-953116FE9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58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2" name="Line 93">
              <a:extLst>
                <a:ext uri="{FF2B5EF4-FFF2-40B4-BE49-F238E27FC236}">
                  <a16:creationId xmlns:a16="http://schemas.microsoft.com/office/drawing/2014/main" id="{223D1959-D161-282F-E3C6-2F33E49CD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2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3" name="Line 94">
              <a:extLst>
                <a:ext uri="{FF2B5EF4-FFF2-40B4-BE49-F238E27FC236}">
                  <a16:creationId xmlns:a16="http://schemas.microsoft.com/office/drawing/2014/main" id="{7CDD3BEA-503A-3C9A-01E8-2BD5782EC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06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4" name="Line 95">
              <a:extLst>
                <a:ext uri="{FF2B5EF4-FFF2-40B4-BE49-F238E27FC236}">
                  <a16:creationId xmlns:a16="http://schemas.microsoft.com/office/drawing/2014/main" id="{0E1D1E4A-F36A-B02A-4D7C-7234661DA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06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5" name="Line 96">
              <a:extLst>
                <a:ext uri="{FF2B5EF4-FFF2-40B4-BE49-F238E27FC236}">
                  <a16:creationId xmlns:a16="http://schemas.microsoft.com/office/drawing/2014/main" id="{7A6E7FA7-C177-3DC3-568D-4C535ABC4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6" name="Line 97">
              <a:extLst>
                <a:ext uri="{FF2B5EF4-FFF2-40B4-BE49-F238E27FC236}">
                  <a16:creationId xmlns:a16="http://schemas.microsoft.com/office/drawing/2014/main" id="{45AC9F3E-1655-8F82-CBA5-0D95F187A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30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7" name="Line 98">
              <a:extLst>
                <a:ext uri="{FF2B5EF4-FFF2-40B4-BE49-F238E27FC236}">
                  <a16:creationId xmlns:a16="http://schemas.microsoft.com/office/drawing/2014/main" id="{D4CADA3C-3344-06E8-EEA3-B28CE78C1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54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8" name="Line 99">
              <a:extLst>
                <a:ext uri="{FF2B5EF4-FFF2-40B4-BE49-F238E27FC236}">
                  <a16:creationId xmlns:a16="http://schemas.microsoft.com/office/drawing/2014/main" id="{AF2AFBB1-A3BE-2C94-D4B4-C2C7A5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54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9" name="Line 100">
              <a:extLst>
                <a:ext uri="{FF2B5EF4-FFF2-40B4-BE49-F238E27FC236}">
                  <a16:creationId xmlns:a16="http://schemas.microsoft.com/office/drawing/2014/main" id="{AC0382DC-7EE8-501D-159F-FCCD43687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78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0" name="Line 101">
              <a:extLst>
                <a:ext uri="{FF2B5EF4-FFF2-40B4-BE49-F238E27FC236}">
                  <a16:creationId xmlns:a16="http://schemas.microsoft.com/office/drawing/2014/main" id="{508008FD-D255-827B-8C8F-211EF5B3D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78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1" name="Line 102">
              <a:extLst>
                <a:ext uri="{FF2B5EF4-FFF2-40B4-BE49-F238E27FC236}">
                  <a16:creationId xmlns:a16="http://schemas.microsoft.com/office/drawing/2014/main" id="{5FB79B21-6710-355A-43D9-5BBE700085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302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2" name="Line 103">
              <a:extLst>
                <a:ext uri="{FF2B5EF4-FFF2-40B4-BE49-F238E27FC236}">
                  <a16:creationId xmlns:a16="http://schemas.microsoft.com/office/drawing/2014/main" id="{1215F631-8EE6-A36F-7FB1-DE21F7E12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3" name="Line 104">
              <a:extLst>
                <a:ext uri="{FF2B5EF4-FFF2-40B4-BE49-F238E27FC236}">
                  <a16:creationId xmlns:a16="http://schemas.microsoft.com/office/drawing/2014/main" id="{4E200818-6794-E9E1-300D-AD2E0B4882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326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4" name="Line 105">
              <a:extLst>
                <a:ext uri="{FF2B5EF4-FFF2-40B4-BE49-F238E27FC236}">
                  <a16:creationId xmlns:a16="http://schemas.microsoft.com/office/drawing/2014/main" id="{1D8578A1-8958-FD1C-ECB4-00569E680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26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5" name="Line 106">
              <a:extLst>
                <a:ext uri="{FF2B5EF4-FFF2-40B4-BE49-F238E27FC236}">
                  <a16:creationId xmlns:a16="http://schemas.microsoft.com/office/drawing/2014/main" id="{07935C37-A96A-FA4E-D223-0AEFEDC2C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50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6" name="Line 107">
              <a:extLst>
                <a:ext uri="{FF2B5EF4-FFF2-40B4-BE49-F238E27FC236}">
                  <a16:creationId xmlns:a16="http://schemas.microsoft.com/office/drawing/2014/main" id="{22D15B32-6467-56F2-4524-6CB709E89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50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7" name="Line 108">
              <a:extLst>
                <a:ext uri="{FF2B5EF4-FFF2-40B4-BE49-F238E27FC236}">
                  <a16:creationId xmlns:a16="http://schemas.microsoft.com/office/drawing/2014/main" id="{F0ABF871-2793-858F-E8EF-C2CC07D90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74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8" name="Line 109">
              <a:extLst>
                <a:ext uri="{FF2B5EF4-FFF2-40B4-BE49-F238E27FC236}">
                  <a16:creationId xmlns:a16="http://schemas.microsoft.com/office/drawing/2014/main" id="{07D3DBA7-917B-A7D5-680B-A33C85EAB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74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9" name="Line 110">
              <a:extLst>
                <a:ext uri="{FF2B5EF4-FFF2-40B4-BE49-F238E27FC236}">
                  <a16:creationId xmlns:a16="http://schemas.microsoft.com/office/drawing/2014/main" id="{54F5FB8D-F8BC-C2C6-F40D-D85B00FC2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98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10" name="Line 111">
              <a:extLst>
                <a:ext uri="{FF2B5EF4-FFF2-40B4-BE49-F238E27FC236}">
                  <a16:creationId xmlns:a16="http://schemas.microsoft.com/office/drawing/2014/main" id="{7CF715E5-D89D-D682-BFCC-3444C39F8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984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4800" kern="0">
                <a:solidFill>
                  <a:srgbClr val="FF00FF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111" name="Rectangle 112">
            <a:extLst>
              <a:ext uri="{FF2B5EF4-FFF2-40B4-BE49-F238E27FC236}">
                <a16:creationId xmlns:a16="http://schemas.microsoft.com/office/drawing/2014/main" id="{6AB43D1F-4B8D-9394-DF54-2E70B4BA3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1371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" name="Rectangle 113">
            <a:extLst>
              <a:ext uri="{FF2B5EF4-FFF2-40B4-BE49-F238E27FC236}">
                <a16:creationId xmlns:a16="http://schemas.microsoft.com/office/drawing/2014/main" id="{713B3745-87C8-3246-D0A8-B40E55483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2133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" name="Rectangle 114">
            <a:extLst>
              <a:ext uri="{FF2B5EF4-FFF2-40B4-BE49-F238E27FC236}">
                <a16:creationId xmlns:a16="http://schemas.microsoft.com/office/drawing/2014/main" id="{A7F882FD-1072-FC53-F4A6-C773A57BA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2514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Rectangle 115">
            <a:extLst>
              <a:ext uri="{FF2B5EF4-FFF2-40B4-BE49-F238E27FC236}">
                <a16:creationId xmlns:a16="http://schemas.microsoft.com/office/drawing/2014/main" id="{FEF37AD5-20C0-59C6-5109-385B054F1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3276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5" name="Rectangle 116">
            <a:extLst>
              <a:ext uri="{FF2B5EF4-FFF2-40B4-BE49-F238E27FC236}">
                <a16:creationId xmlns:a16="http://schemas.microsoft.com/office/drawing/2014/main" id="{1D721BC5-5C62-6439-D89E-263E86E7D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3657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6" name="Rectangle 117">
            <a:extLst>
              <a:ext uri="{FF2B5EF4-FFF2-40B4-BE49-F238E27FC236}">
                <a16:creationId xmlns:a16="http://schemas.microsoft.com/office/drawing/2014/main" id="{343EE044-D63A-87DC-13F0-DA4391F95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4038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17" name="Rectangle 118">
            <a:extLst>
              <a:ext uri="{FF2B5EF4-FFF2-40B4-BE49-F238E27FC236}">
                <a16:creationId xmlns:a16="http://schemas.microsoft.com/office/drawing/2014/main" id="{D1D22071-B1B3-FFF5-CF24-E88657E54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4419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8" name="Rectangle 119">
            <a:extLst>
              <a:ext uri="{FF2B5EF4-FFF2-40B4-BE49-F238E27FC236}">
                <a16:creationId xmlns:a16="http://schemas.microsoft.com/office/drawing/2014/main" id="{76B19992-EB50-85E2-C4C4-965276359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4800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19" name="Rectangle 120">
            <a:extLst>
              <a:ext uri="{FF2B5EF4-FFF2-40B4-BE49-F238E27FC236}">
                <a16:creationId xmlns:a16="http://schemas.microsoft.com/office/drawing/2014/main" id="{88EAC6DF-4363-9067-8001-73314178C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5562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20" name="Rectangle 121">
            <a:extLst>
              <a:ext uri="{FF2B5EF4-FFF2-40B4-BE49-F238E27FC236}">
                <a16:creationId xmlns:a16="http://schemas.microsoft.com/office/drawing/2014/main" id="{E6CDC7BE-5C06-FBDB-3744-4C3233437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918" y="5943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21" name="Rectangle 122">
            <a:extLst>
              <a:ext uri="{FF2B5EF4-FFF2-40B4-BE49-F238E27FC236}">
                <a16:creationId xmlns:a16="http://schemas.microsoft.com/office/drawing/2014/main" id="{8BDDD492-AE53-8A57-7546-98C1916DE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1371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2" name="Rectangle 123">
            <a:extLst>
              <a:ext uri="{FF2B5EF4-FFF2-40B4-BE49-F238E27FC236}">
                <a16:creationId xmlns:a16="http://schemas.microsoft.com/office/drawing/2014/main" id="{C88DE6F8-AE30-AE02-027F-F051E819A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2133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23" name="Rectangle 124">
            <a:extLst>
              <a:ext uri="{FF2B5EF4-FFF2-40B4-BE49-F238E27FC236}">
                <a16:creationId xmlns:a16="http://schemas.microsoft.com/office/drawing/2014/main" id="{889CB629-8969-29A3-E586-1822C7B8E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2514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4" name="Rectangle 125">
            <a:extLst>
              <a:ext uri="{FF2B5EF4-FFF2-40B4-BE49-F238E27FC236}">
                <a16:creationId xmlns:a16="http://schemas.microsoft.com/office/drawing/2014/main" id="{6A691595-7617-D55D-CB56-EC42CF1C8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3276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25" name="Rectangle 126">
            <a:extLst>
              <a:ext uri="{FF2B5EF4-FFF2-40B4-BE49-F238E27FC236}">
                <a16:creationId xmlns:a16="http://schemas.microsoft.com/office/drawing/2014/main" id="{FAEF91B4-9BAC-3A72-EFC6-24D59DCD6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3657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26" name="Rectangle 127">
            <a:extLst>
              <a:ext uri="{FF2B5EF4-FFF2-40B4-BE49-F238E27FC236}">
                <a16:creationId xmlns:a16="http://schemas.microsoft.com/office/drawing/2014/main" id="{03CA04C6-1FB3-69A6-CDC9-0C75DAAB0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4038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27" name="Rectangle 128">
            <a:extLst>
              <a:ext uri="{FF2B5EF4-FFF2-40B4-BE49-F238E27FC236}">
                <a16:creationId xmlns:a16="http://schemas.microsoft.com/office/drawing/2014/main" id="{A4A97729-877B-E586-B275-AEDB71BEE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4419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28" name="Rectangle 129">
            <a:extLst>
              <a:ext uri="{FF2B5EF4-FFF2-40B4-BE49-F238E27FC236}">
                <a16:creationId xmlns:a16="http://schemas.microsoft.com/office/drawing/2014/main" id="{3B59E5CE-7CAE-A5B4-8725-637075A65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4800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9" name="Rectangle 130">
            <a:extLst>
              <a:ext uri="{FF2B5EF4-FFF2-40B4-BE49-F238E27FC236}">
                <a16:creationId xmlns:a16="http://schemas.microsoft.com/office/drawing/2014/main" id="{CDB3B55D-D3D8-E480-D91A-BAB77214F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5562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0" name="Rectangle 131">
            <a:extLst>
              <a:ext uri="{FF2B5EF4-FFF2-40B4-BE49-F238E27FC236}">
                <a16:creationId xmlns:a16="http://schemas.microsoft.com/office/drawing/2014/main" id="{D6DA9211-3EAA-6B22-2A14-C1C227ECC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18" y="5943734"/>
            <a:ext cx="1371600" cy="3048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31" name="Rectangle 132">
            <a:extLst>
              <a:ext uri="{FF2B5EF4-FFF2-40B4-BE49-F238E27FC236}">
                <a16:creationId xmlns:a16="http://schemas.microsoft.com/office/drawing/2014/main" id="{35E5CDDC-6E53-C327-A3D9-A7210E972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518" y="5181734"/>
            <a:ext cx="1300163" cy="3048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baseline="3000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32" name="Rectangle 133">
            <a:extLst>
              <a:ext uri="{FF2B5EF4-FFF2-40B4-BE49-F238E27FC236}">
                <a16:creationId xmlns:a16="http://schemas.microsoft.com/office/drawing/2014/main" id="{925CDF6B-7C1D-B7E9-1DEB-8141C112F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518" y="6324734"/>
            <a:ext cx="1300163" cy="3048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baseline="3000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33" name="Rectangle 134">
            <a:extLst>
              <a:ext uri="{FF2B5EF4-FFF2-40B4-BE49-F238E27FC236}">
                <a16:creationId xmlns:a16="http://schemas.microsoft.com/office/drawing/2014/main" id="{800AEB02-B0FE-EE86-064B-7E42B7183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518" y="990734"/>
            <a:ext cx="1300163" cy="3048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baseline="3000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34" name="Rectangle 135">
            <a:extLst>
              <a:ext uri="{FF2B5EF4-FFF2-40B4-BE49-F238E27FC236}">
                <a16:creationId xmlns:a16="http://schemas.microsoft.com/office/drawing/2014/main" id="{FA1DCAAA-0CC6-2D03-4AF9-C81D18AF7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518" y="2895734"/>
            <a:ext cx="1300163" cy="3048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baseline="3000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35" name="Rectangle 136">
            <a:extLst>
              <a:ext uri="{FF2B5EF4-FFF2-40B4-BE49-F238E27FC236}">
                <a16:creationId xmlns:a16="http://schemas.microsoft.com/office/drawing/2014/main" id="{E257FAC4-0293-B3FF-455F-EA905EBE6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518" y="1752734"/>
            <a:ext cx="1300163" cy="304800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baseline="3000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Times New Roman" panose="02020603050405020304" pitchFamily="18" charset="0"/>
              </a:rPr>
              <a:t>D</a:t>
            </a:r>
          </a:p>
        </p:txBody>
      </p:sp>
      <p:pic>
        <p:nvPicPr>
          <p:cNvPr id="136" name="Picture 140">
            <a:extLst>
              <a:ext uri="{FF2B5EF4-FFF2-40B4-BE49-F238E27FC236}">
                <a16:creationId xmlns:a16="http://schemas.microsoft.com/office/drawing/2014/main" id="{179094E6-A01E-E6A8-72AA-6CB002DF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968" y="146184"/>
            <a:ext cx="4176713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37" name="Text Box 7">
            <a:extLst>
              <a:ext uri="{FF2B5EF4-FFF2-40B4-BE49-F238E27FC236}">
                <a16:creationId xmlns:a16="http://schemas.microsoft.com/office/drawing/2014/main" id="{1886D1D3-BCC1-8019-83D4-FD5728597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6400" y="3556471"/>
            <a:ext cx="2362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D, 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P, 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S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5     9     1  -&gt; 15</a:t>
            </a:r>
          </a:p>
        </p:txBody>
      </p:sp>
    </p:spTree>
    <p:extLst>
      <p:ext uri="{BB962C8B-B14F-4D97-AF65-F5344CB8AC3E}">
        <p14:creationId xmlns:p14="http://schemas.microsoft.com/office/powerpoint/2010/main" val="18364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 autoUpdateAnimBg="0"/>
      <p:bldP spid="132" grpId="0" animBg="1" autoUpdateAnimBg="0"/>
      <p:bldP spid="133" grpId="0" animBg="1" autoUpdateAnimBg="0"/>
      <p:bldP spid="134" grpId="0" animBg="1" autoUpdateAnimBg="0"/>
      <p:bldP spid="135" grpId="0" animBg="1" autoUpdateAnimBg="0"/>
      <p:bldP spid="13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2710929" y="1127488"/>
            <a:ext cx="5613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p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2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4768329" y="1810544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p</a:t>
            </a: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2</a:t>
            </a:r>
          </a:p>
        </p:txBody>
      </p:sp>
      <p:sp>
        <p:nvSpPr>
          <p:cNvPr id="16" name="Line 4"/>
          <p:cNvSpPr>
            <a:spLocks noChangeShapeType="1"/>
          </p:cNvSpPr>
          <p:nvPr/>
        </p:nvSpPr>
        <p:spPr bwMode="auto">
          <a:xfrm>
            <a:off x="4920729" y="2420144"/>
            <a:ext cx="0" cy="3810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>
              <a:spcBef>
                <a:spcPct val="20000"/>
              </a:spcBef>
              <a:defRPr/>
            </a:pPr>
            <a:endParaRPr lang="zh-CN" altLang="en-US" kern="0">
              <a:solidFill>
                <a:srgbClr val="000000"/>
              </a:solidFill>
              <a:latin typeface="Arial" charset="0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7603828" y="1886744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>
            <a:off x="7770515" y="2383632"/>
            <a:ext cx="0" cy="3810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>
              <a:spcBef>
                <a:spcPct val="20000"/>
              </a:spcBef>
              <a:defRPr/>
            </a:pPr>
            <a:endParaRPr lang="zh-CN" altLang="en-US" kern="0">
              <a:solidFill>
                <a:srgbClr val="000000"/>
              </a:solidFill>
              <a:latin typeface="Arial" charset="0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6981527" y="2801144"/>
            <a:ext cx="1771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L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= 0, 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 =1/2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4377804" y="2953544"/>
            <a:ext cx="135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1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 </a:t>
            </a: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3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 </a:t>
            </a: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1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D</a:t>
            </a:r>
            <a:endParaRPr lang="en-US" altLang="zh-CN">
              <a:solidFill>
                <a:srgbClr val="000000"/>
              </a:solidFill>
              <a:latin typeface="Times New Roman" pitchFamily="18" charset="0"/>
              <a:cs typeface="Arial Unicode MS" pitchFamily="34" charset="-122"/>
            </a:endParaRP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2710929" y="3639344"/>
            <a:ext cx="3976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L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=0, 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 =0 | 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L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=1, 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=1| 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L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=2, 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=0</a:t>
            </a:r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>
            <a:off x="4844529" y="4325144"/>
            <a:ext cx="1752600" cy="5334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>
              <a:spcBef>
                <a:spcPct val="20000"/>
              </a:spcBef>
              <a:defRPr/>
            </a:pPr>
            <a:endParaRPr lang="zh-CN" altLang="en-US" kern="0">
              <a:solidFill>
                <a:srgbClr val="000000"/>
              </a:solidFill>
              <a:latin typeface="Arial" charset="0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 flipV="1">
            <a:off x="6597129" y="3410744"/>
            <a:ext cx="990600" cy="1447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>
              <a:spcBef>
                <a:spcPct val="20000"/>
              </a:spcBef>
              <a:defRPr/>
            </a:pPr>
            <a:endParaRPr lang="zh-CN" altLang="en-US" kern="0">
              <a:solidFill>
                <a:srgbClr val="000000"/>
              </a:solidFill>
              <a:latin typeface="Arial" charset="0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6597129" y="4858544"/>
            <a:ext cx="0" cy="4572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>
              <a:spcBef>
                <a:spcPct val="20000"/>
              </a:spcBef>
              <a:defRPr/>
            </a:pPr>
            <a:endParaRPr lang="zh-CN" altLang="en-US" kern="0">
              <a:solidFill>
                <a:srgbClr val="000000"/>
              </a:solidFill>
              <a:latin typeface="Arial" charset="0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5768454" y="5468144"/>
            <a:ext cx="179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2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S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 </a:t>
            </a: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2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 </a:t>
            </a: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4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 </a:t>
            </a:r>
            <a:r>
              <a:rPr lang="en-US" altLang="zh-CN" baseline="30000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2</a:t>
            </a:r>
            <a:r>
              <a:rPr lang="en-US" altLang="zh-CN" i="1">
                <a:solidFill>
                  <a:srgbClr val="000000"/>
                </a:solidFill>
                <a:latin typeface="Times New Roman" pitchFamily="18" charset="0"/>
                <a:cs typeface="Arial Unicode MS" pitchFamily="34" charset="-122"/>
              </a:rPr>
              <a:t>D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23392" y="548680"/>
            <a:ext cx="15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39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78516" y="252302"/>
            <a:ext cx="3760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terms of atoms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3E3120-CFCE-20D3-EDD4-D36B62C0A339}"/>
              </a:ext>
            </a:extLst>
          </p:cNvPr>
          <p:cNvSpPr txBox="1"/>
          <p:nvPr/>
        </p:nvSpPr>
        <p:spPr>
          <a:xfrm>
            <a:off x="405548" y="1016092"/>
            <a:ext cx="113772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由同一组态产生的谱项中，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最大的谱项能量最低；对于 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相同的谱项，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 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最大的能量最低。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614B23-6DB1-8FB1-FCA5-D00660384E5D}"/>
              </a:ext>
            </a:extLst>
          </p:cNvPr>
          <p:cNvSpPr txBox="1"/>
          <p:nvPr/>
        </p:nvSpPr>
        <p:spPr>
          <a:xfrm>
            <a:off x="471906" y="1955314"/>
            <a:ext cx="11244548" cy="1569660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为什么最大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（即最大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）能量更低？：交换相互作用。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为什么最大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（即最大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）能量更低？：电子相关。最大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的态，对应于一种电子空间运动模式，其中价电子由于高的角动量而彼此保持距离，从而最小化了它们之间的库仑排斥能。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C6FBD9-1A95-3C30-1D88-67416343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930793" y="6114219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Wingdings" pitchFamily="2" charset="2"/>
              </a:rPr>
              <a:t>  p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Wingdings" pitchFamily="2" charset="2"/>
              </a:rPr>
              <a:t>2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Wingdings" pitchFamily="2" charset="2"/>
              </a:rPr>
              <a:t>:   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P, 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D, 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</a:t>
            </a:r>
          </a:p>
        </p:txBody>
      </p:sp>
      <p:pic>
        <p:nvPicPr>
          <p:cNvPr id="8" name="Picture 6" descr="2-11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4" y="3524974"/>
            <a:ext cx="6019800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085121" y="3842993"/>
            <a:ext cx="1871663" cy="466725"/>
          </a:xfrm>
          <a:prstGeom prst="rect">
            <a:avLst/>
          </a:prstGeom>
          <a:noFill/>
          <a:ln w="9525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np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3 4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D, 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482274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F52BB7-F116-7257-56BC-9C4D230B7A40}"/>
              </a:ext>
            </a:extLst>
          </p:cNvPr>
          <p:cNvSpPr txBox="1"/>
          <p:nvPr/>
        </p:nvSpPr>
        <p:spPr>
          <a:xfrm>
            <a:off x="585568" y="1351625"/>
            <a:ext cx="11017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零级近似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：中心场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近似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Hartree-Fock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），给出了电子组态和高度简并的能级，每个电子都在这个中心场中独立运动，单粒子零级哈密顿的本征函数单电子轨道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59F26A-1000-26A1-4B22-51118661BD9D}"/>
              </a:ext>
            </a:extLst>
          </p:cNvPr>
          <p:cNvSpPr txBox="1"/>
          <p:nvPr/>
        </p:nvSpPr>
        <p:spPr>
          <a:xfrm>
            <a:off x="565176" y="38991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微扰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算符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Ĥ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’ =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Ĥ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Ĥ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（板书）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3E9AB9-E172-9CA6-1A4B-61544416C078}"/>
              </a:ext>
            </a:extLst>
          </p:cNvPr>
          <p:cNvSpPr txBox="1"/>
          <p:nvPr/>
        </p:nvSpPr>
        <p:spPr>
          <a:xfrm>
            <a:off x="565176" y="2418204"/>
            <a:ext cx="10860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零级波函数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个电子体系的零级波函数是这些单电子轨道构成的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Slater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行列式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Slater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行列式只是众多可能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排布状态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之一。电子可以以不同的方式填充磁量子数和自旋磁量子数，从而产生多个具有相同零级能量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₀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Slater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行列式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4F211A-817D-264B-8055-AB5231F6FD07}"/>
              </a:ext>
            </a:extLst>
          </p:cNvPr>
          <p:cNvSpPr txBox="1"/>
          <p:nvPr/>
        </p:nvSpPr>
        <p:spPr>
          <a:xfrm>
            <a:off x="479376" y="5170979"/>
            <a:ext cx="11323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通过对角化微扰矩阵，在一级近似下就解除了大部分简并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（块对角化）。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对角化的结果会自然地将简并态分组。每一组对应一个特定的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组合，即一个光谱项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²ˢ⁺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¹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526CD3-682B-6C40-DECF-AA588B93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A18A0CEA-B598-E6C9-AED4-0CECD6F8C6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59C697-0B96-1982-274C-1ABEA6645EF9}"/>
              </a:ext>
            </a:extLst>
          </p:cNvPr>
          <p:cNvSpPr txBox="1"/>
          <p:nvPr/>
        </p:nvSpPr>
        <p:spPr>
          <a:xfrm>
            <a:off x="3935760" y="251558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从变分和微扰理解原子谱项</a:t>
            </a:r>
          </a:p>
        </p:txBody>
      </p:sp>
    </p:spTree>
    <p:extLst>
      <p:ext uri="{BB962C8B-B14F-4D97-AF65-F5344CB8AC3E}">
        <p14:creationId xmlns:p14="http://schemas.microsoft.com/office/powerpoint/2010/main" val="107284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50101" y="253089"/>
            <a:ext cx="62039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Spin-orbit coupling and level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splittings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7368" y="1570994"/>
            <a:ext cx="11588817" cy="2272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 fontAlgn="auto">
              <a:lnSpc>
                <a:spcPct val="120000"/>
              </a:lnSpc>
              <a:spcBef>
                <a:spcPts val="0"/>
              </a:spcBef>
              <a:spcAft>
                <a:spcPts val="404"/>
              </a:spcAft>
              <a:defRPr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一个谱项中的各个能级会因自旋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轨道耦合效应而存在微小的能量差异。这种相互作用源于每个电子的磁矩（与其自旋方向成正比）与其自身轨道运动之间的耦合。体系倾向于让每个电子的自旋方向与其自身轨道角动量方向相反：对于未达半满的电子层，总角动量量子数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最小的能级能量最低；对于超过半满的电子层，总角动量量子数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最大的能级能量最低。（洪特第三规则）。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DAA9F-7811-8307-21EF-6D3132C643E7}"/>
              </a:ext>
            </a:extLst>
          </p:cNvPr>
          <p:cNvSpPr txBox="1"/>
          <p:nvPr/>
        </p:nvSpPr>
        <p:spPr>
          <a:xfrm>
            <a:off x="551384" y="4495068"/>
            <a:ext cx="10824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spin-orbit coupling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02B0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 not described by the Schrodinger Hamiltonian, because it is relativistic in origin, but we can add it in. 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90B81E-ECE9-1B49-56A6-E3002BFC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164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08649" y="217783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Spin-orbit coupling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33916" y="866547"/>
                <a:ext cx="11958083" cy="54225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404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 spin-orbit coupling energy for a single electron is 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𝜁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𝒍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𝒔</m:t>
                    </m:r>
                  </m:oMath>
                </a14:m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𝜁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&gt;0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a many-electron atom, the spin-orbit energy within a single term takes the form 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𝜆</m:t>
                    </m:r>
                    <m:acc>
                      <m:accPr>
                        <m:chr m:val="̂"/>
                        <m:ctrlP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𝑳</m:t>
                        </m:r>
                      </m:e>
                    </m:acc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∙</m:t>
                    </m:r>
                    <m:acc>
                      <m:accPr>
                        <m:chr m:val="̂"/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𝑺</m:t>
                        </m:r>
                      </m:e>
                    </m:acc>
                  </m:oMath>
                </a14:m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=±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𝜁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 plus sign applies for shells that are less than half full, and the minus sign for shells that are more than half full.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 total angular momentum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𝑱</m:t>
                        </m:r>
                      </m:e>
                    </m:acc>
                    <m:r>
                      <a:rPr kumimoji="0" lang="en-US" altLang="zh-CN" sz="2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acc>
                      <m:accPr>
                        <m:chr m:val="̂"/>
                        <m:ctrlP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𝑳</m:t>
                        </m:r>
                      </m:e>
                    </m:acc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acc>
                      <m:accPr>
                        <m:chr m:val="̂"/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𝑺</m:t>
                        </m:r>
                      </m:e>
                    </m:acc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which is associated with the quantum number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J. J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can take the values from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by integer steps down to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as we have seen.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Now</a:t>
                </a:r>
              </a:p>
              <a:p>
                <a:pPr marL="0" marR="0" lvl="0" indent="0" algn="r" defTabSz="457200" rtl="0" eaLnBrk="1" fontAlgn="auto" latinLnBrk="0" hangingPunct="1">
                  <a:lnSpc>
                    <a:spcPct val="95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926B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so</a:t>
                </a:r>
              </a:p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926B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an atomic term,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𝑳</m:t>
                        </m:r>
                      </m:e>
                    </m:acc>
                  </m:oMath>
                </a14:m>
                <a:r>
                  <a:rPr kumimoji="0" lang="en-US" altLang="zh-CN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has the eigenvalue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+1) 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𝑺</m:t>
                        </m:r>
                      </m:e>
                    </m:acc>
                  </m:oMath>
                </a14:m>
                <a:r>
                  <a:rPr kumimoji="0" lang="en-US" altLang="zh-CN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has the eigenvalue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+1)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while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𝑱</m:t>
                        </m:r>
                      </m:e>
                    </m:acc>
                  </m:oMath>
                </a14:m>
                <a:r>
                  <a:rPr kumimoji="0" lang="en-US" altLang="zh-CN" sz="2400" b="0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has the eigenvalue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𝐽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𝐽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+1)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which is different for each level.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6" y="866547"/>
                <a:ext cx="11958083" cy="5422575"/>
              </a:xfrm>
              <a:prstGeom prst="rect">
                <a:avLst/>
              </a:prstGeom>
              <a:blipFill>
                <a:blip r:embed="rId2"/>
                <a:stretch>
                  <a:fillRect l="-765" t="-225" r="-968" b="-15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5F14F83-F490-4946-91C8-20DE1EE080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960955"/>
              </p:ext>
            </p:extLst>
          </p:nvPr>
        </p:nvGraphicFramePr>
        <p:xfrm>
          <a:off x="4307957" y="3789040"/>
          <a:ext cx="3810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760" imgH="342720" progId="Equation.DSMT4">
                  <p:embed/>
                </p:oleObj>
              </mc:Choice>
              <mc:Fallback>
                <p:oleObj name="Equation" r:id="rId3" imgW="19047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5F14F83-F490-4946-91C8-20DE1EE080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7957" y="3789040"/>
                        <a:ext cx="3810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4F2EAC3-2A0B-420C-9908-71DB342A7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0186"/>
              </p:ext>
            </p:extLst>
          </p:nvPr>
        </p:nvGraphicFramePr>
        <p:xfrm>
          <a:off x="4671819" y="4486681"/>
          <a:ext cx="284472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393480" progId="Equation.DSMT4">
                  <p:embed/>
                </p:oleObj>
              </mc:Choice>
              <mc:Fallback>
                <p:oleObj name="Equation" r:id="rId5" imgW="1422360" imgH="393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4F2EAC3-2A0B-420C-9908-71DB342A7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1819" y="4486681"/>
                        <a:ext cx="2844720" cy="78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98E0D7-88A7-4196-177D-8DD222D6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524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325071" y="258107"/>
          <a:ext cx="345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457200" progId="Equation.DSMT4">
                  <p:embed/>
                </p:oleObj>
              </mc:Choice>
              <mc:Fallback>
                <p:oleObj name="Equation" r:id="rId2" imgW="1726920" imgH="4572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071" y="258107"/>
                        <a:ext cx="345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56893" y="1501897"/>
            <a:ext cx="6517986" cy="469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Ĥ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still can not interpret the atomic spectrums. </a:t>
            </a:r>
          </a:p>
        </p:txBody>
      </p:sp>
      <p:sp>
        <p:nvSpPr>
          <p:cNvPr id="10" name="矩形 9"/>
          <p:cNvSpPr/>
          <p:nvPr/>
        </p:nvSpPr>
        <p:spPr>
          <a:xfrm>
            <a:off x="544597" y="4554119"/>
            <a:ext cx="10080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Ĥ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commutes with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Z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and with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but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does not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3571F3-558E-3D5B-BCBC-35F174FCF837}"/>
              </a:ext>
            </a:extLst>
          </p:cNvPr>
          <p:cNvSpPr txBox="1"/>
          <p:nvPr/>
        </p:nvSpPr>
        <p:spPr>
          <a:xfrm>
            <a:off x="544597" y="2207807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We must consider the high-level Hamiltonian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4102253" y="2812775"/>
          <a:ext cx="2540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19040" progId="Equation.DSMT4">
                  <p:embed/>
                </p:oleObj>
              </mc:Choice>
              <mc:Fallback>
                <p:oleObj name="Equation" r:id="rId4" imgW="1269720" imgH="419040" progId="Equation.DSMT4">
                  <p:embed/>
                  <p:pic>
                    <p:nvPicPr>
                      <p:cNvPr id="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253" y="2812775"/>
                        <a:ext cx="2540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D495D9B-D321-1936-85E9-24C0E0E52655}"/>
              </a:ext>
            </a:extLst>
          </p:cNvPr>
          <p:cNvSpPr/>
          <p:nvPr/>
        </p:nvSpPr>
        <p:spPr>
          <a:xfrm>
            <a:off x="4412972" y="3909443"/>
            <a:ext cx="79513" cy="133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78CED5-2543-038E-8647-3054E431CBF2}"/>
              </a:ext>
            </a:extLst>
          </p:cNvPr>
          <p:cNvSpPr txBox="1"/>
          <p:nvPr/>
        </p:nvSpPr>
        <p:spPr>
          <a:xfrm>
            <a:off x="3993045" y="3871714"/>
            <a:ext cx="19406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Ĥ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Ĥ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+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Ĥ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SO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C56F31-E0B8-90E5-B7F5-18DD9FCF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8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29365" y="814418"/>
          <a:ext cx="4800240" cy="198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120" imgH="990360" progId="Equation.DSMT4">
                  <p:embed/>
                </p:oleObj>
              </mc:Choice>
              <mc:Fallback>
                <p:oleObj name="Equation" r:id="rId2" imgW="2400120" imgH="99036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9365" y="814418"/>
                        <a:ext cx="4800240" cy="198072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633211" y="814418"/>
          <a:ext cx="4800240" cy="198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120" imgH="990360" progId="Equation.DSMT4">
                  <p:embed/>
                </p:oleObj>
              </mc:Choice>
              <mc:Fallback>
                <p:oleObj name="Equation" r:id="rId4" imgW="2400120" imgH="9903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33211" y="814418"/>
                        <a:ext cx="4800240" cy="198072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156094" y="3101329"/>
          <a:ext cx="3708000" cy="1320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660240" progId="Equation.DSMT4">
                  <p:embed/>
                </p:oleObj>
              </mc:Choice>
              <mc:Fallback>
                <p:oleObj name="Equation" r:id="rId6" imgW="1854000" imgH="66024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56094" y="3101329"/>
                        <a:ext cx="3708000" cy="132048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EC415FC-0895-02FC-C407-263530CEA068}"/>
              </a:ext>
            </a:extLst>
          </p:cNvPr>
          <p:cNvSpPr txBox="1"/>
          <p:nvPr/>
        </p:nvSpPr>
        <p:spPr>
          <a:xfrm>
            <a:off x="629365" y="5098774"/>
            <a:ext cx="10804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在考虑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耦合情况下，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不再是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好的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量子数所对应的算符，而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与哈密顿算符对易。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32328E-37EC-3C37-8D20-07B986A6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06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4167101" y="567931"/>
            <a:ext cx="15600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07694" y="1182500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have the common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eigenfunctions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6301335" y="1188792"/>
          <a:ext cx="202723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53800" progId="Equation.DSMT4">
                  <p:embed/>
                </p:oleObj>
              </mc:Choice>
              <mc:Fallback>
                <p:oleObj name="Equation" r:id="rId2" imgW="1015920" imgH="253800" progId="Equation.DSMT4">
                  <p:embed/>
                  <p:pic>
                    <p:nvPicPr>
                      <p:cNvPr id="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335" y="1188792"/>
                        <a:ext cx="202723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/>
        </p:nvGraphicFramePr>
        <p:xfrm>
          <a:off x="6427541" y="2286056"/>
          <a:ext cx="887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53800" progId="Equation.DSMT4">
                  <p:embed/>
                </p:oleObj>
              </mc:Choice>
              <mc:Fallback>
                <p:oleObj name="Equation" r:id="rId4" imgW="444240" imgH="253800" progId="Equation.DSMT4">
                  <p:embed/>
                  <p:pic>
                    <p:nvPicPr>
                      <p:cNvPr id="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541" y="2286056"/>
                        <a:ext cx="887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4217092" y="1765882"/>
            <a:ext cx="997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207694" y="2286056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have the common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eigenfunction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68786" y="3017216"/>
            <a:ext cx="2491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07694" y="3501272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have the common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eigenfunction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5934540" y="3478899"/>
          <a:ext cx="42560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253800" progId="Equation.DSMT4">
                  <p:embed/>
                </p:oleObj>
              </mc:Choice>
              <mc:Fallback>
                <p:oleObj name="Equation" r:id="rId6" imgW="2133360" imgH="253800" progId="Equation.DSMT4">
                  <p:embed/>
                  <p:pic>
                    <p:nvPicPr>
                      <p:cNvPr id="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540" y="3478899"/>
                        <a:ext cx="42560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3735513" y="4375234"/>
            <a:ext cx="3801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+ L·S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J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J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62134" y="4951649"/>
            <a:ext cx="10750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have the common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eigenfunctions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l,s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, j, 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j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are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the good quantum numbers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9EE403-D9F9-A37A-E01F-3764C2A6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310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92610" y="549041"/>
            <a:ext cx="22044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3000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cs"/>
              </a:rPr>
              <a:t>2S+1</a:t>
            </a:r>
            <a:r>
              <a:rPr kumimoji="0" lang="en-US" altLang="zh-CN" sz="60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0" lang="en-US" altLang="zh-CN" sz="6000" b="0" i="1" u="none" strike="noStrike" kern="1200" cap="none" spc="0" normalizeH="0" baseline="-2500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43672" y="1096829"/>
            <a:ext cx="4243469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total angular momentum quantum number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2926B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58546" y="3072080"/>
                <a:ext cx="7740970" cy="3137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example, the B atom has the configuration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Completely filled shells have total angular momentum zero, so we need only consider the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electron. It has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= 1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(so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 =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symbol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1D1A8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1A8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and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(so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and the multiplicity is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 doublet).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can be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num>
                      <m:den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−1= |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There are two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levels,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with term symbols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1/2</m:t>
                        </m:r>
                      </m:sub>
                    </m:sSub>
                  </m:oMath>
                </a14:m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2926B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3/2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46" y="3072080"/>
                <a:ext cx="7740970" cy="3137462"/>
              </a:xfrm>
              <a:prstGeom prst="rect">
                <a:avLst/>
              </a:prstGeom>
              <a:blipFill rotWithShape="1">
                <a:blip r:embed="rId2"/>
                <a:stretch>
                  <a:fillRect l="-1" t="-990" r="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File:LS coupling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242" y="3072080"/>
            <a:ext cx="3174829" cy="339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58546" y="2045563"/>
                <a:ext cx="11059428" cy="9466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 quantum number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associated with the total angular momentum can take the values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−1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..., down to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𝑆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 values of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and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define a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level.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21055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46" y="2045563"/>
                <a:ext cx="11059428" cy="946606"/>
              </a:xfrm>
              <a:prstGeom prst="rect">
                <a:avLst/>
              </a:prstGeom>
              <a:blipFill rotWithShape="1">
                <a:blip r:embed="rId4"/>
                <a:stretch>
                  <a:fillRect l="-1" t="-24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7536160" y="244866"/>
            <a:ext cx="4535488" cy="1624012"/>
          </a:xfrm>
          <a:prstGeom prst="rect">
            <a:avLst/>
          </a:prstGeom>
          <a:noFill/>
          <a:ln w="9525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3" pitchFamily="18" charset="2"/>
              <a:buNone/>
              <a:tabLst/>
              <a:defRPr/>
            </a:pPr>
            <a:r>
              <a:rPr kumimoji="1" lang="en-US" altLang="ko-KR" sz="2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</a:rPr>
              <a:t> The total angular momentum</a:t>
            </a:r>
            <a:endParaRPr kumimoji="1" lang="en-US" altLang="zh-CN" sz="28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Batang" pitchFamily="18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3" pitchFamily="18" charset="2"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</a:rPr>
              <a:t>J = 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ko-K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kumimoji="1" lang="en-US" altLang="ko-K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</a:rPr>
              <a:t>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ko-K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S) –1,…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  <a:sym typeface="Symbol" panose="05050102010706020507" pitchFamily="18" charset="2"/>
              </a:rPr>
              <a:t></a:t>
            </a:r>
            <a:r>
              <a:rPr kumimoji="1" lang="en-US" altLang="ko-K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en-US" altLang="ko-K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  <a:sym typeface="Symbol" panose="05050102010706020507" pitchFamily="18" charset="2"/>
              </a:rPr>
              <a:t></a:t>
            </a: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Batang" pitchFamily="18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3" pitchFamily="18" charset="2"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</a:rPr>
              <a:t>         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</a:rPr>
              <a:t>Spin – orbit coupling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" pitchFamily="18" charset="-127"/>
                <a:cs typeface="+mn-cs"/>
              </a:rPr>
              <a:t> </a:t>
            </a:r>
            <a:r>
              <a:rPr kumimoji="1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BatangChe" pitchFamily="49" charset="-127"/>
                <a:cs typeface="+mn-cs"/>
              </a:rPr>
              <a:t> 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A3FBB8-7740-0AE2-622E-12B0E02D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79444" y="631182"/>
            <a:ext cx="11594841" cy="200054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Example: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Find the possible values of the total-angular- momentum quantum number resulting from  the addition of two angular momenta with quantum number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2 and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3 .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Solution: 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=2+3=5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|j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|=|2-3|=1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The possible J values are: 5, 4, 3, 2, 1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86139" y="3476817"/>
            <a:ext cx="11756571" cy="2000548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Example: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Find the possible values of the total-angular- momentum quantum number resulting from  the addition of two angular momenta with quantum number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2 and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3/2 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Solution: 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=2+3/2=7/2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|j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-j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|=|2-3/2|=1/2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The possible J values are: 7/2, 5/2, 3/2, 1/2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C88AD85-B1FD-FF5F-EBF6-1296B067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05834" y="265427"/>
            <a:ext cx="7178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Hund's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third rule and the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Landé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interval rule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23935" y="999608"/>
                <a:ext cx="11656193" cy="33233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404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Consequently the spin-orbit coupling energy takes the form</a:t>
                </a:r>
              </a:p>
              <a:p>
                <a:pPr marL="0" marR="0" lvl="0" indent="0" algn="r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926B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224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224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𝜆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is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positive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for shells that are less than half full, but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negative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for shells that are more than half full, this leads to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Hund's third rule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rPr>
                  <a:t>:</a:t>
                </a:r>
              </a:p>
              <a:p>
                <a:pPr marL="288000" marR="0" lvl="0" indent="0" algn="l" defTabSz="457200" rtl="0" eaLnBrk="1" fontAlgn="auto" latinLnBrk="0" hangingPunct="1">
                  <a:lnSpc>
                    <a:spcPct val="121000"/>
                  </a:lnSpc>
                  <a:spcBef>
                    <a:spcPts val="0"/>
                  </a:spcBef>
                  <a:spcAft>
                    <a:spcPts val="224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If the shell is less than half full, the lowest level within the ground term is the one with minimum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; if it is more than half full, the lowest level is the one with maximum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35" y="999608"/>
                <a:ext cx="11656193" cy="3323346"/>
              </a:xfrm>
              <a:prstGeom prst="rect">
                <a:avLst/>
              </a:prstGeom>
              <a:blipFill>
                <a:blip r:embed="rId2"/>
                <a:stretch>
                  <a:fillRect l="-837" t="-367" b="-2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B18783B-A95F-42D9-B91F-2831AE153C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658061"/>
              </p:ext>
            </p:extLst>
          </p:nvPr>
        </p:nvGraphicFramePr>
        <p:xfrm>
          <a:off x="1847528" y="1634804"/>
          <a:ext cx="866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30440" imgH="393480" progId="Equation.DSMT4">
                  <p:embed/>
                </p:oleObj>
              </mc:Choice>
              <mc:Fallback>
                <p:oleObj name="Equation" r:id="rId3" imgW="433044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B18783B-A95F-42D9-B91F-2831AE153C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528" y="1634804"/>
                        <a:ext cx="8661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3935" y="4653136"/>
            <a:ext cx="11583446" cy="83099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The scalar product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S·L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 is negative if the spin and orbital angular momentum are in opposite directions. Since the coefficient of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S·L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 is positive, lower J is lower in energy.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4F7DD2A-B4D6-0204-BB3B-69E9F154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081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4CE4374-8139-48A9-97CA-6BC11D9FC1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8236" y="2223262"/>
          <a:ext cx="640080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393480" progId="Equation.DSMT4">
                  <p:embed/>
                </p:oleObj>
              </mc:Choice>
              <mc:Fallback>
                <p:oleObj name="Equation" r:id="rId2" imgW="320040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4CE4374-8139-48A9-97CA-6BC11D9FC1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98236" y="2223262"/>
                        <a:ext cx="6400800" cy="78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91411" y="1155260"/>
                <a:ext cx="11414449" cy="3924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3000"/>
                  </a:lnSpc>
                  <a:spcBef>
                    <a:spcPts val="0"/>
                  </a:spcBef>
                  <a:spcAft>
                    <a:spcPts val="404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This result also leads to the </a:t>
                </a:r>
                <a:r>
                  <a:rPr kumimoji="0" lang="en-US" altLang="zh-CN" sz="2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Landé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interval rule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: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 splitting between adjacent levels is proportional to the higher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value: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23000"/>
                  </a:lnSpc>
                  <a:spcBef>
                    <a:spcPts val="0"/>
                  </a:spcBef>
                  <a:spcAft>
                    <a:spcPts val="404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3000"/>
                  </a:lnSpc>
                  <a:spcBef>
                    <a:spcPts val="0"/>
                  </a:spcBef>
                  <a:spcAft>
                    <a:spcPts val="404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The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spin-orbit coupling constant 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6B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𝜆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increases sharply with atomic number; for instance it is about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270 cm</a:t>
                </a:r>
                <a:r>
                  <a:rPr kumimoji="0" lang="en-US" altLang="zh-CN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F,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586 cm</a:t>
                </a:r>
                <a:r>
                  <a:rPr kumimoji="0" lang="en-US" altLang="zh-CN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Cl and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2460 cm</a:t>
                </a:r>
                <a:r>
                  <a:rPr kumimoji="0" lang="en-US" altLang="zh-CN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6B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for Br. If the value is too large, so that the effects of spin-orbit coupling are comparable with those of electron repulsion, the treatment given here (known as 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Russell-Saunders coupling)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02B0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is inappropriate.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11" y="1155260"/>
                <a:ext cx="11414449" cy="3924921"/>
              </a:xfrm>
              <a:prstGeom prst="rect">
                <a:avLst/>
              </a:prstGeom>
              <a:blipFill>
                <a:blip r:embed="rId5"/>
                <a:stretch>
                  <a:fillRect l="-855" t="-156" b="-1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A421D6-C125-CF19-1388-FAC42E38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66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5C2569-6297-C272-D4DE-BAAEC769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A72-7DFB-4E48-AFB7-E601B574A013}" type="slidenum">
              <a:rPr lang="zh-CN" altLang="en-US" smtClean="0"/>
              <a:t>38</a:t>
            </a:fld>
            <a:endParaRPr lang="zh-CN" altLang="en-US"/>
          </a:p>
        </p:txBody>
      </p:sp>
      <p:grpSp>
        <p:nvGrpSpPr>
          <p:cNvPr id="3" name="Group 30">
            <a:extLst>
              <a:ext uri="{FF2B5EF4-FFF2-40B4-BE49-F238E27FC236}">
                <a16:creationId xmlns:a16="http://schemas.microsoft.com/office/drawing/2014/main" id="{E61EC58D-3AE0-7A9A-2BA5-14336F8B28BB}"/>
              </a:ext>
            </a:extLst>
          </p:cNvPr>
          <p:cNvGrpSpPr>
            <a:grpSpLocks/>
          </p:cNvGrpSpPr>
          <p:nvPr/>
        </p:nvGrpSpPr>
        <p:grpSpPr bwMode="auto">
          <a:xfrm>
            <a:off x="1631504" y="3379136"/>
            <a:ext cx="3505200" cy="900113"/>
            <a:chOff x="384" y="2256"/>
            <a:chExt cx="2208" cy="567"/>
          </a:xfrm>
        </p:grpSpPr>
        <p:sp>
          <p:nvSpPr>
            <p:cNvPr id="4" name="Text Box 11">
              <a:extLst>
                <a:ext uri="{FF2B5EF4-FFF2-40B4-BE49-F238E27FC236}">
                  <a16:creationId xmlns:a16="http://schemas.microsoft.com/office/drawing/2014/main" id="{39642669-FC2B-154E-63DC-9A548A40C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25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nd</a:t>
              </a:r>
              <a:r>
                <a:rPr kumimoji="1" lang="en-US" altLang="zh-CN" sz="2400" b="0" i="0" u="none" strike="noStrike" kern="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grpSp>
          <p:nvGrpSpPr>
            <p:cNvPr id="5" name="Group 28">
              <a:extLst>
                <a:ext uri="{FF2B5EF4-FFF2-40B4-BE49-F238E27FC236}">
                  <a16:creationId xmlns:a16="http://schemas.microsoft.com/office/drawing/2014/main" id="{6DB30E33-B090-D589-E24E-DB4E8433F6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256"/>
              <a:ext cx="1824" cy="567"/>
              <a:chOff x="768" y="2256"/>
              <a:chExt cx="1824" cy="56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758B21B-F8D9-6B56-F550-7EC588B4D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256"/>
                <a:ext cx="1680" cy="33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7" name="Line 6">
                <a:extLst>
                  <a:ext uri="{FF2B5EF4-FFF2-40B4-BE49-F238E27FC236}">
                    <a16:creationId xmlns:a16="http://schemas.microsoft.com/office/drawing/2014/main" id="{7F5DAA29-9B5A-5777-0187-EB3830224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8" name="Line 7">
                <a:extLst>
                  <a:ext uri="{FF2B5EF4-FFF2-40B4-BE49-F238E27FC236}">
                    <a16:creationId xmlns:a16="http://schemas.microsoft.com/office/drawing/2014/main" id="{DE8261A5-CC48-B775-68FC-FCBB64455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25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9" name="Line 8">
                <a:extLst>
                  <a:ext uri="{FF2B5EF4-FFF2-40B4-BE49-F238E27FC236}">
                    <a16:creationId xmlns:a16="http://schemas.microsoft.com/office/drawing/2014/main" id="{D1823CB1-88D4-9204-CDDD-1ADC5F235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5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0" name="Line 9">
                <a:extLst>
                  <a:ext uri="{FF2B5EF4-FFF2-40B4-BE49-F238E27FC236}">
                    <a16:creationId xmlns:a16="http://schemas.microsoft.com/office/drawing/2014/main" id="{C0C0B5E7-8CB0-C0BC-9B18-6B6B9CFD6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25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1" name="Line 10">
                <a:extLst>
                  <a:ext uri="{FF2B5EF4-FFF2-40B4-BE49-F238E27FC236}">
                    <a16:creationId xmlns:a16="http://schemas.microsoft.com/office/drawing/2014/main" id="{CDA108EF-58B0-52D8-D1B5-CF84595DE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2352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C0099913-F0E2-6AF8-7C13-6E724D97D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8" y="2352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3" name="Line 13">
                <a:extLst>
                  <a:ext uri="{FF2B5EF4-FFF2-40B4-BE49-F238E27FC236}">
                    <a16:creationId xmlns:a16="http://schemas.microsoft.com/office/drawing/2014/main" id="{F2D8C030-26DB-EF66-53EF-D3A654465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2352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</a:endParaRPr>
              </a:p>
            </p:txBody>
          </p:sp>
          <p:sp>
            <p:nvSpPr>
              <p:cNvPr id="14" name="Text Box 14">
                <a:extLst>
                  <a:ext uri="{FF2B5EF4-FFF2-40B4-BE49-F238E27FC236}">
                    <a16:creationId xmlns:a16="http://schemas.microsoft.com/office/drawing/2014/main" id="{3391542F-01A6-6670-C30F-D1645B83F2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592"/>
                <a:ext cx="182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</a:rPr>
                  <a:t>2          1       0       -1     -2</a:t>
                </a:r>
              </a:p>
            </p:txBody>
          </p:sp>
        </p:grpSp>
      </p:grpSp>
      <p:sp>
        <p:nvSpPr>
          <p:cNvPr id="15" name="Text Box 15">
            <a:extLst>
              <a:ext uri="{FF2B5EF4-FFF2-40B4-BE49-F238E27FC236}">
                <a16:creationId xmlns:a16="http://schemas.microsoft.com/office/drawing/2014/main" id="{151EA142-ED08-164F-4B2F-D3E5D08F6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704" y="3450574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L=3,  S=3/2     -&gt; </a:t>
            </a:r>
            <a:r>
              <a:rPr kumimoji="1" lang="en-US" altLang="zh-CN" sz="24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4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F</a:t>
            </a:r>
            <a:r>
              <a:rPr kumimoji="1" lang="en-US" altLang="zh-CN" sz="2400" b="0" i="0" u="none" strike="noStrike" kern="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3/2</a:t>
            </a: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8BD8572B-2843-EABD-A456-3A45BBD98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504" y="4765024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L=1,  S=1     -&gt; </a:t>
            </a:r>
            <a:r>
              <a:rPr kumimoji="1" lang="en-US" altLang="zh-CN" sz="2400" b="0" i="0" u="none" strike="noStrike" kern="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P</a:t>
            </a:r>
            <a:r>
              <a:rPr kumimoji="1" lang="en-US" altLang="zh-CN" sz="2400" b="0" i="0" u="none" strike="noStrike" kern="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1B033F0A-298E-8532-5D3B-4D18375EA3B1}"/>
              </a:ext>
            </a:extLst>
          </p:cNvPr>
          <p:cNvGrpSpPr>
            <a:grpSpLocks/>
          </p:cNvGrpSpPr>
          <p:nvPr/>
        </p:nvGrpSpPr>
        <p:grpSpPr bwMode="auto">
          <a:xfrm>
            <a:off x="1555304" y="4688824"/>
            <a:ext cx="2438400" cy="900112"/>
            <a:chOff x="336" y="3081"/>
            <a:chExt cx="1536" cy="567"/>
          </a:xfrm>
        </p:grpSpPr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8A2CA283-9DD5-6EB5-3E05-250E0BFF6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081"/>
              <a:ext cx="1008" cy="33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F29BA02E-DD94-24AB-9CDB-C3C764E4D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081"/>
              <a:ext cx="0" cy="33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14223A47-D51B-9109-E228-C92272926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081"/>
              <a:ext cx="0" cy="33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185F18FB-8DAA-36FB-2716-1958534C26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3177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57872F25-241C-7283-8E90-08EBCC18C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081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np</a:t>
              </a:r>
              <a:r>
                <a:rPr kumimoji="1" lang="en-US" altLang="zh-CN" sz="2400" b="0" i="0" u="none" strike="noStrike" kern="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704690C-CBB0-0A49-624A-50CB44D55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3177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A9B7F3C2-08F2-3333-508D-5397E9BDC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3177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488E9DC7-93A0-ABB4-AEF7-6831F6E1B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417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1        0      - 1</a:t>
              </a: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788FF395-6A9A-B4B6-6EF6-FAA24E3A11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3216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F0568D97-DBCA-526F-F1B5-B682BB42C034}"/>
              </a:ext>
            </a:extLst>
          </p:cNvPr>
          <p:cNvSpPr txBox="1"/>
          <p:nvPr/>
        </p:nvSpPr>
        <p:spPr>
          <a:xfrm>
            <a:off x="767408" y="1268760"/>
            <a:ext cx="100534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(1)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在不违反泡利原理前提下，将电子填入轨道，使每个电子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尽可能大，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也尽可能大；</a:t>
            </a:r>
          </a:p>
          <a:p>
            <a:pPr algn="just" eaLnBrk="1" hangingPunct="1">
              <a:spcBef>
                <a:spcPts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求出所有电子的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之和作为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之和作为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algn="just" eaLnBrk="1" hangingPunct="1">
              <a:spcBef>
                <a:spcPts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对少于半充满组态，取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=|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S|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；对多于半充满组态，取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  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68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39182" y="516881"/>
            <a:ext cx="11161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Example: Why does Cu K</a:t>
            </a:r>
            <a:r>
              <a:rPr lang="en-US" altLang="zh-CN" dirty="0">
                <a:sym typeface="Symbol" pitchFamily="18" charset="2"/>
              </a:rPr>
              <a:t> radiation ( X-ray ) consist of </a:t>
            </a:r>
            <a:r>
              <a:rPr lang="en-US" altLang="zh-CN" dirty="0"/>
              <a:t>K</a:t>
            </a:r>
            <a:r>
              <a:rPr lang="en-US" altLang="zh-CN" dirty="0">
                <a:sym typeface="Symbol" pitchFamily="18" charset="2"/>
              </a:rPr>
              <a:t>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 and </a:t>
            </a:r>
            <a:r>
              <a:rPr lang="en-US" altLang="zh-CN" dirty="0"/>
              <a:t>K</a:t>
            </a:r>
            <a:r>
              <a:rPr lang="en-US" altLang="zh-CN" dirty="0">
                <a:sym typeface="Symbol" pitchFamily="18" charset="2"/>
              </a:rPr>
              <a:t>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radiations?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569768" y="1484785"/>
            <a:ext cx="2624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" pitchFamily="18" charset="0"/>
              </a:rPr>
              <a:t>1s</a:t>
            </a:r>
            <a:r>
              <a:rPr lang="en-US" altLang="zh-CN" sz="2800" baseline="30000">
                <a:latin typeface="Times" pitchFamily="18" charset="0"/>
              </a:rPr>
              <a:t>2 </a:t>
            </a:r>
            <a:r>
              <a:rPr lang="en-US" altLang="zh-CN" sz="2800">
                <a:latin typeface="Times" pitchFamily="18" charset="0"/>
              </a:rPr>
              <a:t>2s</a:t>
            </a:r>
            <a:r>
              <a:rPr lang="en-US" altLang="zh-CN" sz="2800" baseline="30000">
                <a:latin typeface="Times" pitchFamily="18" charset="0"/>
              </a:rPr>
              <a:t>2 </a:t>
            </a:r>
            <a:r>
              <a:rPr lang="en-US" altLang="zh-CN" sz="2800">
                <a:latin typeface="Times" pitchFamily="18" charset="0"/>
              </a:rPr>
              <a:t>2p</a:t>
            </a:r>
            <a:r>
              <a:rPr lang="en-US" altLang="zh-CN" sz="2800" baseline="30000">
                <a:latin typeface="Times" pitchFamily="18" charset="0"/>
              </a:rPr>
              <a:t>6</a:t>
            </a:r>
            <a:r>
              <a:rPr lang="en-US" altLang="zh-CN" sz="2800">
                <a:latin typeface="Times" pitchFamily="18" charset="0"/>
              </a:rPr>
              <a:t>3s</a:t>
            </a:r>
            <a:r>
              <a:rPr lang="en-US" altLang="zh-CN" sz="2800" baseline="30000">
                <a:latin typeface="Times" pitchFamily="18" charset="0"/>
              </a:rPr>
              <a:t>2</a:t>
            </a:r>
            <a:r>
              <a:rPr lang="en-US" altLang="zh-CN" sz="2800">
                <a:latin typeface="Times" pitchFamily="18" charset="0"/>
              </a:rPr>
              <a:t>…..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207568" y="1484784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/>
              <a:t>Ground state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2207568" y="2475385"/>
            <a:ext cx="6553200" cy="1890713"/>
            <a:chOff x="576" y="1872"/>
            <a:chExt cx="4128" cy="1191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576" y="1872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Excited state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064" y="1872"/>
              <a:ext cx="16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latin typeface="Times" pitchFamily="18" charset="0"/>
                </a:rPr>
                <a:t>1s</a:t>
              </a:r>
              <a:r>
                <a:rPr lang="en-US" altLang="zh-CN" sz="2800" baseline="30000">
                  <a:latin typeface="Times" pitchFamily="18" charset="0"/>
                </a:rPr>
                <a:t>1 </a:t>
              </a:r>
              <a:r>
                <a:rPr lang="en-US" altLang="zh-CN" sz="2800">
                  <a:latin typeface="Times" pitchFamily="18" charset="0"/>
                </a:rPr>
                <a:t>2s</a:t>
              </a:r>
              <a:r>
                <a:rPr lang="en-US" altLang="zh-CN" sz="2800" baseline="30000">
                  <a:latin typeface="Times" pitchFamily="18" charset="0"/>
                </a:rPr>
                <a:t>2 </a:t>
              </a:r>
              <a:r>
                <a:rPr lang="en-US" altLang="zh-CN" sz="2800">
                  <a:latin typeface="Times" pitchFamily="18" charset="0"/>
                </a:rPr>
                <a:t>2p</a:t>
              </a:r>
              <a:r>
                <a:rPr lang="en-US" altLang="zh-CN" sz="2800" baseline="30000">
                  <a:latin typeface="Times" pitchFamily="18" charset="0"/>
                </a:rPr>
                <a:t>6</a:t>
              </a:r>
              <a:r>
                <a:rPr lang="en-US" altLang="zh-CN" sz="2800">
                  <a:latin typeface="Times" pitchFamily="18" charset="0"/>
                </a:rPr>
                <a:t>3s</a:t>
              </a:r>
              <a:r>
                <a:rPr lang="en-US" altLang="zh-CN" sz="2800" baseline="30000">
                  <a:latin typeface="Times" pitchFamily="18" charset="0"/>
                </a:rPr>
                <a:t>2</a:t>
              </a:r>
              <a:r>
                <a:rPr lang="en-US" altLang="zh-CN" sz="2800">
                  <a:latin typeface="Times" pitchFamily="18" charset="0"/>
                </a:rPr>
                <a:t>…..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016" y="2736"/>
              <a:ext cx="16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latin typeface="Times" pitchFamily="18" charset="0"/>
                </a:rPr>
                <a:t>1s</a:t>
              </a:r>
              <a:r>
                <a:rPr lang="en-US" altLang="zh-CN" sz="2800" baseline="30000">
                  <a:latin typeface="Times" pitchFamily="18" charset="0"/>
                </a:rPr>
                <a:t>2 </a:t>
              </a:r>
              <a:r>
                <a:rPr lang="en-US" altLang="zh-CN" sz="2800">
                  <a:latin typeface="Times" pitchFamily="18" charset="0"/>
                </a:rPr>
                <a:t>2s</a:t>
              </a:r>
              <a:r>
                <a:rPr lang="en-US" altLang="zh-CN" sz="2800" baseline="30000">
                  <a:latin typeface="Times" pitchFamily="18" charset="0"/>
                </a:rPr>
                <a:t>2 </a:t>
              </a:r>
              <a:r>
                <a:rPr lang="en-US" altLang="zh-CN" sz="2800">
                  <a:latin typeface="Times" pitchFamily="18" charset="0"/>
                </a:rPr>
                <a:t>2p</a:t>
              </a:r>
              <a:r>
                <a:rPr lang="en-US" altLang="zh-CN" sz="2800" baseline="30000">
                  <a:latin typeface="Times" pitchFamily="18" charset="0"/>
                </a:rPr>
                <a:t>5</a:t>
              </a:r>
              <a:r>
                <a:rPr lang="en-US" altLang="zh-CN" sz="2800">
                  <a:latin typeface="Times" pitchFamily="18" charset="0"/>
                </a:rPr>
                <a:t>3s</a:t>
              </a:r>
              <a:r>
                <a:rPr lang="en-US" altLang="zh-CN" sz="2800" baseline="30000">
                  <a:latin typeface="Times" pitchFamily="18" charset="0"/>
                </a:rPr>
                <a:t>2</a:t>
              </a:r>
              <a:r>
                <a:rPr lang="en-US" altLang="zh-CN" sz="2800">
                  <a:latin typeface="Times" pitchFamily="18" charset="0"/>
                </a:rPr>
                <a:t>…..</a:t>
              </a: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640" y="2208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2928" y="2256"/>
              <a:ext cx="1776" cy="29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tx2"/>
                  </a:solidFill>
                </a:rPr>
                <a:t>X-ray K</a:t>
              </a:r>
              <a:r>
                <a:rPr lang="en-US" altLang="zh-CN">
                  <a:solidFill>
                    <a:schemeClr val="tx2"/>
                  </a:solidFill>
                  <a:sym typeface="Symbol" pitchFamily="18" charset="2"/>
                </a:rPr>
                <a:t> </a:t>
              </a:r>
              <a:r>
                <a:rPr lang="en-US" altLang="zh-CN">
                  <a:solidFill>
                    <a:schemeClr val="tx2"/>
                  </a:solidFill>
                </a:rPr>
                <a:t>radiation</a:t>
              </a:r>
            </a:p>
          </p:txBody>
        </p:sp>
      </p:grp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7846368" y="2399184"/>
            <a:ext cx="1860550" cy="5286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" pitchFamily="18" charset="0"/>
              </a:rPr>
              <a:t>1s</a:t>
            </a:r>
            <a:r>
              <a:rPr lang="en-US" altLang="zh-CN" sz="2800" baseline="30000">
                <a:latin typeface="Times" pitchFamily="18" charset="0"/>
              </a:rPr>
              <a:t>1          2</a:t>
            </a:r>
            <a:r>
              <a:rPr lang="en-US" altLang="zh-CN" sz="2800">
                <a:latin typeface="Times" pitchFamily="18" charset="0"/>
              </a:rPr>
              <a:t>S</a:t>
            </a:r>
            <a:r>
              <a:rPr lang="en-US" altLang="zh-CN" sz="2800" baseline="-25000">
                <a:latin typeface="Times" pitchFamily="18" charset="0"/>
              </a:rPr>
              <a:t>1/2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7617768" y="3846984"/>
            <a:ext cx="2647950" cy="5286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" pitchFamily="18" charset="0"/>
              </a:rPr>
              <a:t>2p</a:t>
            </a:r>
            <a:r>
              <a:rPr lang="en-US" altLang="zh-CN" sz="2800" baseline="30000">
                <a:latin typeface="Times" pitchFamily="18" charset="0"/>
              </a:rPr>
              <a:t>5          2</a:t>
            </a:r>
            <a:r>
              <a:rPr lang="en-US" altLang="zh-CN" sz="2800">
                <a:latin typeface="Times" pitchFamily="18" charset="0"/>
              </a:rPr>
              <a:t>P</a:t>
            </a:r>
            <a:r>
              <a:rPr lang="en-US" altLang="zh-CN" sz="2800" baseline="-25000">
                <a:latin typeface="Times" pitchFamily="18" charset="0"/>
              </a:rPr>
              <a:t>1/2  </a:t>
            </a:r>
            <a:r>
              <a:rPr lang="en-US" altLang="zh-CN" sz="2800" baseline="30000">
                <a:latin typeface="Times" pitchFamily="18" charset="0"/>
              </a:rPr>
              <a:t>2</a:t>
            </a:r>
            <a:r>
              <a:rPr lang="en-US" altLang="zh-CN" sz="2800">
                <a:latin typeface="Times" pitchFamily="18" charset="0"/>
              </a:rPr>
              <a:t>P</a:t>
            </a:r>
            <a:r>
              <a:rPr lang="en-US" altLang="zh-CN" sz="2800" baseline="-25000">
                <a:latin typeface="Times" pitchFamily="18" charset="0"/>
              </a:rPr>
              <a:t>3/2</a:t>
            </a:r>
          </a:p>
        </p:txBody>
      </p:sp>
      <p:grpSp>
        <p:nvGrpSpPr>
          <p:cNvPr id="13" name="Group 19"/>
          <p:cNvGrpSpPr>
            <a:grpSpLocks/>
          </p:cNvGrpSpPr>
          <p:nvPr/>
        </p:nvGrpSpPr>
        <p:grpSpPr bwMode="auto">
          <a:xfrm>
            <a:off x="4264970" y="4685184"/>
            <a:ext cx="2855913" cy="1443038"/>
            <a:chOff x="1872" y="3264"/>
            <a:chExt cx="1799" cy="909"/>
          </a:xfrm>
        </p:grpSpPr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064" y="3264"/>
              <a:ext cx="1172" cy="333"/>
            </a:xfrm>
            <a:prstGeom prst="rect">
              <a:avLst/>
            </a:prstGeom>
            <a:noFill/>
            <a:ln w="9525">
              <a:solidFill>
                <a:srgbClr val="CCE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latin typeface="Times" pitchFamily="18" charset="0"/>
                </a:rPr>
                <a:t>1s</a:t>
              </a:r>
              <a:r>
                <a:rPr lang="en-US" altLang="zh-CN" sz="2800" baseline="30000">
                  <a:latin typeface="Times" pitchFamily="18" charset="0"/>
                </a:rPr>
                <a:t>1          2</a:t>
              </a:r>
              <a:r>
                <a:rPr lang="en-US" altLang="zh-CN" sz="2800">
                  <a:latin typeface="Times" pitchFamily="18" charset="0"/>
                </a:rPr>
                <a:t>S</a:t>
              </a:r>
              <a:r>
                <a:rPr lang="en-US" altLang="zh-CN" sz="2800" baseline="-25000">
                  <a:latin typeface="Times" pitchFamily="18" charset="0"/>
                </a:rPr>
                <a:t>1/2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872" y="3840"/>
              <a:ext cx="1668" cy="333"/>
            </a:xfrm>
            <a:prstGeom prst="rect">
              <a:avLst/>
            </a:prstGeom>
            <a:noFill/>
            <a:ln w="9525">
              <a:solidFill>
                <a:srgbClr val="CCE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latin typeface="Times" pitchFamily="18" charset="0"/>
                </a:rPr>
                <a:t>2p</a:t>
              </a:r>
              <a:r>
                <a:rPr lang="en-US" altLang="zh-CN" sz="2800" baseline="30000">
                  <a:latin typeface="Times" pitchFamily="18" charset="0"/>
                </a:rPr>
                <a:t>5          2</a:t>
              </a:r>
              <a:r>
                <a:rPr lang="en-US" altLang="zh-CN" sz="2800">
                  <a:latin typeface="Times" pitchFamily="18" charset="0"/>
                </a:rPr>
                <a:t>P</a:t>
              </a:r>
              <a:r>
                <a:rPr lang="en-US" altLang="zh-CN" sz="2800" baseline="-25000">
                  <a:latin typeface="Times" pitchFamily="18" charset="0"/>
                </a:rPr>
                <a:t>1/2  </a:t>
              </a:r>
              <a:r>
                <a:rPr lang="en-US" altLang="zh-CN" sz="2800" baseline="30000">
                  <a:latin typeface="Times" pitchFamily="18" charset="0"/>
                </a:rPr>
                <a:t>2</a:t>
              </a:r>
              <a:r>
                <a:rPr lang="en-US" altLang="zh-CN" sz="2800">
                  <a:latin typeface="Times" pitchFamily="18" charset="0"/>
                </a:rPr>
                <a:t>P</a:t>
              </a:r>
              <a:r>
                <a:rPr lang="en-US" altLang="zh-CN" sz="2800" baseline="-25000">
                  <a:latin typeface="Times" pitchFamily="18" charset="0"/>
                </a:rPr>
                <a:t>3/2</a:t>
              </a: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>
              <a:off x="2736" y="36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3024" y="36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256" y="3552"/>
              <a:ext cx="45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K</a:t>
              </a:r>
              <a:r>
                <a:rPr lang="en-US" altLang="zh-CN">
                  <a:sym typeface="Symbol" pitchFamily="18" charset="2"/>
                </a:rPr>
                <a:t></a:t>
              </a:r>
              <a:r>
                <a:rPr lang="en-US" altLang="zh-CN" baseline="-25000">
                  <a:sym typeface="Symbol" pitchFamily="18" charset="2"/>
                </a:rPr>
                <a:t>2</a:t>
              </a: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216" y="3552"/>
              <a:ext cx="45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K</a:t>
              </a:r>
              <a:r>
                <a:rPr lang="en-US" altLang="zh-CN">
                  <a:sym typeface="Symbol" pitchFamily="18" charset="2"/>
                </a:rPr>
                <a:t></a:t>
              </a:r>
              <a:r>
                <a:rPr lang="en-US" altLang="zh-CN" baseline="-25000">
                  <a:sym typeface="Symbol" pitchFamily="18" charset="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550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2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551384" y="1412776"/>
            <a:ext cx="10441160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For a state belong to 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level, give the magnitude of</a:t>
            </a:r>
          </a:p>
          <a:p>
            <a:pPr marL="457200" indent="-457200">
              <a:spcBef>
                <a:spcPct val="20000"/>
              </a:spcBef>
              <a:buFontTx/>
              <a:buAutoNum type="alphaLcParenBoth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The total electronic orbital angular momentum</a:t>
            </a:r>
          </a:p>
          <a:p>
            <a:pPr marL="457200" indent="-457200">
              <a:spcBef>
                <a:spcPct val="20000"/>
              </a:spcBef>
              <a:buFontTx/>
              <a:buAutoNum type="alphaLcParenBoth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The total electronic spin angular momentum</a:t>
            </a:r>
          </a:p>
          <a:p>
            <a:pPr marL="457200" indent="-457200">
              <a:spcBef>
                <a:spcPct val="20000"/>
              </a:spcBef>
              <a:buFontTx/>
              <a:buAutoNum type="alphaLcParenBoth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The total electronic angular momentum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"/>
              <p:cNvSpPr txBox="1"/>
              <p:nvPr/>
            </p:nvSpPr>
            <p:spPr>
              <a:xfrm>
                <a:off x="1014818" y="4529814"/>
                <a:ext cx="2961068" cy="904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 Unicode MS" pitchFamily="34" charset="-122"/>
                    <a:cs typeface="Times New Roman" panose="02020603050405020304" pitchFamily="18" charset="0"/>
                  </a:rPr>
                  <a:t>L=2, S=1, J=3</a:t>
                </a:r>
              </a:p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 Unicode MS" pitchFamily="34" charset="-122"/>
                    <a:cs typeface="Times New Roman" panose="02020603050405020304" pitchFamily="18" charset="0"/>
                  </a:rPr>
                  <a:t>(a) 6</a:t>
                </a:r>
                <a:r>
                  <a:rPr lang="en-US" altLang="zh-CN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 Unicode MS" pitchFamily="34" charset="-122"/>
                    <a:cs typeface="Times New Roman" panose="02020603050405020304" pitchFamily="18" charset="0"/>
                  </a:rPr>
                  <a:t>1/2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ℏ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 Unicode MS" pitchFamily="34" charset="-122"/>
                    <a:cs typeface="Times New Roman" panose="02020603050405020304" pitchFamily="18" charset="0"/>
                  </a:rPr>
                  <a:t>, 2</a:t>
                </a:r>
                <a:r>
                  <a:rPr lang="en-US" altLang="zh-CN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 Unicode MS" pitchFamily="34" charset="-122"/>
                    <a:cs typeface="Times New Roman" panose="02020603050405020304" pitchFamily="18" charset="0"/>
                  </a:rPr>
                  <a:t>1/2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ℏ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 Unicode MS" pitchFamily="34" charset="-122"/>
                    <a:cs typeface="Times New Roman" panose="02020603050405020304" pitchFamily="18" charset="0"/>
                  </a:rPr>
                  <a:t>, 12</a:t>
                </a:r>
                <a:r>
                  <a:rPr lang="en-US" altLang="zh-CN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 Unicode MS" pitchFamily="34" charset="-122"/>
                    <a:cs typeface="Times New Roman" panose="02020603050405020304" pitchFamily="18" charset="0"/>
                  </a:rPr>
                  <a:t>1/2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ℏ</m:t>
                    </m:r>
                  </m:oMath>
                </a14:m>
                <a:endPara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Arial Unicode MS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818" y="4529814"/>
                <a:ext cx="2961068" cy="904863"/>
              </a:xfrm>
              <a:prstGeom prst="rect">
                <a:avLst/>
              </a:prstGeom>
              <a:blipFill>
                <a:blip r:embed="rId2"/>
                <a:stretch>
                  <a:fillRect l="-2469" t="-5369" b="-14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551384" y="548680"/>
            <a:ext cx="15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5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41E285-061D-AC8F-2EEF-259E157F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EFC8A776-1323-AA2D-84CC-EB72082C6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556792"/>
            <a:ext cx="28103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Times New Roman" pitchFamily="18" charset="0"/>
                <a:ea typeface="SimSun"/>
                <a:cs typeface="Arial Unicode MS" pitchFamily="34" charset="-122"/>
              </a:rPr>
              <a:t>H</a:t>
            </a:r>
            <a:r>
              <a:rPr lang="en-US" altLang="zh-CN" b="1" dirty="0">
                <a:latin typeface="Times New Roman" pitchFamily="18" charset="0"/>
                <a:ea typeface="SimSun"/>
                <a:cs typeface="Arial Unicode MS" pitchFamily="34" charset="-122"/>
              </a:rPr>
              <a:t> = </a:t>
            </a:r>
            <a:r>
              <a:rPr lang="en-US" altLang="zh-CN" b="1" i="1" dirty="0">
                <a:latin typeface="Times New Roman" pitchFamily="18" charset="0"/>
                <a:ea typeface="SimSun"/>
                <a:cs typeface="Arial Unicode MS" pitchFamily="34" charset="-122"/>
              </a:rPr>
              <a:t>H</a:t>
            </a:r>
            <a:r>
              <a:rPr lang="en-US" altLang="zh-CN" b="1" baseline="-25000" dirty="0">
                <a:latin typeface="Times New Roman" pitchFamily="18" charset="0"/>
                <a:ea typeface="SimSun"/>
                <a:cs typeface="Arial Unicode MS" pitchFamily="34" charset="-122"/>
              </a:rPr>
              <a:t>00</a:t>
            </a:r>
            <a:r>
              <a:rPr lang="en-US" altLang="zh-CN" b="1" dirty="0">
                <a:latin typeface="Times New Roman" pitchFamily="18" charset="0"/>
                <a:ea typeface="SimSun"/>
                <a:cs typeface="Arial Unicode MS" pitchFamily="34" charset="-122"/>
              </a:rPr>
              <a:t> + </a:t>
            </a:r>
            <a:r>
              <a:rPr lang="en-US" altLang="zh-CN" b="1" i="1" dirty="0">
                <a:latin typeface="Times New Roman" pitchFamily="18" charset="0"/>
                <a:ea typeface="SimSun"/>
                <a:cs typeface="Arial Unicode MS" pitchFamily="34" charset="-122"/>
              </a:rPr>
              <a:t>H’</a:t>
            </a:r>
            <a:r>
              <a:rPr lang="en-US" altLang="zh-CN" b="1" dirty="0">
                <a:latin typeface="Times New Roman" pitchFamily="18" charset="0"/>
                <a:ea typeface="SimSun"/>
                <a:cs typeface="Arial Unicode MS" pitchFamily="34" charset="-122"/>
              </a:rPr>
              <a:t> + </a:t>
            </a:r>
            <a:r>
              <a:rPr lang="en-US" altLang="zh-CN" b="1" i="1" dirty="0">
                <a:latin typeface="Times New Roman" pitchFamily="18" charset="0"/>
                <a:ea typeface="SimSun"/>
                <a:cs typeface="Arial Unicode MS" pitchFamily="34" charset="-122"/>
              </a:rPr>
              <a:t>H</a:t>
            </a:r>
            <a:r>
              <a:rPr lang="en-US" altLang="zh-CN" b="1" baseline="-25000" dirty="0">
                <a:latin typeface="Times New Roman" pitchFamily="18" charset="0"/>
                <a:ea typeface="SimSun"/>
                <a:cs typeface="Arial Unicode MS" pitchFamily="34" charset="-122"/>
              </a:rPr>
              <a:t>S.O.</a:t>
            </a:r>
            <a:endParaRPr lang="en-US" altLang="zh-CN" b="1" dirty="0">
              <a:latin typeface="Times New Roman" pitchFamily="18" charset="0"/>
              <a:ea typeface="SimSun"/>
              <a:cs typeface="Arial Unicode MS" pitchFamily="34" charset="-122"/>
            </a:endParaRP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2E33DBEE-9B0C-AC9F-E43B-51A0B9B71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8842"/>
              </p:ext>
            </p:extLst>
          </p:nvPr>
        </p:nvGraphicFramePr>
        <p:xfrm>
          <a:off x="1796668" y="4945311"/>
          <a:ext cx="213360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431640" progId="Equation.DSMT4">
                  <p:embed/>
                </p:oleObj>
              </mc:Choice>
              <mc:Fallback>
                <p:oleObj name="Equation" r:id="rId2" imgW="1091880" imgH="431640" progId="Equation.DSMT4">
                  <p:embed/>
                  <p:pic>
                    <p:nvPicPr>
                      <p:cNvPr id="1935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668" y="4945311"/>
                        <a:ext cx="213360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>
            <a:extLst>
              <a:ext uri="{FF2B5EF4-FFF2-40B4-BE49-F238E27FC236}">
                <a16:creationId xmlns:a16="http://schemas.microsoft.com/office/drawing/2014/main" id="{8272F0B6-CB33-8E51-CB09-6E51DFBDD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75" y="2623592"/>
            <a:ext cx="184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i="1">
                <a:latin typeface="Times New Roman" pitchFamily="18" charset="0"/>
                <a:ea typeface="SimSun"/>
                <a:cs typeface="Arial Unicode MS" pitchFamily="34" charset="-122"/>
              </a:rPr>
              <a:t>configuration</a:t>
            </a: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FAC5076F-2494-E869-4FEA-2343618E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333" y="3766592"/>
            <a:ext cx="7489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i="1">
                <a:latin typeface="Times New Roman" pitchFamily="18" charset="0"/>
                <a:ea typeface="SimSun"/>
                <a:cs typeface="Arial Unicode MS" pitchFamily="34" charset="-122"/>
              </a:rPr>
              <a:t>term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3AD71AA5-DEC3-ABE8-B84C-2849D63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5132263"/>
            <a:ext cx="757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i="1">
                <a:latin typeface="Times New Roman" pitchFamily="18" charset="0"/>
                <a:ea typeface="SimSun"/>
                <a:cs typeface="Arial Unicode MS" pitchFamily="34" charset="-122"/>
              </a:rPr>
              <a:t>level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7609992-2A1A-86DD-A8AF-5F49D39645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772243"/>
              </p:ext>
            </p:extLst>
          </p:nvPr>
        </p:nvGraphicFramePr>
        <p:xfrm>
          <a:off x="1763713" y="2565127"/>
          <a:ext cx="284472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22360" imgH="431640" progId="Equation.3">
                  <p:embed/>
                </p:oleObj>
              </mc:Choice>
              <mc:Fallback>
                <p:oleObj name="公式" r:id="rId4" imgW="1422360" imgH="43164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3713" y="2565127"/>
                        <a:ext cx="2844720" cy="8632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C19DA18-42F9-2FFD-EB30-F1EF74B24D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89418"/>
              </p:ext>
            </p:extLst>
          </p:nvPr>
        </p:nvGraphicFramePr>
        <p:xfrm>
          <a:off x="1762842" y="3734054"/>
          <a:ext cx="220968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04840" imgH="444240" progId="Equation.3">
                  <p:embed/>
                </p:oleObj>
              </mc:Choice>
              <mc:Fallback>
                <p:oleObj name="公式" r:id="rId6" imgW="1104840" imgH="444240" progId="Equation.3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62842" y="3734054"/>
                        <a:ext cx="2209680" cy="888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57510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89E88E-C02F-354E-FEC6-AEA37048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F6452B-CB69-ECFD-C1A4-2AC2B65CDE5F}"/>
              </a:ext>
            </a:extLst>
          </p:cNvPr>
          <p:cNvSpPr txBox="1"/>
          <p:nvPr/>
        </p:nvSpPr>
        <p:spPr>
          <a:xfrm>
            <a:off x="3048000" y="26064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原子光谱选择定则</a:t>
            </a:r>
            <a:r>
              <a:rPr lang="en-US" altLang="zh-CN" sz="2800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Line 2">
            <a:extLst>
              <a:ext uri="{FF2B5EF4-FFF2-40B4-BE49-F238E27FC236}">
                <a16:creationId xmlns:a16="http://schemas.microsoft.com/office/drawing/2014/main" id="{DD182B0C-9002-A077-6F91-C4C996CB16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407F83-FDA3-781F-6437-1AD9BAEB6F51}"/>
              </a:ext>
            </a:extLst>
          </p:cNvPr>
          <p:cNvSpPr txBox="1"/>
          <p:nvPr/>
        </p:nvSpPr>
        <p:spPr>
          <a:xfrm>
            <a:off x="836988" y="1616891"/>
            <a:ext cx="10514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ΔS = 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：自旋多重度不变。（单重态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单重态跃迁，三重态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三重态跃迁）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ΔL = 0, ±1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（但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L=0 → L=0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禁阻）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ΔJ = 0, ±1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（但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J=0 → J=0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禁阻）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26BD29-E309-B478-5F27-2BACDBB18387}"/>
              </a:ext>
            </a:extLst>
          </p:cNvPr>
          <p:cNvSpPr txBox="1"/>
          <p:nvPr/>
        </p:nvSpPr>
        <p:spPr>
          <a:xfrm>
            <a:off x="820422" y="3205842"/>
            <a:ext cx="9937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实验科学家从观察原子光谱中总结出的规律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如何理解？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BA4F4C-2213-665C-E8A5-FD5E569A6C0A}"/>
              </a:ext>
            </a:extLst>
          </p:cNvPr>
          <p:cNvSpPr txBox="1"/>
          <p:nvPr/>
        </p:nvSpPr>
        <p:spPr>
          <a:xfrm>
            <a:off x="836988" y="4070429"/>
            <a:ext cx="10514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光谱学本质上就是在测量各种微扰算符（电偶极、磁偶极、四极矩等）的非对角矩阵元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，而选择定则就是判断这些矩阵元何时不为零。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7341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E2C2C9-8CBB-6EF5-764F-B5498126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49EA-18B3-4CA7-9730-C7EE55E9A153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D1712ECB-F6FA-757F-BB8A-E5E0276208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94" y="854706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34BE80-BE0F-99A4-DEB4-D888084C74DD}"/>
              </a:ext>
            </a:extLst>
          </p:cNvPr>
          <p:cNvSpPr txBox="1"/>
          <p:nvPr/>
        </p:nvSpPr>
        <p:spPr>
          <a:xfrm>
            <a:off x="623392" y="1412776"/>
            <a:ext cx="107304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在量子力学中，光与物质的相互作用可以被处理为一种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含时微扰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。两个能级之间的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跃迁概率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与微扰算符的矩阵元平方成正比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E27BB7-30F3-069B-1565-099C8425BFBF}"/>
              </a:ext>
            </a:extLst>
          </p:cNvPr>
          <p:cNvSpPr txBox="1"/>
          <p:nvPr/>
        </p:nvSpPr>
        <p:spPr>
          <a:xfrm>
            <a:off x="638327" y="23159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微扰算符</a:t>
            </a:r>
            <a:r>
              <a:rPr lang="en-US" altLang="zh-CN" b="1" dirty="0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Ĥ'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电偶极算符</a:t>
            </a:r>
            <a:r>
              <a:rPr lang="el-GR" altLang="zh-CN" b="1" dirty="0">
                <a:solidFill>
                  <a:srgbClr val="0F111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μ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D62C54-2928-0290-CAD4-C9D95526BEE2}"/>
              </a:ext>
            </a:extLst>
          </p:cNvPr>
          <p:cNvSpPr txBox="1"/>
          <p:nvPr/>
        </p:nvSpPr>
        <p:spPr>
          <a:xfrm>
            <a:off x="623392" y="30471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跃迁速率满足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395783-597B-115E-31A0-7A8073D0F478}"/>
              </a:ext>
            </a:extLst>
          </p:cNvPr>
          <p:cNvSpPr txBox="1"/>
          <p:nvPr/>
        </p:nvSpPr>
        <p:spPr>
          <a:xfrm>
            <a:off x="2940596" y="304297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 |&lt;f| Ĥ' |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&gt;|² ∝ |&lt;f| </a:t>
            </a:r>
            <a:r>
              <a:rPr lang="el-GR" altLang="zh-C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μ |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&gt;|²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C12ED9-D5B0-54FA-A50B-45EE575C416A}"/>
              </a:ext>
            </a:extLst>
          </p:cNvPr>
          <p:cNvSpPr txBox="1"/>
          <p:nvPr/>
        </p:nvSpPr>
        <p:spPr>
          <a:xfrm>
            <a:off x="623392" y="3828016"/>
            <a:ext cx="10873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跃迁能否发生，取决于电偶极矩算符在初态和末态之间的矩阵元 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&lt;f| μ |</a:t>
            </a:r>
            <a:r>
              <a:rPr lang="en-US" altLang="zh-CN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是否为零。 如果矩阵元为零，跃迁就是禁阻的；如果非零，就是允许的。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5782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3867</TotalTime>
  <Words>3864</Words>
  <Application>Microsoft Office PowerPoint</Application>
  <PresentationFormat>宽屏</PresentationFormat>
  <Paragraphs>376</Paragraphs>
  <Slides>43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9" baseType="lpstr">
      <vt:lpstr>黑体</vt:lpstr>
      <vt:lpstr>Arial</vt:lpstr>
      <vt:lpstr>Calibri</vt:lpstr>
      <vt:lpstr>Calibri Light</vt:lpstr>
      <vt:lpstr>Calisto MT</vt:lpstr>
      <vt:lpstr>Cambria Math</vt:lpstr>
      <vt:lpstr>Impact</vt:lpstr>
      <vt:lpstr>Symbol</vt:lpstr>
      <vt:lpstr>Times</vt:lpstr>
      <vt:lpstr>Times New Roman</vt:lpstr>
      <vt:lpstr>Verdana</vt:lpstr>
      <vt:lpstr>Wingdings 3</vt:lpstr>
      <vt:lpstr>1_Office 主题​​</vt:lpstr>
      <vt:lpstr>2_Office 主题​​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qc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量子化学  A</dc:title>
  <dc:creator>pfsu</dc:creator>
  <cp:lastModifiedBy>8618150104212</cp:lastModifiedBy>
  <cp:revision>813</cp:revision>
  <dcterms:created xsi:type="dcterms:W3CDTF">2002-08-25T13:44:00Z</dcterms:created>
  <dcterms:modified xsi:type="dcterms:W3CDTF">2025-10-26T12:38:33Z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