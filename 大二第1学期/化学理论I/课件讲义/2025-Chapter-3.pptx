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6"/>
  </p:notesMasterIdLst>
  <p:sldIdLst>
    <p:sldId id="256" r:id="rId2"/>
    <p:sldId id="610" r:id="rId3"/>
    <p:sldId id="263" r:id="rId4"/>
    <p:sldId id="287" r:id="rId5"/>
    <p:sldId id="295" r:id="rId6"/>
    <p:sldId id="296" r:id="rId7"/>
    <p:sldId id="297" r:id="rId8"/>
    <p:sldId id="299" r:id="rId9"/>
    <p:sldId id="288" r:id="rId10"/>
    <p:sldId id="289" r:id="rId11"/>
    <p:sldId id="290" r:id="rId12"/>
    <p:sldId id="291" r:id="rId13"/>
    <p:sldId id="316" r:id="rId14"/>
    <p:sldId id="292" r:id="rId15"/>
    <p:sldId id="293" r:id="rId16"/>
    <p:sldId id="301" r:id="rId17"/>
    <p:sldId id="302" r:id="rId18"/>
    <p:sldId id="305" r:id="rId19"/>
    <p:sldId id="306" r:id="rId20"/>
    <p:sldId id="310" r:id="rId21"/>
    <p:sldId id="312" r:id="rId22"/>
    <p:sldId id="313" r:id="rId23"/>
    <p:sldId id="315" r:id="rId24"/>
    <p:sldId id="317" r:id="rId25"/>
    <p:sldId id="283" r:id="rId26"/>
    <p:sldId id="265" r:id="rId27"/>
    <p:sldId id="267" r:id="rId28"/>
    <p:sldId id="268" r:id="rId29"/>
    <p:sldId id="269" r:id="rId30"/>
    <p:sldId id="271" r:id="rId31"/>
    <p:sldId id="272" r:id="rId32"/>
    <p:sldId id="273" r:id="rId33"/>
    <p:sldId id="320" r:id="rId34"/>
    <p:sldId id="602" r:id="rId35"/>
    <p:sldId id="346" r:id="rId36"/>
    <p:sldId id="321" r:id="rId37"/>
    <p:sldId id="604" r:id="rId38"/>
    <p:sldId id="323" r:id="rId39"/>
    <p:sldId id="324" r:id="rId40"/>
    <p:sldId id="330" r:id="rId41"/>
    <p:sldId id="325" r:id="rId42"/>
    <p:sldId id="326" r:id="rId43"/>
    <p:sldId id="327" r:id="rId44"/>
    <p:sldId id="328" r:id="rId45"/>
    <p:sldId id="335" r:id="rId46"/>
    <p:sldId id="336" r:id="rId47"/>
    <p:sldId id="257" r:id="rId48"/>
    <p:sldId id="258" r:id="rId49"/>
    <p:sldId id="609" r:id="rId50"/>
    <p:sldId id="259" r:id="rId51"/>
    <p:sldId id="612" r:id="rId52"/>
    <p:sldId id="260" r:id="rId53"/>
    <p:sldId id="606" r:id="rId54"/>
    <p:sldId id="261" r:id="rId55"/>
    <p:sldId id="278" r:id="rId56"/>
    <p:sldId id="337" r:id="rId57"/>
    <p:sldId id="264" r:id="rId58"/>
    <p:sldId id="613" r:id="rId59"/>
    <p:sldId id="338" r:id="rId60"/>
    <p:sldId id="342" r:id="rId61"/>
    <p:sldId id="266" r:id="rId62"/>
    <p:sldId id="339" r:id="rId63"/>
    <p:sldId id="607" r:id="rId64"/>
    <p:sldId id="280" r:id="rId6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26" autoAdjust="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E78D3-5168-4537-BE50-A43F4FB5BB2B}" type="datetimeFigureOut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719E6-3560-4DBA-B75B-794490B1FB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225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9C%9F%E7%A9%BA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baike.baidu.com/item/%E7%BB%9D%E5%AF%B9%E9%9B%B6%E5%BA%A6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D51FAC-898F-4C4F-A271-9BDA9A824A8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571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D51FAC-898F-4C4F-A271-9BDA9A824A8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744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D51FAC-898F-4C4F-A271-9BDA9A824A8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466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现代科学家认为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真空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并不意味着一无所有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即使在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绝对零度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/>
              <a:t>关于零点能的设想来自量子力学的一个著名概念：海森堡不确定性原理。该原理指出：不可能同时以较高的精确度得知一个粒子的位置和动量。因此，当温度降到绝对零度时粒子必定仍然在振动；否则，如果粒子完全停下来，那它的动量和位置就可以同时精确的测知，而这是违反不确定性原理的。这种粒子在绝对零度时的振动（零点振动）所具有的能量就是零点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D51FAC-898F-4C4F-A271-9BDA9A824A8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561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5405B-0C46-4380-A6B1-94BAE7865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3323DB-1964-427A-8A78-CD4779E73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4A6E22-256E-4C7E-BC77-B97BD9D2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8F199-0831-458C-86C5-189150C6214D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24F78C-75B3-4CFB-921D-7E593A1D4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2C9691-2DD1-4057-B80A-A4FAE083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234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6D5AB-1EF7-4330-AC9A-C4C5A454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0020E5-C171-479F-85C2-EC2A50F55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46823C-9083-4B33-9C36-5355A0E4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D6DBA-4C51-4B5A-A01F-2A0F4559214F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C79C02-462D-472C-A2F0-41B05681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24D32-49F1-4520-AB1C-B0A2C0E02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25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C4642-0715-4400-A20E-E7B659D6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AD4D4E-CB6D-4852-8B85-01C871778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2CC490-D999-48F3-88C7-1338ECDF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552F8-0239-47E1-AF89-52461317A20A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5AF16C-22BD-4474-8691-F8772A17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B11C12-8178-4169-A8F8-53D4C821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11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BAD59-9B66-4BD8-9068-98EEFD20F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5B203-9A65-4BF9-A466-8DBAB438B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DA76D5-F292-4096-A67B-53CF588D8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54A45E-5FEF-4E99-8961-3E2F43B1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C59D-5280-467F-A189-D80600D5097C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C215C6-BB48-44A7-9FC3-F8E478746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969D32-1FBC-4697-B819-2D7F6E45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70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52A92-408B-4E61-8CC4-B87F8505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4D26E-C86C-48C2-B74C-8F71F0F1F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F516B6-306C-4B0A-833C-BF02E1254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8572C4-8DD5-4A57-B189-F5A5BE066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88072F-2C52-4B09-A843-BB7A51DCB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41661E-E511-4FE6-9AB8-9D003C62E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B74D-8E85-40C2-AD66-353A2F812B79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19AE3CD-9204-46C9-8860-A3A905C8C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BC0906-3CE6-47C0-90C2-FEF65534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239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F70C4-01A4-4AD7-B4E4-51963298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99CD2E-FBE5-4676-A1B1-B2A4E65D2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C8FEF-9FD3-4253-8D60-0D45F9B96714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21B5EEF-C298-4F86-A064-1D0ADAA6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31FDFB-24FD-4073-9522-84324069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0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EF4B71-FB1C-42F7-A378-7D27B84F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A3C1-7180-467F-A13E-F65F4A9B6ED6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2C211-8972-4220-BB92-0B0643C5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36A1A4-C3ED-4B79-BDF9-35357000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4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70D43-3B55-42A4-9901-DA939D8A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2F6CFF-1FB6-44DD-961C-9F064035F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B562B5-0F05-429F-A5C9-8E03A1339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11DCD2-BB3D-4BD7-8EE7-99F4B11EF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166A6-860B-4F38-A1F4-2E1419514D4F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39FC53-6111-4F49-9DDD-C88F2BA1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5F6523-5A91-47ED-9DA4-11D7AD9F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64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25C39-BAE0-4EE5-BD02-CDFCF708D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BA3C62-68B7-418E-A507-A7740D63A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C94B93-6D91-4B43-A1AA-0635A65EA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7B4053-79E7-457C-AD72-AA5D4AB5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A5AB-3E48-43A4-B2B4-148F6206BE18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910CF8-825D-4851-AF31-9F479BBC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BE6FEF-0421-4A86-80AF-2A5E3D78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56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95836-4EB4-40A6-8199-511648B0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0949A9-58D2-4649-B04E-5CA81F7D8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B3899-C630-4A92-BECE-3E2EA289D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71624-7C9E-4797-BA8B-E7102AE0F7AD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0B02ED-284D-4BDE-AA38-80A7CBB92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62352A-CAF2-4FC1-81E3-1B2645BE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85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A831CE-5E5D-4EC6-8DD9-30BBBA315E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062DC-5F79-4F5B-809C-762B686AC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B255F2-1E03-4527-81A5-12C33C32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7CF9C-8B7D-4CAB-90F7-6080FAB37872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5C772E-1247-4919-99C1-F425DE389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99F0DB-772C-469A-87AA-E843703C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568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DB9E52-F4A8-43FE-BB22-FEC681005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7796B9-2D03-424D-93DD-04A58D61C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5F264-335E-4FBA-81F0-AB7C2232F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75C62-8586-431A-B5C2-3095551040F1}" type="datetime1">
              <a:rPr lang="zh-CN" altLang="en-US" smtClean="0"/>
              <a:t>2025/9/16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587EA-71EC-495E-8F97-8E4ACB8ED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3F732-8B05-4BB1-A247-F353620E3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00B8-501E-4BFE-8932-446FCCB6D3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70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6.wmf"/><Relationship Id="rId3" Type="http://schemas.openxmlformats.org/officeDocument/2006/relationships/image" Target="../media/image6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wmf"/><Relationship Id="rId11" Type="http://schemas.openxmlformats.org/officeDocument/2006/relationships/image" Target="../media/image33.wmf"/><Relationship Id="rId5" Type="http://schemas.openxmlformats.org/officeDocument/2006/relationships/oleObject" Target="../embeddings/oleObject26.bin"/><Relationship Id="rId10" Type="http://schemas.openxmlformats.org/officeDocument/2006/relationships/oleObject" Target="../embeddings/oleObject28.bin"/><Relationship Id="rId4" Type="http://schemas.openxmlformats.org/officeDocument/2006/relationships/image" Target="../media/image44.png"/><Relationship Id="rId9" Type="http://schemas.openxmlformats.org/officeDocument/2006/relationships/image" Target="../media/image3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43.png"/><Relationship Id="rId7" Type="http://schemas.openxmlformats.org/officeDocument/2006/relationships/image" Target="../media/image3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8.png"/><Relationship Id="rId7" Type="http://schemas.openxmlformats.org/officeDocument/2006/relationships/image" Target="../media/image4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6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42.wmf"/><Relationship Id="rId7" Type="http://schemas.openxmlformats.org/officeDocument/2006/relationships/oleObject" Target="../embeddings/oleObject40.bin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wmf"/><Relationship Id="rId11" Type="http://schemas.openxmlformats.org/officeDocument/2006/relationships/image" Target="../media/image46.png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5.wmf"/><Relationship Id="rId4" Type="http://schemas.openxmlformats.org/officeDocument/2006/relationships/oleObject" Target="../embeddings/oleObject38.bin"/><Relationship Id="rId9" Type="http://schemas.openxmlformats.org/officeDocument/2006/relationships/oleObject" Target="../embeddings/oleObject4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56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wmf"/><Relationship Id="rId11" Type="http://schemas.openxmlformats.org/officeDocument/2006/relationships/oleObject" Target="NULL"/><Relationship Id="rId5" Type="http://schemas.openxmlformats.org/officeDocument/2006/relationships/oleObject" Target="../embeddings/oleObject52.bin"/><Relationship Id="rId15" Type="http://schemas.openxmlformats.org/officeDocument/2006/relationships/image" Target="../media/image64.wmf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6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NULL"/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9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7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7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oleObject" Target="../embeddings/oleObject6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5.wmf"/><Relationship Id="rId9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0.png"/><Relationship Id="rId3" Type="http://schemas.openxmlformats.org/officeDocument/2006/relationships/image" Target="../media/image870.png"/><Relationship Id="rId7" Type="http://schemas.openxmlformats.org/officeDocument/2006/relationships/image" Target="../media/image78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7.bin"/><Relationship Id="rId5" Type="http://schemas.openxmlformats.org/officeDocument/2006/relationships/image" Target="../media/image77.wmf"/><Relationship Id="rId4" Type="http://schemas.openxmlformats.org/officeDocument/2006/relationships/oleObject" Target="../embeddings/oleObject66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0.png"/><Relationship Id="rId7" Type="http://schemas.openxmlformats.org/officeDocument/2006/relationships/image" Target="../media/image85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70.bin"/><Relationship Id="rId5" Type="http://schemas.openxmlformats.org/officeDocument/2006/relationships/image" Target="../media/image84.wmf"/><Relationship Id="rId4" Type="http://schemas.openxmlformats.org/officeDocument/2006/relationships/oleObject" Target="../embeddings/oleObject6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7" Type="http://schemas.openxmlformats.org/officeDocument/2006/relationships/image" Target="../media/image89.w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88.wmf"/><Relationship Id="rId4" Type="http://schemas.openxmlformats.org/officeDocument/2006/relationships/oleObject" Target="../embeddings/oleObject7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97.wmf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94.emf"/><Relationship Id="rId5" Type="http://schemas.openxmlformats.org/officeDocument/2006/relationships/image" Target="../media/image91.wmf"/><Relationship Id="rId15" Type="http://schemas.openxmlformats.org/officeDocument/2006/relationships/image" Target="../media/image96.wmf"/><Relationship Id="rId10" Type="http://schemas.openxmlformats.org/officeDocument/2006/relationships/oleObject" Target="../embeddings/oleObject78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93.wmf"/><Relationship Id="rId14" Type="http://schemas.openxmlformats.org/officeDocument/2006/relationships/oleObject" Target="../embeddings/oleObject80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90.bin"/><Relationship Id="rId3" Type="http://schemas.openxmlformats.org/officeDocument/2006/relationships/image" Target="../media/image98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105.w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4.w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106.w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8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94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117.wmf"/><Relationship Id="rId3" Type="http://schemas.openxmlformats.org/officeDocument/2006/relationships/image" Target="../media/image112.wmf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19.w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16.wmf"/><Relationship Id="rId5" Type="http://schemas.openxmlformats.org/officeDocument/2006/relationships/image" Target="../media/image113.wmf"/><Relationship Id="rId15" Type="http://schemas.openxmlformats.org/officeDocument/2006/relationships/image" Target="../media/image118.w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15.wmf"/><Relationship Id="rId14" Type="http://schemas.openxmlformats.org/officeDocument/2006/relationships/oleObject" Target="../embeddings/oleObject10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oleObject" Target="../embeddings/oleObject10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10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3" Type="http://schemas.openxmlformats.org/officeDocument/2006/relationships/image" Target="../media/image122.wmf"/><Relationship Id="rId7" Type="http://schemas.openxmlformats.org/officeDocument/2006/relationships/image" Target="../media/image124.w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7.bin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25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2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35.wmf"/><Relationship Id="rId3" Type="http://schemas.openxmlformats.org/officeDocument/2006/relationships/image" Target="../media/image130.wmf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117.bin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34.wmf"/><Relationship Id="rId5" Type="http://schemas.openxmlformats.org/officeDocument/2006/relationships/image" Target="../media/image131.wmf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33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7" Type="http://schemas.openxmlformats.org/officeDocument/2006/relationships/image" Target="../media/image138.w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0.bin"/><Relationship Id="rId5" Type="http://schemas.openxmlformats.org/officeDocument/2006/relationships/image" Target="../media/image137.wmf"/><Relationship Id="rId4" Type="http://schemas.openxmlformats.org/officeDocument/2006/relationships/oleObject" Target="../embeddings/oleObject119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3" Type="http://schemas.openxmlformats.org/officeDocument/2006/relationships/image" Target="../media/image139.wmf"/><Relationship Id="rId7" Type="http://schemas.openxmlformats.org/officeDocument/2006/relationships/image" Target="../media/image141.w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3.bin"/><Relationship Id="rId11" Type="http://schemas.openxmlformats.org/officeDocument/2006/relationships/image" Target="../media/image143.wmf"/><Relationship Id="rId5" Type="http://schemas.openxmlformats.org/officeDocument/2006/relationships/image" Target="../media/image140.wmf"/><Relationship Id="rId10" Type="http://schemas.openxmlformats.org/officeDocument/2006/relationships/oleObject" Target="../embeddings/oleObject125.bin"/><Relationship Id="rId4" Type="http://schemas.openxmlformats.org/officeDocument/2006/relationships/oleObject" Target="../embeddings/oleObject122.bin"/><Relationship Id="rId9" Type="http://schemas.openxmlformats.org/officeDocument/2006/relationships/image" Target="../media/image142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e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wmf"/><Relationship Id="rId4" Type="http://schemas.openxmlformats.org/officeDocument/2006/relationships/oleObject" Target="../embeddings/oleObject127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oleObject" Target="../embeddings/oleObject12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emf"/><Relationship Id="rId7" Type="http://schemas.openxmlformats.org/officeDocument/2006/relationships/image" Target="../media/image152.png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150.emf"/><Relationship Id="rId4" Type="http://schemas.openxmlformats.org/officeDocument/2006/relationships/oleObject" Target="../embeddings/oleObject102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image" Target="../media/image159.wmf"/><Relationship Id="rId3" Type="http://schemas.openxmlformats.org/officeDocument/2006/relationships/image" Target="../media/image154.wmf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35.bin"/><Relationship Id="rId17" Type="http://schemas.openxmlformats.org/officeDocument/2006/relationships/image" Target="../media/image161.wmf"/><Relationship Id="rId2" Type="http://schemas.openxmlformats.org/officeDocument/2006/relationships/oleObject" Target="../embeddings/oleObject130.bin"/><Relationship Id="rId16" Type="http://schemas.openxmlformats.org/officeDocument/2006/relationships/oleObject" Target="../embeddings/oleObject137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32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5" Type="http://schemas.openxmlformats.org/officeDocument/2006/relationships/image" Target="../media/image160.wmf"/><Relationship Id="rId10" Type="http://schemas.openxmlformats.org/officeDocument/2006/relationships/oleObject" Target="../embeddings/oleObject134.bin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57.wmf"/><Relationship Id="rId14" Type="http://schemas.openxmlformats.org/officeDocument/2006/relationships/oleObject" Target="../embeddings/oleObject136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7" Type="http://schemas.openxmlformats.org/officeDocument/2006/relationships/image" Target="../media/image164.emf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0.bin"/><Relationship Id="rId5" Type="http://schemas.openxmlformats.org/officeDocument/2006/relationships/image" Target="../media/image163.wmf"/><Relationship Id="rId4" Type="http://schemas.openxmlformats.org/officeDocument/2006/relationships/oleObject" Target="../embeddings/oleObject139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0.bin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6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2" Type="http://schemas.openxmlformats.org/officeDocument/2006/relationships/oleObject" Target="../embeddings/oleObject14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8.wmf"/><Relationship Id="rId4" Type="http://schemas.openxmlformats.org/officeDocument/2006/relationships/oleObject" Target="../embeddings/oleObject142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2" Type="http://schemas.openxmlformats.org/officeDocument/2006/relationships/oleObject" Target="../embeddings/oleObject14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45.bin"/><Relationship Id="rId5" Type="http://schemas.openxmlformats.org/officeDocument/2006/relationships/image" Target="../media/image170.wmf"/><Relationship Id="rId4" Type="http://schemas.openxmlformats.org/officeDocument/2006/relationships/oleObject" Target="../embeddings/oleObject144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wmf"/><Relationship Id="rId2" Type="http://schemas.openxmlformats.org/officeDocument/2006/relationships/oleObject" Target="../embeddings/oleObject14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3.wmf"/><Relationship Id="rId4" Type="http://schemas.openxmlformats.org/officeDocument/2006/relationships/oleObject" Target="../embeddings/oleObject147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79.wmf"/><Relationship Id="rId3" Type="http://schemas.openxmlformats.org/officeDocument/2006/relationships/image" Target="../media/image174.wmf"/><Relationship Id="rId7" Type="http://schemas.openxmlformats.org/officeDocument/2006/relationships/image" Target="../media/image176.wmf"/><Relationship Id="rId12" Type="http://schemas.openxmlformats.org/officeDocument/2006/relationships/oleObject" Target="../embeddings/oleObject153.bin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78.wmf"/><Relationship Id="rId5" Type="http://schemas.openxmlformats.org/officeDocument/2006/relationships/image" Target="../media/image175.wmf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77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3" Type="http://schemas.openxmlformats.org/officeDocument/2006/relationships/image" Target="../media/image1700.png"/><Relationship Id="rId7" Type="http://schemas.openxmlformats.org/officeDocument/2006/relationships/image" Target="../media/image181.wmf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55.bin"/><Relationship Id="rId5" Type="http://schemas.openxmlformats.org/officeDocument/2006/relationships/image" Target="../media/image180.wmf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182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image" Target="../media/image270.png"/><Relationship Id="rId7" Type="http://schemas.openxmlformats.org/officeDocument/2006/relationships/oleObject" Target="../embeddings/oleObject158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86.wmf"/><Relationship Id="rId4" Type="http://schemas.openxmlformats.org/officeDocument/2006/relationships/image" Target="../media/image183.png"/><Relationship Id="rId9" Type="http://schemas.openxmlformats.org/officeDocument/2006/relationships/oleObject" Target="../embeddings/oleObject159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2" Type="http://schemas.openxmlformats.org/officeDocument/2006/relationships/oleObject" Target="../embeddings/oleObject160.bin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4" Type="http://schemas.openxmlformats.org/officeDocument/2006/relationships/image" Target="../media/image190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wmf"/><Relationship Id="rId2" Type="http://schemas.openxmlformats.org/officeDocument/2006/relationships/oleObject" Target="../embeddings/oleObject16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4.emf"/><Relationship Id="rId4" Type="http://schemas.openxmlformats.org/officeDocument/2006/relationships/oleObject" Target="../embeddings/oleObject163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2" Type="http://schemas.openxmlformats.org/officeDocument/2006/relationships/oleObject" Target="../embeddings/oleObject164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wmf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99.wmf"/><Relationship Id="rId4" Type="http://schemas.openxmlformats.org/officeDocument/2006/relationships/image" Target="../media/image196.wmf"/><Relationship Id="rId9" Type="http://schemas.openxmlformats.org/officeDocument/2006/relationships/oleObject" Target="../embeddings/oleObject168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205.wmf"/><Relationship Id="rId3" Type="http://schemas.openxmlformats.org/officeDocument/2006/relationships/image" Target="../media/image200.wmf"/><Relationship Id="rId7" Type="http://schemas.openxmlformats.org/officeDocument/2006/relationships/image" Target="../media/image202.wmf"/><Relationship Id="rId12" Type="http://schemas.openxmlformats.org/officeDocument/2006/relationships/oleObject" Target="../embeddings/oleObject174.bin"/><Relationship Id="rId2" Type="http://schemas.openxmlformats.org/officeDocument/2006/relationships/oleObject" Target="../embeddings/oleObject1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204.wmf"/><Relationship Id="rId5" Type="http://schemas.openxmlformats.org/officeDocument/2006/relationships/image" Target="../media/image201.wmf"/><Relationship Id="rId10" Type="http://schemas.openxmlformats.org/officeDocument/2006/relationships/oleObject" Target="../embeddings/oleObject173.bin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203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211.wmf"/><Relationship Id="rId3" Type="http://schemas.openxmlformats.org/officeDocument/2006/relationships/image" Target="../media/image206.emf"/><Relationship Id="rId7" Type="http://schemas.openxmlformats.org/officeDocument/2006/relationships/image" Target="../media/image208.wmf"/><Relationship Id="rId12" Type="http://schemas.openxmlformats.org/officeDocument/2006/relationships/oleObject" Target="../embeddings/oleObject180.bin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210.wmf"/><Relationship Id="rId5" Type="http://schemas.openxmlformats.org/officeDocument/2006/relationships/image" Target="../media/image207.wmf"/><Relationship Id="rId10" Type="http://schemas.openxmlformats.org/officeDocument/2006/relationships/oleObject" Target="../embeddings/oleObject179.bin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20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A49B83-54A4-4900-871D-6C8DEBDF5FC2}"/>
              </a:ext>
            </a:extLst>
          </p:cNvPr>
          <p:cNvSpPr txBox="1"/>
          <p:nvPr/>
        </p:nvSpPr>
        <p:spPr>
          <a:xfrm>
            <a:off x="1348033" y="1649691"/>
            <a:ext cx="6032421" cy="21957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construction of Hamiltonian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Hermiticity and orthogonality of operator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Commutation and eigenfunctions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5828690-9391-69A3-927B-49CA8440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05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8B8DB6E-2665-A149-032D-B31F40580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256" y="306189"/>
            <a:ext cx="6195294" cy="16072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6911EA-E0CD-B46A-0209-74DEF3240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941" y="1913487"/>
            <a:ext cx="5801173" cy="109784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A47BF24-72B4-1529-881B-549487FAC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621" y="3011331"/>
            <a:ext cx="6030564" cy="354176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4DCC452-7E1E-9872-33B2-4E01F23A35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4" y="582414"/>
            <a:ext cx="3190875" cy="4616226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DEFB0EB-0976-9669-C764-FE0923AC1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740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84635" y="0"/>
            <a:ext cx="1053572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/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Chapter 3. </a:t>
            </a:r>
            <a:r>
              <a:rPr lang="en-US" altLang="zh-CN" sz="2800" b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Quantizations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of translation, vibration and rotation</a:t>
            </a: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35249" y="2737368"/>
            <a:ext cx="6630341" cy="13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Quantization of translation:</a:t>
            </a:r>
            <a:r>
              <a:rPr lang="zh-CN" altLang="en-US" sz="24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in a box</a:t>
            </a:r>
          </a:p>
          <a:p>
            <a:pPr>
              <a:lnSpc>
                <a:spcPct val="120000"/>
              </a:lnSpc>
            </a:pP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3.2 Quantization of vibration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harmonic oscillator</a:t>
            </a:r>
          </a:p>
          <a:p>
            <a:pPr>
              <a:lnSpc>
                <a:spcPct val="120000"/>
              </a:lnSpc>
            </a:pP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3.3 Quantization of rotation: </a:t>
            </a:r>
            <a:r>
              <a:rPr lang="en-US" altLang="zh-CN" sz="2400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angular momentum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01330FC-EA38-8BFD-297E-1FC95B2DCFB3}"/>
              </a:ext>
            </a:extLst>
          </p:cNvPr>
          <p:cNvSpPr txBox="1"/>
          <p:nvPr/>
        </p:nvSpPr>
        <p:spPr>
          <a:xfrm>
            <a:off x="1081056" y="1819661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量子力学中的微观粒子：电子、原子核、原子、分子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4A36168-CF41-90DD-5DC8-6A35A463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058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42415" y="255818"/>
            <a:ext cx="7877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3.1.1 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of translation: 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Particle in a box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57187" y="1212000"/>
                <a:ext cx="11477625" cy="42086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Consider a ‘particle in a box’: suppose that the potential is zero for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0 &lt; x &lt; a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and infinite outside this range. The Schrödinger equation is</a:t>
                </a:r>
              </a:p>
              <a:p>
                <a:pPr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Outside the box, where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is infinite, the only solution is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ψ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= 0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 Inside the box, the wavefunction is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𝐴𝑠𝑖𝑛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𝑝𝑥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/ℏ)+</m:t>
                    </m:r>
                    <m:r>
                      <a:rPr lang="en-US" altLang="zh-CN" sz="2400" i="1" dirty="0" err="1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𝐵𝑐𝑜𝑠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𝑝𝑥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/ℏ)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How to determine A and B ? 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Boundary condition and continuous condition</a:t>
                </a:r>
                <a:endParaRPr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87" y="1212000"/>
                <a:ext cx="11477625" cy="4208653"/>
              </a:xfrm>
              <a:prstGeom prst="rect">
                <a:avLst/>
              </a:prstGeom>
              <a:blipFill>
                <a:blip r:embed="rId2"/>
                <a:stretch>
                  <a:fillRect l="-850" t="-1159" b="-2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F8AC349-461E-32DF-BF89-059AE50EF4B0}"/>
              </a:ext>
            </a:extLst>
          </p:cNvPr>
          <p:cNvGrpSpPr/>
          <p:nvPr/>
        </p:nvGrpSpPr>
        <p:grpSpPr>
          <a:xfrm>
            <a:off x="3028345" y="2258959"/>
            <a:ext cx="5257440" cy="964800"/>
            <a:chOff x="3028345" y="2254803"/>
            <a:chExt cx="5257440" cy="964800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2BD468BE-A22E-43E5-B024-3539A12A47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3743775"/>
                </p:ext>
              </p:extLst>
            </p:nvPr>
          </p:nvGraphicFramePr>
          <p:xfrm>
            <a:off x="3028345" y="2254803"/>
            <a:ext cx="5257440" cy="96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628720" imgH="482400" progId="Equation.DSMT4">
                    <p:embed/>
                  </p:oleObj>
                </mc:Choice>
                <mc:Fallback>
                  <p:oleObj name="Equation" r:id="rId3" imgW="2628720" imgH="4824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2BD468BE-A22E-43E5-B024-3539A12A478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28345" y="2254803"/>
                          <a:ext cx="5257440" cy="96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40685AD-3872-B925-A25D-63A3CBC098D6}"/>
                </a:ext>
              </a:extLst>
            </p:cNvPr>
            <p:cNvSpPr txBox="1"/>
            <p:nvPr/>
          </p:nvSpPr>
          <p:spPr>
            <a:xfrm>
              <a:off x="3028345" y="2552537"/>
              <a:ext cx="52149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noAutofit/>
            </a:bodyPr>
            <a:lstStyle/>
            <a:p>
              <a:r>
                <a:rPr lang="en-US" altLang="zh-CN" sz="2400" i="1" dirty="0">
                  <a:solidFill>
                    <a:srgbClr val="0C0C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Ĥ</a:t>
              </a:r>
              <a:r>
                <a:rPr lang="en-US" altLang="zh-CN" sz="2400" i="1" dirty="0">
                  <a:solidFill>
                    <a:srgbClr val="0C0C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</a:t>
              </a:r>
              <a:endParaRPr lang="zh-CN" altLang="en-US" sz="2400" dirty="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3A050C-06B8-1976-36EC-E04ABA63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67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024"/>
          <p:cNvGraphicFramePr>
            <a:graphicFrameLocks noChangeAspect="1"/>
          </p:cNvGraphicFramePr>
          <p:nvPr/>
        </p:nvGraphicFramePr>
        <p:xfrm>
          <a:off x="3035872" y="658172"/>
          <a:ext cx="3645091" cy="266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717800" imgH="1986280" progId="ChemDraw.Document.6.0">
                  <p:embed/>
                </p:oleObj>
              </mc:Choice>
              <mc:Fallback>
                <p:oleObj name="CS ChemDraw Drawing" r:id="rId2" imgW="2717800" imgH="1986280" progId="ChemDraw.Document.6.0">
                  <p:embed/>
                  <p:pic>
                    <p:nvPicPr>
                      <p:cNvPr id="4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872" y="658172"/>
                        <a:ext cx="3645091" cy="266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25"/>
          <p:cNvGraphicFramePr>
            <a:graphicFrameLocks noChangeAspect="1"/>
          </p:cNvGraphicFramePr>
          <p:nvPr/>
        </p:nvGraphicFramePr>
        <p:xfrm>
          <a:off x="6944107" y="1734630"/>
          <a:ext cx="29845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98320" imgH="419040" progId="Equation.DSMT4">
                  <p:embed/>
                </p:oleObj>
              </mc:Choice>
              <mc:Fallback>
                <p:oleObj name="Equation" r:id="rId4" imgW="1498320" imgH="419040" progId="Equation.DSMT4">
                  <p:embed/>
                  <p:pic>
                    <p:nvPicPr>
                      <p:cNvPr id="5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4107" y="1734630"/>
                        <a:ext cx="29845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524000" y="3410021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/>
              <a:t>I, III: </a:t>
            </a:r>
          </a:p>
        </p:txBody>
      </p:sp>
      <p:graphicFrame>
        <p:nvGraphicFramePr>
          <p:cNvPr id="7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5971557"/>
              </p:ext>
            </p:extLst>
          </p:nvPr>
        </p:nvGraphicFramePr>
        <p:xfrm>
          <a:off x="3103563" y="3430588"/>
          <a:ext cx="307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6480" imgH="419040" progId="Equation.DSMT4">
                  <p:embed/>
                </p:oleObj>
              </mc:Choice>
              <mc:Fallback>
                <p:oleObj name="Equation" r:id="rId6" imgW="1536480" imgH="419040" progId="Equation.DSMT4">
                  <p:embed/>
                  <p:pic>
                    <p:nvPicPr>
                      <p:cNvPr id="7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3430588"/>
                        <a:ext cx="3073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568053"/>
              </p:ext>
            </p:extLst>
          </p:nvPr>
        </p:nvGraphicFramePr>
        <p:xfrm>
          <a:off x="4267200" y="5208588"/>
          <a:ext cx="2743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419040" progId="Equation.DSMT4">
                  <p:embed/>
                </p:oleObj>
              </mc:Choice>
              <mc:Fallback>
                <p:oleObj name="Equation" r:id="rId8" imgW="1371600" imgH="419040" progId="Equation.DSMT4">
                  <p:embed/>
                  <p:pic>
                    <p:nvPicPr>
                      <p:cNvPr id="8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208588"/>
                        <a:ext cx="2743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498783"/>
              </p:ext>
            </p:extLst>
          </p:nvPr>
        </p:nvGraphicFramePr>
        <p:xfrm>
          <a:off x="3009900" y="4319588"/>
          <a:ext cx="2565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82680" imgH="419040" progId="Equation.DSMT4">
                  <p:embed/>
                </p:oleObj>
              </mc:Choice>
              <mc:Fallback>
                <p:oleObj name="Equation" r:id="rId10" imgW="1282680" imgH="419040" progId="Equation.DSMT4">
                  <p:embed/>
                  <p:pic>
                    <p:nvPicPr>
                      <p:cNvPr id="9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4319588"/>
                        <a:ext cx="2565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41F0C9C-67F5-43D4-9FE7-A354010735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698419"/>
              </p:ext>
            </p:extLst>
          </p:nvPr>
        </p:nvGraphicFramePr>
        <p:xfrm>
          <a:off x="903288" y="5609785"/>
          <a:ext cx="27924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800" imgH="203040" progId="Equation.DSMT4">
                  <p:embed/>
                </p:oleObj>
              </mc:Choice>
              <mc:Fallback>
                <p:oleObj name="Equation" r:id="rId12" imgW="1396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03288" y="5609785"/>
                        <a:ext cx="2792412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645CE30-DF0E-AA12-2F53-721A3F5F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32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4"/>
          <p:cNvGraphicFramePr>
            <a:graphicFrameLocks noChangeAspect="1"/>
          </p:cNvGraphicFramePr>
          <p:nvPr/>
        </p:nvGraphicFramePr>
        <p:xfrm>
          <a:off x="4363107" y="204683"/>
          <a:ext cx="3451976" cy="2523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717800" imgH="1986280" progId="ChemDraw.Document.6.0">
                  <p:embed/>
                </p:oleObj>
              </mc:Choice>
              <mc:Fallback>
                <p:oleObj name="CS ChemDraw Drawing" r:id="rId2" imgW="2717800" imgH="1986280" progId="ChemDraw.Document.6.0">
                  <p:embed/>
                  <p:pic>
                    <p:nvPicPr>
                      <p:cNvPr id="2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3107" y="204683"/>
                        <a:ext cx="3451976" cy="25230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886712" y="359664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lang="en-US" altLang="zh-CN" dirty="0">
                <a:solidFill>
                  <a:prstClr val="black"/>
                </a:solidFill>
              </a:rPr>
              <a:t>II: V=0</a:t>
            </a: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3147357" y="3009903"/>
          <a:ext cx="1416051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241200" progId="Equation.DSMT4">
                  <p:embed/>
                </p:oleObj>
              </mc:Choice>
              <mc:Fallback>
                <p:oleObj name="Equation" r:id="rId4" imgW="711000" imgH="241200" progId="Equation.DSMT4">
                  <p:embed/>
                  <p:pic>
                    <p:nvPicPr>
                      <p:cNvPr id="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357" y="3009903"/>
                        <a:ext cx="1416051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2381252" y="3541713"/>
          <a:ext cx="31353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640" imgH="419040" progId="Equation.DSMT4">
                  <p:embed/>
                </p:oleObj>
              </mc:Choice>
              <mc:Fallback>
                <p:oleObj name="Equation" r:id="rId6" imgW="1574640" imgH="419040" progId="Equation.DSMT4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2" y="3541713"/>
                        <a:ext cx="313531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6021247" y="3554353"/>
            <a:ext cx="3408363" cy="806450"/>
            <a:chOff x="2440" y="2364"/>
            <a:chExt cx="2147" cy="508"/>
          </a:xfrm>
          <a:noFill/>
        </p:grpSpPr>
        <p:graphicFrame>
          <p:nvGraphicFramePr>
            <p:cNvPr id="8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4718318"/>
                </p:ext>
              </p:extLst>
            </p:nvPr>
          </p:nvGraphicFramePr>
          <p:xfrm>
            <a:off x="3017" y="2364"/>
            <a:ext cx="1570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95280" imgH="419040" progId="Equation.DSMT4">
                    <p:embed/>
                  </p:oleObj>
                </mc:Choice>
                <mc:Fallback>
                  <p:oleObj name="Equation" r:id="rId8" imgW="1295280" imgH="419040" progId="Equation.DSMT4">
                    <p:embed/>
                    <p:pic>
                      <p:nvPicPr>
                        <p:cNvPr id="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7" y="2364"/>
                          <a:ext cx="1570" cy="5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AutoShape 11"/>
            <p:cNvSpPr>
              <a:spLocks noChangeArrowheads="1"/>
            </p:cNvSpPr>
            <p:nvPr/>
          </p:nvSpPr>
          <p:spPr bwMode="auto">
            <a:xfrm>
              <a:off x="2440" y="2498"/>
              <a:ext cx="288" cy="240"/>
            </a:xfrm>
            <a:prstGeom prst="rightArrow">
              <a:avLst>
                <a:gd name="adj1" fmla="val 50000"/>
                <a:gd name="adj2" fmla="val 30000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161805"/>
              </p:ext>
            </p:extLst>
          </p:nvPr>
        </p:nvGraphicFramePr>
        <p:xfrm>
          <a:off x="3308351" y="4789491"/>
          <a:ext cx="18542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65160" imgH="838080" progId="Equation.DSMT4">
                  <p:embed/>
                </p:oleObj>
              </mc:Choice>
              <mc:Fallback>
                <p:oleObj name="Equation" r:id="rId10" imgW="965160" imgH="838080" progId="Equation.DSMT4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1" y="4789491"/>
                        <a:ext cx="1854200" cy="160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6416676" y="5399090"/>
          <a:ext cx="28352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73120" imgH="203040" progId="Equation.DSMT4">
                  <p:embed/>
                </p:oleObj>
              </mc:Choice>
              <mc:Fallback>
                <p:oleObj name="Equation" r:id="rId12" imgW="1473120" imgH="203040" progId="Equation.DSMT4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6676" y="5399090"/>
                        <a:ext cx="2835275" cy="3905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CBB396-D5EF-0380-0241-64CA13785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888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900633" y="855165"/>
            <a:ext cx="89711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lang="en-US" altLang="zh-CN" dirty="0">
                <a:solidFill>
                  <a:prstClr val="black"/>
                </a:solidFill>
              </a:rPr>
              <a:t>Boundary condition and continuous condition: </a:t>
            </a: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(0)=0,  (</a:t>
            </a:r>
            <a:r>
              <a:rPr lang="en-US" altLang="zh-CN" i="1" dirty="0">
                <a:solidFill>
                  <a:prstClr val="black"/>
                </a:solidFill>
                <a:sym typeface="Symbol" pitchFamily="18" charset="2"/>
              </a:rPr>
              <a:t>a</a:t>
            </a: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)=0</a:t>
            </a:r>
          </a:p>
          <a:p>
            <a:pPr defTabSz="914400" eaLnBrk="1" hangingPunct="1">
              <a:spcBef>
                <a:spcPct val="50000"/>
              </a:spcBef>
            </a:pP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(0) =Acos0 + Bsin0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 (</a:t>
            </a:r>
            <a:r>
              <a:rPr lang="en-US" altLang="zh-CN" i="1" dirty="0">
                <a:solidFill>
                  <a:prstClr val="black"/>
                </a:solidFill>
                <a:sym typeface="Symbol" pitchFamily="18" charset="2"/>
              </a:rPr>
              <a:t>a</a:t>
            </a: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) =</a:t>
            </a:r>
            <a:r>
              <a:rPr lang="en-US" altLang="zh-CN" dirty="0" err="1">
                <a:solidFill>
                  <a:prstClr val="black"/>
                </a:solidFill>
                <a:sym typeface="Symbol" pitchFamily="18" charset="2"/>
              </a:rPr>
              <a:t>Bsin</a:t>
            </a: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sym typeface="Symbol" pitchFamily="18" charset="2"/>
              </a:rPr>
              <a:t>a</a:t>
            </a: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,                                  x =</a:t>
            </a:r>
            <a:r>
              <a:rPr lang="en-US" altLang="zh-CN" dirty="0" err="1">
                <a:solidFill>
                  <a:prstClr val="black"/>
                </a:solidFill>
                <a:sym typeface="Symbol" pitchFamily="18" charset="2"/>
              </a:rPr>
              <a:t>Bsin</a:t>
            </a: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sym typeface="Symbol" pitchFamily="18" charset="2"/>
              </a:rPr>
              <a:t>a</a:t>
            </a: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=0; </a:t>
            </a:r>
            <a:r>
              <a:rPr lang="en-US" altLang="zh-CN" i="1" dirty="0">
                <a:solidFill>
                  <a:prstClr val="black"/>
                </a:solidFill>
                <a:sym typeface="Symbol" pitchFamily="18" charset="2"/>
              </a:rPr>
              <a:t>a</a:t>
            </a: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=n, </a:t>
            </a:r>
            <a:r>
              <a:rPr lang="en-US" altLang="zh-CN" i="1" dirty="0">
                <a:solidFill>
                  <a:prstClr val="black"/>
                </a:solidFill>
                <a:sym typeface="Symbol" pitchFamily="18" charset="2"/>
              </a:rPr>
              <a:t></a:t>
            </a:r>
            <a:r>
              <a:rPr lang="en-US" altLang="zh-CN" dirty="0">
                <a:solidFill>
                  <a:prstClr val="black"/>
                </a:solidFill>
                <a:sym typeface="Symbol" pitchFamily="18" charset="2"/>
              </a:rPr>
              <a:t> = n/</a:t>
            </a:r>
            <a:r>
              <a:rPr lang="en-US" altLang="zh-CN" i="1" dirty="0">
                <a:solidFill>
                  <a:prstClr val="black"/>
                </a:solidFill>
                <a:sym typeface="Symbol" pitchFamily="18" charset="2"/>
              </a:rPr>
              <a:t>a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371006"/>
              </p:ext>
            </p:extLst>
          </p:nvPr>
        </p:nvGraphicFramePr>
        <p:xfrm>
          <a:off x="1020763" y="2759075"/>
          <a:ext cx="34798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838080" progId="Equation.DSMT4">
                  <p:embed/>
                </p:oleObj>
              </mc:Choice>
              <mc:Fallback>
                <p:oleObj name="Equation" r:id="rId2" imgW="1739880" imgH="838080" progId="Equation.DSMT4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2759075"/>
                        <a:ext cx="34798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512984"/>
              </p:ext>
            </p:extLst>
          </p:nvPr>
        </p:nvGraphicFramePr>
        <p:xfrm>
          <a:off x="1032759" y="4566660"/>
          <a:ext cx="185400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393480" progId="Equation.DSMT4">
                  <p:embed/>
                </p:oleObj>
              </mc:Choice>
              <mc:Fallback>
                <p:oleObj name="Equation" r:id="rId4" imgW="927000" imgH="39348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759" y="4566660"/>
                        <a:ext cx="185400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296245"/>
              </p:ext>
            </p:extLst>
          </p:nvPr>
        </p:nvGraphicFramePr>
        <p:xfrm>
          <a:off x="5918121" y="4531177"/>
          <a:ext cx="25749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393480" progId="Equation.DSMT4">
                  <p:embed/>
                </p:oleObj>
              </mc:Choice>
              <mc:Fallback>
                <p:oleObj name="Equation" r:id="rId6" imgW="1282680" imgH="393480" progId="Equation.DSMT4">
                  <p:embed/>
                  <p:pic>
                    <p:nvPicPr>
                      <p:cNvPr id="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121" y="4531177"/>
                        <a:ext cx="2574925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582216" y="4525837"/>
            <a:ext cx="2397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3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 </a:t>
            </a:r>
          </a:p>
        </p:txBody>
      </p:sp>
      <p:sp>
        <p:nvSpPr>
          <p:cNvPr id="9" name="右箭头 8"/>
          <p:cNvSpPr/>
          <p:nvPr/>
        </p:nvSpPr>
        <p:spPr>
          <a:xfrm>
            <a:off x="4083783" y="1543817"/>
            <a:ext cx="642021" cy="31372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970587"/>
              </p:ext>
            </p:extLst>
          </p:nvPr>
        </p:nvGraphicFramePr>
        <p:xfrm>
          <a:off x="9404159" y="4453122"/>
          <a:ext cx="10445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0560" imgH="444240" progId="Equation.DSMT4">
                  <p:embed/>
                </p:oleObj>
              </mc:Choice>
              <mc:Fallback>
                <p:oleObj name="Equation" r:id="rId8" imgW="520560" imgH="444240" progId="Equation.DSMT4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04159" y="4453122"/>
                        <a:ext cx="10445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右箭头 10"/>
          <p:cNvSpPr/>
          <p:nvPr/>
        </p:nvSpPr>
        <p:spPr>
          <a:xfrm>
            <a:off x="8831510" y="4821525"/>
            <a:ext cx="386947" cy="247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351115"/>
              </p:ext>
            </p:extLst>
          </p:nvPr>
        </p:nvGraphicFramePr>
        <p:xfrm>
          <a:off x="5918121" y="5406372"/>
          <a:ext cx="2089151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1120" imgH="444240" progId="Equation.DSMT4">
                  <p:embed/>
                </p:oleObj>
              </mc:Choice>
              <mc:Fallback>
                <p:oleObj name="Equation" r:id="rId10" imgW="1041120" imgH="444240" progId="Equation.DSMT4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121" y="5406372"/>
                        <a:ext cx="2089151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011FB27-91C3-4C11-88E4-AD4BC526D169}"/>
              </a:ext>
            </a:extLst>
          </p:cNvPr>
          <p:cNvSpPr/>
          <p:nvPr/>
        </p:nvSpPr>
        <p:spPr>
          <a:xfrm>
            <a:off x="5411549" y="1409162"/>
            <a:ext cx="31566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A=0, B≠0;    =</a:t>
            </a:r>
            <a:r>
              <a:rPr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Bsinx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13" name="右箭头 8">
            <a:extLst>
              <a:ext uri="{FF2B5EF4-FFF2-40B4-BE49-F238E27FC236}">
                <a16:creationId xmlns:a16="http://schemas.microsoft.com/office/drawing/2014/main" id="{257DC9D5-7A1B-42CE-AEF9-5945C6113834}"/>
              </a:ext>
            </a:extLst>
          </p:cNvPr>
          <p:cNvSpPr/>
          <p:nvPr/>
        </p:nvSpPr>
        <p:spPr>
          <a:xfrm>
            <a:off x="4175575" y="5010324"/>
            <a:ext cx="1210608" cy="3137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8">
            <a:extLst>
              <a:ext uri="{FF2B5EF4-FFF2-40B4-BE49-F238E27FC236}">
                <a16:creationId xmlns:a16="http://schemas.microsoft.com/office/drawing/2014/main" id="{D13F80A1-9A3F-4917-B0BE-6CB91B4DD6AF}"/>
              </a:ext>
            </a:extLst>
          </p:cNvPr>
          <p:cNvSpPr/>
          <p:nvPr/>
        </p:nvSpPr>
        <p:spPr>
          <a:xfrm>
            <a:off x="4083783" y="2015553"/>
            <a:ext cx="642021" cy="313720"/>
          </a:xfrm>
          <a:prstGeom prst="rightArrow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5378DA-5FC0-0837-C5C4-D762D3EAA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26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2"/>
          <p:cNvSpPr>
            <a:spLocks noChangeArrowheads="1"/>
          </p:cNvSpPr>
          <p:nvPr/>
        </p:nvSpPr>
        <p:spPr bwMode="auto">
          <a:xfrm>
            <a:off x="3161171" y="1289549"/>
            <a:ext cx="4648200" cy="2667000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400" kern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695138" y="407687"/>
            <a:ext cx="58459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kern="0" dirty="0">
                <a:solidFill>
                  <a:prstClr val="black"/>
                </a:solidFill>
                <a:cs typeface="Times New Roman" panose="02020603050405020304" pitchFamily="18" charset="0"/>
              </a:rPr>
              <a:t>2. The properties of the solutions</a:t>
            </a:r>
            <a:endParaRPr kumimoji="0" lang="en-US" altLang="zh-CN" kern="0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106101" y="4502368"/>
            <a:ext cx="8841399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The particle can exist in many states</a:t>
            </a:r>
          </a:p>
          <a:p>
            <a:pPr eaLnBrk="1" fontAlgn="base" hangingPunct="1">
              <a:lnSpc>
                <a:spcPct val="12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Energy is quantized</a:t>
            </a:r>
          </a:p>
          <a:p>
            <a:pPr defTabSz="914400" eaLnBrk="1" fontAlgn="base" hangingPunct="1">
              <a:lnSpc>
                <a:spcPct val="12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The minimum energy (h</a:t>
            </a:r>
            <a:r>
              <a:rPr lang="en-US" altLang="zh-CN" baseline="30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/8m</a:t>
            </a:r>
            <a:r>
              <a:rPr lang="en-US" altLang="zh-CN" i="1" dirty="0">
                <a:solidFill>
                  <a:prstClr val="black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768907"/>
              </p:ext>
            </p:extLst>
          </p:nvPr>
        </p:nvGraphicFramePr>
        <p:xfrm>
          <a:off x="4087813" y="1289050"/>
          <a:ext cx="1397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419040" progId="Equation.DSMT4">
                  <p:embed/>
                </p:oleObj>
              </mc:Choice>
              <mc:Fallback>
                <p:oleObj name="Equation" r:id="rId2" imgW="698400" imgH="419040" progId="Equation.DSMT4">
                  <p:embed/>
                  <p:pic>
                    <p:nvPicPr>
                      <p:cNvPr id="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813" y="1289050"/>
                        <a:ext cx="1397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/>
          <p:cNvGraphicFramePr>
            <a:graphicFrameLocks noChangeAspect="1"/>
          </p:cNvGraphicFramePr>
          <p:nvPr/>
        </p:nvGraphicFramePr>
        <p:xfrm>
          <a:off x="5699125" y="1289050"/>
          <a:ext cx="1955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444240" progId="Equation.DSMT4">
                  <p:embed/>
                </p:oleObj>
              </mc:Choice>
              <mc:Fallback>
                <p:oleObj name="Equation" r:id="rId4" imgW="977760" imgH="444240" progId="Equation.DSMT4">
                  <p:embed/>
                  <p:pic>
                    <p:nvPicPr>
                      <p:cNvPr id="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5" y="1289050"/>
                        <a:ext cx="1955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701415"/>
              </p:ext>
            </p:extLst>
          </p:nvPr>
        </p:nvGraphicFramePr>
        <p:xfrm>
          <a:off x="4075113" y="2319338"/>
          <a:ext cx="142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11000" imgH="419040" progId="Equation.DSMT4">
                  <p:embed/>
                </p:oleObj>
              </mc:Choice>
              <mc:Fallback>
                <p:oleObj name="Equation" r:id="rId6" imgW="711000" imgH="419040" progId="Equation.DSMT4">
                  <p:embed/>
                  <p:pic>
                    <p:nvPicPr>
                      <p:cNvPr id="1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5113" y="2319338"/>
                        <a:ext cx="142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6"/>
          <p:cNvGraphicFramePr>
            <a:graphicFrameLocks noChangeAspect="1"/>
          </p:cNvGraphicFramePr>
          <p:nvPr/>
        </p:nvGraphicFramePr>
        <p:xfrm>
          <a:off x="5686425" y="2239963"/>
          <a:ext cx="2159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444240" progId="Equation.DSMT4">
                  <p:embed/>
                </p:oleObj>
              </mc:Choice>
              <mc:Fallback>
                <p:oleObj name="Equation" r:id="rId8" imgW="1079280" imgH="444240" progId="Equation.DSMT4">
                  <p:embed/>
                  <p:pic>
                    <p:nvPicPr>
                      <p:cNvPr id="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425" y="2239963"/>
                        <a:ext cx="2159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757069"/>
              </p:ext>
            </p:extLst>
          </p:nvPr>
        </p:nvGraphicFramePr>
        <p:xfrm>
          <a:off x="4129088" y="3381375"/>
          <a:ext cx="142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11000" imgH="419040" progId="Equation.DSMT4">
                  <p:embed/>
                </p:oleObj>
              </mc:Choice>
              <mc:Fallback>
                <p:oleObj name="Equation" r:id="rId10" imgW="711000" imgH="419040" progId="Equation.DSMT4">
                  <p:embed/>
                  <p:pic>
                    <p:nvPicPr>
                      <p:cNvPr id="2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9088" y="3381375"/>
                        <a:ext cx="142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8"/>
          <p:cNvGraphicFramePr>
            <a:graphicFrameLocks noChangeAspect="1"/>
          </p:cNvGraphicFramePr>
          <p:nvPr/>
        </p:nvGraphicFramePr>
        <p:xfrm>
          <a:off x="5699125" y="3332164"/>
          <a:ext cx="2717800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58640" imgH="444240" progId="Equation.DSMT4">
                  <p:embed/>
                </p:oleObj>
              </mc:Choice>
              <mc:Fallback>
                <p:oleObj name="Equation" r:id="rId12" imgW="1358640" imgH="444240" progId="Equation.DSMT4">
                  <p:embed/>
                  <p:pic>
                    <p:nvPicPr>
                      <p:cNvPr id="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5" y="3332164"/>
                        <a:ext cx="2717800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3091067" y="1515569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kern="0">
                <a:solidFill>
                  <a:prstClr val="black"/>
                </a:solidFill>
              </a:rPr>
              <a:t>n=1</a:t>
            </a: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3091067" y="2429970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kern="0">
                <a:solidFill>
                  <a:prstClr val="black"/>
                </a:solidFill>
              </a:rPr>
              <a:t>n=2</a:t>
            </a:r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3161171" y="3456387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kern="0">
                <a:solidFill>
                  <a:prstClr val="black"/>
                </a:solidFill>
              </a:rPr>
              <a:t>n=3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19DFF7-ADAF-5B69-F348-80A91B558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74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867011" y="254388"/>
            <a:ext cx="66476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Boundary conditions and quantization</a:t>
            </a:r>
            <a:endParaRPr lang="zh-CN" altLang="en-US" sz="2800" b="1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3376" y="1609773"/>
            <a:ext cx="7248525" cy="4081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allowed wavefunctions for the particle in a box are</a:t>
            </a:r>
          </a:p>
          <a:p>
            <a:pPr>
              <a:lnSpc>
                <a:spcPct val="120000"/>
              </a:lnSpc>
              <a:defRPr/>
            </a:pP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/>
            </a:pP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for integer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0C0CFE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&gt; 0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, and the corresponding energies are</a:t>
            </a:r>
          </a:p>
          <a:p>
            <a:pPr>
              <a:lnSpc>
                <a:spcPct val="120000"/>
              </a:lnSpc>
              <a:defRPr/>
            </a:pP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/>
            </a:pP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We see that the imposition of boundary conditions leads to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quantization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only certain values of the energy are possible.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BD468BE-A22E-43E5-B024-3539A12A4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790375"/>
              </p:ext>
            </p:extLst>
          </p:nvPr>
        </p:nvGraphicFramePr>
        <p:xfrm>
          <a:off x="3683000" y="3429000"/>
          <a:ext cx="21828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419040" progId="Equation.DSMT4">
                  <p:embed/>
                </p:oleObj>
              </mc:Choice>
              <mc:Fallback>
                <p:oleObj name="Equation" r:id="rId2" imgW="1091880" imgH="4190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BD468BE-A22E-43E5-B024-3539A12A47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83000" y="3429000"/>
                        <a:ext cx="2182813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26F0E921-D06C-4F6B-8FCC-A39655B77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547" y="1253679"/>
            <a:ext cx="3619500" cy="45910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896225" y="5999342"/>
            <a:ext cx="3818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  <a:latin typeface="Calisto MT" panose="02040603050505030304" pitchFamily="18" charset="0"/>
                <a:ea typeface="微软雅黑" panose="020B0503020204020204" pitchFamily="34" charset="-122"/>
              </a:rPr>
              <a:t>Wavefunction for a particle in a box </a:t>
            </a:r>
          </a:p>
        </p:txBody>
      </p:sp>
      <p:sp>
        <p:nvSpPr>
          <p:cNvPr id="9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3694990" y="2120989"/>
          <a:ext cx="2089151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1120" imgH="444240" progId="Equation.DSMT4">
                  <p:embed/>
                </p:oleObj>
              </mc:Choice>
              <mc:Fallback>
                <p:oleObj name="Equation" r:id="rId5" imgW="1041120" imgH="444240" progId="Equation.DSMT4">
                  <p:embed/>
                  <p:pic>
                    <p:nvPicPr>
                      <p:cNvPr id="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4990" y="2120989"/>
                        <a:ext cx="2089151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A0DC11-C665-8239-7FDA-9FD4B04C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928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6F0E921-D06C-4F6B-8FCC-A39655B77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172" y="341483"/>
            <a:ext cx="3619500" cy="459105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831506" y="1947718"/>
            <a:ext cx="3818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prstClr val="black"/>
                </a:solidFill>
                <a:latin typeface="Calisto MT" panose="02040603050505030304" pitchFamily="18" charset="0"/>
                <a:ea typeface="微软雅黑" panose="020B0503020204020204" pitchFamily="34" charset="-122"/>
              </a:rPr>
              <a:t>Wavefunction for a particle in a box </a:t>
            </a:r>
          </a:p>
        </p:txBody>
      </p:sp>
      <p:sp>
        <p:nvSpPr>
          <p:cNvPr id="4" name="矩形 3"/>
          <p:cNvSpPr/>
          <p:nvPr/>
        </p:nvSpPr>
        <p:spPr>
          <a:xfrm>
            <a:off x="500771" y="5073291"/>
            <a:ext cx="112018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波函数在一维势阱两端，根据边界条件有零点。除此之外：最低能量波函数没有节点；下一个波函数有一个节点，下一个有两个，依此类推。 </a:t>
            </a:r>
          </a:p>
          <a:p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偶函数（基态）奇函数（第一激发态），奇偶交替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5D7CD2-F944-49A3-2C51-3A6DA8F1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93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33400" y="1161080"/>
                <a:ext cx="11125200" cy="48421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3. A general property of the set of eigenfunctions of an operator like the Hamiltonian is that they are orthogonal; that is,</a:t>
                </a: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In the present case, the orthogonality is easily demonstrated:</a:t>
                </a: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2400"/>
                  </a:spcBef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It is now easy to show that the result is zero unless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m 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n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If the wavefunctions are </a:t>
                </a:r>
                <a:r>
                  <a:rPr lang="en-US" altLang="zh-CN" sz="2400" dirty="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normalised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 so that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400" dirty="0">
                            <a:solidFill>
                              <a:srgbClr val="0C0CFE"/>
                            </a:solidFill>
                            <a:latin typeface="Times New Roman" panose="020206030504050203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for all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 then</a:t>
                </a:r>
              </a:p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                                                                     (Kronecker delta)</a:t>
                </a: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and the set is said to be </a:t>
                </a:r>
                <a:r>
                  <a:rPr lang="en-US" altLang="zh-CN" sz="2400" i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orthonormal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161080"/>
                <a:ext cx="11125200" cy="4842159"/>
              </a:xfrm>
              <a:prstGeom prst="rect">
                <a:avLst/>
              </a:prstGeom>
              <a:blipFill>
                <a:blip r:embed="rId4"/>
                <a:stretch>
                  <a:fillRect l="-877" t="-252" b="-1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E2CB0C8-2D73-4966-B9FE-1A87580FB7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6333" y="2078271"/>
          <a:ext cx="1752480" cy="55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6240" imgH="279360" progId="Equation.DSMT4">
                  <p:embed/>
                </p:oleObj>
              </mc:Choice>
              <mc:Fallback>
                <p:oleObj name="Equation" r:id="rId5" imgW="876240" imgH="279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E2CB0C8-2D73-4966-B9FE-1A87580FB7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26333" y="2078271"/>
                        <a:ext cx="1752480" cy="558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EBB018B-2754-407D-8042-D7F8CBD45DA3}"/>
                  </a:ext>
                </a:extLst>
              </p:cNvPr>
              <p:cNvSpPr txBox="1"/>
              <p:nvPr/>
            </p:nvSpPr>
            <p:spPr>
              <a:xfrm>
                <a:off x="7171231" y="2126800"/>
                <a:ext cx="14073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Calisto MT" panose="02040603050505030304" pitchFamily="18" charset="0"/>
                    <a:ea typeface="微软雅黑" panose="020B0503020204020204" pitchFamily="34" charset="-122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Calisto MT" panose="02040603050505030304" pitchFamily="18" charset="0"/>
                    <a:ea typeface="微软雅黑" panose="020B0503020204020204" pitchFamily="34" charset="-122"/>
                  </a:rPr>
                  <a:t>.</a:t>
                </a:r>
                <a:endParaRPr lang="zh-CN" altLang="en-US" sz="2400" dirty="0">
                  <a:solidFill>
                    <a:prstClr val="black"/>
                  </a:solidFill>
                  <a:latin typeface="Calisto MT" panose="0204060305050503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EBB018B-2754-407D-8042-D7F8CBD45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231" y="2126798"/>
                <a:ext cx="1407308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6494" t="-10526" r="-5628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A9B8FA9-5790-4FE5-97D7-5F107D603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1821" y="3059879"/>
          <a:ext cx="7975440" cy="96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87720" imgH="482400" progId="Equation.DSMT4">
                  <p:embed/>
                </p:oleObj>
              </mc:Choice>
              <mc:Fallback>
                <p:oleObj name="Equation" r:id="rId8" imgW="3987720" imgH="482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A9B8FA9-5790-4FE5-97D7-5F107D6038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91821" y="3059879"/>
                        <a:ext cx="7975440" cy="96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26F4E7C-850F-4AAB-A03F-BBA4DC8798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5280" y="4773071"/>
          <a:ext cx="1980720" cy="55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360" imgH="279360" progId="Equation.DSMT4">
                  <p:embed/>
                </p:oleObj>
              </mc:Choice>
              <mc:Fallback>
                <p:oleObj name="Equation" r:id="rId10" imgW="990360" imgH="279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26F4E7C-850F-4AAB-A03F-BBA4DC879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15280" y="4773071"/>
                        <a:ext cx="1980720" cy="558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4611050" y="233811"/>
            <a:ext cx="3498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Sets of </a:t>
            </a:r>
            <a:r>
              <a:rPr lang="en-US" altLang="zh-CN" sz="2800" b="1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eigenfunctions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C20BB8-9E40-B9FB-3A8A-F6964B887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904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11035" y="194810"/>
            <a:ext cx="4496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Expansion in </a:t>
            </a:r>
            <a:r>
              <a:rPr lang="en-US" altLang="zh-CN" sz="2800" b="1" dirty="0" err="1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eigenfunctions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339773" y="1149717"/>
                <a:ext cx="11852228" cy="45427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4. Another important property is that 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any function of the 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same variables 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with the 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same boundary conditions 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can be expressed as a linear combination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𝝍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To find the coefficients we just multiply the above equation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  <m:sup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and integrate:</a:t>
                </a: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since all other terms in the sum on the right vanish because of the orthogonality.</a:t>
                </a:r>
              </a:p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are normalized this just reduces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2" y="1149716"/>
                <a:ext cx="11852228" cy="4542782"/>
              </a:xfrm>
              <a:prstGeom prst="rect">
                <a:avLst/>
              </a:prstGeom>
              <a:blipFill rotWithShape="0">
                <a:blip r:embed="rId3"/>
                <a:stretch>
                  <a:fillRect l="-823" t="-268" b="-1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26F4E7C-850F-4AAB-A03F-BBA4DC8798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9595" y="2124604"/>
          <a:ext cx="1548720" cy="685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342720" progId="Equation.DSMT4">
                  <p:embed/>
                </p:oleObj>
              </mc:Choice>
              <mc:Fallback>
                <p:oleObj name="Equation" r:id="rId4" imgW="77436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26F4E7C-850F-4AAB-A03F-BBA4DC879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49595" y="2124604"/>
                        <a:ext cx="1548720" cy="685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A9B8FA9-5790-4FE5-97D7-5F107D603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929" y="3217560"/>
          <a:ext cx="3581280" cy="147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0640" imgH="736560" progId="Equation.DSMT4">
                  <p:embed/>
                </p:oleObj>
              </mc:Choice>
              <mc:Fallback>
                <p:oleObj name="Equation" r:id="rId6" imgW="179064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A9B8FA9-5790-4FE5-97D7-5F107D6038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22929" y="3217560"/>
                        <a:ext cx="3581280" cy="147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147478F-95B8-49B0-AC1A-D519AED802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8795" y="5533167"/>
          <a:ext cx="1930320" cy="6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65160" imgH="330120" progId="Equation.DSMT4">
                  <p:embed/>
                </p:oleObj>
              </mc:Choice>
              <mc:Fallback>
                <p:oleObj name="Equation" r:id="rId8" imgW="965160" imgH="330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147478F-95B8-49B0-AC1A-D519AED802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58795" y="5533167"/>
                        <a:ext cx="1930320" cy="660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A63495-37F4-9BC4-C99C-4295B0FA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69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BD468BE-A22E-43E5-B024-3539A12A4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628753"/>
              </p:ext>
            </p:extLst>
          </p:nvPr>
        </p:nvGraphicFramePr>
        <p:xfrm>
          <a:off x="4165598" y="3530762"/>
          <a:ext cx="3556000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495000" progId="Equation.DSMT4">
                  <p:embed/>
                </p:oleObj>
              </mc:Choice>
              <mc:Fallback>
                <p:oleObj name="Equation" r:id="rId2" imgW="1777680" imgH="4950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BD468BE-A22E-43E5-B024-3539A12A47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65598" y="3530762"/>
                        <a:ext cx="3556000" cy="989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BD468BE-A22E-43E5-B024-3539A12A4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965372"/>
              </p:ext>
            </p:extLst>
          </p:nvPr>
        </p:nvGraphicFramePr>
        <p:xfrm>
          <a:off x="3628511" y="2412839"/>
          <a:ext cx="439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457200" progId="Equation.DSMT4">
                  <p:embed/>
                </p:oleObj>
              </mc:Choice>
              <mc:Fallback>
                <p:oleObj name="Equation" r:id="rId4" imgW="2197080" imgH="457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BD468BE-A22E-43E5-B024-3539A12A47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28511" y="2412839"/>
                        <a:ext cx="43942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76418" y="172973"/>
            <a:ext cx="6997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Quantum-classical correspondence principle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1645" y="1337686"/>
            <a:ext cx="115631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微观粒子体系能量依赖于某些量子数，当量子数足够高时，在从量子到经典力学的某个阶段，这两种描述必须融合。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701586C-DEC4-0A1A-F91F-3DA3E16F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252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69531" y="212300"/>
            <a:ext cx="36406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More on measurement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47650" y="1164855"/>
                <a:ext cx="11791951" cy="35992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The wavefunction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for the particle in a box can be expressed in terms of the eigenfunctions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of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Now a measurement of the energy will definitely give the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/8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 A measurement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sz="2400" dirty="0">
                            <a:solidFill>
                              <a:prstClr val="black"/>
                            </a:solidFill>
                            <a:latin typeface="Times New Roman" panose="020206030504050203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must give a result consistent with this, i.e., 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±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 Moreover</a:t>
                </a: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1164855"/>
                <a:ext cx="11791951" cy="3599255"/>
              </a:xfrm>
              <a:prstGeom prst="rect">
                <a:avLst/>
              </a:prstGeom>
              <a:blipFill>
                <a:blip r:embed="rId3"/>
                <a:stretch>
                  <a:fillRect l="-827" t="-338" r="-2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9C9B56F-A919-4E28-BA2B-85A7DB5DAD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334044"/>
              </p:ext>
            </p:extLst>
          </p:nvPr>
        </p:nvGraphicFramePr>
        <p:xfrm>
          <a:off x="1609725" y="2065182"/>
          <a:ext cx="906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33840" imgH="457200" progId="Equation.DSMT4">
                  <p:embed/>
                </p:oleObj>
              </mc:Choice>
              <mc:Fallback>
                <p:oleObj name="Equation" r:id="rId4" imgW="4533840" imgH="457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9C9B56F-A919-4E28-BA2B-85A7DB5DA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09725" y="2065182"/>
                        <a:ext cx="90678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A9B8FA9-5790-4FE5-97D7-5F107D603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496530"/>
              </p:ext>
            </p:extLst>
          </p:nvPr>
        </p:nvGraphicFramePr>
        <p:xfrm>
          <a:off x="3267552" y="4370630"/>
          <a:ext cx="525744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28720" imgH="393480" progId="Equation.DSMT4">
                  <p:embed/>
                </p:oleObj>
              </mc:Choice>
              <mc:Fallback>
                <p:oleObj name="Equation" r:id="rId6" imgW="2628720" imgH="393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A9B8FA9-5790-4FE5-97D7-5F107D6038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67552" y="4370630"/>
                        <a:ext cx="5257440" cy="786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223F99A-A4E5-43BB-A5D8-28E401D40330}"/>
                  </a:ext>
                </a:extLst>
              </p:cNvPr>
              <p:cNvSpPr txBox="1"/>
              <p:nvPr/>
            </p:nvSpPr>
            <p:spPr>
              <a:xfrm>
                <a:off x="247650" y="5402527"/>
                <a:ext cx="1141984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能量本征函数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是两个非简并动量波函数的线性组合，因此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不是动量算符的本征函数</a:t>
                </a:r>
                <a:endPara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223F99A-A4E5-43BB-A5D8-28E401D40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5402527"/>
                <a:ext cx="11419840" cy="830997"/>
              </a:xfrm>
              <a:prstGeom prst="rect">
                <a:avLst/>
              </a:prstGeom>
              <a:blipFill>
                <a:blip r:embed="rId8"/>
                <a:stretch>
                  <a:fillRect l="-854" t="-8029" b="-15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8B7BEA-BE94-26BE-9807-760F8558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018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22518" y="226169"/>
            <a:ext cx="44597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Prediction of measurements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66700" y="1121965"/>
                <a:ext cx="11658600" cy="47846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Any normalized wavefunction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of the same variables and satisfying the same boundary conditions can be expressed in terms of normalized eigenfunctions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 so that</a:t>
                </a:r>
              </a:p>
              <a:p>
                <a:pPr>
                  <a:lnSpc>
                    <a:spcPct val="120000"/>
                  </a:lnSpc>
                  <a:defRPr/>
                </a:pP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 and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are numerical coefficients, possibly complex. Then for a state with this wavefunction,</a:t>
                </a:r>
              </a:p>
              <a:p>
                <a:pPr marL="360000"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• If a measurement of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yields the result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, then immediately after the measurement the system is in a state for which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definitely has the value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 Consequently a measurement of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 will definitely yield one of the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 marL="360000">
                  <a:lnSpc>
                    <a:spcPct val="120000"/>
                  </a:lnSpc>
                  <a:defRPr/>
                </a:pP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• We cannot predict in advance which value will occur, but the probability of observing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1121965"/>
                <a:ext cx="11658600" cy="4784643"/>
              </a:xfrm>
              <a:prstGeom prst="rect">
                <a:avLst/>
              </a:prstGeom>
              <a:blipFill>
                <a:blip r:embed="rId3"/>
                <a:stretch>
                  <a:fillRect l="-837" t="-255" r="-785" b="-1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26F4E7C-850F-4AAB-A03F-BBA4DC8798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848466"/>
              </p:ext>
            </p:extLst>
          </p:nvPr>
        </p:nvGraphicFramePr>
        <p:xfrm>
          <a:off x="5039515" y="2147986"/>
          <a:ext cx="1548720" cy="685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342720" progId="Equation.DSMT4">
                  <p:embed/>
                </p:oleObj>
              </mc:Choice>
              <mc:Fallback>
                <p:oleObj name="Equation" r:id="rId4" imgW="77436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26F4E7C-850F-4AAB-A03F-BBA4DC879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39515" y="2147986"/>
                        <a:ext cx="1548720" cy="685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1DFEBF-4886-3F0B-FC8B-FDD60D28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436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854" y="206260"/>
            <a:ext cx="112042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/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general steps in the quantum mechanical treatment: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93854" y="2152452"/>
            <a:ext cx="1118114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  <a:buFontTx/>
              <a:buAutoNum type="alphaLcPeriod"/>
            </a:pP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获得势能函数，然后推导哈密顿算符</a:t>
            </a:r>
            <a:endParaRPr lang="en-US" altLang="zh-CN" dirty="0">
              <a:solidFill>
                <a:prstClr val="black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AutoNum type="alphaLcPeriod"/>
            </a:pP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解薛定谔方程 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Symbol" pitchFamily="18" charset="2"/>
              </a:rPr>
              <a:t></a:t>
            </a:r>
            <a:r>
              <a:rPr lang="en-US" altLang="zh-CN" baseline="-25000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and E</a:t>
            </a:r>
            <a:r>
              <a:rPr lang="en-US" altLang="zh-CN" baseline="-25000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AutoNum type="alphaLcPeriod"/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推导出每个对应状态的各种物理量的数值，以及波函数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Symbol" pitchFamily="18" charset="2"/>
              </a:rPr>
              <a:t></a:t>
            </a:r>
            <a:r>
              <a:rPr lang="en-US" altLang="zh-CN" baseline="-25000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的特征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.</a:t>
            </a:r>
            <a:endParaRPr lang="en-US" altLang="zh-CN" baseline="-25000" dirty="0">
              <a:solidFill>
                <a:prstClr val="black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08B498-D98C-881D-ABEB-BF1F7AC5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608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圆角矩形 70"/>
          <p:cNvSpPr/>
          <p:nvPr/>
        </p:nvSpPr>
        <p:spPr>
          <a:xfrm>
            <a:off x="9966001" y="965111"/>
            <a:ext cx="1752347" cy="33467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22611" y="207864"/>
            <a:ext cx="805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prstClr val="black"/>
                </a:solidFill>
                <a:cs typeface="Times New Roman" panose="02020603050405020304" pitchFamily="18" charset="0"/>
              </a:rPr>
              <a:t>Example 1: The adsorption spectrum of </a:t>
            </a:r>
            <a:r>
              <a:rPr lang="en-US" altLang="zh-CN" sz="2800" b="1" dirty="0" err="1">
                <a:solidFill>
                  <a:prstClr val="black"/>
                </a:solidFill>
                <a:cs typeface="Times New Roman" panose="02020603050405020304" pitchFamily="18" charset="0"/>
              </a:rPr>
              <a:t>cyanines</a:t>
            </a:r>
            <a:endParaRPr lang="en-US" altLang="zh-CN" sz="2800" b="1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5660575" y="913670"/>
            <a:ext cx="4419600" cy="766763"/>
            <a:chOff x="624" y="960"/>
            <a:chExt cx="2784" cy="483"/>
          </a:xfrm>
        </p:grpSpPr>
        <p:sp>
          <p:nvSpPr>
            <p:cNvPr id="8" name="Text Box 3"/>
            <p:cNvSpPr txBox="1">
              <a:spLocks noChangeArrowheads="1"/>
            </p:cNvSpPr>
            <p:nvPr/>
          </p:nvSpPr>
          <p:spPr bwMode="auto">
            <a:xfrm>
              <a:off x="624" y="1152"/>
              <a:ext cx="27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fontAlgn="base" hangingPunct="1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kern="0" dirty="0">
                  <a:solidFill>
                    <a:srgbClr val="0000FF"/>
                  </a:solidFill>
                </a:rPr>
                <a:t>R</a:t>
              </a:r>
              <a:r>
                <a:rPr lang="en-US" altLang="zh-CN" kern="0" baseline="-25000" dirty="0">
                  <a:solidFill>
                    <a:srgbClr val="0000FF"/>
                  </a:solidFill>
                </a:rPr>
                <a:t>2</a:t>
              </a:r>
              <a:r>
                <a:rPr lang="en-US" altLang="zh-CN" kern="0" dirty="0">
                  <a:solidFill>
                    <a:srgbClr val="0000FF"/>
                  </a:solidFill>
                </a:rPr>
                <a:t>N-(CH=CH-)</a:t>
              </a:r>
              <a:r>
                <a:rPr lang="en-US" altLang="zh-CN" kern="0" baseline="-25000" dirty="0" err="1">
                  <a:solidFill>
                    <a:srgbClr val="0000FF"/>
                  </a:solidFill>
                </a:rPr>
                <a:t>m</a:t>
              </a:r>
              <a:r>
                <a:rPr lang="en-US" altLang="zh-CN" kern="0" dirty="0" err="1">
                  <a:solidFill>
                    <a:srgbClr val="0000FF"/>
                  </a:solidFill>
                </a:rPr>
                <a:t>CH</a:t>
              </a:r>
              <a:r>
                <a:rPr lang="en-US" altLang="zh-CN" kern="0" dirty="0">
                  <a:solidFill>
                    <a:srgbClr val="0000FF"/>
                  </a:solidFill>
                </a:rPr>
                <a:t>=NR</a:t>
              </a:r>
              <a:r>
                <a:rPr lang="en-US" altLang="zh-CN" kern="0" baseline="-25000" dirty="0">
                  <a:solidFill>
                    <a:srgbClr val="0000FF"/>
                  </a:solidFill>
                </a:rPr>
                <a:t>2</a:t>
              </a:r>
            </a:p>
          </p:txBody>
        </p:sp>
        <p:sp>
          <p:nvSpPr>
            <p:cNvPr id="9" name="Text Box 4"/>
            <p:cNvSpPr txBox="1">
              <a:spLocks noChangeArrowheads="1"/>
            </p:cNvSpPr>
            <p:nvPr/>
          </p:nvSpPr>
          <p:spPr bwMode="auto">
            <a:xfrm>
              <a:off x="2340" y="102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fontAlgn="base" hangingPunct="1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kern="0" baseline="-25000">
                  <a:solidFill>
                    <a:srgbClr val="0000FF"/>
                  </a:solidFill>
                </a:rPr>
                <a:t>+</a:t>
              </a: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840" y="96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fontAlgn="base" hangingPunct="1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kern="0">
                  <a:solidFill>
                    <a:srgbClr val="0000FF"/>
                  </a:solidFill>
                </a:rPr>
                <a:t>..</a:t>
              </a:r>
            </a:p>
          </p:txBody>
        </p:sp>
      </p:grpSp>
      <p:sp>
        <p:nvSpPr>
          <p:cNvPr id="12" name="矩形 11"/>
          <p:cNvSpPr/>
          <p:nvPr/>
        </p:nvSpPr>
        <p:spPr>
          <a:xfrm>
            <a:off x="413024" y="1219202"/>
            <a:ext cx="5117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formula of the cyanine dye:</a:t>
            </a: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432385" y="1663139"/>
            <a:ext cx="8364625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defTabSz="914400" eaLnBrk="1" hangingPunct="1">
              <a:lnSpc>
                <a:spcPct val="120000"/>
              </a:lnSpc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  <a:sym typeface="Symbol" pitchFamily="18" charset="2"/>
              </a:rPr>
              <a:t>Total  electrons: 2m+4</a:t>
            </a:r>
          </a:p>
          <a:p>
            <a:pPr algn="just" defTabSz="914400" eaLnBrk="1" hangingPunct="1">
              <a:lnSpc>
                <a:spcPct val="120000"/>
              </a:lnSpc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  <a:sym typeface="Symbol" pitchFamily="18" charset="2"/>
              </a:rPr>
              <a:t>In the ground state, these electrons occupy m+2 molecular orbitals</a:t>
            </a:r>
          </a:p>
        </p:txBody>
      </p:sp>
      <p:grpSp>
        <p:nvGrpSpPr>
          <p:cNvPr id="52" name="Group 42"/>
          <p:cNvGrpSpPr>
            <a:grpSpLocks/>
          </p:cNvGrpSpPr>
          <p:nvPr/>
        </p:nvGrpSpPr>
        <p:grpSpPr bwMode="auto">
          <a:xfrm>
            <a:off x="10200699" y="1093127"/>
            <a:ext cx="1517651" cy="2895600"/>
            <a:chOff x="4704" y="2160"/>
            <a:chExt cx="956" cy="1824"/>
          </a:xfrm>
        </p:grpSpPr>
        <p:sp>
          <p:nvSpPr>
            <p:cNvPr id="53" name="Line 24"/>
            <p:cNvSpPr>
              <a:spLocks noChangeShapeType="1"/>
            </p:cNvSpPr>
            <p:nvPr/>
          </p:nvSpPr>
          <p:spPr bwMode="auto">
            <a:xfrm flipV="1">
              <a:off x="4704" y="2352"/>
              <a:ext cx="0" cy="16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4" name="Line 25"/>
            <p:cNvSpPr>
              <a:spLocks noChangeShapeType="1"/>
            </p:cNvSpPr>
            <p:nvPr/>
          </p:nvSpPr>
          <p:spPr bwMode="auto">
            <a:xfrm>
              <a:off x="4848" y="379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4752" y="216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hangingPunct="1">
                <a:spcBef>
                  <a:spcPct val="50000"/>
                </a:spcBef>
              </a:pPr>
              <a:r>
                <a:rPr lang="en-US" altLang="zh-CN" i="1" dirty="0">
                  <a:solidFill>
                    <a:prstClr val="black"/>
                  </a:solidFill>
                </a:rPr>
                <a:t>E</a:t>
              </a:r>
            </a:p>
          </p:txBody>
        </p:sp>
        <p:sp>
          <p:nvSpPr>
            <p:cNvPr id="56" name="Rectangle 32"/>
            <p:cNvSpPr>
              <a:spLocks noChangeArrowheads="1"/>
            </p:cNvSpPr>
            <p:nvPr/>
          </p:nvSpPr>
          <p:spPr bwMode="auto">
            <a:xfrm>
              <a:off x="5088" y="3648"/>
              <a:ext cx="36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4400"/>
              <a:r>
                <a:rPr lang="en-US" altLang="zh-CN" sz="2000" i="1">
                  <a:solidFill>
                    <a:prstClr val="black"/>
                  </a:solidFill>
                  <a:sym typeface="Symbol" pitchFamily="18" charset="2"/>
                </a:rPr>
                <a:t>n=</a:t>
              </a:r>
              <a:r>
                <a:rPr lang="en-US" altLang="zh-CN" sz="2000">
                  <a:solidFill>
                    <a:prstClr val="black"/>
                  </a:solidFill>
                  <a:sym typeface="Symbol" pitchFamily="18" charset="2"/>
                </a:rPr>
                <a:t>1</a:t>
              </a:r>
            </a:p>
          </p:txBody>
        </p:sp>
        <p:sp>
          <p:nvSpPr>
            <p:cNvPr id="57" name="Line 33"/>
            <p:cNvSpPr>
              <a:spLocks noChangeShapeType="1"/>
            </p:cNvSpPr>
            <p:nvPr/>
          </p:nvSpPr>
          <p:spPr bwMode="auto">
            <a:xfrm>
              <a:off x="4848" y="360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Rectangle 34"/>
            <p:cNvSpPr>
              <a:spLocks noChangeArrowheads="1"/>
            </p:cNvSpPr>
            <p:nvPr/>
          </p:nvSpPr>
          <p:spPr bwMode="auto">
            <a:xfrm>
              <a:off x="5088" y="3456"/>
              <a:ext cx="36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4400"/>
              <a:r>
                <a:rPr lang="en-US" altLang="zh-CN" sz="2000" i="1">
                  <a:solidFill>
                    <a:prstClr val="black"/>
                  </a:solidFill>
                  <a:sym typeface="Symbol" pitchFamily="18" charset="2"/>
                </a:rPr>
                <a:t>n=</a:t>
              </a:r>
              <a:r>
                <a:rPr lang="en-US" altLang="zh-CN" sz="2000">
                  <a:solidFill>
                    <a:prstClr val="black"/>
                  </a:solidFill>
                  <a:sym typeface="Symbol" pitchFamily="18" charset="2"/>
                </a:rPr>
                <a:t>2</a:t>
              </a:r>
            </a:p>
          </p:txBody>
        </p:sp>
        <p:sp>
          <p:nvSpPr>
            <p:cNvPr id="59" name="Line 35"/>
            <p:cNvSpPr>
              <a:spLocks noChangeShapeType="1"/>
            </p:cNvSpPr>
            <p:nvPr/>
          </p:nvSpPr>
          <p:spPr bwMode="auto">
            <a:xfrm>
              <a:off x="4848" y="340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Line 36"/>
            <p:cNvSpPr>
              <a:spLocks noChangeShapeType="1"/>
            </p:cNvSpPr>
            <p:nvPr/>
          </p:nvSpPr>
          <p:spPr bwMode="auto">
            <a:xfrm>
              <a:off x="4848" y="292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Line 37"/>
            <p:cNvSpPr>
              <a:spLocks noChangeShapeType="1"/>
            </p:cNvSpPr>
            <p:nvPr/>
          </p:nvSpPr>
          <p:spPr bwMode="auto">
            <a:xfrm>
              <a:off x="4848" y="273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Line 38"/>
            <p:cNvSpPr>
              <a:spLocks noChangeShapeType="1"/>
            </p:cNvSpPr>
            <p:nvPr/>
          </p:nvSpPr>
          <p:spPr bwMode="auto">
            <a:xfrm>
              <a:off x="4848" y="2544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Line 39"/>
            <p:cNvSpPr>
              <a:spLocks noChangeShapeType="1"/>
            </p:cNvSpPr>
            <p:nvPr/>
          </p:nvSpPr>
          <p:spPr bwMode="auto">
            <a:xfrm flipV="1">
              <a:off x="4944" y="3024"/>
              <a:ext cx="0" cy="28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Rectangle 40"/>
            <p:cNvSpPr>
              <a:spLocks noChangeArrowheads="1"/>
            </p:cNvSpPr>
            <p:nvPr/>
          </p:nvSpPr>
          <p:spPr bwMode="auto">
            <a:xfrm>
              <a:off x="5088" y="2784"/>
              <a:ext cx="57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4400"/>
              <a:r>
                <a:rPr lang="en-US" altLang="zh-CN" sz="2000" i="1" dirty="0">
                  <a:solidFill>
                    <a:prstClr val="black"/>
                  </a:solidFill>
                  <a:sym typeface="Symbol" pitchFamily="18" charset="2"/>
                </a:rPr>
                <a:t>n=</a:t>
              </a:r>
              <a:r>
                <a:rPr lang="en-US" altLang="zh-CN" sz="2000" dirty="0">
                  <a:solidFill>
                    <a:prstClr val="black"/>
                  </a:solidFill>
                  <a:sym typeface="Symbol" pitchFamily="18" charset="2"/>
                </a:rPr>
                <a:t>m+2</a:t>
              </a:r>
            </a:p>
          </p:txBody>
        </p:sp>
        <p:sp>
          <p:nvSpPr>
            <p:cNvPr id="65" name="Rectangle 41"/>
            <p:cNvSpPr>
              <a:spLocks noChangeArrowheads="1"/>
            </p:cNvSpPr>
            <p:nvPr/>
          </p:nvSpPr>
          <p:spPr bwMode="auto">
            <a:xfrm>
              <a:off x="5088" y="2592"/>
              <a:ext cx="57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defTabSz="914400"/>
              <a:r>
                <a:rPr lang="en-US" altLang="zh-CN" sz="2000" i="1" dirty="0">
                  <a:solidFill>
                    <a:prstClr val="black"/>
                  </a:solidFill>
                  <a:sym typeface="Symbol" pitchFamily="18" charset="2"/>
                </a:rPr>
                <a:t>n=</a:t>
              </a:r>
              <a:r>
                <a:rPr lang="en-US" altLang="zh-CN" sz="2000" dirty="0">
                  <a:solidFill>
                    <a:prstClr val="black"/>
                  </a:solidFill>
                  <a:sym typeface="Symbol" pitchFamily="18" charset="2"/>
                </a:rPr>
                <a:t>m+3</a:t>
              </a:r>
            </a:p>
          </p:txBody>
        </p:sp>
      </p:grpSp>
      <p:grpSp>
        <p:nvGrpSpPr>
          <p:cNvPr id="66" name="Group 49"/>
          <p:cNvGrpSpPr>
            <a:grpSpLocks/>
          </p:cNvGrpSpPr>
          <p:nvPr/>
        </p:nvGrpSpPr>
        <p:grpSpPr bwMode="auto">
          <a:xfrm>
            <a:off x="10429297" y="2083727"/>
            <a:ext cx="228600" cy="1600200"/>
            <a:chOff x="4848" y="2784"/>
            <a:chExt cx="144" cy="1008"/>
          </a:xfrm>
        </p:grpSpPr>
        <p:graphicFrame>
          <p:nvGraphicFramePr>
            <p:cNvPr id="67" name="Object 45"/>
            <p:cNvGraphicFramePr>
              <a:graphicFrameLocks noChangeAspect="1"/>
            </p:cNvGraphicFramePr>
            <p:nvPr/>
          </p:nvGraphicFramePr>
          <p:xfrm>
            <a:off x="4848" y="3650"/>
            <a:ext cx="144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2" imgW="248920" imgH="728980" progId="ChemDraw.Document.4.5">
                    <p:embed/>
                  </p:oleObj>
                </mc:Choice>
                <mc:Fallback>
                  <p:oleObj name="CS ChemDraw Drawing" r:id="rId2" imgW="248920" imgH="728980" progId="ChemDraw.Document.4.5">
                    <p:embed/>
                    <p:pic>
                      <p:nvPicPr>
                        <p:cNvPr id="67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650"/>
                          <a:ext cx="144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46"/>
            <p:cNvGraphicFramePr>
              <a:graphicFrameLocks noChangeAspect="1"/>
            </p:cNvGraphicFramePr>
            <p:nvPr/>
          </p:nvGraphicFramePr>
          <p:xfrm>
            <a:off x="4848" y="3456"/>
            <a:ext cx="144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2" imgW="248920" imgH="728980" progId="ChemDraw.Document.4.5">
                    <p:embed/>
                  </p:oleObj>
                </mc:Choice>
                <mc:Fallback>
                  <p:oleObj name="CS ChemDraw Drawing" r:id="rId2" imgW="248920" imgH="728980" progId="ChemDraw.Document.4.5">
                    <p:embed/>
                    <p:pic>
                      <p:nvPicPr>
                        <p:cNvPr id="68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456"/>
                          <a:ext cx="144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47"/>
            <p:cNvGraphicFramePr>
              <a:graphicFrameLocks noChangeAspect="1"/>
            </p:cNvGraphicFramePr>
            <p:nvPr/>
          </p:nvGraphicFramePr>
          <p:xfrm>
            <a:off x="4848" y="3264"/>
            <a:ext cx="144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4" imgW="248920" imgH="728980" progId="ChemDraw.Document.4.5">
                    <p:embed/>
                  </p:oleObj>
                </mc:Choice>
                <mc:Fallback>
                  <p:oleObj name="CS ChemDraw Drawing" r:id="rId4" imgW="248920" imgH="728980" progId="ChemDraw.Document.4.5">
                    <p:embed/>
                    <p:pic>
                      <p:nvPicPr>
                        <p:cNvPr id="69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264"/>
                          <a:ext cx="144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48"/>
            <p:cNvGraphicFramePr>
              <a:graphicFrameLocks noChangeAspect="1"/>
            </p:cNvGraphicFramePr>
            <p:nvPr/>
          </p:nvGraphicFramePr>
          <p:xfrm>
            <a:off x="4848" y="2784"/>
            <a:ext cx="144" cy="1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4" imgW="248920" imgH="728980" progId="ChemDraw.Document.4.5">
                    <p:embed/>
                  </p:oleObj>
                </mc:Choice>
                <mc:Fallback>
                  <p:oleObj name="CS ChemDraw Drawing" r:id="rId4" imgW="248920" imgH="728980" progId="ChemDraw.Document.4.5">
                    <p:embed/>
                    <p:pic>
                      <p:nvPicPr>
                        <p:cNvPr id="7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2784"/>
                          <a:ext cx="144" cy="1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97385" y="2638465"/>
            <a:ext cx="90028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>
              <a:spcBef>
                <a:spcPct val="5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The adsorption spectrum correspond to excitation of electrons from the highest occupied (m+2) orbital to the lowest unoccupied (m+3) orbital.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161082"/>
              </p:ext>
            </p:extLst>
          </p:nvPr>
        </p:nvGraphicFramePr>
        <p:xfrm>
          <a:off x="522288" y="3505200"/>
          <a:ext cx="6197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98520" imgH="457200" progId="Equation.DSMT4">
                  <p:embed/>
                </p:oleObj>
              </mc:Choice>
              <mc:Fallback>
                <p:oleObj name="Equation" r:id="rId5" imgW="3098520" imgH="457200" progId="Equation.DSMT4">
                  <p:embed/>
                  <p:pic>
                    <p:nvPicPr>
                      <p:cNvPr id="3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3505200"/>
                        <a:ext cx="6197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7280423"/>
              </p:ext>
            </p:extLst>
          </p:nvPr>
        </p:nvGraphicFramePr>
        <p:xfrm>
          <a:off x="534988" y="4481513"/>
          <a:ext cx="3149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640" imgH="431640" progId="Equation.DSMT4">
                  <p:embed/>
                </p:oleObj>
              </mc:Choice>
              <mc:Fallback>
                <p:oleObj name="Equation" r:id="rId7" imgW="1574640" imgH="431640" progId="Equation.DSMT4">
                  <p:embed/>
                  <p:pic>
                    <p:nvPicPr>
                      <p:cNvPr id="3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4481513"/>
                        <a:ext cx="31496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8558887"/>
              </p:ext>
            </p:extLst>
          </p:nvPr>
        </p:nvGraphicFramePr>
        <p:xfrm>
          <a:off x="561059" y="5497613"/>
          <a:ext cx="3810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760" imgH="444240" progId="Equation.DSMT4">
                  <p:embed/>
                </p:oleObj>
              </mc:Choice>
              <mc:Fallback>
                <p:oleObj name="Equation" r:id="rId9" imgW="1904760" imgH="444240" progId="Equation.DSMT4">
                  <p:embed/>
                  <p:pic>
                    <p:nvPicPr>
                      <p:cNvPr id="3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59" y="5497613"/>
                        <a:ext cx="38100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9120" y="4914809"/>
            <a:ext cx="4582514" cy="18257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384475" y="4461548"/>
            <a:ext cx="55610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1. The absorption spectrum of the cyanine dye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01B840-600E-40E2-3A73-FD1C0868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050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2188491" y="183918"/>
            <a:ext cx="85770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prstClr val="black"/>
                </a:solidFill>
                <a:cs typeface="Times New Roman" panose="02020603050405020304" pitchFamily="18" charset="0"/>
              </a:rPr>
              <a:t>Example 2: The delocalization effect of 1,3-butadiene</a:t>
            </a: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190500" y="1462967"/>
            <a:ext cx="563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Four 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  <a:sym typeface="Symbol" pitchFamily="18" charset="2"/>
              </a:rPr>
              <a:t> electron form two  localized bonds</a:t>
            </a:r>
          </a:p>
        </p:txBody>
      </p:sp>
      <p:sp>
        <p:nvSpPr>
          <p:cNvPr id="10" name="Text Box 27"/>
          <p:cNvSpPr txBox="1">
            <a:spLocks noChangeArrowheads="1"/>
          </p:cNvSpPr>
          <p:nvPr/>
        </p:nvSpPr>
        <p:spPr bwMode="auto">
          <a:xfrm>
            <a:off x="6057900" y="1460745"/>
            <a:ext cx="5753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Four 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  <a:sym typeface="Symbol" pitchFamily="18" charset="2"/>
              </a:rPr>
              <a:t> electron form a </a:t>
            </a:r>
            <a:r>
              <a:rPr lang="en-US" altLang="zh-CN" baseline="-25000" dirty="0">
                <a:solidFill>
                  <a:prstClr val="black"/>
                </a:solidFill>
                <a:cs typeface="Times New Roman" panose="02020603050405020304" pitchFamily="18" charset="0"/>
                <a:sym typeface="Symbol" pitchFamily="18" charset="2"/>
              </a:rPr>
              <a:t>4</a:t>
            </a:r>
            <a:r>
              <a:rPr lang="en-US" altLang="zh-CN" baseline="30000" dirty="0">
                <a:solidFill>
                  <a:prstClr val="black"/>
                </a:solidFill>
                <a:cs typeface="Times New Roman" panose="02020603050405020304" pitchFamily="18" charset="0"/>
                <a:sym typeface="Symbol" pitchFamily="18" charset="2"/>
              </a:rPr>
              <a:t>4</a:t>
            </a: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  <a:sym typeface="Symbol" pitchFamily="18" charset="2"/>
              </a:rPr>
              <a:t> delocalized bonds</a:t>
            </a:r>
          </a:p>
        </p:txBody>
      </p:sp>
      <p:sp>
        <p:nvSpPr>
          <p:cNvPr id="11" name="Text Box 28"/>
          <p:cNvSpPr txBox="1">
            <a:spLocks noChangeArrowheads="1"/>
          </p:cNvSpPr>
          <p:nvPr/>
        </p:nvSpPr>
        <p:spPr bwMode="auto">
          <a:xfrm>
            <a:off x="5067300" y="2236059"/>
            <a:ext cx="5334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b="1" kern="0">
                <a:solidFill>
                  <a:prstClr val="black"/>
                </a:solidFill>
              </a:rPr>
              <a:t>＞</a:t>
            </a:r>
          </a:p>
        </p:txBody>
      </p:sp>
      <p:sp>
        <p:nvSpPr>
          <p:cNvPr id="12" name="Rectangle 54"/>
          <p:cNvSpPr>
            <a:spLocks noChangeArrowheads="1"/>
          </p:cNvSpPr>
          <p:nvPr/>
        </p:nvSpPr>
        <p:spPr bwMode="auto">
          <a:xfrm>
            <a:off x="1242755" y="2272294"/>
            <a:ext cx="28793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E=2×2 ×h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/8m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=4E</a:t>
            </a:r>
            <a:r>
              <a:rPr kumimoji="1"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</a:t>
            </a:r>
          </a:p>
        </p:txBody>
      </p:sp>
      <p:sp>
        <p:nvSpPr>
          <p:cNvPr id="13" name="Rectangle 55"/>
          <p:cNvSpPr>
            <a:spLocks noChangeArrowheads="1"/>
          </p:cNvSpPr>
          <p:nvPr/>
        </p:nvSpPr>
        <p:spPr bwMode="auto">
          <a:xfrm>
            <a:off x="6035733" y="2259014"/>
            <a:ext cx="632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E=2×h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/8m(3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+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2×2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×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h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/8m(3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l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)</a:t>
            </a:r>
            <a:r>
              <a:rPr kumimoji="1" lang="en-US" altLang="zh-CN" sz="2400" baseline="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2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=(10/9)E</a:t>
            </a:r>
            <a:r>
              <a:rPr kumimoji="1" lang="en-US" altLang="zh-CN" sz="2400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1  </a:t>
            </a:r>
          </a:p>
        </p:txBody>
      </p:sp>
      <p:grpSp>
        <p:nvGrpSpPr>
          <p:cNvPr id="42" name="Group 56"/>
          <p:cNvGrpSpPr>
            <a:grpSpLocks/>
          </p:cNvGrpSpPr>
          <p:nvPr/>
        </p:nvGrpSpPr>
        <p:grpSpPr bwMode="auto">
          <a:xfrm>
            <a:off x="2362200" y="3138334"/>
            <a:ext cx="7162800" cy="3352800"/>
            <a:chOff x="384" y="2016"/>
            <a:chExt cx="4512" cy="2112"/>
          </a:xfrm>
        </p:grpSpPr>
        <p:sp>
          <p:nvSpPr>
            <p:cNvPr id="43" name="Rectangle 36"/>
            <p:cNvSpPr>
              <a:spLocks noChangeArrowheads="1"/>
            </p:cNvSpPr>
            <p:nvPr/>
          </p:nvSpPr>
          <p:spPr bwMode="auto">
            <a:xfrm>
              <a:off x="384" y="2016"/>
              <a:ext cx="4512" cy="211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 kern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  <p:grpSp>
          <p:nvGrpSpPr>
            <p:cNvPr id="44" name="Group 51"/>
            <p:cNvGrpSpPr>
              <a:grpSpLocks/>
            </p:cNvGrpSpPr>
            <p:nvPr/>
          </p:nvGrpSpPr>
          <p:grpSpPr bwMode="auto">
            <a:xfrm>
              <a:off x="672" y="2102"/>
              <a:ext cx="1776" cy="1971"/>
              <a:chOff x="672" y="2102"/>
              <a:chExt cx="1776" cy="1971"/>
            </a:xfrm>
          </p:grpSpPr>
          <p:sp>
            <p:nvSpPr>
              <p:cNvPr id="45" name="Line 5"/>
              <p:cNvSpPr>
                <a:spLocks noChangeShapeType="1"/>
              </p:cNvSpPr>
              <p:nvPr/>
            </p:nvSpPr>
            <p:spPr bwMode="auto">
              <a:xfrm>
                <a:off x="960" y="2438"/>
                <a:ext cx="0" cy="13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6" name="Line 6"/>
              <p:cNvSpPr>
                <a:spLocks noChangeShapeType="1"/>
              </p:cNvSpPr>
              <p:nvPr/>
            </p:nvSpPr>
            <p:spPr bwMode="auto">
              <a:xfrm>
                <a:off x="2352" y="2438"/>
                <a:ext cx="0" cy="13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7" name="Line 7"/>
              <p:cNvSpPr>
                <a:spLocks noChangeShapeType="1"/>
              </p:cNvSpPr>
              <p:nvPr/>
            </p:nvSpPr>
            <p:spPr bwMode="auto">
              <a:xfrm>
                <a:off x="960" y="3782"/>
                <a:ext cx="139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8" name="Line 8"/>
              <p:cNvSpPr>
                <a:spLocks noChangeShapeType="1"/>
              </p:cNvSpPr>
              <p:nvPr/>
            </p:nvSpPr>
            <p:spPr bwMode="auto">
              <a:xfrm>
                <a:off x="1920" y="2438"/>
                <a:ext cx="0" cy="13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>
                <a:off x="1392" y="2438"/>
                <a:ext cx="0" cy="13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0" name="Line 13"/>
              <p:cNvSpPr>
                <a:spLocks noChangeShapeType="1"/>
              </p:cNvSpPr>
              <p:nvPr/>
            </p:nvSpPr>
            <p:spPr bwMode="auto">
              <a:xfrm>
                <a:off x="1920" y="2726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1" name="Line 14"/>
              <p:cNvSpPr>
                <a:spLocks noChangeShapeType="1"/>
              </p:cNvSpPr>
              <p:nvPr/>
            </p:nvSpPr>
            <p:spPr bwMode="auto">
              <a:xfrm>
                <a:off x="960" y="2726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2" name="Text Box 17"/>
              <p:cNvSpPr txBox="1">
                <a:spLocks noChangeArrowheads="1"/>
              </p:cNvSpPr>
              <p:nvPr/>
            </p:nvSpPr>
            <p:spPr bwMode="auto">
              <a:xfrm>
                <a:off x="960" y="3782"/>
                <a:ext cx="148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defTabSz="914400" eaLnBrk="1" fontAlgn="base" hangingPunct="1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zh-CN" sz="2000" kern="0">
                    <a:solidFill>
                      <a:srgbClr val="000000"/>
                    </a:solidFill>
                    <a:latin typeface="Arial" charset="0"/>
                  </a:rPr>
                  <a:t> </a:t>
                </a:r>
                <a:r>
                  <a:rPr lang="en-US" altLang="zh-CN" i="1" kern="0">
                    <a:solidFill>
                      <a:srgbClr val="000000"/>
                    </a:solidFill>
                  </a:rPr>
                  <a:t>l          l         l</a:t>
                </a:r>
              </a:p>
            </p:txBody>
          </p:sp>
          <p:sp>
            <p:nvSpPr>
              <p:cNvPr id="53" name="Text Box 18"/>
              <p:cNvSpPr txBox="1">
                <a:spLocks noChangeArrowheads="1"/>
              </p:cNvSpPr>
              <p:nvPr/>
            </p:nvSpPr>
            <p:spPr bwMode="auto">
              <a:xfrm>
                <a:off x="672" y="2582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defTabSz="914400" eaLnBrk="1" fontAlgn="base" hangingPunct="1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zh-CN" sz="2000" kern="0">
                    <a:solidFill>
                      <a:srgbClr val="000000"/>
                    </a:solidFill>
                    <a:latin typeface="Arial" charset="0"/>
                  </a:rPr>
                  <a:t>E</a:t>
                </a:r>
                <a:r>
                  <a:rPr lang="en-US" altLang="zh-CN" sz="2000" kern="0" baseline="-25000">
                    <a:solidFill>
                      <a:srgbClr val="000000"/>
                    </a:solidFill>
                    <a:latin typeface="Arial" charset="0"/>
                  </a:rPr>
                  <a:t>1</a:t>
                </a:r>
              </a:p>
            </p:txBody>
          </p:sp>
          <p:graphicFrame>
            <p:nvGraphicFramePr>
              <p:cNvPr id="54" name="Object 43"/>
              <p:cNvGraphicFramePr>
                <a:graphicFrameLocks noChangeAspect="1"/>
              </p:cNvGraphicFramePr>
              <p:nvPr/>
            </p:nvGraphicFramePr>
            <p:xfrm>
              <a:off x="912" y="2102"/>
              <a:ext cx="1433" cy="1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S ChemDraw Drawing" r:id="rId2" imgW="2275840" imgH="170180" progId="ChemDraw.Document.4.5">
                      <p:embed/>
                    </p:oleObj>
                  </mc:Choice>
                  <mc:Fallback>
                    <p:oleObj name="CS ChemDraw Drawing" r:id="rId2" imgW="2275840" imgH="170180" progId="ChemDraw.Document.4.5">
                      <p:embed/>
                      <p:pic>
                        <p:nvPicPr>
                          <p:cNvPr id="54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2102"/>
                            <a:ext cx="1433" cy="1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" name="Line 45"/>
              <p:cNvSpPr>
                <a:spLocks noChangeShapeType="1"/>
              </p:cNvSpPr>
              <p:nvPr/>
            </p:nvSpPr>
            <p:spPr bwMode="auto">
              <a:xfrm>
                <a:off x="1920" y="2726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6" name="Line 46"/>
              <p:cNvSpPr>
                <a:spLocks noChangeShapeType="1"/>
              </p:cNvSpPr>
              <p:nvPr/>
            </p:nvSpPr>
            <p:spPr bwMode="auto">
              <a:xfrm>
                <a:off x="960" y="2726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 kern="0">
                  <a:solidFill>
                    <a:srgbClr val="FFFFFF"/>
                  </a:solidFill>
                  <a:latin typeface="Times New Roman" pitchFamily="18" charset="0"/>
                </a:endParaRPr>
              </a:p>
            </p:txBody>
          </p:sp>
          <p:graphicFrame>
            <p:nvGraphicFramePr>
              <p:cNvPr id="57" name="Object 47"/>
              <p:cNvGraphicFramePr>
                <a:graphicFrameLocks noChangeAspect="1"/>
              </p:cNvGraphicFramePr>
              <p:nvPr/>
            </p:nvGraphicFramePr>
            <p:xfrm>
              <a:off x="1056" y="2507"/>
              <a:ext cx="288" cy="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S ChemDraw Drawing" r:id="rId4" imgW="246380" imgH="728980" progId="ChemDraw.Document.4.5">
                      <p:embed/>
                    </p:oleObj>
                  </mc:Choice>
                  <mc:Fallback>
                    <p:oleObj name="CS ChemDraw Drawing" r:id="rId4" imgW="246380" imgH="728980" progId="ChemDraw.Document.4.5">
                      <p:embed/>
                      <p:pic>
                        <p:nvPicPr>
                          <p:cNvPr id="57" name="Object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2507"/>
                            <a:ext cx="288" cy="2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8" name="Object 48"/>
              <p:cNvGraphicFramePr>
                <a:graphicFrameLocks noChangeAspect="1"/>
              </p:cNvGraphicFramePr>
              <p:nvPr/>
            </p:nvGraphicFramePr>
            <p:xfrm>
              <a:off x="1968" y="2507"/>
              <a:ext cx="288" cy="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CS ChemDraw Drawing" r:id="rId4" imgW="246380" imgH="728980" progId="ChemDraw.Document.4.5">
                      <p:embed/>
                    </p:oleObj>
                  </mc:Choice>
                  <mc:Fallback>
                    <p:oleObj name="CS ChemDraw Drawing" r:id="rId4" imgW="246380" imgH="728980" progId="ChemDraw.Document.4.5">
                      <p:embed/>
                      <p:pic>
                        <p:nvPicPr>
                          <p:cNvPr id="58" name="Object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8" y="2507"/>
                            <a:ext cx="288" cy="2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9" name="Group 53"/>
          <p:cNvGrpSpPr>
            <a:grpSpLocks/>
          </p:cNvGrpSpPr>
          <p:nvPr/>
        </p:nvGrpSpPr>
        <p:grpSpPr bwMode="auto">
          <a:xfrm>
            <a:off x="5715000" y="3198659"/>
            <a:ext cx="2743200" cy="2743200"/>
            <a:chOff x="2496" y="2054"/>
            <a:chExt cx="1728" cy="1728"/>
          </a:xfrm>
        </p:grpSpPr>
        <p:sp>
          <p:nvSpPr>
            <p:cNvPr id="60" name="Line 10"/>
            <p:cNvSpPr>
              <a:spLocks noChangeShapeType="1"/>
            </p:cNvSpPr>
            <p:nvPr/>
          </p:nvSpPr>
          <p:spPr bwMode="auto">
            <a:xfrm>
              <a:off x="2832" y="2438"/>
              <a:ext cx="0" cy="13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 kern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>
              <a:off x="4224" y="2438"/>
              <a:ext cx="0" cy="13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 kern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  <p:sp>
          <p:nvSpPr>
            <p:cNvPr id="62" name="Line 12"/>
            <p:cNvSpPr>
              <a:spLocks noChangeShapeType="1"/>
            </p:cNvSpPr>
            <p:nvPr/>
          </p:nvSpPr>
          <p:spPr bwMode="auto">
            <a:xfrm>
              <a:off x="2832" y="3782"/>
              <a:ext cx="13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 kern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  <p:sp>
          <p:nvSpPr>
            <p:cNvPr id="63" name="Line 15"/>
            <p:cNvSpPr>
              <a:spLocks noChangeShapeType="1"/>
            </p:cNvSpPr>
            <p:nvPr/>
          </p:nvSpPr>
          <p:spPr bwMode="auto">
            <a:xfrm>
              <a:off x="2832" y="3590"/>
              <a:ext cx="13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 kern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  <p:sp>
          <p:nvSpPr>
            <p:cNvPr id="64" name="Line 16"/>
            <p:cNvSpPr>
              <a:spLocks noChangeShapeType="1"/>
            </p:cNvSpPr>
            <p:nvPr/>
          </p:nvSpPr>
          <p:spPr bwMode="auto">
            <a:xfrm>
              <a:off x="2832" y="3302"/>
              <a:ext cx="13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 kern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  <p:sp>
          <p:nvSpPr>
            <p:cNvPr id="65" name="Text Box 19"/>
            <p:cNvSpPr txBox="1">
              <a:spLocks noChangeArrowheads="1"/>
            </p:cNvSpPr>
            <p:nvPr/>
          </p:nvSpPr>
          <p:spPr bwMode="auto">
            <a:xfrm>
              <a:off x="2496" y="3110"/>
              <a:ext cx="4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fontAlgn="base" hangingPunct="1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2000" kern="0" dirty="0">
                  <a:solidFill>
                    <a:srgbClr val="000000"/>
                  </a:solidFill>
                  <a:latin typeface="Arial" charset="0"/>
                </a:rPr>
                <a:t>E</a:t>
              </a:r>
              <a:r>
                <a:rPr lang="en-US" altLang="zh-CN" sz="2000" kern="0" baseline="-25000" dirty="0">
                  <a:solidFill>
                    <a:srgbClr val="000000"/>
                  </a:solidFill>
                  <a:latin typeface="Arial" charset="0"/>
                </a:rPr>
                <a:t>4/9</a:t>
              </a:r>
            </a:p>
          </p:txBody>
        </p:sp>
        <p:sp>
          <p:nvSpPr>
            <p:cNvPr id="66" name="Text Box 20"/>
            <p:cNvSpPr txBox="1">
              <a:spLocks noChangeArrowheads="1"/>
            </p:cNvSpPr>
            <p:nvPr/>
          </p:nvSpPr>
          <p:spPr bwMode="auto">
            <a:xfrm>
              <a:off x="2496" y="3398"/>
              <a:ext cx="4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fontAlgn="base" hangingPunct="1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 altLang="zh-CN" sz="2000" kern="0">
                  <a:solidFill>
                    <a:srgbClr val="000000"/>
                  </a:solidFill>
                  <a:latin typeface="Arial" charset="0"/>
                </a:rPr>
                <a:t>E</a:t>
              </a:r>
              <a:r>
                <a:rPr lang="en-US" altLang="zh-CN" sz="2000" kern="0" baseline="-25000">
                  <a:solidFill>
                    <a:srgbClr val="000000"/>
                  </a:solidFill>
                  <a:latin typeface="Arial" charset="0"/>
                </a:rPr>
                <a:t>1/9</a:t>
              </a:r>
            </a:p>
          </p:txBody>
        </p:sp>
        <p:graphicFrame>
          <p:nvGraphicFramePr>
            <p:cNvPr id="67" name="Object 44"/>
            <p:cNvGraphicFramePr>
              <a:graphicFrameLocks noChangeAspect="1"/>
            </p:cNvGraphicFramePr>
            <p:nvPr/>
          </p:nvGraphicFramePr>
          <p:xfrm>
            <a:off x="2784" y="2054"/>
            <a:ext cx="1433" cy="1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6" imgW="2275840" imgH="195580" progId="ChemDraw.Document.4.5">
                    <p:embed/>
                  </p:oleObj>
                </mc:Choice>
                <mc:Fallback>
                  <p:oleObj name="CS ChemDraw Drawing" r:id="rId6" imgW="2275840" imgH="195580" progId="ChemDraw.Document.4.5">
                    <p:embed/>
                    <p:pic>
                      <p:nvPicPr>
                        <p:cNvPr id="67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054"/>
                          <a:ext cx="1433" cy="1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49"/>
            <p:cNvGraphicFramePr>
              <a:graphicFrameLocks noChangeAspect="1"/>
            </p:cNvGraphicFramePr>
            <p:nvPr/>
          </p:nvGraphicFramePr>
          <p:xfrm>
            <a:off x="3312" y="3024"/>
            <a:ext cx="288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4" imgW="246380" imgH="728980" progId="ChemDraw.Document.4.5">
                    <p:embed/>
                  </p:oleObj>
                </mc:Choice>
                <mc:Fallback>
                  <p:oleObj name="CS ChemDraw Drawing" r:id="rId4" imgW="246380" imgH="728980" progId="ChemDraw.Document.4.5">
                    <p:embed/>
                    <p:pic>
                      <p:nvPicPr>
                        <p:cNvPr id="68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024"/>
                          <a:ext cx="288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50"/>
            <p:cNvGraphicFramePr>
              <a:graphicFrameLocks noChangeAspect="1"/>
            </p:cNvGraphicFramePr>
            <p:nvPr/>
          </p:nvGraphicFramePr>
          <p:xfrm>
            <a:off x="3312" y="3360"/>
            <a:ext cx="288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4" imgW="246380" imgH="728980" progId="ChemDraw.Document.4.5">
                    <p:embed/>
                  </p:oleObj>
                </mc:Choice>
                <mc:Fallback>
                  <p:oleObj name="CS ChemDraw Drawing" r:id="rId4" imgW="246380" imgH="728980" progId="ChemDraw.Document.4.5">
                    <p:embed/>
                    <p:pic>
                      <p:nvPicPr>
                        <p:cNvPr id="69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3360"/>
                          <a:ext cx="288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1E9A23-CA84-698A-707A-A88C8E39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375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Box 2"/>
          <p:cNvSpPr txBox="1">
            <a:spLocks noChangeArrowheads="1"/>
          </p:cNvSpPr>
          <p:nvPr/>
        </p:nvSpPr>
        <p:spPr bwMode="auto">
          <a:xfrm>
            <a:off x="3655188" y="257208"/>
            <a:ext cx="59785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prstClr val="black"/>
                </a:solidFill>
                <a:cs typeface="Times New Roman" panose="02020603050405020304" pitchFamily="18" charset="0"/>
              </a:rPr>
              <a:t>3.1.2 Quantum leaks --- tunneling</a:t>
            </a:r>
            <a:endParaRPr kumimoji="0" lang="en-US" altLang="zh-CN" sz="2800" b="1" dirty="0">
              <a:solidFill>
                <a:srgbClr val="44546A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45" name="Group 18"/>
          <p:cNvGrpSpPr>
            <a:grpSpLocks/>
          </p:cNvGrpSpPr>
          <p:nvPr/>
        </p:nvGrpSpPr>
        <p:grpSpPr bwMode="auto">
          <a:xfrm>
            <a:off x="8168215" y="1578489"/>
            <a:ext cx="3352800" cy="3048000"/>
            <a:chOff x="3024" y="720"/>
            <a:chExt cx="2112" cy="1920"/>
          </a:xfrm>
        </p:grpSpPr>
        <p:sp>
          <p:nvSpPr>
            <p:cNvPr id="46" name="Line 3"/>
            <p:cNvSpPr>
              <a:spLocks noChangeShapeType="1"/>
            </p:cNvSpPr>
            <p:nvPr/>
          </p:nvSpPr>
          <p:spPr bwMode="auto">
            <a:xfrm>
              <a:off x="3024" y="2400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7" name="Line 4"/>
            <p:cNvSpPr>
              <a:spLocks noChangeShapeType="1"/>
            </p:cNvSpPr>
            <p:nvPr/>
          </p:nvSpPr>
          <p:spPr bwMode="auto">
            <a:xfrm flipV="1">
              <a:off x="3792" y="720"/>
              <a:ext cx="0" cy="1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8" name="Line 5"/>
            <p:cNvSpPr>
              <a:spLocks noChangeShapeType="1"/>
            </p:cNvSpPr>
            <p:nvPr/>
          </p:nvSpPr>
          <p:spPr bwMode="auto">
            <a:xfrm flipV="1">
              <a:off x="3792" y="1344"/>
              <a:ext cx="0" cy="1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49" name="Line 6"/>
            <p:cNvSpPr>
              <a:spLocks noChangeShapeType="1"/>
            </p:cNvSpPr>
            <p:nvPr/>
          </p:nvSpPr>
          <p:spPr bwMode="auto">
            <a:xfrm>
              <a:off x="3792" y="1344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0" name="Line 7"/>
            <p:cNvSpPr>
              <a:spLocks noChangeShapeType="1"/>
            </p:cNvSpPr>
            <p:nvPr/>
          </p:nvSpPr>
          <p:spPr bwMode="auto">
            <a:xfrm>
              <a:off x="4272" y="1344"/>
              <a:ext cx="0" cy="10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1" name="Text Box 8"/>
            <p:cNvSpPr txBox="1">
              <a:spLocks noChangeArrowheads="1"/>
            </p:cNvSpPr>
            <p:nvPr/>
          </p:nvSpPr>
          <p:spPr bwMode="auto">
            <a:xfrm>
              <a:off x="3840" y="110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prstClr val="black"/>
                  </a:solidFill>
                </a:rPr>
                <a:t>V</a:t>
              </a:r>
            </a:p>
          </p:txBody>
        </p:sp>
        <p:sp>
          <p:nvSpPr>
            <p:cNvPr id="52" name="Text Box 9"/>
            <p:cNvSpPr txBox="1">
              <a:spLocks noChangeArrowheads="1"/>
            </p:cNvSpPr>
            <p:nvPr/>
          </p:nvSpPr>
          <p:spPr bwMode="auto">
            <a:xfrm>
              <a:off x="4848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prstClr val="black"/>
                  </a:solidFill>
                </a:rPr>
                <a:t>x</a:t>
              </a:r>
            </a:p>
          </p:txBody>
        </p:sp>
        <p:sp>
          <p:nvSpPr>
            <p:cNvPr id="53" name="Text Box 10"/>
            <p:cNvSpPr txBox="1">
              <a:spLocks noChangeArrowheads="1"/>
            </p:cNvSpPr>
            <p:nvPr/>
          </p:nvSpPr>
          <p:spPr bwMode="auto">
            <a:xfrm>
              <a:off x="3696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prstClr val="black"/>
                  </a:solidFill>
                </a:rPr>
                <a:t>0</a:t>
              </a:r>
            </a:p>
          </p:txBody>
        </p:sp>
        <p:sp>
          <p:nvSpPr>
            <p:cNvPr id="54" name="Text Box 11"/>
            <p:cNvSpPr txBox="1">
              <a:spLocks noChangeArrowheads="1"/>
            </p:cNvSpPr>
            <p:nvPr/>
          </p:nvSpPr>
          <p:spPr bwMode="auto">
            <a:xfrm>
              <a:off x="4176" y="235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prstClr val="black"/>
                  </a:solidFill>
                </a:rPr>
                <a:t>l</a:t>
              </a:r>
            </a:p>
          </p:txBody>
        </p:sp>
        <p:sp>
          <p:nvSpPr>
            <p:cNvPr id="55" name="Text Box 12"/>
            <p:cNvSpPr txBox="1">
              <a:spLocks noChangeArrowheads="1"/>
            </p:cNvSpPr>
            <p:nvPr/>
          </p:nvSpPr>
          <p:spPr bwMode="auto">
            <a:xfrm>
              <a:off x="3360" y="187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prstClr val="black"/>
                  </a:solidFill>
                </a:rPr>
                <a:t>I</a:t>
              </a:r>
            </a:p>
          </p:txBody>
        </p:sp>
        <p:sp>
          <p:nvSpPr>
            <p:cNvPr id="56" name="Text Box 13"/>
            <p:cNvSpPr txBox="1">
              <a:spLocks noChangeArrowheads="1"/>
            </p:cNvSpPr>
            <p:nvPr/>
          </p:nvSpPr>
          <p:spPr bwMode="auto">
            <a:xfrm>
              <a:off x="3888" y="187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prstClr val="black"/>
                  </a:solidFill>
                </a:rPr>
                <a:t>II</a:t>
              </a:r>
            </a:p>
          </p:txBody>
        </p:sp>
        <p:sp>
          <p:nvSpPr>
            <p:cNvPr id="57" name="Text Box 14"/>
            <p:cNvSpPr txBox="1">
              <a:spLocks noChangeArrowheads="1"/>
            </p:cNvSpPr>
            <p:nvPr/>
          </p:nvSpPr>
          <p:spPr bwMode="auto">
            <a:xfrm>
              <a:off x="4416" y="187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defTabSz="914400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prstClr val="black"/>
                  </a:solidFill>
                </a:rPr>
                <a:t>III</a:t>
              </a:r>
            </a:p>
          </p:txBody>
        </p:sp>
        <p:sp>
          <p:nvSpPr>
            <p:cNvPr id="58" name="Line 15"/>
            <p:cNvSpPr>
              <a:spLocks noChangeShapeType="1"/>
            </p:cNvSpPr>
            <p:nvPr/>
          </p:nvSpPr>
          <p:spPr bwMode="auto">
            <a:xfrm>
              <a:off x="4320" y="182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Line 16"/>
            <p:cNvSpPr>
              <a:spLocks noChangeShapeType="1"/>
            </p:cNvSpPr>
            <p:nvPr/>
          </p:nvSpPr>
          <p:spPr bwMode="auto">
            <a:xfrm>
              <a:off x="3216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Line 17"/>
            <p:cNvSpPr>
              <a:spLocks noChangeShapeType="1"/>
            </p:cNvSpPr>
            <p:nvPr/>
          </p:nvSpPr>
          <p:spPr bwMode="auto">
            <a:xfrm flipH="1">
              <a:off x="3264" y="187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914400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6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1619537"/>
              </p:ext>
            </p:extLst>
          </p:nvPr>
        </p:nvGraphicFramePr>
        <p:xfrm>
          <a:off x="1219200" y="1944688"/>
          <a:ext cx="49022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838080" progId="Equation.DSMT4">
                  <p:embed/>
                </p:oleObj>
              </mc:Choice>
              <mc:Fallback>
                <p:oleObj name="Equation" r:id="rId2" imgW="2450880" imgH="838080" progId="Equation.DSMT4">
                  <p:embed/>
                  <p:pic>
                    <p:nvPicPr>
                      <p:cNvPr id="6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44688"/>
                        <a:ext cx="49022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20"/>
          <p:cNvSpPr txBox="1">
            <a:spLocks noChangeArrowheads="1"/>
          </p:cNvSpPr>
          <p:nvPr/>
        </p:nvSpPr>
        <p:spPr bwMode="auto">
          <a:xfrm>
            <a:off x="545167" y="3766517"/>
            <a:ext cx="8192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The probability of penetration is given by</a:t>
            </a:r>
          </a:p>
        </p:txBody>
      </p:sp>
      <p:graphicFrame>
        <p:nvGraphicFramePr>
          <p:cNvPr id="6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960268"/>
              </p:ext>
            </p:extLst>
          </p:nvPr>
        </p:nvGraphicFramePr>
        <p:xfrm>
          <a:off x="1321327" y="4288689"/>
          <a:ext cx="4522788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45960" imgH="330120" progId="Equation.DSMT4">
                  <p:embed/>
                </p:oleObj>
              </mc:Choice>
              <mc:Fallback>
                <p:oleObj name="Equation" r:id="rId4" imgW="2145960" imgH="330120" progId="Equation.DSMT4">
                  <p:embed/>
                  <p:pic>
                    <p:nvPicPr>
                      <p:cNvPr id="6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1327" y="4288689"/>
                        <a:ext cx="4522788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Text Box 22"/>
          <p:cNvSpPr txBox="1">
            <a:spLocks noChangeArrowheads="1"/>
          </p:cNvSpPr>
          <p:nvPr/>
        </p:nvSpPr>
        <p:spPr bwMode="auto">
          <a:xfrm>
            <a:off x="6148915" y="4469689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lang="en-US" altLang="zh-CN" dirty="0">
                <a:solidFill>
                  <a:prstClr val="black"/>
                </a:solidFill>
              </a:rPr>
              <a:t>When  E&lt;V</a:t>
            </a:r>
          </a:p>
        </p:txBody>
      </p:sp>
      <p:sp>
        <p:nvSpPr>
          <p:cNvPr id="24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40932" y="1028680"/>
            <a:ext cx="114159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tunneling is an effect where a particle can pass through a barrier it would not normally have the energy to overcome.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D65489-903A-4B01-8469-65A25D9B84F9}"/>
              </a:ext>
            </a:extLst>
          </p:cNvPr>
          <p:cNvSpPr/>
          <p:nvPr/>
        </p:nvSpPr>
        <p:spPr>
          <a:xfrm>
            <a:off x="437707" y="5304025"/>
            <a:ext cx="113165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该解描述了粒子能够穿透屏障的现象。这种微观粒子的穿透被称为隧穿效应或量子力学隧穿。对于电子、质子等低质量粒子而言，这一现象尤为重要。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7545C13-07D5-1709-4159-6DECEE659C1F}"/>
              </a:ext>
            </a:extLst>
          </p:cNvPr>
          <p:cNvSpPr txBox="1"/>
          <p:nvPr/>
        </p:nvSpPr>
        <p:spPr>
          <a:xfrm>
            <a:off x="4813640" y="2160295"/>
            <a:ext cx="140936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5E93D4-3A74-93F8-46C9-5729AA1B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45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261804" y="213724"/>
            <a:ext cx="39624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prstClr val="black"/>
                </a:solidFill>
                <a:cs typeface="Times New Roman" panose="02020603050405020304" pitchFamily="18" charset="0"/>
              </a:rPr>
              <a:t>Tunneling in chemistry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45279" y="1190725"/>
            <a:ext cx="11118563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lnSpc>
                <a:spcPct val="120000"/>
              </a:lnSpc>
              <a:buFontTx/>
              <a:buChar char="•"/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 Tunneling is used:</a:t>
            </a:r>
          </a:p>
          <a:p>
            <a:pPr defTabSz="914400" eaLnBrk="1" hangingPunct="1">
              <a:lnSpc>
                <a:spcPct val="120000"/>
              </a:lnSpc>
              <a:buFontTx/>
              <a:buChar char="-"/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 for the operation of many microelectronic devices (tunneling diodes, flash memory, …)</a:t>
            </a:r>
          </a:p>
          <a:p>
            <a:pPr defTabSz="914400" eaLnBrk="1" hangingPunct="1">
              <a:lnSpc>
                <a:spcPct val="120000"/>
              </a:lnSpc>
              <a:buFontTx/>
              <a:buChar char="-"/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 for advanced analytical techniques (scanning tunneling microscope, STM)</a:t>
            </a:r>
          </a:p>
          <a:p>
            <a:pPr defTabSz="914400" eaLnBrk="1" hangingPunct="1">
              <a:lnSpc>
                <a:spcPct val="120000"/>
              </a:lnSpc>
              <a:buFontTx/>
              <a:buChar char="•"/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 Responsible for radioactivity (e.g. alpha particles)</a:t>
            </a: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056" y="4148756"/>
            <a:ext cx="2106473" cy="203212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526769" y="3665848"/>
            <a:ext cx="2004075" cy="4616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defTabSz="914400"/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proton transfer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141" y="4335350"/>
            <a:ext cx="2978019" cy="184553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121989" y="3687091"/>
            <a:ext cx="3017173" cy="461665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defTabSz="914400"/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double-well potential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C68866-9744-2A96-5B38-961516DA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485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2836134" y="258848"/>
            <a:ext cx="74174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3.1.3 Particle in a 3-D box of dimensions a, b, c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9827" y="1056597"/>
            <a:ext cx="92693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Out of the box,  V(x, y, z) =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∞;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In the box, V(x, y, z) =0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037048"/>
              </p:ext>
            </p:extLst>
          </p:nvPr>
        </p:nvGraphicFramePr>
        <p:xfrm>
          <a:off x="6968895" y="1614908"/>
          <a:ext cx="9858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672840" progId="Equation.DSMT4">
                  <p:embed/>
                </p:oleObj>
              </mc:Choice>
              <mc:Fallback>
                <p:oleObj name="Equation" r:id="rId2" imgW="583920" imgH="67284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8895" y="1614908"/>
                        <a:ext cx="985837" cy="1143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964266"/>
              </p:ext>
            </p:extLst>
          </p:nvPr>
        </p:nvGraphicFramePr>
        <p:xfrm>
          <a:off x="2300288" y="1697038"/>
          <a:ext cx="416560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444240" progId="Equation.DSMT4">
                  <p:embed/>
                </p:oleObj>
              </mc:Choice>
              <mc:Fallback>
                <p:oleObj name="Equation" r:id="rId4" imgW="2082600" imgH="444240" progId="Equation.DSMT4">
                  <p:embed/>
                  <p:pic>
                    <p:nvPicPr>
                      <p:cNvPr id="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288" y="1697038"/>
                        <a:ext cx="4165600" cy="8874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215167" y="2898842"/>
            <a:ext cx="114462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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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y, z)= X(x)Y(y)Z(z)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(separation of variables) Substituting into 3-D </a:t>
            </a:r>
            <a:r>
              <a:rPr kumimoji="1" lang="en-US" altLang="zh-CN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Schroedinger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 equation </a:t>
            </a:r>
          </a:p>
        </p:txBody>
      </p:sp>
      <p:sp>
        <p:nvSpPr>
          <p:cNvPr id="11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474766"/>
              </p:ext>
            </p:extLst>
          </p:nvPr>
        </p:nvGraphicFramePr>
        <p:xfrm>
          <a:off x="3090863" y="3730625"/>
          <a:ext cx="48514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25680" imgH="914400" progId="Equation.DSMT4">
                  <p:embed/>
                </p:oleObj>
              </mc:Choice>
              <mc:Fallback>
                <p:oleObj name="Equation" r:id="rId6" imgW="2425680" imgH="914400" progId="Equation.DSMT4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3730625"/>
                        <a:ext cx="4851400" cy="1828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985340"/>
              </p:ext>
            </p:extLst>
          </p:nvPr>
        </p:nvGraphicFramePr>
        <p:xfrm>
          <a:off x="2825750" y="5588000"/>
          <a:ext cx="5664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1760" imgH="444240" progId="Equation.DSMT4">
                  <p:embed/>
                </p:oleObj>
              </mc:Choice>
              <mc:Fallback>
                <p:oleObj name="Equation" r:id="rId8" imgW="2831760" imgH="444240" progId="Equation.DSMT4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5750" y="5588000"/>
                        <a:ext cx="5664200" cy="889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FB478FC-137D-FDC1-F51D-7A186AAE1286}"/>
              </a:ext>
            </a:extLst>
          </p:cNvPr>
          <p:cNvSpPr txBox="1"/>
          <p:nvPr/>
        </p:nvSpPr>
        <p:spPr>
          <a:xfrm>
            <a:off x="6915028" y="1518262"/>
            <a:ext cx="1093569" cy="1421030"/>
          </a:xfrm>
          <a:prstGeom prst="rect">
            <a:avLst/>
          </a:prstGeom>
          <a:solidFill>
            <a:schemeClr val="bg1"/>
          </a:solidFill>
          <a:ln>
            <a:solidFill>
              <a:srgbClr val="3333FF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0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0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B3E196-EC32-96DA-D2F1-A2D4F444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152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435385"/>
              </p:ext>
            </p:extLst>
          </p:nvPr>
        </p:nvGraphicFramePr>
        <p:xfrm>
          <a:off x="2830513" y="341313"/>
          <a:ext cx="5740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69920" imgH="444240" progId="Equation.DSMT4">
                  <p:embed/>
                </p:oleObj>
              </mc:Choice>
              <mc:Fallback>
                <p:oleObj name="Equation" r:id="rId3" imgW="2869920" imgH="444240" progId="Equation.DSMT4">
                  <p:embed/>
                  <p:pic>
                    <p:nvPicPr>
                      <p:cNvPr id="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341313"/>
                        <a:ext cx="5740400" cy="889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933244"/>
              </p:ext>
            </p:extLst>
          </p:nvPr>
        </p:nvGraphicFramePr>
        <p:xfrm>
          <a:off x="2203940" y="2185324"/>
          <a:ext cx="2370139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419040" progId="Equation.DSMT4">
                  <p:embed/>
                </p:oleObj>
              </mc:Choice>
              <mc:Fallback>
                <p:oleObj name="Equation" r:id="rId5" imgW="1358640" imgH="419040" progId="Equation.DSMT4">
                  <p:embed/>
                  <p:pic>
                    <p:nvPicPr>
                      <p:cNvPr id="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940" y="2185324"/>
                        <a:ext cx="2370139" cy="73025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891087"/>
              </p:ext>
            </p:extLst>
          </p:nvPr>
        </p:nvGraphicFramePr>
        <p:xfrm>
          <a:off x="5000625" y="2163763"/>
          <a:ext cx="2260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280" imgH="444240" progId="Equation.DSMT4">
                  <p:embed/>
                </p:oleObj>
              </mc:Choice>
              <mc:Fallback>
                <p:oleObj name="Equation" r:id="rId7" imgW="1295280" imgH="444240" progId="Equation.DSMT4">
                  <p:embed/>
                  <p:pic>
                    <p:nvPicPr>
                      <p:cNvPr id="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2163763"/>
                        <a:ext cx="2260600" cy="7747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884208"/>
              </p:ext>
            </p:extLst>
          </p:nvPr>
        </p:nvGraphicFramePr>
        <p:xfrm>
          <a:off x="7821613" y="2185988"/>
          <a:ext cx="22590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95280" imgH="419040" progId="Equation.DSMT4">
                  <p:embed/>
                </p:oleObj>
              </mc:Choice>
              <mc:Fallback>
                <p:oleObj name="Equation" r:id="rId9" imgW="1295280" imgH="419040" progId="Equation.DSMT4">
                  <p:embed/>
                  <p:pic>
                    <p:nvPicPr>
                      <p:cNvPr id="1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1613" y="2185988"/>
                        <a:ext cx="2259012" cy="73025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3060215" y="1473936"/>
            <a:ext cx="18517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i="1" kern="0" dirty="0">
                <a:solidFill>
                  <a:prstClr val="black"/>
                </a:solidFill>
                <a:latin typeface="Arial" charset="0"/>
                <a:sym typeface="Symbol" pitchFamily="18" charset="2"/>
              </a:rPr>
              <a:t>E=</a:t>
            </a:r>
            <a:r>
              <a:rPr kumimoji="1" lang="en-US" altLang="zh-CN" sz="2400" i="1" kern="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E</a:t>
            </a:r>
            <a:r>
              <a:rPr kumimoji="1" lang="en-US" altLang="zh-CN" sz="2400" i="1" kern="0" baseline="-2500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x</a:t>
            </a:r>
            <a:r>
              <a:rPr kumimoji="1" lang="en-US" altLang="zh-CN" sz="2400" i="1" kern="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+E</a:t>
            </a:r>
            <a:r>
              <a:rPr kumimoji="1" lang="en-US" altLang="zh-CN" sz="2400" i="1" kern="0" baseline="-2500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y</a:t>
            </a:r>
            <a:r>
              <a:rPr kumimoji="1" lang="en-US" altLang="zh-CN" sz="2400" i="1" kern="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+E</a:t>
            </a:r>
            <a:r>
              <a:rPr kumimoji="1" lang="en-US" altLang="zh-CN" sz="2400" i="1" kern="0" baseline="-2500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z</a:t>
            </a:r>
            <a:endParaRPr kumimoji="1" lang="en-US" altLang="zh-CN" sz="2400" i="1" kern="0" baseline="-25000" dirty="0">
              <a:solidFill>
                <a:prstClr val="black"/>
              </a:solidFill>
              <a:latin typeface="Arial" charset="0"/>
              <a:sym typeface="Symbol" pitchFamily="18" charset="2"/>
            </a:endParaRP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7522099" y="1452894"/>
            <a:ext cx="29017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i="1" kern="0" dirty="0">
                <a:solidFill>
                  <a:prstClr val="black"/>
                </a:solidFill>
                <a:latin typeface="Arial" charset="0"/>
                <a:sym typeface="Symbol" pitchFamily="18" charset="2"/>
              </a:rPr>
              <a:t>Let </a:t>
            </a:r>
            <a:r>
              <a:rPr kumimoji="1" lang="en-US" altLang="zh-CN" sz="2400" i="1" kern="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E</a:t>
            </a:r>
            <a:r>
              <a:rPr kumimoji="1" lang="en-US" altLang="zh-CN" sz="2400" i="1" kern="0" baseline="-2500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z</a:t>
            </a:r>
            <a:r>
              <a:rPr kumimoji="1" lang="en-US" altLang="zh-CN" sz="2400" i="1" kern="0" dirty="0">
                <a:solidFill>
                  <a:prstClr val="black"/>
                </a:solidFill>
                <a:latin typeface="Arial" charset="0"/>
                <a:sym typeface="Symbol" pitchFamily="18" charset="2"/>
              </a:rPr>
              <a:t> = E – (</a:t>
            </a:r>
            <a:r>
              <a:rPr kumimoji="1" lang="en-US" altLang="zh-CN" sz="2400" i="1" kern="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E</a:t>
            </a:r>
            <a:r>
              <a:rPr kumimoji="1" lang="en-US" altLang="zh-CN" sz="2400" i="1" kern="0" baseline="-2500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x</a:t>
            </a:r>
            <a:r>
              <a:rPr kumimoji="1" lang="en-US" altLang="zh-CN" sz="2400" i="1" kern="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+E</a:t>
            </a:r>
            <a:r>
              <a:rPr kumimoji="1" lang="en-US" altLang="zh-CN" sz="2400" i="1" kern="0" baseline="-25000" dirty="0" err="1">
                <a:solidFill>
                  <a:prstClr val="black"/>
                </a:solidFill>
                <a:latin typeface="Arial" charset="0"/>
                <a:sym typeface="Symbol" pitchFamily="18" charset="2"/>
              </a:rPr>
              <a:t>y</a:t>
            </a:r>
            <a:r>
              <a:rPr kumimoji="1" lang="en-US" altLang="zh-CN" sz="2400" i="1" kern="0" dirty="0">
                <a:solidFill>
                  <a:prstClr val="black"/>
                </a:solidFill>
                <a:latin typeface="Arial" charset="0"/>
                <a:sym typeface="Symbol" pitchFamily="18" charset="2"/>
              </a:rPr>
              <a:t>)</a:t>
            </a:r>
          </a:p>
        </p:txBody>
      </p:sp>
      <p:sp>
        <p:nvSpPr>
          <p:cNvPr id="23" name="下箭头 22"/>
          <p:cNvSpPr/>
          <p:nvPr/>
        </p:nvSpPr>
        <p:spPr>
          <a:xfrm>
            <a:off x="5701239" y="1311916"/>
            <a:ext cx="338328" cy="569468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</a:endParaRP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3395721" y="4401653"/>
          <a:ext cx="556260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705100" imgH="444500" progId="Equation.3">
                  <p:embed/>
                </p:oleObj>
              </mc:Choice>
              <mc:Fallback>
                <p:oleObj r:id="rId11" imgW="2705100" imgH="444500" progId="Equation.3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721" y="4401653"/>
                        <a:ext cx="5562600" cy="9032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4991591" y="3184449"/>
          <a:ext cx="25908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256755" imgH="444307" progId="Equation.3">
                  <p:embed/>
                </p:oleObj>
              </mc:Choice>
              <mc:Fallback>
                <p:oleObj r:id="rId13" imgW="1256755" imgH="444307" progId="Equation.3">
                  <p:embed/>
                  <p:pic>
                    <p:nvPicPr>
                      <p:cNvPr id="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591" y="3184449"/>
                        <a:ext cx="2590800" cy="9223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1875909" y="3166191"/>
          <a:ext cx="27146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269449" imgH="444307" progId="Equation.3">
                  <p:embed/>
                </p:oleObj>
              </mc:Choice>
              <mc:Fallback>
                <p:oleObj r:id="rId11" imgW="1269449" imgH="444307" progId="Equation.3">
                  <p:embed/>
                  <p:pic>
                    <p:nvPicPr>
                      <p:cNvPr id="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909" y="3166191"/>
                        <a:ext cx="2714625" cy="958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/>
          <p:cNvGraphicFramePr>
            <a:graphicFrameLocks noChangeAspect="1"/>
          </p:cNvGraphicFramePr>
          <p:nvPr/>
        </p:nvGraphicFramePr>
        <p:xfrm>
          <a:off x="7810991" y="3238602"/>
          <a:ext cx="251460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231366" imgH="444307" progId="Equation.3">
                  <p:embed/>
                </p:oleObj>
              </mc:Choice>
              <mc:Fallback>
                <p:oleObj r:id="rId11" imgW="1231366" imgH="444307" progId="Equation.3">
                  <p:embed/>
                  <p:pic>
                    <p:nvPicPr>
                      <p:cNvPr id="2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991" y="3238602"/>
                        <a:ext cx="2514600" cy="9159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圆角矩形 5"/>
          <p:cNvSpPr/>
          <p:nvPr/>
        </p:nvSpPr>
        <p:spPr>
          <a:xfrm>
            <a:off x="1489245" y="2043645"/>
            <a:ext cx="9259747" cy="224549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439990"/>
              </p:ext>
            </p:extLst>
          </p:nvPr>
        </p:nvGraphicFramePr>
        <p:xfrm>
          <a:off x="3771900" y="5273675"/>
          <a:ext cx="46958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323800" imgH="431640" progId="Equation.DSMT4">
                  <p:embed/>
                </p:oleObj>
              </mc:Choice>
              <mc:Fallback>
                <p:oleObj name="Equation" r:id="rId17" imgW="2323800" imgH="431640" progId="Equation.DSMT4">
                  <p:embed/>
                  <p:pic>
                    <p:nvPicPr>
                      <p:cNvPr id="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5273675"/>
                        <a:ext cx="4695825" cy="882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CD7617-EC06-5637-8141-7CD7ACF03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678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61778" y="354160"/>
            <a:ext cx="89535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kern="0" dirty="0">
                <a:solidFill>
                  <a:prstClr val="black"/>
                </a:solidFill>
              </a:rPr>
              <a:t>Multiply degenerate energy level when the box is cubic  (a = b = c)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78869"/>
              </p:ext>
            </p:extLst>
          </p:nvPr>
        </p:nvGraphicFramePr>
        <p:xfrm>
          <a:off x="1584325" y="982663"/>
          <a:ext cx="73898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431640" progId="Equation.DSMT4">
                  <p:embed/>
                </p:oleObj>
              </mc:Choice>
              <mc:Fallback>
                <p:oleObj name="Equation" r:id="rId2" imgW="3657600" imgH="431640" progId="Equation.DSMT4">
                  <p:embed/>
                  <p:pic>
                    <p:nvPicPr>
                      <p:cNvPr id="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982663"/>
                        <a:ext cx="738981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999894" y="2292930"/>
            <a:ext cx="44958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kern="0" dirty="0">
                <a:solidFill>
                  <a:prstClr val="black"/>
                </a:solidFill>
              </a:rPr>
              <a:t>The ground state:   </a:t>
            </a:r>
            <a:r>
              <a:rPr lang="en-US" altLang="zh-CN" kern="0" dirty="0" err="1">
                <a:solidFill>
                  <a:prstClr val="black"/>
                </a:solidFill>
              </a:rPr>
              <a:t>n</a:t>
            </a:r>
            <a:r>
              <a:rPr lang="en-US" altLang="zh-CN" kern="0" baseline="-25000" dirty="0" err="1">
                <a:solidFill>
                  <a:prstClr val="black"/>
                </a:solidFill>
              </a:rPr>
              <a:t>x</a:t>
            </a:r>
            <a:r>
              <a:rPr lang="en-US" altLang="zh-CN" kern="0" dirty="0">
                <a:solidFill>
                  <a:prstClr val="black"/>
                </a:solidFill>
              </a:rPr>
              <a:t>=</a:t>
            </a:r>
            <a:r>
              <a:rPr lang="en-US" altLang="zh-CN" kern="0" dirty="0" err="1">
                <a:solidFill>
                  <a:prstClr val="black"/>
                </a:solidFill>
              </a:rPr>
              <a:t>n</a:t>
            </a:r>
            <a:r>
              <a:rPr lang="en-US" altLang="zh-CN" kern="0" baseline="-25000" dirty="0" err="1">
                <a:solidFill>
                  <a:prstClr val="black"/>
                </a:solidFill>
              </a:rPr>
              <a:t>y</a:t>
            </a:r>
            <a:r>
              <a:rPr lang="en-US" altLang="zh-CN" kern="0" dirty="0">
                <a:solidFill>
                  <a:prstClr val="black"/>
                </a:solidFill>
              </a:rPr>
              <a:t>=</a:t>
            </a:r>
            <a:r>
              <a:rPr lang="en-US" altLang="zh-CN" kern="0" dirty="0" err="1">
                <a:solidFill>
                  <a:prstClr val="black"/>
                </a:solidFill>
              </a:rPr>
              <a:t>n</a:t>
            </a:r>
            <a:r>
              <a:rPr lang="en-US" altLang="zh-CN" kern="0" baseline="-25000" dirty="0" err="1">
                <a:solidFill>
                  <a:prstClr val="black"/>
                </a:solidFill>
              </a:rPr>
              <a:t>z</a:t>
            </a:r>
            <a:r>
              <a:rPr lang="en-US" altLang="zh-CN" kern="0" dirty="0">
                <a:solidFill>
                  <a:prstClr val="black"/>
                </a:solidFill>
              </a:rPr>
              <a:t>=1</a:t>
            </a:r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56019"/>
              </p:ext>
            </p:extLst>
          </p:nvPr>
        </p:nvGraphicFramePr>
        <p:xfrm>
          <a:off x="8655874" y="2123978"/>
          <a:ext cx="13335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419040" progId="Equation.DSMT4">
                  <p:embed/>
                </p:oleObj>
              </mc:Choice>
              <mc:Fallback>
                <p:oleObj name="Equation" r:id="rId4" imgW="660240" imgH="419040" progId="Equation.DSMT4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5874" y="2123978"/>
                        <a:ext cx="13335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1037302" y="3429000"/>
            <a:ext cx="54522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lang="en-US" altLang="zh-CN" dirty="0">
                <a:solidFill>
                  <a:prstClr val="black"/>
                </a:solidFill>
              </a:rPr>
              <a:t>The first excited state: </a:t>
            </a:r>
            <a:r>
              <a:rPr lang="en-US" altLang="zh-CN" dirty="0" err="1">
                <a:solidFill>
                  <a:prstClr val="black"/>
                </a:solidFill>
              </a:rPr>
              <a:t>n</a:t>
            </a:r>
            <a:r>
              <a:rPr lang="en-US" altLang="zh-CN" baseline="-25000" dirty="0" err="1">
                <a:solidFill>
                  <a:prstClr val="black"/>
                </a:solidFill>
              </a:rPr>
              <a:t>i</a:t>
            </a:r>
            <a:r>
              <a:rPr lang="en-US" altLang="zh-CN" dirty="0">
                <a:solidFill>
                  <a:prstClr val="black"/>
                </a:solidFill>
              </a:rPr>
              <a:t>=</a:t>
            </a:r>
            <a:r>
              <a:rPr lang="en-US" altLang="zh-CN" dirty="0" err="1">
                <a:solidFill>
                  <a:prstClr val="black"/>
                </a:solidFill>
              </a:rPr>
              <a:t>n</a:t>
            </a:r>
            <a:r>
              <a:rPr lang="en-US" altLang="zh-CN" baseline="-25000" dirty="0" err="1">
                <a:solidFill>
                  <a:prstClr val="black"/>
                </a:solidFill>
              </a:rPr>
              <a:t>j</a:t>
            </a:r>
            <a:r>
              <a:rPr lang="en-US" altLang="zh-CN" dirty="0">
                <a:solidFill>
                  <a:prstClr val="black"/>
                </a:solidFill>
              </a:rPr>
              <a:t>=1, </a:t>
            </a:r>
            <a:r>
              <a:rPr lang="en-US" altLang="zh-CN" dirty="0" err="1">
                <a:solidFill>
                  <a:prstClr val="black"/>
                </a:solidFill>
              </a:rPr>
              <a:t>n</a:t>
            </a:r>
            <a:r>
              <a:rPr lang="en-US" altLang="zh-CN" baseline="-25000" dirty="0" err="1">
                <a:solidFill>
                  <a:prstClr val="black"/>
                </a:solidFill>
              </a:rPr>
              <a:t>k</a:t>
            </a:r>
            <a:r>
              <a:rPr lang="en-US" altLang="zh-CN" dirty="0">
                <a:solidFill>
                  <a:prstClr val="black"/>
                </a:solidFill>
              </a:rPr>
              <a:t>=2</a:t>
            </a:r>
          </a:p>
        </p:txBody>
      </p:sp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897422"/>
              </p:ext>
            </p:extLst>
          </p:nvPr>
        </p:nvGraphicFramePr>
        <p:xfrm>
          <a:off x="8655874" y="3136271"/>
          <a:ext cx="1490861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240" imgH="419040" progId="Equation.DSMT4">
                  <p:embed/>
                </p:oleObj>
              </mc:Choice>
              <mc:Fallback>
                <p:oleObj name="Equation" r:id="rId6" imgW="660240" imgH="419040" progId="Equation.DSMT4">
                  <p:embed/>
                  <p:pic>
                    <p:nvPicPr>
                      <p:cNvPr id="1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5874" y="3136271"/>
                        <a:ext cx="1490861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168062"/>
              </p:ext>
            </p:extLst>
          </p:nvPr>
        </p:nvGraphicFramePr>
        <p:xfrm>
          <a:off x="8773845" y="4339285"/>
          <a:ext cx="1322252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34725" imgH="710891" progId="Equation.3">
                  <p:embed/>
                </p:oleObj>
              </mc:Choice>
              <mc:Fallback>
                <p:oleObj r:id="rId8" imgW="634725" imgH="710891" progId="Equation.3">
                  <p:embed/>
                  <p:pic>
                    <p:nvPicPr>
                      <p:cNvPr id="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3845" y="4339285"/>
                        <a:ext cx="1322252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4AE30FE-BDFA-8E1E-373B-A6E3156557D8}"/>
              </a:ext>
            </a:extLst>
          </p:cNvPr>
          <p:cNvSpPr txBox="1"/>
          <p:nvPr/>
        </p:nvSpPr>
        <p:spPr>
          <a:xfrm>
            <a:off x="999894" y="4577189"/>
            <a:ext cx="77076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wave-functions are called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degenerate (triply degenerate)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083387A-8AA6-7CA1-F049-D20DFB379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110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9776" y="1073470"/>
            <a:ext cx="53744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nuclear motion in diatomic molecules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040271"/>
              </p:ext>
            </p:extLst>
          </p:nvPr>
        </p:nvGraphicFramePr>
        <p:xfrm>
          <a:off x="3543300" y="1541969"/>
          <a:ext cx="5105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52400" imgH="507960" progId="Equation.DSMT4">
                  <p:embed/>
                </p:oleObj>
              </mc:Choice>
              <mc:Fallback>
                <p:oleObj name="Equation" r:id="rId2" imgW="2552400" imgH="507960" progId="Equation.DSMT4">
                  <p:embed/>
                  <p:pic>
                    <p:nvPicPr>
                      <p:cNvPr id="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1541969"/>
                        <a:ext cx="5105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404132" y="2615608"/>
            <a:ext cx="829425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accurate solution of the nuclear Schrödinger equation is hard.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U(R) in a Taylor series about R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934515"/>
              </p:ext>
            </p:extLst>
          </p:nvPr>
        </p:nvGraphicFramePr>
        <p:xfrm>
          <a:off x="1482503" y="3446605"/>
          <a:ext cx="949896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49480" imgH="393480" progId="Equation.DSMT4">
                  <p:embed/>
                </p:oleObj>
              </mc:Choice>
              <mc:Fallback>
                <p:oleObj name="Equation" r:id="rId4" imgW="4749480" imgH="393480" progId="Equation.DSMT4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503" y="3446605"/>
                        <a:ext cx="949896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89776" y="4233565"/>
            <a:ext cx="8779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term is zero and the fourth term can be neglected. (Why?)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9776" y="4689998"/>
            <a:ext cx="5742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Defining the equilibrium force constant: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Arial Unicode MS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28114"/>
              </p:ext>
            </p:extLst>
          </p:nvPr>
        </p:nvGraphicFramePr>
        <p:xfrm>
          <a:off x="4104328" y="5284055"/>
          <a:ext cx="154872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253800" progId="Equation.DSMT4">
                  <p:embed/>
                </p:oleObj>
              </mc:Choice>
              <mc:Fallback>
                <p:oleObj name="Equation" r:id="rId6" imgW="774360" imgH="253800" progId="Equation.DSMT4">
                  <p:embed/>
                  <p:pic>
                    <p:nvPicPr>
                      <p:cNvPr id="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328" y="5284055"/>
                        <a:ext cx="1548720" cy="50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464146"/>
              </p:ext>
            </p:extLst>
          </p:nvPr>
        </p:nvGraphicFramePr>
        <p:xfrm>
          <a:off x="4104328" y="5724631"/>
          <a:ext cx="370800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54000" imgH="393480" progId="Equation.DSMT4">
                  <p:embed/>
                </p:oleObj>
              </mc:Choice>
              <mc:Fallback>
                <p:oleObj name="Equation" r:id="rId8" imgW="1854000" imgH="393480" progId="Equation.DSMT4">
                  <p:embed/>
                  <p:pic>
                    <p:nvPicPr>
                      <p:cNvPr id="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328" y="5724631"/>
                        <a:ext cx="3708000" cy="786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B59719B8-C235-44B3-9253-B811B7BDAFB0}"/>
              </a:ext>
            </a:extLst>
          </p:cNvPr>
          <p:cNvSpPr/>
          <p:nvPr/>
        </p:nvSpPr>
        <p:spPr>
          <a:xfrm>
            <a:off x="4052695" y="244700"/>
            <a:ext cx="4645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The Harmonic Oscillator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3F051F7-2361-B3C4-9F48-0DAA7B486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6967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58315" y="1238205"/>
            <a:ext cx="11417300" cy="2982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Hamiltonian is</a:t>
            </a:r>
          </a:p>
          <a:p>
            <a:pPr>
              <a:lnSpc>
                <a:spcPct val="12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ground state wavefunction</a:t>
            </a:r>
          </a:p>
          <a:p>
            <a:pPr marL="720000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should have no nodes, and</a:t>
            </a:r>
          </a:p>
          <a:p>
            <a:pPr marL="720000"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should go to zero as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±∞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wavefunction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ground state is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BD468BE-A22E-43E5-B024-3539A12A47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423902"/>
              </p:ext>
            </p:extLst>
          </p:nvPr>
        </p:nvGraphicFramePr>
        <p:xfrm>
          <a:off x="3925888" y="1466850"/>
          <a:ext cx="359251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480" imgH="419040" progId="Equation.DSMT4">
                  <p:embed/>
                </p:oleObj>
              </mc:Choice>
              <mc:Fallback>
                <p:oleObj name="Equation" r:id="rId3" imgW="1968480" imgH="419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BD468BE-A22E-43E5-B024-3539A12A47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25888" y="1466850"/>
                        <a:ext cx="3592512" cy="76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EE6FDD2-A397-4CE3-BBC2-41E18BD189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722715"/>
              </p:ext>
            </p:extLst>
          </p:nvPr>
        </p:nvGraphicFramePr>
        <p:xfrm>
          <a:off x="5243513" y="3365500"/>
          <a:ext cx="28432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507960" progId="Equation.DSMT4">
                  <p:embed/>
                </p:oleObj>
              </mc:Choice>
              <mc:Fallback>
                <p:oleObj name="Equation" r:id="rId5" imgW="142236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EE6FDD2-A397-4CE3-BBC2-41E18BD189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43513" y="3365500"/>
                        <a:ext cx="2843212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8228133" y="3463792"/>
                <a:ext cx="2446695" cy="8374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i="1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US" altLang="zh-CN" sz="2400" i="1">
                                        <a:solidFill>
                                          <a:srgbClr val="0C0CFE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400" i="1">
                                        <a:solidFill>
                                          <a:srgbClr val="0C0CFE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𝑘𝑚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zh-CN" altLang="en-US" sz="2400" i="1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altLang="zh-CN" sz="2400" i="1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1/4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133" y="3463792"/>
                <a:ext cx="2446695" cy="837473"/>
              </a:xfrm>
              <a:prstGeom prst="rect">
                <a:avLst/>
              </a:prstGeom>
              <a:blipFill>
                <a:blip r:embed="rId8"/>
                <a:stretch>
                  <a:fillRect l="-3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434792" y="4220560"/>
                <a:ext cx="2501582" cy="922176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zh-CN" altLang="en-US" sz="2400" i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400" i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400" i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r>
                        <a:rPr lang="zh-CN" altLang="en-US" sz="2400" i="1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40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792" y="4220560"/>
                <a:ext cx="2501582" cy="9221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501992" y="5159800"/>
            <a:ext cx="110499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Harmonic oscillator can model many different systems around their equilibrium point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E7ED96-8865-44CE-90B1-1F834363D93C}"/>
              </a:ext>
            </a:extLst>
          </p:cNvPr>
          <p:cNvSpPr/>
          <p:nvPr/>
        </p:nvSpPr>
        <p:spPr>
          <a:xfrm>
            <a:off x="1784958" y="221099"/>
            <a:ext cx="88898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Wavefunction and Hamiltonian for Harmonic Oscillator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54BEF8-588D-797F-DE51-2D63736C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7958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69421" y="204256"/>
            <a:ext cx="54953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Zero-point energy and uncertainty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68300" y="1269965"/>
                <a:ext cx="11658600" cy="47096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evaluated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harmonic oscillator ground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/4</m:t>
                            </m:r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𝑘𝑚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1/4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evaluate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proceed as follows. We know that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ℏ/</m:t>
                    </m:r>
                    <m:rad>
                      <m:radPr>
                        <m:degHide m:val="on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𝑘𝑚</m:t>
                        </m:r>
                      </m:e>
                    </m:rad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so the mean potential energy is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ad>
                      <m:radPr>
                        <m:degHide m:val="on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>
                      <a:rPr lang="zh-CN" altLang="en-US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Consequently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ad>
                      <m:radPr>
                        <m:degHide m:val="on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also.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  <m:sup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ℏ/</m:t>
                    </m:r>
                    <m:rad>
                      <m:radPr>
                        <m:degHide m:val="on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𝑘𝑚</m:t>
                        </m:r>
                      </m:e>
                    </m:rad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Also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US" altLang="zh-CN" sz="2400" i="1" dirty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𝑘𝑚</m:t>
                            </m:r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/4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1/4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ground state energy of the harmonic oscillator is as low as it can be without violating the uncertainty principle.</a:t>
                </a:r>
                <a:endPara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00" y="1269963"/>
                <a:ext cx="11658600" cy="4709623"/>
              </a:xfrm>
              <a:prstGeom prst="rect">
                <a:avLst/>
              </a:prstGeom>
              <a:blipFill rotWithShape="1">
                <a:blip r:embed="rId3"/>
                <a:stretch>
                  <a:fillRect l="-784" r="-941" b="-1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313604" y="2532220"/>
                <a:ext cx="4493923" cy="46506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latin typeface="Calisto MT" panose="02040603050505030304" pitchFamily="18" charset="0"/>
                  </a:rPr>
                  <a:t>where </a:t>
                </a:r>
                <a:r>
                  <a:rPr lang="el-GR" altLang="zh-CN" sz="2000" i="1" dirty="0">
                    <a:solidFill>
                      <a:srgbClr val="0C0CFE"/>
                    </a:solidFill>
                    <a:latin typeface="Calisto MT" panose="02040603050505030304" pitchFamily="18" charset="0"/>
                  </a:rPr>
                  <a:t>ω</a:t>
                </a:r>
                <a:r>
                  <a:rPr lang="el-GR" altLang="zh-CN" sz="2000" dirty="0">
                    <a:latin typeface="Calisto MT" panose="02040603050505030304" pitchFamily="18" charset="0"/>
                  </a:rPr>
                  <a:t> </a:t>
                </a:r>
                <a:r>
                  <a:rPr lang="en-US" altLang="zh-CN" sz="2000" dirty="0">
                    <a:latin typeface="Calisto MT" panose="02040603050505030304" pitchFamily="18" charset="0"/>
                  </a:rPr>
                  <a:t>is the angular frequency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0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0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0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602" y="2532220"/>
                <a:ext cx="4498732" cy="465064"/>
              </a:xfrm>
              <a:prstGeom prst="rect">
                <a:avLst/>
              </a:prstGeom>
              <a:blipFill rotWithShape="0">
                <a:blip r:embed="rId4"/>
                <a:stretch>
                  <a:fillRect l="-1351" b="-16456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DA2ADF-B6C3-F7B1-D005-67A36955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310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17761" y="215866"/>
            <a:ext cx="66952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Harmonic Oscillator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Wavefunctions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01257" y="1006523"/>
                <a:ext cx="11596857" cy="50332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find solutions, one procedure is to try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⁡(−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/2).</m:t>
                    </m:r>
                  </m:oMath>
                </a14:m>
                <a:endParaRPr lang="en-US" altLang="zh-CN" sz="2400" dirty="0">
                  <a:solidFill>
                    <a:srgbClr val="0C0C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Substituting into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err="1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 dirty="0" err="1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yields a differential equation for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it is a standard differential equation called Hermite’s equation. Imposing the boundary condition that the wavefunction goes to zero as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→±∞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leads to the conclusion that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must be one of the </a:t>
                </a:r>
                <a:r>
                  <a:rPr lang="en-US" altLang="zh-CN" sz="24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Hermite polynomials </a:t>
                </a:r>
                <a:r>
                  <a:rPr lang="en-US" altLang="zh-CN" sz="2400" i="1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sz="2400" i="1" baseline="-25000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 corresponding eigenvalue is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first few Hermite polynomials are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generally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5" y="1006522"/>
                <a:ext cx="11596857" cy="5033237"/>
              </a:xfrm>
              <a:prstGeom prst="rect">
                <a:avLst/>
              </a:prstGeom>
              <a:blipFill rotWithShape="0">
                <a:blip r:embed="rId3"/>
                <a:stretch>
                  <a:fillRect l="-841" t="-242" r="-683" b="-1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FA62C51-6E57-4BED-9669-024A14A0DF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5629" y="4145377"/>
          <a:ext cx="1821960" cy="133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1120" imgH="761760" progId="Equation.DSMT4">
                  <p:embed/>
                </p:oleObj>
              </mc:Choice>
              <mc:Fallback>
                <p:oleObj name="Equation" r:id="rId4" imgW="1041120" imgH="7617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FA62C51-6E57-4BED-9669-024A14A0DF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15629" y="4145377"/>
                        <a:ext cx="1821960" cy="1333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3E121B2-0B08-4BC7-976D-EFF35997A5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4309" y="5651049"/>
          <a:ext cx="4044600" cy="77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11200" imgH="444240" progId="Equation.DSMT4">
                  <p:embed/>
                </p:oleObj>
              </mc:Choice>
              <mc:Fallback>
                <p:oleObj name="Equation" r:id="rId6" imgW="2311200" imgH="4442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3E121B2-0B08-4BC7-976D-EFF35997A5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04309" y="5651049"/>
                        <a:ext cx="4044600" cy="77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9208136" y="2953601"/>
                <a:ext cx="2120259" cy="783869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zh-CN" altLang="en-US" sz="2000" i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000" i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000" i="1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000" i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000" i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000" i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r>
                        <a:rPr lang="zh-CN" altLang="en-US" sz="2000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sz="200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8136" y="2953599"/>
                <a:ext cx="2120260" cy="78386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F99E975-D532-C0AA-22B7-1064A40E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72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E3B7A43-4EDF-4777-8FB4-3EFF76D9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30" y="499739"/>
            <a:ext cx="5349240" cy="278892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81966" y="3489138"/>
            <a:ext cx="11655706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harmonic oscillator wavefunctions with those for the particle in a box. Note that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nodal structure is the same.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energies are now equally spaced.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wavefunction (and so the probability density) continues past the point where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E</a:t>
            </a:r>
            <a:r>
              <a:rPr lang="en-US" altLang="zh-CN" sz="2400" i="1" baseline="-25000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thus enters the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classically forbidden region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mysterious phenomenon known as </a:t>
            </a:r>
            <a:r>
              <a:rPr lang="en-US" altLang="zh-CN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tunnelling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8858D-7018-26AB-6928-6170DE63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633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0482" y="254950"/>
            <a:ext cx="36535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vibrational levels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45CEE0-8E41-4F3E-AFD9-5BE1B6F18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861" y="1105209"/>
            <a:ext cx="7139904" cy="2561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67160" y="3804822"/>
                <a:ext cx="11123270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Features of high vibrational levels: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The probability distribution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approaches the classical distribution for large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except for the quantum oscillations, and has a large peak near the classical turning-point.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The probability of 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tunnelling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outside the classical turning-point becomes smaller as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increases.</a:t>
                </a:r>
                <a:r>
                  <a:rPr lang="en-US" altLang="zh-CN" sz="24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60" y="3804822"/>
                <a:ext cx="11123270" cy="2308324"/>
              </a:xfrm>
              <a:prstGeom prst="rect">
                <a:avLst/>
              </a:prstGeom>
              <a:blipFill rotWithShape="0">
                <a:blip r:embed="rId3"/>
                <a:stretch>
                  <a:fillRect l="-822" t="-528" b="-3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0" y="905257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A079BC-26D1-BDD0-FA8F-F6E306D3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2478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3445" y="257448"/>
            <a:ext cx="34499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Morse Oscillator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5154" y="1106565"/>
            <a:ext cx="11601691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real diatomic molecule, the energy does not become infinite as the bond-length is increased indefinitely, but instead reaches an asymptotic value, the dissociation energy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i="1" baseline="-25000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better approximation to this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provided by the Morse potential:</a:t>
            </a:r>
          </a:p>
          <a:p>
            <a:pPr algn="ctr">
              <a:lnSpc>
                <a:spcPct val="12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bond-length of the diatomic and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-25000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value at the equilibrium geometry.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84845FC-FD9C-4BEC-A2EC-81DC24546C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253175"/>
              </p:ext>
            </p:extLst>
          </p:nvPr>
        </p:nvGraphicFramePr>
        <p:xfrm>
          <a:off x="4135710" y="2572877"/>
          <a:ext cx="3729039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253800" progId="Equation.DSMT4">
                  <p:embed/>
                </p:oleObj>
              </mc:Choice>
              <mc:Fallback>
                <p:oleObj name="Equation" r:id="rId2" imgW="204444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84845FC-FD9C-4BEC-A2EC-81DC24546C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35710" y="2572877"/>
                        <a:ext cx="3729039" cy="465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763F4462-D47C-483E-899A-13D62DE26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3837886"/>
            <a:ext cx="4036219" cy="21717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93907" y="4136758"/>
            <a:ext cx="4575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Morse potential (solid curve) compared with the harmonic oscillator potential (dashed curve)</a:t>
            </a:r>
          </a:p>
        </p:txBody>
      </p:sp>
      <p:sp>
        <p:nvSpPr>
          <p:cNvPr id="7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AE05939-4417-0F15-CEC2-9BEEE645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033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70390" y="454406"/>
                <a:ext cx="11412639" cy="54764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expand the Morse potential as a power series in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𝑟𝑒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endParaRPr lang="en-US" altLang="zh-CN" sz="2400" i="1" dirty="0">
                  <a:solidFill>
                    <a:srgbClr val="0C0CF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36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the force constant is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Schrödinger equation for the Morse potential can be solved exactly, but the wavefunctions are much more complicated than for the harmonic oscillator. The energy levels, however, take a relatively simple form:</a:t>
                </a: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usual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=ℏ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/4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𝐷𝑒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</a:t>
                </a:r>
                <a:r>
                  <a:rPr lang="en-US" altLang="zh-CN" sz="24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anharmonicity constant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90" y="454406"/>
                <a:ext cx="11412639" cy="5476499"/>
              </a:xfrm>
              <a:prstGeom prst="rect">
                <a:avLst/>
              </a:prstGeom>
              <a:blipFill>
                <a:blip r:embed="rId3"/>
                <a:stretch>
                  <a:fillRect l="-855" t="-891" b="-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84845FC-FD9C-4BEC-A2EC-81DC24546C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290679"/>
              </p:ext>
            </p:extLst>
          </p:nvPr>
        </p:nvGraphicFramePr>
        <p:xfrm>
          <a:off x="1787026" y="1038614"/>
          <a:ext cx="8356320" cy="126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78160" imgH="634680" progId="Equation.DSMT4">
                  <p:embed/>
                </p:oleObj>
              </mc:Choice>
              <mc:Fallback>
                <p:oleObj name="Equation" r:id="rId4" imgW="4178160" imgH="6346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84845FC-FD9C-4BEC-A2EC-81DC24546C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87026" y="1038614"/>
                        <a:ext cx="8356320" cy="1269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050CB49-AD9E-444D-A37B-23E367E86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874846"/>
              </p:ext>
            </p:extLst>
          </p:nvPr>
        </p:nvGraphicFramePr>
        <p:xfrm>
          <a:off x="3830839" y="4388860"/>
          <a:ext cx="3987360" cy="93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93680" imgH="469800" progId="Equation.DSMT4">
                  <p:embed/>
                </p:oleObj>
              </mc:Choice>
              <mc:Fallback>
                <p:oleObj name="Equation" r:id="rId6" imgW="1993680" imgH="4698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050CB49-AD9E-444D-A37B-23E367E862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30839" y="4388860"/>
                        <a:ext cx="3987360" cy="93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AAC3616-7B4F-10BD-8554-7E03F56A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770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70DDD6A-BEF4-47C9-83FE-50B12C5F0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97" y="1835527"/>
            <a:ext cx="8880919" cy="4164918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050CB49-AD9E-444D-A37B-23E367E862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7125" y="638813"/>
          <a:ext cx="3638551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680" imgH="469800" progId="Equation.DSMT4">
                  <p:embed/>
                </p:oleObj>
              </mc:Choice>
              <mc:Fallback>
                <p:oleObj name="Equation" r:id="rId3" imgW="1993680" imgH="4698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050CB49-AD9E-444D-A37B-23E367E862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7125" y="638813"/>
                        <a:ext cx="3638551" cy="857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8ECD3-49C6-15B5-4800-5A409775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7472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052696" y="244700"/>
            <a:ext cx="44566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Quantization of rotation</a:t>
            </a: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33223" y="1222207"/>
            <a:ext cx="113733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旋转运动是原子和分子问题中非常重要的基本运动。当原子或分子的运动受到中心力场的影响时，就会产生这种运动。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5392AC-0F9E-F2E9-4B60-F004AA075C7F}"/>
              </a:ext>
            </a:extLst>
          </p:cNvPr>
          <p:cNvSpPr txBox="1"/>
          <p:nvPr/>
        </p:nvSpPr>
        <p:spPr>
          <a:xfrm>
            <a:off x="336101" y="2268139"/>
            <a:ext cx="8173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Let’s start from a simple model “Particle on a cycle” </a:t>
            </a:r>
            <a:endParaRPr lang="zh-CN" altLang="en-US" sz="2400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D1395D0-D3A1-E817-7116-5EC9B406A2C1}"/>
              </a:ext>
            </a:extLst>
          </p:cNvPr>
          <p:cNvSpPr/>
          <p:nvPr/>
        </p:nvSpPr>
        <p:spPr>
          <a:xfrm>
            <a:off x="9052587" y="2745706"/>
            <a:ext cx="2121468" cy="208823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58B010D-4E84-3145-368F-7C77C0C0F74A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9363269" y="3789822"/>
            <a:ext cx="750052" cy="73830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B1DE272-FBF5-6BA3-4492-5054E2A5C9D4}"/>
              </a:ext>
            </a:extLst>
          </p:cNvPr>
          <p:cNvCxnSpPr>
            <a:cxnSpLocks/>
            <a:endCxn id="13" idx="5"/>
          </p:cNvCxnSpPr>
          <p:nvPr/>
        </p:nvCxnSpPr>
        <p:spPr>
          <a:xfrm>
            <a:off x="10113321" y="3789822"/>
            <a:ext cx="750052" cy="73830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5883819-C4E0-E50F-0315-751AD864ABB4}"/>
              </a:ext>
            </a:extLst>
          </p:cNvPr>
          <p:cNvSpPr txBox="1"/>
          <p:nvPr/>
        </p:nvSpPr>
        <p:spPr>
          <a:xfrm>
            <a:off x="9950946" y="3958918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sym typeface="Symbol" panose="05050102010706020507" pitchFamily="18" charset="2"/>
              </a:rPr>
              <a:t></a:t>
            </a:r>
            <a:endParaRPr lang="zh-CN" altLang="en-US" sz="2000" b="1" dirty="0">
              <a:solidFill>
                <a:srgbClr val="FFFF00"/>
              </a:solidFill>
            </a:endParaRPr>
          </a:p>
        </p:txBody>
      </p:sp>
      <p:sp>
        <p:nvSpPr>
          <p:cNvPr id="17" name="弧形 16">
            <a:extLst>
              <a:ext uri="{FF2B5EF4-FFF2-40B4-BE49-F238E27FC236}">
                <a16:creationId xmlns:a16="http://schemas.microsoft.com/office/drawing/2014/main" id="{71C72FF7-CBF0-3798-369C-FA86961C7772}"/>
              </a:ext>
            </a:extLst>
          </p:cNvPr>
          <p:cNvSpPr/>
          <p:nvPr/>
        </p:nvSpPr>
        <p:spPr>
          <a:xfrm rot="8287007">
            <a:off x="9711893" y="4195478"/>
            <a:ext cx="982980" cy="834390"/>
          </a:xfrm>
          <a:prstGeom prst="arc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816A4C-0203-9382-B84E-83CFFCA40345}"/>
              </a:ext>
            </a:extLst>
          </p:cNvPr>
          <p:cNvSpPr txBox="1"/>
          <p:nvPr/>
        </p:nvSpPr>
        <p:spPr>
          <a:xfrm>
            <a:off x="10394572" y="37742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FF00"/>
                </a:solidFill>
              </a:rPr>
              <a:t>R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9651C48-CAD7-7738-60CE-2224503055D4}"/>
              </a:ext>
            </a:extLst>
          </p:cNvPr>
          <p:cNvSpPr txBox="1"/>
          <p:nvPr/>
        </p:nvSpPr>
        <p:spPr>
          <a:xfrm>
            <a:off x="10004050" y="5110575"/>
            <a:ext cx="410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400" dirty="0"/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D78F720-EC68-D687-E57A-ACCDD41F8E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622973"/>
              </p:ext>
            </p:extLst>
          </p:nvPr>
        </p:nvGraphicFramePr>
        <p:xfrm>
          <a:off x="3954714" y="3023682"/>
          <a:ext cx="175248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457200" progId="Equation.DSMT4">
                  <p:embed/>
                </p:oleObj>
              </mc:Choice>
              <mc:Fallback>
                <p:oleObj name="Equation" r:id="rId2" imgW="876240" imgH="4572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DFA359ED-CB1E-49B8-8F51-DF1C82E55F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54714" y="3023682"/>
                        <a:ext cx="175248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F0E701B0-3B53-4A1F-BD93-624E61158522}"/>
              </a:ext>
            </a:extLst>
          </p:cNvPr>
          <p:cNvSpPr/>
          <p:nvPr/>
        </p:nvSpPr>
        <p:spPr>
          <a:xfrm>
            <a:off x="9179406" y="2242814"/>
            <a:ext cx="19946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 coordinate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6E39A798-2BF5-4CC4-A42D-DD7CFE61C8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579303"/>
              </p:ext>
            </p:extLst>
          </p:nvPr>
        </p:nvGraphicFramePr>
        <p:xfrm>
          <a:off x="3810000" y="4221163"/>
          <a:ext cx="3479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444240" progId="Equation.DSMT4">
                  <p:embed/>
                </p:oleObj>
              </mc:Choice>
              <mc:Fallback>
                <p:oleObj name="Equation" r:id="rId4" imgW="1739880" imgH="4442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EDAC92E-DE20-440D-99C2-681697E38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0" y="4221163"/>
                        <a:ext cx="34798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8FA19CBC-7113-45B8-9F6A-F6ED5C30B394}"/>
              </a:ext>
            </a:extLst>
          </p:cNvPr>
          <p:cNvSpPr txBox="1"/>
          <p:nvPr/>
        </p:nvSpPr>
        <p:spPr>
          <a:xfrm>
            <a:off x="304103" y="4359028"/>
            <a:ext cx="316625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 </a:t>
            </a:r>
            <a:r>
              <a:rPr lang="en-US" altLang="zh-CN" sz="24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rsin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;</a:t>
            </a:r>
            <a:r>
              <a:rPr lang="zh-CN" altLang="en-US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 </a:t>
            </a:r>
            <a:r>
              <a:rPr lang="en-US" altLang="zh-CN" sz="24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rcos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</a:t>
            </a:r>
            <a:endParaRPr lang="zh-CN" alt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7D281013-E7A6-4568-A192-961D048AD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6765523"/>
              </p:ext>
            </p:extLst>
          </p:nvPr>
        </p:nvGraphicFramePr>
        <p:xfrm>
          <a:off x="3797300" y="5167313"/>
          <a:ext cx="4445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22280" imgH="482400" progId="Equation.DSMT4">
                  <p:embed/>
                </p:oleObj>
              </mc:Choice>
              <mc:Fallback>
                <p:oleObj name="Equation" r:id="rId6" imgW="222228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9077EC9-2E2B-475F-B9C8-33CC5C2154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97300" y="5167313"/>
                        <a:ext cx="44450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938B060-2535-8A1A-4E3A-405BD7F8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AC7DA1E-C410-4D75-8EC0-15BB312FADCA}"/>
              </a:ext>
            </a:extLst>
          </p:cNvPr>
          <p:cNvSpPr txBox="1"/>
          <p:nvPr/>
        </p:nvSpPr>
        <p:spPr>
          <a:xfrm>
            <a:off x="495113" y="788409"/>
            <a:ext cx="199766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 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= 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zh-CN" altLang="en-US" sz="24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F829052-6450-4CA1-B038-7838062A7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212032"/>
              </p:ext>
            </p:extLst>
          </p:nvPr>
        </p:nvGraphicFramePr>
        <p:xfrm>
          <a:off x="4061878" y="707387"/>
          <a:ext cx="274320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444240" progId="Equation.DSMT4">
                  <p:embed/>
                </p:oleObj>
              </mc:Choice>
              <mc:Fallback>
                <p:oleObj name="Equation" r:id="rId2" imgW="1371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61878" y="707387"/>
                        <a:ext cx="2743200" cy="888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FE13998-71A0-4E08-B44D-2332E7FE94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695815"/>
              </p:ext>
            </p:extLst>
          </p:nvPr>
        </p:nvGraphicFramePr>
        <p:xfrm>
          <a:off x="3998913" y="1752600"/>
          <a:ext cx="3911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5520" imgH="444240" progId="Equation.DSMT4">
                  <p:embed/>
                </p:oleObj>
              </mc:Choice>
              <mc:Fallback>
                <p:oleObj name="Equation" r:id="rId4" imgW="1955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8913" y="1752600"/>
                        <a:ext cx="39116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220C800-9C11-451A-88E7-6D38D3399F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875268"/>
              </p:ext>
            </p:extLst>
          </p:nvPr>
        </p:nvGraphicFramePr>
        <p:xfrm>
          <a:off x="2711612" y="2854517"/>
          <a:ext cx="55610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444240" progId="Equation.DSMT4">
                  <p:embed/>
                </p:oleObj>
              </mc:Choice>
              <mc:Fallback>
                <p:oleObj name="Equation" r:id="rId6" imgW="2781000" imgH="4442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61DFEA41-DFF7-E991-F3BB-1A9DEB0C3E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11612" y="2854517"/>
                        <a:ext cx="5561013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D166793-CF66-4A79-AE29-42000CE820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176379"/>
              </p:ext>
            </p:extLst>
          </p:nvPr>
        </p:nvGraphicFramePr>
        <p:xfrm>
          <a:off x="9658141" y="2398932"/>
          <a:ext cx="198072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90360" imgH="419040" progId="Equation.DSMT4">
                  <p:embed/>
                </p:oleObj>
              </mc:Choice>
              <mc:Fallback>
                <p:oleObj name="Equation" r:id="rId8" imgW="990360" imgH="4190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0396654E-EC43-5840-9C50-2520201919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658141" y="2398932"/>
                        <a:ext cx="1980720" cy="83808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79AE74C-3063-4A1D-95C2-738F78C4BF33}"/>
              </a:ext>
            </a:extLst>
          </p:cNvPr>
          <p:cNvCxnSpPr>
            <a:cxnSpLocks/>
          </p:cNvCxnSpPr>
          <p:nvPr/>
        </p:nvCxnSpPr>
        <p:spPr>
          <a:xfrm flipH="1">
            <a:off x="7511469" y="2798467"/>
            <a:ext cx="2051631" cy="2140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A36A7A3-E2FD-410D-9471-5BC7B2A255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789987"/>
              </p:ext>
            </p:extLst>
          </p:nvPr>
        </p:nvGraphicFramePr>
        <p:xfrm>
          <a:off x="4319053" y="4074942"/>
          <a:ext cx="2590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91113" imgH="507618" progId="Equation.DSMT4">
                  <p:embed/>
                </p:oleObj>
              </mc:Choice>
              <mc:Fallback>
                <p:oleObj name="Equation" r:id="rId10" imgW="2591113" imgH="50761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19053" y="4074942"/>
                        <a:ext cx="2590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604A9957-904B-4325-8C12-FF3C0EEB6A52}"/>
              </a:ext>
            </a:extLst>
          </p:cNvPr>
          <p:cNvSpPr txBox="1"/>
          <p:nvPr/>
        </p:nvSpPr>
        <p:spPr>
          <a:xfrm>
            <a:off x="495113" y="4683534"/>
            <a:ext cx="2797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condition: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B5544A9-D383-47FA-AE44-D5043601E1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825187"/>
              </p:ext>
            </p:extLst>
          </p:nvPr>
        </p:nvGraphicFramePr>
        <p:xfrm>
          <a:off x="3644443" y="5134813"/>
          <a:ext cx="241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06360" imgH="253800" progId="Equation.DSMT4">
                  <p:embed/>
                </p:oleObj>
              </mc:Choice>
              <mc:Fallback>
                <p:oleObj name="Equation" r:id="rId12" imgW="120636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B5544A9-D383-47FA-AE44-D5043601E1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644443" y="5134813"/>
                        <a:ext cx="2413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0897433-BB5F-43C2-A8E8-D5A49BED6C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216049"/>
              </p:ext>
            </p:extLst>
          </p:nvPr>
        </p:nvGraphicFramePr>
        <p:xfrm>
          <a:off x="3720573" y="5844559"/>
          <a:ext cx="193032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65160" imgH="253800" progId="Equation.DSMT4">
                  <p:embed/>
                </p:oleObj>
              </mc:Choice>
              <mc:Fallback>
                <p:oleObj name="Equation" r:id="rId14" imgW="965160" imgH="2538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0897433-BB5F-43C2-A8E8-D5A49BED6C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20573" y="5844559"/>
                        <a:ext cx="193032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A2B3F95-86A6-404C-8AA8-D8781C6512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464597"/>
              </p:ext>
            </p:extLst>
          </p:nvPr>
        </p:nvGraphicFramePr>
        <p:xfrm>
          <a:off x="6419096" y="5870135"/>
          <a:ext cx="20570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28520" imgH="228600" progId="Equation.DSMT4">
                  <p:embed/>
                </p:oleObj>
              </mc:Choice>
              <mc:Fallback>
                <p:oleObj name="Equation" r:id="rId16" imgW="1028520" imgH="228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A2B3F95-86A6-404C-8AA8-D8781C6512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419096" y="5870135"/>
                        <a:ext cx="205704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430C76-68BF-37F8-2CA3-C34DB4EA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8780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C4FF4C5-4D8A-458A-8D9D-190586B7DBB6}"/>
              </a:ext>
            </a:extLst>
          </p:cNvPr>
          <p:cNvSpPr/>
          <p:nvPr/>
        </p:nvSpPr>
        <p:spPr>
          <a:xfrm>
            <a:off x="757659" y="471891"/>
            <a:ext cx="9374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can be determined by applying normalization condition to function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15AC29E-AD83-4348-A5FC-FFBCEB60D1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154475"/>
              </p:ext>
            </p:extLst>
          </p:nvPr>
        </p:nvGraphicFramePr>
        <p:xfrm>
          <a:off x="2423670" y="1103699"/>
          <a:ext cx="139680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444240" progId="Equation.DSMT4">
                  <p:embed/>
                </p:oleObj>
              </mc:Choice>
              <mc:Fallback>
                <p:oleObj name="Equation" r:id="rId2" imgW="698400" imgH="4442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15AC29E-AD83-4348-A5FC-FFBCEB60D1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3670" y="1103699"/>
                        <a:ext cx="1396800" cy="888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C4245E7-C81D-4D74-A1B9-BEF0D699C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446238"/>
              </p:ext>
            </p:extLst>
          </p:nvPr>
        </p:nvGraphicFramePr>
        <p:xfrm>
          <a:off x="6284350" y="1144117"/>
          <a:ext cx="111744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8720" imgH="444240" progId="Equation.DSMT4">
                  <p:embed/>
                </p:oleObj>
              </mc:Choice>
              <mc:Fallback>
                <p:oleObj name="Equation" r:id="rId4" imgW="558720" imgH="4442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C4245E7-C81D-4D74-A1B9-BEF0D699C1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84350" y="1144117"/>
                        <a:ext cx="1117440" cy="888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861DD55-297C-4C83-BDD8-2EF180CFD6F7}"/>
              </a:ext>
            </a:extLst>
          </p:cNvPr>
          <p:cNvSpPr txBox="1"/>
          <p:nvPr/>
        </p:nvSpPr>
        <p:spPr>
          <a:xfrm>
            <a:off x="4573449" y="1358473"/>
            <a:ext cx="1447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select: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7D914C9-4ADB-45DA-B49F-339F8617E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1018230"/>
              </p:ext>
            </p:extLst>
          </p:nvPr>
        </p:nvGraphicFramePr>
        <p:xfrm>
          <a:off x="861630" y="2420463"/>
          <a:ext cx="3022600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11280" imgH="444240" progId="Equation.DSMT4">
                  <p:embed/>
                </p:oleObj>
              </mc:Choice>
              <mc:Fallback>
                <p:oleObj name="Equation" r:id="rId6" imgW="1511280" imgH="4442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7D914C9-4ADB-45DA-B49F-339F8617E6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1630" y="2420463"/>
                        <a:ext cx="3022600" cy="887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2234066-E82D-4EB1-8957-284D2CDACC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577614"/>
              </p:ext>
            </p:extLst>
          </p:nvPr>
        </p:nvGraphicFramePr>
        <p:xfrm>
          <a:off x="5362593" y="2469795"/>
          <a:ext cx="165096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480" imgH="419040" progId="Equation.DSMT4">
                  <p:embed/>
                </p:oleObj>
              </mc:Choice>
              <mc:Fallback>
                <p:oleObj name="Equation" r:id="rId8" imgW="825480" imgH="41904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E2234066-E82D-4EB1-8957-284D2CDACC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62593" y="2469795"/>
                        <a:ext cx="1650960" cy="838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8C877DD-6F91-471B-9049-D33F200896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912286"/>
              </p:ext>
            </p:extLst>
          </p:nvPr>
        </p:nvGraphicFramePr>
        <p:xfrm>
          <a:off x="8302326" y="2660235"/>
          <a:ext cx="20570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28520" imgH="228600" progId="Equation.DSMT4">
                  <p:embed/>
                </p:oleObj>
              </mc:Choice>
              <mc:Fallback>
                <p:oleObj name="Equation" r:id="rId10" imgW="1028520" imgH="228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8C877DD-6F91-471B-9049-D33F200896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02326" y="2660235"/>
                        <a:ext cx="205704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D7DB5E9-E267-413F-8952-6F4A2A5A813E}"/>
              </a:ext>
            </a:extLst>
          </p:cNvPr>
          <p:cNvCxnSpPr/>
          <p:nvPr/>
        </p:nvCxnSpPr>
        <p:spPr>
          <a:xfrm>
            <a:off x="1617584" y="5931749"/>
            <a:ext cx="480060" cy="0"/>
          </a:xfrm>
          <a:prstGeom prst="line">
            <a:avLst/>
          </a:prstGeom>
          <a:ln w="3810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879A906-B47D-4414-8D56-2280468F6979}"/>
              </a:ext>
            </a:extLst>
          </p:cNvPr>
          <p:cNvCxnSpPr/>
          <p:nvPr/>
        </p:nvCxnSpPr>
        <p:spPr>
          <a:xfrm>
            <a:off x="1137524" y="5444069"/>
            <a:ext cx="480060" cy="0"/>
          </a:xfrm>
          <a:prstGeom prst="line">
            <a:avLst/>
          </a:prstGeom>
          <a:ln w="3810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E1DEFD0-0603-402B-AD5B-F95165229EEA}"/>
              </a:ext>
            </a:extLst>
          </p:cNvPr>
          <p:cNvCxnSpPr/>
          <p:nvPr/>
        </p:nvCxnSpPr>
        <p:spPr>
          <a:xfrm>
            <a:off x="2097644" y="5444069"/>
            <a:ext cx="480060" cy="0"/>
          </a:xfrm>
          <a:prstGeom prst="line">
            <a:avLst/>
          </a:prstGeom>
          <a:ln w="3810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E89FDBD-0C21-41E8-BC8E-23CD4F68D84A}"/>
              </a:ext>
            </a:extLst>
          </p:cNvPr>
          <p:cNvCxnSpPr/>
          <p:nvPr/>
        </p:nvCxnSpPr>
        <p:spPr>
          <a:xfrm>
            <a:off x="1137524" y="4887809"/>
            <a:ext cx="480060" cy="0"/>
          </a:xfrm>
          <a:prstGeom prst="line">
            <a:avLst/>
          </a:prstGeom>
          <a:ln w="3810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3BC0127-397E-495E-A611-AB2A510237AF}"/>
              </a:ext>
            </a:extLst>
          </p:cNvPr>
          <p:cNvCxnSpPr/>
          <p:nvPr/>
        </p:nvCxnSpPr>
        <p:spPr>
          <a:xfrm>
            <a:off x="2097644" y="4887809"/>
            <a:ext cx="480060" cy="0"/>
          </a:xfrm>
          <a:prstGeom prst="line">
            <a:avLst/>
          </a:prstGeom>
          <a:ln w="3810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AE72DDA-94DF-4008-B628-4F3C0151925C}"/>
              </a:ext>
            </a:extLst>
          </p:cNvPr>
          <p:cNvCxnSpPr/>
          <p:nvPr/>
        </p:nvCxnSpPr>
        <p:spPr>
          <a:xfrm>
            <a:off x="1137524" y="4339169"/>
            <a:ext cx="480060" cy="0"/>
          </a:xfrm>
          <a:prstGeom prst="line">
            <a:avLst/>
          </a:prstGeom>
          <a:ln w="3810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081B48E-B206-4609-9593-F0167E5A1EA6}"/>
              </a:ext>
            </a:extLst>
          </p:cNvPr>
          <p:cNvCxnSpPr/>
          <p:nvPr/>
        </p:nvCxnSpPr>
        <p:spPr>
          <a:xfrm>
            <a:off x="2097644" y="4339169"/>
            <a:ext cx="480060" cy="0"/>
          </a:xfrm>
          <a:prstGeom prst="line">
            <a:avLst/>
          </a:prstGeom>
          <a:ln w="38100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9048776-89B5-47C7-B3E1-DC94CCE6A3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092785"/>
              </p:ext>
            </p:extLst>
          </p:nvPr>
        </p:nvGraphicFramePr>
        <p:xfrm>
          <a:off x="3725784" y="5759982"/>
          <a:ext cx="62856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040" imgH="228600" progId="Equation.DSMT4">
                  <p:embed/>
                </p:oleObj>
              </mc:Choice>
              <mc:Fallback>
                <p:oleObj name="Equation" r:id="rId12" imgW="41904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9048776-89B5-47C7-B3E1-DC94CCE6A3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725784" y="5759982"/>
                        <a:ext cx="62856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8149B88E-A249-4E12-ADE3-8CC73B16AD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843562"/>
              </p:ext>
            </p:extLst>
          </p:nvPr>
        </p:nvGraphicFramePr>
        <p:xfrm>
          <a:off x="3738484" y="5272619"/>
          <a:ext cx="74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000" imgH="228600" progId="Equation.DSMT4">
                  <p:embed/>
                </p:oleObj>
              </mc:Choice>
              <mc:Fallback>
                <p:oleObj name="Equation" r:id="rId14" imgW="495000" imgH="2286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149B88E-A249-4E12-ADE3-8CC73B16AD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738484" y="5272619"/>
                        <a:ext cx="742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B430019-3629-4A67-9988-1EF56F72B4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045921"/>
              </p:ext>
            </p:extLst>
          </p:nvPr>
        </p:nvGraphicFramePr>
        <p:xfrm>
          <a:off x="3725784" y="4716359"/>
          <a:ext cx="76194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07960" imgH="228600" progId="Equation.DSMT4">
                  <p:embed/>
                </p:oleObj>
              </mc:Choice>
              <mc:Fallback>
                <p:oleObj name="Equation" r:id="rId16" imgW="507960" imgH="228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B430019-3629-4A67-9988-1EF56F72B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25784" y="4716359"/>
                        <a:ext cx="76194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329F37BE-308F-4E87-8A34-87B921B01D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074180"/>
              </p:ext>
            </p:extLst>
          </p:nvPr>
        </p:nvGraphicFramePr>
        <p:xfrm>
          <a:off x="3811509" y="4167719"/>
          <a:ext cx="76194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07960" imgH="228600" progId="Equation.DSMT4">
                  <p:embed/>
                </p:oleObj>
              </mc:Choice>
              <mc:Fallback>
                <p:oleObj name="Equation" r:id="rId18" imgW="507960" imgH="228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329F37BE-308F-4E87-8A34-87B921B01D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11509" y="4167719"/>
                        <a:ext cx="76194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">
            <a:extLst>
              <a:ext uri="{FF2B5EF4-FFF2-40B4-BE49-F238E27FC236}">
                <a16:creationId xmlns:a16="http://schemas.microsoft.com/office/drawing/2014/main" id="{739ECBEA-9C81-4DD5-AED2-AABDD3C70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177" y="4348295"/>
            <a:ext cx="5380424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fontAlgn="base" hangingPunct="1">
              <a:lnSpc>
                <a:spcPct val="120000"/>
              </a:lnSpc>
              <a:spcAft>
                <a:spcPct val="0"/>
              </a:spcAft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1. The particle can exist in many states</a:t>
            </a:r>
          </a:p>
          <a:p>
            <a:pPr eaLnBrk="1" fontAlgn="base" hangingPunct="1">
              <a:lnSpc>
                <a:spcPct val="120000"/>
              </a:lnSpc>
              <a:spcAft>
                <a:spcPct val="0"/>
              </a:spcAft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2. Energy is quantized</a:t>
            </a:r>
          </a:p>
          <a:p>
            <a:pPr defTabSz="914400" eaLnBrk="1" fontAlgn="base" hangingPunct="1">
              <a:lnSpc>
                <a:spcPct val="120000"/>
              </a:lnSpc>
              <a:spcAft>
                <a:spcPct val="0"/>
              </a:spcAft>
            </a:pPr>
            <a:r>
              <a:rPr lang="en-US" altLang="zh-CN" dirty="0">
                <a:solidFill>
                  <a:prstClr val="black"/>
                </a:solidFill>
                <a:cs typeface="Times New Roman" panose="02020603050405020304" pitchFamily="18" charset="0"/>
              </a:rPr>
              <a:t>3. The minimum energy 0, why?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E00505B-71A4-6009-2467-68FB07B7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7283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>
            <a:extLst>
              <a:ext uri="{FF2B5EF4-FFF2-40B4-BE49-F238E27FC236}">
                <a16:creationId xmlns:a16="http://schemas.microsoft.com/office/drawing/2014/main" id="{97EE4007-ABA3-8017-4B65-BDB021C47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1042" y="1674448"/>
            <a:ext cx="2710031" cy="2860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E5426AE-CF66-4C63-B9EF-6E94EE181AFB}"/>
              </a:ext>
            </a:extLst>
          </p:cNvPr>
          <p:cNvSpPr/>
          <p:nvPr/>
        </p:nvSpPr>
        <p:spPr>
          <a:xfrm>
            <a:off x="492432" y="1690775"/>
            <a:ext cx="64972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 treatment for rotational motion of particle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306B4F-AA33-4B1E-BF60-3B1AE1A4F67E}"/>
              </a:ext>
            </a:extLst>
          </p:cNvPr>
          <p:cNvSpPr/>
          <p:nvPr/>
        </p:nvSpPr>
        <p:spPr>
          <a:xfrm>
            <a:off x="492432" y="3291411"/>
            <a:ext cx="41553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two particles of rigid rotator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3BECC3-6198-4537-B7FB-56FEB623856D}"/>
              </a:ext>
            </a:extLst>
          </p:cNvPr>
          <p:cNvSpPr/>
          <p:nvPr/>
        </p:nvSpPr>
        <p:spPr>
          <a:xfrm>
            <a:off x="588296" y="4430382"/>
            <a:ext cx="59939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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angular velocity of the particles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hlinkClick r:id="" action="ppaction://ole?verb=0"/>
            <a:extLst>
              <a:ext uri="{FF2B5EF4-FFF2-40B4-BE49-F238E27FC236}">
                <a16:creationId xmlns:a16="http://schemas.microsoft.com/office/drawing/2014/main" id="{1E4ACD5C-0922-4C88-86CA-4DF3238776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273831"/>
              </p:ext>
            </p:extLst>
          </p:nvPr>
        </p:nvGraphicFramePr>
        <p:xfrm>
          <a:off x="4463274" y="2317525"/>
          <a:ext cx="2565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700" imgH="393700" progId="Equation.DSMT4">
                  <p:embed/>
                </p:oleObj>
              </mc:Choice>
              <mc:Fallback>
                <p:oleObj name="Equation" r:id="rId3" imgW="1282700" imgH="393700" progId="Equation.DSMT4">
                  <p:embed/>
                  <p:pic>
                    <p:nvPicPr>
                      <p:cNvPr id="2" name="对象 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63274" y="2317525"/>
                        <a:ext cx="2565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  <a:extLst>
              <a:ext uri="{FF2B5EF4-FFF2-40B4-BE49-F238E27FC236}">
                <a16:creationId xmlns:a16="http://schemas.microsoft.com/office/drawing/2014/main" id="{1715477B-9003-493C-AF24-FE73DBD7A1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28549"/>
              </p:ext>
            </p:extLst>
          </p:nvPr>
        </p:nvGraphicFramePr>
        <p:xfrm>
          <a:off x="4863297" y="3270010"/>
          <a:ext cx="104112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20560" imgH="457200" progId="Equation.DSMT4">
                  <p:embed/>
                </p:oleObj>
              </mc:Choice>
              <mc:Fallback>
                <p:oleObj name="Equation" r:id="rId5" imgW="520560" imgH="457200" progId="Equation.DSMT4">
                  <p:embed/>
                  <p:pic>
                    <p:nvPicPr>
                      <p:cNvPr id="3" name="对象 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3297" y="3270010"/>
                        <a:ext cx="104112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8AA6A-AA99-874F-BD7D-DC16C0D9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FC5600-0D57-6063-9662-EA6AE629B9A2}"/>
              </a:ext>
            </a:extLst>
          </p:cNvPr>
          <p:cNvSpPr txBox="1"/>
          <p:nvPr/>
        </p:nvSpPr>
        <p:spPr>
          <a:xfrm>
            <a:off x="424470" y="573787"/>
            <a:ext cx="110610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让我们考虑一个刚性转子来解释双原子分子的旋转运动，其中两个原子</a:t>
            </a:r>
            <a:r>
              <a:rPr lang="en-US" altLang="zh-CN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的质量分别为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，它们之间的距离为</a:t>
            </a:r>
            <a:r>
              <a:rPr lang="en-US" altLang="zh-CN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4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92432" y="5957084"/>
            <a:ext cx="105989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 is the moment of inertia for the diatomic molecular system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743909"/>
              </p:ext>
            </p:extLst>
          </p:nvPr>
        </p:nvGraphicFramePr>
        <p:xfrm>
          <a:off x="4081982" y="5054442"/>
          <a:ext cx="4495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47840" imgH="393480" progId="Equation.DSMT4">
                  <p:embed/>
                </p:oleObj>
              </mc:Choice>
              <mc:Fallback>
                <p:oleObj name="Equation" r:id="rId7" imgW="2247840" imgH="393480" progId="Equation.DSMT4">
                  <p:embed/>
                  <p:pic>
                    <p:nvPicPr>
                      <p:cNvPr id="3" name="对象 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81982" y="5054442"/>
                        <a:ext cx="4495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21152"/>
              </p:ext>
            </p:extLst>
          </p:nvPr>
        </p:nvGraphicFramePr>
        <p:xfrm>
          <a:off x="9050911" y="5955368"/>
          <a:ext cx="1447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3600" imgH="253800" progId="Equation.DSMT4">
                  <p:embed/>
                </p:oleObj>
              </mc:Choice>
              <mc:Fallback>
                <p:oleObj name="Equation" r:id="rId9" imgW="723600" imgH="253800" progId="Equation.DSMT4">
                  <p:embed/>
                  <p:pic>
                    <p:nvPicPr>
                      <p:cNvPr id="9" name="对象 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50911" y="5955368"/>
                        <a:ext cx="14478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49289" y="594677"/>
            <a:ext cx="5546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balancing of the system, the equation is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9289" y="1270020"/>
            <a:ext cx="2898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fact that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955471"/>
              </p:ext>
            </p:extLst>
          </p:nvPr>
        </p:nvGraphicFramePr>
        <p:xfrm>
          <a:off x="6181067" y="594677"/>
          <a:ext cx="147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6600" imgH="215900" progId="Equation.KSEE3">
                  <p:embed/>
                </p:oleObj>
              </mc:Choice>
              <mc:Fallback>
                <p:oleObj r:id="rId2" imgW="736600" imgH="215900" progId="Equation.KSEE3">
                  <p:embed/>
                  <p:pic>
                    <p:nvPicPr>
                      <p:cNvPr id="11" name="对象 1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81067" y="594677"/>
                        <a:ext cx="1473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399361"/>
              </p:ext>
            </p:extLst>
          </p:nvPr>
        </p:nvGraphicFramePr>
        <p:xfrm>
          <a:off x="3715015" y="1366242"/>
          <a:ext cx="1473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36600" imgH="215900" progId="Equation.KSEE3">
                  <p:embed/>
                </p:oleObj>
              </mc:Choice>
              <mc:Fallback>
                <p:oleObj r:id="rId4" imgW="736600" imgH="215900" progId="Equation.KSEE3">
                  <p:embed/>
                  <p:pic>
                    <p:nvPicPr>
                      <p:cNvPr id="13" name="对象 1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15015" y="1366242"/>
                        <a:ext cx="1473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074778"/>
              </p:ext>
            </p:extLst>
          </p:nvPr>
        </p:nvGraphicFramePr>
        <p:xfrm>
          <a:off x="6453026" y="1137642"/>
          <a:ext cx="2032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16000" imgH="444500" progId="Equation.KSEE3">
                  <p:embed/>
                </p:oleObj>
              </mc:Choice>
              <mc:Fallback>
                <p:oleObj r:id="rId6" imgW="1016000" imgH="444500" progId="Equation.KSEE3">
                  <p:embed/>
                  <p:pic>
                    <p:nvPicPr>
                      <p:cNvPr id="15" name="对象 1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53026" y="1137642"/>
                        <a:ext cx="2032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565703"/>
              </p:ext>
            </p:extLst>
          </p:nvPr>
        </p:nvGraphicFramePr>
        <p:xfrm>
          <a:off x="9209402" y="1137642"/>
          <a:ext cx="200533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02665" imgH="444500" progId="Equation.KSEE3">
                  <p:embed/>
                </p:oleObj>
              </mc:Choice>
              <mc:Fallback>
                <p:oleObj r:id="rId8" imgW="1002665" imgH="444500" progId="Equation.KSEE3">
                  <p:embed/>
                  <p:pic>
                    <p:nvPicPr>
                      <p:cNvPr id="17" name="对象 1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209402" y="1137642"/>
                        <a:ext cx="200533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87BA6C-58A9-442F-4214-7D0B8CBF9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933649" y="3181063"/>
            <a:ext cx="29931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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reduced mass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0497849"/>
              </p:ext>
            </p:extLst>
          </p:nvPr>
        </p:nvGraphicFramePr>
        <p:xfrm>
          <a:off x="4123667" y="2203153"/>
          <a:ext cx="2057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28700" imgH="228600" progId="Equation.KSEE3">
                  <p:embed/>
                </p:oleObj>
              </mc:Choice>
              <mc:Fallback>
                <p:oleObj r:id="rId10" imgW="1028700" imgH="228600" progId="Equation.KSEE3">
                  <p:embed/>
                  <p:pic>
                    <p:nvPicPr>
                      <p:cNvPr id="5" name="对象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23667" y="2203153"/>
                        <a:ext cx="20574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515628"/>
              </p:ext>
            </p:extLst>
          </p:nvPr>
        </p:nvGraphicFramePr>
        <p:xfrm>
          <a:off x="549289" y="2878496"/>
          <a:ext cx="8102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51080" imgH="533160" progId="Equation.DSMT4">
                  <p:embed/>
                </p:oleObj>
              </mc:Choice>
              <mc:Fallback>
                <p:oleObj name="Equation" r:id="rId12" imgW="4051080" imgH="533160" progId="Equation.DSMT4">
                  <p:embed/>
                  <p:pic>
                    <p:nvPicPr>
                      <p:cNvPr id="6" name="对象 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49289" y="2878496"/>
                        <a:ext cx="8102600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549289" y="4084649"/>
            <a:ext cx="48574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 of such system is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645971"/>
              </p:ext>
            </p:extLst>
          </p:nvPr>
        </p:nvGraphicFramePr>
        <p:xfrm>
          <a:off x="5698467" y="3964397"/>
          <a:ext cx="1955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77760" imgH="634680" progId="Equation.DSMT4">
                  <p:embed/>
                </p:oleObj>
              </mc:Choice>
              <mc:Fallback>
                <p:oleObj name="Equation" r:id="rId14" imgW="977760" imgH="634680" progId="Equation.DSMT4">
                  <p:embed/>
                  <p:pic>
                    <p:nvPicPr>
                      <p:cNvPr id="8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698467" y="3964397"/>
                        <a:ext cx="1955800" cy="1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4B4E8350-0E93-4520-AE04-CD620D51B5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293906"/>
              </p:ext>
            </p:extLst>
          </p:nvPr>
        </p:nvGraphicFramePr>
        <p:xfrm>
          <a:off x="8610600" y="4187670"/>
          <a:ext cx="9648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82400" imgH="419040" progId="Equation.DSMT4">
                  <p:embed/>
                </p:oleObj>
              </mc:Choice>
              <mc:Fallback>
                <p:oleObj name="Equation" r:id="rId16" imgW="482400" imgH="4190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4B4E8350-0E93-4520-AE04-CD620D51B5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610600" y="4187670"/>
                        <a:ext cx="964800" cy="838080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箭头: 右 17">
            <a:extLst>
              <a:ext uri="{FF2B5EF4-FFF2-40B4-BE49-F238E27FC236}">
                <a16:creationId xmlns:a16="http://schemas.microsoft.com/office/drawing/2014/main" id="{51205598-2820-7A3E-E35B-238E38F7D1C0}"/>
              </a:ext>
            </a:extLst>
          </p:cNvPr>
          <p:cNvSpPr/>
          <p:nvPr/>
        </p:nvSpPr>
        <p:spPr>
          <a:xfrm>
            <a:off x="5506065" y="1500852"/>
            <a:ext cx="406526" cy="2308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64828" y="5443044"/>
            <a:ext cx="110623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Classically, the kinetic energy of the rotator can have any value.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not true in quantum mechanical framework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8138" y="1225185"/>
            <a:ext cx="111510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freely rotating rotator, potential energy is zero, hence total energy is equal to the kinetic energy. So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8138" y="3159916"/>
            <a:ext cx="112108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Replacing p (linear momenta for the particles of rigid rotator) with quantum mechanical operators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068296"/>
              </p:ext>
            </p:extLst>
          </p:nvPr>
        </p:nvGraphicFramePr>
        <p:xfrm>
          <a:off x="3683000" y="2100049"/>
          <a:ext cx="4826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720" imgH="507960" progId="Equation.DSMT4">
                  <p:embed/>
                </p:oleObj>
              </mc:Choice>
              <mc:Fallback>
                <p:oleObj name="Equation" r:id="rId2" imgW="2412720" imgH="507960" progId="Equation.DSMT4">
                  <p:embed/>
                  <p:pic>
                    <p:nvPicPr>
                      <p:cNvPr id="5" name="对象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83000" y="2100049"/>
                        <a:ext cx="48260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462482"/>
              </p:ext>
            </p:extLst>
          </p:nvPr>
        </p:nvGraphicFramePr>
        <p:xfrm>
          <a:off x="2930907" y="4034780"/>
          <a:ext cx="7112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5720" imgH="482400" progId="Equation.DSMT4">
                  <p:embed/>
                </p:oleObj>
              </mc:Choice>
              <mc:Fallback>
                <p:oleObj name="Equation" r:id="rId4" imgW="3555720" imgH="482400" progId="Equation.DSMT4">
                  <p:embed/>
                  <p:pic>
                    <p:nvPicPr>
                      <p:cNvPr id="4" name="对象 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30907" y="4034780"/>
                        <a:ext cx="71120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4FE215D-6B66-4EE2-820E-3D4683C3CA9C}"/>
              </a:ext>
            </a:extLst>
          </p:cNvPr>
          <p:cNvSpPr/>
          <p:nvPr/>
        </p:nvSpPr>
        <p:spPr>
          <a:xfrm>
            <a:off x="2930907" y="231784"/>
            <a:ext cx="68691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3.3.1 </a:t>
            </a:r>
            <a:r>
              <a:rPr lang="en-US" altLang="zh-CN" sz="2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rigid rotor in quantum mechanics</a:t>
            </a: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42E6BB9B-B18D-4EB1-A2DF-AA7C97A38D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8D011-4458-E667-D01B-1B4EED37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8159" y="907336"/>
            <a:ext cx="6195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rotation in forms of internal co-ordinates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124230"/>
              </p:ext>
            </p:extLst>
          </p:nvPr>
        </p:nvGraphicFramePr>
        <p:xfrm>
          <a:off x="6654086" y="452368"/>
          <a:ext cx="1473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36600" imgH="685800" progId="Equation.KSEE3">
                  <p:embed/>
                </p:oleObj>
              </mc:Choice>
              <mc:Fallback>
                <p:oleObj r:id="rId2" imgW="736600" imgH="685800" progId="Equation.KSEE3">
                  <p:embed/>
                  <p:pic>
                    <p:nvPicPr>
                      <p:cNvPr id="15" name="对象 1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54086" y="452368"/>
                        <a:ext cx="14732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355392"/>
              </p:ext>
            </p:extLst>
          </p:nvPr>
        </p:nvGraphicFramePr>
        <p:xfrm>
          <a:off x="1266825" y="2308225"/>
          <a:ext cx="8077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38480" imgH="482400" progId="Equation.DSMT4">
                  <p:embed/>
                </p:oleObj>
              </mc:Choice>
              <mc:Fallback>
                <p:oleObj name="Equation" r:id="rId4" imgW="4038480" imgH="482400" progId="Equation.DSMT4">
                  <p:embed/>
                  <p:pic>
                    <p:nvPicPr>
                      <p:cNvPr id="5" name="对象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66825" y="2308225"/>
                        <a:ext cx="80772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629204"/>
              </p:ext>
            </p:extLst>
          </p:nvPr>
        </p:nvGraphicFramePr>
        <p:xfrm>
          <a:off x="2814320" y="4241165"/>
          <a:ext cx="4089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482400" progId="Equation.DSMT4">
                  <p:embed/>
                </p:oleObj>
              </mc:Choice>
              <mc:Fallback>
                <p:oleObj name="Equation" r:id="rId6" imgW="2044440" imgH="482400" progId="Equation.DSMT4">
                  <p:embed/>
                  <p:pic>
                    <p:nvPicPr>
                      <p:cNvPr id="8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14320" y="4241165"/>
                        <a:ext cx="4089400" cy="9652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031412"/>
              </p:ext>
            </p:extLst>
          </p:nvPr>
        </p:nvGraphicFramePr>
        <p:xfrm>
          <a:off x="8399780" y="3860800"/>
          <a:ext cx="1955800" cy="1725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77900" imgH="862965" progId="Equation.KSEE3">
                  <p:embed/>
                </p:oleObj>
              </mc:Choice>
              <mc:Fallback>
                <p:oleObj r:id="rId8" imgW="977900" imgH="862965" progId="Equation.KSEE3">
                  <p:embed/>
                  <p:pic>
                    <p:nvPicPr>
                      <p:cNvPr id="10" name="对象 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99780" y="3860800"/>
                        <a:ext cx="1955800" cy="172593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2A83469-2657-45FC-F5D6-CC4E45BC4066}"/>
              </a:ext>
            </a:extLst>
          </p:cNvPr>
          <p:cNvSpPr/>
          <p:nvPr/>
        </p:nvSpPr>
        <p:spPr>
          <a:xfrm>
            <a:off x="606425" y="3526849"/>
            <a:ext cx="38122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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reduced mass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496802-51D7-E5AA-B606-91CAD3F7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93345" y="235716"/>
            <a:ext cx="44053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Spherical polar coordinates</a:t>
            </a:r>
            <a:endParaRPr lang="zh-CN" alt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7937693" y="1874487"/>
            <a:ext cx="4150368" cy="2740972"/>
            <a:chOff x="8083826" y="1162875"/>
            <a:chExt cx="4748209" cy="4181061"/>
          </a:xfrm>
        </p:grpSpPr>
        <p:grpSp>
          <p:nvGrpSpPr>
            <p:cNvPr id="4" name="组合 3"/>
            <p:cNvGrpSpPr/>
            <p:nvPr/>
          </p:nvGrpSpPr>
          <p:grpSpPr>
            <a:xfrm>
              <a:off x="8212410" y="1162875"/>
              <a:ext cx="4619625" cy="4181061"/>
              <a:chOff x="3786184" y="1709530"/>
              <a:chExt cx="4619625" cy="4181061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 rotWithShape="1">
              <a:blip r:embed="rId2"/>
              <a:srcRect t="3526"/>
              <a:stretch>
                <a:fillRect/>
              </a:stretch>
            </p:blipFill>
            <p:spPr>
              <a:xfrm>
                <a:off x="3786184" y="1709530"/>
                <a:ext cx="4619625" cy="4181061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 flipV="1">
                <a:off x="7818783" y="1709530"/>
                <a:ext cx="587026" cy="13252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8083826" y="1778992"/>
              <a:ext cx="583921" cy="18654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313317" y="1227056"/>
            <a:ext cx="11289896" cy="4353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proceeding, we recall the definition of spherical polar coordinates. They are defined by</a:t>
            </a:r>
          </a:p>
          <a:p>
            <a:pPr>
              <a:lnSpc>
                <a:spcPct val="120000"/>
              </a:lnSpc>
            </a:pP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conversely</a:t>
            </a: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volume element for integration over spherical polar coordinates is</a:t>
            </a: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225216"/>
              </p:ext>
            </p:extLst>
          </p:nvPr>
        </p:nvGraphicFramePr>
        <p:xfrm>
          <a:off x="3431927" y="1874487"/>
          <a:ext cx="1888623" cy="1123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603200" imgH="15240000" progId="Equation.DSMT4">
                  <p:embed/>
                </p:oleObj>
              </mc:Choice>
              <mc:Fallback>
                <p:oleObj name="Equation" r:id="rId3" imgW="25603200" imgH="15240000" progId="Equation.DSMT4">
                  <p:embed/>
                  <p:pic>
                    <p:nvPicPr>
                      <p:cNvPr id="9" name="对象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1927" y="1874487"/>
                        <a:ext cx="1888623" cy="1123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066880"/>
              </p:ext>
            </p:extLst>
          </p:nvPr>
        </p:nvGraphicFramePr>
        <p:xfrm>
          <a:off x="3469225" y="3501325"/>
          <a:ext cx="1851326" cy="1202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212800" imgH="17983200" progId="Equation.DSMT4">
                  <p:embed/>
                </p:oleObj>
              </mc:Choice>
              <mc:Fallback>
                <p:oleObj name="Equation" r:id="rId5" imgW="26212800" imgH="17983200" progId="Equation.DSMT4">
                  <p:embed/>
                  <p:pic>
                    <p:nvPicPr>
                      <p:cNvPr id="10" name="对象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69225" y="3501325"/>
                        <a:ext cx="1851326" cy="12024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>
            <p:extLst>
              <p:ext uri="{D42A27DB-BD31-4B8C-83A1-F6EECF244321}">
                <p14:modId xmlns:p14="http://schemas.microsoft.com/office/powerpoint/2010/main" val="1147759806"/>
              </p:ext>
            </p:extLst>
          </p:nvPr>
        </p:nvGraphicFramePr>
        <p:xfrm>
          <a:off x="3469225" y="5415560"/>
          <a:ext cx="24890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44520" imgH="228600" progId="Equation.DSMT4">
                  <p:embed/>
                </p:oleObj>
              </mc:Choice>
              <mc:Fallback>
                <p:oleObj name="Equation" r:id="rId7" imgW="1244520" imgH="228600" progId="Equation.DSMT4">
                  <p:embed/>
                  <p:pic>
                    <p:nvPicPr>
                      <p:cNvPr id="11" name="对象 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69225" y="5415560"/>
                        <a:ext cx="248904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2"/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9EAEFCC4-7E8A-467E-5171-CF7AA9E93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74" y="517828"/>
            <a:ext cx="5044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The transformed expression is given by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455043" y="2086273"/>
            <a:ext cx="16706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r is constant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3558048"/>
              </p:ext>
            </p:extLst>
          </p:nvPr>
        </p:nvGraphicFramePr>
        <p:xfrm>
          <a:off x="1731963" y="1069975"/>
          <a:ext cx="86852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43400" imgH="507960" progId="Equation.DSMT4">
                  <p:embed/>
                </p:oleObj>
              </mc:Choice>
              <mc:Fallback>
                <p:oleObj name="Equation" r:id="rId2" imgW="4343400" imgH="507960" progId="Equation.DSMT4">
                  <p:embed/>
                  <p:pic>
                    <p:nvPicPr>
                      <p:cNvPr id="9" name="对象 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31963" y="1069975"/>
                        <a:ext cx="8685212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376603"/>
              </p:ext>
            </p:extLst>
          </p:nvPr>
        </p:nvGraphicFramePr>
        <p:xfrm>
          <a:off x="1835150" y="2547938"/>
          <a:ext cx="7747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73240" imgH="507960" progId="Equation.DSMT4">
                  <p:embed/>
                </p:oleObj>
              </mc:Choice>
              <mc:Fallback>
                <p:oleObj name="Equation" r:id="rId4" imgW="3873240" imgH="507960" progId="Equation.DSMT4">
                  <p:embed/>
                  <p:pic>
                    <p:nvPicPr>
                      <p:cNvPr id="11" name="对象 1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5150" y="2547938"/>
                        <a:ext cx="77470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768969"/>
              </p:ext>
            </p:extLst>
          </p:nvPr>
        </p:nvGraphicFramePr>
        <p:xfrm>
          <a:off x="4865140" y="5936008"/>
          <a:ext cx="134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53800" progId="Equation.DSMT4">
                  <p:embed/>
                </p:oleObj>
              </mc:Choice>
              <mc:Fallback>
                <p:oleObj name="Equation" r:id="rId6" imgW="672840" imgH="253800" progId="Equation.DSMT4">
                  <p:embed/>
                  <p:pic>
                    <p:nvPicPr>
                      <p:cNvPr id="15" name="对象 1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65140" y="5936008"/>
                        <a:ext cx="1346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C8289DB-A8AC-48B5-A20F-E244458B1C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315344"/>
              </p:ext>
            </p:extLst>
          </p:nvPr>
        </p:nvGraphicFramePr>
        <p:xfrm>
          <a:off x="1708150" y="3622675"/>
          <a:ext cx="7797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98800" imgH="507960" progId="Equation.DSMT4">
                  <p:embed/>
                </p:oleObj>
              </mc:Choice>
              <mc:Fallback>
                <p:oleObj name="Equation" r:id="rId8" imgW="38988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08150" y="3622675"/>
                        <a:ext cx="77978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6FBB9E4-AE48-4EFE-BE48-F48F61C46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712595"/>
              </p:ext>
            </p:extLst>
          </p:nvPr>
        </p:nvGraphicFramePr>
        <p:xfrm>
          <a:off x="2912359" y="4772025"/>
          <a:ext cx="5434012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17640" imgH="507960" progId="Equation.DSMT4">
                  <p:embed/>
                </p:oleObj>
              </mc:Choice>
              <mc:Fallback>
                <p:oleObj name="Equation" r:id="rId10" imgW="27176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12359" y="4772025"/>
                        <a:ext cx="5434012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EA3765B-2504-4C12-B7D7-CFEF6D632A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222703"/>
              </p:ext>
            </p:extLst>
          </p:nvPr>
        </p:nvGraphicFramePr>
        <p:xfrm>
          <a:off x="10185400" y="3902075"/>
          <a:ext cx="99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5000" imgH="228600" progId="Equation.DSMT4">
                  <p:embed/>
                </p:oleObj>
              </mc:Choice>
              <mc:Fallback>
                <p:oleObj name="Equation" r:id="rId12" imgW="495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185400" y="3902075"/>
                        <a:ext cx="990600" cy="4572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263FC79-ED3F-06BB-F7B6-CEA72A7A3AF7}"/>
              </a:ext>
            </a:extLst>
          </p:cNvPr>
          <p:cNvSpPr txBox="1"/>
          <p:nvPr/>
        </p:nvSpPr>
        <p:spPr>
          <a:xfrm>
            <a:off x="600154" y="504919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定义：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BAA02B7-536F-A45C-CDA4-996D7454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2849" y="501134"/>
            <a:ext cx="47195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Solution of above equation provides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502849" y="1712633"/>
            <a:ext cx="110167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Where </a:t>
            </a:r>
            <a:r>
              <a:rPr lang="en-US" altLang="zh-CN" sz="2400" i="1" dirty="0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 is the rotation quantum number. </a:t>
            </a:r>
            <a:endParaRPr lang="zh-CN" altLang="en-US" sz="2400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801811"/>
              </p:ext>
            </p:extLst>
          </p:nvPr>
        </p:nvGraphicFramePr>
        <p:xfrm>
          <a:off x="3865707" y="1031388"/>
          <a:ext cx="353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253800" progId="Equation.DSMT4">
                  <p:embed/>
                </p:oleObj>
              </mc:Choice>
              <mc:Fallback>
                <p:oleObj name="Equation" r:id="rId2" imgW="1765080" imgH="25380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65707" y="1031388"/>
                        <a:ext cx="3530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D401E2E-BE0B-42FD-9845-B4CCC93DAD85}"/>
              </a:ext>
            </a:extLst>
          </p:cNvPr>
          <p:cNvSpPr/>
          <p:nvPr/>
        </p:nvSpPr>
        <p:spPr>
          <a:xfrm>
            <a:off x="502849" y="2462467"/>
            <a:ext cx="55924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Therefore, energy for the rotator is given by</a:t>
            </a:r>
            <a:endParaRPr lang="zh-CN" altLang="en-US" sz="2400" dirty="0"/>
          </a:p>
        </p:txBody>
      </p:sp>
      <p:graphicFrame>
        <p:nvGraphicFramePr>
          <p:cNvPr id="5" name="对象 4">
            <a:hlinkClick r:id="" action="ppaction://ole?verb=0"/>
            <a:extLst>
              <a:ext uri="{FF2B5EF4-FFF2-40B4-BE49-F238E27FC236}">
                <a16:creationId xmlns:a16="http://schemas.microsoft.com/office/drawing/2014/main" id="{29B17984-4BEB-44DB-BE85-B8696ED938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9015791"/>
              </p:ext>
            </p:extLst>
          </p:nvPr>
        </p:nvGraphicFramePr>
        <p:xfrm>
          <a:off x="1100138" y="3441700"/>
          <a:ext cx="8356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78160" imgH="507960" progId="Equation.DSMT4">
                  <p:embed/>
                </p:oleObj>
              </mc:Choice>
              <mc:Fallback>
                <p:oleObj name="Equation" r:id="rId4" imgW="4178160" imgH="507960" progId="Equation.DSMT4">
                  <p:embed/>
                  <p:pic>
                    <p:nvPicPr>
                      <p:cNvPr id="5" name="对象 4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29B17984-4BEB-44DB-BE85-B8696ED938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0138" y="3441700"/>
                        <a:ext cx="83566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  <a:extLst>
              <a:ext uri="{FF2B5EF4-FFF2-40B4-BE49-F238E27FC236}">
                <a16:creationId xmlns:a16="http://schemas.microsoft.com/office/drawing/2014/main" id="{E542770B-EA9A-496A-87D2-112D90520F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779800"/>
              </p:ext>
            </p:extLst>
          </p:nvPr>
        </p:nvGraphicFramePr>
        <p:xfrm>
          <a:off x="2830513" y="4987925"/>
          <a:ext cx="5918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58840" imgH="444240" progId="Equation.DSMT4">
                  <p:embed/>
                </p:oleObj>
              </mc:Choice>
              <mc:Fallback>
                <p:oleObj name="Equation" r:id="rId6" imgW="2958840" imgH="444240" progId="Equation.DSMT4">
                  <p:embed/>
                  <p:pic>
                    <p:nvPicPr>
                      <p:cNvPr id="6" name="对象 5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E542770B-EA9A-496A-87D2-112D90520F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30513" y="4987925"/>
                        <a:ext cx="59182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D7D393-AF6F-04F1-68FD-3A0224637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9817" y="431145"/>
            <a:ext cx="50766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Substituting Y as function expressed as: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539817" y="3702949"/>
            <a:ext cx="96216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Both L.H.S. and R.H.S. of this equation may be taken as equal to </a:t>
            </a:r>
            <a:r>
              <a:rPr lang="en-US" altLang="zh-CN" sz="2400" i="1" dirty="0">
                <a:latin typeface="Times New Roman" panose="02020603050405020304" pitchFamily="18" charset="0"/>
              </a:rPr>
              <a:t>m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2</a:t>
            </a:r>
            <a:endParaRPr lang="zh-CN" altLang="en-US" sz="2400" baseline="300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076095"/>
              </p:ext>
            </p:extLst>
          </p:nvPr>
        </p:nvGraphicFramePr>
        <p:xfrm>
          <a:off x="5144135" y="950283"/>
          <a:ext cx="1981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360" imgH="253800" progId="Equation.DSMT4">
                  <p:embed/>
                </p:oleObj>
              </mc:Choice>
              <mc:Fallback>
                <p:oleObj name="Equation" r:id="rId2" imgW="990360" imgH="253800" progId="Equation.DSMT4">
                  <p:embed/>
                  <p:pic>
                    <p:nvPicPr>
                      <p:cNvPr id="8" name="对象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44135" y="950283"/>
                        <a:ext cx="1981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363847"/>
              </p:ext>
            </p:extLst>
          </p:nvPr>
        </p:nvGraphicFramePr>
        <p:xfrm>
          <a:off x="698500" y="1550988"/>
          <a:ext cx="6426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13000" imgH="444240" progId="Equation.DSMT4">
                  <p:embed/>
                </p:oleObj>
              </mc:Choice>
              <mc:Fallback>
                <p:oleObj name="Equation" r:id="rId4" imgW="3213000" imgH="444240" progId="Equation.DSMT4">
                  <p:embed/>
                  <p:pic>
                    <p:nvPicPr>
                      <p:cNvPr id="10" name="对象 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8500" y="1550988"/>
                        <a:ext cx="64262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682147"/>
              </p:ext>
            </p:extLst>
          </p:nvPr>
        </p:nvGraphicFramePr>
        <p:xfrm>
          <a:off x="698500" y="2544763"/>
          <a:ext cx="5969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84400" imgH="444240" progId="Equation.DSMT4">
                  <p:embed/>
                </p:oleObj>
              </mc:Choice>
              <mc:Fallback>
                <p:oleObj name="Equation" r:id="rId6" imgW="2984400" imgH="444240" progId="Equation.DSMT4">
                  <p:embed/>
                  <p:pic>
                    <p:nvPicPr>
                      <p:cNvPr id="11" name="对象 10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8500" y="2544763"/>
                        <a:ext cx="5969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255935"/>
              </p:ext>
            </p:extLst>
          </p:nvPr>
        </p:nvGraphicFramePr>
        <p:xfrm>
          <a:off x="660400" y="4360863"/>
          <a:ext cx="543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17640" imgH="444240" progId="Equation.DSMT4">
                  <p:embed/>
                </p:oleObj>
              </mc:Choice>
              <mc:Fallback>
                <p:oleObj name="Equation" r:id="rId8" imgW="2717640" imgH="444240" progId="Equation.DSMT4">
                  <p:embed/>
                  <p:pic>
                    <p:nvPicPr>
                      <p:cNvPr id="13" name="对象 1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0400" y="4360863"/>
                        <a:ext cx="54356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FCE4BBA-4D13-47AA-B4ED-6FA5CA2710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248329"/>
              </p:ext>
            </p:extLst>
          </p:nvPr>
        </p:nvGraphicFramePr>
        <p:xfrm>
          <a:off x="762000" y="5445125"/>
          <a:ext cx="1625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2520" imgH="444240" progId="Equation.DSMT4">
                  <p:embed/>
                </p:oleObj>
              </mc:Choice>
              <mc:Fallback>
                <p:oleObj name="Equation" r:id="rId10" imgW="812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62000" y="5445125"/>
                        <a:ext cx="16256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B6403DA-6DC4-4730-B41A-F0DF7A5794AD}"/>
              </a:ext>
            </a:extLst>
          </p:cNvPr>
          <p:cNvSpPr txBox="1"/>
          <p:nvPr/>
        </p:nvSpPr>
        <p:spPr>
          <a:xfrm>
            <a:off x="504748" y="570495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</a:t>
            </a:r>
            <a:endParaRPr lang="zh-CN" altLang="en-US" b="1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89E0AA-8483-4756-8560-BF753EB66873}"/>
              </a:ext>
            </a:extLst>
          </p:cNvPr>
          <p:cNvSpPr txBox="1"/>
          <p:nvPr/>
        </p:nvSpPr>
        <p:spPr>
          <a:xfrm>
            <a:off x="5579344" y="257913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</a:t>
            </a:r>
            <a:endParaRPr lang="zh-CN" altLang="en-US" sz="2000" b="1" dirty="0">
              <a:solidFill>
                <a:srgbClr val="3333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DF755D-5C6B-C021-856F-9B8EA7B7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EEB2A4A-9876-4347-B0F3-EFC2BD9AC0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370646"/>
              </p:ext>
            </p:extLst>
          </p:nvPr>
        </p:nvGraphicFramePr>
        <p:xfrm>
          <a:off x="5688121" y="512403"/>
          <a:ext cx="1828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936" imgH="888512" progId="Equation.DSMT4">
                  <p:embed/>
                </p:oleObj>
              </mc:Choice>
              <mc:Fallback>
                <p:oleObj name="Equation" r:id="rId2" imgW="1828936" imgH="88851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88121" y="512403"/>
                        <a:ext cx="18288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B3DC02D0-F7AB-48B7-B532-81CB689977E5}"/>
              </a:ext>
            </a:extLst>
          </p:cNvPr>
          <p:cNvSpPr/>
          <p:nvPr/>
        </p:nvSpPr>
        <p:spPr>
          <a:xfrm>
            <a:off x="602927" y="661382"/>
            <a:ext cx="3098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of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equation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1FEA35-E544-4A7F-9D6A-13B764BC2E25}"/>
              </a:ext>
            </a:extLst>
          </p:cNvPr>
          <p:cNvSpPr/>
          <p:nvPr/>
        </p:nvSpPr>
        <p:spPr>
          <a:xfrm>
            <a:off x="602927" y="1591783"/>
            <a:ext cx="53735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The acceptable solution of this equation is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9B5FA1F-3F72-491B-9EC8-7750F6E52C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300679"/>
              </p:ext>
            </p:extLst>
          </p:nvPr>
        </p:nvGraphicFramePr>
        <p:xfrm>
          <a:off x="6017260" y="1401403"/>
          <a:ext cx="2667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444240" progId="Equation.DSMT4">
                  <p:embed/>
                </p:oleObj>
              </mc:Choice>
              <mc:Fallback>
                <p:oleObj name="Equation" r:id="rId4" imgW="13334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17260" y="1401403"/>
                        <a:ext cx="26670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C95670C8-E002-448C-ADC3-A9BCA85033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7390" y="2362417"/>
            <a:ext cx="7591742" cy="3983180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1D71A3-734D-D33E-DB2C-B95014E1A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8173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C95F89E-E096-43F5-A3C2-232899CA59CA}"/>
              </a:ext>
            </a:extLst>
          </p:cNvPr>
          <p:cNvSpPr/>
          <p:nvPr/>
        </p:nvSpPr>
        <p:spPr>
          <a:xfrm>
            <a:off x="541192" y="511703"/>
            <a:ext cx="3098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of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equation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C86D856-906B-4FCA-ACE3-0B7F99CEB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343406"/>
              </p:ext>
            </p:extLst>
          </p:nvPr>
        </p:nvGraphicFramePr>
        <p:xfrm>
          <a:off x="3378360" y="1385320"/>
          <a:ext cx="5435280" cy="888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444240" progId="Equation.DSMT4">
                  <p:embed/>
                </p:oleObj>
              </mc:Choice>
              <mc:Fallback>
                <p:oleObj name="Equation" r:id="rId2" imgW="2717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78360" y="1385320"/>
                        <a:ext cx="5435280" cy="888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0698B967-A286-4898-86CC-23E76E2EB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186" y="2413000"/>
            <a:ext cx="9658350" cy="394335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C3909F-0E67-CA1B-FC73-D8E915987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6661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09AB140B-7823-4AC6-A258-433D4F117E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4F869D-1593-478B-8DDA-5B9EE2F9EC08}"/>
              </a:ext>
            </a:extLst>
          </p:cNvPr>
          <p:cNvSpPr/>
          <p:nvPr/>
        </p:nvSpPr>
        <p:spPr>
          <a:xfrm>
            <a:off x="4520979" y="220954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0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刚性转子模型应用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DCB3F80-1CCD-43A2-A587-9F533E1444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154070"/>
              </p:ext>
            </p:extLst>
          </p:nvPr>
        </p:nvGraphicFramePr>
        <p:xfrm>
          <a:off x="4821003" y="2249814"/>
          <a:ext cx="19812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228" imgH="509058" progId="Equation.DSMT4">
                  <p:embed/>
                </p:oleObj>
              </mc:Choice>
              <mc:Fallback>
                <p:oleObj name="Equation" r:id="rId2" imgW="1981228" imgH="5090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21003" y="2249814"/>
                        <a:ext cx="1981200" cy="509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31A2779-A050-4AA2-9693-4799C590F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486646"/>
              </p:ext>
            </p:extLst>
          </p:nvPr>
        </p:nvGraphicFramePr>
        <p:xfrm>
          <a:off x="3356042" y="2042742"/>
          <a:ext cx="9826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83233" imgH="856471" progId="Equation.DSMT4">
                  <p:embed/>
                </p:oleObj>
              </mc:Choice>
              <mc:Fallback>
                <p:oleObj name="Equation" r:id="rId4" imgW="983233" imgH="85647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6042" y="2042742"/>
                        <a:ext cx="982663" cy="857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61447FF-F86C-05B5-5F42-A1165A037753}"/>
              </a:ext>
            </a:extLst>
          </p:cNvPr>
          <p:cNvSpPr txBox="1"/>
          <p:nvPr/>
        </p:nvSpPr>
        <p:spPr>
          <a:xfrm>
            <a:off x="519568" y="5563515"/>
            <a:ext cx="105138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刚性转子模型应用：双原子分子、类氢原子 （板书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C7AF26-E059-5B4E-2935-D2A12DF3DDCA}"/>
              </a:ext>
            </a:extLst>
          </p:cNvPr>
          <p:cNvSpPr txBox="1"/>
          <p:nvPr/>
        </p:nvSpPr>
        <p:spPr>
          <a:xfrm>
            <a:off x="390998" y="1150877"/>
            <a:ext cx="108412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能量量子化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：转动能量不能取任意值，只能是特定的离散值，</a:t>
            </a:r>
            <a:r>
              <a:rPr lang="zh-CN" altLang="en-US" sz="2400" b="1" dirty="0"/>
              <a:t>转动量子数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0,1,2,...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0093DE-3F05-4125-569A-681A067B045F}"/>
              </a:ext>
            </a:extLst>
          </p:cNvPr>
          <p:cNvSpPr txBox="1"/>
          <p:nvPr/>
        </p:nvSpPr>
        <p:spPr>
          <a:xfrm>
            <a:off x="453528" y="3165789"/>
            <a:ext cx="106459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角动量量子化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：角动量大小是量子化的，角动量在空间特定方向（如外加磁场方向，称为</a:t>
            </a:r>
            <a:r>
              <a:rPr lang="en-US" altLang="zh-CN" sz="2400" b="0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lang="zh-CN" altLang="en-US" sz="2400" b="0" i="0" dirty="0">
                <a:solidFill>
                  <a:srgbClr val="40404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轴）的分量也是量子化的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A337CBF-5A60-FD74-5E21-8428E1637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316" y="4104641"/>
            <a:ext cx="2301439" cy="47248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439FDD6-D6E3-4EFB-F681-3CC7629C9F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8880" y="4685789"/>
            <a:ext cx="1470787" cy="502964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5D5A77-FCFB-C81F-684B-5826A033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2648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24434" y="273610"/>
            <a:ext cx="41306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3.3.2 Angular Momentum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9887" y="3352327"/>
            <a:ext cx="11454063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three dimensions, the angular momentum about a point is the magnitude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momentum multiplied by the perpendicular distance of the momentum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from the point (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diagram).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angular momentum describes rotation about an axis perpendicular to the</a:t>
            </a: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 containing </a:t>
            </a:r>
            <a:r>
              <a:rPr lang="en-US" altLang="zh-CN" sz="2400" b="1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400" b="1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in vector notation it is </a:t>
            </a:r>
            <a:r>
              <a:rPr lang="en-US" altLang="zh-CN" sz="2400" b="1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= r </a:t>
            </a:r>
            <a:r>
              <a:rPr lang="en-US" altLang="zh-CN" sz="2400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US" altLang="zh-CN" sz="2400" b="1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C840AF-8A93-492C-A06E-ACE38A30B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547" y="1497853"/>
            <a:ext cx="3946653" cy="1580282"/>
          </a:xfrm>
          <a:prstGeom prst="rect">
            <a:avLst/>
          </a:prstGeom>
        </p:spPr>
      </p:pic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0" y="907797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3E4CC-EA6C-4F35-ADCB-AB39E3663D10}"/>
              </a:ext>
            </a:extLst>
          </p:cNvPr>
          <p:cNvSpPr txBox="1"/>
          <p:nvPr/>
        </p:nvSpPr>
        <p:spPr>
          <a:xfrm>
            <a:off x="489887" y="1643920"/>
            <a:ext cx="62174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量子力学框架下，描述角动量的算符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611898-A7C0-CF8E-F8CC-E6EA60AF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6463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745070" y="287511"/>
            <a:ext cx="5656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3.3.3 Angular momentum operators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A3BEA40-4004-4A6B-810F-78776218F2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581130"/>
              </p:ext>
            </p:extLst>
          </p:nvPr>
        </p:nvGraphicFramePr>
        <p:xfrm>
          <a:off x="9063165" y="4791346"/>
          <a:ext cx="1802880" cy="147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736560" progId="Equation.DSMT4">
                  <p:embed/>
                </p:oleObj>
              </mc:Choice>
              <mc:Fallback>
                <p:oleObj name="Equation" r:id="rId2" imgW="90144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DA3BEA40-4004-4A6B-810F-78776218F2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63165" y="4791346"/>
                        <a:ext cx="1802880" cy="147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2"/>
          <p:cNvSpPr>
            <a:spLocks noChangeShapeType="1"/>
          </p:cNvSpPr>
          <p:nvPr/>
        </p:nvSpPr>
        <p:spPr bwMode="auto">
          <a:xfrm flipV="1">
            <a:off x="63793" y="946298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F07931-663A-44AB-9C7C-69DCAEA6A5FA}"/>
              </a:ext>
            </a:extLst>
          </p:cNvPr>
          <p:cNvSpPr txBox="1"/>
          <p:nvPr/>
        </p:nvSpPr>
        <p:spPr>
          <a:xfrm>
            <a:off x="63793" y="1185517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5E11C05-5A02-471E-8C86-3EB8A529C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33" y="1488557"/>
            <a:ext cx="47244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endParaRPr lang="zh-CN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96542311-251F-49A9-9A48-BF6C1B03B1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73755"/>
              </p:ext>
            </p:extLst>
          </p:nvPr>
        </p:nvGraphicFramePr>
        <p:xfrm>
          <a:off x="4000500" y="3855979"/>
          <a:ext cx="419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71684" name="Object 4">
                        <a:extLst>
                          <a:ext uri="{FF2B5EF4-FFF2-40B4-BE49-F238E27FC236}">
                            <a16:creationId xmlns:a16="http://schemas.microsoft.com/office/drawing/2014/main" id="{18327E0D-AF1B-443A-B9B1-882F8AD2D0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3855979"/>
                        <a:ext cx="4191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>
            <a:extLst>
              <a:ext uri="{FF2B5EF4-FFF2-40B4-BE49-F238E27FC236}">
                <a16:creationId xmlns:a16="http://schemas.microsoft.com/office/drawing/2014/main" id="{7E96F198-B308-4FA8-8C56-D4817DD482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764767"/>
              </p:ext>
            </p:extLst>
          </p:nvPr>
        </p:nvGraphicFramePr>
        <p:xfrm>
          <a:off x="3938633" y="1105691"/>
          <a:ext cx="1905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200" imgH="241200" progId="Equation.DSMT4">
                  <p:embed/>
                </p:oleObj>
              </mc:Choice>
              <mc:Fallback>
                <p:oleObj name="Equation" r:id="rId6" imgW="952200" imgH="241200" progId="Equation.DSMT4">
                  <p:embed/>
                  <p:pic>
                    <p:nvPicPr>
                      <p:cNvPr id="71690" name="Object 10">
                        <a:extLst>
                          <a:ext uri="{FF2B5EF4-FFF2-40B4-BE49-F238E27FC236}">
                            <a16:creationId xmlns:a16="http://schemas.microsoft.com/office/drawing/2014/main" id="{3A1B1186-DFF1-4C4C-B4C1-B0D133A078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633" y="1105691"/>
                        <a:ext cx="1905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>
            <a:extLst>
              <a:ext uri="{FF2B5EF4-FFF2-40B4-BE49-F238E27FC236}">
                <a16:creationId xmlns:a16="http://schemas.microsoft.com/office/drawing/2014/main" id="{FAB4E60A-6BC6-4779-B01F-8EE86C1DD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404378"/>
              </p:ext>
            </p:extLst>
          </p:nvPr>
        </p:nvGraphicFramePr>
        <p:xfrm>
          <a:off x="3958942" y="1666688"/>
          <a:ext cx="332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560" imgH="419040" progId="Equation.DSMT4">
                  <p:embed/>
                </p:oleObj>
              </mc:Choice>
              <mc:Fallback>
                <p:oleObj name="Equation" r:id="rId8" imgW="1663560" imgH="419040" progId="Equation.DSMT4">
                  <p:embed/>
                  <p:pic>
                    <p:nvPicPr>
                      <p:cNvPr id="71691" name="Object 11">
                        <a:extLst>
                          <a:ext uri="{FF2B5EF4-FFF2-40B4-BE49-F238E27FC236}">
                            <a16:creationId xmlns:a16="http://schemas.microsoft.com/office/drawing/2014/main" id="{FE752970-A259-4222-B18D-E1888E3B50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8942" y="1666688"/>
                        <a:ext cx="3327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2">
            <a:extLst>
              <a:ext uri="{FF2B5EF4-FFF2-40B4-BE49-F238E27FC236}">
                <a16:creationId xmlns:a16="http://schemas.microsoft.com/office/drawing/2014/main" id="{4D900399-1EA4-47E8-BAED-FE023EBE1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533" y="3200400"/>
            <a:ext cx="2514600" cy="457200"/>
          </a:xfrm>
          <a:prstGeom prst="rect">
            <a:avLst/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momentum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3">
            <a:extLst>
              <a:ext uri="{FF2B5EF4-FFF2-40B4-BE49-F238E27FC236}">
                <a16:creationId xmlns:a16="http://schemas.microsoft.com/office/drawing/2014/main" id="{2F2AFE5E-8EF3-475A-B555-65E9B36F2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924506"/>
              </p:ext>
            </p:extLst>
          </p:nvPr>
        </p:nvGraphicFramePr>
        <p:xfrm>
          <a:off x="3958942" y="3272579"/>
          <a:ext cx="990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5000" imgH="241200" progId="Equation.DSMT4">
                  <p:embed/>
                </p:oleObj>
              </mc:Choice>
              <mc:Fallback>
                <p:oleObj name="Equation" r:id="rId10" imgW="495000" imgH="241200" progId="Equation.DSMT4">
                  <p:embed/>
                  <p:pic>
                    <p:nvPicPr>
                      <p:cNvPr id="71693" name="Object 13">
                        <a:extLst>
                          <a:ext uri="{FF2B5EF4-FFF2-40B4-BE49-F238E27FC236}">
                            <a16:creationId xmlns:a16="http://schemas.microsoft.com/office/drawing/2014/main" id="{585C3006-9779-48F6-A743-E500DDEA48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8942" y="3272579"/>
                        <a:ext cx="990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9">
            <a:extLst>
              <a:ext uri="{FF2B5EF4-FFF2-40B4-BE49-F238E27FC236}">
                <a16:creationId xmlns:a16="http://schemas.microsoft.com/office/drawing/2014/main" id="{A02E97B5-CEF0-44B7-8E15-C9648DB49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920424"/>
              </p:ext>
            </p:extLst>
          </p:nvPr>
        </p:nvGraphicFramePr>
        <p:xfrm>
          <a:off x="3958942" y="2384379"/>
          <a:ext cx="3632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15840" imgH="393480" progId="Equation.DSMT4">
                  <p:embed/>
                </p:oleObj>
              </mc:Choice>
              <mc:Fallback>
                <p:oleObj name="Equation" r:id="rId12" imgW="1815840" imgH="393480" progId="Equation.DSMT4">
                  <p:embed/>
                  <p:pic>
                    <p:nvPicPr>
                      <p:cNvPr id="71699" name="Object 19">
                        <a:extLst>
                          <a:ext uri="{FF2B5EF4-FFF2-40B4-BE49-F238E27FC236}">
                            <a16:creationId xmlns:a16="http://schemas.microsoft.com/office/drawing/2014/main" id="{2110B8DC-0FBF-4709-A6E4-9ED3690328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8942" y="2384379"/>
                        <a:ext cx="3632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21">
            <a:extLst>
              <a:ext uri="{FF2B5EF4-FFF2-40B4-BE49-F238E27FC236}">
                <a16:creationId xmlns:a16="http://schemas.microsoft.com/office/drawing/2014/main" id="{056CD690-C941-4A35-9CBB-F32F10598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33" y="1183757"/>
            <a:ext cx="2743200" cy="457200"/>
          </a:xfrm>
          <a:prstGeom prst="rect">
            <a:avLst/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Classical Mechanics</a:t>
            </a:r>
          </a:p>
        </p:txBody>
      </p:sp>
      <p:graphicFrame>
        <p:nvGraphicFramePr>
          <p:cNvPr id="20" name="Object 15">
            <a:extLst>
              <a:ext uri="{FF2B5EF4-FFF2-40B4-BE49-F238E27FC236}">
                <a16:creationId xmlns:a16="http://schemas.microsoft.com/office/drawing/2014/main" id="{E7489D15-3DF7-42B8-A06D-19926C94A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0591435"/>
              </p:ext>
            </p:extLst>
          </p:nvPr>
        </p:nvGraphicFramePr>
        <p:xfrm>
          <a:off x="5700669" y="4790005"/>
          <a:ext cx="22098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04840" imgH="736560" progId="Equation.DSMT4">
                  <p:embed/>
                </p:oleObj>
              </mc:Choice>
              <mc:Fallback>
                <p:oleObj name="Equation" r:id="rId14" imgW="1104840" imgH="736560" progId="Equation.DSMT4">
                  <p:embed/>
                  <p:pic>
                    <p:nvPicPr>
                      <p:cNvPr id="71695" name="Object 15">
                        <a:extLst>
                          <a:ext uri="{FF2B5EF4-FFF2-40B4-BE49-F238E27FC236}">
                            <a16:creationId xmlns:a16="http://schemas.microsoft.com/office/drawing/2014/main" id="{FC6638D5-4577-43EC-90B0-7542C9990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0669" y="4790005"/>
                        <a:ext cx="22098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6">
            <a:extLst>
              <a:ext uri="{FF2B5EF4-FFF2-40B4-BE49-F238E27FC236}">
                <a16:creationId xmlns:a16="http://schemas.microsoft.com/office/drawing/2014/main" id="{84A7D987-338D-4BE5-81B0-B634B7F7F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7471359"/>
              </p:ext>
            </p:extLst>
          </p:nvPr>
        </p:nvGraphicFramePr>
        <p:xfrm>
          <a:off x="4016252" y="5236649"/>
          <a:ext cx="1168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3920" imgH="241200" progId="Equation.DSMT4">
                  <p:embed/>
                </p:oleObj>
              </mc:Choice>
              <mc:Fallback>
                <p:oleObj name="Equation" r:id="rId16" imgW="583920" imgH="241200" progId="Equation.DSMT4">
                  <p:embed/>
                  <p:pic>
                    <p:nvPicPr>
                      <p:cNvPr id="71696" name="Object 16">
                        <a:extLst>
                          <a:ext uri="{FF2B5EF4-FFF2-40B4-BE49-F238E27FC236}">
                            <a16:creationId xmlns:a16="http://schemas.microsoft.com/office/drawing/2014/main" id="{CECE0599-8631-4B3F-B835-876BA6AACC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252" y="5236649"/>
                        <a:ext cx="1168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2">
            <a:extLst>
              <a:ext uri="{FF2B5EF4-FFF2-40B4-BE49-F238E27FC236}">
                <a16:creationId xmlns:a16="http://schemas.microsoft.com/office/drawing/2014/main" id="{3F1C72DA-0D4C-4C80-8E49-2C8402F25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533" y="4561405"/>
            <a:ext cx="2667000" cy="457200"/>
          </a:xfrm>
          <a:prstGeom prst="rect">
            <a:avLst/>
          </a:prstGeom>
          <a:noFill/>
          <a:ln w="9525">
            <a:solidFill>
              <a:srgbClr val="9933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>
                <a:latin typeface="Times New Roman" panose="02020603050405020304" pitchFamily="18" charset="0"/>
                <a:cs typeface="Arial" panose="020B0604020202020204" pitchFamily="34" charset="0"/>
              </a:rPr>
              <a:t>Angular momentum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E52582C-B6C8-A5D0-1CFE-6CDBA21EA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44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 autoUpdateAnimBg="0"/>
      <p:bldP spid="19" grpId="0" animBg="1" autoUpdateAnimBg="0"/>
      <p:bldP spid="22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0D7B6A3-2F28-404A-B3FF-1A5CC6E10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797852"/>
              </p:ext>
            </p:extLst>
          </p:nvPr>
        </p:nvGraphicFramePr>
        <p:xfrm>
          <a:off x="4508152" y="3153946"/>
          <a:ext cx="2793600" cy="279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1396800" progId="Equation.DSMT4">
                  <p:embed/>
                </p:oleObj>
              </mc:Choice>
              <mc:Fallback>
                <p:oleObj name="Equation" r:id="rId2" imgW="1396800" imgH="13968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0F3128E3-432A-4644-BFED-0E9709D486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08152" y="3153946"/>
                        <a:ext cx="2793600" cy="279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3970BD1-4584-4EE9-8378-5928435656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671960"/>
              </p:ext>
            </p:extLst>
          </p:nvPr>
        </p:nvGraphicFramePr>
        <p:xfrm>
          <a:off x="8563042" y="3511432"/>
          <a:ext cx="2539440" cy="193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965160" progId="Equation.DSMT4">
                  <p:embed/>
                </p:oleObj>
              </mc:Choice>
              <mc:Fallback>
                <p:oleObj name="Equation" r:id="rId4" imgW="1269720" imgH="9651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75F7CE1-5C0A-41CB-A265-C1E760C2D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63042" y="3511432"/>
                        <a:ext cx="2539440" cy="1930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46F914A-E0DE-412F-88CA-F957365F4320}"/>
              </a:ext>
            </a:extLst>
          </p:cNvPr>
          <p:cNvSpPr txBox="1"/>
          <p:nvPr/>
        </p:nvSpPr>
        <p:spPr>
          <a:xfrm>
            <a:off x="286879" y="2461567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QM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AF97209-799E-4D22-B0C8-E3075F3E3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5" y="723762"/>
            <a:ext cx="67818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One-particle Orbital-Angular-Momentum Operators</a:t>
            </a:r>
            <a:endParaRPr lang="en-US" altLang="zh-CN" sz="2400" i="1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19">
            <a:extLst>
              <a:ext uri="{FF2B5EF4-FFF2-40B4-BE49-F238E27FC236}">
                <a16:creationId xmlns:a16="http://schemas.microsoft.com/office/drawing/2014/main" id="{5FDBE75B-FE53-44F8-9066-DADCC4705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928" y="1383399"/>
            <a:ext cx="3714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Orbital angular momentum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23">
            <a:extLst>
              <a:ext uri="{FF2B5EF4-FFF2-40B4-BE49-F238E27FC236}">
                <a16:creationId xmlns:a16="http://schemas.microsoft.com/office/drawing/2014/main" id="{BC018059-FC7C-4E4F-956D-4F3D08DD3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928" y="1961574"/>
            <a:ext cx="34083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Spin angular momentum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7111881-9674-42BA-B8D7-7EBC9CE7F0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982410"/>
              </p:ext>
            </p:extLst>
          </p:nvPr>
        </p:nvGraphicFramePr>
        <p:xfrm>
          <a:off x="936065" y="3695888"/>
          <a:ext cx="18034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03015" imgH="1473893" progId="Equation.DSMT4">
                  <p:embed/>
                </p:oleObj>
              </mc:Choice>
              <mc:Fallback>
                <p:oleObj name="Equation" r:id="rId6" imgW="1803015" imgH="147389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36065" y="3695888"/>
                        <a:ext cx="1803400" cy="147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E0307E5-AB8A-4193-A98E-2BBB9309D94B}"/>
              </a:ext>
            </a:extLst>
          </p:cNvPr>
          <p:cNvCxnSpPr/>
          <p:nvPr/>
        </p:nvCxnSpPr>
        <p:spPr>
          <a:xfrm>
            <a:off x="3137647" y="4476592"/>
            <a:ext cx="6918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A8FFF62-2F4E-4372-9D05-5E55D39E4386}"/>
              </a:ext>
            </a:extLst>
          </p:cNvPr>
          <p:cNvCxnSpPr/>
          <p:nvPr/>
        </p:nvCxnSpPr>
        <p:spPr>
          <a:xfrm>
            <a:off x="7539317" y="4550746"/>
            <a:ext cx="69182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AD41CC-475C-2A21-64FC-0A16C57D9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30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27256" y="228585"/>
            <a:ext cx="72495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 operators don’t commute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37795" y="1447092"/>
                <a:ext cx="11569567" cy="482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Writing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brevity,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95" y="1447092"/>
                <a:ext cx="11569567" cy="482568"/>
              </a:xfrm>
              <a:prstGeom prst="rect">
                <a:avLst/>
              </a:prstGeom>
              <a:blipFill>
                <a:blip r:embed="rId2"/>
                <a:stretch>
                  <a:fillRect l="-790" t="-50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75F7CE1-5C0A-41CB-A265-C1E760C2D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287692"/>
              </p:ext>
            </p:extLst>
          </p:nvPr>
        </p:nvGraphicFramePr>
        <p:xfrm>
          <a:off x="2225713" y="2572552"/>
          <a:ext cx="7061040" cy="193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30520" imgH="965160" progId="Equation.DSMT4">
                  <p:embed/>
                </p:oleObj>
              </mc:Choice>
              <mc:Fallback>
                <p:oleObj name="Equation" r:id="rId3" imgW="3530520" imgH="9651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75F7CE1-5C0A-41CB-A265-C1E760C2D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25713" y="2572552"/>
                        <a:ext cx="7061040" cy="1930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2"/>
          <p:cNvSpPr>
            <a:spLocks noChangeShapeType="1"/>
          </p:cNvSpPr>
          <p:nvPr/>
        </p:nvSpPr>
        <p:spPr bwMode="auto">
          <a:xfrm flipV="1">
            <a:off x="63793" y="946298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912E23-C205-38BF-6244-BC91E918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0069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1A4AB6-0D23-3599-582B-53F5061F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51</a:t>
            </a:fld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4B430CC-1B12-78D8-6739-D94164BA5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866872"/>
              </p:ext>
            </p:extLst>
          </p:nvPr>
        </p:nvGraphicFramePr>
        <p:xfrm>
          <a:off x="2454870" y="1315689"/>
          <a:ext cx="7035120" cy="193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17560" imgH="965160" progId="Equation.DSMT4">
                  <p:embed/>
                </p:oleObj>
              </mc:Choice>
              <mc:Fallback>
                <p:oleObj name="Equation" r:id="rId2" imgW="3517560" imgH="9651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4B430CC-1B12-78D8-6739-D94164BA5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54870" y="1315689"/>
                        <a:ext cx="7035120" cy="1930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455CCF1-C55C-E52D-2760-3985B0B23ED9}"/>
              </a:ext>
            </a:extLst>
          </p:cNvPr>
          <p:cNvSpPr txBox="1"/>
          <p:nvPr/>
        </p:nvSpPr>
        <p:spPr>
          <a:xfrm>
            <a:off x="638175" y="4751906"/>
            <a:ext cx="10915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components of the angular momentum operator do not commute with each other.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3B3E52A-323A-38D2-4A2A-DE8AD7E6A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397091"/>
              </p:ext>
            </p:extLst>
          </p:nvPr>
        </p:nvGraphicFramePr>
        <p:xfrm>
          <a:off x="3427120" y="3609127"/>
          <a:ext cx="5816160" cy="6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08080" imgH="304560" progId="Equation.DSMT4">
                  <p:embed/>
                </p:oleObj>
              </mc:Choice>
              <mc:Fallback>
                <p:oleObj name="Equation" r:id="rId4" imgW="2908080" imgH="304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3B3E52A-323A-38D2-4A2A-DE8AD7E6A9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27120" y="3609127"/>
                        <a:ext cx="5816160" cy="609120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98597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12194" y="177309"/>
            <a:ext cx="74820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Commutation relations for angular momentum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6859" y="1367639"/>
            <a:ext cx="11473314" cy="42148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found that</a:t>
            </a:r>
          </a:p>
          <a:p>
            <a:pPr>
              <a:lnSpc>
                <a:spcPct val="12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</a:t>
            </a:r>
          </a:p>
          <a:p>
            <a:pPr>
              <a:lnSpc>
                <a:spcPct val="120000"/>
              </a:lnSpc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(Note that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2400" i="1" dirty="0">
                <a:solidFill>
                  <a:srgbClr val="0C0CF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appear in cyclic order in these equations.)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8EC4DA8-808C-4381-B3B8-1063F9ABB4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03613"/>
              </p:ext>
            </p:extLst>
          </p:nvPr>
        </p:nvGraphicFramePr>
        <p:xfrm>
          <a:off x="4073843" y="1367639"/>
          <a:ext cx="5282640" cy="1574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320" imgH="787320" progId="Equation.DSMT4">
                  <p:embed/>
                </p:oleObj>
              </mc:Choice>
              <mc:Fallback>
                <p:oleObj name="Equation" r:id="rId2" imgW="2641320" imgH="787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8EC4DA8-808C-4381-B3B8-1063F9ABB4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73843" y="1367639"/>
                        <a:ext cx="5282640" cy="1574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4B39F41-C42A-4A4D-839A-8BF93740E8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6547762"/>
              </p:ext>
            </p:extLst>
          </p:nvPr>
        </p:nvGraphicFramePr>
        <p:xfrm>
          <a:off x="4073843" y="3346987"/>
          <a:ext cx="1854000" cy="6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7000" imgH="304560" progId="Equation.DSMT4">
                  <p:embed/>
                </p:oleObj>
              </mc:Choice>
              <mc:Fallback>
                <p:oleObj name="Equation" r:id="rId4" imgW="927000" imgH="304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4B39F41-C42A-4A4D-839A-8BF93740E8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73843" y="3346987"/>
                        <a:ext cx="1854000" cy="609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64D153E-EFF0-4ED6-8B01-77EA8EBF93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254022"/>
              </p:ext>
            </p:extLst>
          </p:nvPr>
        </p:nvGraphicFramePr>
        <p:xfrm>
          <a:off x="4073843" y="4210494"/>
          <a:ext cx="1854000" cy="6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27000" imgH="304560" progId="Equation.DSMT4">
                  <p:embed/>
                </p:oleObj>
              </mc:Choice>
              <mc:Fallback>
                <p:oleObj name="Equation" r:id="rId6" imgW="927000" imgH="304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64D153E-EFF0-4ED6-8B01-77EA8EBF93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73843" y="4210494"/>
                        <a:ext cx="1854000" cy="609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2"/>
          <p:cNvSpPr>
            <a:spLocks noChangeShapeType="1"/>
          </p:cNvSpPr>
          <p:nvPr/>
        </p:nvSpPr>
        <p:spPr bwMode="auto">
          <a:xfrm flipV="1">
            <a:off x="63793" y="898173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9D251E-679C-3F64-E07F-7E709776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2811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90C7B62-6F6B-EAE6-4F95-55D138C022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821833"/>
              </p:ext>
            </p:extLst>
          </p:nvPr>
        </p:nvGraphicFramePr>
        <p:xfrm>
          <a:off x="3607907" y="1531000"/>
          <a:ext cx="4241520" cy="78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393480" progId="Equation.DSMT4">
                  <p:embed/>
                </p:oleObj>
              </mc:Choice>
              <mc:Fallback>
                <p:oleObj name="Equation" r:id="rId2" imgW="2120760" imgH="393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988DFA1-62B0-4DD4-AE5E-03970B1103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07907" y="1531000"/>
                        <a:ext cx="4241520" cy="786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5A4D5B27-16A3-5435-19FF-DA59C949EA9C}"/>
              </a:ext>
            </a:extLst>
          </p:cNvPr>
          <p:cNvSpPr txBox="1"/>
          <p:nvPr/>
        </p:nvSpPr>
        <p:spPr>
          <a:xfrm>
            <a:off x="762827" y="696648"/>
            <a:ext cx="7904094" cy="496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uncertainty principle tells us that,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7C7A833-954D-1B36-1A65-758F4F599064}"/>
                  </a:ext>
                </a:extLst>
              </p:cNvPr>
              <p:cNvSpPr txBox="1"/>
              <p:nvPr/>
            </p:nvSpPr>
            <p:spPr>
              <a:xfrm>
                <a:off x="723579" y="2731341"/>
                <a:ext cx="10418695" cy="1395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 in general we cannot find wavefunctions that are simultaneously eigenfunctions of two or more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The only exception is that it is possible to find wavefunctions for which </a:t>
                </a:r>
                <a:r>
                  <a:rPr lang="en-US" altLang="zh-CN" sz="2400" i="1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i="1" baseline="-25000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i="1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i="1" baseline="-25000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400" i="1" baseline="-250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CN" sz="2400" i="1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i="1" baseline="-25000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all exactly zero.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C7C7A833-954D-1B36-1A65-758F4F599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79" y="2731341"/>
                <a:ext cx="10418695" cy="1395318"/>
              </a:xfrm>
              <a:prstGeom prst="rect">
                <a:avLst/>
              </a:prstGeom>
              <a:blipFill>
                <a:blip r:embed="rId4"/>
                <a:stretch>
                  <a:fillRect l="-936" t="-873" b="-91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9D4D331-93D5-9B77-FAE4-1C636899C8EB}"/>
                  </a:ext>
                </a:extLst>
              </p:cNvPr>
              <p:cNvSpPr txBox="1"/>
              <p:nvPr/>
            </p:nvSpPr>
            <p:spPr>
              <a:xfrm>
                <a:off x="2719087" y="5233311"/>
                <a:ext cx="6097656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 smtClean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CN" sz="2400" i="1" baseline="-25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</m:e>
                        </m:acc>
                        <m:r>
                          <a:rPr lang="en-US" altLang="zh-CN" sz="2400" i="1" baseline="30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sz="2400" dirty="0"/>
                  <a:t>=</a:t>
                </a:r>
                <a:r>
                  <a:rPr lang="en-US" altLang="zh-CN" sz="2400" dirty="0">
                    <a:solidFill>
                      <a:srgbClr val="0C0CFE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CN" sz="2400" i="1" baseline="-25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</m:e>
                        </m:acc>
                        <m:r>
                          <a:rPr lang="en-US" altLang="zh-CN" sz="2400" b="0" i="1" baseline="-25000" dirty="0" smtClean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 baseline="30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sz="2400" dirty="0"/>
                  <a:t>+</a:t>
                </a:r>
                <a:r>
                  <a:rPr lang="en-US" altLang="zh-CN" sz="2400" dirty="0">
                    <a:solidFill>
                      <a:srgbClr val="0C0CFE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CN" sz="2400" i="1" baseline="-25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</m:e>
                        </m:acc>
                        <m:r>
                          <a:rPr lang="en-US" altLang="zh-CN" sz="2400" b="0" i="1" baseline="-25000" dirty="0" smtClean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sz="2400" b="0" i="1" baseline="30000" dirty="0" smtClean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sz="2400" dirty="0"/>
                  <a:t>+</a:t>
                </a:r>
                <a:r>
                  <a:rPr lang="en-US" altLang="zh-CN" sz="2400" dirty="0">
                    <a:solidFill>
                      <a:srgbClr val="0C0CFE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CN" sz="2400" i="1" baseline="-25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</m:e>
                        </m:acc>
                        <m:r>
                          <a:rPr lang="en-US" altLang="zh-CN" sz="2400" b="0" i="1" baseline="-25000" dirty="0" smtClean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b="0" i="1" baseline="30000" dirty="0" smtClean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=?</a:t>
                </a:r>
                <a:endParaRPr lang="zh-CN" alt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9D4D331-93D5-9B77-FAE4-1C636899C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9087" y="5233311"/>
                <a:ext cx="6097656" cy="509178"/>
              </a:xfrm>
              <a:prstGeom prst="rect">
                <a:avLst/>
              </a:prstGeom>
              <a:blipFill>
                <a:blip r:embed="rId5"/>
                <a:stretch>
                  <a:fillRect t="-3571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E625319-9365-49A3-B472-7DDF64FB2CE4}"/>
                  </a:ext>
                </a:extLst>
              </p:cNvPr>
              <p:cNvSpPr/>
              <p:nvPr/>
            </p:nvSpPr>
            <p:spPr>
              <a:xfrm>
                <a:off x="762827" y="4466792"/>
                <a:ext cx="6799618" cy="471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commute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</m:acc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</a:t>
                </a:r>
                <a:endParaRPr lang="zh-CN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E625319-9365-49A3-B472-7DDF64FB2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27" y="4466792"/>
                <a:ext cx="6799618" cy="471732"/>
              </a:xfrm>
              <a:prstGeom prst="rect">
                <a:avLst/>
              </a:prstGeom>
              <a:blipFill>
                <a:blip r:embed="rId6"/>
                <a:stretch>
                  <a:fillRect l="-1344" t="-9091" r="-358" b="-29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BE8208-41DA-FFBD-5E94-45AB2144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983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73548" y="1084555"/>
                <a:ext cx="11502190" cy="49076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CN" sz="2400" i="1" baseline="-25000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i="1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CN" sz="2400" i="1" baseline="-25000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 baseline="30000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400" i="1" dirty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i="1" dirty="0">
                          <a:solidFill>
                            <a:srgbClr val="0C0CFE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CN" sz="2400" i="1" baseline="-25000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acc>
                            <m:accPr>
                              <m:chr m:val="̂"/>
                              <m:ctrlP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CN" sz="2400" i="1" baseline="-25000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CN" sz="2400" i="1" baseline="-25000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acc>
                            <m:accPr>
                              <m:chr m:val="̂"/>
                              <m:ctrlP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 dirty="0">
                                  <a:solidFill>
                                    <a:srgbClr val="0C0CFE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CN" sz="2400" i="1" baseline="-25000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CN" sz="2400" i="1" baseline="-25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CN" sz="2400" i="1" baseline="-25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baseline="30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Adding these results together shows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altLang="zh-CN" sz="2400" i="1" baseline="-25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 dirty="0">
                                <a:solidFill>
                                  <a:srgbClr val="0C0CFE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</m:e>
                        </m:acc>
                        <m:r>
                          <a:rPr lang="en-US" altLang="zh-CN" sz="2400" i="1" baseline="30000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 we can find wavefunctions that are eigenfunctions of both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</m:acc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one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only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It is customary to choose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548" y="1084555"/>
                <a:ext cx="11502190" cy="4907690"/>
              </a:xfrm>
              <a:prstGeom prst="rect">
                <a:avLst/>
              </a:prstGeom>
              <a:blipFill>
                <a:blip r:embed="rId3"/>
                <a:stretch>
                  <a:fillRect l="-848" b="-19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8EC4DA8-808C-4381-B3B8-1063F9ABB4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6600868"/>
              </p:ext>
            </p:extLst>
          </p:nvPr>
        </p:nvGraphicFramePr>
        <p:xfrm>
          <a:off x="1013491" y="704631"/>
          <a:ext cx="5638320" cy="2437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19160" imgH="1218960" progId="Equation.DSMT4">
                  <p:embed/>
                </p:oleObj>
              </mc:Choice>
              <mc:Fallback>
                <p:oleObj name="Equation" r:id="rId4" imgW="2819160" imgH="1218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8EC4DA8-808C-4381-B3B8-1063F9ABB4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3491" y="704631"/>
                        <a:ext cx="5638320" cy="2437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EC63D8-2501-CBFB-21AA-257E86CC4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4256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282674"/>
              </p:ext>
            </p:extLst>
          </p:nvPr>
        </p:nvGraphicFramePr>
        <p:xfrm>
          <a:off x="3390203" y="183503"/>
          <a:ext cx="535896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480" imgH="457200" progId="Equation.DSMT4">
                  <p:embed/>
                </p:oleObj>
              </mc:Choice>
              <mc:Fallback>
                <p:oleObj name="Equation" r:id="rId2" imgW="2679480" imgH="457200" progId="Equation.DSMT4">
                  <p:embed/>
                  <p:pic>
                    <p:nvPicPr>
                      <p:cNvPr id="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203" y="183503"/>
                        <a:ext cx="535896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174084"/>
              </p:ext>
            </p:extLst>
          </p:nvPr>
        </p:nvGraphicFramePr>
        <p:xfrm>
          <a:off x="3516313" y="2430463"/>
          <a:ext cx="414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000" imgH="419040" progId="Equation.DSMT4">
                  <p:embed/>
                </p:oleObj>
              </mc:Choice>
              <mc:Fallback>
                <p:oleObj name="Equation" r:id="rId4" imgW="2070000" imgH="419040" progId="Equation.DSMT4">
                  <p:embed/>
                  <p:pic>
                    <p:nvPicPr>
                      <p:cNvPr id="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2430463"/>
                        <a:ext cx="4140200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452187"/>
              </p:ext>
            </p:extLst>
          </p:nvPr>
        </p:nvGraphicFramePr>
        <p:xfrm>
          <a:off x="2857800" y="1491571"/>
          <a:ext cx="6476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38200" imgH="457200" progId="Equation.DSMT4">
                  <p:embed/>
                </p:oleObj>
              </mc:Choice>
              <mc:Fallback>
                <p:oleObj name="Equation" r:id="rId6" imgW="3238200" imgH="457200" progId="Equation.DSMT4">
                  <p:embed/>
                  <p:pic>
                    <p:nvPicPr>
                      <p:cNvPr id="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800" y="1491571"/>
                        <a:ext cx="6476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739029"/>
              </p:ext>
            </p:extLst>
          </p:nvPr>
        </p:nvGraphicFramePr>
        <p:xfrm>
          <a:off x="3516313" y="3194050"/>
          <a:ext cx="43180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8920" imgH="419040" progId="Equation.DSMT4">
                  <p:embed/>
                </p:oleObj>
              </mc:Choice>
              <mc:Fallback>
                <p:oleObj name="Equation" r:id="rId8" imgW="2158920" imgH="419040" progId="Equation.DSMT4">
                  <p:embed/>
                  <p:pic>
                    <p:nvPicPr>
                      <p:cNvPr id="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3194050"/>
                        <a:ext cx="4318000" cy="8366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867824"/>
              </p:ext>
            </p:extLst>
          </p:nvPr>
        </p:nvGraphicFramePr>
        <p:xfrm>
          <a:off x="3541713" y="4030663"/>
          <a:ext cx="154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419040" progId="Equation.DSMT4">
                  <p:embed/>
                </p:oleObj>
              </mc:Choice>
              <mc:Fallback>
                <p:oleObj name="Equation" r:id="rId10" imgW="774360" imgH="419040" progId="Equation.DSMT4">
                  <p:embed/>
                  <p:pic>
                    <p:nvPicPr>
                      <p:cNvPr id="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4030663"/>
                        <a:ext cx="1549400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059637"/>
              </p:ext>
            </p:extLst>
          </p:nvPr>
        </p:nvGraphicFramePr>
        <p:xfrm>
          <a:off x="3478213" y="4814888"/>
          <a:ext cx="4800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00120" imgH="444240" progId="Equation.DSMT4">
                  <p:embed/>
                </p:oleObj>
              </mc:Choice>
              <mc:Fallback>
                <p:oleObj name="Equation" r:id="rId12" imgW="2400120" imgH="444240" progId="Equation.DSMT4">
                  <p:embed/>
                  <p:pic>
                    <p:nvPicPr>
                      <p:cNvPr id="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4814888"/>
                        <a:ext cx="4800600" cy="889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4"/>
          <p:cNvSpPr txBox="1">
            <a:spLocks noChangeArrowheads="1"/>
          </p:cNvSpPr>
          <p:nvPr/>
        </p:nvSpPr>
        <p:spPr bwMode="auto">
          <a:xfrm>
            <a:off x="5878963" y="4221828"/>
            <a:ext cx="287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Involved only </a:t>
            </a:r>
            <a:r>
              <a:rPr kumimoji="0"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and </a:t>
            </a:r>
            <a:endParaRPr kumimoji="0" lang="en-US" altLang="zh-CN" sz="24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BC94C7D-12AE-7D20-4D14-FE22DC28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253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34754" y="838866"/>
                <a:ext cx="11796671" cy="57805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spherical polar coordinates,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zh-CN" altLang="en-US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𝜕𝜑</m:t>
                        </m:r>
                      </m:den>
                    </m:f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commutes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</m:acc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so we can find functions that are eigenfunctions of both. Eigenfunctions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satisfy the eigenvalue equation</a:t>
                </a:r>
              </a:p>
              <a:p>
                <a:pPr>
                  <a:lnSpc>
                    <a:spcPct val="120000"/>
                  </a:lnSpc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unnormalised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solutions are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i="1" dirty="0" err="1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𝑖𝑘</m:t>
                    </m:r>
                    <m:r>
                      <a:rPr lang="zh-CN" altLang="en-US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but the value of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restricted by the requirement that the wavefunction is single-valued — that is,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must be the same as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This means that</a:t>
                </a:r>
              </a:p>
              <a:p>
                <a:pPr>
                  <a:lnSpc>
                    <a:spcPct val="120000"/>
                  </a:lnSpc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 integer (positive, negative or zero), and the wavefunctions become (after 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normalisation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20000"/>
                  </a:lnSpc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eigenvalue is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CN" sz="24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angular momentum is an integer multiple of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54" y="838866"/>
                <a:ext cx="11796671" cy="5780557"/>
              </a:xfrm>
              <a:prstGeom prst="rect">
                <a:avLst/>
              </a:prstGeom>
              <a:blipFill>
                <a:blip r:embed="rId3"/>
                <a:stretch>
                  <a:fillRect l="-775" r="-982" b="-8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8EC4DA8-808C-4381-B3B8-1063F9ABB4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048068"/>
              </p:ext>
            </p:extLst>
          </p:nvPr>
        </p:nvGraphicFramePr>
        <p:xfrm>
          <a:off x="4321305" y="1975538"/>
          <a:ext cx="269208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419040" progId="Equation.DSMT4">
                  <p:embed/>
                </p:oleObj>
              </mc:Choice>
              <mc:Fallback>
                <p:oleObj name="Equation" r:id="rId4" imgW="1346040" imgH="4190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8EC4DA8-808C-4381-B3B8-1063F9ABB4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1305" y="1975538"/>
                        <a:ext cx="2692080" cy="838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6AD0B47-5733-4F51-92D7-356505F91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847366"/>
              </p:ext>
            </p:extLst>
          </p:nvPr>
        </p:nvGraphicFramePr>
        <p:xfrm>
          <a:off x="4123889" y="3959833"/>
          <a:ext cx="426672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360" imgH="253800" progId="Equation.DSMT4">
                  <p:embed/>
                </p:oleObj>
              </mc:Choice>
              <mc:Fallback>
                <p:oleObj name="Equation" r:id="rId6" imgW="213336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6AD0B47-5733-4F51-92D7-356505F91D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23889" y="3959833"/>
                        <a:ext cx="426672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5DC8026-DE1C-462F-8A87-9DF5EE8283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119362"/>
              </p:ext>
            </p:extLst>
          </p:nvPr>
        </p:nvGraphicFramePr>
        <p:xfrm>
          <a:off x="4749800" y="5159375"/>
          <a:ext cx="2565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82680" imgH="444240" progId="Equation.DSMT4">
                  <p:embed/>
                </p:oleObj>
              </mc:Choice>
              <mc:Fallback>
                <p:oleObj name="Equation" r:id="rId8" imgW="1282680" imgH="4442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5DC8026-DE1C-462F-8A87-9DF5EE8283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49800" y="5159375"/>
                        <a:ext cx="25654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139499" y="286363"/>
            <a:ext cx="4243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3.3.2. Spherical harmonics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ine 2"/>
          <p:cNvSpPr>
            <a:spLocks noChangeShapeType="1"/>
          </p:cNvSpPr>
          <p:nvPr/>
        </p:nvSpPr>
        <p:spPr bwMode="auto">
          <a:xfrm flipV="1">
            <a:off x="63793" y="946298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987B12F-1A79-79E8-0E50-DC2E9D2A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6897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932718" y="208658"/>
                <a:ext cx="3342582" cy="5347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Eigenfunctions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8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</m:acc>
                    <m:r>
                      <a:rPr lang="en-US" altLang="zh-CN" sz="2800" b="1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718" y="208658"/>
                <a:ext cx="3342582" cy="534762"/>
              </a:xfrm>
              <a:prstGeom prst="rect">
                <a:avLst/>
              </a:prstGeom>
              <a:blipFill rotWithShape="0">
                <a:blip r:embed="rId3"/>
                <a:stretch>
                  <a:fillRect l="-3650" t="-9091" b="-30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28777" y="1037139"/>
                <a:ext cx="11598441" cy="56371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400" b="1" i="1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 dirty="0">
                              <a:solidFill>
                                <a:srgbClr val="0C0CFE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</m:acc>
                    </m:oMath>
                  </m:oMathPara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obtain eigenfunctions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</m:acc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 have to multiply the functions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0C0CF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</m:t>
                    </m:r>
                    <m:r>
                      <a:rPr lang="en-US" altLang="zh-CN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𝑖𝑀</m:t>
                    </m:r>
                    <m:r>
                      <a:rPr lang="zh-CN" altLang="el-GR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l-GR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suitable functions of </a:t>
                </a:r>
                <a:r>
                  <a:rPr lang="el-GR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Write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l-GR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l-GR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0C0CFE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</m:t>
                    </m:r>
                    <m:r>
                      <a:rPr lang="en-US" altLang="zh-CN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𝑖𝑀</m:t>
                    </m:r>
                    <m:r>
                      <a:rPr lang="zh-CN" altLang="el-GR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l-GR" altLang="zh-CN" sz="24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the eigenvalue equation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>
                            <a:solidFill>
                              <a:srgbClr val="0C0CFE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</m:acc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𝐽𝑀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𝐽𝑀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becomes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cancel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l-GR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l-GR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get an eigenvalue equation in </a:t>
                </a:r>
                <a:r>
                  <a:rPr lang="el-GR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θ</a:t>
                </a:r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eigenvalues </a:t>
                </a:r>
                <a:r>
                  <a:rPr lang="el-GR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λ</a:t>
                </a:r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turn out to be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>
                      <a:rPr lang="en-US" altLang="zh-CN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+1)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integer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functions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baseline="-25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𝐽𝑀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l-GR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l-GR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l-GR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</a:t>
                </a:r>
                <a:r>
                  <a:rPr lang="en-US" altLang="zh-CN" sz="2400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spherical harmonics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77" y="1037139"/>
                <a:ext cx="11598441" cy="5637121"/>
              </a:xfrm>
              <a:prstGeom prst="rect">
                <a:avLst/>
              </a:prstGeom>
              <a:blipFill>
                <a:blip r:embed="rId4"/>
                <a:stretch>
                  <a:fillRect l="-788" r="-1419" b="-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8EC4DA8-808C-4381-B3B8-1063F9ABB4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516217"/>
              </p:ext>
            </p:extLst>
          </p:nvPr>
        </p:nvGraphicFramePr>
        <p:xfrm>
          <a:off x="4000849" y="1133206"/>
          <a:ext cx="5206320" cy="96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03160" imgH="482400" progId="Equation.DSMT4">
                  <p:embed/>
                </p:oleObj>
              </mc:Choice>
              <mc:Fallback>
                <p:oleObj name="Equation" r:id="rId5" imgW="2603160" imgH="4824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8EC4DA8-808C-4381-B3B8-1063F9ABB4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0849" y="1133206"/>
                        <a:ext cx="5206320" cy="96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6E28412-DF1F-40D4-8D3F-E4F367125B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7299" y="3252238"/>
          <a:ext cx="259056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280" imgH="228600" progId="Equation.DSMT4">
                  <p:embed/>
                </p:oleObj>
              </mc:Choice>
              <mc:Fallback>
                <p:oleObj name="Equation" r:id="rId7" imgW="1295280" imgH="228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6E28412-DF1F-40D4-8D3F-E4F367125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27299" y="3252238"/>
                        <a:ext cx="259056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AF28AC0-3961-4F88-B1A5-B012C6128F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2441" y="4188576"/>
          <a:ext cx="9092880" cy="96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46440" imgH="482400" progId="Equation.DSMT4">
                  <p:embed/>
                </p:oleObj>
              </mc:Choice>
              <mc:Fallback>
                <p:oleObj name="Equation" r:id="rId9" imgW="4546440" imgH="482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AF28AC0-3961-4F88-B1A5-B012C6128F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32441" y="4188576"/>
                        <a:ext cx="9092880" cy="96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2"/>
          <p:cNvSpPr>
            <a:spLocks noChangeShapeType="1"/>
          </p:cNvSpPr>
          <p:nvPr/>
        </p:nvSpPr>
        <p:spPr bwMode="auto">
          <a:xfrm flipV="1">
            <a:off x="63793" y="946298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B5730BD-FC10-96D9-5F9E-F083165B7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2165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6899E1-3878-8FB2-331E-130F8C05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3AE4CE-097D-1933-96D2-BDA1D24617E7}"/>
              </a:ext>
            </a:extLst>
          </p:cNvPr>
          <p:cNvSpPr txBox="1"/>
          <p:nvPr/>
        </p:nvSpPr>
        <p:spPr>
          <a:xfrm>
            <a:off x="1907459" y="261842"/>
            <a:ext cx="8954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球谐函数是轨道角动量算符两个重要本征方程的共同解</a:t>
            </a:r>
            <a:r>
              <a:rPr lang="en-US" altLang="zh-CN" sz="28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AA9A1D-7CA9-7D4C-C56D-FF39AF9F4733}"/>
              </a:ext>
            </a:extLst>
          </p:cNvPr>
          <p:cNvSpPr txBox="1"/>
          <p:nvPr/>
        </p:nvSpPr>
        <p:spPr>
          <a:xfrm>
            <a:off x="363792" y="3227127"/>
            <a:ext cx="110809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中心力场问题求解的核心工具</a:t>
            </a:r>
            <a:r>
              <a:rPr lang="en-US" altLang="zh-CN" sz="24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i="0" dirty="0">
                <a:solidFill>
                  <a:srgbClr val="0F1115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球谐函数天然地成为了描述任何中心对称体系角度分布的基函数。氢原子、多电子原子等的电子轨道都建立在此基础上。</a:t>
            </a:r>
            <a:endParaRPr lang="en-US" altLang="zh-CN" sz="2400" i="0" dirty="0">
              <a:solidFill>
                <a:srgbClr val="0F1115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400" i="0" dirty="0">
              <a:solidFill>
                <a:srgbClr val="0F1115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球谐函数作为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400" i="1" baseline="30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Jz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的共同本征函数，构成了角动量表象的一组标准正交完备基。</a:t>
            </a:r>
            <a:r>
              <a:rPr lang="zh-CN" altLang="en-US" sz="2400" dirty="0">
                <a:solidFill>
                  <a:srgbClr val="0F111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任何中心对称体系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波函数的角度部分都可以用球谐函数展开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BB9C54F-E3F9-32C6-B5CC-0811E1A573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402280"/>
              </p:ext>
            </p:extLst>
          </p:nvPr>
        </p:nvGraphicFramePr>
        <p:xfrm>
          <a:off x="3979237" y="1838335"/>
          <a:ext cx="2844720" cy="1066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22360" imgH="533160" progId="Equation.DSMT4">
                  <p:embed/>
                </p:oleObj>
              </mc:Choice>
              <mc:Fallback>
                <p:oleObj name="Equation" r:id="rId2" imgW="1422360" imgH="5331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BB9C54F-E3F9-32C6-B5CC-0811E1A573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79237" y="1838335"/>
                        <a:ext cx="2844720" cy="10663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2">
            <a:extLst>
              <a:ext uri="{FF2B5EF4-FFF2-40B4-BE49-F238E27FC236}">
                <a16:creationId xmlns:a16="http://schemas.microsoft.com/office/drawing/2014/main" id="{17F2D8A4-2B1A-BDDF-E8EA-64E327701B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93" y="946298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7148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89431" y="245852"/>
            <a:ext cx="59355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3.3.4 Angular momentum eigenvalues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ine 2"/>
          <p:cNvSpPr>
            <a:spLocks noChangeShapeType="1"/>
          </p:cNvSpPr>
          <p:nvPr/>
        </p:nvSpPr>
        <p:spPr bwMode="auto">
          <a:xfrm flipV="1">
            <a:off x="63793" y="946298"/>
            <a:ext cx="12117573" cy="53161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8D9B184-78D4-8B4D-31DB-E1F823A2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59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92CE12D-ED37-8B20-A22E-1721EAA6AFD1}"/>
                  </a:ext>
                </a:extLst>
              </p:cNvPr>
              <p:cNvSpPr/>
              <p:nvPr/>
            </p:nvSpPr>
            <p:spPr>
              <a:xfrm>
                <a:off x="633933" y="1526524"/>
                <a:ext cx="8789157" cy="22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have definite values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r>
                      <a:rPr lang="en-US" altLang="zh-CN" sz="2400" i="1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+1)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for integer values 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of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given value of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i="1" baseline="-25000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have the definite values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400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altLang="zh-CN" sz="2400" baseline="30000" dirty="0">
                        <a:solidFill>
                          <a:srgbClr val="0C0CFE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CN" sz="2400" i="1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i="1" baseline="-25000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have definite values, </a:t>
                </a:r>
                <a:r>
                  <a:rPr lang="en-US" altLang="zh-CN" sz="2400" i="1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i="1" baseline="-25000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CN" sz="2400" i="1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i="1" baseline="-25000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400" i="1" dirty="0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can’t, because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they don’t commute with </a:t>
                </a:r>
                <a:r>
                  <a:rPr lang="en-US" altLang="zh-CN" sz="2400" i="1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sz="2400" i="1" baseline="-25000" dirty="0" err="1">
                    <a:solidFill>
                      <a:srgbClr val="0C0CFE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All we can say about them is that</a:t>
                </a: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C92CE12D-ED37-8B20-A22E-1721EAA6AF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33" y="1526524"/>
                <a:ext cx="8789157" cy="2269660"/>
              </a:xfrm>
              <a:prstGeom prst="rect">
                <a:avLst/>
              </a:prstGeom>
              <a:blipFill>
                <a:blip r:embed="rId2"/>
                <a:stretch>
                  <a:fillRect l="-1110" t="-536" b="-5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B767126-D161-72BF-20F6-6E778F5A28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785702"/>
              </p:ext>
            </p:extLst>
          </p:nvPr>
        </p:nvGraphicFramePr>
        <p:xfrm>
          <a:off x="1268115" y="4122343"/>
          <a:ext cx="5486400" cy="55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279360" progId="Equation.DSMT4">
                  <p:embed/>
                </p:oleObj>
              </mc:Choice>
              <mc:Fallback>
                <p:oleObj name="Equation" r:id="rId3" imgW="274320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191CFB1-06F0-4C5C-8A7E-2C6ECE8E19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68115" y="4122343"/>
                        <a:ext cx="5486400" cy="558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FF96BFB7-3C3C-D23F-6B81-70D0BCEDB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1741" y="1349881"/>
            <a:ext cx="2771775" cy="40386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A294E80-9800-2852-C8B2-966A32A5DCBB}"/>
              </a:ext>
            </a:extLst>
          </p:cNvPr>
          <p:cNvSpPr txBox="1"/>
          <p:nvPr/>
        </p:nvSpPr>
        <p:spPr>
          <a:xfrm>
            <a:off x="1268115" y="4900589"/>
            <a:ext cx="1784554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2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2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sz="22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200" baseline="30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200" dirty="0">
              <a:solidFill>
                <a:srgbClr val="3333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98850CC-288F-7A30-F6B1-C68971FA57B9}"/>
                  </a:ext>
                </a:extLst>
              </p:cNvPr>
              <p:cNvSpPr txBox="1"/>
              <p:nvPr/>
            </p:nvSpPr>
            <p:spPr>
              <a:xfrm>
                <a:off x="982873" y="5674338"/>
                <a:ext cx="8440217" cy="496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take any of the integer values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−1, . . . , −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+1, −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98850CC-288F-7A30-F6B1-C68971FA5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73" y="5674338"/>
                <a:ext cx="8440217" cy="496867"/>
              </a:xfrm>
              <a:prstGeom prst="rect">
                <a:avLst/>
              </a:prstGeom>
              <a:blipFill>
                <a:blip r:embed="rId6"/>
                <a:stretch>
                  <a:fillRect l="-144" t="-2469" b="-28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箭头: 右 14">
            <a:extLst>
              <a:ext uri="{FF2B5EF4-FFF2-40B4-BE49-F238E27FC236}">
                <a16:creationId xmlns:a16="http://schemas.microsoft.com/office/drawing/2014/main" id="{CC62AC6D-434E-E86D-F003-7D95A87226DF}"/>
              </a:ext>
            </a:extLst>
          </p:cNvPr>
          <p:cNvSpPr/>
          <p:nvPr/>
        </p:nvSpPr>
        <p:spPr>
          <a:xfrm>
            <a:off x="3343074" y="5003257"/>
            <a:ext cx="412955" cy="188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7E19F0-FFA8-3A70-BB76-B1F4EAA10E6A}"/>
              </a:ext>
            </a:extLst>
          </p:cNvPr>
          <p:cNvSpPr txBox="1"/>
          <p:nvPr/>
        </p:nvSpPr>
        <p:spPr>
          <a:xfrm>
            <a:off x="4512759" y="4864766"/>
            <a:ext cx="44835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400" baseline="30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M  </a:t>
            </a:r>
            <a:r>
              <a:rPr lang="en-US" altLang="zh-CN" sz="24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i="1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  <a:r>
              <a:rPr lang="en-US" altLang="zh-CN" sz="2400" baseline="300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r>
              <a:rPr lang="en-US" altLang="zh-CN" sz="24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997332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1885A07A-4964-4E32-8547-F63EF2C80FFD}"/>
              </a:ext>
            </a:extLst>
          </p:cNvPr>
          <p:cNvSpPr/>
          <p:nvPr/>
        </p:nvSpPr>
        <p:spPr>
          <a:xfrm>
            <a:off x="1946418" y="2650351"/>
            <a:ext cx="7770189" cy="32428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10D7CE0-631D-487C-98AF-3580186269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328338"/>
              </p:ext>
            </p:extLst>
          </p:nvPr>
        </p:nvGraphicFramePr>
        <p:xfrm>
          <a:off x="4917113" y="993739"/>
          <a:ext cx="914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253800" progId="Equation.DSMT4">
                  <p:embed/>
                </p:oleObj>
              </mc:Choice>
              <mc:Fallback>
                <p:oleObj name="Equation" r:id="rId2" imgW="4572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17113" y="993739"/>
                        <a:ext cx="914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7E63AF2-F7CB-4637-9BA9-A9AFC5F52ACB}"/>
              </a:ext>
            </a:extLst>
          </p:cNvPr>
          <p:cNvSpPr/>
          <p:nvPr/>
        </p:nvSpPr>
        <p:spPr>
          <a:xfrm>
            <a:off x="751832" y="1896620"/>
            <a:ext cx="93167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m can have values 0, ± 1, ± 2, .......... ± J or m can have (2J+l) values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4A3A3DC-7EA5-4CE9-9EF8-0B6681AEF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481948"/>
              </p:ext>
            </p:extLst>
          </p:nvPr>
        </p:nvGraphicFramePr>
        <p:xfrm>
          <a:off x="4637994" y="3930703"/>
          <a:ext cx="27178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17483" imgH="862591" progId="Equation.DSMT4">
                  <p:embed/>
                </p:oleObj>
              </mc:Choice>
              <mc:Fallback>
                <p:oleObj name="Equation" r:id="rId4" imgW="2717483" imgH="86259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7994" y="3930703"/>
                        <a:ext cx="2717800" cy="862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824FD18D-CA09-43DB-85D9-840B67AD6F98}"/>
              </a:ext>
            </a:extLst>
          </p:cNvPr>
          <p:cNvSpPr/>
          <p:nvPr/>
        </p:nvSpPr>
        <p:spPr>
          <a:xfrm>
            <a:off x="3803498" y="3063851"/>
            <a:ext cx="56581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What is zero level energy for a rigid rotator?</a:t>
            </a:r>
            <a:endParaRPr lang="zh-CN" altLang="en-US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276486-9152-4438-9E8E-4FC3E1FB0DCE}"/>
              </a:ext>
            </a:extLst>
          </p:cNvPr>
          <p:cNvSpPr/>
          <p:nvPr/>
        </p:nvSpPr>
        <p:spPr>
          <a:xfrm>
            <a:off x="3803498" y="5197904"/>
            <a:ext cx="5141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</a:rPr>
              <a:t>For zero level </a:t>
            </a:r>
            <a:r>
              <a:rPr lang="en-US" altLang="zh-CN" sz="2400" i="1" dirty="0"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</a:rPr>
              <a:t> = 0; Energy will be zero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45D0F1-CA47-48D3-907B-C94D77E0EBC9}"/>
              </a:ext>
            </a:extLst>
          </p:cNvPr>
          <p:cNvSpPr txBox="1"/>
          <p:nvPr/>
        </p:nvSpPr>
        <p:spPr>
          <a:xfrm>
            <a:off x="2165737" y="2808250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zh-CN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25F53858-F69E-E9F8-8D1E-AF20DD67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6275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498944" y="563750"/>
            <a:ext cx="62740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few normalized spherical harmonics are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AF28AC0-3961-4F88-B1A5-B012C6128F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086142"/>
              </p:ext>
            </p:extLst>
          </p:nvPr>
        </p:nvGraphicFramePr>
        <p:xfrm>
          <a:off x="5549779" y="1530702"/>
          <a:ext cx="3223232" cy="453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2717640" progId="Equation.DSMT4">
                  <p:embed/>
                </p:oleObj>
              </mc:Choice>
              <mc:Fallback>
                <p:oleObj name="Equation" r:id="rId2" imgW="1917360" imgH="27176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AF28AC0-3961-4F88-B1A5-B012C6128F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49779" y="1530702"/>
                        <a:ext cx="3223232" cy="4532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53A2719-E198-49D2-8E57-6E53D50D36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225097"/>
                  </p:ext>
                </p:extLst>
              </p:nvPr>
            </p:nvGraphicFramePr>
            <p:xfrm>
              <a:off x="2916891" y="1096432"/>
              <a:ext cx="2244670" cy="49669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2335">
                      <a:extLst>
                        <a:ext uri="{9D8B030D-6E8A-4147-A177-3AD203B41FA5}">
                          <a16:colId xmlns:a16="http://schemas.microsoft.com/office/drawing/2014/main" val="1694338485"/>
                        </a:ext>
                      </a:extLst>
                    </a:gridCol>
                    <a:gridCol w="1122335">
                      <a:extLst>
                        <a:ext uri="{9D8B030D-6E8A-4147-A177-3AD203B41FA5}">
                          <a16:colId xmlns:a16="http://schemas.microsoft.com/office/drawing/2014/main" val="1650831399"/>
                        </a:ext>
                      </a:extLst>
                    </a:gridCol>
                  </a:tblGrid>
                  <a:tr h="4689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i="1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J</a:t>
                          </a:r>
                          <a:endParaRPr lang="zh-CN" altLang="en-US" sz="2200" i="1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i="1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M</a:t>
                          </a:r>
                          <a:endParaRPr lang="zh-CN" altLang="en-US" sz="2200" i="1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0886901"/>
                      </a:ext>
                    </a:extLst>
                  </a:tr>
                  <a:tr h="7368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0273555"/>
                      </a:ext>
                    </a:extLst>
                  </a:tr>
                  <a:tr h="620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1551631"/>
                      </a:ext>
                    </a:extLst>
                  </a:tr>
                  <a:tr h="7926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kern="1200" dirty="0" smtClean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±</m:t>
                                </m:r>
                                <m:r>
                                  <a:rPr lang="en-US" altLang="zh-CN" sz="2400" b="0" i="1" kern="1200" dirty="0" smtClean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1290744"/>
                      </a:ext>
                    </a:extLst>
                  </a:tr>
                  <a:tr h="9654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6005509"/>
                      </a:ext>
                    </a:extLst>
                  </a:tr>
                  <a:tr h="589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kern="1200" dirty="0" smtClean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±</m:t>
                                </m:r>
                                <m:r>
                                  <a:rPr lang="en-US" altLang="zh-CN" sz="2400" b="0" i="1" kern="1200" dirty="0" smtClean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b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</a:b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0666168"/>
                      </a:ext>
                    </a:extLst>
                  </a:tr>
                  <a:tr h="7926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kern="1200" dirty="0" smtClean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±</m:t>
                                </m:r>
                                <m:r>
                                  <a:rPr lang="en-US" altLang="zh-CN" sz="2400" b="0" i="1" kern="1200" dirty="0" smtClean="0">
                                    <a:solidFill>
                                      <a:srgbClr val="0C0CFE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b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</a:b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519515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53A2719-E198-49D2-8E57-6E53D50D36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6225097"/>
                  </p:ext>
                </p:extLst>
              </p:nvPr>
            </p:nvGraphicFramePr>
            <p:xfrm>
              <a:off x="2916891" y="1096432"/>
              <a:ext cx="2244670" cy="496698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122335">
                      <a:extLst>
                        <a:ext uri="{9D8B030D-6E8A-4147-A177-3AD203B41FA5}">
                          <a16:colId xmlns:a16="http://schemas.microsoft.com/office/drawing/2014/main" val="1694338485"/>
                        </a:ext>
                      </a:extLst>
                    </a:gridCol>
                    <a:gridCol w="1122335">
                      <a:extLst>
                        <a:ext uri="{9D8B030D-6E8A-4147-A177-3AD203B41FA5}">
                          <a16:colId xmlns:a16="http://schemas.microsoft.com/office/drawing/2014/main" val="1650831399"/>
                        </a:ext>
                      </a:extLst>
                    </a:gridCol>
                  </a:tblGrid>
                  <a:tr h="4689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i="1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J</a:t>
                          </a:r>
                          <a:endParaRPr lang="zh-CN" altLang="en-US" sz="2200" i="1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i="1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M</a:t>
                          </a:r>
                          <a:endParaRPr lang="zh-CN" altLang="en-US" sz="2200" i="1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0886901"/>
                      </a:ext>
                    </a:extLst>
                  </a:tr>
                  <a:tr h="73686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40273555"/>
                      </a:ext>
                    </a:extLst>
                  </a:tr>
                  <a:tr h="620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21551631"/>
                      </a:ext>
                    </a:extLst>
                  </a:tr>
                  <a:tr h="7926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543" t="-232308" b="-29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1290744"/>
                      </a:ext>
                    </a:extLst>
                  </a:tr>
                  <a:tr h="9654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96005509"/>
                      </a:ext>
                    </a:extLst>
                  </a:tr>
                  <a:tr h="5894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543" t="-609278" b="-1340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666168"/>
                      </a:ext>
                    </a:extLst>
                  </a:tr>
                  <a:tr h="79260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i="0" kern="1200" dirty="0">
                              <a:solidFill>
                                <a:srgbClr val="0C0CFE"/>
                              </a:solidFill>
                              <a:latin typeface="Calisto MT" panose="02040603050505030304" pitchFamily="18" charset="0"/>
                              <a:ea typeface="+mn-ea"/>
                              <a:cs typeface="+mn-cs"/>
                            </a:rPr>
                            <a:t>2</a:t>
                          </a:r>
                          <a:endParaRPr lang="zh-CN" altLang="en-US" sz="2400" i="0" kern="1200" dirty="0">
                            <a:solidFill>
                              <a:srgbClr val="0C0CFE"/>
                            </a:solidFill>
                            <a:latin typeface="Calisto MT" panose="020406030505050303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543" t="-5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19515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7BDB78F-7124-D63A-AA86-036E298C3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3679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D5AC4D7A-CA23-4250-B6E1-8B9F489F4E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905259"/>
            <a:ext cx="12192000" cy="9143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>
              <a:defRPr/>
            </a:pPr>
            <a:endParaRPr lang="zh-CN" altLang="en-US" b="1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D6C19C-9C0F-46CC-BF18-C975227F965C}"/>
              </a:ext>
            </a:extLst>
          </p:cNvPr>
          <p:cNvSpPr/>
          <p:nvPr/>
        </p:nvSpPr>
        <p:spPr>
          <a:xfrm>
            <a:off x="3612788" y="228548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</a:rPr>
              <a:t>How to determine the range of J?</a:t>
            </a:r>
            <a:endParaRPr lang="zh-CN" altLang="en-US" sz="2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D8AFCE2-5520-4254-8E57-BB4B34E1D301}"/>
              </a:ext>
            </a:extLst>
          </p:cNvPr>
          <p:cNvGrpSpPr>
            <a:grpSpLocks noChangeAspect="1"/>
          </p:cNvGrpSpPr>
          <p:nvPr/>
        </p:nvGrpSpPr>
        <p:grpSpPr>
          <a:xfrm>
            <a:off x="8640571" y="1172141"/>
            <a:ext cx="3154425" cy="2083235"/>
            <a:chOff x="8083826" y="1162875"/>
            <a:chExt cx="4748209" cy="4181061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A5C744E-23D4-4DC6-B2B2-4468A13A6C5F}"/>
                </a:ext>
              </a:extLst>
            </p:cNvPr>
            <p:cNvGrpSpPr/>
            <p:nvPr/>
          </p:nvGrpSpPr>
          <p:grpSpPr>
            <a:xfrm>
              <a:off x="8212410" y="1162875"/>
              <a:ext cx="4619625" cy="4181061"/>
              <a:chOff x="3786184" y="1709530"/>
              <a:chExt cx="4619625" cy="4181061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D20A6807-D912-4D19-9FA8-BA78646B44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3526"/>
              <a:stretch>
                <a:fillRect/>
              </a:stretch>
            </p:blipFill>
            <p:spPr>
              <a:xfrm>
                <a:off x="3786184" y="1709530"/>
                <a:ext cx="4619625" cy="4181061"/>
              </a:xfrm>
              <a:prstGeom prst="rect">
                <a:avLst/>
              </a:prstGeom>
            </p:spPr>
          </p:pic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41392FF-1D47-46CF-A12E-768B8549E435}"/>
                  </a:ext>
                </a:extLst>
              </p:cNvPr>
              <p:cNvSpPr/>
              <p:nvPr/>
            </p:nvSpPr>
            <p:spPr>
              <a:xfrm flipV="1">
                <a:off x="7818783" y="1709530"/>
                <a:ext cx="587026" cy="13252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291F4CA-6F1C-483D-BB1A-0EE71DC82B5E}"/>
                </a:ext>
              </a:extLst>
            </p:cNvPr>
            <p:cNvSpPr/>
            <p:nvPr/>
          </p:nvSpPr>
          <p:spPr>
            <a:xfrm>
              <a:off x="8083826" y="1778992"/>
              <a:ext cx="583921" cy="18654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black"/>
                </a:solidFill>
              </a:endParaRPr>
            </a:p>
          </p:txBody>
        </p:sp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9764B92-CBB4-409C-89A1-777E73ABC0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8099134"/>
              </p:ext>
            </p:extLst>
          </p:nvPr>
        </p:nvGraphicFramePr>
        <p:xfrm>
          <a:off x="2580256" y="1791362"/>
          <a:ext cx="170136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457200" progId="Equation.DSMT4">
                  <p:embed/>
                </p:oleObj>
              </mc:Choice>
              <mc:Fallback>
                <p:oleObj name="Equation" r:id="rId3" imgW="8506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80256" y="1791362"/>
                        <a:ext cx="170136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4D683D2-F088-4EB0-845B-C449272FBCAE}"/>
              </a:ext>
            </a:extLst>
          </p:cNvPr>
          <p:cNvSpPr txBox="1"/>
          <p:nvPr/>
        </p:nvSpPr>
        <p:spPr>
          <a:xfrm>
            <a:off x="397004" y="1172141"/>
            <a:ext cx="5378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Particle in a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ball – shaped potential well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6856CC4-0986-410F-8994-71C3C55108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741620"/>
              </p:ext>
            </p:extLst>
          </p:nvPr>
        </p:nvGraphicFramePr>
        <p:xfrm>
          <a:off x="397004" y="2863318"/>
          <a:ext cx="800100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00320" imgH="1015920" progId="Equation.DSMT4">
                  <p:embed/>
                </p:oleObj>
              </mc:Choice>
              <mc:Fallback>
                <p:oleObj name="Equation" r:id="rId5" imgW="4000320" imgH="1015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7004" y="2863318"/>
                        <a:ext cx="8001000" cy="20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F0E625D-ACBA-4510-9DE5-69A5A5AF3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097736"/>
              </p:ext>
            </p:extLst>
          </p:nvPr>
        </p:nvGraphicFramePr>
        <p:xfrm>
          <a:off x="807442" y="5170229"/>
          <a:ext cx="238752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93760" imgH="253800" progId="Equation.DSMT4">
                  <p:embed/>
                </p:oleObj>
              </mc:Choice>
              <mc:Fallback>
                <p:oleObj name="Equation" r:id="rId7" imgW="1193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7442" y="5170229"/>
                        <a:ext cx="238752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7AE53E7-2B7A-48C6-BADF-5BED11736B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850095"/>
              </p:ext>
            </p:extLst>
          </p:nvPr>
        </p:nvGraphicFramePr>
        <p:xfrm>
          <a:off x="838200" y="5848750"/>
          <a:ext cx="1701360" cy="50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50680" imgH="253800" progId="Equation.DSMT4">
                  <p:embed/>
                </p:oleObj>
              </mc:Choice>
              <mc:Fallback>
                <p:oleObj name="Equation" r:id="rId9" imgW="8506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8200" y="5848750"/>
                        <a:ext cx="1701360" cy="50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520A5E5D-8C91-C277-5571-D6ADC66B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1734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EE1A9E7-2CDD-48E4-9E70-E295019221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031405"/>
              </p:ext>
            </p:extLst>
          </p:nvPr>
        </p:nvGraphicFramePr>
        <p:xfrm>
          <a:off x="7564153" y="1528744"/>
          <a:ext cx="1422000" cy="86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1000" imgH="431640" progId="Equation.DSMT4">
                  <p:embed/>
                </p:oleObj>
              </mc:Choice>
              <mc:Fallback>
                <p:oleObj name="Equation" r:id="rId2" imgW="711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64153" y="1528744"/>
                        <a:ext cx="1422000" cy="863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95B9395-953C-4C99-9174-21B53489A0D5}"/>
              </a:ext>
            </a:extLst>
          </p:cNvPr>
          <p:cNvSpPr txBox="1"/>
          <p:nvPr/>
        </p:nvSpPr>
        <p:spPr>
          <a:xfrm>
            <a:off x="389758" y="1567583"/>
            <a:ext cx="3496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potential well, V = 0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F4B9B9-3EBA-4298-8F93-303366DA62B5}"/>
              </a:ext>
            </a:extLst>
          </p:cNvPr>
          <p:cNvSpPr txBox="1"/>
          <p:nvPr/>
        </p:nvSpPr>
        <p:spPr>
          <a:xfrm>
            <a:off x="484233" y="2741922"/>
            <a:ext cx="1007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=0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A6DA9BC-6CEC-4C2C-8DAB-EFFC6D52A2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698201"/>
              </p:ext>
            </p:extLst>
          </p:nvPr>
        </p:nvGraphicFramePr>
        <p:xfrm>
          <a:off x="3915317" y="2800038"/>
          <a:ext cx="149832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9160" imgH="419040" progId="Equation.DSMT4">
                  <p:embed/>
                </p:oleObj>
              </mc:Choice>
              <mc:Fallback>
                <p:oleObj name="Equation" r:id="rId4" imgW="7491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15317" y="2800038"/>
                        <a:ext cx="1498320" cy="838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5C67CA4-F1A9-43EC-A520-6B38A5490A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816101"/>
              </p:ext>
            </p:extLst>
          </p:nvPr>
        </p:nvGraphicFramePr>
        <p:xfrm>
          <a:off x="3915317" y="3661019"/>
          <a:ext cx="32508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419040" progId="Equation.DSMT4">
                  <p:embed/>
                </p:oleObj>
              </mc:Choice>
              <mc:Fallback>
                <p:oleObj name="Equation" r:id="rId6" imgW="1625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15317" y="3661019"/>
                        <a:ext cx="3250800" cy="838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6B96848-2F72-40BF-99A3-580D12A5B3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373747"/>
              </p:ext>
            </p:extLst>
          </p:nvPr>
        </p:nvGraphicFramePr>
        <p:xfrm>
          <a:off x="7695461" y="3831956"/>
          <a:ext cx="157464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320" imgH="228600" progId="Equation.DSMT4">
                  <p:embed/>
                </p:oleObj>
              </mc:Choice>
              <mc:Fallback>
                <p:oleObj name="Equation" r:id="rId8" imgW="787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95461" y="3831956"/>
                        <a:ext cx="157464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32C5000-4D52-4132-B5D4-8213FE8DB1B7}"/>
              </a:ext>
            </a:extLst>
          </p:cNvPr>
          <p:cNvSpPr txBox="1"/>
          <p:nvPr/>
        </p:nvSpPr>
        <p:spPr>
          <a:xfrm>
            <a:off x="597198" y="4594901"/>
            <a:ext cx="1002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0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78C324-15AA-409E-826E-691C768555B7}"/>
              </a:ext>
            </a:extLst>
          </p:cNvPr>
          <p:cNvSpPr txBox="1"/>
          <p:nvPr/>
        </p:nvSpPr>
        <p:spPr>
          <a:xfrm>
            <a:off x="597198" y="5178365"/>
            <a:ext cx="9288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U(r) is the linear combination of Bessel functions and Neumann functions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DD9CE92-826E-6EBF-FCE0-BA2058DF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00B8-501E-4BFE-8932-446FCCB6D305}" type="slidenum">
              <a:rPr lang="zh-CN" altLang="en-US" smtClean="0"/>
              <a:t>63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AA3A354-C927-1AE3-0823-802CAEDAC583}"/>
              </a:ext>
            </a:extLst>
          </p:cNvPr>
          <p:cNvGrpSpPr/>
          <p:nvPr/>
        </p:nvGrpSpPr>
        <p:grpSpPr>
          <a:xfrm>
            <a:off x="3475781" y="360175"/>
            <a:ext cx="4368240" cy="964800"/>
            <a:chOff x="3475781" y="360175"/>
            <a:chExt cx="4368240" cy="964800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5A0576B6-2896-4D44-97C0-9B1F3308CB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7772492"/>
                </p:ext>
              </p:extLst>
            </p:nvPr>
          </p:nvGraphicFramePr>
          <p:xfrm>
            <a:off x="3475781" y="360175"/>
            <a:ext cx="4368240" cy="96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84120" imgH="482400" progId="Equation.DSMT4">
                    <p:embed/>
                  </p:oleObj>
                </mc:Choice>
                <mc:Fallback>
                  <p:oleObj name="Equation" r:id="rId10" imgW="218412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475781" y="360175"/>
                          <a:ext cx="4368240" cy="96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0FBA3C1-207C-50F4-7856-EC47344D1ED8}"/>
                </a:ext>
              </a:extLst>
            </p:cNvPr>
            <p:cNvSpPr txBox="1"/>
            <p:nvPr/>
          </p:nvSpPr>
          <p:spPr>
            <a:xfrm>
              <a:off x="5943601" y="387049"/>
              <a:ext cx="84311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2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200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2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200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2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F114F02-562B-905B-7F53-E8AB719455CE}"/>
              </a:ext>
            </a:extLst>
          </p:cNvPr>
          <p:cNvGrpSpPr/>
          <p:nvPr/>
        </p:nvGrpSpPr>
        <p:grpSpPr>
          <a:xfrm>
            <a:off x="3907722" y="1477984"/>
            <a:ext cx="2793600" cy="964800"/>
            <a:chOff x="3907722" y="1477984"/>
            <a:chExt cx="2793600" cy="964800"/>
          </a:xfrm>
        </p:grpSpPr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77353F25-74D7-4638-9D04-3AAF8DC268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2698145"/>
                </p:ext>
              </p:extLst>
            </p:nvPr>
          </p:nvGraphicFramePr>
          <p:xfrm>
            <a:off x="3907722" y="1477984"/>
            <a:ext cx="2793600" cy="96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0" imgH="482400" progId="Equation.DSMT4">
                    <p:embed/>
                  </p:oleObj>
                </mc:Choice>
                <mc:Fallback>
                  <p:oleObj name="Equation" r:id="rId12" imgW="139680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907722" y="1477984"/>
                          <a:ext cx="2793600" cy="96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228348C-24E2-7FC6-8652-B299D185F6FB}"/>
                </a:ext>
              </a:extLst>
            </p:cNvPr>
            <p:cNvSpPr txBox="1"/>
            <p:nvPr/>
          </p:nvSpPr>
          <p:spPr>
            <a:xfrm>
              <a:off x="4892796" y="1497955"/>
              <a:ext cx="84311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2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200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CN" sz="22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200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200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2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9751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4012" y="424132"/>
            <a:ext cx="2001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 force</a:t>
            </a:r>
          </a:p>
        </p:txBody>
      </p:sp>
      <p:graphicFrame>
        <p:nvGraphicFramePr>
          <p:cNvPr id="5" name="Object 7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877461" y="480985"/>
          <a:ext cx="1138237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0" imgH="0" progId="Equation.3">
                  <p:embed/>
                </p:oleObj>
              </mc:Choice>
              <mc:Fallback>
                <p:oleObj name="公式" r:id="rId2" imgW="0" imgH="0" progId="Equation.3">
                  <p:embed/>
                  <p:pic>
                    <p:nvPicPr>
                      <p:cNvPr id="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7461" y="480985"/>
                        <a:ext cx="1138237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/>
          <p:cNvGraphicFramePr>
            <a:graphicFrameLocks noChangeAspect="1"/>
          </p:cNvGraphicFramePr>
          <p:nvPr/>
        </p:nvGraphicFramePr>
        <p:xfrm>
          <a:off x="2706699" y="944577"/>
          <a:ext cx="347976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419040" progId="Equation.DSMT4">
                  <p:embed/>
                </p:oleObj>
              </mc:Choice>
              <mc:Fallback>
                <p:oleObj name="Equation" r:id="rId4" imgW="1739880" imgH="419040" progId="Equation.DSMT4">
                  <p:embed/>
                  <p:pic>
                    <p:nvPicPr>
                      <p:cNvPr id="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99" y="944577"/>
                        <a:ext cx="347976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9172068"/>
              </p:ext>
            </p:extLst>
          </p:nvPr>
        </p:nvGraphicFramePr>
        <p:xfrm>
          <a:off x="3115701" y="2265484"/>
          <a:ext cx="1523520" cy="60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61760" imgH="304560" progId="Equation.DSMT4">
                  <p:embed/>
                </p:oleObj>
              </mc:Choice>
              <mc:Fallback>
                <p:oleObj name="Equation" r:id="rId6" imgW="761760" imgH="304560" progId="Equation.DSMT4">
                  <p:embed/>
                  <p:pic>
                    <p:nvPicPr>
                      <p:cNvPr id="1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701" y="2265484"/>
                        <a:ext cx="1523520" cy="609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075508"/>
              </p:ext>
            </p:extLst>
          </p:nvPr>
        </p:nvGraphicFramePr>
        <p:xfrm>
          <a:off x="6804275" y="2265484"/>
          <a:ext cx="14970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304560" progId="Equation.DSMT4">
                  <p:embed/>
                </p:oleObj>
              </mc:Choice>
              <mc:Fallback>
                <p:oleObj name="Equation" r:id="rId8" imgW="749160" imgH="304560" progId="Equation.DSMT4">
                  <p:embed/>
                  <p:pic>
                    <p:nvPicPr>
                      <p:cNvPr id="1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75" y="2265484"/>
                        <a:ext cx="14970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829741"/>
              </p:ext>
            </p:extLst>
          </p:nvPr>
        </p:nvGraphicFramePr>
        <p:xfrm>
          <a:off x="6517234" y="3904259"/>
          <a:ext cx="37687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4600" imgH="672840" progId="Equation.DSMT4">
                  <p:embed/>
                </p:oleObj>
              </mc:Choice>
              <mc:Fallback>
                <p:oleObj name="Equation" r:id="rId10" imgW="2514600" imgH="6728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7234" y="3904259"/>
                        <a:ext cx="3768725" cy="100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088833"/>
              </p:ext>
            </p:extLst>
          </p:nvPr>
        </p:nvGraphicFramePr>
        <p:xfrm>
          <a:off x="1170944" y="3823572"/>
          <a:ext cx="36734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50880" imgH="685800" progId="Equation.DSMT4">
                  <p:embed/>
                </p:oleObj>
              </mc:Choice>
              <mc:Fallback>
                <p:oleObj name="Equation" r:id="rId12" imgW="2450880" imgH="6858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0944" y="3823572"/>
                        <a:ext cx="3673475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: 圆角 1">
            <a:extLst>
              <a:ext uri="{FF2B5EF4-FFF2-40B4-BE49-F238E27FC236}">
                <a16:creationId xmlns:a16="http://schemas.microsoft.com/office/drawing/2014/main" id="{185339EA-4B6E-8EC1-53E3-DD4C269A9A7F}"/>
              </a:ext>
            </a:extLst>
          </p:cNvPr>
          <p:cNvSpPr/>
          <p:nvPr/>
        </p:nvSpPr>
        <p:spPr>
          <a:xfrm>
            <a:off x="4446579" y="2265484"/>
            <a:ext cx="192642" cy="5447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F417681-E1F5-9F7D-0E30-3ED5321DEE13}"/>
              </a:ext>
            </a:extLst>
          </p:cNvPr>
          <p:cNvSpPr/>
          <p:nvPr/>
        </p:nvSpPr>
        <p:spPr>
          <a:xfrm>
            <a:off x="8067711" y="2329805"/>
            <a:ext cx="192642" cy="5447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9363F03-2C24-0140-B5DD-7013736EDE59}"/>
              </a:ext>
            </a:extLst>
          </p:cNvPr>
          <p:cNvSpPr/>
          <p:nvPr/>
        </p:nvSpPr>
        <p:spPr>
          <a:xfrm>
            <a:off x="4651777" y="4175633"/>
            <a:ext cx="192642" cy="5447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95D576B-5DF6-C735-6BF1-F102BEF872DE}"/>
              </a:ext>
            </a:extLst>
          </p:cNvPr>
          <p:cNvSpPr/>
          <p:nvPr/>
        </p:nvSpPr>
        <p:spPr>
          <a:xfrm>
            <a:off x="10064939" y="4274632"/>
            <a:ext cx="192642" cy="5447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30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3377</TotalTime>
  <Words>3495</Words>
  <Application>Microsoft Office PowerPoint</Application>
  <PresentationFormat>宽屏</PresentationFormat>
  <Paragraphs>415</Paragraphs>
  <Slides>64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64</vt:i4>
      </vt:variant>
    </vt:vector>
  </HeadingPairs>
  <TitlesOfParts>
    <vt:vector size="79" baseType="lpstr">
      <vt:lpstr>等线</vt:lpstr>
      <vt:lpstr>等线 Light</vt:lpstr>
      <vt:lpstr>黑体</vt:lpstr>
      <vt:lpstr>Arial</vt:lpstr>
      <vt:lpstr>Calibri</vt:lpstr>
      <vt:lpstr>Calisto MT</vt:lpstr>
      <vt:lpstr>Cambria Math</vt:lpstr>
      <vt:lpstr>Symbol</vt:lpstr>
      <vt:lpstr>Times New Roman</vt:lpstr>
      <vt:lpstr>Office 主题​​</vt:lpstr>
      <vt:lpstr>Equation</vt:lpstr>
      <vt:lpstr>CS ChemDraw Drawing</vt:lpstr>
      <vt:lpstr>Equation.3</vt:lpstr>
      <vt:lpstr>Equation.KSEE3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peifeng su</dc:creator>
  <cp:lastModifiedBy>8618150104212</cp:lastModifiedBy>
  <cp:revision>154</cp:revision>
  <dcterms:created xsi:type="dcterms:W3CDTF">2021-09-20T14:08:58Z</dcterms:created>
  <dcterms:modified xsi:type="dcterms:W3CDTF">2025-09-16T13:41:50Z</dcterms:modified>
</cp:coreProperties>
</file>