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8" r:id="rId3"/>
    <p:sldId id="257" r:id="rId4"/>
    <p:sldId id="269" r:id="rId5"/>
    <p:sldId id="259" r:id="rId6"/>
    <p:sldId id="260" r:id="rId7"/>
    <p:sldId id="261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58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13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89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9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40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52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4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43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25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5EB4C-36A0-4C71-9AD8-445EA870A8CB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72D06-4344-484B-A5D5-EF40BC6BB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slvpn.xmu.edu.cn/" TargetMode="External"/><Relationship Id="rId2" Type="http://schemas.openxmlformats.org/officeDocument/2006/relationships/hyperlink" Target="https://vpn.xmu.edu.cn/info/1260/1203.ht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121.192.177.170:8000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92538" y="3500438"/>
            <a:ext cx="5327650" cy="650875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3600" dirty="0">
                <a:solidFill>
                  <a:srgbClr val="FFFFFF"/>
                </a:solidFill>
              </a:rPr>
              <a:t>物理虚拟仿真实验</a:t>
            </a:r>
          </a:p>
        </p:txBody>
      </p:sp>
      <p:pic>
        <p:nvPicPr>
          <p:cNvPr id="9219" name="图片 4" descr="C:\Users\chl\AppData\Roaming\Tencent\Users\20924601\TIM\WinTemp\RichOle\EE0V01IB$YA~R$[(DFWIR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484313"/>
            <a:ext cx="324008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图片 6" descr="C:\Users\chl\AppData\Roaming\Tencent\Users\20924601\TIM\WinTemp\RichOle\X2Z0~}{5V_]2H`EY]]%7YR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4437063"/>
            <a:ext cx="33845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图片 8" descr="C:\Users\chl\AppData\Roaming\Tencent\Users\20924601\TIM\WinTemp\RichOle\OG)][B@C5E]R8%5Z`JMUZR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1484313"/>
            <a:ext cx="3240088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图片 9" descr="C:\Users\chl\AppData\Roaming\Tencent\Users\20924601\TIM\WinTemp\RichOle\Y}1}}YCGV5EU9N~8ALYAM$L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4437063"/>
            <a:ext cx="3240088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149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68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2862025" y="-2763688"/>
            <a:chExt cx="7272808" cy="6858000"/>
          </a:xfrm>
        </p:grpSpPr>
        <p:sp>
          <p:nvSpPr>
            <p:cNvPr id="7" name="矩形 6"/>
            <p:cNvSpPr/>
            <p:nvPr/>
          </p:nvSpPr>
          <p:spPr>
            <a:xfrm>
              <a:off x="2862025" y="-2763688"/>
              <a:ext cx="7272808" cy="6858000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6000">
                  <a:schemeClr val="bg1"/>
                </a:gs>
                <a:gs pos="8600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2862025" y="-1927075"/>
              <a:ext cx="7272808" cy="7143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334411" y="1571670"/>
            <a:ext cx="90386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hlinkClick r:id="rId2"/>
              </a:rPr>
              <a:t>SSLVPN </a:t>
            </a:r>
            <a:r>
              <a:rPr lang="zh-CN" altLang="en-US" sz="2800" dirty="0">
                <a:hlinkClick r:id="rId2"/>
              </a:rPr>
              <a:t>使用说明</a:t>
            </a:r>
            <a:r>
              <a:rPr lang="en-US" altLang="zh-CN" sz="2800" dirty="0">
                <a:hlinkClick r:id="rId2"/>
              </a:rPr>
              <a:t>-</a:t>
            </a:r>
            <a:r>
              <a:rPr lang="zh-CN" altLang="en-US" sz="2800" dirty="0">
                <a:hlinkClick r:id="rId2"/>
              </a:rPr>
              <a:t>厦门大学</a:t>
            </a:r>
            <a:r>
              <a:rPr lang="en-US" altLang="zh-CN" sz="2800" dirty="0">
                <a:hlinkClick r:id="rId2"/>
              </a:rPr>
              <a:t>VPN</a:t>
            </a:r>
            <a:r>
              <a:rPr lang="zh-CN" altLang="en-US" sz="2800" dirty="0">
                <a:hlinkClick r:id="rId2"/>
              </a:rPr>
              <a:t>专题网站 </a:t>
            </a:r>
            <a:r>
              <a:rPr lang="en-US" altLang="zh-CN" sz="2800" dirty="0">
                <a:hlinkClick r:id="rId2"/>
              </a:rPr>
              <a:t>(xmu.edu.cn)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871104" y="231196"/>
            <a:ext cx="4281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校外网络连校内须：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53536" y="3089564"/>
            <a:ext cx="8340437" cy="289758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按上面网站步骤激活</a:t>
            </a:r>
            <a:endParaRPr lang="en-US" altLang="zh-CN" sz="3200" dirty="0" smtClean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用</a:t>
            </a:r>
            <a:r>
              <a:rPr lang="zh-CN" altLang="en-US" sz="3200" dirty="0"/>
              <a:t>浏览器访问 </a:t>
            </a:r>
            <a:r>
              <a:rPr lang="en-US" altLang="zh-CN" sz="3200" dirty="0">
                <a:hlinkClick r:id="rId3"/>
              </a:rPr>
              <a:t>https://sslvpn.xmu.edu.cn</a:t>
            </a:r>
            <a:r>
              <a:rPr lang="zh-CN" altLang="en-US" sz="3200" dirty="0"/>
              <a:t> </a:t>
            </a:r>
            <a:endParaRPr lang="en-US" altLang="zh-CN" sz="3200" dirty="0" smtClean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用厦大企业微信扫码进</a:t>
            </a:r>
            <a:r>
              <a:rPr lang="zh-CN" altLang="en-US" sz="3200" dirty="0"/>
              <a:t>行登</a:t>
            </a:r>
            <a:r>
              <a:rPr lang="zh-CN" altLang="en-US" sz="3200" dirty="0" smtClean="0"/>
              <a:t>录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6851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8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2862025" y="-2763688"/>
            <a:chExt cx="7272808" cy="6858000"/>
          </a:xfrm>
        </p:grpSpPr>
        <p:sp>
          <p:nvSpPr>
            <p:cNvPr id="8" name="矩形 7"/>
            <p:cNvSpPr/>
            <p:nvPr/>
          </p:nvSpPr>
          <p:spPr>
            <a:xfrm>
              <a:off x="2862025" y="-2763688"/>
              <a:ext cx="7272808" cy="6858000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6000">
                  <a:schemeClr val="bg1"/>
                </a:gs>
                <a:gs pos="8600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2862025" y="-1927075"/>
              <a:ext cx="7272808" cy="7143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1167266" y="1920096"/>
            <a:ext cx="948168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dirty="0" smtClean="0">
                <a:latin typeface="+mn-ea"/>
                <a:hlinkClick r:id="rId2"/>
              </a:rPr>
              <a:t>浏览器输入地址： </a:t>
            </a:r>
            <a:r>
              <a:rPr lang="en-US" altLang="zh-CN" sz="3200" dirty="0" smtClean="0">
                <a:latin typeface="+mn-ea"/>
                <a:hlinkClick r:id="rId2"/>
              </a:rPr>
              <a:t>http://121.192.177.170:8000</a:t>
            </a:r>
            <a:endParaRPr lang="en-US" altLang="zh-CN" sz="3200" dirty="0" smtClean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363" y="306532"/>
            <a:ext cx="5056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虚拟仿真实</a:t>
            </a:r>
            <a:r>
              <a:rPr lang="zh-CN" altLang="en-US" sz="3600" b="1" dirty="0" smtClean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验网址</a:t>
            </a:r>
            <a:endParaRPr lang="zh-CN" altLang="en-US" sz="3600" b="1" dirty="0">
              <a:solidFill>
                <a:schemeClr val="tx2"/>
              </a:solidFill>
              <a:latin typeface="Noto Sans S Chinese Black" pitchFamily="34" charset="-122"/>
              <a:ea typeface="Noto Sans S Chinese Black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48112" y="3233562"/>
            <a:ext cx="377539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20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微软雅黑"/>
              </a:rPr>
              <a:t>学生账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/>
              </a:rPr>
              <a:t>号：为学</a:t>
            </a:r>
            <a:r>
              <a:rPr lang="zh-CN" altLang="en-US" sz="2800" dirty="0">
                <a:solidFill>
                  <a:prstClr val="black"/>
                </a:solidFill>
                <a:latin typeface="微软雅黑"/>
              </a:rPr>
              <a:t>生学号</a:t>
            </a:r>
          </a:p>
        </p:txBody>
      </p:sp>
      <p:sp>
        <p:nvSpPr>
          <p:cNvPr id="6" name="矩形 5"/>
          <p:cNvSpPr/>
          <p:nvPr/>
        </p:nvSpPr>
        <p:spPr>
          <a:xfrm>
            <a:off x="2989208" y="4302074"/>
            <a:ext cx="3775393" cy="8241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200000"/>
              </a:lnSpc>
            </a:pPr>
            <a:r>
              <a:rPr lang="zh-CN" altLang="en-US" sz="2800" dirty="0" smtClean="0">
                <a:solidFill>
                  <a:prstClr val="black"/>
                </a:solidFill>
                <a:latin typeface="微软雅黑"/>
              </a:rPr>
              <a:t>账</a:t>
            </a:r>
            <a:r>
              <a:rPr lang="zh-CN" altLang="en-US" sz="2800" dirty="0">
                <a:solidFill>
                  <a:prstClr val="black"/>
                </a:solidFill>
                <a:latin typeface="微软雅黑"/>
              </a:rPr>
              <a:t>号密码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/>
              </a:rPr>
              <a:t>：为学</a:t>
            </a:r>
            <a:r>
              <a:rPr lang="zh-CN" altLang="en-US" sz="2800" dirty="0">
                <a:solidFill>
                  <a:prstClr val="black"/>
                </a:solidFill>
                <a:latin typeface="微软雅黑"/>
              </a:rPr>
              <a:t>生学号</a:t>
            </a:r>
          </a:p>
        </p:txBody>
      </p:sp>
    </p:spTree>
    <p:extLst>
      <p:ext uri="{BB962C8B-B14F-4D97-AF65-F5344CB8AC3E}">
        <p14:creationId xmlns:p14="http://schemas.microsoft.com/office/powerpoint/2010/main" val="64646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68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2862025" y="-2763688"/>
            <a:chExt cx="7272808" cy="6858000"/>
          </a:xfrm>
        </p:grpSpPr>
        <p:sp>
          <p:nvSpPr>
            <p:cNvPr id="6" name="矩形 5"/>
            <p:cNvSpPr/>
            <p:nvPr/>
          </p:nvSpPr>
          <p:spPr>
            <a:xfrm>
              <a:off x="2862025" y="-2763688"/>
              <a:ext cx="7272808" cy="6858000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6000">
                  <a:schemeClr val="bg1"/>
                </a:gs>
                <a:gs pos="8600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862025" y="-1927075"/>
              <a:ext cx="7272808" cy="7143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14" y="1030741"/>
            <a:ext cx="8305800" cy="53054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71121" y="292128"/>
            <a:ext cx="26468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b="1" dirty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仿真实</a:t>
            </a:r>
            <a:r>
              <a:rPr lang="zh-CN" altLang="en-US" sz="3200" b="1" dirty="0" smtClean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验首页</a:t>
            </a:r>
            <a:endParaRPr lang="zh-CN" altLang="en-US" sz="3200" b="1" dirty="0">
              <a:solidFill>
                <a:schemeClr val="tx2"/>
              </a:solidFill>
              <a:latin typeface="Noto Sans S Chinese Black" pitchFamily="34" charset="-122"/>
              <a:ea typeface="Noto Sans S Chinese Black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400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8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2862025" y="-2763688"/>
            <a:chExt cx="7272808" cy="6858000"/>
          </a:xfrm>
        </p:grpSpPr>
        <p:sp>
          <p:nvSpPr>
            <p:cNvPr id="5" name="矩形 4"/>
            <p:cNvSpPr/>
            <p:nvPr/>
          </p:nvSpPr>
          <p:spPr>
            <a:xfrm>
              <a:off x="2862025" y="-2763688"/>
              <a:ext cx="7272808" cy="6858000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6000">
                  <a:schemeClr val="bg1"/>
                </a:gs>
                <a:gs pos="8600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2862025" y="-1927075"/>
              <a:ext cx="7272808" cy="7143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8" b="8485"/>
          <a:stretch/>
        </p:blipFill>
        <p:spPr>
          <a:xfrm>
            <a:off x="3798745" y="224819"/>
            <a:ext cx="7135089" cy="663318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8544" y="304800"/>
            <a:ext cx="3519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网站打开后点击</a:t>
            </a:r>
          </a:p>
        </p:txBody>
      </p:sp>
    </p:spTree>
    <p:extLst>
      <p:ext uri="{BB962C8B-B14F-4D97-AF65-F5344CB8AC3E}">
        <p14:creationId xmlns:p14="http://schemas.microsoft.com/office/powerpoint/2010/main" val="229046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13"/>
          <a:stretch/>
        </p:blipFill>
        <p:spPr>
          <a:xfrm>
            <a:off x="769933" y="242464"/>
            <a:ext cx="9371594" cy="606827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202873" y="886691"/>
            <a:ext cx="1330036" cy="7897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20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809625"/>
            <a:ext cx="11668125" cy="52387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80282" y="201394"/>
            <a:ext cx="3519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 smtClean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点击要做的实验</a:t>
            </a:r>
            <a:endParaRPr lang="zh-CN" altLang="en-US" sz="3600" b="1" dirty="0">
              <a:solidFill>
                <a:schemeClr val="tx2"/>
              </a:solidFill>
              <a:latin typeface="Noto Sans S Chinese Black" pitchFamily="34" charset="-122"/>
              <a:ea typeface="Noto Sans S Chinese Black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244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68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2862025" y="-2763688"/>
            <a:chExt cx="7272808" cy="6858000"/>
          </a:xfrm>
        </p:grpSpPr>
        <p:sp>
          <p:nvSpPr>
            <p:cNvPr id="6" name="矩形 5"/>
            <p:cNvSpPr/>
            <p:nvPr/>
          </p:nvSpPr>
          <p:spPr>
            <a:xfrm>
              <a:off x="2862025" y="-2763688"/>
              <a:ext cx="7272808" cy="6858000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6000">
                  <a:schemeClr val="bg1"/>
                </a:gs>
                <a:gs pos="8600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862025" y="-1927075"/>
              <a:ext cx="7272808" cy="7143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157287"/>
            <a:ext cx="11515725" cy="45434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81891" y="5043055"/>
            <a:ext cx="1330036" cy="4433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04107" y="163294"/>
            <a:ext cx="3519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600" b="1" dirty="0" smtClean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点击开始实验</a:t>
            </a:r>
            <a:endParaRPr lang="zh-CN" altLang="en-US" sz="3600" b="1" dirty="0">
              <a:solidFill>
                <a:schemeClr val="tx2"/>
              </a:solidFill>
              <a:latin typeface="Noto Sans S Chinese Black" pitchFamily="34" charset="-122"/>
              <a:ea typeface="Noto Sans S Chinese Black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67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30853" y="487357"/>
            <a:ext cx="10488676" cy="5284001"/>
            <a:chOff x="374154" y="755387"/>
            <a:chExt cx="11250595" cy="555385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154" y="755387"/>
              <a:ext cx="11250595" cy="5553850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8974400" y="2660953"/>
              <a:ext cx="2382982" cy="52647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右箭头 3"/>
            <p:cNvSpPr/>
            <p:nvPr/>
          </p:nvSpPr>
          <p:spPr>
            <a:xfrm rot="7744599">
              <a:off x="10043292" y="2160769"/>
              <a:ext cx="360218" cy="4710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95412" y="1402198"/>
              <a:ext cx="1079389" cy="1063969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1750288" y="6125132"/>
            <a:ext cx="9693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44546A"/>
                </a:solidFill>
                <a:latin typeface="Noto Sans S Chinese Black" pitchFamily="34" charset="-122"/>
                <a:ea typeface="Noto Sans S Chinese Black" pitchFamily="34" charset="-122"/>
              </a:rPr>
              <a:t>运行环境为</a:t>
            </a:r>
            <a:r>
              <a:rPr lang="en-US" altLang="zh-CN" sz="2800" b="1" dirty="0">
                <a:solidFill>
                  <a:srgbClr val="44546A"/>
                </a:solidFill>
                <a:latin typeface="Noto Sans S Chinese Black" pitchFamily="34" charset="-122"/>
                <a:ea typeface="Noto Sans S Chinese Black" pitchFamily="34" charset="-122"/>
              </a:rPr>
              <a:t>V5.6</a:t>
            </a:r>
            <a:r>
              <a:rPr lang="zh-CN" altLang="en-US" sz="2800" b="1" dirty="0" smtClean="0">
                <a:solidFill>
                  <a:srgbClr val="44546A"/>
                </a:solidFill>
                <a:latin typeface="Noto Sans S Chinese Black" pitchFamily="34" charset="-122"/>
                <a:ea typeface="Noto Sans S Chinese Black" pitchFamily="34" charset="-122"/>
              </a:rPr>
              <a:t>，安装过压</a:t>
            </a:r>
            <a:r>
              <a:rPr lang="zh-CN" altLang="en-US" sz="2800" b="1" dirty="0">
                <a:solidFill>
                  <a:srgbClr val="44546A"/>
                </a:solidFill>
                <a:latin typeface="Noto Sans S Chinese Black" pitchFamily="34" charset="-122"/>
                <a:ea typeface="Noto Sans S Chinese Black" pitchFamily="34" charset="-122"/>
              </a:rPr>
              <a:t>缩包可以直接点开始实验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16641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68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2862025" y="-2763688"/>
            <a:chExt cx="7272808" cy="6858000"/>
          </a:xfrm>
        </p:grpSpPr>
        <p:sp>
          <p:nvSpPr>
            <p:cNvPr id="70" name="矩形 69"/>
            <p:cNvSpPr/>
            <p:nvPr/>
          </p:nvSpPr>
          <p:spPr>
            <a:xfrm>
              <a:off x="2862025" y="-2763688"/>
              <a:ext cx="7272808" cy="6858000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6000">
                  <a:schemeClr val="bg1"/>
                </a:gs>
                <a:gs pos="86000">
                  <a:schemeClr val="bg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2862025" y="-1927075"/>
              <a:ext cx="7272808" cy="7143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8172450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162175" y="990600"/>
            <a:ext cx="8181975" cy="569595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6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1484313"/>
            <a:ext cx="4968875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538" y="1557338"/>
            <a:ext cx="2490787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084263"/>
            <a:ext cx="5995988" cy="516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463" y="1128713"/>
            <a:ext cx="5908675" cy="514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7"/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838" y="1328738"/>
            <a:ext cx="5532437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8"/>
          <p:cNvPicPr preferRelativeResize="0"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8" y="1095375"/>
            <a:ext cx="5922962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101725"/>
            <a:ext cx="6067425" cy="515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内容占位符 71" descr="timg (12).jpg"/>
          <p:cNvPicPr>
            <a:picLocks noGrp="1" noChangeAspect="1"/>
          </p:cNvPicPr>
          <p:nvPr>
            <p:ph idx="1"/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13843" r="19252" b="12331"/>
          <a:stretch>
            <a:fillRect/>
          </a:stretch>
        </p:blipFill>
        <p:spPr>
          <a:xfrm>
            <a:off x="8891588" y="1952625"/>
            <a:ext cx="301625" cy="369888"/>
          </a:xfrm>
        </p:spPr>
      </p:pic>
      <p:pic>
        <p:nvPicPr>
          <p:cNvPr id="77" name="内容占位符 71" descr="timg (12).jpg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13843" r="19252" b="12331"/>
          <a:stretch>
            <a:fillRect/>
          </a:stretch>
        </p:blipFill>
        <p:spPr bwMode="auto">
          <a:xfrm>
            <a:off x="9807575" y="1087438"/>
            <a:ext cx="3016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内容占位符 71" descr="timg (12).jpg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13843" r="19252" b="12331"/>
          <a:stretch>
            <a:fillRect/>
          </a:stretch>
        </p:blipFill>
        <p:spPr bwMode="auto">
          <a:xfrm>
            <a:off x="9212263" y="1065213"/>
            <a:ext cx="3016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内容占位符 71" descr="timg (12)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13843" r="19252" b="12331"/>
          <a:stretch>
            <a:fillRect/>
          </a:stretch>
        </p:blipFill>
        <p:spPr bwMode="auto">
          <a:xfrm>
            <a:off x="9620250" y="5834063"/>
            <a:ext cx="274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内容占位符 71" descr="timg (12)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13843" r="19252" b="12331"/>
          <a:stretch>
            <a:fillRect/>
          </a:stretch>
        </p:blipFill>
        <p:spPr bwMode="auto">
          <a:xfrm>
            <a:off x="9626600" y="3756025"/>
            <a:ext cx="287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内容占位符 71" descr="timg (12)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13843" r="19252" b="12331"/>
          <a:stretch>
            <a:fillRect/>
          </a:stretch>
        </p:blipFill>
        <p:spPr bwMode="auto">
          <a:xfrm>
            <a:off x="6994525" y="3625850"/>
            <a:ext cx="2889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内容占位符 71" descr="timg (12)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4" t="13843" r="19252" b="12331"/>
          <a:stretch>
            <a:fillRect/>
          </a:stretch>
        </p:blipFill>
        <p:spPr bwMode="auto">
          <a:xfrm>
            <a:off x="4478338" y="4067175"/>
            <a:ext cx="233362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9" name="矩形 20"/>
          <p:cNvSpPr>
            <a:spLocks noChangeArrowheads="1"/>
          </p:cNvSpPr>
          <p:nvPr/>
        </p:nvSpPr>
        <p:spPr bwMode="auto">
          <a:xfrm>
            <a:off x="941206" y="237218"/>
            <a:ext cx="1439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Noto Sans S Chinese Black" pitchFamily="34" charset="-122"/>
                <a:ea typeface="Noto Sans S Chinese Black" pitchFamily="34" charset="-122"/>
              </a:rPr>
              <a:t>演示</a:t>
            </a:r>
          </a:p>
        </p:txBody>
      </p:sp>
    </p:spTree>
    <p:extLst>
      <p:ext uri="{BB962C8B-B14F-4D97-AF65-F5344CB8AC3E}">
        <p14:creationId xmlns:p14="http://schemas.microsoft.com/office/powerpoint/2010/main" val="5088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0000"/>
                            </p:stCondLst>
                            <p:childTnLst>
                              <p:par>
                                <p:cTn id="65" presetID="1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2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36500"/>
                            </p:stCondLst>
                            <p:childTnLst>
                              <p:par>
                                <p:cTn id="78" presetID="1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9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410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43000"/>
                            </p:stCondLst>
                            <p:childTnLst>
                              <p:par>
                                <p:cTn id="91" presetID="1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6CF"/>
      </a:accent1>
      <a:accent2>
        <a:srgbClr val="0088F8"/>
      </a:accent2>
      <a:accent3>
        <a:srgbClr val="A5A5A5"/>
      </a:accent3>
      <a:accent4>
        <a:srgbClr val="FFBC00"/>
      </a:accent4>
      <a:accent5>
        <a:srgbClr val="527937"/>
      </a:accent5>
      <a:accent6>
        <a:srgbClr val="70AD47"/>
      </a:accent6>
      <a:hlink>
        <a:srgbClr val="0E228B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139</Words>
  <Application>Microsoft Office PowerPoint</Application>
  <PresentationFormat>宽屏</PresentationFormat>
  <Paragraphs>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Noto Sans S Chinese Black</vt:lpstr>
      <vt:lpstr>黑体</vt:lpstr>
      <vt:lpstr>微软雅黑</vt:lpstr>
      <vt:lpstr>Arial</vt:lpstr>
      <vt:lpstr>Arial Black</vt:lpstr>
      <vt:lpstr>Wingdings</vt:lpstr>
      <vt:lpstr>Office 主题​​</vt:lpstr>
      <vt:lpstr>物理虚拟仿真实验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hlcheng</dc:creator>
  <cp:lastModifiedBy>pec</cp:lastModifiedBy>
  <cp:revision>23</cp:revision>
  <dcterms:created xsi:type="dcterms:W3CDTF">2022-03-06T06:20:05Z</dcterms:created>
  <dcterms:modified xsi:type="dcterms:W3CDTF">2022-10-25T09:04:50Z</dcterms:modified>
</cp:coreProperties>
</file>