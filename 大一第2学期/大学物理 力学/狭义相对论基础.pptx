
<file path=[Content_Types].xml><?xml version="1.0" encoding="utf-8"?>
<Types xmlns="http://schemas.openxmlformats.org/package/2006/content-types">
  <Default Extension="png" ContentType="image/png"/>
  <Default Extension="bin" ContentType="application/vnd.ms-office.activeX"/>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activeX/activeX1.xml" ContentType="application/vnd.ms-office.activeX+xml"/>
  <Override PartName="/ppt/activeX/activeX2.xml" ContentType="application/vnd.ms-office.activeX+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activeX/activeX3.xml" ContentType="application/vnd.ms-office.activeX+xml"/>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ppt/embeddings/oleObject63.bin" ContentType="application/vnd.openxmlformats-officedocument.oleObject"/>
  <Override PartName="/ppt/embeddings/oleObject64.bin" ContentType="application/vnd.openxmlformats-officedocument.oleObject"/>
  <Override PartName="/ppt/embeddings/oleObject65.bin" ContentType="application/vnd.openxmlformats-officedocument.oleObject"/>
  <Override PartName="/ppt/embeddings/oleObject66.bin" ContentType="application/vnd.openxmlformats-officedocument.oleObject"/>
  <Override PartName="/ppt/embeddings/oleObject67.bin" ContentType="application/vnd.openxmlformats-officedocument.oleObject"/>
  <Override PartName="/ppt/embeddings/oleObject68.bin" ContentType="application/vnd.openxmlformats-officedocument.oleObject"/>
  <Override PartName="/ppt/embeddings/oleObject69.bin" ContentType="application/vnd.openxmlformats-officedocument.oleObject"/>
  <Override PartName="/ppt/embeddings/oleObject70.bin" ContentType="application/vnd.openxmlformats-officedocument.oleObject"/>
  <Override PartName="/ppt/embeddings/oleObject71.bin" ContentType="application/vnd.openxmlformats-officedocument.oleObject"/>
  <Override PartName="/ppt/embeddings/oleObject72.bin" ContentType="application/vnd.openxmlformats-officedocument.oleObject"/>
  <Override PartName="/ppt/embeddings/oleObject73.bin" ContentType="application/vnd.openxmlformats-officedocument.oleObject"/>
  <Override PartName="/ppt/embeddings/oleObject74.bin" ContentType="application/vnd.openxmlformats-officedocument.oleObject"/>
  <Override PartName="/ppt/embeddings/oleObject75.bin" ContentType="application/vnd.openxmlformats-officedocument.oleObject"/>
  <Override PartName="/ppt/embeddings/oleObject76.bin" ContentType="application/vnd.openxmlformats-officedocument.oleObject"/>
  <Override PartName="/ppt/embeddings/oleObject77.bin" ContentType="application/vnd.openxmlformats-officedocument.oleObject"/>
  <Override PartName="/ppt/embeddings/oleObject78.bin" ContentType="application/vnd.openxmlformats-officedocument.oleObject"/>
  <Override PartName="/ppt/embeddings/oleObject79.bin" ContentType="application/vnd.openxmlformats-officedocument.oleObject"/>
  <Override PartName="/ppt/embeddings/oleObject80.bin" ContentType="application/vnd.openxmlformats-officedocument.oleObject"/>
  <Override PartName="/ppt/embeddings/oleObject81.bin" ContentType="application/vnd.openxmlformats-officedocument.oleObject"/>
  <Override PartName="/ppt/embeddings/oleObject82.bin" ContentType="application/vnd.openxmlformats-officedocument.oleObject"/>
  <Override PartName="/ppt/embeddings/oleObject83.bin" ContentType="application/vnd.openxmlformats-officedocument.oleObject"/>
  <Override PartName="/ppt/embeddings/oleObject84.bin" ContentType="application/vnd.openxmlformats-officedocument.oleObject"/>
  <Override PartName="/ppt/embeddings/oleObject85.bin" ContentType="application/vnd.openxmlformats-officedocument.oleObject"/>
  <Override PartName="/ppt/embeddings/oleObject86.bin" ContentType="application/vnd.openxmlformats-officedocument.oleObject"/>
  <Override PartName="/ppt/embeddings/oleObject87.bin" ContentType="application/vnd.openxmlformats-officedocument.oleObject"/>
  <Override PartName="/ppt/embeddings/oleObject88.bin" ContentType="application/vnd.openxmlformats-officedocument.oleObject"/>
  <Override PartName="/ppt/embeddings/oleObject89.bin" ContentType="application/vnd.openxmlformats-officedocument.oleObject"/>
  <Override PartName="/ppt/embeddings/oleObject90.bin" ContentType="application/vnd.openxmlformats-officedocument.oleObject"/>
  <Override PartName="/ppt/embeddings/oleObject91.bin" ContentType="application/vnd.openxmlformats-officedocument.oleObject"/>
  <Override PartName="/ppt/embeddings/oleObject92.bin" ContentType="application/vnd.openxmlformats-officedocument.oleObject"/>
  <Override PartName="/ppt/activeX/activeX4.xml" ContentType="application/vnd.ms-office.activeX+xml"/>
  <Override PartName="/ppt/embeddings/oleObject93.bin" ContentType="application/vnd.openxmlformats-officedocument.oleObject"/>
  <Override PartName="/ppt/embeddings/oleObject94.bin" ContentType="application/vnd.openxmlformats-officedocument.oleObject"/>
  <Override PartName="/ppt/embeddings/oleObject95.bin" ContentType="application/vnd.openxmlformats-officedocument.oleObject"/>
  <Override PartName="/ppt/embeddings/oleObject96.bin" ContentType="application/vnd.openxmlformats-officedocument.oleObject"/>
  <Override PartName="/ppt/embeddings/oleObject97.bin" ContentType="application/vnd.openxmlformats-officedocument.oleObject"/>
  <Override PartName="/ppt/embeddings/oleObject98.bin" ContentType="application/vnd.openxmlformats-officedocument.oleObject"/>
  <Override PartName="/ppt/embeddings/oleObject99.bin" ContentType="application/vnd.openxmlformats-officedocument.oleObject"/>
  <Override PartName="/ppt/embeddings/oleObject100.bin" ContentType="application/vnd.openxmlformats-officedocument.oleObject"/>
  <Override PartName="/ppt/embeddings/oleObject101.bin" ContentType="application/vnd.openxmlformats-officedocument.oleObject"/>
  <Override PartName="/ppt/embeddings/oleObject102.bin" ContentType="application/vnd.openxmlformats-officedocument.oleObject"/>
  <Override PartName="/ppt/embeddings/oleObject103.bin" ContentType="application/vnd.openxmlformats-officedocument.oleObject"/>
  <Override PartName="/ppt/embeddings/oleObject104.bin" ContentType="application/vnd.openxmlformats-officedocument.oleObject"/>
  <Override PartName="/ppt/embeddings/oleObject105.bin" ContentType="application/vnd.openxmlformats-officedocument.oleObject"/>
  <Override PartName="/ppt/embeddings/oleObject106.bin" ContentType="application/vnd.openxmlformats-officedocument.oleObject"/>
  <Override PartName="/ppt/embeddings/oleObject107.bin" ContentType="application/vnd.openxmlformats-officedocument.oleObject"/>
  <Override PartName="/ppt/embeddings/oleObject108.bin" ContentType="application/vnd.openxmlformats-officedocument.oleObject"/>
  <Override PartName="/ppt/embeddings/oleObject109.bin" ContentType="application/vnd.openxmlformats-officedocument.oleObject"/>
  <Override PartName="/ppt/embeddings/oleObject110.bin" ContentType="application/vnd.openxmlformats-officedocument.oleObject"/>
  <Override PartName="/ppt/embeddings/oleObject111.bin" ContentType="application/vnd.openxmlformats-officedocument.oleObject"/>
  <Override PartName="/ppt/embeddings/oleObject112.bin" ContentType="application/vnd.openxmlformats-officedocument.oleObject"/>
  <Override PartName="/ppt/embeddings/oleObject113.bin" ContentType="application/vnd.openxmlformats-officedocument.oleObject"/>
  <Override PartName="/ppt/embeddings/oleObject114.bin" ContentType="application/vnd.openxmlformats-officedocument.oleObject"/>
  <Override PartName="/ppt/embeddings/oleObject115.bin" ContentType="application/vnd.openxmlformats-officedocument.oleObject"/>
  <Override PartName="/ppt/embeddings/oleObject116.bin" ContentType="application/vnd.openxmlformats-officedocument.oleObject"/>
  <Override PartName="/ppt/embeddings/oleObject117.bin" ContentType="application/vnd.openxmlformats-officedocument.oleObject"/>
  <Override PartName="/ppt/embeddings/oleObject118.bin" ContentType="application/vnd.openxmlformats-officedocument.oleObject"/>
  <Override PartName="/ppt/embeddings/oleObject119.bin" ContentType="application/vnd.openxmlformats-officedocument.oleObject"/>
  <Override PartName="/ppt/embeddings/oleObject120.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414" r:id="rId10"/>
    <p:sldId id="408" r:id="rId11"/>
    <p:sldId id="417" r:id="rId12"/>
    <p:sldId id="418" r:id="rId13"/>
    <p:sldId id="419" r:id="rId14"/>
    <p:sldId id="415" r:id="rId15"/>
    <p:sldId id="391" r:id="rId16"/>
    <p:sldId id="303" r:id="rId17"/>
    <p:sldId id="382" r:id="rId18"/>
    <p:sldId id="383" r:id="rId19"/>
    <p:sldId id="384" r:id="rId20"/>
    <p:sldId id="385" r:id="rId21"/>
    <p:sldId id="308" r:id="rId22"/>
    <p:sldId id="264" r:id="rId23"/>
    <p:sldId id="343" r:id="rId24"/>
    <p:sldId id="420" r:id="rId25"/>
    <p:sldId id="421" r:id="rId26"/>
    <p:sldId id="422" r:id="rId27"/>
    <p:sldId id="265" r:id="rId28"/>
    <p:sldId id="267" r:id="rId29"/>
    <p:sldId id="423" r:id="rId30"/>
    <p:sldId id="486" r:id="rId31"/>
    <p:sldId id="427" r:id="rId32"/>
    <p:sldId id="426" r:id="rId33"/>
    <p:sldId id="424" r:id="rId34"/>
    <p:sldId id="425" r:id="rId35"/>
    <p:sldId id="429" r:id="rId36"/>
    <p:sldId id="430" r:id="rId37"/>
    <p:sldId id="432" r:id="rId38"/>
    <p:sldId id="433" r:id="rId39"/>
    <p:sldId id="434" r:id="rId40"/>
    <p:sldId id="468" r:id="rId41"/>
    <p:sldId id="467" r:id="rId42"/>
    <p:sldId id="436" r:id="rId43"/>
    <p:sldId id="438" r:id="rId44"/>
    <p:sldId id="437" r:id="rId45"/>
    <p:sldId id="439" r:id="rId46"/>
    <p:sldId id="440" r:id="rId47"/>
    <p:sldId id="441" r:id="rId48"/>
    <p:sldId id="442" r:id="rId49"/>
    <p:sldId id="447" r:id="rId50"/>
    <p:sldId id="448" r:id="rId51"/>
    <p:sldId id="445" r:id="rId52"/>
    <p:sldId id="446" r:id="rId53"/>
    <p:sldId id="443" r:id="rId54"/>
    <p:sldId id="444" r:id="rId55"/>
    <p:sldId id="472" r:id="rId56"/>
    <p:sldId id="473" r:id="rId57"/>
    <p:sldId id="474" r:id="rId58"/>
    <p:sldId id="449" r:id="rId59"/>
    <p:sldId id="450" r:id="rId60"/>
    <p:sldId id="435" r:id="rId61"/>
    <p:sldId id="452" r:id="rId62"/>
    <p:sldId id="453" r:id="rId63"/>
    <p:sldId id="454" r:id="rId64"/>
    <p:sldId id="455" r:id="rId65"/>
    <p:sldId id="469" r:id="rId66"/>
    <p:sldId id="471" r:id="rId67"/>
    <p:sldId id="470" r:id="rId68"/>
    <p:sldId id="457" r:id="rId69"/>
    <p:sldId id="458" r:id="rId70"/>
    <p:sldId id="459" r:id="rId71"/>
    <p:sldId id="460" r:id="rId72"/>
    <p:sldId id="461" r:id="rId73"/>
    <p:sldId id="462" r:id="rId74"/>
    <p:sldId id="463" r:id="rId75"/>
    <p:sldId id="464" r:id="rId76"/>
    <p:sldId id="465" r:id="rId77"/>
    <p:sldId id="466" r:id="rId78"/>
    <p:sldId id="475" r:id="rId79"/>
    <p:sldId id="476" r:id="rId80"/>
    <p:sldId id="477" r:id="rId81"/>
    <p:sldId id="478" r:id="rId82"/>
    <p:sldId id="479" r:id="rId83"/>
    <p:sldId id="480" r:id="rId84"/>
    <p:sldId id="481" r:id="rId85"/>
    <p:sldId id="482" r:id="rId86"/>
    <p:sldId id="483" r:id="rId87"/>
    <p:sldId id="484" r:id="rId88"/>
    <p:sldId id="485" r:id="rId8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23" autoAdjust="0"/>
    <p:restoredTop sz="94660"/>
  </p:normalViewPr>
  <p:slideViewPr>
    <p:cSldViewPr snapToGrid="0">
      <p:cViewPr varScale="1">
        <p:scale>
          <a:sx n="108" d="100"/>
          <a:sy n="108" d="100"/>
        </p:scale>
        <p:origin x="13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activeX/activeX4.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image" Target="../media/image42.emf"/><Relationship Id="rId7" Type="http://schemas.openxmlformats.org/officeDocument/2006/relationships/image" Target="../media/image71.emf"/><Relationship Id="rId2" Type="http://schemas.openxmlformats.org/officeDocument/2006/relationships/image" Target="../media/image41.emf"/><Relationship Id="rId1" Type="http://schemas.openxmlformats.org/officeDocument/2006/relationships/image" Target="../media/image40.emf"/><Relationship Id="rId6" Type="http://schemas.openxmlformats.org/officeDocument/2006/relationships/image" Target="../media/image70.png"/><Relationship Id="rId5" Type="http://schemas.openxmlformats.org/officeDocument/2006/relationships/image" Target="../media/image44.emf"/><Relationship Id="rId4" Type="http://schemas.openxmlformats.org/officeDocument/2006/relationships/image" Target="../media/image4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9.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image" Target="../media/image8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0.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image" Target="../media/image91.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70.png"/><Relationship Id="rId1" Type="http://schemas.openxmlformats.org/officeDocument/2006/relationships/image" Target="../media/image93.emf"/><Relationship Id="rId5" Type="http://schemas.openxmlformats.org/officeDocument/2006/relationships/image" Target="../media/image96.emf"/><Relationship Id="rId4" Type="http://schemas.openxmlformats.org/officeDocument/2006/relationships/image" Target="../media/image95.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03.emf"/><Relationship Id="rId3" Type="http://schemas.openxmlformats.org/officeDocument/2006/relationships/image" Target="../media/image99.emf"/><Relationship Id="rId7" Type="http://schemas.openxmlformats.org/officeDocument/2006/relationships/image" Target="../media/image102.emf"/><Relationship Id="rId2" Type="http://schemas.openxmlformats.org/officeDocument/2006/relationships/image" Target="../media/image98.emf"/><Relationship Id="rId1" Type="http://schemas.openxmlformats.org/officeDocument/2006/relationships/image" Target="../media/image97.emf"/><Relationship Id="rId6" Type="http://schemas.openxmlformats.org/officeDocument/2006/relationships/image" Target="../media/image101.emf"/><Relationship Id="rId5" Type="http://schemas.openxmlformats.org/officeDocument/2006/relationships/image" Target="../media/image100.emf"/><Relationship Id="rId4" Type="http://schemas.openxmlformats.org/officeDocument/2006/relationships/image" Target="../media/image70.png"/><Relationship Id="rId9" Type="http://schemas.openxmlformats.org/officeDocument/2006/relationships/image" Target="../media/image10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05.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image" Target="../media/image108.wmf"/><Relationship Id="rId7" Type="http://schemas.openxmlformats.org/officeDocument/2006/relationships/image" Target="../media/image112.wmf"/><Relationship Id="rId2" Type="http://schemas.openxmlformats.org/officeDocument/2006/relationships/image" Target="../media/image107.wmf"/><Relationship Id="rId1" Type="http://schemas.openxmlformats.org/officeDocument/2006/relationships/image" Target="../media/image106.wmf"/><Relationship Id="rId6" Type="http://schemas.openxmlformats.org/officeDocument/2006/relationships/image" Target="../media/image111.wmf"/><Relationship Id="rId5" Type="http://schemas.openxmlformats.org/officeDocument/2006/relationships/image" Target="../media/image110.wmf"/><Relationship Id="rId10" Type="http://schemas.openxmlformats.org/officeDocument/2006/relationships/image" Target="../media/image115.wmf"/><Relationship Id="rId4" Type="http://schemas.openxmlformats.org/officeDocument/2006/relationships/image" Target="../media/image109.wmf"/><Relationship Id="rId9" Type="http://schemas.openxmlformats.org/officeDocument/2006/relationships/image" Target="../media/image11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16.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1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2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2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23.e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31.emf"/><Relationship Id="rId3" Type="http://schemas.openxmlformats.org/officeDocument/2006/relationships/image" Target="../media/image126.emf"/><Relationship Id="rId7" Type="http://schemas.openxmlformats.org/officeDocument/2006/relationships/image" Target="../media/image130.emf"/><Relationship Id="rId2" Type="http://schemas.openxmlformats.org/officeDocument/2006/relationships/image" Target="../media/image125.emf"/><Relationship Id="rId1" Type="http://schemas.openxmlformats.org/officeDocument/2006/relationships/image" Target="../media/image124.emf"/><Relationship Id="rId6" Type="http://schemas.openxmlformats.org/officeDocument/2006/relationships/image" Target="../media/image129.emf"/><Relationship Id="rId5" Type="http://schemas.openxmlformats.org/officeDocument/2006/relationships/image" Target="../media/image128.emf"/><Relationship Id="rId4" Type="http://schemas.openxmlformats.org/officeDocument/2006/relationships/image" Target="../media/image127.emf"/><Relationship Id="rId9" Type="http://schemas.openxmlformats.org/officeDocument/2006/relationships/image" Target="../media/image13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33.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6.emf"/><Relationship Id="rId2" Type="http://schemas.openxmlformats.org/officeDocument/2006/relationships/image" Target="../media/image135.emf"/><Relationship Id="rId1" Type="http://schemas.openxmlformats.org/officeDocument/2006/relationships/image" Target="../media/image134.emf"/><Relationship Id="rId4" Type="http://schemas.openxmlformats.org/officeDocument/2006/relationships/image" Target="../media/image137.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image" Target="../media/image139.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4.emf"/><Relationship Id="rId2" Type="http://schemas.openxmlformats.org/officeDocument/2006/relationships/image" Target="../media/image143.emf"/><Relationship Id="rId1" Type="http://schemas.openxmlformats.org/officeDocument/2006/relationships/image" Target="../media/image142.emf"/><Relationship Id="rId5" Type="http://schemas.openxmlformats.org/officeDocument/2006/relationships/image" Target="../media/image146.wmf"/><Relationship Id="rId4" Type="http://schemas.openxmlformats.org/officeDocument/2006/relationships/image" Target="../media/image145.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4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48.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50.emf"/><Relationship Id="rId1" Type="http://schemas.openxmlformats.org/officeDocument/2006/relationships/image" Target="../media/image149.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51.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54.emf"/><Relationship Id="rId2" Type="http://schemas.openxmlformats.org/officeDocument/2006/relationships/image" Target="../media/image153.emf"/><Relationship Id="rId1" Type="http://schemas.openxmlformats.org/officeDocument/2006/relationships/image" Target="../media/image152.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58.emf"/><Relationship Id="rId1" Type="http://schemas.openxmlformats.org/officeDocument/2006/relationships/image" Target="../media/image157.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59.png"/></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63.emf"/><Relationship Id="rId1" Type="http://schemas.openxmlformats.org/officeDocument/2006/relationships/image" Target="../media/image162.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64.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65.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5" Type="http://schemas.openxmlformats.org/officeDocument/2006/relationships/image" Target="../media/image170.wmf"/><Relationship Id="rId4" Type="http://schemas.openxmlformats.org/officeDocument/2006/relationships/image" Target="../media/image169.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72.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73.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75.emf"/><Relationship Id="rId1" Type="http://schemas.openxmlformats.org/officeDocument/2006/relationships/image" Target="../media/image174.e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78.emf"/><Relationship Id="rId1" Type="http://schemas.openxmlformats.org/officeDocument/2006/relationships/image" Target="../media/image177.e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80.emf"/><Relationship Id="rId1" Type="http://schemas.openxmlformats.org/officeDocument/2006/relationships/image" Target="../media/image179.e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82.emf"/><Relationship Id="rId1" Type="http://schemas.openxmlformats.org/officeDocument/2006/relationships/image" Target="../media/image181.e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84.emf"/><Relationship Id="rId1" Type="http://schemas.openxmlformats.org/officeDocument/2006/relationships/image" Target="../media/image183.e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86.emf"/><Relationship Id="rId1" Type="http://schemas.openxmlformats.org/officeDocument/2006/relationships/image" Target="../media/image185.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87.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89.emf"/><Relationship Id="rId1" Type="http://schemas.openxmlformats.org/officeDocument/2006/relationships/image" Target="../media/image188.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9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1336284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2175436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3159380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1138652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1906258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2122046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1991082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2204817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2887474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3725884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6A101C9-242D-43E7-99ED-5BB774723463}" type="datetimeFigureOut">
              <a:rPr lang="zh-CN" altLang="en-US" smtClean="0"/>
              <a:t>2025/4/8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914010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8134350" cy="55784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90600" y="6096000"/>
            <a:ext cx="1905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3429000" y="6096000"/>
            <a:ext cx="28956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858000" y="6096000"/>
            <a:ext cx="1905000" cy="457200"/>
          </a:xfrm>
        </p:spPr>
        <p:txBody>
          <a:bodyPr/>
          <a:lstStyle>
            <a:lvl1pPr>
              <a:defRPr/>
            </a:lvl1pPr>
          </a:lstStyle>
          <a:p>
            <a:fld id="{ABA0EE42-522F-42C7-B771-7A46AE4760DA}" type="slidenum">
              <a:rPr lang="zh-CN" altLang="en-US"/>
              <a:pPr/>
              <a:t>‹#›</a:t>
            </a:fld>
            <a:endParaRPr lang="en-US" altLang="zh-CN"/>
          </a:p>
        </p:txBody>
      </p:sp>
    </p:spTree>
    <p:extLst>
      <p:ext uri="{BB962C8B-B14F-4D97-AF65-F5344CB8AC3E}">
        <p14:creationId xmlns:p14="http://schemas.microsoft.com/office/powerpoint/2010/main" val="1145229796"/>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A101C9-242D-43E7-99ED-5BB774723463}" type="datetimeFigureOut">
              <a:rPr lang="zh-CN" altLang="en-US" smtClean="0"/>
              <a:t>2025/4/8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8C5E7-19B2-4292-9BF4-E30E3F5AE5B9}" type="slidenum">
              <a:rPr lang="zh-CN" altLang="en-US" smtClean="0"/>
              <a:t>‹#›</a:t>
            </a:fld>
            <a:endParaRPr lang="zh-CN" altLang="en-US"/>
          </a:p>
        </p:txBody>
      </p:sp>
    </p:spTree>
    <p:extLst>
      <p:ext uri="{BB962C8B-B14F-4D97-AF65-F5344CB8AC3E}">
        <p14:creationId xmlns:p14="http://schemas.microsoft.com/office/powerpoint/2010/main" val="8213200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image.baidu.com/i?ct=503316480&amp;z=776676550&amp;tn=baiduimagedetail&amp;word=&#39600;&#23376;"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1.xml"/><Relationship Id="rId1" Type="http://schemas.openxmlformats.org/officeDocument/2006/relationships/vmlDrawing" Target="../drawings/vmlDrawing1.v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2.xml"/><Relationship Id="rId1" Type="http://schemas.openxmlformats.org/officeDocument/2006/relationships/vmlDrawing" Target="../drawings/vmlDrawing2.vml"/><Relationship Id="rId6" Type="http://schemas.openxmlformats.org/officeDocument/2006/relationships/image" Target="../media/image9.png"/><Relationship Id="rId5" Type="http://schemas.openxmlformats.org/officeDocument/2006/relationships/image" Target="../media/image11.emf"/><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hyperlink" Target="http://image.baidu.com/i?ct=503316480&amp;z=16547752&amp;tn=baiduimagedetail&amp;word=&#29233;&#22240;&#26031;&#22374;&amp;in=32" TargetMode="External"/><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10" Type="http://schemas.openxmlformats.org/officeDocument/2006/relationships/image" Target="../media/image21.jpeg"/><Relationship Id="rId4" Type="http://schemas.openxmlformats.org/officeDocument/2006/relationships/image" Target="../media/image15.jpeg"/><Relationship Id="rId9"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7.png"/><Relationship Id="rId5" Type="http://schemas.openxmlformats.org/officeDocument/2006/relationships/image" Target="../media/image22.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30.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oleObject" Target="../embeddings/oleObject8.bin"/><Relationship Id="rId18" Type="http://schemas.openxmlformats.org/officeDocument/2006/relationships/image" Target="../media/image72.e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44.emf"/><Relationship Id="rId17" Type="http://schemas.openxmlformats.org/officeDocument/2006/relationships/oleObject" Target="../embeddings/oleObject10.bin"/><Relationship Id="rId2" Type="http://schemas.openxmlformats.org/officeDocument/2006/relationships/slideLayout" Target="../slideLayouts/slideLayout7.xml"/><Relationship Id="rId16" Type="http://schemas.openxmlformats.org/officeDocument/2006/relationships/image" Target="../media/image71.emf"/><Relationship Id="rId1" Type="http://schemas.openxmlformats.org/officeDocument/2006/relationships/vmlDrawing" Target="../drawings/vmlDrawing5.vml"/><Relationship Id="rId6" Type="http://schemas.openxmlformats.org/officeDocument/2006/relationships/image" Target="../media/image41.e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43.emf"/><Relationship Id="rId4" Type="http://schemas.openxmlformats.org/officeDocument/2006/relationships/image" Target="../media/image40.emf"/><Relationship Id="rId9" Type="http://schemas.openxmlformats.org/officeDocument/2006/relationships/oleObject" Target="../embeddings/oleObject6.bin"/><Relationship Id="rId14" Type="http://schemas.openxmlformats.org/officeDocument/2006/relationships/image" Target="../media/image70.png"/></Relationships>
</file>

<file path=ppt/slides/_rels/slide3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41.png"/><Relationship Id="rId7" Type="http://schemas.openxmlformats.org/officeDocument/2006/relationships/image" Target="../media/image74.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00.png"/><Relationship Id="rId4" Type="http://schemas.openxmlformats.org/officeDocument/2006/relationships/image" Target="../media/image42.png"/><Relationship Id="rId9" Type="http://schemas.openxmlformats.org/officeDocument/2006/relationships/image" Target="../media/image76.png"/></Relationships>
</file>

<file path=ppt/slides/_rels/slide32.xml.rels><?xml version="1.0" encoding="UTF-8" standalone="yes"?>
<Relationships xmlns="http://schemas.openxmlformats.org/package/2006/relationships"><Relationship Id="rId3" Type="http://schemas.openxmlformats.org/officeDocument/2006/relationships/hyperlink" Target="http://image.baidu.com/i?ct=503316480&amp;z=16547752&amp;tn=baiduimagedetail&amp;word=&#29233;&#22240;&#26031;&#22374;&amp;in=32" TargetMode="External"/><Relationship Id="rId2" Type="http://schemas.openxmlformats.org/officeDocument/2006/relationships/image" Target="../media/image77.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3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3.xml"/><Relationship Id="rId1" Type="http://schemas.openxmlformats.org/officeDocument/2006/relationships/vmlDrawing" Target="../drawings/vmlDrawing6.vml"/><Relationship Id="rId4" Type="http://schemas.openxmlformats.org/officeDocument/2006/relationships/image" Target="../media/image79.pn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81.wmf"/><Relationship Id="rId5" Type="http://schemas.openxmlformats.org/officeDocument/2006/relationships/oleObject" Target="../embeddings/oleObject12.bin"/><Relationship Id="rId4" Type="http://schemas.openxmlformats.org/officeDocument/2006/relationships/image" Target="../media/image80.wmf"/></Relationships>
</file>

<file path=ppt/slides/_rels/slide36.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19.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86.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83.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17.bin"/><Relationship Id="rId14" Type="http://schemas.openxmlformats.org/officeDocument/2006/relationships/image" Target="../media/image87.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89.emf"/><Relationship Id="rId5" Type="http://schemas.openxmlformats.org/officeDocument/2006/relationships/oleObject" Target="../embeddings/oleObject21.bin"/><Relationship Id="rId4" Type="http://schemas.openxmlformats.org/officeDocument/2006/relationships/image" Target="../media/image88.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90.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92.emf"/><Relationship Id="rId5" Type="http://schemas.openxmlformats.org/officeDocument/2006/relationships/oleObject" Target="../embeddings/oleObject24.bin"/><Relationship Id="rId4" Type="http://schemas.openxmlformats.org/officeDocument/2006/relationships/image" Target="../media/image91.emf"/></Relationships>
</file>

<file path=ppt/slides/_rels/slide40.xml.rels><?xml version="1.0" encoding="UTF-8" standalone="yes"?>
<Relationships xmlns="http://schemas.openxmlformats.org/package/2006/relationships"><Relationship Id="rId8" Type="http://schemas.openxmlformats.org/officeDocument/2006/relationships/image" Target="../media/image930.png"/><Relationship Id="rId3" Type="http://schemas.openxmlformats.org/officeDocument/2006/relationships/image" Target="../media/image27.png"/><Relationship Id="rId7" Type="http://schemas.openxmlformats.org/officeDocument/2006/relationships/image" Target="../media/image94.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93.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41.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41.png"/><Relationship Id="rId7" Type="http://schemas.openxmlformats.org/officeDocument/2006/relationships/image" Target="../media/image96.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700.png"/><Relationship Id="rId4" Type="http://schemas.openxmlformats.org/officeDocument/2006/relationships/image" Target="../media/image42.png"/><Relationship Id="rId9" Type="http://schemas.openxmlformats.org/officeDocument/2006/relationships/image" Target="../media/image76.png"/></Relationships>
</file>

<file path=ppt/slides/_rels/slide42.xml.rels><?xml version="1.0" encoding="UTF-8" standalone="yes"?>
<Relationships xmlns="http://schemas.openxmlformats.org/package/2006/relationships"><Relationship Id="rId8" Type="http://schemas.openxmlformats.org/officeDocument/2006/relationships/image" Target="../media/image94.emf"/><Relationship Id="rId13" Type="http://schemas.openxmlformats.org/officeDocument/2006/relationships/image" Target="../media/image96.e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oleObject" Target="../embeddings/oleObject30.bin"/><Relationship Id="rId17" Type="http://schemas.openxmlformats.org/officeDocument/2006/relationships/image" Target="../media/image99.png"/><Relationship Id="rId2" Type="http://schemas.openxmlformats.org/officeDocument/2006/relationships/slideLayout" Target="../slideLayouts/slideLayout7.xml"/><Relationship Id="rId16" Type="http://schemas.openxmlformats.org/officeDocument/2006/relationships/image" Target="../media/image98.png"/><Relationship Id="rId1" Type="http://schemas.openxmlformats.org/officeDocument/2006/relationships/vmlDrawing" Target="../drawings/vmlDrawing12.vml"/><Relationship Id="rId6" Type="http://schemas.openxmlformats.org/officeDocument/2006/relationships/image" Target="../media/image70.png"/><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95.emf"/><Relationship Id="rId4" Type="http://schemas.openxmlformats.org/officeDocument/2006/relationships/image" Target="../media/image93.emf"/><Relationship Id="rId9" Type="http://schemas.openxmlformats.org/officeDocument/2006/relationships/oleObject" Target="../embeddings/oleObject28.bin"/></Relationships>
</file>

<file path=ppt/slides/_rels/slide4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99.emf"/><Relationship Id="rId13" Type="http://schemas.openxmlformats.org/officeDocument/2006/relationships/oleObject" Target="../embeddings/oleObject36.bin"/><Relationship Id="rId18" Type="http://schemas.openxmlformats.org/officeDocument/2006/relationships/oleObject" Target="../embeddings/oleObject39.bin"/><Relationship Id="rId3" Type="http://schemas.openxmlformats.org/officeDocument/2006/relationships/oleObject" Target="../embeddings/oleObject31.bin"/><Relationship Id="rId21" Type="http://schemas.openxmlformats.org/officeDocument/2006/relationships/image" Target="../media/image104.emf"/><Relationship Id="rId7" Type="http://schemas.openxmlformats.org/officeDocument/2006/relationships/oleObject" Target="../embeddings/oleObject33.bin"/><Relationship Id="rId12" Type="http://schemas.openxmlformats.org/officeDocument/2006/relationships/image" Target="../media/image100.emf"/><Relationship Id="rId17" Type="http://schemas.openxmlformats.org/officeDocument/2006/relationships/image" Target="../media/image102.emf"/><Relationship Id="rId2" Type="http://schemas.openxmlformats.org/officeDocument/2006/relationships/slideLayout" Target="../slideLayouts/slideLayout7.xml"/><Relationship Id="rId16" Type="http://schemas.openxmlformats.org/officeDocument/2006/relationships/oleObject" Target="../embeddings/oleObject38.bin"/><Relationship Id="rId20" Type="http://schemas.openxmlformats.org/officeDocument/2006/relationships/oleObject" Target="../embeddings/oleObject40.bin"/><Relationship Id="rId1" Type="http://schemas.openxmlformats.org/officeDocument/2006/relationships/vmlDrawing" Target="../drawings/vmlDrawing13.vml"/><Relationship Id="rId6" Type="http://schemas.openxmlformats.org/officeDocument/2006/relationships/image" Target="../media/image98.emf"/><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70.png"/><Relationship Id="rId19" Type="http://schemas.openxmlformats.org/officeDocument/2006/relationships/image" Target="../media/image103.emf"/><Relationship Id="rId4" Type="http://schemas.openxmlformats.org/officeDocument/2006/relationships/image" Target="../media/image97.emf"/><Relationship Id="rId9" Type="http://schemas.openxmlformats.org/officeDocument/2006/relationships/oleObject" Target="../embeddings/oleObject34.bin"/><Relationship Id="rId14" Type="http://schemas.openxmlformats.org/officeDocument/2006/relationships/image" Target="../media/image101.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2.xml"/><Relationship Id="rId1" Type="http://schemas.openxmlformats.org/officeDocument/2006/relationships/vmlDrawing" Target="../drawings/vmlDrawing14.vml"/><Relationship Id="rId4" Type="http://schemas.openxmlformats.org/officeDocument/2006/relationships/image" Target="../media/image105.emf"/></Relationships>
</file>

<file path=ppt/slides/_rels/slide47.x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oleObject" Target="../embeddings/oleObject47.bin"/><Relationship Id="rId18" Type="http://schemas.openxmlformats.org/officeDocument/2006/relationships/image" Target="../media/image113.wmf"/><Relationship Id="rId3" Type="http://schemas.openxmlformats.org/officeDocument/2006/relationships/oleObject" Target="../embeddings/oleObject42.bin"/><Relationship Id="rId21" Type="http://schemas.openxmlformats.org/officeDocument/2006/relationships/oleObject" Target="../embeddings/oleObject51.bin"/><Relationship Id="rId7" Type="http://schemas.openxmlformats.org/officeDocument/2006/relationships/oleObject" Target="../embeddings/oleObject44.bin"/><Relationship Id="rId12" Type="http://schemas.openxmlformats.org/officeDocument/2006/relationships/image" Target="../media/image110.wmf"/><Relationship Id="rId17" Type="http://schemas.openxmlformats.org/officeDocument/2006/relationships/oleObject" Target="../embeddings/oleObject49.bin"/><Relationship Id="rId2" Type="http://schemas.openxmlformats.org/officeDocument/2006/relationships/slideLayout" Target="../slideLayouts/slideLayout7.xml"/><Relationship Id="rId16" Type="http://schemas.openxmlformats.org/officeDocument/2006/relationships/image" Target="../media/image112.wmf"/><Relationship Id="rId20" Type="http://schemas.openxmlformats.org/officeDocument/2006/relationships/image" Target="../media/image114.wmf"/><Relationship Id="rId1" Type="http://schemas.openxmlformats.org/officeDocument/2006/relationships/vmlDrawing" Target="../drawings/vmlDrawing15.vml"/><Relationship Id="rId6" Type="http://schemas.openxmlformats.org/officeDocument/2006/relationships/image" Target="../media/image107.wmf"/><Relationship Id="rId11" Type="http://schemas.openxmlformats.org/officeDocument/2006/relationships/oleObject" Target="../embeddings/oleObject46.bin"/><Relationship Id="rId5" Type="http://schemas.openxmlformats.org/officeDocument/2006/relationships/oleObject" Target="../embeddings/oleObject43.bin"/><Relationship Id="rId15" Type="http://schemas.openxmlformats.org/officeDocument/2006/relationships/oleObject" Target="../embeddings/oleObject48.bin"/><Relationship Id="rId10" Type="http://schemas.openxmlformats.org/officeDocument/2006/relationships/image" Target="../media/image109.wmf"/><Relationship Id="rId19" Type="http://schemas.openxmlformats.org/officeDocument/2006/relationships/oleObject" Target="../embeddings/oleObject50.bin"/><Relationship Id="rId4" Type="http://schemas.openxmlformats.org/officeDocument/2006/relationships/image" Target="../media/image106.wmf"/><Relationship Id="rId9" Type="http://schemas.openxmlformats.org/officeDocument/2006/relationships/oleObject" Target="../embeddings/oleObject45.bin"/><Relationship Id="rId14" Type="http://schemas.openxmlformats.org/officeDocument/2006/relationships/image" Target="../media/image111.wmf"/><Relationship Id="rId22" Type="http://schemas.openxmlformats.org/officeDocument/2006/relationships/image" Target="../media/image115.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12.xml"/><Relationship Id="rId1" Type="http://schemas.openxmlformats.org/officeDocument/2006/relationships/vmlDrawing" Target="../drawings/vmlDrawing16.vml"/><Relationship Id="rId4" Type="http://schemas.openxmlformats.org/officeDocument/2006/relationships/image" Target="../media/image116.emf"/></Relationships>
</file>

<file path=ppt/slides/_rels/slide49.xml.rels><?xml version="1.0" encoding="UTF-8" standalone="yes"?>
<Relationships xmlns="http://schemas.openxmlformats.org/package/2006/relationships"><Relationship Id="rId3" Type="http://schemas.openxmlformats.org/officeDocument/2006/relationships/image" Target="../media/image119.jpeg"/><Relationship Id="rId7" Type="http://schemas.openxmlformats.org/officeDocument/2006/relationships/image" Target="../media/image118.wmf"/><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oleObject" Target="../embeddings/oleObject54.bin"/><Relationship Id="rId5" Type="http://schemas.openxmlformats.org/officeDocument/2006/relationships/image" Target="../media/image117.wmf"/><Relationship Id="rId4" Type="http://schemas.openxmlformats.org/officeDocument/2006/relationships/oleObject" Target="../embeddings/oleObject53.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120.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121.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122.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123.emf"/></Relationships>
</file>

<file path=ppt/slides/_rels/slide55.xml.rels><?xml version="1.0" encoding="UTF-8" standalone="yes"?>
<Relationships xmlns="http://schemas.openxmlformats.org/package/2006/relationships"><Relationship Id="rId8" Type="http://schemas.openxmlformats.org/officeDocument/2006/relationships/image" Target="../media/image126.emf"/><Relationship Id="rId13" Type="http://schemas.openxmlformats.org/officeDocument/2006/relationships/oleObject" Target="../embeddings/oleObject64.bin"/><Relationship Id="rId18" Type="http://schemas.openxmlformats.org/officeDocument/2006/relationships/image" Target="../media/image131.emf"/><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128.emf"/><Relationship Id="rId17" Type="http://schemas.openxmlformats.org/officeDocument/2006/relationships/oleObject" Target="../embeddings/oleObject66.bin"/><Relationship Id="rId2" Type="http://schemas.openxmlformats.org/officeDocument/2006/relationships/slideLayout" Target="../slideLayouts/slideLayout7.xml"/><Relationship Id="rId16" Type="http://schemas.openxmlformats.org/officeDocument/2006/relationships/image" Target="../media/image130.emf"/><Relationship Id="rId20" Type="http://schemas.openxmlformats.org/officeDocument/2006/relationships/image" Target="../media/image132.emf"/><Relationship Id="rId1" Type="http://schemas.openxmlformats.org/officeDocument/2006/relationships/vmlDrawing" Target="../drawings/vmlDrawing22.vml"/><Relationship Id="rId6" Type="http://schemas.openxmlformats.org/officeDocument/2006/relationships/image" Target="../media/image125.emf"/><Relationship Id="rId11" Type="http://schemas.openxmlformats.org/officeDocument/2006/relationships/oleObject" Target="../embeddings/oleObject63.bin"/><Relationship Id="rId5" Type="http://schemas.openxmlformats.org/officeDocument/2006/relationships/oleObject" Target="../embeddings/oleObject60.bin"/><Relationship Id="rId15" Type="http://schemas.openxmlformats.org/officeDocument/2006/relationships/oleObject" Target="../embeddings/oleObject65.bin"/><Relationship Id="rId10" Type="http://schemas.openxmlformats.org/officeDocument/2006/relationships/image" Target="../media/image127.emf"/><Relationship Id="rId19" Type="http://schemas.openxmlformats.org/officeDocument/2006/relationships/oleObject" Target="../embeddings/oleObject67.bin"/><Relationship Id="rId4" Type="http://schemas.openxmlformats.org/officeDocument/2006/relationships/image" Target="../media/image124.emf"/><Relationship Id="rId9" Type="http://schemas.openxmlformats.org/officeDocument/2006/relationships/oleObject" Target="../embeddings/oleObject62.bin"/><Relationship Id="rId14" Type="http://schemas.openxmlformats.org/officeDocument/2006/relationships/image" Target="../media/image129.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23.vml"/><Relationship Id="rId4" Type="http://schemas.openxmlformats.org/officeDocument/2006/relationships/image" Target="../media/image133.emf"/></Relationships>
</file>

<file path=ppt/slides/_rels/slide58.xml.rels><?xml version="1.0" encoding="UTF-8" standalone="yes"?>
<Relationships xmlns="http://schemas.openxmlformats.org/package/2006/relationships"><Relationship Id="rId8" Type="http://schemas.openxmlformats.org/officeDocument/2006/relationships/image" Target="../media/image136.e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35.emf"/><Relationship Id="rId11" Type="http://schemas.openxmlformats.org/officeDocument/2006/relationships/image" Target="../media/image138.png"/><Relationship Id="rId5" Type="http://schemas.openxmlformats.org/officeDocument/2006/relationships/oleObject" Target="../embeddings/oleObject70.bin"/><Relationship Id="rId10" Type="http://schemas.openxmlformats.org/officeDocument/2006/relationships/image" Target="../media/image137.emf"/><Relationship Id="rId4" Type="http://schemas.openxmlformats.org/officeDocument/2006/relationships/image" Target="../media/image134.emf"/><Relationship Id="rId9" Type="http://schemas.openxmlformats.org/officeDocument/2006/relationships/oleObject" Target="../embeddings/oleObject72.bin"/></Relationships>
</file>

<file path=ppt/slides/_rels/slide59.xml.rels><?xml version="1.0" encoding="UTF-8" standalone="yes"?>
<Relationships xmlns="http://schemas.openxmlformats.org/package/2006/relationships"><Relationship Id="rId8" Type="http://schemas.openxmlformats.org/officeDocument/2006/relationships/image" Target="../media/image141.e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40.emf"/><Relationship Id="rId5" Type="http://schemas.openxmlformats.org/officeDocument/2006/relationships/oleObject" Target="../embeddings/oleObject74.bin"/><Relationship Id="rId4" Type="http://schemas.openxmlformats.org/officeDocument/2006/relationships/image" Target="../media/image139.emf"/></Relationships>
</file>

<file path=ppt/slides/_rels/slide60.xml.rels><?xml version="1.0" encoding="UTF-8" standalone="yes"?>
<Relationships xmlns="http://schemas.openxmlformats.org/package/2006/relationships"><Relationship Id="rId8" Type="http://schemas.openxmlformats.org/officeDocument/2006/relationships/image" Target="../media/image144.emf"/><Relationship Id="rId3" Type="http://schemas.openxmlformats.org/officeDocument/2006/relationships/oleObject" Target="../embeddings/oleObject76.bin"/><Relationship Id="rId7" Type="http://schemas.openxmlformats.org/officeDocument/2006/relationships/oleObject" Target="../embeddings/oleObject78.bin"/><Relationship Id="rId12" Type="http://schemas.openxmlformats.org/officeDocument/2006/relationships/image" Target="../media/image146.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43.emf"/><Relationship Id="rId11" Type="http://schemas.openxmlformats.org/officeDocument/2006/relationships/oleObject" Target="../embeddings/oleObject80.bin"/><Relationship Id="rId5" Type="http://schemas.openxmlformats.org/officeDocument/2006/relationships/oleObject" Target="../embeddings/oleObject77.bin"/><Relationship Id="rId10" Type="http://schemas.openxmlformats.org/officeDocument/2006/relationships/image" Target="../media/image145.emf"/><Relationship Id="rId4" Type="http://schemas.openxmlformats.org/officeDocument/2006/relationships/image" Target="../media/image142.emf"/><Relationship Id="rId9" Type="http://schemas.openxmlformats.org/officeDocument/2006/relationships/oleObject" Target="../embeddings/oleObject79.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147.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148.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50.emf"/><Relationship Id="rId5" Type="http://schemas.openxmlformats.org/officeDocument/2006/relationships/oleObject" Target="../embeddings/oleObject84.bin"/><Relationship Id="rId4" Type="http://schemas.openxmlformats.org/officeDocument/2006/relationships/image" Target="../media/image149.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30.vml"/><Relationship Id="rId4" Type="http://schemas.openxmlformats.org/officeDocument/2006/relationships/image" Target="../media/image151.emf"/></Relationships>
</file>

<file path=ppt/slides/_rels/slide69.xml.rels><?xml version="1.0" encoding="UTF-8" standalone="yes"?>
<Relationships xmlns="http://schemas.openxmlformats.org/package/2006/relationships"><Relationship Id="rId8" Type="http://schemas.openxmlformats.org/officeDocument/2006/relationships/image" Target="../media/image154.e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53.emf"/><Relationship Id="rId5" Type="http://schemas.openxmlformats.org/officeDocument/2006/relationships/oleObject" Target="../embeddings/oleObject87.bin"/><Relationship Id="rId4" Type="http://schemas.openxmlformats.org/officeDocument/2006/relationships/image" Target="../media/image152.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56.wmf"/><Relationship Id="rId5" Type="http://schemas.openxmlformats.org/officeDocument/2006/relationships/oleObject" Target="../embeddings/oleObject90.bin"/><Relationship Id="rId4" Type="http://schemas.openxmlformats.org/officeDocument/2006/relationships/image" Target="../media/image155.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58.emf"/><Relationship Id="rId5" Type="http://schemas.openxmlformats.org/officeDocument/2006/relationships/oleObject" Target="../embeddings/oleObject92.bin"/><Relationship Id="rId4" Type="http://schemas.openxmlformats.org/officeDocument/2006/relationships/image" Target="../media/image157.emf"/></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control" Target="../activeX/activeX4.xml"/><Relationship Id="rId1" Type="http://schemas.openxmlformats.org/officeDocument/2006/relationships/vmlDrawing" Target="../drawings/vmlDrawing34.vml"/><Relationship Id="rId6" Type="http://schemas.openxmlformats.org/officeDocument/2006/relationships/image" Target="../media/image159.png"/><Relationship Id="rId5" Type="http://schemas.openxmlformats.org/officeDocument/2006/relationships/image" Target="../media/image160.jpeg"/><Relationship Id="rId4" Type="http://schemas.openxmlformats.org/officeDocument/2006/relationships/hyperlink" Target="http://images.google.com/imgres?imgurl=www.jledu.com.cn/jajb/xiaoxue/tupian/ima/ls/ls003/ls00300014.jpg&amp;imgrefurl=http://www.jledu.com.cn/jajb/xiaoxue/tupian/lixiandai.htm&amp;h=480&amp;w=321&amp;prev=/images?q%3D%E5%8E%9F%E5%AD%90%E5%BC%B9%2B%26svnum%3D50%26hl%3Dzh-CN%26lr%3Dlang_zh-CN|lang_en%26ie%3DUTF-8%26inlang%3Dzh-CN%26sa%3DG"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hyperlink" Target="http://my.poco.cn/lastphoto_v2.htx&amp;id=190046" TargetMode="Externa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63.emf"/><Relationship Id="rId5" Type="http://schemas.openxmlformats.org/officeDocument/2006/relationships/oleObject" Target="../embeddings/oleObject94.bin"/><Relationship Id="rId4" Type="http://schemas.openxmlformats.org/officeDocument/2006/relationships/image" Target="../media/image162.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164.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65.emf"/></Relationships>
</file>

<file path=ppt/slides/_rels/slide77.x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oleObject" Target="../embeddings/oleObject102.bin"/><Relationship Id="rId3" Type="http://schemas.openxmlformats.org/officeDocument/2006/relationships/oleObject" Target="../embeddings/oleObject97.bin"/><Relationship Id="rId7" Type="http://schemas.openxmlformats.org/officeDocument/2006/relationships/oleObject" Target="../embeddings/oleObject99.bin"/><Relationship Id="rId12" Type="http://schemas.openxmlformats.org/officeDocument/2006/relationships/image" Target="../media/image170.wmf"/><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67.wmf"/><Relationship Id="rId11" Type="http://schemas.openxmlformats.org/officeDocument/2006/relationships/oleObject" Target="../embeddings/oleObject101.bin"/><Relationship Id="rId5" Type="http://schemas.openxmlformats.org/officeDocument/2006/relationships/oleObject" Target="../embeddings/oleObject98.bin"/><Relationship Id="rId10" Type="http://schemas.openxmlformats.org/officeDocument/2006/relationships/image" Target="../media/image169.wmf"/><Relationship Id="rId4" Type="http://schemas.openxmlformats.org/officeDocument/2006/relationships/image" Target="../media/image166.wmf"/><Relationship Id="rId9" Type="http://schemas.openxmlformats.org/officeDocument/2006/relationships/oleObject" Target="../embeddings/oleObject100.bin"/><Relationship Id="rId14" Type="http://schemas.openxmlformats.org/officeDocument/2006/relationships/image" Target="../media/image171.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7.xml"/><Relationship Id="rId1" Type="http://schemas.openxmlformats.org/officeDocument/2006/relationships/vmlDrawing" Target="../drawings/vmlDrawing39.vml"/><Relationship Id="rId4" Type="http://schemas.openxmlformats.org/officeDocument/2006/relationships/image" Target="../media/image172.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7.xml"/><Relationship Id="rId1" Type="http://schemas.openxmlformats.org/officeDocument/2006/relationships/vmlDrawing" Target="../drawings/vmlDrawing40.vml"/><Relationship Id="rId4" Type="http://schemas.openxmlformats.org/officeDocument/2006/relationships/image" Target="../media/image173.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05.bin"/><Relationship Id="rId7" Type="http://schemas.openxmlformats.org/officeDocument/2006/relationships/image" Target="../media/image175.e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106.bin"/><Relationship Id="rId5" Type="http://schemas.openxmlformats.org/officeDocument/2006/relationships/image" Target="../media/image176.wmf"/><Relationship Id="rId4" Type="http://schemas.openxmlformats.org/officeDocument/2006/relationships/image" Target="../media/image174.e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78.emf"/><Relationship Id="rId5" Type="http://schemas.openxmlformats.org/officeDocument/2006/relationships/oleObject" Target="../embeddings/oleObject108.bin"/><Relationship Id="rId4" Type="http://schemas.openxmlformats.org/officeDocument/2006/relationships/image" Target="../media/image177.e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180.emf"/><Relationship Id="rId5" Type="http://schemas.openxmlformats.org/officeDocument/2006/relationships/oleObject" Target="../embeddings/oleObject110.bin"/><Relationship Id="rId4" Type="http://schemas.openxmlformats.org/officeDocument/2006/relationships/image" Target="../media/image179.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182.emf"/><Relationship Id="rId5" Type="http://schemas.openxmlformats.org/officeDocument/2006/relationships/oleObject" Target="../embeddings/oleObject112.bin"/><Relationship Id="rId4" Type="http://schemas.openxmlformats.org/officeDocument/2006/relationships/image" Target="../media/image181.e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84.emf"/><Relationship Id="rId5" Type="http://schemas.openxmlformats.org/officeDocument/2006/relationships/oleObject" Target="../embeddings/oleObject114.bin"/><Relationship Id="rId4" Type="http://schemas.openxmlformats.org/officeDocument/2006/relationships/image" Target="../media/image183.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86.emf"/><Relationship Id="rId5" Type="http://schemas.openxmlformats.org/officeDocument/2006/relationships/oleObject" Target="../embeddings/oleObject116.bin"/><Relationship Id="rId4" Type="http://schemas.openxmlformats.org/officeDocument/2006/relationships/image" Target="../media/image185.e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7.xml"/><Relationship Id="rId1" Type="http://schemas.openxmlformats.org/officeDocument/2006/relationships/vmlDrawing" Target="../drawings/vmlDrawing47.vml"/><Relationship Id="rId4" Type="http://schemas.openxmlformats.org/officeDocument/2006/relationships/image" Target="../media/image187.e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189.emf"/><Relationship Id="rId5" Type="http://schemas.openxmlformats.org/officeDocument/2006/relationships/oleObject" Target="../embeddings/oleObject119.bin"/><Relationship Id="rId4" Type="http://schemas.openxmlformats.org/officeDocument/2006/relationships/image" Target="../media/image188.e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7.xml"/><Relationship Id="rId1" Type="http://schemas.openxmlformats.org/officeDocument/2006/relationships/vmlDrawing" Target="../drawings/vmlDrawing49.vml"/><Relationship Id="rId4" Type="http://schemas.openxmlformats.org/officeDocument/2006/relationships/image" Target="../media/image19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a:extLst>
              <a:ext uri="{FF2B5EF4-FFF2-40B4-BE49-F238E27FC236}">
                <a16:creationId xmlns:a16="http://schemas.microsoft.com/office/drawing/2014/main" id="{4BBA85E3-634B-4257-840C-EEA354962773}"/>
              </a:ext>
            </a:extLst>
          </p:cNvPr>
          <p:cNvSpPr>
            <a:spLocks noChangeArrowheads="1"/>
          </p:cNvSpPr>
          <p:nvPr/>
        </p:nvSpPr>
        <p:spPr bwMode="auto">
          <a:xfrm>
            <a:off x="1043780" y="1032974"/>
            <a:ext cx="7056437" cy="111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66"/>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25000"/>
              </a:spcBef>
              <a:buClr>
                <a:schemeClr val="accent1"/>
              </a:buClr>
            </a:pPr>
            <a:r>
              <a:rPr lang="zh-CN" altLang="en-US" sz="6600" dirty="0">
                <a:effectLst/>
                <a:latin typeface="黑体" panose="02010609060101010101" pitchFamily="49" charset="-122"/>
                <a:ea typeface="黑体" panose="02010609060101010101" pitchFamily="49" charset="-122"/>
              </a:rPr>
              <a:t>狭义相对论基础</a:t>
            </a:r>
          </a:p>
        </p:txBody>
      </p:sp>
      <p:sp>
        <p:nvSpPr>
          <p:cNvPr id="7" name="文本框 6">
            <a:extLst>
              <a:ext uri="{FF2B5EF4-FFF2-40B4-BE49-F238E27FC236}">
                <a16:creationId xmlns:a16="http://schemas.microsoft.com/office/drawing/2014/main" id="{021318E5-78B1-4391-82EA-9500FFE09F9E}"/>
              </a:ext>
            </a:extLst>
          </p:cNvPr>
          <p:cNvSpPr txBox="1"/>
          <p:nvPr/>
        </p:nvSpPr>
        <p:spPr>
          <a:xfrm>
            <a:off x="3658929" y="2881676"/>
            <a:ext cx="1826141" cy="584775"/>
          </a:xfrm>
          <a:prstGeom prst="rect">
            <a:avLst/>
          </a:prstGeom>
          <a:noFill/>
        </p:spPr>
        <p:txBody>
          <a:bodyPr wrap="none" rtlCol="0">
            <a:spAutoFit/>
          </a:bodyPr>
          <a:lstStyle/>
          <a:p>
            <a:r>
              <a:rPr lang="zh-CN" altLang="en-US" sz="3200" dirty="0">
                <a:latin typeface="黑体" panose="02010609060101010101" pitchFamily="49" charset="-122"/>
                <a:ea typeface="黑体" panose="02010609060101010101" pitchFamily="49" charset="-122"/>
              </a:rPr>
              <a:t>引    言</a:t>
            </a:r>
          </a:p>
        </p:txBody>
      </p:sp>
      <p:sp>
        <p:nvSpPr>
          <p:cNvPr id="8" name="文本框 7">
            <a:extLst>
              <a:ext uri="{FF2B5EF4-FFF2-40B4-BE49-F238E27FC236}">
                <a16:creationId xmlns:a16="http://schemas.microsoft.com/office/drawing/2014/main" id="{13CE077C-3765-4360-BAE9-1FA2B909CF9B}"/>
              </a:ext>
            </a:extLst>
          </p:cNvPr>
          <p:cNvSpPr txBox="1"/>
          <p:nvPr/>
        </p:nvSpPr>
        <p:spPr>
          <a:xfrm>
            <a:off x="1180124" y="4307779"/>
            <a:ext cx="7160935" cy="584775"/>
          </a:xfrm>
          <a:prstGeom prst="rect">
            <a:avLst/>
          </a:prstGeom>
          <a:noFill/>
        </p:spPr>
        <p:txBody>
          <a:bodyPr wrap="none" rtlCol="0">
            <a:spAutoFit/>
          </a:bodyPr>
          <a:lstStyle/>
          <a:p>
            <a:r>
              <a:rPr lang="zh-CN" altLang="en-US" sz="3200" dirty="0">
                <a:latin typeface="黑体" panose="02010609060101010101" pitchFamily="49" charset="-122"/>
                <a:ea typeface="黑体" panose="02010609060101010101" pitchFamily="49" charset="-122"/>
              </a:rPr>
              <a:t>经典物理学的危机和近代物理学的革命</a:t>
            </a:r>
          </a:p>
        </p:txBody>
      </p:sp>
    </p:spTree>
    <p:extLst>
      <p:ext uri="{BB962C8B-B14F-4D97-AF65-F5344CB8AC3E}">
        <p14:creationId xmlns:p14="http://schemas.microsoft.com/office/powerpoint/2010/main" val="3479641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24098FAF-4B15-4447-B15A-B8EACE0113D1}"/>
              </a:ext>
            </a:extLst>
          </p:cNvPr>
          <p:cNvSpPr txBox="1">
            <a:spLocks noChangeArrowheads="1"/>
          </p:cNvSpPr>
          <p:nvPr/>
        </p:nvSpPr>
        <p:spPr bwMode="auto">
          <a:xfrm>
            <a:off x="611188" y="1182688"/>
            <a:ext cx="1296987"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0000FF"/>
                </a:solidFill>
                <a:effectLst/>
                <a:ea typeface="黑体" panose="02010609060101010101" pitchFamily="49" charset="-122"/>
              </a:rPr>
              <a:t>力学：</a:t>
            </a:r>
            <a:endParaRPr lang="zh-CN" altLang="en-US" sz="2800" b="1">
              <a:solidFill>
                <a:srgbClr val="000066"/>
              </a:solidFill>
              <a:effectLst/>
              <a:ea typeface="黑体" panose="02010609060101010101" pitchFamily="49" charset="-122"/>
            </a:endParaRPr>
          </a:p>
        </p:txBody>
      </p:sp>
      <p:sp>
        <p:nvSpPr>
          <p:cNvPr id="5" name="Rectangle 3">
            <a:extLst>
              <a:ext uri="{FF2B5EF4-FFF2-40B4-BE49-F238E27FC236}">
                <a16:creationId xmlns:a16="http://schemas.microsoft.com/office/drawing/2014/main" id="{CD5B847C-7A7F-4ACC-96B1-147890AF1EB3}"/>
              </a:ext>
            </a:extLst>
          </p:cNvPr>
          <p:cNvSpPr>
            <a:spLocks noChangeArrowheads="1"/>
          </p:cNvSpPr>
          <p:nvPr/>
        </p:nvSpPr>
        <p:spPr bwMode="auto">
          <a:xfrm>
            <a:off x="682625" y="620713"/>
            <a:ext cx="54022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dirty="0">
                <a:solidFill>
                  <a:srgbClr val="FF0000"/>
                </a:solidFill>
                <a:effectLst/>
                <a:ea typeface="黑体" panose="02010609060101010101" pitchFamily="49" charset="-122"/>
              </a:rPr>
              <a:t>1. </a:t>
            </a:r>
            <a:r>
              <a:rPr lang="zh-CN" altLang="en-US" sz="3600" b="1" dirty="0">
                <a:solidFill>
                  <a:srgbClr val="FF0000"/>
                </a:solidFill>
                <a:effectLst/>
                <a:ea typeface="黑体" panose="02010609060101010101" pitchFamily="49" charset="-122"/>
              </a:rPr>
              <a:t>经典物理学的理论基础</a:t>
            </a:r>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3519C337-7F18-4DAD-A0B4-8C3B2A65265E}"/>
                  </a:ext>
                </a:extLst>
              </p:cNvPr>
              <p:cNvSpPr txBox="1"/>
              <p:nvPr/>
            </p:nvSpPr>
            <p:spPr bwMode="auto">
              <a:xfrm>
                <a:off x="1619250" y="2708275"/>
                <a:ext cx="4535488" cy="1692275"/>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eqArr>
                            <m:eqArrPr>
                              <m:ctrlPr>
                                <a:rPr lang="zh-CN" altLang="en-US" sz="2400" i="1">
                                  <a:solidFill>
                                    <a:srgbClr val="000000"/>
                                  </a:solidFill>
                                  <a:latin typeface="Cambria Math" panose="02040503050406030204" pitchFamily="18" charset="0"/>
                                </a:rPr>
                              </m:ctrlPr>
                            </m:eqArrPr>
                            <m:e>
                              <m:r>
                                <a:rPr lang="zh-CN" altLang="en-US" sz="2400" i="1">
                                  <a:solidFill>
                                    <a:srgbClr val="000000"/>
                                  </a:solidFill>
                                  <a:latin typeface="Cambria Math" panose="02040503050406030204" pitchFamily="18" charset="0"/>
                                </a:rPr>
                                <m:t>𝑚</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𝑑</m:t>
                                      </m:r>
                                    </m:e>
                                    <m:sup>
                                      <m:r>
                                        <a:rPr lang="zh-CN" altLang="en-US" sz="2400" i="1">
                                          <a:solidFill>
                                            <a:srgbClr val="000000"/>
                                          </a:solidFill>
                                          <a:latin typeface="Cambria Math" panose="02040503050406030204" pitchFamily="18" charset="0"/>
                                        </a:rPr>
                                        <m:t>2</m:t>
                                      </m:r>
                                    </m:sup>
                                  </m:sSup>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𝑟</m:t>
                                      </m:r>
                                    </m:e>
                                  </m:acc>
                                </m:num>
                                <m:den>
                                  <m:r>
                                    <a:rPr lang="zh-CN" altLang="en-US" sz="2400" i="1">
                                      <a:solidFill>
                                        <a:srgbClr val="000000"/>
                                      </a:solidFill>
                                      <a:latin typeface="Cambria Math" panose="02040503050406030204" pitchFamily="18" charset="0"/>
                                    </a:rPr>
                                    <m:t>𝑑</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𝐹</m:t>
                                  </m:r>
                                </m:e>
                              </m:acc>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𝑟</m:t>
                                  </m:r>
                                </m:e>
                              </m:acc>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𝑣</m:t>
                                  </m:r>
                                </m:e>
                              </m:acc>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e>
                            <m:e>
                              <m:r>
                                <a:rPr lang="zh-CN" altLang="en-US" sz="2400" i="1">
                                  <a:solidFill>
                                    <a:srgbClr val="000000"/>
                                  </a:solidFill>
                                  <a:latin typeface="Cambria Math" panose="02040503050406030204" pitchFamily="18" charset="0"/>
                                </a:rPr>
                                <m:t>初始条件：</m:t>
                              </m:r>
                              <m:sSub>
                                <m:sSubPr>
                                  <m:ctrlPr>
                                    <a:rPr lang="zh-CN" altLang="en-US" sz="2400" i="1">
                                      <a:solidFill>
                                        <a:srgbClr val="000000"/>
                                      </a:solidFill>
                                      <a:latin typeface="Cambria Math" panose="02040503050406030204" pitchFamily="18" charset="0"/>
                                    </a:rPr>
                                  </m:ctrlPr>
                                </m:sSubPr>
                                <m:e>
                                  <m:d>
                                    <m:dPr>
                                      <m:begChr m:val=""/>
                                      <m:endChr m:val="|"/>
                                      <m:ctrlPr>
                                        <a:rPr lang="zh-CN" altLang="en-US" sz="2400" i="1">
                                          <a:solidFill>
                                            <a:srgbClr val="000000"/>
                                          </a:solidFill>
                                          <a:latin typeface="Cambria Math" panose="02040503050406030204" pitchFamily="18" charset="0"/>
                                        </a:rPr>
                                      </m:ctrlPr>
                                    </m:dPr>
                                    <m:e>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𝑟</m:t>
                                          </m:r>
                                        </m:e>
                                      </m:acc>
                                    </m:e>
                                  </m:d>
                                </m:e>
                                <m:sub>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=0</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𝑟</m:t>
                                      </m:r>
                                    </m:e>
                                  </m:acc>
                                </m:e>
                                <m:sub>
                                  <m:r>
                                    <a:rPr lang="zh-CN" altLang="en-US" sz="2400" i="1">
                                      <a:solidFill>
                                        <a:srgbClr val="000000"/>
                                      </a:solidFill>
                                      <a:latin typeface="Cambria Math" panose="02040503050406030204" pitchFamily="18" charset="0"/>
                                    </a:rPr>
                                    <m:t>0</m:t>
                                  </m:r>
                                </m:sub>
                              </m:sSub>
                              <m:r>
                                <a:rPr lang="zh-CN" altLang="en-US" sz="2400" i="1">
                                  <a:solidFill>
                                    <a:srgbClr val="000000"/>
                                  </a:solidFill>
                                  <a:latin typeface="Cambria Math" panose="02040503050406030204" pitchFamily="18" charset="0"/>
                                </a:rPr>
                                <m:t>, </m:t>
                              </m:r>
                              <m:sSub>
                                <m:sSubPr>
                                  <m:ctrlPr>
                                    <a:rPr lang="zh-CN" altLang="en-US" sz="2400" i="1">
                                      <a:solidFill>
                                        <a:srgbClr val="000000"/>
                                      </a:solidFill>
                                      <a:latin typeface="Cambria Math" panose="02040503050406030204" pitchFamily="18" charset="0"/>
                                    </a:rPr>
                                  </m:ctrlPr>
                                </m:sSubPr>
                                <m:e>
                                  <m:d>
                                    <m:dPr>
                                      <m:begChr m:val=""/>
                                      <m:endChr m:val="|"/>
                                      <m:ctrlPr>
                                        <a:rPr lang="zh-CN" altLang="en-US" sz="2400" i="1">
                                          <a:solidFill>
                                            <a:srgbClr val="000000"/>
                                          </a:solidFill>
                                          <a:latin typeface="Cambria Math" panose="02040503050406030204" pitchFamily="18" charset="0"/>
                                        </a:rPr>
                                      </m:ctrlPr>
                                    </m:dPr>
                                    <m:e>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𝑣</m:t>
                                          </m:r>
                                        </m:e>
                                      </m:acc>
                                    </m:e>
                                  </m:d>
                                </m:e>
                                <m:sub>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=0</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𝑣</m:t>
                                      </m:r>
                                    </m:e>
                                  </m:acc>
                                </m:e>
                                <m:sub>
                                  <m:r>
                                    <a:rPr lang="zh-CN" altLang="en-US" sz="2400" i="1">
                                      <a:solidFill>
                                        <a:srgbClr val="000000"/>
                                      </a:solidFill>
                                      <a:latin typeface="Cambria Math" panose="02040503050406030204" pitchFamily="18" charset="0"/>
                                    </a:rPr>
                                    <m:t>0</m:t>
                                  </m:r>
                                </m:sub>
                              </m:sSub>
                            </m:e>
                          </m:eqArr>
                        </m:e>
                      </m:d>
                    </m:oMath>
                  </m:oMathPara>
                </a14:m>
                <a:endParaRPr lang="zh-CN" altLang="en-US" sz="2400" dirty="0"/>
              </a:p>
            </p:txBody>
          </p:sp>
        </mc:Choice>
        <mc:Fallback xmlns="">
          <p:sp>
            <p:nvSpPr>
              <p:cNvPr id="6" name="Object 4">
                <a:extLst>
                  <a:ext uri="{FF2B5EF4-FFF2-40B4-BE49-F238E27FC236}">
                    <a16:creationId xmlns:a16="http://schemas.microsoft.com/office/drawing/2014/main" id="{3519C337-7F18-4DAD-A0B4-8C3B2A65265E}"/>
                  </a:ext>
                </a:extLst>
              </p:cNvPr>
              <p:cNvSpPr txBox="1">
                <a:spLocks noRot="1" noChangeAspect="1" noMove="1" noResize="1" noEditPoints="1" noAdjustHandles="1" noChangeArrowheads="1" noChangeShapeType="1" noTextEdit="1"/>
              </p:cNvSpPr>
              <p:nvPr/>
            </p:nvSpPr>
            <p:spPr bwMode="auto">
              <a:xfrm>
                <a:off x="1619250" y="2708275"/>
                <a:ext cx="4535488" cy="1692275"/>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5">
                <a:extLst>
                  <a:ext uri="{FF2B5EF4-FFF2-40B4-BE49-F238E27FC236}">
                    <a16:creationId xmlns:a16="http://schemas.microsoft.com/office/drawing/2014/main" id="{487D296C-339C-497D-9806-CEF2B3A2642F}"/>
                  </a:ext>
                </a:extLst>
              </p:cNvPr>
              <p:cNvSpPr txBox="1"/>
              <p:nvPr/>
            </p:nvSpPr>
            <p:spPr bwMode="auto">
              <a:xfrm>
                <a:off x="1114425" y="4652963"/>
                <a:ext cx="2089150" cy="60642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800" i="1">
                          <a:solidFill>
                            <a:srgbClr val="000000"/>
                          </a:solidFill>
                          <a:latin typeface="Cambria Math" panose="02040503050406030204" pitchFamily="18" charset="0"/>
                        </a:rPr>
                        <m:t>→</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𝑟</m:t>
                          </m:r>
                        </m:e>
                      </m:acc>
                      <m:r>
                        <a:rPr lang="zh-CN" altLang="en-US" sz="2800" i="1">
                          <a:solidFill>
                            <a:srgbClr val="000000"/>
                          </a:solidFill>
                          <a:latin typeface="Cambria Math" panose="02040503050406030204" pitchFamily="18" charset="0"/>
                        </a:rPr>
                        <m:t>=</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𝑟</m:t>
                          </m:r>
                        </m:e>
                      </m:acc>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oMath>
                  </m:oMathPara>
                </a14:m>
                <a:endParaRPr lang="zh-CN" altLang="en-US" sz="2800"/>
              </a:p>
            </p:txBody>
          </p:sp>
        </mc:Choice>
        <mc:Fallback xmlns="">
          <p:sp>
            <p:nvSpPr>
              <p:cNvPr id="7" name="Object 5">
                <a:extLst>
                  <a:ext uri="{FF2B5EF4-FFF2-40B4-BE49-F238E27FC236}">
                    <a16:creationId xmlns:a16="http://schemas.microsoft.com/office/drawing/2014/main" id="{487D296C-339C-497D-9806-CEF2B3A2642F}"/>
                  </a:ext>
                </a:extLst>
              </p:cNvPr>
              <p:cNvSpPr txBox="1">
                <a:spLocks noRot="1" noChangeAspect="1" noMove="1" noResize="1" noEditPoints="1" noAdjustHandles="1" noChangeArrowheads="1" noChangeShapeType="1" noTextEdit="1"/>
              </p:cNvSpPr>
              <p:nvPr/>
            </p:nvSpPr>
            <p:spPr bwMode="auto">
              <a:xfrm>
                <a:off x="1114425" y="4652963"/>
                <a:ext cx="2089150" cy="606425"/>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6">
                <a:extLst>
                  <a:ext uri="{FF2B5EF4-FFF2-40B4-BE49-F238E27FC236}">
                    <a16:creationId xmlns:a16="http://schemas.microsoft.com/office/drawing/2014/main" id="{B4B435BD-F553-46A6-A55B-C84728FBBAAB}"/>
                  </a:ext>
                </a:extLst>
              </p:cNvPr>
              <p:cNvSpPr txBox="1"/>
              <p:nvPr/>
            </p:nvSpPr>
            <p:spPr bwMode="auto">
              <a:xfrm>
                <a:off x="1179513" y="5589588"/>
                <a:ext cx="1520825" cy="41592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zh-CN" altLang="en-US" sz="2800" i="1">
                          <a:solidFill>
                            <a:srgbClr val="000000"/>
                          </a:solidFill>
                          <a:latin typeface="Cambria Math" panose="02040503050406030204" pitchFamily="18" charset="0"/>
                        </a:rPr>
                        <m:t>→⋯⋯</m:t>
                      </m:r>
                    </m:oMath>
                  </m:oMathPara>
                </a14:m>
                <a:endParaRPr lang="zh-CN" altLang="en-US" sz="2800"/>
              </a:p>
            </p:txBody>
          </p:sp>
        </mc:Choice>
        <mc:Fallback xmlns="">
          <p:sp>
            <p:nvSpPr>
              <p:cNvPr id="8" name="Object 6">
                <a:extLst>
                  <a:ext uri="{FF2B5EF4-FFF2-40B4-BE49-F238E27FC236}">
                    <a16:creationId xmlns:a16="http://schemas.microsoft.com/office/drawing/2014/main" id="{B4B435BD-F553-46A6-A55B-C84728FBBAAB}"/>
                  </a:ext>
                </a:extLst>
              </p:cNvPr>
              <p:cNvSpPr txBox="1">
                <a:spLocks noRot="1" noChangeAspect="1" noMove="1" noResize="1" noEditPoints="1" noAdjustHandles="1" noChangeArrowheads="1" noChangeShapeType="1" noTextEdit="1"/>
              </p:cNvSpPr>
              <p:nvPr/>
            </p:nvSpPr>
            <p:spPr bwMode="auto">
              <a:xfrm>
                <a:off x="1179513" y="5589588"/>
                <a:ext cx="1520825" cy="415925"/>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9" name="Text Box 7">
            <a:extLst>
              <a:ext uri="{FF2B5EF4-FFF2-40B4-BE49-F238E27FC236}">
                <a16:creationId xmlns:a16="http://schemas.microsoft.com/office/drawing/2014/main" id="{61D62B9B-E1B7-4225-B6F9-1C3972DC7D71}"/>
              </a:ext>
            </a:extLst>
          </p:cNvPr>
          <p:cNvSpPr txBox="1">
            <a:spLocks noChangeArrowheads="1"/>
          </p:cNvSpPr>
          <p:nvPr/>
        </p:nvSpPr>
        <p:spPr bwMode="auto">
          <a:xfrm>
            <a:off x="6227763" y="3141663"/>
            <a:ext cx="27368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solidFill>
                  <a:srgbClr val="000066"/>
                </a:solidFill>
                <a:effectLst/>
                <a:ea typeface="宋体" panose="02010600030101010101" pitchFamily="2" charset="-122"/>
              </a:rPr>
              <a:t>——</a:t>
            </a:r>
            <a:r>
              <a:rPr lang="zh-CN" altLang="en-US" sz="2800" b="1" dirty="0">
                <a:solidFill>
                  <a:srgbClr val="000066"/>
                </a:solidFill>
                <a:effectLst/>
                <a:ea typeface="宋体" panose="02010600030101010101" pitchFamily="2" charset="-122"/>
              </a:rPr>
              <a:t>定解问题</a:t>
            </a:r>
          </a:p>
        </p:txBody>
      </p:sp>
      <p:sp>
        <p:nvSpPr>
          <p:cNvPr id="10" name="Text Box 8">
            <a:extLst>
              <a:ext uri="{FF2B5EF4-FFF2-40B4-BE49-F238E27FC236}">
                <a16:creationId xmlns:a16="http://schemas.microsoft.com/office/drawing/2014/main" id="{D4B6A23E-3631-4D6F-AF63-4EC9332910A2}"/>
              </a:ext>
            </a:extLst>
          </p:cNvPr>
          <p:cNvSpPr txBox="1">
            <a:spLocks noChangeArrowheads="1"/>
          </p:cNvSpPr>
          <p:nvPr/>
        </p:nvSpPr>
        <p:spPr bwMode="auto">
          <a:xfrm>
            <a:off x="611188" y="1831975"/>
            <a:ext cx="2881312"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CC0066"/>
                </a:solidFill>
                <a:effectLst/>
                <a:ea typeface="黑体" panose="02010609060101010101" pitchFamily="49" charset="-122"/>
              </a:rPr>
              <a:t>力学问题：</a:t>
            </a:r>
          </a:p>
        </p:txBody>
      </p:sp>
    </p:spTree>
    <p:extLst>
      <p:ext uri="{BB962C8B-B14F-4D97-AF65-F5344CB8AC3E}">
        <p14:creationId xmlns:p14="http://schemas.microsoft.com/office/powerpoint/2010/main" val="71768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9" grpId="0" autoUpdateAnimBg="0"/>
      <p:bldP spid="10"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919EDDA0-0C51-4A8F-90FB-1ABF3C4A0CA6}"/>
              </a:ext>
            </a:extLst>
          </p:cNvPr>
          <p:cNvSpPr txBox="1">
            <a:spLocks noChangeArrowheads="1"/>
          </p:cNvSpPr>
          <p:nvPr/>
        </p:nvSpPr>
        <p:spPr bwMode="auto">
          <a:xfrm>
            <a:off x="612775" y="476250"/>
            <a:ext cx="1800225"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0000FF"/>
                </a:solidFill>
                <a:effectLst/>
                <a:ea typeface="黑体" panose="02010609060101010101" pitchFamily="49" charset="-122"/>
              </a:rPr>
              <a:t>电磁学：</a:t>
            </a:r>
            <a:endParaRPr lang="zh-CN" altLang="en-US" sz="2800" b="1">
              <a:solidFill>
                <a:srgbClr val="000066"/>
              </a:solidFill>
              <a:effectLst/>
              <a:ea typeface="黑体" panose="02010609060101010101" pitchFamily="49" charset="-122"/>
            </a:endParaRPr>
          </a:p>
        </p:txBody>
      </p:sp>
      <p:sp>
        <p:nvSpPr>
          <p:cNvPr id="5" name="Text Box 3">
            <a:extLst>
              <a:ext uri="{FF2B5EF4-FFF2-40B4-BE49-F238E27FC236}">
                <a16:creationId xmlns:a16="http://schemas.microsoft.com/office/drawing/2014/main" id="{CCB52521-9FF3-4AA0-AC8B-0EF5355C1C3B}"/>
              </a:ext>
            </a:extLst>
          </p:cNvPr>
          <p:cNvSpPr txBox="1">
            <a:spLocks noChangeArrowheads="1"/>
          </p:cNvSpPr>
          <p:nvPr/>
        </p:nvSpPr>
        <p:spPr bwMode="auto">
          <a:xfrm>
            <a:off x="611188" y="1052513"/>
            <a:ext cx="3241675"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CC0066"/>
                </a:solidFill>
                <a:effectLst/>
                <a:ea typeface="黑体" panose="02010609060101010101" pitchFamily="49" charset="-122"/>
              </a:rPr>
              <a:t>电磁基本理论：</a:t>
            </a:r>
          </a:p>
        </p:txBody>
      </p:sp>
      <p:sp>
        <p:nvSpPr>
          <p:cNvPr id="6" name="Text Box 4">
            <a:extLst>
              <a:ext uri="{FF2B5EF4-FFF2-40B4-BE49-F238E27FC236}">
                <a16:creationId xmlns:a16="http://schemas.microsoft.com/office/drawing/2014/main" id="{52DFA8FC-6B0D-4CC4-A370-3B8E4DAED203}"/>
              </a:ext>
            </a:extLst>
          </p:cNvPr>
          <p:cNvSpPr txBox="1">
            <a:spLocks noChangeArrowheads="1"/>
          </p:cNvSpPr>
          <p:nvPr/>
        </p:nvSpPr>
        <p:spPr bwMode="auto">
          <a:xfrm>
            <a:off x="2990850" y="1052513"/>
            <a:ext cx="3959225"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en-US" sz="2800" b="1">
                <a:solidFill>
                  <a:srgbClr val="000066"/>
                </a:solidFill>
                <a:effectLst/>
                <a:ea typeface="宋体" panose="02010600030101010101" pitchFamily="2" charset="-122"/>
              </a:rPr>
              <a:t>麦克斯韦方程组</a:t>
            </a:r>
            <a:endParaRPr lang="zh-CN" altLang="en-US" sz="2800" b="1">
              <a:solidFill>
                <a:srgbClr val="000066"/>
              </a:solidFill>
              <a:effectLst/>
              <a:ea typeface="宋体" panose="02010600030101010101" pitchFamily="2" charset="-122"/>
            </a:endParaRPr>
          </a:p>
        </p:txBody>
      </p:sp>
      <p:grpSp>
        <p:nvGrpSpPr>
          <p:cNvPr id="7" name="Group 5">
            <a:extLst>
              <a:ext uri="{FF2B5EF4-FFF2-40B4-BE49-F238E27FC236}">
                <a16:creationId xmlns:a16="http://schemas.microsoft.com/office/drawing/2014/main" id="{8257FB36-5833-4398-A49E-EB717DAE58CF}"/>
              </a:ext>
            </a:extLst>
          </p:cNvPr>
          <p:cNvGrpSpPr>
            <a:grpSpLocks/>
          </p:cNvGrpSpPr>
          <p:nvPr/>
        </p:nvGrpSpPr>
        <p:grpSpPr bwMode="auto">
          <a:xfrm>
            <a:off x="2728913" y="2032000"/>
            <a:ext cx="4221162" cy="3168650"/>
            <a:chOff x="721" y="1253"/>
            <a:chExt cx="3248" cy="2656"/>
          </a:xfrm>
        </p:grpSpPr>
        <p:sp>
          <p:nvSpPr>
            <p:cNvPr id="8" name="Object 6">
              <a:extLst>
                <a:ext uri="{FF2B5EF4-FFF2-40B4-BE49-F238E27FC236}">
                  <a16:creationId xmlns:a16="http://schemas.microsoft.com/office/drawing/2014/main" id="{3EF29073-BBE5-452C-9834-1C1A6383A67F}"/>
                </a:ext>
              </a:extLst>
            </p:cNvPr>
            <p:cNvSpPr txBox="1"/>
            <p:nvPr/>
          </p:nvSpPr>
          <p:spPr bwMode="auto">
            <a:xfrm>
              <a:off x="1611" y="1816"/>
              <a:ext cx="191" cy="296"/>
            </a:xfrm>
            <a:prstGeom prst="rect">
              <a:avLst/>
            </a:prstGeom>
            <a:noFill/>
            <a:ln>
              <a:noFill/>
            </a:ln>
            <a:effectLst/>
          </p:spPr>
          <p:txBody>
            <a:bodyPr>
              <a:normAutofit lnSpcReduction="10000"/>
            </a:bodyPr>
            <a:lstStyle/>
            <a:p>
              <a:endParaRPr lang="zh-CN" altLang="en-US"/>
            </a:p>
          </p:txBody>
        </p:sp>
        <p:sp>
          <p:nvSpPr>
            <p:cNvPr id="9" name="Object 7">
              <a:extLst>
                <a:ext uri="{FF2B5EF4-FFF2-40B4-BE49-F238E27FC236}">
                  <a16:creationId xmlns:a16="http://schemas.microsoft.com/office/drawing/2014/main" id="{20882DBC-5384-424B-B464-638185206124}"/>
                </a:ext>
              </a:extLst>
            </p:cNvPr>
            <p:cNvSpPr txBox="1"/>
            <p:nvPr/>
          </p:nvSpPr>
          <p:spPr bwMode="auto">
            <a:xfrm>
              <a:off x="2926" y="3311"/>
              <a:ext cx="203" cy="316"/>
            </a:xfrm>
            <a:prstGeom prst="rect">
              <a:avLst/>
            </a:prstGeom>
            <a:noFill/>
            <a:ln>
              <a:noFill/>
            </a:ln>
            <a:effectLst/>
          </p:spPr>
          <p:txBody>
            <a:bodyPr>
              <a:normAutofit/>
            </a:bodyPr>
            <a:lstStyle/>
            <a:p>
              <a:endParaRPr lang="zh-CN" altLang="en-US"/>
            </a:p>
          </p:txBody>
        </p:sp>
        <p:sp>
          <p:nvSpPr>
            <p:cNvPr id="10" name="Object 8">
              <a:extLst>
                <a:ext uri="{FF2B5EF4-FFF2-40B4-BE49-F238E27FC236}">
                  <a16:creationId xmlns:a16="http://schemas.microsoft.com/office/drawing/2014/main" id="{383AC9C5-1680-4CC2-A7D1-D831606624DA}"/>
                </a:ext>
              </a:extLst>
            </p:cNvPr>
            <p:cNvSpPr txBox="1"/>
            <p:nvPr/>
          </p:nvSpPr>
          <p:spPr bwMode="auto">
            <a:xfrm>
              <a:off x="2067" y="2539"/>
              <a:ext cx="197" cy="307"/>
            </a:xfrm>
            <a:prstGeom prst="rect">
              <a:avLst/>
            </a:prstGeom>
            <a:noFill/>
            <a:ln>
              <a:noFill/>
            </a:ln>
            <a:effectLst/>
          </p:spPr>
          <p:txBody>
            <a:bodyPr>
              <a:normAutofit/>
            </a:bodyPr>
            <a:lstStyle/>
            <a:p>
              <a:endParaRPr lang="zh-CN" altLang="en-US"/>
            </a:p>
          </p:txBody>
        </p:sp>
        <mc:AlternateContent xmlns:mc="http://schemas.openxmlformats.org/markup-compatibility/2006" xmlns:a14="http://schemas.microsoft.com/office/drawing/2010/main">
          <mc:Choice Requires="a14">
            <p:sp>
              <p:nvSpPr>
                <p:cNvPr id="11" name="Object 9">
                  <a:extLst>
                    <a:ext uri="{FF2B5EF4-FFF2-40B4-BE49-F238E27FC236}">
                      <a16:creationId xmlns:a16="http://schemas.microsoft.com/office/drawing/2014/main" id="{C2FA694D-0AEE-4991-A86B-162040ABA3DF}"/>
                    </a:ext>
                  </a:extLst>
                </p:cNvPr>
                <p:cNvSpPr txBox="1"/>
                <p:nvPr/>
              </p:nvSpPr>
              <p:spPr bwMode="auto">
                <a:xfrm>
                  <a:off x="721" y="1253"/>
                  <a:ext cx="3248" cy="265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𝑆</m:t>
                                    </m: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𝐷</m:t>
                                        </m:r>
                                      </m:e>
                                    </m:acc>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𝑆</m:t>
                                        </m:r>
                                      </m:e>
                                    </m:acc>
                                  </m:e>
                                </m:nary>
                                <m:r>
                                  <a:rPr lang="zh-CN" altLang="en-US" i="1">
                                    <a:solidFill>
                                      <a:srgbClr val="000000"/>
                                    </a:solidFill>
                                    <a:latin typeface="Cambria Math" panose="02040503050406030204" pitchFamily="18" charset="0"/>
                                  </a:rPr>
                                  <m:t>=</m:t>
                                </m:r>
                                <m:nary>
                                  <m:naryPr>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𝑉</m:t>
                                    </m:r>
                                  </m:sub>
                                  <m:sup/>
                                  <m:e>
                                    <m:r>
                                      <a:rPr lang="zh-CN" altLang="en-US" i="1">
                                        <a:solidFill>
                                          <a:srgbClr val="000000"/>
                                        </a:solidFill>
                                        <a:latin typeface="Cambria Math" panose="02040503050406030204" pitchFamily="18" charset="0"/>
                                      </a:rPr>
                                      <m:t>𝜌</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𝑉</m:t>
                                    </m:r>
                                  </m:e>
                                </m:nary>
                              </m:e>
                              <m:e>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𝑆</m:t>
                                    </m: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𝐵</m:t>
                                        </m:r>
                                      </m:e>
                                    </m:acc>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𝑆</m:t>
                                        </m:r>
                                      </m:e>
                                    </m:acc>
                                  </m:e>
                                </m:nary>
                                <m:r>
                                  <a:rPr lang="zh-CN" altLang="en-US" i="1">
                                    <a:solidFill>
                                      <a:srgbClr val="000000"/>
                                    </a:solidFill>
                                    <a:latin typeface="Cambria Math" panose="02040503050406030204" pitchFamily="18" charset="0"/>
                                  </a:rPr>
                                  <m:t>=0</m:t>
                                </m:r>
                              </m:e>
                              <m:e>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𝐿</m:t>
                                    </m: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𝐸</m:t>
                                        </m:r>
                                      </m:e>
                                    </m:acc>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𝑙</m:t>
                                        </m:r>
                                      </m:e>
                                    </m:acc>
                                  </m:e>
                                </m:nary>
                                <m:r>
                                  <a:rPr lang="zh-CN" altLang="en-US" i="1">
                                    <a:solidFill>
                                      <a:srgbClr val="000000"/>
                                    </a:solidFill>
                                    <a:latin typeface="Cambria Math" panose="02040503050406030204" pitchFamily="18" charset="0"/>
                                  </a:rPr>
                                  <m:t>=−</m:t>
                                </m:r>
                                <m:nary>
                                  <m:naryPr>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𝑆</m:t>
                                    </m:r>
                                  </m:sub>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𝐵</m:t>
                                            </m:r>
                                          </m:e>
                                        </m:acc>
                                      </m:num>
                                      <m:den>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den>
                                    </m:f>
                                  </m:e>
                                </m:nary>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𝑆</m:t>
                                    </m:r>
                                  </m:e>
                                </m:acc>
                              </m:e>
                              <m:e>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𝐿</m:t>
                                    </m: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𝐻</m:t>
                                        </m:r>
                                      </m:e>
                                    </m:acc>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𝑙</m:t>
                                        </m:r>
                                      </m:e>
                                    </m:acc>
                                  </m:e>
                                </m:nary>
                                <m:r>
                                  <a:rPr lang="zh-CN" altLang="en-US" i="1">
                                    <a:solidFill>
                                      <a:srgbClr val="000000"/>
                                    </a:solidFill>
                                    <a:latin typeface="Cambria Math" panose="02040503050406030204" pitchFamily="18" charset="0"/>
                                  </a:rPr>
                                  <m:t>=</m:t>
                                </m:r>
                                <m:nary>
                                  <m:naryPr>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𝑆</m:t>
                                    </m:r>
                                  </m:sub>
                                  <m:sup/>
                                  <m:e>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𝐽</m:t>
                                            </m:r>
                                          </m:e>
                                        </m:acc>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𝐷</m:t>
                                            </m:r>
                                          </m:e>
                                        </m:acc>
                                      </m:num>
                                      <m:den>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den>
                                    </m:f>
                                  </m:e>
                                </m:nary>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𝑆</m:t>
                                    </m:r>
                                  </m:e>
                                </m:acc>
                              </m:e>
                            </m:eqArr>
                          </m:e>
                        </m:d>
                      </m:oMath>
                    </m:oMathPara>
                  </a14:m>
                  <a:endParaRPr lang="zh-CN" altLang="en-US"/>
                </a:p>
              </p:txBody>
            </p:sp>
          </mc:Choice>
          <mc:Fallback xmlns="">
            <p:sp>
              <p:nvSpPr>
                <p:cNvPr id="11" name="Object 9">
                  <a:extLst>
                    <a:ext uri="{FF2B5EF4-FFF2-40B4-BE49-F238E27FC236}">
                      <a16:creationId xmlns:a16="http://schemas.microsoft.com/office/drawing/2014/main" id="{C2FA694D-0AEE-4991-A86B-162040ABA3DF}"/>
                    </a:ext>
                  </a:extLst>
                </p:cNvPr>
                <p:cNvSpPr txBox="1">
                  <a:spLocks noRot="1" noChangeAspect="1" noMove="1" noResize="1" noEditPoints="1" noAdjustHandles="1" noChangeArrowheads="1" noChangeShapeType="1" noTextEdit="1"/>
                </p:cNvSpPr>
                <p:nvPr/>
              </p:nvSpPr>
              <p:spPr bwMode="auto">
                <a:xfrm>
                  <a:off x="721" y="1253"/>
                  <a:ext cx="3248" cy="2656"/>
                </a:xfrm>
                <a:prstGeom prst="rect">
                  <a:avLst/>
                </a:prstGeom>
                <a:blipFill>
                  <a:blip r:embed="rId2"/>
                  <a:stretch>
                    <a:fillRect/>
                  </a:stretch>
                </a:blipFill>
                <a:ln>
                  <a:noFill/>
                </a:ln>
                <a:effectLst/>
              </p:spPr>
              <p:txBody>
                <a:bodyPr/>
                <a:lstStyle/>
                <a:p>
                  <a:r>
                    <a:rPr lang="zh-CN" altLang="en-US">
                      <a:noFill/>
                    </a:rPr>
                    <a:t> </a:t>
                  </a:r>
                </a:p>
              </p:txBody>
            </p:sp>
          </mc:Fallback>
        </mc:AlternateContent>
      </p:grpSp>
      <p:sp>
        <p:nvSpPr>
          <p:cNvPr id="12" name="Text Box 10">
            <a:extLst>
              <a:ext uri="{FF2B5EF4-FFF2-40B4-BE49-F238E27FC236}">
                <a16:creationId xmlns:a16="http://schemas.microsoft.com/office/drawing/2014/main" id="{B00A0C70-D90F-42D3-A5F7-C3ADCD51AFF5}"/>
              </a:ext>
            </a:extLst>
          </p:cNvPr>
          <p:cNvSpPr txBox="1">
            <a:spLocks noChangeArrowheads="1"/>
          </p:cNvSpPr>
          <p:nvPr/>
        </p:nvSpPr>
        <p:spPr bwMode="auto">
          <a:xfrm>
            <a:off x="682625" y="5070475"/>
            <a:ext cx="4826000"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CC0066"/>
                </a:solidFill>
                <a:effectLst/>
                <a:ea typeface="黑体" panose="02010609060101010101" pitchFamily="49" charset="-122"/>
              </a:rPr>
              <a:t>电磁学研究的基本问题：</a:t>
            </a:r>
          </a:p>
        </p:txBody>
      </p:sp>
      <p:sp>
        <p:nvSpPr>
          <p:cNvPr id="13" name="Text Box 11">
            <a:extLst>
              <a:ext uri="{FF2B5EF4-FFF2-40B4-BE49-F238E27FC236}">
                <a16:creationId xmlns:a16="http://schemas.microsoft.com/office/drawing/2014/main" id="{D9EBBB9C-1636-44F7-AF84-4EAB1F0ADF8C}"/>
              </a:ext>
            </a:extLst>
          </p:cNvPr>
          <p:cNvSpPr txBox="1">
            <a:spLocks noChangeArrowheads="1"/>
          </p:cNvSpPr>
          <p:nvPr/>
        </p:nvSpPr>
        <p:spPr bwMode="auto">
          <a:xfrm>
            <a:off x="4498975" y="5084763"/>
            <a:ext cx="4826000"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000066"/>
                </a:solidFill>
                <a:effectLst/>
                <a:ea typeface="宋体" panose="02010600030101010101" pitchFamily="2" charset="-122"/>
              </a:rPr>
              <a:t>电磁相互作用基本规律</a:t>
            </a:r>
          </a:p>
        </p:txBody>
      </p:sp>
    </p:spTree>
    <p:extLst>
      <p:ext uri="{BB962C8B-B14F-4D97-AF65-F5344CB8AC3E}">
        <p14:creationId xmlns:p14="http://schemas.microsoft.com/office/powerpoint/2010/main" val="401898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12" grpId="0" autoUpdateAnimBg="0"/>
      <p:bldP spid="1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E0D9461-C49F-42A3-85C3-A31290825755}"/>
              </a:ext>
            </a:extLst>
          </p:cNvPr>
          <p:cNvSpPr txBox="1">
            <a:spLocks noChangeArrowheads="1"/>
          </p:cNvSpPr>
          <p:nvPr/>
        </p:nvSpPr>
        <p:spPr bwMode="auto">
          <a:xfrm>
            <a:off x="755650" y="1628775"/>
            <a:ext cx="1800225"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0000FF"/>
                </a:solidFill>
                <a:effectLst/>
                <a:ea typeface="黑体" panose="02010609060101010101" pitchFamily="49" charset="-122"/>
              </a:rPr>
              <a:t>光学：</a:t>
            </a:r>
            <a:endParaRPr lang="zh-CN" altLang="en-US" sz="2800" b="1">
              <a:solidFill>
                <a:srgbClr val="000066"/>
              </a:solidFill>
              <a:effectLst/>
              <a:ea typeface="黑体" panose="02010609060101010101" pitchFamily="49" charset="-122"/>
            </a:endParaRPr>
          </a:p>
        </p:txBody>
      </p:sp>
      <p:sp>
        <p:nvSpPr>
          <p:cNvPr id="5" name="Text Box 3">
            <a:extLst>
              <a:ext uri="{FF2B5EF4-FFF2-40B4-BE49-F238E27FC236}">
                <a16:creationId xmlns:a16="http://schemas.microsoft.com/office/drawing/2014/main" id="{322FB85F-60F4-4A0E-BD45-A551815EA304}"/>
              </a:ext>
            </a:extLst>
          </p:cNvPr>
          <p:cNvSpPr txBox="1">
            <a:spLocks noChangeArrowheads="1"/>
          </p:cNvSpPr>
          <p:nvPr/>
        </p:nvSpPr>
        <p:spPr bwMode="auto">
          <a:xfrm>
            <a:off x="2122488" y="2492375"/>
            <a:ext cx="5689600" cy="1957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dirty="0">
                <a:solidFill>
                  <a:srgbClr val="CC0066"/>
                </a:solidFill>
                <a:effectLst/>
                <a:ea typeface="宋体" panose="02010600030101010101" pitchFamily="2" charset="-122"/>
              </a:rPr>
              <a:t>几何光学：</a:t>
            </a:r>
            <a:r>
              <a:rPr lang="zh-CN" altLang="en-US" sz="2800" b="1" dirty="0">
                <a:solidFill>
                  <a:srgbClr val="000066"/>
                </a:solidFill>
                <a:effectLst/>
                <a:ea typeface="宋体" panose="02010600030101010101" pitchFamily="2" charset="-122"/>
              </a:rPr>
              <a:t>波动光学的近似</a:t>
            </a:r>
          </a:p>
          <a:p>
            <a:pPr>
              <a:lnSpc>
                <a:spcPct val="150000"/>
              </a:lnSpc>
            </a:pPr>
            <a:r>
              <a:rPr lang="zh-CN" altLang="en-US" sz="2800" b="1" dirty="0">
                <a:solidFill>
                  <a:srgbClr val="CC0066"/>
                </a:solidFill>
                <a:effectLst/>
                <a:ea typeface="宋体" panose="02010600030101010101" pitchFamily="2" charset="-122"/>
              </a:rPr>
              <a:t>波动光学：</a:t>
            </a:r>
            <a:r>
              <a:rPr lang="zh-CN" altLang="en-US" sz="2800" b="1" dirty="0">
                <a:solidFill>
                  <a:srgbClr val="000066"/>
                </a:solidFill>
                <a:effectLst/>
                <a:ea typeface="宋体" panose="02010600030101010101" pitchFamily="2" charset="-122"/>
              </a:rPr>
              <a:t>波动理论＋电磁学</a:t>
            </a:r>
          </a:p>
          <a:p>
            <a:pPr>
              <a:lnSpc>
                <a:spcPct val="150000"/>
              </a:lnSpc>
            </a:pPr>
            <a:r>
              <a:rPr lang="zh-CN" altLang="en-US" sz="2800" b="1" dirty="0">
                <a:solidFill>
                  <a:srgbClr val="0000FF"/>
                </a:solidFill>
                <a:effectLst/>
                <a:ea typeface="宋体" panose="02010600030101010101" pitchFamily="2" charset="-122"/>
              </a:rPr>
              <a:t>量子光学：光的量子理论</a:t>
            </a:r>
          </a:p>
        </p:txBody>
      </p:sp>
    </p:spTree>
    <p:extLst>
      <p:ext uri="{BB962C8B-B14F-4D97-AF65-F5344CB8AC3E}">
        <p14:creationId xmlns:p14="http://schemas.microsoft.com/office/powerpoint/2010/main" val="1887046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
            <a:extLst>
              <a:ext uri="{FF2B5EF4-FFF2-40B4-BE49-F238E27FC236}">
                <a16:creationId xmlns:a16="http://schemas.microsoft.com/office/drawing/2014/main" id="{567CA918-8E9A-47E7-8642-6374D713BE9C}"/>
              </a:ext>
            </a:extLst>
          </p:cNvPr>
          <p:cNvSpPr txBox="1">
            <a:spLocks noChangeArrowheads="1"/>
          </p:cNvSpPr>
          <p:nvPr/>
        </p:nvSpPr>
        <p:spPr bwMode="auto">
          <a:xfrm>
            <a:off x="612775" y="1276350"/>
            <a:ext cx="1296988"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endParaRPr lang="zh-CN" altLang="en-US" sz="2800" b="1">
              <a:solidFill>
                <a:srgbClr val="000066"/>
              </a:solidFill>
              <a:effectLst/>
              <a:ea typeface="黑体" panose="02010609060101010101" pitchFamily="49" charset="-122"/>
            </a:endParaRPr>
          </a:p>
        </p:txBody>
      </p:sp>
      <p:sp>
        <p:nvSpPr>
          <p:cNvPr id="12" name="Rectangle 4">
            <a:extLst>
              <a:ext uri="{FF2B5EF4-FFF2-40B4-BE49-F238E27FC236}">
                <a16:creationId xmlns:a16="http://schemas.microsoft.com/office/drawing/2014/main" id="{5599DDAF-783E-4680-B828-8CEDD0C25609}"/>
              </a:ext>
            </a:extLst>
          </p:cNvPr>
          <p:cNvSpPr>
            <a:spLocks noChangeArrowheads="1"/>
          </p:cNvSpPr>
          <p:nvPr/>
        </p:nvSpPr>
        <p:spPr bwMode="auto">
          <a:xfrm>
            <a:off x="900113" y="1616075"/>
            <a:ext cx="2339102" cy="672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sz="2800" b="1">
                <a:solidFill>
                  <a:srgbClr val="006666"/>
                </a:solidFill>
                <a:effectLst/>
              </a:rPr>
              <a:t>热力学定律：</a:t>
            </a:r>
          </a:p>
        </p:txBody>
      </p:sp>
      <p:sp>
        <p:nvSpPr>
          <p:cNvPr id="13" name="Rectangle 5">
            <a:extLst>
              <a:ext uri="{FF2B5EF4-FFF2-40B4-BE49-F238E27FC236}">
                <a16:creationId xmlns:a16="http://schemas.microsoft.com/office/drawing/2014/main" id="{54E7B724-9E34-4DA1-84AB-C84EB0AF06AF}"/>
              </a:ext>
            </a:extLst>
          </p:cNvPr>
          <p:cNvSpPr>
            <a:spLocks noChangeArrowheads="1"/>
          </p:cNvSpPr>
          <p:nvPr/>
        </p:nvSpPr>
        <p:spPr bwMode="auto">
          <a:xfrm>
            <a:off x="539750" y="981075"/>
            <a:ext cx="3384550"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dirty="0">
                <a:solidFill>
                  <a:srgbClr val="CC0066"/>
                </a:solidFill>
                <a:effectLst/>
                <a:ea typeface="黑体" panose="02010609060101010101" pitchFamily="49" charset="-122"/>
              </a:rPr>
              <a:t>热学基本理论：</a:t>
            </a:r>
          </a:p>
        </p:txBody>
      </p:sp>
      <p:sp>
        <p:nvSpPr>
          <p:cNvPr id="14" name="Text Box 6">
            <a:extLst>
              <a:ext uri="{FF2B5EF4-FFF2-40B4-BE49-F238E27FC236}">
                <a16:creationId xmlns:a16="http://schemas.microsoft.com/office/drawing/2014/main" id="{FC5D9695-EC02-49A3-AE03-A19B3C209FC2}"/>
              </a:ext>
            </a:extLst>
          </p:cNvPr>
          <p:cNvSpPr txBox="1">
            <a:spLocks noChangeArrowheads="1"/>
          </p:cNvSpPr>
          <p:nvPr/>
        </p:nvSpPr>
        <p:spPr bwMode="auto">
          <a:xfrm>
            <a:off x="2987675" y="1700213"/>
            <a:ext cx="232886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sz="2400" b="1">
                <a:solidFill>
                  <a:srgbClr val="000066"/>
                </a:solidFill>
                <a:effectLst/>
                <a:ea typeface="宋体" panose="02010600030101010101" pitchFamily="2" charset="-122"/>
              </a:rPr>
              <a:t>热力学第零定律</a:t>
            </a:r>
          </a:p>
          <a:p>
            <a:pPr>
              <a:lnSpc>
                <a:spcPct val="150000"/>
              </a:lnSpc>
            </a:pPr>
            <a:r>
              <a:rPr lang="zh-CN" altLang="en-US" sz="2400" b="1">
                <a:solidFill>
                  <a:srgbClr val="000066"/>
                </a:solidFill>
                <a:effectLst/>
                <a:ea typeface="宋体" panose="02010600030101010101" pitchFamily="2" charset="-122"/>
              </a:rPr>
              <a:t>热力学第一定律</a:t>
            </a:r>
          </a:p>
          <a:p>
            <a:pPr>
              <a:lnSpc>
                <a:spcPct val="150000"/>
              </a:lnSpc>
            </a:pPr>
            <a:r>
              <a:rPr lang="zh-CN" altLang="en-US" sz="2400" b="1">
                <a:solidFill>
                  <a:srgbClr val="000066"/>
                </a:solidFill>
                <a:effectLst/>
                <a:ea typeface="宋体" panose="02010600030101010101" pitchFamily="2" charset="-122"/>
              </a:rPr>
              <a:t>热力学第二定律</a:t>
            </a:r>
          </a:p>
          <a:p>
            <a:pPr>
              <a:lnSpc>
                <a:spcPct val="150000"/>
              </a:lnSpc>
            </a:pPr>
            <a:r>
              <a:rPr lang="zh-CN" altLang="en-US" sz="2400" b="1">
                <a:solidFill>
                  <a:srgbClr val="000066"/>
                </a:solidFill>
                <a:effectLst/>
                <a:ea typeface="宋体" panose="02010600030101010101" pitchFamily="2" charset="-122"/>
              </a:rPr>
              <a:t>热力学第三定律</a:t>
            </a:r>
          </a:p>
        </p:txBody>
      </p:sp>
      <p:sp>
        <p:nvSpPr>
          <p:cNvPr id="15" name="Rectangle 7">
            <a:extLst>
              <a:ext uri="{FF2B5EF4-FFF2-40B4-BE49-F238E27FC236}">
                <a16:creationId xmlns:a16="http://schemas.microsoft.com/office/drawing/2014/main" id="{A71DE800-BBE4-43C4-891E-979B11E9F458}"/>
              </a:ext>
            </a:extLst>
          </p:cNvPr>
          <p:cNvSpPr>
            <a:spLocks noChangeArrowheads="1"/>
          </p:cNvSpPr>
          <p:nvPr/>
        </p:nvSpPr>
        <p:spPr bwMode="auto">
          <a:xfrm>
            <a:off x="2636838" y="3883025"/>
            <a:ext cx="474345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sz="2400" b="1">
                <a:solidFill>
                  <a:srgbClr val="000066"/>
                </a:solidFill>
                <a:effectLst/>
                <a:ea typeface="宋体" panose="02010600030101010101" pitchFamily="2" charset="-122"/>
              </a:rPr>
              <a:t>麦克斯韦－玻尔兹曼（</a:t>
            </a:r>
            <a:r>
              <a:rPr lang="en-US" altLang="zh-CN" sz="2400" b="1">
                <a:solidFill>
                  <a:srgbClr val="000066"/>
                </a:solidFill>
                <a:effectLst/>
                <a:ea typeface="宋体" panose="02010600030101010101" pitchFamily="2" charset="-122"/>
              </a:rPr>
              <a:t>M-B</a:t>
            </a:r>
            <a:r>
              <a:rPr lang="zh-CN" altLang="en-US" sz="2400" b="1">
                <a:solidFill>
                  <a:srgbClr val="000066"/>
                </a:solidFill>
                <a:effectLst/>
                <a:ea typeface="宋体" panose="02010600030101010101" pitchFamily="2" charset="-122"/>
              </a:rPr>
              <a:t>）统计</a:t>
            </a:r>
          </a:p>
          <a:p>
            <a:pPr>
              <a:lnSpc>
                <a:spcPct val="150000"/>
              </a:lnSpc>
            </a:pPr>
            <a:r>
              <a:rPr lang="zh-CN" altLang="en-US" sz="2400" b="1">
                <a:solidFill>
                  <a:srgbClr val="000066"/>
                </a:solidFill>
                <a:effectLst/>
                <a:ea typeface="宋体" panose="02010600030101010101" pitchFamily="2" charset="-122"/>
              </a:rPr>
              <a:t>玻色－爱因斯坦（</a:t>
            </a:r>
            <a:r>
              <a:rPr lang="en-US" altLang="zh-CN" sz="2400" b="1">
                <a:solidFill>
                  <a:srgbClr val="000066"/>
                </a:solidFill>
                <a:effectLst/>
                <a:ea typeface="宋体" panose="02010600030101010101" pitchFamily="2" charset="-122"/>
              </a:rPr>
              <a:t>B-E</a:t>
            </a:r>
            <a:r>
              <a:rPr lang="zh-CN" altLang="en-US" sz="2400" b="1">
                <a:solidFill>
                  <a:srgbClr val="000066"/>
                </a:solidFill>
                <a:effectLst/>
                <a:ea typeface="宋体" panose="02010600030101010101" pitchFamily="2" charset="-122"/>
              </a:rPr>
              <a:t>）统计</a:t>
            </a:r>
          </a:p>
          <a:p>
            <a:pPr>
              <a:lnSpc>
                <a:spcPct val="150000"/>
              </a:lnSpc>
            </a:pPr>
            <a:r>
              <a:rPr lang="zh-CN" altLang="en-US" sz="2400" b="1">
                <a:solidFill>
                  <a:srgbClr val="000066"/>
                </a:solidFill>
                <a:effectLst/>
                <a:ea typeface="宋体" panose="02010600030101010101" pitchFamily="2" charset="-122"/>
              </a:rPr>
              <a:t>玻色－爱因斯坦（</a:t>
            </a:r>
            <a:r>
              <a:rPr lang="en-US" altLang="zh-CN" sz="2400" b="1">
                <a:solidFill>
                  <a:srgbClr val="000066"/>
                </a:solidFill>
                <a:effectLst/>
                <a:ea typeface="宋体" panose="02010600030101010101" pitchFamily="2" charset="-122"/>
              </a:rPr>
              <a:t>B-E</a:t>
            </a:r>
            <a:r>
              <a:rPr lang="zh-CN" altLang="en-US" sz="2400" b="1">
                <a:solidFill>
                  <a:srgbClr val="000066"/>
                </a:solidFill>
                <a:effectLst/>
                <a:ea typeface="宋体" panose="02010600030101010101" pitchFamily="2" charset="-122"/>
              </a:rPr>
              <a:t>）统计</a:t>
            </a:r>
          </a:p>
          <a:p>
            <a:pPr>
              <a:lnSpc>
                <a:spcPct val="150000"/>
              </a:lnSpc>
            </a:pPr>
            <a:r>
              <a:rPr lang="zh-CN" altLang="en-US" sz="2400" b="1">
                <a:solidFill>
                  <a:srgbClr val="000066"/>
                </a:solidFill>
                <a:effectLst/>
                <a:ea typeface="宋体" panose="02010600030101010101" pitchFamily="2" charset="-122"/>
              </a:rPr>
              <a:t>系综理论                   </a:t>
            </a:r>
          </a:p>
        </p:txBody>
      </p:sp>
      <p:sp>
        <p:nvSpPr>
          <p:cNvPr id="16" name="Rectangle 8">
            <a:extLst>
              <a:ext uri="{FF2B5EF4-FFF2-40B4-BE49-F238E27FC236}">
                <a16:creationId xmlns:a16="http://schemas.microsoft.com/office/drawing/2014/main" id="{73277737-2D99-40A1-AE24-D68FD5C6B02E}"/>
              </a:ext>
            </a:extLst>
          </p:cNvPr>
          <p:cNvSpPr>
            <a:spLocks noChangeArrowheads="1"/>
          </p:cNvSpPr>
          <p:nvPr/>
        </p:nvSpPr>
        <p:spPr bwMode="auto">
          <a:xfrm>
            <a:off x="874713" y="3789363"/>
            <a:ext cx="1980029" cy="672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sz="2800" b="1">
                <a:solidFill>
                  <a:srgbClr val="006666"/>
                </a:solidFill>
                <a:effectLst/>
              </a:rPr>
              <a:t>统计理论：</a:t>
            </a:r>
          </a:p>
        </p:txBody>
      </p:sp>
      <p:sp>
        <p:nvSpPr>
          <p:cNvPr id="17" name="Text Box 2">
            <a:extLst>
              <a:ext uri="{FF2B5EF4-FFF2-40B4-BE49-F238E27FC236}">
                <a16:creationId xmlns:a16="http://schemas.microsoft.com/office/drawing/2014/main" id="{DFFE0715-9C8B-4B77-9977-2C6CA60E511A}"/>
              </a:ext>
            </a:extLst>
          </p:cNvPr>
          <p:cNvSpPr txBox="1">
            <a:spLocks noChangeArrowheads="1"/>
          </p:cNvSpPr>
          <p:nvPr/>
        </p:nvSpPr>
        <p:spPr bwMode="auto">
          <a:xfrm>
            <a:off x="539750" y="392113"/>
            <a:ext cx="1296988"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dirty="0">
                <a:solidFill>
                  <a:srgbClr val="0000FF"/>
                </a:solidFill>
                <a:effectLst/>
                <a:ea typeface="黑体" panose="02010609060101010101" pitchFamily="49" charset="-122"/>
              </a:rPr>
              <a:t>热学：</a:t>
            </a:r>
            <a:endParaRPr lang="zh-CN" altLang="en-US" sz="2800" b="1" dirty="0">
              <a:solidFill>
                <a:srgbClr val="000066"/>
              </a:solidFill>
              <a:effectLst/>
              <a:ea typeface="黑体" panose="02010609060101010101" pitchFamily="49" charset="-122"/>
            </a:endParaRPr>
          </a:p>
        </p:txBody>
      </p:sp>
    </p:spTree>
    <p:extLst>
      <p:ext uri="{BB962C8B-B14F-4D97-AF65-F5344CB8AC3E}">
        <p14:creationId xmlns:p14="http://schemas.microsoft.com/office/powerpoint/2010/main" val="224259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0-#ppt_w/2"/>
                                          </p:val>
                                        </p:tav>
                                        <p:tav tm="100000">
                                          <p:val>
                                            <p:strVal val="#ppt_x"/>
                                          </p:val>
                                        </p:tav>
                                      </p:tavLst>
                                    </p:anim>
                                    <p:anim calcmode="lin" valueType="num">
                                      <p:cBhvr additive="base">
                                        <p:cTn id="3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P spid="15" grpId="0" autoUpdateAnimBg="0"/>
      <p:bldP spid="1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73EFCBA-FD2F-42CB-88B0-1D42C2241475}"/>
              </a:ext>
            </a:extLst>
          </p:cNvPr>
          <p:cNvSpPr>
            <a:spLocks noChangeArrowheads="1"/>
          </p:cNvSpPr>
          <p:nvPr/>
        </p:nvSpPr>
        <p:spPr bwMode="auto">
          <a:xfrm>
            <a:off x="614363" y="465138"/>
            <a:ext cx="3384550" cy="66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CC0066"/>
                </a:solidFill>
                <a:effectLst/>
                <a:ea typeface="黑体" panose="02010609060101010101" pitchFamily="49" charset="-122"/>
              </a:rPr>
              <a:t>热学研究方法：</a:t>
            </a:r>
          </a:p>
        </p:txBody>
      </p:sp>
      <p:sp>
        <p:nvSpPr>
          <p:cNvPr id="5" name="Text Box 3">
            <a:extLst>
              <a:ext uri="{FF2B5EF4-FFF2-40B4-BE49-F238E27FC236}">
                <a16:creationId xmlns:a16="http://schemas.microsoft.com/office/drawing/2014/main" id="{141D960C-5AF1-47AC-8794-3F7B619779F2}"/>
              </a:ext>
            </a:extLst>
          </p:cNvPr>
          <p:cNvSpPr txBox="1">
            <a:spLocks noChangeArrowheads="1"/>
          </p:cNvSpPr>
          <p:nvPr/>
        </p:nvSpPr>
        <p:spPr bwMode="auto">
          <a:xfrm>
            <a:off x="974725" y="1198563"/>
            <a:ext cx="8205788" cy="576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zh-CN" altLang="en-US" sz="2800" b="1" dirty="0">
                <a:solidFill>
                  <a:srgbClr val="0000FF"/>
                </a:solidFill>
                <a:effectLst/>
                <a:latin typeface="Times New Roman" panose="02020603050405020304" pitchFamily="18" charset="0"/>
                <a:ea typeface="黑体" panose="02010609060101010101" pitchFamily="49" charset="-122"/>
              </a:rPr>
              <a:t>宏观方法</a:t>
            </a:r>
            <a:r>
              <a:rPr kumimoji="1" lang="en-US" altLang="zh-CN" sz="2800" b="1" dirty="0">
                <a:solidFill>
                  <a:srgbClr val="000066"/>
                </a:solidFill>
                <a:effectLst/>
                <a:latin typeface="宋体" panose="02010600030101010101" pitchFamily="2" charset="-122"/>
                <a:ea typeface="宋体" panose="02010600030101010101" pitchFamily="2" charset="-122"/>
              </a:rPr>
              <a:t>——</a:t>
            </a:r>
            <a:r>
              <a:rPr kumimoji="1" lang="zh-CN" altLang="en-US" sz="2800" b="1" dirty="0">
                <a:solidFill>
                  <a:srgbClr val="FF0000"/>
                </a:solidFill>
                <a:effectLst/>
                <a:latin typeface="Times New Roman" panose="02020603050405020304" pitchFamily="18" charset="0"/>
                <a:ea typeface="宋体" panose="02010600030101010101" pitchFamily="2" charset="-122"/>
              </a:rPr>
              <a:t>热力学</a:t>
            </a:r>
          </a:p>
        </p:txBody>
      </p:sp>
      <p:sp>
        <p:nvSpPr>
          <p:cNvPr id="6" name="Rectangle 4">
            <a:extLst>
              <a:ext uri="{FF2B5EF4-FFF2-40B4-BE49-F238E27FC236}">
                <a16:creationId xmlns:a16="http://schemas.microsoft.com/office/drawing/2014/main" id="{F4B0B046-291E-4AE4-A7FA-75029C201AC6}"/>
              </a:ext>
            </a:extLst>
          </p:cNvPr>
          <p:cNvSpPr>
            <a:spLocks noChangeArrowheads="1"/>
          </p:cNvSpPr>
          <p:nvPr/>
        </p:nvSpPr>
        <p:spPr bwMode="auto">
          <a:xfrm>
            <a:off x="974725" y="1797050"/>
            <a:ext cx="4824413" cy="576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zh-CN" altLang="en-US" sz="2800" b="1">
                <a:solidFill>
                  <a:srgbClr val="0000FF"/>
                </a:solidFill>
                <a:effectLst/>
                <a:latin typeface="Times New Roman" panose="02020603050405020304" pitchFamily="18" charset="0"/>
                <a:ea typeface="黑体" panose="02010609060101010101" pitchFamily="49" charset="-122"/>
              </a:rPr>
              <a:t>微观方法</a:t>
            </a:r>
            <a:r>
              <a:rPr kumimoji="1" lang="en-US" altLang="zh-CN" sz="2800" b="1">
                <a:solidFill>
                  <a:srgbClr val="000066"/>
                </a:solidFill>
                <a:effectLst/>
                <a:latin typeface="宋体" panose="02010600030101010101" pitchFamily="2" charset="-122"/>
                <a:ea typeface="宋体" panose="02010600030101010101" pitchFamily="2" charset="-122"/>
              </a:rPr>
              <a:t>——</a:t>
            </a:r>
            <a:r>
              <a:rPr kumimoji="1" lang="zh-CN" altLang="en-US" sz="2800" b="1">
                <a:solidFill>
                  <a:srgbClr val="FF3300"/>
                </a:solidFill>
                <a:effectLst/>
                <a:latin typeface="Times New Roman" panose="02020603050405020304" pitchFamily="18" charset="0"/>
                <a:ea typeface="宋体" panose="02010600030101010101" pitchFamily="2" charset="-122"/>
              </a:rPr>
              <a:t>统计物理学</a:t>
            </a:r>
          </a:p>
        </p:txBody>
      </p:sp>
      <p:sp>
        <p:nvSpPr>
          <p:cNvPr id="7" name="Rectangle 5">
            <a:extLst>
              <a:ext uri="{FF2B5EF4-FFF2-40B4-BE49-F238E27FC236}">
                <a16:creationId xmlns:a16="http://schemas.microsoft.com/office/drawing/2014/main" id="{501F86C0-38AD-4F8F-8F51-4044A927734A}"/>
              </a:ext>
            </a:extLst>
          </p:cNvPr>
          <p:cNvSpPr>
            <a:spLocks noChangeArrowheads="1"/>
          </p:cNvSpPr>
          <p:nvPr/>
        </p:nvSpPr>
        <p:spPr bwMode="auto">
          <a:xfrm>
            <a:off x="1262063" y="2492375"/>
            <a:ext cx="482441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buFont typeface="Wingdings" panose="05000000000000000000" pitchFamily="2" charset="2"/>
              <a:buChar char="Ø"/>
            </a:pPr>
            <a:r>
              <a:rPr kumimoji="1" lang="zh-CN" altLang="en-US" sz="2400" b="1">
                <a:solidFill>
                  <a:srgbClr val="000066"/>
                </a:solidFill>
                <a:effectLst/>
                <a:latin typeface="宋体" panose="02010600030101010101" pitchFamily="2" charset="-122"/>
                <a:ea typeface="宋体" panose="02010600030101010101" pitchFamily="2" charset="-122"/>
              </a:rPr>
              <a:t> 热力学系统是一个复杂系统</a:t>
            </a:r>
          </a:p>
        </p:txBody>
      </p:sp>
      <p:sp>
        <p:nvSpPr>
          <p:cNvPr id="8" name="Text Box 6">
            <a:extLst>
              <a:ext uri="{FF2B5EF4-FFF2-40B4-BE49-F238E27FC236}">
                <a16:creationId xmlns:a16="http://schemas.microsoft.com/office/drawing/2014/main" id="{1A233B63-D06D-4CE2-8BA8-42AB0C3F447C}"/>
              </a:ext>
            </a:extLst>
          </p:cNvPr>
          <p:cNvSpPr txBox="1">
            <a:spLocks noChangeArrowheads="1"/>
          </p:cNvSpPr>
          <p:nvPr/>
        </p:nvSpPr>
        <p:spPr bwMode="auto">
          <a:xfrm>
            <a:off x="1262063" y="3068638"/>
            <a:ext cx="73453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buFont typeface="Wingdings" panose="05000000000000000000" pitchFamily="2" charset="2"/>
              <a:buChar char="Ø"/>
            </a:pPr>
            <a:r>
              <a:rPr kumimoji="1" lang="zh-CN" altLang="en-US" sz="2400" b="1">
                <a:solidFill>
                  <a:srgbClr val="000066"/>
                </a:solidFill>
                <a:effectLst/>
                <a:latin typeface="宋体" panose="02010600030101010101" pitchFamily="2" charset="-122"/>
                <a:ea typeface="宋体" panose="02010600030101010101" pitchFamily="2" charset="-122"/>
              </a:rPr>
              <a:t> 个别粒子的运动杂乱无章，但大量粒子运动的集体表现存在着一定的统计规律。</a:t>
            </a:r>
          </a:p>
        </p:txBody>
      </p:sp>
      <p:grpSp>
        <p:nvGrpSpPr>
          <p:cNvPr id="9" name="Group 7">
            <a:extLst>
              <a:ext uri="{FF2B5EF4-FFF2-40B4-BE49-F238E27FC236}">
                <a16:creationId xmlns:a16="http://schemas.microsoft.com/office/drawing/2014/main" id="{BD7A73A1-DBEB-47FD-B8C0-3DCD1A5EA8A6}"/>
              </a:ext>
            </a:extLst>
          </p:cNvPr>
          <p:cNvGrpSpPr>
            <a:grpSpLocks/>
          </p:cNvGrpSpPr>
          <p:nvPr/>
        </p:nvGrpSpPr>
        <p:grpSpPr bwMode="auto">
          <a:xfrm>
            <a:off x="2559050" y="3862388"/>
            <a:ext cx="2303463" cy="2374900"/>
            <a:chOff x="576" y="1593"/>
            <a:chExt cx="2592" cy="2535"/>
          </a:xfrm>
        </p:grpSpPr>
        <p:grpSp>
          <p:nvGrpSpPr>
            <p:cNvPr id="10" name="Group 8">
              <a:extLst>
                <a:ext uri="{FF2B5EF4-FFF2-40B4-BE49-F238E27FC236}">
                  <a16:creationId xmlns:a16="http://schemas.microsoft.com/office/drawing/2014/main" id="{52EA3197-C87C-4805-9EAA-5914E9C5F745}"/>
                </a:ext>
              </a:extLst>
            </p:cNvPr>
            <p:cNvGrpSpPr>
              <a:grpSpLocks/>
            </p:cNvGrpSpPr>
            <p:nvPr/>
          </p:nvGrpSpPr>
          <p:grpSpPr bwMode="auto">
            <a:xfrm>
              <a:off x="576" y="2016"/>
              <a:ext cx="2064" cy="2112"/>
              <a:chOff x="384" y="2112"/>
              <a:chExt cx="1658" cy="1920"/>
            </a:xfrm>
          </p:grpSpPr>
          <p:pic>
            <p:nvPicPr>
              <p:cNvPr id="12" name="Picture 9" descr="jedb2">
                <a:extLst>
                  <a:ext uri="{FF2B5EF4-FFF2-40B4-BE49-F238E27FC236}">
                    <a16:creationId xmlns:a16="http://schemas.microsoft.com/office/drawing/2014/main" id="{19147420-EA2D-4697-82DC-709AB74E7E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 y="2112"/>
                <a:ext cx="1658" cy="1920"/>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0">
                <a:extLst>
                  <a:ext uri="{FF2B5EF4-FFF2-40B4-BE49-F238E27FC236}">
                    <a16:creationId xmlns:a16="http://schemas.microsoft.com/office/drawing/2014/main" id="{12AE956F-4715-4C44-AAD0-7129B68899BA}"/>
                  </a:ext>
                </a:extLst>
              </p:cNvPr>
              <p:cNvSpPr>
                <a:spLocks/>
              </p:cNvSpPr>
              <p:nvPr/>
            </p:nvSpPr>
            <p:spPr bwMode="auto">
              <a:xfrm>
                <a:off x="528" y="3216"/>
                <a:ext cx="1344" cy="624"/>
              </a:xfrm>
              <a:custGeom>
                <a:avLst/>
                <a:gdLst>
                  <a:gd name="T0" fmla="*/ 0 w 1488"/>
                  <a:gd name="T1" fmla="*/ 657 h 657"/>
                  <a:gd name="T2" fmla="*/ 801 w 1488"/>
                  <a:gd name="T3" fmla="*/ 0 h 657"/>
                  <a:gd name="T4" fmla="*/ 1488 w 1488"/>
                  <a:gd name="T5" fmla="*/ 657 h 657"/>
                </a:gdLst>
                <a:ahLst/>
                <a:cxnLst>
                  <a:cxn ang="0">
                    <a:pos x="T0" y="T1"/>
                  </a:cxn>
                  <a:cxn ang="0">
                    <a:pos x="T2" y="T3"/>
                  </a:cxn>
                  <a:cxn ang="0">
                    <a:pos x="T4" y="T5"/>
                  </a:cxn>
                </a:cxnLst>
                <a:rect l="0" t="0" r="r" b="b"/>
                <a:pathLst>
                  <a:path w="1488" h="657">
                    <a:moveTo>
                      <a:pt x="0" y="657"/>
                    </a:moveTo>
                    <a:cubicBezTo>
                      <a:pt x="134" y="547"/>
                      <a:pt x="553" y="0"/>
                      <a:pt x="801" y="0"/>
                    </a:cubicBezTo>
                    <a:cubicBezTo>
                      <a:pt x="1049" y="0"/>
                      <a:pt x="1345" y="520"/>
                      <a:pt x="1488" y="657"/>
                    </a:cubicBezTo>
                  </a:path>
                </a:pathLst>
              </a:custGeom>
              <a:noFill/>
              <a:ln w="28575" cap="flat" cmpd="sng">
                <a:solidFill>
                  <a:srgbClr val="99FF33"/>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1" name="Text Box 11">
              <a:extLst>
                <a:ext uri="{FF2B5EF4-FFF2-40B4-BE49-F238E27FC236}">
                  <a16:creationId xmlns:a16="http://schemas.microsoft.com/office/drawing/2014/main" id="{4C35F3D5-64AA-4354-A434-A8C77E280340}"/>
                </a:ext>
              </a:extLst>
            </p:cNvPr>
            <p:cNvSpPr txBox="1">
              <a:spLocks noChangeArrowheads="1"/>
            </p:cNvSpPr>
            <p:nvPr/>
          </p:nvSpPr>
          <p:spPr bwMode="auto">
            <a:xfrm>
              <a:off x="721" y="1593"/>
              <a:ext cx="2447" cy="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endParaRPr kumimoji="1" lang="zh-CN" altLang="en-US" b="1">
                <a:solidFill>
                  <a:srgbClr val="0000FF"/>
                </a:solidFill>
                <a:effectLst/>
                <a:latin typeface="楷体_GB2312" pitchFamily="49" charset="-122"/>
              </a:endParaRPr>
            </a:p>
          </p:txBody>
        </p:sp>
      </p:grpSp>
      <p:grpSp>
        <p:nvGrpSpPr>
          <p:cNvPr id="14" name="Group 12">
            <a:extLst>
              <a:ext uri="{FF2B5EF4-FFF2-40B4-BE49-F238E27FC236}">
                <a16:creationId xmlns:a16="http://schemas.microsoft.com/office/drawing/2014/main" id="{82AD49D1-7064-486C-BCDB-AF3CD5F7958F}"/>
              </a:ext>
            </a:extLst>
          </p:cNvPr>
          <p:cNvGrpSpPr>
            <a:grpSpLocks/>
          </p:cNvGrpSpPr>
          <p:nvPr/>
        </p:nvGrpSpPr>
        <p:grpSpPr bwMode="auto">
          <a:xfrm>
            <a:off x="5511800" y="3790950"/>
            <a:ext cx="1727200" cy="2376488"/>
            <a:chOff x="3264" y="1632"/>
            <a:chExt cx="1824" cy="2304"/>
          </a:xfrm>
        </p:grpSpPr>
        <p:sp>
          <p:nvSpPr>
            <p:cNvPr id="15" name="Text Box 13">
              <a:extLst>
                <a:ext uri="{FF2B5EF4-FFF2-40B4-BE49-F238E27FC236}">
                  <a16:creationId xmlns:a16="http://schemas.microsoft.com/office/drawing/2014/main" id="{74FE25CA-5B0B-4DB1-9CC6-346B1D1A6105}"/>
                </a:ext>
              </a:extLst>
            </p:cNvPr>
            <p:cNvSpPr txBox="1">
              <a:spLocks noChangeArrowheads="1"/>
            </p:cNvSpPr>
            <p:nvPr/>
          </p:nvSpPr>
          <p:spPr bwMode="auto">
            <a:xfrm>
              <a:off x="3552" y="1632"/>
              <a:ext cx="1152" cy="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endParaRPr kumimoji="1" lang="zh-CN" altLang="en-US" b="1">
                <a:solidFill>
                  <a:srgbClr val="0000FF"/>
                </a:solidFill>
                <a:effectLst/>
                <a:latin typeface="楷体_GB2312" pitchFamily="49" charset="-122"/>
              </a:endParaRPr>
            </a:p>
          </p:txBody>
        </p:sp>
        <p:pic>
          <p:nvPicPr>
            <p:cNvPr id="16" name="Picture 14" descr="u=3529468280,2512903629&amp;gp=0">
              <a:hlinkClick r:id="rId3"/>
              <a:extLst>
                <a:ext uri="{FF2B5EF4-FFF2-40B4-BE49-F238E27FC236}">
                  <a16:creationId xmlns:a16="http://schemas.microsoft.com/office/drawing/2014/main" id="{EFAD17E1-815C-4FA9-B205-B7AE284ACB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2112"/>
              <a:ext cx="1824" cy="182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0529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0-#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DA1810A5-4C06-4F05-98A4-FEF31A79BD3A}"/>
              </a:ext>
            </a:extLst>
          </p:cNvPr>
          <p:cNvSpPr txBox="1">
            <a:spLocks noChangeArrowheads="1"/>
          </p:cNvSpPr>
          <p:nvPr/>
        </p:nvSpPr>
        <p:spPr bwMode="auto">
          <a:xfrm>
            <a:off x="682625" y="908050"/>
            <a:ext cx="7632700" cy="1957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solidFill>
                  <a:srgbClr val="0000FF"/>
                </a:solidFill>
                <a:effectLst/>
                <a:ea typeface="宋体" panose="02010600030101010101" pitchFamily="2" charset="-122"/>
              </a:rPr>
              <a:t>力学：</a:t>
            </a:r>
            <a:r>
              <a:rPr lang="zh-CN" altLang="en-US" sz="2800" b="1">
                <a:solidFill>
                  <a:srgbClr val="000066"/>
                </a:solidFill>
                <a:effectLst/>
                <a:ea typeface="宋体" panose="02010600030101010101" pitchFamily="2" charset="-122"/>
              </a:rPr>
              <a:t>牛顿运动三定律和万有引力定律</a:t>
            </a:r>
          </a:p>
          <a:p>
            <a:pPr>
              <a:lnSpc>
                <a:spcPct val="150000"/>
              </a:lnSpc>
            </a:pPr>
            <a:r>
              <a:rPr lang="zh-CN" altLang="en-US" sz="2800" b="1">
                <a:solidFill>
                  <a:srgbClr val="0000FF"/>
                </a:solidFill>
                <a:effectLst/>
                <a:ea typeface="宋体" panose="02010600030101010101" pitchFamily="2" charset="-122"/>
              </a:rPr>
              <a:t>热学：</a:t>
            </a:r>
            <a:r>
              <a:rPr lang="zh-CN" altLang="en-US" sz="2800" b="1">
                <a:solidFill>
                  <a:srgbClr val="000066"/>
                </a:solidFill>
                <a:effectLst/>
                <a:ea typeface="宋体" panose="02010600030101010101" pitchFamily="2" charset="-122"/>
              </a:rPr>
              <a:t>热力学定律与统计理论</a:t>
            </a:r>
          </a:p>
          <a:p>
            <a:pPr>
              <a:lnSpc>
                <a:spcPct val="150000"/>
              </a:lnSpc>
            </a:pPr>
            <a:r>
              <a:rPr lang="zh-CN" altLang="en-US" sz="2800" b="1">
                <a:solidFill>
                  <a:srgbClr val="0000FF"/>
                </a:solidFill>
                <a:effectLst/>
                <a:ea typeface="宋体" panose="02010600030101010101" pitchFamily="2" charset="-122"/>
              </a:rPr>
              <a:t>电学（电磁学和光学）：</a:t>
            </a:r>
            <a:r>
              <a:rPr lang="zh-CN" altLang="en-US" sz="2800" b="1">
                <a:solidFill>
                  <a:srgbClr val="000066"/>
                </a:solidFill>
                <a:effectLst/>
                <a:ea typeface="宋体" panose="02010600030101010101" pitchFamily="2" charset="-122"/>
              </a:rPr>
              <a:t>麦克斯韦方程组</a:t>
            </a:r>
          </a:p>
        </p:txBody>
      </p:sp>
      <p:sp>
        <p:nvSpPr>
          <p:cNvPr id="5" name="Rectangle 3">
            <a:extLst>
              <a:ext uri="{FF2B5EF4-FFF2-40B4-BE49-F238E27FC236}">
                <a16:creationId xmlns:a16="http://schemas.microsoft.com/office/drawing/2014/main" id="{FC0EC4DB-C236-4E52-A339-B3781EFED3CA}"/>
              </a:ext>
            </a:extLst>
          </p:cNvPr>
          <p:cNvSpPr>
            <a:spLocks noChangeArrowheads="1"/>
          </p:cNvSpPr>
          <p:nvPr/>
        </p:nvSpPr>
        <p:spPr bwMode="auto">
          <a:xfrm>
            <a:off x="1952625" y="3197225"/>
            <a:ext cx="44935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CC0066"/>
                </a:solidFill>
                <a:effectLst/>
              </a:rPr>
              <a:t>──物理学的大厦已经落成。</a:t>
            </a:r>
          </a:p>
        </p:txBody>
      </p:sp>
      <p:grpSp>
        <p:nvGrpSpPr>
          <p:cNvPr id="6" name="Group 4">
            <a:extLst>
              <a:ext uri="{FF2B5EF4-FFF2-40B4-BE49-F238E27FC236}">
                <a16:creationId xmlns:a16="http://schemas.microsoft.com/office/drawing/2014/main" id="{F72326B5-65D9-4649-8E7A-1DA8A7FBEA3C}"/>
              </a:ext>
            </a:extLst>
          </p:cNvPr>
          <p:cNvGrpSpPr>
            <a:grpSpLocks/>
          </p:cNvGrpSpPr>
          <p:nvPr/>
        </p:nvGrpSpPr>
        <p:grpSpPr bwMode="auto">
          <a:xfrm>
            <a:off x="539750" y="4041775"/>
            <a:ext cx="8858250" cy="1716088"/>
            <a:chOff x="158" y="2773"/>
            <a:chExt cx="5580" cy="1081"/>
          </a:xfrm>
        </p:grpSpPr>
        <p:sp>
          <p:nvSpPr>
            <p:cNvPr id="7" name="Text Box 5">
              <a:extLst>
                <a:ext uri="{FF2B5EF4-FFF2-40B4-BE49-F238E27FC236}">
                  <a16:creationId xmlns:a16="http://schemas.microsoft.com/office/drawing/2014/main" id="{337449AF-E4A9-4F0C-8177-AA29EEC7A7C1}"/>
                </a:ext>
              </a:extLst>
            </p:cNvPr>
            <p:cNvSpPr txBox="1">
              <a:spLocks noChangeArrowheads="1"/>
            </p:cNvSpPr>
            <p:nvPr/>
          </p:nvSpPr>
          <p:spPr bwMode="auto">
            <a:xfrm>
              <a:off x="158" y="2773"/>
              <a:ext cx="530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dirty="0">
                  <a:solidFill>
                    <a:srgbClr val="0000CC"/>
                  </a:solidFill>
                  <a:effectLst/>
                  <a:latin typeface="Times New Roman" panose="02020603050405020304" pitchFamily="18" charset="0"/>
                  <a:ea typeface="宋体" panose="02010600030101010101" pitchFamily="2" charset="-122"/>
                </a:rPr>
                <a:t>“</a:t>
              </a:r>
              <a:r>
                <a:rPr lang="en-US" altLang="zh-CN" sz="2400" dirty="0">
                  <a:solidFill>
                    <a:srgbClr val="0000CC"/>
                  </a:solidFill>
                  <a:effectLst/>
                  <a:latin typeface="Times New Roman" panose="02020603050405020304" pitchFamily="18" charset="0"/>
                  <a:ea typeface="宋体" panose="02010600030101010101" pitchFamily="2" charset="-122"/>
                </a:rPr>
                <a:t>The grand underlying principles (of the physical world around us) have been firmly established; . . . . . the future truths of physics are to be looked for in the sixth place of decimals” </a:t>
              </a:r>
            </a:p>
          </p:txBody>
        </p:sp>
        <p:sp>
          <p:nvSpPr>
            <p:cNvPr id="8" name="Rectangle 6">
              <a:extLst>
                <a:ext uri="{FF2B5EF4-FFF2-40B4-BE49-F238E27FC236}">
                  <a16:creationId xmlns:a16="http://schemas.microsoft.com/office/drawing/2014/main" id="{62C56640-733D-41C2-8302-08F9DDFECE41}"/>
                </a:ext>
              </a:extLst>
            </p:cNvPr>
            <p:cNvSpPr>
              <a:spLocks noChangeArrowheads="1"/>
            </p:cNvSpPr>
            <p:nvPr/>
          </p:nvSpPr>
          <p:spPr bwMode="auto">
            <a:xfrm>
              <a:off x="2228" y="3566"/>
              <a:ext cx="35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006666"/>
                  </a:solidFill>
                  <a:effectLst/>
                  <a:latin typeface="Times New Roman" panose="02020603050405020304" pitchFamily="18" charset="0"/>
                  <a:ea typeface="宋体" panose="02010600030101010101" pitchFamily="2" charset="-122"/>
                </a:rPr>
                <a:t>A. A. Michelson (end of 19th century)</a:t>
              </a:r>
              <a:r>
                <a:rPr lang="en-US" altLang="zh-CN" sz="2400">
                  <a:solidFill>
                    <a:srgbClr val="006666"/>
                  </a:solidFill>
                  <a:effectLst/>
                  <a:latin typeface="Times New Roman" panose="02020603050405020304" pitchFamily="18" charset="0"/>
                  <a:ea typeface="宋体" panose="02010600030101010101" pitchFamily="2" charset="-122"/>
                </a:rPr>
                <a:t> </a:t>
              </a:r>
            </a:p>
          </p:txBody>
        </p:sp>
      </p:grpSp>
    </p:spTree>
    <p:extLst>
      <p:ext uri="{BB962C8B-B14F-4D97-AF65-F5344CB8AC3E}">
        <p14:creationId xmlns:p14="http://schemas.microsoft.com/office/powerpoint/2010/main" val="139512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4F7D8E9-0BE7-4256-B7B6-77C0580DC9F1}"/>
              </a:ext>
            </a:extLst>
          </p:cNvPr>
          <p:cNvSpPr>
            <a:spLocks noChangeArrowheads="1"/>
          </p:cNvSpPr>
          <p:nvPr/>
        </p:nvSpPr>
        <p:spPr bwMode="auto">
          <a:xfrm>
            <a:off x="647700" y="809625"/>
            <a:ext cx="3857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effectLst/>
                <a:latin typeface="黑体" panose="02010609060101010101" pitchFamily="49" charset="-122"/>
                <a:ea typeface="黑体" panose="02010609060101010101" pitchFamily="49" charset="-122"/>
              </a:rPr>
              <a:t>2.</a:t>
            </a:r>
            <a:r>
              <a:rPr lang="zh-CN" altLang="en-US" sz="3200" b="1">
                <a:solidFill>
                  <a:srgbClr val="FF0000"/>
                </a:solidFill>
                <a:effectLst/>
                <a:latin typeface="黑体" panose="02010609060101010101" pitchFamily="49" charset="-122"/>
                <a:ea typeface="黑体" panose="02010609060101010101" pitchFamily="49" charset="-122"/>
              </a:rPr>
              <a:t>经典物理学的危机</a:t>
            </a:r>
          </a:p>
        </p:txBody>
      </p:sp>
      <p:sp>
        <p:nvSpPr>
          <p:cNvPr id="5" name="Text Box 3">
            <a:extLst>
              <a:ext uri="{FF2B5EF4-FFF2-40B4-BE49-F238E27FC236}">
                <a16:creationId xmlns:a16="http://schemas.microsoft.com/office/drawing/2014/main" id="{109BFB4A-9AA2-4E99-A5C8-52AAD9FE21EB}"/>
              </a:ext>
            </a:extLst>
          </p:cNvPr>
          <p:cNvSpPr txBox="1">
            <a:spLocks noChangeArrowheads="1"/>
          </p:cNvSpPr>
          <p:nvPr/>
        </p:nvSpPr>
        <p:spPr bwMode="auto">
          <a:xfrm>
            <a:off x="576263" y="1700213"/>
            <a:ext cx="8675687" cy="14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ct val="40000"/>
              </a:spcAft>
            </a:pPr>
            <a:r>
              <a:rPr lang="zh-CN" altLang="en-US" sz="2300" b="1" i="1">
                <a:solidFill>
                  <a:srgbClr val="FF0000"/>
                </a:solidFill>
                <a:effectLst/>
                <a:latin typeface="Times New Roman" panose="02020603050405020304" pitchFamily="18" charset="0"/>
                <a:ea typeface="宋体" panose="02010600030101010101" pitchFamily="2" charset="-122"/>
              </a:rPr>
              <a:t>“</a:t>
            </a:r>
            <a:r>
              <a:rPr lang="en-US" altLang="zh-CN" sz="2300" b="1" i="1">
                <a:solidFill>
                  <a:srgbClr val="FF0000"/>
                </a:solidFill>
                <a:effectLst/>
                <a:latin typeface="Times New Roman" panose="02020603050405020304" pitchFamily="18" charset="0"/>
                <a:ea typeface="宋体" panose="02010600030101010101" pitchFamily="2" charset="-122"/>
              </a:rPr>
              <a:t>Two clouds”</a:t>
            </a:r>
            <a:r>
              <a:rPr lang="zh-CN" altLang="en-US" sz="2300" b="1">
                <a:solidFill>
                  <a:srgbClr val="FF0000"/>
                </a:solidFill>
                <a:effectLst/>
                <a:latin typeface="Times New Roman" panose="02020603050405020304" pitchFamily="18" charset="0"/>
                <a:ea typeface="宋体" panose="02010600030101010101" pitchFamily="2" charset="-122"/>
              </a:rPr>
              <a:t>（两朵乌云）</a:t>
            </a:r>
            <a:r>
              <a:rPr lang="en-US" altLang="zh-CN" sz="2300" b="1" i="1">
                <a:solidFill>
                  <a:srgbClr val="FF0000"/>
                </a:solidFill>
                <a:effectLst/>
                <a:latin typeface="Times New Roman" panose="02020603050405020304" pitchFamily="18" charset="0"/>
                <a:ea typeface="宋体" panose="02010600030101010101" pitchFamily="2" charset="-122"/>
              </a:rPr>
              <a:t>on the horizon of 20th century physics:</a:t>
            </a:r>
            <a:r>
              <a:rPr lang="en-US" altLang="zh-CN" sz="2300" b="1">
                <a:solidFill>
                  <a:srgbClr val="FF0000"/>
                </a:solidFill>
                <a:effectLst/>
                <a:latin typeface="Times New Roman" panose="02020603050405020304" pitchFamily="18" charset="0"/>
                <a:ea typeface="宋体" panose="02010600030101010101" pitchFamily="2" charset="-122"/>
              </a:rPr>
              <a:t> </a:t>
            </a:r>
          </a:p>
          <a:p>
            <a:pPr>
              <a:spcAft>
                <a:spcPct val="40000"/>
              </a:spcAft>
              <a:buClr>
                <a:srgbClr val="0000FF"/>
              </a:buClr>
              <a:buSzPct val="70000"/>
              <a:buFont typeface="Wingdings" panose="05000000000000000000" pitchFamily="2" charset="2"/>
              <a:buChar char="l"/>
            </a:pPr>
            <a:r>
              <a:rPr lang="en-US" altLang="zh-CN" sz="2300">
                <a:solidFill>
                  <a:srgbClr val="0000FF"/>
                </a:solidFill>
                <a:effectLst/>
                <a:latin typeface="Times New Roman" panose="02020603050405020304" pitchFamily="18" charset="0"/>
                <a:ea typeface="宋体" panose="02010600030101010101" pitchFamily="2" charset="-122"/>
              </a:rPr>
              <a:t>  black body radiation</a:t>
            </a:r>
            <a:r>
              <a:rPr lang="en-US" altLang="zh-CN" sz="2300">
                <a:solidFill>
                  <a:srgbClr val="0000CC"/>
                </a:solidFill>
                <a:effectLst/>
                <a:latin typeface="Times New Roman" panose="02020603050405020304" pitchFamily="18" charset="0"/>
                <a:ea typeface="宋体" panose="02010600030101010101" pitchFamily="2" charset="-122"/>
              </a:rPr>
              <a:t> </a:t>
            </a:r>
            <a:r>
              <a:rPr lang="zh-CN" altLang="en-US" sz="2300">
                <a:solidFill>
                  <a:srgbClr val="000066"/>
                </a:solidFill>
                <a:effectLst/>
                <a:latin typeface="Times New Roman" panose="02020603050405020304" pitchFamily="18" charset="0"/>
                <a:ea typeface="宋体" panose="02010600030101010101" pitchFamily="2" charset="-122"/>
              </a:rPr>
              <a:t>－ </a:t>
            </a:r>
            <a:r>
              <a:rPr lang="en-US" altLang="zh-CN" sz="2300">
                <a:solidFill>
                  <a:srgbClr val="000066"/>
                </a:solidFill>
                <a:effectLst/>
                <a:latin typeface="Times New Roman" panose="02020603050405020304" pitchFamily="18" charset="0"/>
                <a:ea typeface="宋体" panose="02010600030101010101" pitchFamily="2" charset="-122"/>
              </a:rPr>
              <a:t>contradicts predictions of thermodynamics</a:t>
            </a:r>
            <a:r>
              <a:rPr lang="en-US" altLang="zh-CN" sz="2300">
                <a:solidFill>
                  <a:srgbClr val="0000CC"/>
                </a:solidFill>
                <a:effectLst/>
                <a:latin typeface="Times New Roman" panose="02020603050405020304" pitchFamily="18" charset="0"/>
                <a:ea typeface="宋体" panose="02010600030101010101" pitchFamily="2" charset="-122"/>
              </a:rPr>
              <a:t>. </a:t>
            </a:r>
          </a:p>
          <a:p>
            <a:pPr>
              <a:spcAft>
                <a:spcPct val="40000"/>
              </a:spcAft>
              <a:buClr>
                <a:srgbClr val="0000FF"/>
              </a:buClr>
              <a:buSzPct val="70000"/>
              <a:buFont typeface="Wingdings" panose="05000000000000000000" pitchFamily="2" charset="2"/>
              <a:buChar char="l"/>
            </a:pPr>
            <a:r>
              <a:rPr lang="en-US" altLang="zh-CN" sz="2300">
                <a:solidFill>
                  <a:srgbClr val="0000FF"/>
                </a:solidFill>
                <a:effectLst/>
                <a:latin typeface="Times New Roman" panose="02020603050405020304" pitchFamily="18" charset="0"/>
                <a:ea typeface="宋体" panose="02010600030101010101" pitchFamily="2" charset="-122"/>
              </a:rPr>
              <a:t>  Michelson-Morley experiment</a:t>
            </a:r>
            <a:r>
              <a:rPr lang="en-US" altLang="zh-CN" sz="2300">
                <a:solidFill>
                  <a:srgbClr val="0000CC"/>
                </a:solidFill>
                <a:effectLst/>
                <a:latin typeface="Times New Roman" panose="02020603050405020304" pitchFamily="18" charset="0"/>
                <a:ea typeface="宋体" panose="02010600030101010101" pitchFamily="2" charset="-122"/>
              </a:rPr>
              <a:t> </a:t>
            </a:r>
            <a:r>
              <a:rPr lang="zh-CN" altLang="en-US" sz="2300">
                <a:solidFill>
                  <a:srgbClr val="000066"/>
                </a:solidFill>
                <a:effectLst/>
                <a:latin typeface="Times New Roman" panose="02020603050405020304" pitchFamily="18" charset="0"/>
                <a:ea typeface="宋体" panose="02010600030101010101" pitchFamily="2" charset="-122"/>
              </a:rPr>
              <a:t>－</a:t>
            </a:r>
            <a:r>
              <a:rPr lang="en-US" altLang="zh-CN" sz="2300">
                <a:solidFill>
                  <a:srgbClr val="000066"/>
                </a:solidFill>
                <a:effectLst/>
                <a:latin typeface="Times New Roman" panose="02020603050405020304" pitchFamily="18" charset="0"/>
                <a:ea typeface="宋体" panose="02010600030101010101" pitchFamily="2" charset="-122"/>
              </a:rPr>
              <a:t>contradicts Newtonian relativity.</a:t>
            </a:r>
            <a:r>
              <a:rPr lang="en-US" altLang="zh-CN" sz="2300">
                <a:solidFill>
                  <a:srgbClr val="0000CC"/>
                </a:solidFill>
                <a:effectLst/>
                <a:latin typeface="Times New Roman" panose="02020603050405020304" pitchFamily="18" charset="0"/>
                <a:ea typeface="宋体" panose="02010600030101010101" pitchFamily="2" charset="-122"/>
              </a:rPr>
              <a:t> </a:t>
            </a:r>
          </a:p>
        </p:txBody>
      </p:sp>
      <p:sp>
        <p:nvSpPr>
          <p:cNvPr id="6" name="Text Box 4">
            <a:extLst>
              <a:ext uri="{FF2B5EF4-FFF2-40B4-BE49-F238E27FC236}">
                <a16:creationId xmlns:a16="http://schemas.microsoft.com/office/drawing/2014/main" id="{342B265F-A1A3-4D20-AA9B-242C9BD7B8CC}"/>
              </a:ext>
            </a:extLst>
          </p:cNvPr>
          <p:cNvSpPr txBox="1">
            <a:spLocks noChangeArrowheads="1"/>
          </p:cNvSpPr>
          <p:nvPr/>
        </p:nvSpPr>
        <p:spPr bwMode="auto">
          <a:xfrm>
            <a:off x="611188" y="3559175"/>
            <a:ext cx="8459787" cy="209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ct val="35000"/>
              </a:spcAft>
            </a:pPr>
            <a:r>
              <a:rPr lang="en-US" altLang="zh-CN" sz="2300" b="1" i="1">
                <a:solidFill>
                  <a:srgbClr val="FF0000"/>
                </a:solidFill>
                <a:effectLst/>
                <a:latin typeface="Times New Roman" panose="02020603050405020304" pitchFamily="18" charset="0"/>
                <a:ea typeface="宋体" panose="02010600030101010101" pitchFamily="2" charset="-122"/>
              </a:rPr>
              <a:t>Other clouds</a:t>
            </a:r>
            <a:r>
              <a:rPr lang="zh-CN" altLang="en-US" sz="2300" b="1" i="1">
                <a:solidFill>
                  <a:srgbClr val="FF0000"/>
                </a:solidFill>
                <a:effectLst/>
                <a:latin typeface="Times New Roman" panose="02020603050405020304" pitchFamily="18" charset="0"/>
                <a:ea typeface="宋体" panose="02010600030101010101" pitchFamily="2" charset="-122"/>
              </a:rPr>
              <a:t>：</a:t>
            </a:r>
          </a:p>
          <a:p>
            <a:pPr>
              <a:spcAft>
                <a:spcPct val="35000"/>
              </a:spcAft>
              <a:buClr>
                <a:srgbClr val="0000FF"/>
              </a:buClr>
              <a:buSzPct val="70000"/>
              <a:buFont typeface="Wingdings" panose="05000000000000000000" pitchFamily="2" charset="2"/>
              <a:buChar char="l"/>
            </a:pPr>
            <a:r>
              <a:rPr lang="zh-CN" altLang="en-US" sz="2300">
                <a:solidFill>
                  <a:srgbClr val="0000FF"/>
                </a:solidFill>
                <a:effectLst/>
                <a:latin typeface="Times New Roman" panose="02020603050405020304" pitchFamily="18" charset="0"/>
                <a:ea typeface="宋体" panose="02010600030101010101" pitchFamily="2" charset="-122"/>
              </a:rPr>
              <a:t>  </a:t>
            </a:r>
            <a:r>
              <a:rPr lang="en-US" altLang="zh-CN" sz="2300">
                <a:solidFill>
                  <a:srgbClr val="0000FF"/>
                </a:solidFill>
                <a:effectLst/>
                <a:latin typeface="Times New Roman" panose="02020603050405020304" pitchFamily="18" charset="0"/>
                <a:ea typeface="宋体" panose="02010600030101010101" pitchFamily="2" charset="-122"/>
              </a:rPr>
              <a:t>Photoelectric effect</a:t>
            </a:r>
            <a:r>
              <a:rPr lang="en-US" altLang="zh-CN" sz="2300">
                <a:solidFill>
                  <a:srgbClr val="0000CC"/>
                </a:solidFill>
                <a:effectLst/>
                <a:latin typeface="Times New Roman" panose="02020603050405020304" pitchFamily="18" charset="0"/>
                <a:ea typeface="宋体" panose="02010600030101010101" pitchFamily="2" charset="-122"/>
              </a:rPr>
              <a:t> </a:t>
            </a:r>
            <a:r>
              <a:rPr lang="zh-CN" altLang="en-US" sz="2300">
                <a:solidFill>
                  <a:srgbClr val="000066"/>
                </a:solidFill>
                <a:effectLst/>
                <a:latin typeface="Times New Roman" panose="02020603050405020304" pitchFamily="18" charset="0"/>
                <a:ea typeface="宋体" panose="02010600030101010101" pitchFamily="2" charset="-122"/>
              </a:rPr>
              <a:t>－ </a:t>
            </a:r>
            <a:r>
              <a:rPr lang="en-US" altLang="zh-CN" sz="2300">
                <a:solidFill>
                  <a:srgbClr val="000066"/>
                </a:solidFill>
                <a:effectLst/>
                <a:latin typeface="Times New Roman" panose="02020603050405020304" pitchFamily="18" charset="0"/>
                <a:ea typeface="宋体" panose="02010600030101010101" pitchFamily="2" charset="-122"/>
              </a:rPr>
              <a:t>could not be explained by electromagnetic theory.</a:t>
            </a:r>
          </a:p>
          <a:p>
            <a:pPr>
              <a:spcAft>
                <a:spcPct val="35000"/>
              </a:spcAft>
              <a:buClr>
                <a:srgbClr val="0000FF"/>
              </a:buClr>
              <a:buSzPct val="70000"/>
              <a:buFont typeface="Wingdings" panose="05000000000000000000" pitchFamily="2" charset="2"/>
              <a:buChar char="l"/>
            </a:pPr>
            <a:r>
              <a:rPr lang="en-US" altLang="zh-CN" sz="2300">
                <a:solidFill>
                  <a:srgbClr val="0000FF"/>
                </a:solidFill>
                <a:effectLst/>
                <a:latin typeface="Times New Roman" panose="02020603050405020304" pitchFamily="18" charset="0"/>
                <a:ea typeface="宋体" panose="02010600030101010101" pitchFamily="2" charset="-122"/>
              </a:rPr>
              <a:t>  x-rays and radioactivity</a:t>
            </a:r>
            <a:r>
              <a:rPr lang="zh-CN" altLang="en-US" sz="2300">
                <a:solidFill>
                  <a:srgbClr val="000066"/>
                </a:solidFill>
                <a:effectLst/>
                <a:latin typeface="Times New Roman" panose="02020603050405020304" pitchFamily="18" charset="0"/>
                <a:ea typeface="宋体" panose="02010600030101010101" pitchFamily="2" charset="-122"/>
              </a:rPr>
              <a:t>－ </a:t>
            </a:r>
            <a:r>
              <a:rPr lang="en-US" altLang="zh-CN" sz="2300">
                <a:solidFill>
                  <a:srgbClr val="000066"/>
                </a:solidFill>
                <a:effectLst/>
                <a:latin typeface="Times New Roman" panose="02020603050405020304" pitchFamily="18" charset="0"/>
                <a:ea typeface="宋体" panose="02010600030101010101" pitchFamily="2" charset="-122"/>
              </a:rPr>
              <a:t>seemed outside the realms of classical physics completely. </a:t>
            </a:r>
          </a:p>
        </p:txBody>
      </p:sp>
    </p:spTree>
    <p:extLst>
      <p:ext uri="{BB962C8B-B14F-4D97-AF65-F5344CB8AC3E}">
        <p14:creationId xmlns:p14="http://schemas.microsoft.com/office/powerpoint/2010/main" val="3837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4" name="Picture 2" descr="BD06455_">
            <a:extLst>
              <a:ext uri="{FF2B5EF4-FFF2-40B4-BE49-F238E27FC236}">
                <a16:creationId xmlns:a16="http://schemas.microsoft.com/office/drawing/2014/main" id="{251026F5-32CE-4912-A041-D160CDF57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325" y="620713"/>
            <a:ext cx="6842125" cy="5133975"/>
          </a:xfrm>
          <a:prstGeom prst="rect">
            <a:avLst/>
          </a:prstGeom>
          <a:noFill/>
          <a:extLst>
            <a:ext uri="{909E8E84-426E-40DD-AFC4-6F175D3DCCD1}">
              <a14:hiddenFill xmlns:a14="http://schemas.microsoft.com/office/drawing/2010/main">
                <a:solidFill>
                  <a:srgbClr val="FFFFFF"/>
                </a:solidFill>
              </a14:hiddenFill>
            </a:ext>
          </a:extLst>
        </p:spPr>
      </p:pic>
      <p:grpSp>
        <p:nvGrpSpPr>
          <p:cNvPr id="202755" name="Group 3">
            <a:extLst>
              <a:ext uri="{FF2B5EF4-FFF2-40B4-BE49-F238E27FC236}">
                <a16:creationId xmlns:a16="http://schemas.microsoft.com/office/drawing/2014/main" id="{DCA8E577-A3F2-4E86-99E3-1DA15EEA3325}"/>
              </a:ext>
            </a:extLst>
          </p:cNvPr>
          <p:cNvGrpSpPr>
            <a:grpSpLocks/>
          </p:cNvGrpSpPr>
          <p:nvPr/>
        </p:nvGrpSpPr>
        <p:grpSpPr bwMode="auto">
          <a:xfrm>
            <a:off x="3709988" y="1198563"/>
            <a:ext cx="3382962" cy="935037"/>
            <a:chOff x="1968" y="288"/>
            <a:chExt cx="2448" cy="768"/>
          </a:xfrm>
        </p:grpSpPr>
        <p:sp>
          <p:nvSpPr>
            <p:cNvPr id="202756" name="AutoShape 4">
              <a:extLst>
                <a:ext uri="{FF2B5EF4-FFF2-40B4-BE49-F238E27FC236}">
                  <a16:creationId xmlns:a16="http://schemas.microsoft.com/office/drawing/2014/main" id="{2E591DA9-93AF-41E7-879D-C76E905A37E4}"/>
                </a:ext>
              </a:extLst>
            </p:cNvPr>
            <p:cNvSpPr>
              <a:spLocks noChangeArrowheads="1"/>
            </p:cNvSpPr>
            <p:nvPr/>
          </p:nvSpPr>
          <p:spPr bwMode="auto">
            <a:xfrm>
              <a:off x="3408" y="432"/>
              <a:ext cx="1008" cy="624"/>
            </a:xfrm>
            <a:prstGeom prst="cloudCallout">
              <a:avLst>
                <a:gd name="adj1" fmla="val 73810"/>
                <a:gd name="adj2" fmla="val 29648"/>
              </a:avLst>
            </a:prstGeom>
            <a:solidFill>
              <a:srgbClr val="4D4D4D"/>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36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p:txBody>
        </p:sp>
        <p:sp>
          <p:nvSpPr>
            <p:cNvPr id="202757" name="AutoShape 5">
              <a:extLst>
                <a:ext uri="{FF2B5EF4-FFF2-40B4-BE49-F238E27FC236}">
                  <a16:creationId xmlns:a16="http://schemas.microsoft.com/office/drawing/2014/main" id="{99129B49-74A7-4466-AEA3-B769CA5EE9E4}"/>
                </a:ext>
              </a:extLst>
            </p:cNvPr>
            <p:cNvSpPr>
              <a:spLocks noChangeArrowheads="1"/>
            </p:cNvSpPr>
            <p:nvPr/>
          </p:nvSpPr>
          <p:spPr bwMode="auto">
            <a:xfrm>
              <a:off x="1968" y="288"/>
              <a:ext cx="1200" cy="768"/>
            </a:xfrm>
            <a:prstGeom prst="cloudCallout">
              <a:avLst>
                <a:gd name="adj1" fmla="val 77000"/>
                <a:gd name="adj2" fmla="val 24088"/>
              </a:avLst>
            </a:prstGeom>
            <a:solidFill>
              <a:srgbClr val="4D4D4D"/>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3600" b="1">
                <a:solidFill>
                  <a:srgbClr val="FFFF00"/>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p:txBody>
        </p:sp>
      </p:grpSp>
      <p:sp>
        <p:nvSpPr>
          <p:cNvPr id="202758" name="Rectangle 6">
            <a:extLst>
              <a:ext uri="{FF2B5EF4-FFF2-40B4-BE49-F238E27FC236}">
                <a16:creationId xmlns:a16="http://schemas.microsoft.com/office/drawing/2014/main" id="{B7CE925D-6A5C-4537-9719-FB945987F2DE}"/>
              </a:ext>
            </a:extLst>
          </p:cNvPr>
          <p:cNvSpPr>
            <a:spLocks noChangeArrowheads="1"/>
          </p:cNvSpPr>
          <p:nvPr/>
        </p:nvSpPr>
        <p:spPr bwMode="auto">
          <a:xfrm>
            <a:off x="1908175" y="5851525"/>
            <a:ext cx="5392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a:solidFill>
                  <a:srgbClr val="000066"/>
                </a:solidFill>
                <a:effectLst/>
              </a:rPr>
              <a:t>物理学晴朗的天空中浮现着几朵乌云。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8" fill="hold" nodeType="clickEffect">
                                  <p:stCondLst>
                                    <p:cond delay="0"/>
                                  </p:stCondLst>
                                  <p:childTnLst>
                                    <p:set>
                                      <p:cBhvr>
                                        <p:cTn id="6" dur="1" fill="hold">
                                          <p:stCondLst>
                                            <p:cond delay="0"/>
                                          </p:stCondLst>
                                        </p:cTn>
                                        <p:tgtEl>
                                          <p:spTgt spid="202755"/>
                                        </p:tgtEl>
                                        <p:attrNameLst>
                                          <p:attrName>style.visibility</p:attrName>
                                        </p:attrNameLst>
                                      </p:cBhvr>
                                      <p:to>
                                        <p:strVal val="visible"/>
                                      </p:to>
                                    </p:set>
                                    <p:anim calcmode="lin" valueType="num">
                                      <p:cBhvr additive="base">
                                        <p:cTn id="7" dur="5000" fill="hold"/>
                                        <p:tgtEl>
                                          <p:spTgt spid="202755"/>
                                        </p:tgtEl>
                                        <p:attrNameLst>
                                          <p:attrName>ppt_x</p:attrName>
                                        </p:attrNameLst>
                                      </p:cBhvr>
                                      <p:tavLst>
                                        <p:tav tm="0">
                                          <p:val>
                                            <p:strVal val="0-#ppt_w/2"/>
                                          </p:val>
                                        </p:tav>
                                        <p:tav tm="100000">
                                          <p:val>
                                            <p:strVal val="#ppt_x"/>
                                          </p:val>
                                        </p:tav>
                                      </p:tavLst>
                                    </p:anim>
                                    <p:anim calcmode="lin" valueType="num">
                                      <p:cBhvr additive="base">
                                        <p:cTn id="8" dur="5000" fill="hold"/>
                                        <p:tgtEl>
                                          <p:spTgt spid="2027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2AF70DE2-9BD7-4E0B-95B0-052E25DFC79E}"/>
              </a:ext>
            </a:extLst>
          </p:cNvPr>
          <p:cNvSpPr>
            <a:spLocks noChangeArrowheads="1"/>
          </p:cNvSpPr>
          <p:nvPr/>
        </p:nvSpPr>
        <p:spPr bwMode="auto">
          <a:xfrm>
            <a:off x="2124075" y="620713"/>
            <a:ext cx="49260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3300"/>
                </a:solidFill>
                <a:effectLst/>
                <a:latin typeface="Times New Roman" panose="02020603050405020304" pitchFamily="18" charset="0"/>
                <a:ea typeface="宋体" panose="02010600030101010101" pitchFamily="2" charset="-122"/>
              </a:rPr>
              <a:t>Michelson's ingenious trick</a:t>
            </a:r>
          </a:p>
        </p:txBody>
      </p:sp>
      <p:sp>
        <p:nvSpPr>
          <p:cNvPr id="196611" name="Text Box 3">
            <a:extLst>
              <a:ext uri="{FF2B5EF4-FFF2-40B4-BE49-F238E27FC236}">
                <a16:creationId xmlns:a16="http://schemas.microsoft.com/office/drawing/2014/main" id="{02F55565-C2C7-4DA0-8269-90424EBBF9F5}"/>
              </a:ext>
            </a:extLst>
          </p:cNvPr>
          <p:cNvSpPr txBox="1">
            <a:spLocks noChangeArrowheads="1"/>
          </p:cNvSpPr>
          <p:nvPr/>
        </p:nvSpPr>
        <p:spPr bwMode="auto">
          <a:xfrm>
            <a:off x="2190750" y="5737225"/>
            <a:ext cx="4613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effectLst/>
                <a:latin typeface="Times New Roman" panose="02020603050405020304" pitchFamily="18" charset="0"/>
                <a:ea typeface="宋体" panose="02010600030101010101" pitchFamily="2" charset="-122"/>
              </a:rPr>
              <a:t>What happened to the ether?</a:t>
            </a:r>
          </a:p>
        </p:txBody>
      </p:sp>
      <p:sp>
        <p:nvSpPr>
          <p:cNvPr id="196612" name="Rectangle 4">
            <a:extLst>
              <a:ext uri="{FF2B5EF4-FFF2-40B4-BE49-F238E27FC236}">
                <a16:creationId xmlns:a16="http://schemas.microsoft.com/office/drawing/2014/main" id="{A6FC92BF-20A1-4968-8C7B-B711EF45ED0D}"/>
              </a:ext>
            </a:extLst>
          </p:cNvPr>
          <p:cNvSpPr>
            <a:spLocks noChangeArrowheads="1"/>
          </p:cNvSpPr>
          <p:nvPr/>
        </p:nvSpPr>
        <p:spPr bwMode="auto">
          <a:xfrm>
            <a:off x="5689600" y="1704975"/>
            <a:ext cx="3419475" cy="461665"/>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dirty="0">
                <a:solidFill>
                  <a:srgbClr val="0000FF"/>
                </a:solidFill>
                <a:effectLst/>
                <a:latin typeface="Times New Roman" panose="02020603050405020304" pitchFamily="18" charset="0"/>
                <a:ea typeface="宋体" panose="02010600030101010101" pitchFamily="2" charset="-122"/>
              </a:rPr>
              <a:t>实验结果是否定的！</a:t>
            </a:r>
          </a:p>
        </p:txBody>
      </p:sp>
      <p:sp>
        <p:nvSpPr>
          <p:cNvPr id="196613" name="AutoShape 5">
            <a:extLst>
              <a:ext uri="{FF2B5EF4-FFF2-40B4-BE49-F238E27FC236}">
                <a16:creationId xmlns:a16="http://schemas.microsoft.com/office/drawing/2014/main" id="{C5040FD6-A1F7-490D-B18C-2627DE632823}"/>
              </a:ext>
            </a:extLst>
          </p:cNvPr>
          <p:cNvSpPr>
            <a:spLocks noChangeArrowheads="1"/>
          </p:cNvSpPr>
          <p:nvPr/>
        </p:nvSpPr>
        <p:spPr bwMode="auto">
          <a:xfrm rot="5400000" flipH="1">
            <a:off x="5831682" y="2456656"/>
            <a:ext cx="3059112" cy="2987675"/>
          </a:xfrm>
          <a:prstGeom prst="wedgeEllipseCallout">
            <a:avLst>
              <a:gd name="adj1" fmla="val -44796"/>
              <a:gd name="adj2" fmla="val 66708"/>
            </a:avLst>
          </a:prstGeom>
          <a:solidFill>
            <a:schemeClr val="bg1"/>
          </a:solidFill>
          <a:ln w="9525">
            <a:solidFill>
              <a:srgbClr val="9933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a:lstStyle/>
          <a:p>
            <a:pPr algn="ctr"/>
            <a:r>
              <a:rPr kumimoji="1" lang="zh-CN" altLang="en-US" sz="2400" b="1">
                <a:solidFill>
                  <a:srgbClr val="000066"/>
                </a:solidFill>
                <a:effectLst/>
                <a:latin typeface="Times New Roman" panose="02020603050405020304" pitchFamily="18" charset="0"/>
              </a:rPr>
              <a:t>“我的实验竟然对相对论这个怪物的诞生起了作用，我对此感到十分遗憾。”</a:t>
            </a:r>
          </a:p>
        </p:txBody>
      </p:sp>
    </p:spTree>
    <p:controls>
      <mc:AlternateContent xmlns:mc="http://schemas.openxmlformats.org/markup-compatibility/2006">
        <mc:Choice xmlns:v="urn:schemas-microsoft-com:vml" Requires="v">
          <p:control spid="3105" r:id="rId2" imgW="4753639" imgH="4247619"/>
        </mc:Choice>
        <mc:Fallback>
          <p:control r:id="rId2" imgW="4753639" imgH="4247619">
            <p:pic>
              <p:nvPicPr>
                <p:cNvPr id="196614" name="ShockwaveFlash1">
                  <a:extLst>
                    <a:ext uri="{FF2B5EF4-FFF2-40B4-BE49-F238E27FC236}">
                      <a16:creationId xmlns:a16="http://schemas.microsoft.com/office/drawing/2014/main" id="{A96D94E9-E150-4ED9-A734-B1BCAFD65530}"/>
                    </a:ext>
                  </a:extLst>
                </p:cNvPr>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898525" y="1412875"/>
                  <a:ext cx="4752975" cy="424815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 calcmode="lin" valueType="num">
                                      <p:cBhvr additive="base">
                                        <p:cTn id="7" dur="500" fill="hold"/>
                                        <p:tgtEl>
                                          <p:spTgt spid="196612"/>
                                        </p:tgtEl>
                                        <p:attrNameLst>
                                          <p:attrName>ppt_x</p:attrName>
                                        </p:attrNameLst>
                                      </p:cBhvr>
                                      <p:tavLst>
                                        <p:tav tm="0">
                                          <p:val>
                                            <p:strVal val="0-#ppt_w/2"/>
                                          </p:val>
                                        </p:tav>
                                        <p:tav tm="100000">
                                          <p:val>
                                            <p:strVal val="#ppt_x"/>
                                          </p:val>
                                        </p:tav>
                                      </p:tavLst>
                                    </p:anim>
                                    <p:anim calcmode="lin" valueType="num">
                                      <p:cBhvr additive="base">
                                        <p:cTn id="8" dur="500" fill="hold"/>
                                        <p:tgtEl>
                                          <p:spTgt spid="1966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6613"/>
                                        </p:tgtEl>
                                        <p:attrNameLst>
                                          <p:attrName>style.visibility</p:attrName>
                                        </p:attrNameLst>
                                      </p:cBhvr>
                                      <p:to>
                                        <p:strVal val="visible"/>
                                      </p:to>
                                    </p:set>
                                    <p:anim calcmode="lin" valueType="num">
                                      <p:cBhvr additive="base">
                                        <p:cTn id="13" dur="500" fill="hold"/>
                                        <p:tgtEl>
                                          <p:spTgt spid="196613"/>
                                        </p:tgtEl>
                                        <p:attrNameLst>
                                          <p:attrName>ppt_x</p:attrName>
                                        </p:attrNameLst>
                                      </p:cBhvr>
                                      <p:tavLst>
                                        <p:tav tm="0">
                                          <p:val>
                                            <p:strVal val="0-#ppt_w/2"/>
                                          </p:val>
                                        </p:tav>
                                        <p:tav tm="100000">
                                          <p:val>
                                            <p:strVal val="#ppt_x"/>
                                          </p:val>
                                        </p:tav>
                                      </p:tavLst>
                                    </p:anim>
                                    <p:anim calcmode="lin" valueType="num">
                                      <p:cBhvr additive="base">
                                        <p:cTn id="14" dur="500" fill="hold"/>
                                        <p:tgtEl>
                                          <p:spTgt spid="1966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p:bldP spid="196613"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descr="蓝色面巾纸">
            <a:extLst>
              <a:ext uri="{FF2B5EF4-FFF2-40B4-BE49-F238E27FC236}">
                <a16:creationId xmlns:a16="http://schemas.microsoft.com/office/drawing/2014/main" id="{F0D7047D-8BB4-4E77-A8F3-A79DC891BD6E}"/>
              </a:ext>
            </a:extLst>
          </p:cNvPr>
          <p:cNvSpPr>
            <a:spLocks noGrp="1" noChangeArrowheads="1"/>
          </p:cNvSpPr>
          <p:nvPr>
            <p:ph type="title"/>
          </p:nvPr>
        </p:nvSpPr>
        <p:spPr bwMode="auto">
          <a:xfrm>
            <a:off x="611188" y="549275"/>
            <a:ext cx="8229600" cy="647700"/>
          </a:xfrm>
          <a:blipFill dpi="0" rotWithShape="1">
            <a:blip r:embed="rId4"/>
            <a:srcRect/>
            <a:tile tx="0" ty="0" sx="100000" sy="100000" flip="none" algn="tl"/>
          </a:blip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a:r>
              <a:rPr lang="zh-CN" altLang="en-US" sz="3600" b="1" dirty="0">
                <a:solidFill>
                  <a:srgbClr val="FF00FF"/>
                </a:solidFill>
              </a:rPr>
              <a:t>黑体辐射的</a:t>
            </a:r>
            <a:r>
              <a:rPr lang="zh-CN" altLang="en-US" sz="3600" b="1" dirty="0">
                <a:solidFill>
                  <a:srgbClr val="FF00FF"/>
                </a:solidFill>
                <a:latin typeface="Arial" panose="020B0604020202020204" pitchFamily="34" charset="0"/>
              </a:rPr>
              <a:t>“</a:t>
            </a:r>
            <a:r>
              <a:rPr lang="zh-CN" altLang="en-US" sz="3600" b="1" dirty="0">
                <a:solidFill>
                  <a:srgbClr val="FF00FF"/>
                </a:solidFill>
              </a:rPr>
              <a:t>紫外灾难</a:t>
            </a:r>
            <a:r>
              <a:rPr lang="zh-CN" altLang="en-US" sz="3600" b="1" dirty="0">
                <a:solidFill>
                  <a:srgbClr val="FF00FF"/>
                </a:solidFill>
                <a:latin typeface="Arial" panose="020B0604020202020204" pitchFamily="34" charset="0"/>
              </a:rPr>
              <a:t>”</a:t>
            </a:r>
            <a:r>
              <a:rPr lang="zh-CN" altLang="en-US" sz="3600" b="1" dirty="0">
                <a:solidFill>
                  <a:srgbClr val="FF00FF"/>
                </a:solidFill>
              </a:rPr>
              <a:t>及能量量子化</a:t>
            </a:r>
          </a:p>
        </p:txBody>
      </p:sp>
      <p:pic>
        <p:nvPicPr>
          <p:cNvPr id="205828" name="Picture 4">
            <a:extLst>
              <a:ext uri="{FF2B5EF4-FFF2-40B4-BE49-F238E27FC236}">
                <a16:creationId xmlns:a16="http://schemas.microsoft.com/office/drawing/2014/main" id="{47BA312C-A3BB-48B4-8BB3-C20EF5CF3084}"/>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4572000" y="2133600"/>
            <a:ext cx="4248150" cy="3473450"/>
          </a:xfrm>
          <a:prstGeom prst="rect">
            <a:avLst/>
          </a:prstGeom>
          <a:solidFill>
            <a:schemeClr val="tx2">
              <a:alpha val="28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ontrols>
      <mc:AlternateContent xmlns:mc="http://schemas.openxmlformats.org/markup-compatibility/2006">
        <mc:Choice xmlns:v="urn:schemas-microsoft-com:vml" Requires="v">
          <p:control spid="4129" r:id="rId2" imgW="3744839" imgH="3457143"/>
        </mc:Choice>
        <mc:Fallback>
          <p:control r:id="rId2" imgW="3744839" imgH="3457143">
            <p:pic>
              <p:nvPicPr>
                <p:cNvPr id="205827" name="ShockwaveFlash1">
                  <a:extLst>
                    <a:ext uri="{FF2B5EF4-FFF2-40B4-BE49-F238E27FC236}">
                      <a16:creationId xmlns:a16="http://schemas.microsoft.com/office/drawing/2014/main" id="{B53828B8-0674-479C-9926-ABBE3095604D}"/>
                    </a:ext>
                  </a:extLst>
                </p:cNvPr>
                <p:cNvPicPr preferRelativeResize="0">
                  <a:picLocks noChangeArrowheads="1" noChangeShapeType="1"/>
                </p:cNvPicPr>
                <p:nvPr/>
              </p:nvPicPr>
              <p:blipFill>
                <a:blip r:embed="rId6">
                  <a:extLst>
                    <a:ext uri="{28A0092B-C50C-407E-A947-70E740481C1C}">
                      <a14:useLocalDpi xmlns:a14="http://schemas.microsoft.com/office/drawing/2010/main" val="0"/>
                    </a:ext>
                  </a:extLst>
                </a:blip>
                <a:srcRect/>
                <a:stretch>
                  <a:fillRect/>
                </a:stretch>
              </p:blipFill>
              <p:spPr bwMode="auto">
                <a:xfrm>
                  <a:off x="611188" y="2133600"/>
                  <a:ext cx="3744912" cy="3457575"/>
                </a:xfrm>
                <a:prstGeom prst="rect">
                  <a:avLst/>
                </a:prstGeom>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D5E65CA6-F3A9-49B5-8305-D2077E473BDB}"/>
              </a:ext>
            </a:extLst>
          </p:cNvPr>
          <p:cNvSpPr>
            <a:spLocks noGrp="1" noChangeArrowheads="1"/>
          </p:cNvSpPr>
          <p:nvPr>
            <p:ph type="title"/>
          </p:nvPr>
        </p:nvSpPr>
        <p:spPr/>
        <p:txBody>
          <a:bodyPr/>
          <a:lstStyle/>
          <a:p>
            <a:r>
              <a:rPr lang="en-US" altLang="zh-CN">
                <a:latin typeface="Verdana" panose="020B0604030504040204" pitchFamily="34" charset="0"/>
              </a:rPr>
              <a:t>photoelectric effect</a:t>
            </a:r>
          </a:p>
        </p:txBody>
      </p:sp>
      <p:pic>
        <p:nvPicPr>
          <p:cNvPr id="209923" name="Picture 3">
            <a:extLst>
              <a:ext uri="{FF2B5EF4-FFF2-40B4-BE49-F238E27FC236}">
                <a16:creationId xmlns:a16="http://schemas.microsoft.com/office/drawing/2014/main" id="{F74409A6-1711-4EFC-A39E-21FD354CF1E6}"/>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E455FDA8-113E-4DB7-AF37-2B0A574B878C}"/>
              </a:ext>
            </a:extLst>
          </p:cNvPr>
          <p:cNvSpPr>
            <a:spLocks noGrp="1" noChangeArrowheads="1"/>
          </p:cNvSpPr>
          <p:nvPr>
            <p:ph type="title"/>
          </p:nvPr>
        </p:nvSpPr>
        <p:spPr/>
        <p:txBody>
          <a:bodyPr/>
          <a:lstStyle/>
          <a:p>
            <a:r>
              <a:rPr lang="en-US" altLang="zh-CN">
                <a:latin typeface="Verdana" panose="020B0604030504040204" pitchFamily="34" charset="0"/>
              </a:rPr>
              <a:t>discovery of X-rays</a:t>
            </a:r>
          </a:p>
        </p:txBody>
      </p:sp>
      <p:pic>
        <p:nvPicPr>
          <p:cNvPr id="210947" name="Picture 3">
            <a:extLst>
              <a:ext uri="{FF2B5EF4-FFF2-40B4-BE49-F238E27FC236}">
                <a16:creationId xmlns:a16="http://schemas.microsoft.com/office/drawing/2014/main" id="{8E67A5A5-21F9-43FC-BF98-80958681C574}"/>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7440A7F5-79DE-44F7-AE6B-A9E9C5ED194E}"/>
              </a:ext>
            </a:extLst>
          </p:cNvPr>
          <p:cNvSpPr>
            <a:spLocks noChangeArrowheads="1"/>
          </p:cNvSpPr>
          <p:nvPr/>
        </p:nvSpPr>
        <p:spPr bwMode="auto">
          <a:xfrm>
            <a:off x="690563" y="620713"/>
            <a:ext cx="58975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effectLst/>
                <a:latin typeface="黑体" panose="02010609060101010101" pitchFamily="49" charset="-122"/>
                <a:ea typeface="黑体" panose="02010609060101010101" pitchFamily="49" charset="-122"/>
              </a:rPr>
              <a:t>3.</a:t>
            </a:r>
            <a:r>
              <a:rPr lang="zh-CN" altLang="en-US" sz="3200" b="1">
                <a:solidFill>
                  <a:srgbClr val="FF0000"/>
                </a:solidFill>
                <a:effectLst/>
                <a:latin typeface="黑体" panose="02010609060101010101" pitchFamily="49" charset="-122"/>
                <a:ea typeface="黑体" panose="02010609060101010101" pitchFamily="49" charset="-122"/>
              </a:rPr>
              <a:t>近代物理学的的两大理论支柱</a:t>
            </a:r>
          </a:p>
        </p:txBody>
      </p:sp>
      <p:grpSp>
        <p:nvGrpSpPr>
          <p:cNvPr id="203779" name="Group 3">
            <a:extLst>
              <a:ext uri="{FF2B5EF4-FFF2-40B4-BE49-F238E27FC236}">
                <a16:creationId xmlns:a16="http://schemas.microsoft.com/office/drawing/2014/main" id="{AFA304F0-7C75-4C03-BF69-E506CD7FC133}"/>
              </a:ext>
            </a:extLst>
          </p:cNvPr>
          <p:cNvGrpSpPr>
            <a:grpSpLocks/>
          </p:cNvGrpSpPr>
          <p:nvPr/>
        </p:nvGrpSpPr>
        <p:grpSpPr bwMode="auto">
          <a:xfrm>
            <a:off x="682625" y="1484313"/>
            <a:ext cx="5248275" cy="2160587"/>
            <a:chOff x="249" y="981"/>
            <a:chExt cx="3306" cy="1361"/>
          </a:xfrm>
        </p:grpSpPr>
        <p:sp>
          <p:nvSpPr>
            <p:cNvPr id="203780" name="Rectangle 4">
              <a:extLst>
                <a:ext uri="{FF2B5EF4-FFF2-40B4-BE49-F238E27FC236}">
                  <a16:creationId xmlns:a16="http://schemas.microsoft.com/office/drawing/2014/main" id="{42564157-1053-4C86-A345-B1BF5C2EDB08}"/>
                </a:ext>
              </a:extLst>
            </p:cNvPr>
            <p:cNvSpPr>
              <a:spLocks noChangeArrowheads="1"/>
            </p:cNvSpPr>
            <p:nvPr/>
          </p:nvSpPr>
          <p:spPr bwMode="auto">
            <a:xfrm>
              <a:off x="249" y="1117"/>
              <a:ext cx="1697"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SzPct val="70000"/>
                <a:buFont typeface="Wingdings" panose="05000000000000000000" pitchFamily="2" charset="2"/>
                <a:buChar char="l"/>
              </a:pPr>
              <a:r>
                <a:rPr lang="zh-CN" altLang="en-US" sz="4000" b="1">
                  <a:solidFill>
                    <a:srgbClr val="0000FF"/>
                  </a:solidFill>
                  <a:effectLst/>
                  <a:latin typeface="Times New Roman" panose="02020603050405020304" pitchFamily="18" charset="0"/>
                  <a:ea typeface="黑体" panose="02010609060101010101" pitchFamily="49" charset="-122"/>
                </a:rPr>
                <a:t> </a:t>
              </a:r>
              <a:r>
                <a:rPr lang="en-US" altLang="zh-CN" sz="4000" b="1">
                  <a:solidFill>
                    <a:srgbClr val="0000FF"/>
                  </a:solidFill>
                  <a:effectLst/>
                  <a:latin typeface="Times New Roman" panose="02020603050405020304" pitchFamily="18" charset="0"/>
                  <a:ea typeface="黑体" panose="02010609060101010101" pitchFamily="49" charset="-122"/>
                </a:rPr>
                <a:t>Relativity</a:t>
              </a:r>
            </a:p>
          </p:txBody>
        </p:sp>
        <p:pic>
          <p:nvPicPr>
            <p:cNvPr id="203781" name="Picture 5" descr="u=4056433537,2505042268&amp;gp=2">
              <a:hlinkClick r:id="rId2"/>
              <a:extLst>
                <a:ext uri="{FF2B5EF4-FFF2-40B4-BE49-F238E27FC236}">
                  <a16:creationId xmlns:a16="http://schemas.microsoft.com/office/drawing/2014/main" id="{F4FC0D66-1994-4D05-80B6-A478C22C3D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 y="981"/>
              <a:ext cx="1219" cy="13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3782" name="Group 6">
            <a:extLst>
              <a:ext uri="{FF2B5EF4-FFF2-40B4-BE49-F238E27FC236}">
                <a16:creationId xmlns:a16="http://schemas.microsoft.com/office/drawing/2014/main" id="{FF4A1C05-5797-4E71-9661-8742C9E357EC}"/>
              </a:ext>
            </a:extLst>
          </p:cNvPr>
          <p:cNvGrpSpPr>
            <a:grpSpLocks/>
          </p:cNvGrpSpPr>
          <p:nvPr/>
        </p:nvGrpSpPr>
        <p:grpSpPr bwMode="auto">
          <a:xfrm>
            <a:off x="682625" y="3789363"/>
            <a:ext cx="7705725" cy="2305050"/>
            <a:chOff x="249" y="2386"/>
            <a:chExt cx="4854" cy="1452"/>
          </a:xfrm>
        </p:grpSpPr>
        <p:sp>
          <p:nvSpPr>
            <p:cNvPr id="203783" name="Rectangle 7">
              <a:extLst>
                <a:ext uri="{FF2B5EF4-FFF2-40B4-BE49-F238E27FC236}">
                  <a16:creationId xmlns:a16="http://schemas.microsoft.com/office/drawing/2014/main" id="{04DF36C3-F63D-44D7-99C7-7BDEFC665B8F}"/>
                </a:ext>
              </a:extLst>
            </p:cNvPr>
            <p:cNvSpPr>
              <a:spLocks noChangeArrowheads="1"/>
            </p:cNvSpPr>
            <p:nvPr/>
          </p:nvSpPr>
          <p:spPr bwMode="auto">
            <a:xfrm>
              <a:off x="249" y="2386"/>
              <a:ext cx="318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SzPct val="70000"/>
                <a:buFont typeface="Wingdings" panose="05000000000000000000" pitchFamily="2" charset="2"/>
                <a:buChar char="l"/>
              </a:pPr>
              <a:r>
                <a:rPr lang="zh-CN" altLang="en-US" sz="4000" b="1">
                  <a:solidFill>
                    <a:srgbClr val="0000FF"/>
                  </a:solidFill>
                  <a:effectLst/>
                  <a:latin typeface="Times New Roman" panose="02020603050405020304" pitchFamily="18" charset="0"/>
                  <a:ea typeface="黑体" panose="02010609060101010101" pitchFamily="49" charset="-122"/>
                </a:rPr>
                <a:t> </a:t>
              </a:r>
              <a:r>
                <a:rPr lang="en-US" altLang="zh-CN" sz="4000" b="1">
                  <a:solidFill>
                    <a:srgbClr val="0000FF"/>
                  </a:solidFill>
                  <a:effectLst/>
                  <a:latin typeface="Times New Roman" panose="02020603050405020304" pitchFamily="18" charset="0"/>
                  <a:ea typeface="黑体" panose="02010609060101010101" pitchFamily="49" charset="-122"/>
                </a:rPr>
                <a:t>Quantum mechanics</a:t>
              </a:r>
            </a:p>
          </p:txBody>
        </p:sp>
        <p:pic>
          <p:nvPicPr>
            <p:cNvPr id="203784" name="Picture 8" descr="Einstein4">
              <a:extLst>
                <a:ext uri="{FF2B5EF4-FFF2-40B4-BE49-F238E27FC236}">
                  <a16:creationId xmlns:a16="http://schemas.microsoft.com/office/drawing/2014/main" id="{1626DF19-3F4A-42B8-9996-47017628ED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 y="2931"/>
              <a:ext cx="687"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785" name="Picture 9" descr="11">
              <a:extLst>
                <a:ext uri="{FF2B5EF4-FFF2-40B4-BE49-F238E27FC236}">
                  <a16:creationId xmlns:a16="http://schemas.microsoft.com/office/drawing/2014/main" id="{EC3C098D-73DD-451E-8860-BD27192C7B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 y="2931"/>
              <a:ext cx="723" cy="907"/>
            </a:xfrm>
            <a:prstGeom prst="rect">
              <a:avLst/>
            </a:prstGeom>
            <a:noFill/>
            <a:extLst>
              <a:ext uri="{909E8E84-426E-40DD-AFC4-6F175D3DCCD1}">
                <a14:hiddenFill xmlns:a14="http://schemas.microsoft.com/office/drawing/2010/main">
                  <a:solidFill>
                    <a:srgbClr val="FFFFFF"/>
                  </a:solidFill>
                </a14:hiddenFill>
              </a:ext>
            </a:extLst>
          </p:spPr>
        </p:pic>
        <p:pic>
          <p:nvPicPr>
            <p:cNvPr id="203786" name="Picture 10" descr="bohr_1">
              <a:extLst>
                <a:ext uri="{FF2B5EF4-FFF2-40B4-BE49-F238E27FC236}">
                  <a16:creationId xmlns:a16="http://schemas.microsoft.com/office/drawing/2014/main" id="{BC94B33B-C9F5-4C6F-BBD2-7B6E6E5BA2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5" y="2931"/>
              <a:ext cx="726" cy="907"/>
            </a:xfrm>
            <a:prstGeom prst="rect">
              <a:avLst/>
            </a:prstGeom>
            <a:noFill/>
            <a:extLst>
              <a:ext uri="{909E8E84-426E-40DD-AFC4-6F175D3DCCD1}">
                <a14:hiddenFill xmlns:a14="http://schemas.microsoft.com/office/drawing/2010/main">
                  <a:solidFill>
                    <a:srgbClr val="FFFFFF"/>
                  </a:solidFill>
                </a14:hiddenFill>
              </a:ext>
            </a:extLst>
          </p:spPr>
        </p:pic>
        <p:pic>
          <p:nvPicPr>
            <p:cNvPr id="203787" name="Picture 11" descr="11">
              <a:extLst>
                <a:ext uri="{FF2B5EF4-FFF2-40B4-BE49-F238E27FC236}">
                  <a16:creationId xmlns:a16="http://schemas.microsoft.com/office/drawing/2014/main" id="{CC64B886-37CC-4CEC-9891-1C67C816A1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1" y="2976"/>
              <a:ext cx="647" cy="862"/>
            </a:xfrm>
            <a:prstGeom prst="rect">
              <a:avLst/>
            </a:prstGeom>
            <a:noFill/>
            <a:extLst>
              <a:ext uri="{909E8E84-426E-40DD-AFC4-6F175D3DCCD1}">
                <a14:hiddenFill xmlns:a14="http://schemas.microsoft.com/office/drawing/2010/main">
                  <a:solidFill>
                    <a:srgbClr val="FFFFFF"/>
                  </a:solidFill>
                </a14:hiddenFill>
              </a:ext>
            </a:extLst>
          </p:spPr>
        </p:pic>
        <p:pic>
          <p:nvPicPr>
            <p:cNvPr id="203788" name="Picture 12" descr="11">
              <a:extLst>
                <a:ext uri="{FF2B5EF4-FFF2-40B4-BE49-F238E27FC236}">
                  <a16:creationId xmlns:a16="http://schemas.microsoft.com/office/drawing/2014/main" id="{D7538BFD-EB1F-4FC7-9E99-DB431F293B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6" y="2976"/>
              <a:ext cx="714" cy="862"/>
            </a:xfrm>
            <a:prstGeom prst="rect">
              <a:avLst/>
            </a:prstGeom>
            <a:noFill/>
            <a:extLst>
              <a:ext uri="{909E8E84-426E-40DD-AFC4-6F175D3DCCD1}">
                <a14:hiddenFill xmlns:a14="http://schemas.microsoft.com/office/drawing/2010/main">
                  <a:solidFill>
                    <a:srgbClr val="FFFFFF"/>
                  </a:solidFill>
                </a14:hiddenFill>
              </a:ext>
            </a:extLst>
          </p:spPr>
        </p:pic>
        <p:pic>
          <p:nvPicPr>
            <p:cNvPr id="203789" name="Picture 13" descr="11">
              <a:extLst>
                <a:ext uri="{FF2B5EF4-FFF2-40B4-BE49-F238E27FC236}">
                  <a16:creationId xmlns:a16="http://schemas.microsoft.com/office/drawing/2014/main" id="{F1241515-9EB2-45CF-9600-8D078960F6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1" y="2976"/>
              <a:ext cx="680" cy="862"/>
            </a:xfrm>
            <a:prstGeom prst="rect">
              <a:avLst/>
            </a:prstGeom>
            <a:noFill/>
            <a:extLst>
              <a:ext uri="{909E8E84-426E-40DD-AFC4-6F175D3DCCD1}">
                <a14:hiddenFill xmlns:a14="http://schemas.microsoft.com/office/drawing/2010/main">
                  <a:solidFill>
                    <a:srgbClr val="FFFFFF"/>
                  </a:solidFill>
                </a14:hiddenFill>
              </a:ext>
            </a:extLst>
          </p:spPr>
        </p:pic>
        <p:pic>
          <p:nvPicPr>
            <p:cNvPr id="203790" name="Picture 14" descr="11">
              <a:extLst>
                <a:ext uri="{FF2B5EF4-FFF2-40B4-BE49-F238E27FC236}">
                  <a16:creationId xmlns:a16="http://schemas.microsoft.com/office/drawing/2014/main" id="{EAED8780-8C1F-416B-A5B2-B1129F7B4A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2" y="2976"/>
              <a:ext cx="611" cy="86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3779"/>
                                        </p:tgtEl>
                                        <p:attrNameLst>
                                          <p:attrName>style.visibility</p:attrName>
                                        </p:attrNameLst>
                                      </p:cBhvr>
                                      <p:to>
                                        <p:strVal val="visible"/>
                                      </p:to>
                                    </p:set>
                                    <p:anim calcmode="lin" valueType="num">
                                      <p:cBhvr additive="base">
                                        <p:cTn id="7" dur="500" fill="hold"/>
                                        <p:tgtEl>
                                          <p:spTgt spid="203779"/>
                                        </p:tgtEl>
                                        <p:attrNameLst>
                                          <p:attrName>ppt_x</p:attrName>
                                        </p:attrNameLst>
                                      </p:cBhvr>
                                      <p:tavLst>
                                        <p:tav tm="0">
                                          <p:val>
                                            <p:strVal val="0-#ppt_w/2"/>
                                          </p:val>
                                        </p:tav>
                                        <p:tav tm="100000">
                                          <p:val>
                                            <p:strVal val="#ppt_x"/>
                                          </p:val>
                                        </p:tav>
                                      </p:tavLst>
                                    </p:anim>
                                    <p:anim calcmode="lin" valueType="num">
                                      <p:cBhvr additive="base">
                                        <p:cTn id="8" dur="500" fill="hold"/>
                                        <p:tgtEl>
                                          <p:spTgt spid="20377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3782"/>
                                        </p:tgtEl>
                                        <p:attrNameLst>
                                          <p:attrName>style.visibility</p:attrName>
                                        </p:attrNameLst>
                                      </p:cBhvr>
                                      <p:to>
                                        <p:strVal val="visible"/>
                                      </p:to>
                                    </p:set>
                                    <p:anim calcmode="lin" valueType="num">
                                      <p:cBhvr additive="base">
                                        <p:cTn id="13" dur="500" fill="hold"/>
                                        <p:tgtEl>
                                          <p:spTgt spid="203782"/>
                                        </p:tgtEl>
                                        <p:attrNameLst>
                                          <p:attrName>ppt_x</p:attrName>
                                        </p:attrNameLst>
                                      </p:cBhvr>
                                      <p:tavLst>
                                        <p:tav tm="0">
                                          <p:val>
                                            <p:strVal val="0-#ppt_w/2"/>
                                          </p:val>
                                        </p:tav>
                                        <p:tav tm="100000">
                                          <p:val>
                                            <p:strVal val="#ppt_x"/>
                                          </p:val>
                                        </p:tav>
                                      </p:tavLst>
                                    </p:anim>
                                    <p:anim calcmode="lin" valueType="num">
                                      <p:cBhvr additive="base">
                                        <p:cTn id="14" dur="500" fill="hold"/>
                                        <p:tgtEl>
                                          <p:spTgt spid="2037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WordArt 2">
            <a:extLst>
              <a:ext uri="{FF2B5EF4-FFF2-40B4-BE49-F238E27FC236}">
                <a16:creationId xmlns:a16="http://schemas.microsoft.com/office/drawing/2014/main" id="{335CC01F-4AE6-4B3E-9E83-96AC05DBB4F1}"/>
              </a:ext>
            </a:extLst>
          </p:cNvPr>
          <p:cNvSpPr>
            <a:spLocks noChangeArrowheads="1" noChangeShapeType="1" noTextEdit="1"/>
          </p:cNvSpPr>
          <p:nvPr/>
        </p:nvSpPr>
        <p:spPr bwMode="auto">
          <a:xfrm>
            <a:off x="1476375" y="2854325"/>
            <a:ext cx="6624638" cy="935038"/>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zh-CN" altLang="en-US" sz="3600" b="1" kern="10">
                <a:solidFill>
                  <a:srgbClr val="000066"/>
                </a:solidFill>
                <a:effectLst>
                  <a:outerShdw dist="35921" dir="2700000" algn="ctr" rotWithShape="0">
                    <a:srgbClr val="C0C0C0">
                      <a:alpha val="80000"/>
                    </a:srgbClr>
                  </a:outerShdw>
                </a:effectLst>
                <a:latin typeface="华文行楷" panose="02010800040101010101" pitchFamily="2" charset="-122"/>
                <a:ea typeface="华文行楷" panose="02010800040101010101" pitchFamily="2" charset="-122"/>
              </a:rPr>
              <a:t> 狭义相对论基础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5" name="WordArt 7">
            <a:extLst>
              <a:ext uri="{FF2B5EF4-FFF2-40B4-BE49-F238E27FC236}">
                <a16:creationId xmlns:a16="http://schemas.microsoft.com/office/drawing/2014/main" id="{D25F305D-D730-4F2E-846E-BD99FEC57AD8}"/>
              </a:ext>
            </a:extLst>
          </p:cNvPr>
          <p:cNvSpPr>
            <a:spLocks noChangeArrowheads="1" noChangeShapeType="1" noTextEdit="1"/>
          </p:cNvSpPr>
          <p:nvPr/>
        </p:nvSpPr>
        <p:spPr bwMode="auto">
          <a:xfrm>
            <a:off x="973138" y="2997200"/>
            <a:ext cx="7486650" cy="6477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b="1" kern="10">
                <a:gradFill rotWithShape="0">
                  <a:gsLst>
                    <a:gs pos="0">
                      <a:srgbClr val="993366"/>
                    </a:gs>
                    <a:gs pos="100000">
                      <a:srgbClr val="000066"/>
                    </a:gs>
                  </a:gsLst>
                  <a:lin ang="5400000" scaled="1"/>
                </a:gradFill>
                <a:effectLst>
                  <a:outerShdw dist="35921" dir="2700000" algn="ctr" rotWithShape="0">
                    <a:srgbClr val="C0C0C0">
                      <a:alpha val="80000"/>
                    </a:srgbClr>
                  </a:outerShdw>
                </a:effectLst>
                <a:latin typeface="黑体" panose="02010609060101010101" pitchFamily="49" charset="-122"/>
                <a:ea typeface="黑体" panose="02010609060101010101" pitchFamily="49" charset="-122"/>
              </a:rPr>
              <a:t>§1 </a:t>
            </a:r>
            <a:r>
              <a:rPr lang="zh-CN" altLang="en-US" sz="3600" b="1" kern="10">
                <a:gradFill rotWithShape="0">
                  <a:gsLst>
                    <a:gs pos="0">
                      <a:srgbClr val="993366"/>
                    </a:gs>
                    <a:gs pos="100000">
                      <a:srgbClr val="000066"/>
                    </a:gs>
                  </a:gsLst>
                  <a:lin ang="5400000" scaled="1"/>
                </a:gradFill>
                <a:effectLst>
                  <a:outerShdw dist="35921" dir="2700000" algn="ctr" rotWithShape="0">
                    <a:srgbClr val="C0C0C0">
                      <a:alpha val="80000"/>
                    </a:srgbClr>
                  </a:outerShdw>
                </a:effectLst>
                <a:latin typeface="黑体" panose="02010609060101010101" pitchFamily="49" charset="-122"/>
                <a:ea typeface="黑体" panose="02010609060101010101" pitchFamily="49" charset="-122"/>
              </a:rPr>
              <a:t>基于绝对时空观的力学理论</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9B2D8D2A-B004-4220-9A24-8721774568AD}"/>
              </a:ext>
            </a:extLst>
          </p:cNvPr>
          <p:cNvSpPr>
            <a:spLocks noChangeArrowheads="1"/>
          </p:cNvSpPr>
          <p:nvPr/>
        </p:nvSpPr>
        <p:spPr bwMode="auto">
          <a:xfrm>
            <a:off x="539750" y="1470839"/>
            <a:ext cx="853281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lnSpc>
                <a:spcPct val="125000"/>
              </a:lnSpc>
            </a:pPr>
            <a:r>
              <a:rPr kumimoji="1" lang="zh-CN" altLang="en-US" sz="2400" b="1" dirty="0">
                <a:solidFill>
                  <a:srgbClr val="0000FF"/>
                </a:solidFill>
                <a:effectLst/>
                <a:latin typeface="Times New Roman" panose="02020603050405020304" pitchFamily="18" charset="0"/>
                <a:ea typeface="黑体" panose="02010609060101010101" pitchFamily="49" charset="-122"/>
              </a:rPr>
              <a:t>时间：</a:t>
            </a:r>
            <a:r>
              <a:rPr kumimoji="1" lang="zh-CN" altLang="en-US" sz="2400" b="1" dirty="0">
                <a:solidFill>
                  <a:srgbClr val="000066"/>
                </a:solidFill>
                <a:effectLst/>
                <a:latin typeface="Times New Roman" panose="02020603050405020304" pitchFamily="18" charset="0"/>
                <a:ea typeface="宋体" panose="02010600030101010101" pitchFamily="2" charset="-122"/>
              </a:rPr>
              <a:t>自然的流逝，与物质</a:t>
            </a:r>
            <a:r>
              <a:rPr kumimoji="1" lang="zh-CN" altLang="en-US" sz="2400" b="1" dirty="0">
                <a:solidFill>
                  <a:srgbClr val="000066"/>
                </a:solidFill>
                <a:latin typeface="Times New Roman" panose="02020603050405020304" pitchFamily="18" charset="0"/>
                <a:ea typeface="宋体" panose="02010600030101010101" pitchFamily="2" charset="-122"/>
              </a:rPr>
              <a:t>及</a:t>
            </a:r>
            <a:r>
              <a:rPr kumimoji="1" lang="zh-CN" altLang="en-US" sz="2400" b="1" dirty="0">
                <a:solidFill>
                  <a:srgbClr val="000066"/>
                </a:solidFill>
                <a:effectLst/>
                <a:latin typeface="Times New Roman" panose="02020603050405020304" pitchFamily="18" charset="0"/>
                <a:ea typeface="宋体" panose="02010600030101010101" pitchFamily="2" charset="-122"/>
              </a:rPr>
              <a:t>其运动无关。</a:t>
            </a:r>
            <a:endParaRPr kumimoji="1" lang="zh-CN" altLang="en-US" sz="2400" b="1" dirty="0">
              <a:solidFill>
                <a:srgbClr val="0000FF"/>
              </a:solidFill>
              <a:effectLst/>
              <a:latin typeface="Times New Roman" panose="02020603050405020304" pitchFamily="18" charset="0"/>
            </a:endParaRPr>
          </a:p>
        </p:txBody>
      </p:sp>
      <p:sp>
        <p:nvSpPr>
          <p:cNvPr id="169988" name="Rectangle 4">
            <a:extLst>
              <a:ext uri="{FF2B5EF4-FFF2-40B4-BE49-F238E27FC236}">
                <a16:creationId xmlns:a16="http://schemas.microsoft.com/office/drawing/2014/main" id="{C2E99F14-AE1E-45D3-B1ED-458CF047612E}"/>
              </a:ext>
            </a:extLst>
          </p:cNvPr>
          <p:cNvSpPr>
            <a:spLocks noChangeArrowheads="1"/>
          </p:cNvSpPr>
          <p:nvPr/>
        </p:nvSpPr>
        <p:spPr bwMode="auto">
          <a:xfrm>
            <a:off x="539750" y="3702864"/>
            <a:ext cx="914558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lnSpc>
                <a:spcPct val="125000"/>
              </a:lnSpc>
            </a:pPr>
            <a:r>
              <a:rPr kumimoji="1" lang="zh-CN" altLang="en-US" sz="2400" b="1" dirty="0">
                <a:solidFill>
                  <a:srgbClr val="0000FF"/>
                </a:solidFill>
                <a:effectLst/>
                <a:latin typeface="Times New Roman" panose="02020603050405020304" pitchFamily="18" charset="0"/>
                <a:ea typeface="黑体" panose="02010609060101010101" pitchFamily="49" charset="-122"/>
              </a:rPr>
              <a:t>空间：</a:t>
            </a:r>
            <a:r>
              <a:rPr kumimoji="1" lang="zh-CN" altLang="en-US" sz="2400" b="1" dirty="0">
                <a:solidFill>
                  <a:srgbClr val="000066"/>
                </a:solidFill>
                <a:effectLst/>
                <a:latin typeface="Times New Roman" panose="02020603050405020304" pitchFamily="18" charset="0"/>
                <a:ea typeface="宋体" panose="02010600030101010101" pitchFamily="2" charset="-122"/>
              </a:rPr>
              <a:t>物质运动的场所，与物质及其运动无关。</a:t>
            </a:r>
          </a:p>
        </p:txBody>
      </p:sp>
      <p:sp>
        <p:nvSpPr>
          <p:cNvPr id="169989" name="Text Box 5">
            <a:extLst>
              <a:ext uri="{FF2B5EF4-FFF2-40B4-BE49-F238E27FC236}">
                <a16:creationId xmlns:a16="http://schemas.microsoft.com/office/drawing/2014/main" id="{C84EB9E6-BA09-4D81-A731-2160ECBDA594}"/>
              </a:ext>
            </a:extLst>
          </p:cNvPr>
          <p:cNvSpPr txBox="1">
            <a:spLocks noChangeArrowheads="1"/>
          </p:cNvSpPr>
          <p:nvPr/>
        </p:nvSpPr>
        <p:spPr bwMode="auto">
          <a:xfrm>
            <a:off x="539750" y="765175"/>
            <a:ext cx="4752975" cy="579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a:solidFill>
                  <a:srgbClr val="FF3300"/>
                </a:solidFill>
                <a:effectLst/>
                <a:latin typeface="黑体" panose="02010609060101010101" pitchFamily="49" charset="-122"/>
                <a:ea typeface="黑体" panose="02010609060101010101" pitchFamily="49" charset="-122"/>
              </a:rPr>
              <a:t>1.</a:t>
            </a:r>
            <a:r>
              <a:rPr kumimoji="1" lang="zh-CN" altLang="en-US" sz="3200" b="1">
                <a:solidFill>
                  <a:srgbClr val="FF3300"/>
                </a:solidFill>
                <a:effectLst/>
                <a:latin typeface="黑体" panose="02010609060101010101" pitchFamily="49" charset="-122"/>
                <a:ea typeface="黑体" panose="02010609060101010101" pitchFamily="49" charset="-122"/>
              </a:rPr>
              <a:t>牛顿的绝对时空观</a:t>
            </a:r>
          </a:p>
        </p:txBody>
      </p:sp>
      <p:sp>
        <p:nvSpPr>
          <p:cNvPr id="169990" name="Rectangle 6">
            <a:extLst>
              <a:ext uri="{FF2B5EF4-FFF2-40B4-BE49-F238E27FC236}">
                <a16:creationId xmlns:a16="http://schemas.microsoft.com/office/drawing/2014/main" id="{4FFDDC57-7892-4161-B358-5F8477C9839A}"/>
              </a:ext>
            </a:extLst>
          </p:cNvPr>
          <p:cNvSpPr>
            <a:spLocks noChangeArrowheads="1"/>
          </p:cNvSpPr>
          <p:nvPr/>
        </p:nvSpPr>
        <p:spPr bwMode="auto">
          <a:xfrm>
            <a:off x="539750" y="2365779"/>
            <a:ext cx="7991475" cy="980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lnSpc>
                <a:spcPct val="125000"/>
              </a:lnSpc>
            </a:pPr>
            <a:r>
              <a:rPr kumimoji="1" lang="zh-CN" altLang="en-US" sz="2400" b="1">
                <a:solidFill>
                  <a:srgbClr val="CC0066"/>
                </a:solidFill>
                <a:effectLst/>
                <a:latin typeface="Times New Roman" panose="02020603050405020304" pitchFamily="18" charset="0"/>
              </a:rPr>
              <a:t>牛顿：</a:t>
            </a:r>
            <a:r>
              <a:rPr kumimoji="1" lang="zh-CN" altLang="en-US" sz="2400" b="1">
                <a:solidFill>
                  <a:srgbClr val="000066"/>
                </a:solidFill>
                <a:effectLst/>
                <a:latin typeface="Times New Roman" panose="02020603050405020304" pitchFamily="18" charset="0"/>
                <a:ea typeface="宋体" panose="02010600030101010101" pitchFamily="2" charset="-122"/>
              </a:rPr>
              <a:t> </a:t>
            </a:r>
            <a:r>
              <a:rPr kumimoji="1" lang="zh-CN" altLang="en-US" sz="2400" b="1">
                <a:solidFill>
                  <a:srgbClr val="0000FF"/>
                </a:solidFill>
                <a:effectLst/>
                <a:latin typeface="Times New Roman" panose="02020603050405020304" pitchFamily="18" charset="0"/>
              </a:rPr>
              <a:t>“绝对的真实的数学时间，就其本质而言，是永远均匀地流逝着，与外界事物无关。”</a:t>
            </a:r>
          </a:p>
        </p:txBody>
      </p:sp>
      <p:sp>
        <p:nvSpPr>
          <p:cNvPr id="169991" name="Rectangle 7">
            <a:extLst>
              <a:ext uri="{FF2B5EF4-FFF2-40B4-BE49-F238E27FC236}">
                <a16:creationId xmlns:a16="http://schemas.microsoft.com/office/drawing/2014/main" id="{1A05944C-29B2-45CC-B136-B86E32425A3B}"/>
              </a:ext>
            </a:extLst>
          </p:cNvPr>
          <p:cNvSpPr>
            <a:spLocks noChangeArrowheads="1"/>
          </p:cNvSpPr>
          <p:nvPr/>
        </p:nvSpPr>
        <p:spPr bwMode="auto">
          <a:xfrm>
            <a:off x="539750" y="4591454"/>
            <a:ext cx="8135938" cy="980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lnSpc>
                <a:spcPct val="125000"/>
              </a:lnSpc>
            </a:pPr>
            <a:r>
              <a:rPr kumimoji="1" lang="zh-CN" altLang="en-US" sz="2400" b="1">
                <a:solidFill>
                  <a:srgbClr val="CC0066"/>
                </a:solidFill>
                <a:effectLst/>
              </a:rPr>
              <a:t>牛顿：</a:t>
            </a:r>
            <a:r>
              <a:rPr kumimoji="1" lang="zh-CN" altLang="en-US" sz="2400" b="1">
                <a:solidFill>
                  <a:srgbClr val="0000FF"/>
                </a:solidFill>
                <a:effectLst/>
                <a:latin typeface="Times New Roman" panose="02020603050405020304" pitchFamily="18" charset="0"/>
              </a:rPr>
              <a:t>“绝对的空间就其本质而言与外界事物无关，它从不运动，并且永远不变。”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986"/>
                                        </p:tgtEl>
                                        <p:attrNameLst>
                                          <p:attrName>style.visibility</p:attrName>
                                        </p:attrNameLst>
                                      </p:cBhvr>
                                      <p:to>
                                        <p:strVal val="visible"/>
                                      </p:to>
                                    </p:set>
                                    <p:anim calcmode="lin" valueType="num">
                                      <p:cBhvr additive="base">
                                        <p:cTn id="7" dur="500" fill="hold"/>
                                        <p:tgtEl>
                                          <p:spTgt spid="169986"/>
                                        </p:tgtEl>
                                        <p:attrNameLst>
                                          <p:attrName>ppt_x</p:attrName>
                                        </p:attrNameLst>
                                      </p:cBhvr>
                                      <p:tavLst>
                                        <p:tav tm="0">
                                          <p:val>
                                            <p:strVal val="0-#ppt_w/2"/>
                                          </p:val>
                                        </p:tav>
                                        <p:tav tm="100000">
                                          <p:val>
                                            <p:strVal val="#ppt_x"/>
                                          </p:val>
                                        </p:tav>
                                      </p:tavLst>
                                    </p:anim>
                                    <p:anim calcmode="lin" valueType="num">
                                      <p:cBhvr additive="base">
                                        <p:cTn id="8" dur="500" fill="hold"/>
                                        <p:tgtEl>
                                          <p:spTgt spid="16998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9988"/>
                                        </p:tgtEl>
                                        <p:attrNameLst>
                                          <p:attrName>style.visibility</p:attrName>
                                        </p:attrNameLst>
                                      </p:cBhvr>
                                      <p:to>
                                        <p:strVal val="visible"/>
                                      </p:to>
                                    </p:set>
                                    <p:anim calcmode="lin" valueType="num">
                                      <p:cBhvr additive="base">
                                        <p:cTn id="13" dur="500" fill="hold"/>
                                        <p:tgtEl>
                                          <p:spTgt spid="169988"/>
                                        </p:tgtEl>
                                        <p:attrNameLst>
                                          <p:attrName>ppt_x</p:attrName>
                                        </p:attrNameLst>
                                      </p:cBhvr>
                                      <p:tavLst>
                                        <p:tav tm="0">
                                          <p:val>
                                            <p:strVal val="0-#ppt_w/2"/>
                                          </p:val>
                                        </p:tav>
                                        <p:tav tm="100000">
                                          <p:val>
                                            <p:strVal val="#ppt_x"/>
                                          </p:val>
                                        </p:tav>
                                      </p:tavLst>
                                    </p:anim>
                                    <p:anim calcmode="lin" valueType="num">
                                      <p:cBhvr additive="base">
                                        <p:cTn id="14" dur="500" fill="hold"/>
                                        <p:tgtEl>
                                          <p:spTgt spid="16998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9990"/>
                                        </p:tgtEl>
                                        <p:attrNameLst>
                                          <p:attrName>style.visibility</p:attrName>
                                        </p:attrNameLst>
                                      </p:cBhvr>
                                      <p:to>
                                        <p:strVal val="visible"/>
                                      </p:to>
                                    </p:set>
                                    <p:anim calcmode="lin" valueType="num">
                                      <p:cBhvr additive="base">
                                        <p:cTn id="19" dur="500" fill="hold"/>
                                        <p:tgtEl>
                                          <p:spTgt spid="169990"/>
                                        </p:tgtEl>
                                        <p:attrNameLst>
                                          <p:attrName>ppt_x</p:attrName>
                                        </p:attrNameLst>
                                      </p:cBhvr>
                                      <p:tavLst>
                                        <p:tav tm="0">
                                          <p:val>
                                            <p:strVal val="0-#ppt_w/2"/>
                                          </p:val>
                                        </p:tav>
                                        <p:tav tm="100000">
                                          <p:val>
                                            <p:strVal val="#ppt_x"/>
                                          </p:val>
                                        </p:tav>
                                      </p:tavLst>
                                    </p:anim>
                                    <p:anim calcmode="lin" valueType="num">
                                      <p:cBhvr additive="base">
                                        <p:cTn id="20" dur="500" fill="hold"/>
                                        <p:tgtEl>
                                          <p:spTgt spid="16999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9991"/>
                                        </p:tgtEl>
                                        <p:attrNameLst>
                                          <p:attrName>style.visibility</p:attrName>
                                        </p:attrNameLst>
                                      </p:cBhvr>
                                      <p:to>
                                        <p:strVal val="visible"/>
                                      </p:to>
                                    </p:set>
                                    <p:anim calcmode="lin" valueType="num">
                                      <p:cBhvr additive="base">
                                        <p:cTn id="25" dur="500" fill="hold"/>
                                        <p:tgtEl>
                                          <p:spTgt spid="169991"/>
                                        </p:tgtEl>
                                        <p:attrNameLst>
                                          <p:attrName>ppt_x</p:attrName>
                                        </p:attrNameLst>
                                      </p:cBhvr>
                                      <p:tavLst>
                                        <p:tav tm="0">
                                          <p:val>
                                            <p:strVal val="0-#ppt_w/2"/>
                                          </p:val>
                                        </p:tav>
                                        <p:tav tm="100000">
                                          <p:val>
                                            <p:strVal val="#ppt_x"/>
                                          </p:val>
                                        </p:tav>
                                      </p:tavLst>
                                    </p:anim>
                                    <p:anim calcmode="lin" valueType="num">
                                      <p:cBhvr additive="base">
                                        <p:cTn id="26" dur="500" fill="hold"/>
                                        <p:tgtEl>
                                          <p:spTgt spid="1699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autoUpdateAnimBg="0"/>
      <p:bldP spid="169988" grpId="0" autoUpdateAnimBg="0"/>
      <p:bldP spid="169990" grpId="0" autoUpdateAnimBg="0"/>
      <p:bldP spid="16999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a:extLst>
              <a:ext uri="{FF2B5EF4-FFF2-40B4-BE49-F238E27FC236}">
                <a16:creationId xmlns:a16="http://schemas.microsoft.com/office/drawing/2014/main" id="{1CC015BF-433F-40AD-9C07-857FEFA1382C}"/>
              </a:ext>
            </a:extLst>
          </p:cNvPr>
          <p:cNvSpPr txBox="1">
            <a:spLocks noChangeArrowheads="1"/>
          </p:cNvSpPr>
          <p:nvPr/>
        </p:nvSpPr>
        <p:spPr bwMode="auto">
          <a:xfrm>
            <a:off x="620713" y="257175"/>
            <a:ext cx="3446462" cy="579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a:solidFill>
                  <a:srgbClr val="FF3300"/>
                </a:solidFill>
                <a:effectLst/>
                <a:latin typeface="黑体" panose="02010609060101010101" pitchFamily="49" charset="-122"/>
                <a:ea typeface="黑体" panose="02010609060101010101" pitchFamily="49" charset="-122"/>
              </a:rPr>
              <a:t>2.</a:t>
            </a:r>
            <a:r>
              <a:rPr kumimoji="1" lang="zh-CN" altLang="en-US" sz="3200" b="1">
                <a:solidFill>
                  <a:srgbClr val="FF3300"/>
                </a:solidFill>
                <a:effectLst/>
                <a:latin typeface="黑体" panose="02010609060101010101" pitchFamily="49" charset="-122"/>
                <a:ea typeface="黑体" panose="02010609060101010101" pitchFamily="49" charset="-122"/>
              </a:rPr>
              <a:t>伽利略变换</a:t>
            </a:r>
          </a:p>
        </p:txBody>
      </p:sp>
      <p:sp>
        <p:nvSpPr>
          <p:cNvPr id="171011" name="Text Box 3">
            <a:extLst>
              <a:ext uri="{FF2B5EF4-FFF2-40B4-BE49-F238E27FC236}">
                <a16:creationId xmlns:a16="http://schemas.microsoft.com/office/drawing/2014/main" id="{41678CA2-5861-49DB-B1E4-57909FC97C91}"/>
              </a:ext>
            </a:extLst>
          </p:cNvPr>
          <p:cNvSpPr txBox="1">
            <a:spLocks noChangeArrowheads="1"/>
          </p:cNvSpPr>
          <p:nvPr/>
        </p:nvSpPr>
        <p:spPr bwMode="auto">
          <a:xfrm>
            <a:off x="611188" y="822325"/>
            <a:ext cx="31686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kumimoji="1" lang="en-US" altLang="zh-CN" sz="2400" b="1">
                <a:solidFill>
                  <a:srgbClr val="0000FF"/>
                </a:solidFill>
                <a:effectLst/>
                <a:latin typeface="黑体" panose="02010609060101010101" pitchFamily="49" charset="-122"/>
                <a:ea typeface="黑体" panose="02010609060101010101" pitchFamily="49" charset="-122"/>
              </a:rPr>
              <a:t>2.1 </a:t>
            </a:r>
            <a:r>
              <a:rPr kumimoji="1" lang="zh-CN" altLang="en-US" sz="2400" b="1">
                <a:solidFill>
                  <a:srgbClr val="0000FF"/>
                </a:solidFill>
                <a:effectLst/>
                <a:latin typeface="黑体" panose="02010609060101010101" pitchFamily="49" charset="-122"/>
                <a:ea typeface="黑体" panose="02010609060101010101" pitchFamily="49" charset="-122"/>
              </a:rPr>
              <a:t>事件与参照系</a:t>
            </a:r>
          </a:p>
        </p:txBody>
      </p:sp>
      <p:grpSp>
        <p:nvGrpSpPr>
          <p:cNvPr id="171012" name="Group 4">
            <a:extLst>
              <a:ext uri="{FF2B5EF4-FFF2-40B4-BE49-F238E27FC236}">
                <a16:creationId xmlns:a16="http://schemas.microsoft.com/office/drawing/2014/main" id="{1754F2D3-5683-4158-B601-B28EA31F6B76}"/>
              </a:ext>
            </a:extLst>
          </p:cNvPr>
          <p:cNvGrpSpPr>
            <a:grpSpLocks/>
          </p:cNvGrpSpPr>
          <p:nvPr/>
        </p:nvGrpSpPr>
        <p:grpSpPr bwMode="auto">
          <a:xfrm>
            <a:off x="1708150" y="5419725"/>
            <a:ext cx="2941638" cy="530225"/>
            <a:chOff x="1076" y="2688"/>
            <a:chExt cx="1853" cy="334"/>
          </a:xfrm>
        </p:grpSpPr>
        <mc:AlternateContent xmlns:mc="http://schemas.openxmlformats.org/markup-compatibility/2006" xmlns:a14="http://schemas.microsoft.com/office/drawing/2010/main">
          <mc:Choice Requires="a14">
            <p:sp>
              <p:nvSpPr>
                <p:cNvPr id="171013" name="Object 5">
                  <a:extLst>
                    <a:ext uri="{FF2B5EF4-FFF2-40B4-BE49-F238E27FC236}">
                      <a16:creationId xmlns:a16="http://schemas.microsoft.com/office/drawing/2014/main" id="{9372C02D-3081-445D-8281-B34A37869A6D}"/>
                    </a:ext>
                  </a:extLst>
                </p:cNvPr>
                <p:cNvSpPr txBox="1"/>
                <p:nvPr/>
              </p:nvSpPr>
              <p:spPr bwMode="auto">
                <a:xfrm>
                  <a:off x="1328" y="2689"/>
                  <a:ext cx="1601" cy="33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𝑥</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𝑦</m:t>
                        </m:r>
                        <m:r>
                          <m:rPr>
                            <m:nor/>
                          </m:rPr>
                          <a:rPr lang="zh-CN" altLang="en-US" i="0">
                            <a:solidFill>
                              <a:srgbClr val="000000"/>
                            </a:solidFill>
                            <a:latin typeface="Cambria Math" panose="02040503050406030204" pitchFamily="18" charset="0"/>
                          </a:rPr>
                          <m:t> , </m:t>
                        </m:r>
                        <m:r>
                          <a:rPr lang="zh-CN" altLang="en-US" i="1">
                            <a:solidFill>
                              <a:srgbClr val="000000"/>
                            </a:solidFill>
                            <a:latin typeface="Cambria Math" panose="02040503050406030204" pitchFamily="18" charset="0"/>
                          </a:rPr>
                          <m:t>𝑧</m:t>
                        </m:r>
                        <m:r>
                          <m:rPr>
                            <m:nor/>
                          </m:rPr>
                          <a:rPr lang="zh-CN" altLang="en-US" i="0">
                            <a:solidFill>
                              <a:srgbClr val="000000"/>
                            </a:solidFill>
                            <a:latin typeface="Cambria Math" panose="02040503050406030204" pitchFamily="18" charset="0"/>
                          </a:rPr>
                          <m:t> , </m:t>
                        </m:r>
                        <m:r>
                          <a:rPr lang="zh-CN" altLang="en-US" i="1">
                            <a:solidFill>
                              <a:srgbClr val="000000"/>
                            </a:solidFill>
                            <a:latin typeface="Cambria Math" panose="02040503050406030204" pitchFamily="18" charset="0"/>
                          </a:rPr>
                          <m:t>𝑡</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71013" name="Object 5">
                  <a:extLst>
                    <a:ext uri="{FF2B5EF4-FFF2-40B4-BE49-F238E27FC236}">
                      <a16:creationId xmlns:a16="http://schemas.microsoft.com/office/drawing/2014/main" id="{9372C02D-3081-445D-8281-B34A37869A6D}"/>
                    </a:ext>
                  </a:extLst>
                </p:cNvPr>
                <p:cNvSpPr txBox="1">
                  <a:spLocks noRot="1" noChangeAspect="1" noMove="1" noResize="1" noEditPoints="1" noAdjustHandles="1" noChangeArrowheads="1" noChangeShapeType="1" noTextEdit="1"/>
                </p:cNvSpPr>
                <p:nvPr/>
              </p:nvSpPr>
              <p:spPr bwMode="auto">
                <a:xfrm>
                  <a:off x="1328" y="2689"/>
                  <a:ext cx="1601" cy="333"/>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014" name="Object 6">
                  <a:extLst>
                    <a:ext uri="{FF2B5EF4-FFF2-40B4-BE49-F238E27FC236}">
                      <a16:creationId xmlns:a16="http://schemas.microsoft.com/office/drawing/2014/main" id="{03BA3C39-8DF1-4510-9C52-8F85E7295E8C}"/>
                    </a:ext>
                  </a:extLst>
                </p:cNvPr>
                <p:cNvSpPr txBox="1"/>
                <p:nvPr/>
              </p:nvSpPr>
              <p:spPr bwMode="auto">
                <a:xfrm>
                  <a:off x="1076" y="2688"/>
                  <a:ext cx="297" cy="297"/>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S</m:t>
                        </m:r>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func>
                      </m:oMath>
                    </m:oMathPara>
                  </a14:m>
                  <a:endParaRPr lang="zh-CN" altLang="en-US"/>
                </a:p>
              </p:txBody>
            </p:sp>
          </mc:Choice>
          <mc:Fallback xmlns="">
            <p:sp>
              <p:nvSpPr>
                <p:cNvPr id="171014" name="Object 6">
                  <a:extLst>
                    <a:ext uri="{FF2B5EF4-FFF2-40B4-BE49-F238E27FC236}">
                      <a16:creationId xmlns:a16="http://schemas.microsoft.com/office/drawing/2014/main" id="{03BA3C39-8DF1-4510-9C52-8F85E7295E8C}"/>
                    </a:ext>
                  </a:extLst>
                </p:cNvPr>
                <p:cNvSpPr txBox="1">
                  <a:spLocks noRot="1" noChangeAspect="1" noMove="1" noResize="1" noEditPoints="1" noAdjustHandles="1" noChangeArrowheads="1" noChangeShapeType="1" noTextEdit="1"/>
                </p:cNvSpPr>
                <p:nvPr/>
              </p:nvSpPr>
              <p:spPr bwMode="auto">
                <a:xfrm>
                  <a:off x="1076" y="2688"/>
                  <a:ext cx="297" cy="297"/>
                </a:xfrm>
                <a:prstGeom prst="rect">
                  <a:avLst/>
                </a:prstGeom>
                <a:blipFill>
                  <a:blip r:embed="rId3"/>
                  <a:stretch>
                    <a:fillRect/>
                  </a:stretch>
                </a:blipFill>
                <a:ln>
                  <a:noFill/>
                </a:ln>
                <a:effectLst/>
              </p:spPr>
              <p:txBody>
                <a:bodyPr/>
                <a:lstStyle/>
                <a:p>
                  <a:r>
                    <a:rPr lang="zh-CN" altLang="en-US">
                      <a:noFill/>
                    </a:rPr>
                    <a:t> </a:t>
                  </a:r>
                </a:p>
              </p:txBody>
            </p:sp>
          </mc:Fallback>
        </mc:AlternateContent>
      </p:grpSp>
      <p:grpSp>
        <p:nvGrpSpPr>
          <p:cNvPr id="171015" name="Group 7">
            <a:extLst>
              <a:ext uri="{FF2B5EF4-FFF2-40B4-BE49-F238E27FC236}">
                <a16:creationId xmlns:a16="http://schemas.microsoft.com/office/drawing/2014/main" id="{AEDC7144-1271-4621-B325-5B01AEE260A3}"/>
              </a:ext>
            </a:extLst>
          </p:cNvPr>
          <p:cNvGrpSpPr>
            <a:grpSpLocks/>
          </p:cNvGrpSpPr>
          <p:nvPr/>
        </p:nvGrpSpPr>
        <p:grpSpPr bwMode="auto">
          <a:xfrm>
            <a:off x="1676400" y="5995988"/>
            <a:ext cx="3316288" cy="528637"/>
            <a:chOff x="1056" y="3142"/>
            <a:chExt cx="2089" cy="333"/>
          </a:xfrm>
        </p:grpSpPr>
        <mc:AlternateContent xmlns:mc="http://schemas.openxmlformats.org/markup-compatibility/2006" xmlns:a14="http://schemas.microsoft.com/office/drawing/2010/main">
          <mc:Choice Requires="a14">
            <p:sp>
              <p:nvSpPr>
                <p:cNvPr id="171016" name="Object 8">
                  <a:extLst>
                    <a:ext uri="{FF2B5EF4-FFF2-40B4-BE49-F238E27FC236}">
                      <a16:creationId xmlns:a16="http://schemas.microsoft.com/office/drawing/2014/main" id="{270619E6-28DA-4ACE-B287-AF950A5A124F}"/>
                    </a:ext>
                  </a:extLst>
                </p:cNvPr>
                <p:cNvSpPr txBox="1"/>
                <p:nvPr/>
              </p:nvSpPr>
              <p:spPr bwMode="auto">
                <a:xfrm>
                  <a:off x="1334" y="3142"/>
                  <a:ext cx="1811" cy="33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𝑦</m:t>
                            </m:r>
                          </m:e>
                          <m:sup>
                            <m:r>
                              <a:rPr lang="zh-CN" altLang="en-US" i="1">
                                <a:solidFill>
                                  <a:srgbClr val="000000"/>
                                </a:solidFill>
                                <a:latin typeface="Cambria Math" panose="02040503050406030204" pitchFamily="18" charset="0"/>
                              </a:rPr>
                              <m:t>′</m:t>
                            </m:r>
                          </m:sup>
                        </m:sSup>
                        <m:r>
                          <m:rPr>
                            <m:nor/>
                          </m:rPr>
                          <a:rPr lang="zh-CN" altLang="en-US" i="0">
                            <a:solidFill>
                              <a:srgbClr val="000000"/>
                            </a:solidFill>
                            <a:latin typeface="Cambria Math" panose="02040503050406030204" pitchFamily="18" charset="0"/>
                          </a:rPr>
                          <m:t> , </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𝑧</m:t>
                            </m:r>
                          </m:e>
                          <m:sup>
                            <m:r>
                              <a:rPr lang="zh-CN" altLang="en-US" i="1">
                                <a:solidFill>
                                  <a:srgbClr val="000000"/>
                                </a:solidFill>
                                <a:latin typeface="Cambria Math" panose="02040503050406030204" pitchFamily="18" charset="0"/>
                              </a:rPr>
                              <m:t>′</m:t>
                            </m:r>
                          </m:sup>
                        </m:sSup>
                        <m:r>
                          <m:rPr>
                            <m:nor/>
                          </m:rPr>
                          <a:rPr lang="zh-CN" altLang="en-US" i="0">
                            <a:solidFill>
                              <a:srgbClr val="000000"/>
                            </a:solidFill>
                            <a:latin typeface="Cambria Math" panose="02040503050406030204" pitchFamily="18" charset="0"/>
                          </a:rPr>
                          <m:t> , </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m:t>
                            </m:r>
                          </m:sup>
                        </m:sSup>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71016" name="Object 8">
                  <a:extLst>
                    <a:ext uri="{FF2B5EF4-FFF2-40B4-BE49-F238E27FC236}">
                      <a16:creationId xmlns:a16="http://schemas.microsoft.com/office/drawing/2014/main" id="{270619E6-28DA-4ACE-B287-AF950A5A124F}"/>
                    </a:ext>
                  </a:extLst>
                </p:cNvPr>
                <p:cNvSpPr txBox="1">
                  <a:spLocks noRot="1" noChangeAspect="1" noMove="1" noResize="1" noEditPoints="1" noAdjustHandles="1" noChangeArrowheads="1" noChangeShapeType="1" noTextEdit="1"/>
                </p:cNvSpPr>
                <p:nvPr/>
              </p:nvSpPr>
              <p:spPr bwMode="auto">
                <a:xfrm>
                  <a:off x="1334" y="3142"/>
                  <a:ext cx="1811" cy="333"/>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017" name="Object 9">
                  <a:extLst>
                    <a:ext uri="{FF2B5EF4-FFF2-40B4-BE49-F238E27FC236}">
                      <a16:creationId xmlns:a16="http://schemas.microsoft.com/office/drawing/2014/main" id="{F5E47904-BF52-4DEC-A497-F2B24858E084}"/>
                    </a:ext>
                  </a:extLst>
                </p:cNvPr>
                <p:cNvSpPr txBox="1"/>
                <p:nvPr/>
              </p:nvSpPr>
              <p:spPr bwMode="auto">
                <a:xfrm>
                  <a:off x="1056" y="3142"/>
                  <a:ext cx="360" cy="29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func>
                      </m:oMath>
                    </m:oMathPara>
                  </a14:m>
                  <a:endParaRPr lang="zh-CN" altLang="en-US"/>
                </a:p>
              </p:txBody>
            </p:sp>
          </mc:Choice>
          <mc:Fallback xmlns="">
            <p:sp>
              <p:nvSpPr>
                <p:cNvPr id="171017" name="Object 9">
                  <a:extLst>
                    <a:ext uri="{FF2B5EF4-FFF2-40B4-BE49-F238E27FC236}">
                      <a16:creationId xmlns:a16="http://schemas.microsoft.com/office/drawing/2014/main" id="{F5E47904-BF52-4DEC-A497-F2B24858E084}"/>
                    </a:ext>
                  </a:extLst>
                </p:cNvPr>
                <p:cNvSpPr txBox="1">
                  <a:spLocks noRot="1" noChangeAspect="1" noMove="1" noResize="1" noEditPoints="1" noAdjustHandles="1" noChangeArrowheads="1" noChangeShapeType="1" noTextEdit="1"/>
                </p:cNvSpPr>
                <p:nvPr/>
              </p:nvSpPr>
              <p:spPr bwMode="auto">
                <a:xfrm>
                  <a:off x="1056" y="3142"/>
                  <a:ext cx="360" cy="297"/>
                </a:xfrm>
                <a:prstGeom prst="rect">
                  <a:avLst/>
                </a:prstGeom>
                <a:blipFill>
                  <a:blip r:embed="rId5"/>
                  <a:stretch>
                    <a:fillRect/>
                  </a:stretch>
                </a:blipFill>
                <a:ln>
                  <a:noFill/>
                </a:ln>
                <a:effectLst/>
              </p:spPr>
              <p:txBody>
                <a:bodyPr/>
                <a:lstStyle/>
                <a:p>
                  <a:r>
                    <a:rPr lang="zh-CN" altLang="en-US">
                      <a:noFill/>
                    </a:rPr>
                    <a:t> </a:t>
                  </a:r>
                </a:p>
              </p:txBody>
            </p:sp>
          </mc:Fallback>
        </mc:AlternateContent>
      </p:grpSp>
      <p:sp>
        <p:nvSpPr>
          <p:cNvPr id="171018" name="Text Box 10">
            <a:extLst>
              <a:ext uri="{FF2B5EF4-FFF2-40B4-BE49-F238E27FC236}">
                <a16:creationId xmlns:a16="http://schemas.microsoft.com/office/drawing/2014/main" id="{754E0B8A-A463-439D-81C7-83ADC74CCC60}"/>
              </a:ext>
            </a:extLst>
          </p:cNvPr>
          <p:cNvSpPr txBox="1">
            <a:spLocks noChangeArrowheads="1"/>
          </p:cNvSpPr>
          <p:nvPr/>
        </p:nvSpPr>
        <p:spPr bwMode="auto">
          <a:xfrm>
            <a:off x="539750" y="1412875"/>
            <a:ext cx="81375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CC0066"/>
                </a:solidFill>
                <a:effectLst/>
                <a:latin typeface="Times New Roman" panose="02020603050405020304" pitchFamily="18" charset="0"/>
                <a:ea typeface="黑体" panose="02010609060101010101" pitchFamily="49" charset="-122"/>
              </a:rPr>
              <a:t>事件：</a:t>
            </a:r>
            <a:r>
              <a:rPr lang="zh-CN" altLang="en-US" sz="2400" b="1">
                <a:solidFill>
                  <a:srgbClr val="000066"/>
                </a:solidFill>
                <a:effectLst/>
                <a:latin typeface="Times New Roman" panose="02020603050405020304" pitchFamily="18" charset="0"/>
                <a:ea typeface="宋体" panose="02010600030101010101" pitchFamily="2" charset="-122"/>
              </a:rPr>
              <a:t>有明确的地点与时间的一件事：</a:t>
            </a:r>
            <a:r>
              <a:rPr lang="en-US" altLang="zh-CN" sz="2400" b="1">
                <a:solidFill>
                  <a:srgbClr val="000066"/>
                </a:solidFill>
                <a:effectLst/>
                <a:latin typeface="Times New Roman" panose="02020603050405020304" pitchFamily="18" charset="0"/>
                <a:ea typeface="宋体" panose="02010600030101010101" pitchFamily="2" charset="-122"/>
              </a:rPr>
              <a:t>P(</a:t>
            </a:r>
            <a:r>
              <a:rPr lang="en-US" altLang="zh-CN" sz="2400" b="1" i="1">
                <a:solidFill>
                  <a:srgbClr val="000066"/>
                </a:solidFill>
                <a:effectLst/>
                <a:latin typeface="Times New Roman" panose="02020603050405020304" pitchFamily="18" charset="0"/>
                <a:ea typeface="宋体" panose="02010600030101010101" pitchFamily="2" charset="-122"/>
              </a:rPr>
              <a:t>x, y, z, t</a:t>
            </a:r>
            <a:r>
              <a:rPr lang="en-US" altLang="zh-CN" sz="2400" b="1">
                <a:solidFill>
                  <a:srgbClr val="000066"/>
                </a:solidFill>
                <a:effectLst/>
                <a:latin typeface="Times New Roman" panose="02020603050405020304" pitchFamily="18" charset="0"/>
                <a:ea typeface="宋体" panose="02010600030101010101" pitchFamily="2" charset="-122"/>
              </a:rPr>
              <a:t>)</a:t>
            </a:r>
            <a:r>
              <a:rPr lang="en-US" altLang="zh-CN" sz="2400">
                <a:solidFill>
                  <a:srgbClr val="000066"/>
                </a:solidFill>
                <a:effectLst/>
                <a:latin typeface="Times New Roman" panose="02020603050405020304" pitchFamily="18" charset="0"/>
                <a:ea typeface="宋体" panose="02010600030101010101" pitchFamily="2" charset="-122"/>
              </a:rPr>
              <a:t> </a:t>
            </a:r>
            <a:endParaRPr lang="zh-CN" altLang="en-US" sz="2400">
              <a:solidFill>
                <a:srgbClr val="000066"/>
              </a:solidFill>
              <a:effectLst/>
              <a:latin typeface="Times New Roman" panose="02020603050405020304" pitchFamily="18" charset="0"/>
              <a:ea typeface="宋体" panose="02010600030101010101" pitchFamily="2" charset="-122"/>
            </a:endParaRPr>
          </a:p>
        </p:txBody>
      </p:sp>
      <p:sp>
        <p:nvSpPr>
          <p:cNvPr id="171019" name="Text Box 11">
            <a:extLst>
              <a:ext uri="{FF2B5EF4-FFF2-40B4-BE49-F238E27FC236}">
                <a16:creationId xmlns:a16="http://schemas.microsoft.com/office/drawing/2014/main" id="{E54AC404-7989-4F59-9C21-EA57DAD80E31}"/>
              </a:ext>
            </a:extLst>
          </p:cNvPr>
          <p:cNvSpPr txBox="1">
            <a:spLocks noChangeArrowheads="1"/>
          </p:cNvSpPr>
          <p:nvPr/>
        </p:nvSpPr>
        <p:spPr bwMode="auto">
          <a:xfrm>
            <a:off x="539750" y="4286250"/>
            <a:ext cx="8135938" cy="96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lang="zh-CN" altLang="en-US" sz="2400" b="1" dirty="0">
                <a:solidFill>
                  <a:srgbClr val="CC0066"/>
                </a:solidFill>
                <a:effectLst/>
                <a:latin typeface="Times New Roman" panose="02020603050405020304" pitchFamily="18" charset="0"/>
                <a:ea typeface="黑体" panose="02010609060101010101" pitchFamily="49" charset="-122"/>
              </a:rPr>
              <a:t>参照系：</a:t>
            </a:r>
            <a:r>
              <a:rPr lang="zh-CN" altLang="en-US" sz="2400" b="1" dirty="0">
                <a:solidFill>
                  <a:srgbClr val="000066"/>
                </a:solidFill>
                <a:effectLst/>
                <a:latin typeface="Times New Roman" panose="02020603050405020304" pitchFamily="18" charset="0"/>
                <a:ea typeface="宋体" panose="02010600030101010101" pitchFamily="2" charset="-122"/>
              </a:rPr>
              <a:t>不同参照系对同一事件发生的地点和时间的测量结果一般不同。例： </a:t>
            </a:r>
          </a:p>
        </p:txBody>
      </p:sp>
      <p:grpSp>
        <p:nvGrpSpPr>
          <p:cNvPr id="171020" name="Group 12">
            <a:extLst>
              <a:ext uri="{FF2B5EF4-FFF2-40B4-BE49-F238E27FC236}">
                <a16:creationId xmlns:a16="http://schemas.microsoft.com/office/drawing/2014/main" id="{FA6745EA-083A-470E-98CD-98B8E9BD7D38}"/>
              </a:ext>
            </a:extLst>
          </p:cNvPr>
          <p:cNvGrpSpPr>
            <a:grpSpLocks/>
          </p:cNvGrpSpPr>
          <p:nvPr/>
        </p:nvGrpSpPr>
        <p:grpSpPr bwMode="auto">
          <a:xfrm>
            <a:off x="2266950" y="2708275"/>
            <a:ext cx="4037013" cy="1489075"/>
            <a:chOff x="1428" y="1434"/>
            <a:chExt cx="2543" cy="938"/>
          </a:xfrm>
        </p:grpSpPr>
        <p:sp>
          <p:nvSpPr>
            <p:cNvPr id="171021" name="Freeform 13">
              <a:extLst>
                <a:ext uri="{FF2B5EF4-FFF2-40B4-BE49-F238E27FC236}">
                  <a16:creationId xmlns:a16="http://schemas.microsoft.com/office/drawing/2014/main" id="{CE405159-544C-45BD-9254-2CEC06F3AD0D}"/>
                </a:ext>
              </a:extLst>
            </p:cNvPr>
            <p:cNvSpPr>
              <a:spLocks/>
            </p:cNvSpPr>
            <p:nvPr/>
          </p:nvSpPr>
          <p:spPr bwMode="auto">
            <a:xfrm>
              <a:off x="1428" y="1434"/>
              <a:ext cx="2359" cy="938"/>
            </a:xfrm>
            <a:custGeom>
              <a:avLst/>
              <a:gdLst>
                <a:gd name="T0" fmla="*/ 0 w 2359"/>
                <a:gd name="T1" fmla="*/ 666 h 938"/>
                <a:gd name="T2" fmla="*/ 817 w 2359"/>
                <a:gd name="T3" fmla="*/ 847 h 938"/>
                <a:gd name="T4" fmla="*/ 1679 w 2359"/>
                <a:gd name="T5" fmla="*/ 121 h 938"/>
                <a:gd name="T6" fmla="*/ 2359 w 2359"/>
                <a:gd name="T7" fmla="*/ 121 h 938"/>
              </a:gdLst>
              <a:ahLst/>
              <a:cxnLst>
                <a:cxn ang="0">
                  <a:pos x="T0" y="T1"/>
                </a:cxn>
                <a:cxn ang="0">
                  <a:pos x="T2" y="T3"/>
                </a:cxn>
                <a:cxn ang="0">
                  <a:pos x="T4" y="T5"/>
                </a:cxn>
                <a:cxn ang="0">
                  <a:pos x="T6" y="T7"/>
                </a:cxn>
              </a:cxnLst>
              <a:rect l="0" t="0" r="r" b="b"/>
              <a:pathLst>
                <a:path w="2359" h="938">
                  <a:moveTo>
                    <a:pt x="0" y="666"/>
                  </a:moveTo>
                  <a:cubicBezTo>
                    <a:pt x="268" y="802"/>
                    <a:pt x="537" y="938"/>
                    <a:pt x="817" y="847"/>
                  </a:cubicBezTo>
                  <a:cubicBezTo>
                    <a:pt x="1097" y="756"/>
                    <a:pt x="1422" y="242"/>
                    <a:pt x="1679" y="121"/>
                  </a:cubicBezTo>
                  <a:cubicBezTo>
                    <a:pt x="1936" y="0"/>
                    <a:pt x="2147" y="60"/>
                    <a:pt x="2359" y="121"/>
                  </a:cubicBezTo>
                </a:path>
              </a:pathLst>
            </a:custGeom>
            <a:noFill/>
            <a:ln w="19050" cap="flat" cmpd="sng">
              <a:solidFill>
                <a:srgbClr val="000066"/>
              </a:solidFill>
              <a:prstDash val="solid"/>
              <a:round/>
              <a:headEnd type="none" w="med" len="me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71022" name="Oval 14">
              <a:extLst>
                <a:ext uri="{FF2B5EF4-FFF2-40B4-BE49-F238E27FC236}">
                  <a16:creationId xmlns:a16="http://schemas.microsoft.com/office/drawing/2014/main" id="{1B5C890C-E4E5-419E-9DBD-DB17494CF5B2}"/>
                </a:ext>
              </a:extLst>
            </p:cNvPr>
            <p:cNvSpPr>
              <a:spLocks noChangeArrowheads="1"/>
            </p:cNvSpPr>
            <p:nvPr/>
          </p:nvSpPr>
          <p:spPr bwMode="auto">
            <a:xfrm>
              <a:off x="1837" y="2260"/>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23" name="Oval 15">
              <a:extLst>
                <a:ext uri="{FF2B5EF4-FFF2-40B4-BE49-F238E27FC236}">
                  <a16:creationId xmlns:a16="http://schemas.microsoft.com/office/drawing/2014/main" id="{F7CF1CCF-DFA8-4951-9FED-9617FB4DC174}"/>
                </a:ext>
              </a:extLst>
            </p:cNvPr>
            <p:cNvSpPr>
              <a:spLocks noChangeArrowheads="1"/>
            </p:cNvSpPr>
            <p:nvPr/>
          </p:nvSpPr>
          <p:spPr bwMode="auto">
            <a:xfrm>
              <a:off x="2019" y="2296"/>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24" name="Oval 16">
              <a:extLst>
                <a:ext uri="{FF2B5EF4-FFF2-40B4-BE49-F238E27FC236}">
                  <a16:creationId xmlns:a16="http://schemas.microsoft.com/office/drawing/2014/main" id="{892809C0-1C64-4387-9880-71A995001BC3}"/>
                </a:ext>
              </a:extLst>
            </p:cNvPr>
            <p:cNvSpPr>
              <a:spLocks noChangeArrowheads="1"/>
            </p:cNvSpPr>
            <p:nvPr/>
          </p:nvSpPr>
          <p:spPr bwMode="auto">
            <a:xfrm>
              <a:off x="2245" y="2251"/>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25" name="Oval 17">
              <a:extLst>
                <a:ext uri="{FF2B5EF4-FFF2-40B4-BE49-F238E27FC236}">
                  <a16:creationId xmlns:a16="http://schemas.microsoft.com/office/drawing/2014/main" id="{A0A6DFCF-3152-42EA-AD81-8FDFDE6C14A6}"/>
                </a:ext>
              </a:extLst>
            </p:cNvPr>
            <p:cNvSpPr>
              <a:spLocks noChangeArrowheads="1"/>
            </p:cNvSpPr>
            <p:nvPr/>
          </p:nvSpPr>
          <p:spPr bwMode="auto">
            <a:xfrm>
              <a:off x="2427" y="2133"/>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26" name="Oval 18">
              <a:extLst>
                <a:ext uri="{FF2B5EF4-FFF2-40B4-BE49-F238E27FC236}">
                  <a16:creationId xmlns:a16="http://schemas.microsoft.com/office/drawing/2014/main" id="{64B858DC-1F3B-4D75-AFE2-0FB3DC75DAF4}"/>
                </a:ext>
              </a:extLst>
            </p:cNvPr>
            <p:cNvSpPr>
              <a:spLocks noChangeArrowheads="1"/>
            </p:cNvSpPr>
            <p:nvPr/>
          </p:nvSpPr>
          <p:spPr bwMode="auto">
            <a:xfrm>
              <a:off x="2581" y="1988"/>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27" name="Oval 19">
              <a:extLst>
                <a:ext uri="{FF2B5EF4-FFF2-40B4-BE49-F238E27FC236}">
                  <a16:creationId xmlns:a16="http://schemas.microsoft.com/office/drawing/2014/main" id="{DE13E9AB-894F-43B4-B2C6-C8133F7603DC}"/>
                </a:ext>
              </a:extLst>
            </p:cNvPr>
            <p:cNvSpPr>
              <a:spLocks noChangeArrowheads="1"/>
            </p:cNvSpPr>
            <p:nvPr/>
          </p:nvSpPr>
          <p:spPr bwMode="auto">
            <a:xfrm>
              <a:off x="2753" y="1806"/>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28" name="Oval 20">
              <a:extLst>
                <a:ext uri="{FF2B5EF4-FFF2-40B4-BE49-F238E27FC236}">
                  <a16:creationId xmlns:a16="http://schemas.microsoft.com/office/drawing/2014/main" id="{5FDD202C-4E5E-40D3-975E-6BDC083A8225}"/>
                </a:ext>
              </a:extLst>
            </p:cNvPr>
            <p:cNvSpPr>
              <a:spLocks noChangeArrowheads="1"/>
            </p:cNvSpPr>
            <p:nvPr/>
          </p:nvSpPr>
          <p:spPr bwMode="auto">
            <a:xfrm>
              <a:off x="2971" y="1607"/>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29" name="Oval 21">
              <a:extLst>
                <a:ext uri="{FF2B5EF4-FFF2-40B4-BE49-F238E27FC236}">
                  <a16:creationId xmlns:a16="http://schemas.microsoft.com/office/drawing/2014/main" id="{886BDAE1-999E-45B2-9BF2-07670115BCA2}"/>
                </a:ext>
              </a:extLst>
            </p:cNvPr>
            <p:cNvSpPr>
              <a:spLocks noChangeArrowheads="1"/>
            </p:cNvSpPr>
            <p:nvPr/>
          </p:nvSpPr>
          <p:spPr bwMode="auto">
            <a:xfrm>
              <a:off x="3288" y="1471"/>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30" name="Oval 22">
              <a:extLst>
                <a:ext uri="{FF2B5EF4-FFF2-40B4-BE49-F238E27FC236}">
                  <a16:creationId xmlns:a16="http://schemas.microsoft.com/office/drawing/2014/main" id="{1826991A-BABD-4BCE-82D6-CE9C3A3A8586}"/>
                </a:ext>
              </a:extLst>
            </p:cNvPr>
            <p:cNvSpPr>
              <a:spLocks noChangeArrowheads="1"/>
            </p:cNvSpPr>
            <p:nvPr/>
          </p:nvSpPr>
          <p:spPr bwMode="auto">
            <a:xfrm>
              <a:off x="1610" y="2169"/>
              <a:ext cx="45" cy="45"/>
            </a:xfrm>
            <a:prstGeom prst="ellipse">
              <a:avLst/>
            </a:prstGeom>
            <a:solidFill>
              <a:srgbClr val="000066"/>
            </a:solidFill>
            <a:ln w="19050">
              <a:solidFill>
                <a:srgbClr val="000066"/>
              </a:solidFill>
              <a:round/>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1031" name="Rectangle 23">
              <a:extLst>
                <a:ext uri="{FF2B5EF4-FFF2-40B4-BE49-F238E27FC236}">
                  <a16:creationId xmlns:a16="http://schemas.microsoft.com/office/drawing/2014/main" id="{5077AF91-2675-4D00-A20B-BCEB06CB0BAA}"/>
                </a:ext>
              </a:extLst>
            </p:cNvPr>
            <p:cNvSpPr>
              <a:spLocks noChangeArrowheads="1"/>
            </p:cNvSpPr>
            <p:nvPr/>
          </p:nvSpPr>
          <p:spPr bwMode="auto">
            <a:xfrm>
              <a:off x="2608" y="1888"/>
              <a:ext cx="13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66"/>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b="1">
                  <a:solidFill>
                    <a:srgbClr val="000066"/>
                  </a:solidFill>
                  <a:effectLst/>
                  <a:latin typeface="Times New Roman" panose="02020603050405020304" pitchFamily="18" charset="0"/>
                  <a:ea typeface="宋体" panose="02010600030101010101" pitchFamily="2" charset="-122"/>
                </a:rPr>
                <a:t>P</a:t>
              </a:r>
              <a:r>
                <a:rPr lang="en-US" altLang="zh-CN" b="1" i="1" baseline="-25000">
                  <a:solidFill>
                    <a:srgbClr val="000066"/>
                  </a:solidFill>
                  <a:effectLst/>
                  <a:latin typeface="Times New Roman" panose="02020603050405020304" pitchFamily="18" charset="0"/>
                  <a:ea typeface="宋体" panose="02010600030101010101" pitchFamily="2" charset="-122"/>
                </a:rPr>
                <a:t>i</a:t>
              </a:r>
              <a:r>
                <a:rPr lang="en-US" altLang="zh-CN" b="1">
                  <a:solidFill>
                    <a:srgbClr val="000066"/>
                  </a:solidFill>
                  <a:effectLst/>
                  <a:latin typeface="Times New Roman" panose="02020603050405020304" pitchFamily="18" charset="0"/>
                  <a:ea typeface="宋体" panose="02010600030101010101" pitchFamily="2" charset="-122"/>
                </a:rPr>
                <a:t> (</a:t>
              </a:r>
              <a:r>
                <a:rPr lang="en-US" altLang="zh-CN" b="1" i="1">
                  <a:solidFill>
                    <a:srgbClr val="000066"/>
                  </a:solidFill>
                  <a:effectLst/>
                  <a:latin typeface="Times New Roman" panose="02020603050405020304" pitchFamily="18" charset="0"/>
                  <a:ea typeface="宋体" panose="02010600030101010101" pitchFamily="2" charset="-122"/>
                </a:rPr>
                <a:t>x</a:t>
              </a:r>
              <a:r>
                <a:rPr lang="en-US" altLang="zh-CN" b="1" i="1" baseline="-25000">
                  <a:solidFill>
                    <a:srgbClr val="000066"/>
                  </a:solidFill>
                  <a:effectLst/>
                  <a:latin typeface="Times New Roman" panose="02020603050405020304" pitchFamily="18" charset="0"/>
                  <a:ea typeface="宋体" panose="02010600030101010101" pitchFamily="2" charset="-122"/>
                </a:rPr>
                <a:t>i</a:t>
              </a:r>
              <a:r>
                <a:rPr lang="en-US" altLang="zh-CN" b="1">
                  <a:solidFill>
                    <a:srgbClr val="000066"/>
                  </a:solidFill>
                  <a:effectLst/>
                  <a:latin typeface="Times New Roman" panose="02020603050405020304" pitchFamily="18" charset="0"/>
                  <a:ea typeface="宋体" panose="02010600030101010101" pitchFamily="2" charset="-122"/>
                </a:rPr>
                <a:t>,</a:t>
              </a:r>
              <a:r>
                <a:rPr lang="en-US" altLang="zh-CN" b="1" i="1">
                  <a:solidFill>
                    <a:srgbClr val="000066"/>
                  </a:solidFill>
                  <a:effectLst/>
                  <a:latin typeface="Times New Roman" panose="02020603050405020304" pitchFamily="18" charset="0"/>
                  <a:ea typeface="宋体" panose="02010600030101010101" pitchFamily="2" charset="-122"/>
                </a:rPr>
                <a:t> y</a:t>
              </a:r>
              <a:r>
                <a:rPr lang="en-US" altLang="zh-CN" b="1" i="1" baseline="-25000">
                  <a:solidFill>
                    <a:srgbClr val="000066"/>
                  </a:solidFill>
                  <a:effectLst/>
                  <a:latin typeface="Times New Roman" panose="02020603050405020304" pitchFamily="18" charset="0"/>
                  <a:ea typeface="宋体" panose="02010600030101010101" pitchFamily="2" charset="-122"/>
                </a:rPr>
                <a:t>i</a:t>
              </a:r>
              <a:r>
                <a:rPr lang="en-US" altLang="zh-CN" b="1">
                  <a:solidFill>
                    <a:srgbClr val="000066"/>
                  </a:solidFill>
                  <a:effectLst/>
                  <a:latin typeface="Times New Roman" panose="02020603050405020304" pitchFamily="18" charset="0"/>
                  <a:ea typeface="宋体" panose="02010600030101010101" pitchFamily="2" charset="-122"/>
                </a:rPr>
                <a:t>,</a:t>
              </a:r>
              <a:r>
                <a:rPr lang="en-US" altLang="zh-CN" b="1" i="1">
                  <a:solidFill>
                    <a:srgbClr val="000066"/>
                  </a:solidFill>
                  <a:effectLst/>
                  <a:latin typeface="Times New Roman" panose="02020603050405020304" pitchFamily="18" charset="0"/>
                  <a:ea typeface="宋体" panose="02010600030101010101" pitchFamily="2" charset="-122"/>
                </a:rPr>
                <a:t> z</a:t>
              </a:r>
              <a:r>
                <a:rPr lang="en-US" altLang="zh-CN" b="1" i="1" baseline="-25000">
                  <a:solidFill>
                    <a:srgbClr val="000066"/>
                  </a:solidFill>
                  <a:effectLst/>
                  <a:latin typeface="Times New Roman" panose="02020603050405020304" pitchFamily="18" charset="0"/>
                  <a:ea typeface="宋体" panose="02010600030101010101" pitchFamily="2" charset="-122"/>
                </a:rPr>
                <a:t>i</a:t>
              </a:r>
              <a:r>
                <a:rPr lang="en-US" altLang="zh-CN" b="1">
                  <a:solidFill>
                    <a:srgbClr val="000066"/>
                  </a:solidFill>
                  <a:effectLst/>
                  <a:latin typeface="Times New Roman" panose="02020603050405020304" pitchFamily="18" charset="0"/>
                  <a:ea typeface="宋体" panose="02010600030101010101" pitchFamily="2" charset="-122"/>
                </a:rPr>
                <a:t>,</a:t>
              </a:r>
              <a:r>
                <a:rPr lang="en-US" altLang="zh-CN" b="1" i="1">
                  <a:solidFill>
                    <a:srgbClr val="000066"/>
                  </a:solidFill>
                  <a:effectLst/>
                  <a:latin typeface="Times New Roman" panose="02020603050405020304" pitchFamily="18" charset="0"/>
                  <a:ea typeface="宋体" panose="02010600030101010101" pitchFamily="2" charset="-122"/>
                </a:rPr>
                <a:t> t</a:t>
              </a:r>
              <a:r>
                <a:rPr lang="en-US" altLang="zh-CN" b="1" i="1" baseline="-25000">
                  <a:solidFill>
                    <a:srgbClr val="000066"/>
                  </a:solidFill>
                  <a:effectLst/>
                  <a:latin typeface="Times New Roman" panose="02020603050405020304" pitchFamily="18" charset="0"/>
                  <a:ea typeface="宋体" panose="02010600030101010101" pitchFamily="2" charset="-122"/>
                </a:rPr>
                <a:t>i</a:t>
              </a:r>
              <a:r>
                <a:rPr lang="en-US" altLang="zh-CN" b="1">
                  <a:solidFill>
                    <a:srgbClr val="000066"/>
                  </a:solidFill>
                  <a:effectLst/>
                  <a:latin typeface="Times New Roman" panose="02020603050405020304" pitchFamily="18" charset="0"/>
                  <a:ea typeface="宋体" panose="02010600030101010101" pitchFamily="2" charset="-122"/>
                </a:rPr>
                <a:t>)</a:t>
              </a:r>
              <a:endParaRPr lang="zh-CN" altLang="en-US" b="1">
                <a:solidFill>
                  <a:srgbClr val="000066"/>
                </a:solidFill>
                <a:effectLst/>
                <a:latin typeface="Times New Roman" panose="02020603050405020304" pitchFamily="18" charset="0"/>
                <a:ea typeface="宋体" panose="02010600030101010101" pitchFamily="2" charset="-122"/>
              </a:endParaRPr>
            </a:p>
          </p:txBody>
        </p:sp>
      </p:grpSp>
      <p:sp>
        <p:nvSpPr>
          <p:cNvPr id="171032" name="Text Box 24">
            <a:extLst>
              <a:ext uri="{FF2B5EF4-FFF2-40B4-BE49-F238E27FC236}">
                <a16:creationId xmlns:a16="http://schemas.microsoft.com/office/drawing/2014/main" id="{59D3693A-CED2-48E8-85FB-4B759FEC85F8}"/>
              </a:ext>
            </a:extLst>
          </p:cNvPr>
          <p:cNvSpPr txBox="1">
            <a:spLocks noChangeArrowheads="1"/>
          </p:cNvSpPr>
          <p:nvPr/>
        </p:nvSpPr>
        <p:spPr bwMode="auto">
          <a:xfrm>
            <a:off x="538163" y="2060575"/>
            <a:ext cx="81375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Char char="Ø"/>
            </a:pPr>
            <a:r>
              <a:rPr lang="zh-CN" altLang="en-US" sz="2400" b="1">
                <a:solidFill>
                  <a:srgbClr val="008080"/>
                </a:solidFill>
                <a:effectLst/>
                <a:latin typeface="楷体_GB2312" pitchFamily="49" charset="-122"/>
              </a:rPr>
              <a:t> 物体的运动可视为一系列事件的集合。</a:t>
            </a:r>
            <a:endParaRPr lang="zh-CN" altLang="en-US" sz="2400">
              <a:solidFill>
                <a:srgbClr val="008080"/>
              </a:solidFill>
              <a:effectLst/>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011"/>
                                        </p:tgtEl>
                                        <p:attrNameLst>
                                          <p:attrName>style.visibility</p:attrName>
                                        </p:attrNameLst>
                                      </p:cBhvr>
                                      <p:to>
                                        <p:strVal val="visible"/>
                                      </p:to>
                                    </p:set>
                                    <p:anim calcmode="lin" valueType="num">
                                      <p:cBhvr additive="base">
                                        <p:cTn id="7" dur="500" fill="hold"/>
                                        <p:tgtEl>
                                          <p:spTgt spid="171011"/>
                                        </p:tgtEl>
                                        <p:attrNameLst>
                                          <p:attrName>ppt_x</p:attrName>
                                        </p:attrNameLst>
                                      </p:cBhvr>
                                      <p:tavLst>
                                        <p:tav tm="0">
                                          <p:val>
                                            <p:strVal val="0-#ppt_w/2"/>
                                          </p:val>
                                        </p:tav>
                                        <p:tav tm="100000">
                                          <p:val>
                                            <p:strVal val="#ppt_x"/>
                                          </p:val>
                                        </p:tav>
                                      </p:tavLst>
                                    </p:anim>
                                    <p:anim calcmode="lin" valueType="num">
                                      <p:cBhvr additive="base">
                                        <p:cTn id="8" dur="500" fill="hold"/>
                                        <p:tgtEl>
                                          <p:spTgt spid="1710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1018"/>
                                        </p:tgtEl>
                                        <p:attrNameLst>
                                          <p:attrName>style.visibility</p:attrName>
                                        </p:attrNameLst>
                                      </p:cBhvr>
                                      <p:to>
                                        <p:strVal val="visible"/>
                                      </p:to>
                                    </p:set>
                                    <p:anim calcmode="lin" valueType="num">
                                      <p:cBhvr additive="base">
                                        <p:cTn id="13" dur="500" fill="hold"/>
                                        <p:tgtEl>
                                          <p:spTgt spid="171018"/>
                                        </p:tgtEl>
                                        <p:attrNameLst>
                                          <p:attrName>ppt_x</p:attrName>
                                        </p:attrNameLst>
                                      </p:cBhvr>
                                      <p:tavLst>
                                        <p:tav tm="0">
                                          <p:val>
                                            <p:strVal val="#ppt_x"/>
                                          </p:val>
                                        </p:tav>
                                        <p:tav tm="100000">
                                          <p:val>
                                            <p:strVal val="#ppt_x"/>
                                          </p:val>
                                        </p:tav>
                                      </p:tavLst>
                                    </p:anim>
                                    <p:anim calcmode="lin" valueType="num">
                                      <p:cBhvr additive="base">
                                        <p:cTn id="14" dur="500" fill="hold"/>
                                        <p:tgtEl>
                                          <p:spTgt spid="17101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1032"/>
                                        </p:tgtEl>
                                        <p:attrNameLst>
                                          <p:attrName>style.visibility</p:attrName>
                                        </p:attrNameLst>
                                      </p:cBhvr>
                                      <p:to>
                                        <p:strVal val="visible"/>
                                      </p:to>
                                    </p:set>
                                    <p:anim calcmode="lin" valueType="num">
                                      <p:cBhvr additive="base">
                                        <p:cTn id="19" dur="500" fill="hold"/>
                                        <p:tgtEl>
                                          <p:spTgt spid="171032"/>
                                        </p:tgtEl>
                                        <p:attrNameLst>
                                          <p:attrName>ppt_x</p:attrName>
                                        </p:attrNameLst>
                                      </p:cBhvr>
                                      <p:tavLst>
                                        <p:tav tm="0">
                                          <p:val>
                                            <p:strVal val="#ppt_x"/>
                                          </p:val>
                                        </p:tav>
                                        <p:tav tm="100000">
                                          <p:val>
                                            <p:strVal val="#ppt_x"/>
                                          </p:val>
                                        </p:tav>
                                      </p:tavLst>
                                    </p:anim>
                                    <p:anim calcmode="lin" valueType="num">
                                      <p:cBhvr additive="base">
                                        <p:cTn id="20" dur="500" fill="hold"/>
                                        <p:tgtEl>
                                          <p:spTgt spid="17103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1" presetClass="entr" presetSubtype="4" fill="hold" nodeType="clickEffect">
                                  <p:stCondLst>
                                    <p:cond delay="0"/>
                                  </p:stCondLst>
                                  <p:childTnLst>
                                    <p:set>
                                      <p:cBhvr>
                                        <p:cTn id="24" dur="1" fill="hold">
                                          <p:stCondLst>
                                            <p:cond delay="0"/>
                                          </p:stCondLst>
                                        </p:cTn>
                                        <p:tgtEl>
                                          <p:spTgt spid="171020"/>
                                        </p:tgtEl>
                                        <p:attrNameLst>
                                          <p:attrName>style.visibility</p:attrName>
                                        </p:attrNameLst>
                                      </p:cBhvr>
                                      <p:to>
                                        <p:strVal val="visible"/>
                                      </p:to>
                                    </p:set>
                                    <p:animEffect transition="in" filter="wheel(4)">
                                      <p:cBhvr>
                                        <p:cTn id="25" dur="500"/>
                                        <p:tgtEl>
                                          <p:spTgt spid="1710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171019"/>
                                        </p:tgtEl>
                                        <p:attrNameLst>
                                          <p:attrName>style.visibility</p:attrName>
                                        </p:attrNameLst>
                                      </p:cBhvr>
                                      <p:to>
                                        <p:strVal val="visible"/>
                                      </p:to>
                                    </p:set>
                                    <p:animEffect transition="in" filter="box(in)">
                                      <p:cBhvr>
                                        <p:cTn id="30" dur="500"/>
                                        <p:tgtEl>
                                          <p:spTgt spid="17101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171012"/>
                                        </p:tgtEl>
                                        <p:attrNameLst>
                                          <p:attrName>style.visibility</p:attrName>
                                        </p:attrNameLst>
                                      </p:cBhvr>
                                      <p:to>
                                        <p:strVal val="visible"/>
                                      </p:to>
                                    </p:set>
                                    <p:anim calcmode="lin" valueType="num">
                                      <p:cBhvr additive="base">
                                        <p:cTn id="35" dur="500" fill="hold"/>
                                        <p:tgtEl>
                                          <p:spTgt spid="171012"/>
                                        </p:tgtEl>
                                        <p:attrNameLst>
                                          <p:attrName>ppt_x</p:attrName>
                                        </p:attrNameLst>
                                      </p:cBhvr>
                                      <p:tavLst>
                                        <p:tav tm="0">
                                          <p:val>
                                            <p:strVal val="0-#ppt_w/2"/>
                                          </p:val>
                                        </p:tav>
                                        <p:tav tm="100000">
                                          <p:val>
                                            <p:strVal val="#ppt_x"/>
                                          </p:val>
                                        </p:tav>
                                      </p:tavLst>
                                    </p:anim>
                                    <p:anim calcmode="lin" valueType="num">
                                      <p:cBhvr additive="base">
                                        <p:cTn id="36" dur="500" fill="hold"/>
                                        <p:tgtEl>
                                          <p:spTgt spid="171012"/>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171015"/>
                                        </p:tgtEl>
                                        <p:attrNameLst>
                                          <p:attrName>style.visibility</p:attrName>
                                        </p:attrNameLst>
                                      </p:cBhvr>
                                      <p:to>
                                        <p:strVal val="visible"/>
                                      </p:to>
                                    </p:set>
                                    <p:anim calcmode="lin" valueType="num">
                                      <p:cBhvr additive="base">
                                        <p:cTn id="41" dur="500" fill="hold"/>
                                        <p:tgtEl>
                                          <p:spTgt spid="171015"/>
                                        </p:tgtEl>
                                        <p:attrNameLst>
                                          <p:attrName>ppt_x</p:attrName>
                                        </p:attrNameLst>
                                      </p:cBhvr>
                                      <p:tavLst>
                                        <p:tav tm="0">
                                          <p:val>
                                            <p:strVal val="0-#ppt_w/2"/>
                                          </p:val>
                                        </p:tav>
                                        <p:tav tm="100000">
                                          <p:val>
                                            <p:strVal val="#ppt_x"/>
                                          </p:val>
                                        </p:tav>
                                      </p:tavLst>
                                    </p:anim>
                                    <p:anim calcmode="lin" valueType="num">
                                      <p:cBhvr additive="base">
                                        <p:cTn id="42" dur="500" fill="hold"/>
                                        <p:tgtEl>
                                          <p:spTgt spid="1710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autoUpdateAnimBg="0"/>
      <p:bldP spid="171018" grpId="0"/>
      <p:bldP spid="171019" grpId="0"/>
      <p:bldP spid="1710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a:extLst>
              <a:ext uri="{FF2B5EF4-FFF2-40B4-BE49-F238E27FC236}">
                <a16:creationId xmlns:a16="http://schemas.microsoft.com/office/drawing/2014/main" id="{AB239CD0-7E05-4F21-875D-B5F1AA0F8B8E}"/>
              </a:ext>
            </a:extLst>
          </p:cNvPr>
          <p:cNvSpPr txBox="1">
            <a:spLocks noChangeArrowheads="1"/>
          </p:cNvSpPr>
          <p:nvPr/>
        </p:nvSpPr>
        <p:spPr bwMode="auto">
          <a:xfrm>
            <a:off x="693738" y="827088"/>
            <a:ext cx="409416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0000FF"/>
                </a:solidFill>
                <a:effectLst/>
                <a:latin typeface="黑体" panose="02010609060101010101" pitchFamily="49" charset="-122"/>
                <a:ea typeface="黑体" panose="02010609060101010101" pitchFamily="49" charset="-122"/>
              </a:rPr>
              <a:t>2.2 </a:t>
            </a:r>
            <a:r>
              <a:rPr kumimoji="1" lang="zh-CN" altLang="en-US" sz="2400" b="1">
                <a:solidFill>
                  <a:srgbClr val="0000FF"/>
                </a:solidFill>
                <a:effectLst/>
                <a:latin typeface="黑体" panose="02010609060101010101" pitchFamily="49" charset="-122"/>
                <a:ea typeface="黑体" panose="02010609060101010101" pitchFamily="49" charset="-122"/>
              </a:rPr>
              <a:t>伽利略坐标变换</a:t>
            </a:r>
          </a:p>
        </p:txBody>
      </p:sp>
      <p:grpSp>
        <p:nvGrpSpPr>
          <p:cNvPr id="172035" name="Group 3">
            <a:extLst>
              <a:ext uri="{FF2B5EF4-FFF2-40B4-BE49-F238E27FC236}">
                <a16:creationId xmlns:a16="http://schemas.microsoft.com/office/drawing/2014/main" id="{FC17DA41-C305-41E8-BC9E-DD3C566325AC}"/>
              </a:ext>
            </a:extLst>
          </p:cNvPr>
          <p:cNvGrpSpPr>
            <a:grpSpLocks/>
          </p:cNvGrpSpPr>
          <p:nvPr/>
        </p:nvGrpSpPr>
        <p:grpSpPr bwMode="auto">
          <a:xfrm>
            <a:off x="3563938" y="323850"/>
            <a:ext cx="5330825" cy="3325813"/>
            <a:chOff x="2245" y="119"/>
            <a:chExt cx="3358" cy="2095"/>
          </a:xfrm>
        </p:grpSpPr>
        <p:sp>
          <p:nvSpPr>
            <p:cNvPr id="172036" name="Line 4">
              <a:extLst>
                <a:ext uri="{FF2B5EF4-FFF2-40B4-BE49-F238E27FC236}">
                  <a16:creationId xmlns:a16="http://schemas.microsoft.com/office/drawing/2014/main" id="{028256AC-4E68-4376-8DFD-F1102C6EE57B}"/>
                </a:ext>
              </a:extLst>
            </p:cNvPr>
            <p:cNvSpPr>
              <a:spLocks noChangeShapeType="1"/>
            </p:cNvSpPr>
            <p:nvPr/>
          </p:nvSpPr>
          <p:spPr bwMode="auto">
            <a:xfrm flipV="1">
              <a:off x="2992" y="428"/>
              <a:ext cx="0" cy="96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37" name="Line 5">
              <a:extLst>
                <a:ext uri="{FF2B5EF4-FFF2-40B4-BE49-F238E27FC236}">
                  <a16:creationId xmlns:a16="http://schemas.microsoft.com/office/drawing/2014/main" id="{22A88CE2-1F15-4327-AB58-7E51CC4EA8E2}"/>
                </a:ext>
              </a:extLst>
            </p:cNvPr>
            <p:cNvSpPr>
              <a:spLocks noChangeShapeType="1"/>
            </p:cNvSpPr>
            <p:nvPr/>
          </p:nvSpPr>
          <p:spPr bwMode="auto">
            <a:xfrm>
              <a:off x="2992" y="1388"/>
              <a:ext cx="2496" cy="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38" name="Line 6">
              <a:extLst>
                <a:ext uri="{FF2B5EF4-FFF2-40B4-BE49-F238E27FC236}">
                  <a16:creationId xmlns:a16="http://schemas.microsoft.com/office/drawing/2014/main" id="{D5EEA6FC-9E4A-4745-AB08-1BC5D96AE2F4}"/>
                </a:ext>
              </a:extLst>
            </p:cNvPr>
            <p:cNvSpPr>
              <a:spLocks noChangeShapeType="1"/>
            </p:cNvSpPr>
            <p:nvPr/>
          </p:nvSpPr>
          <p:spPr bwMode="auto">
            <a:xfrm flipV="1">
              <a:off x="3543" y="428"/>
              <a:ext cx="0" cy="960"/>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39" name="Line 7">
              <a:extLst>
                <a:ext uri="{FF2B5EF4-FFF2-40B4-BE49-F238E27FC236}">
                  <a16:creationId xmlns:a16="http://schemas.microsoft.com/office/drawing/2014/main" id="{3B47D813-5930-489D-B07A-8AD53DCE2E19}"/>
                </a:ext>
              </a:extLst>
            </p:cNvPr>
            <p:cNvSpPr>
              <a:spLocks noChangeShapeType="1"/>
            </p:cNvSpPr>
            <p:nvPr/>
          </p:nvSpPr>
          <p:spPr bwMode="auto">
            <a:xfrm>
              <a:off x="3548" y="1394"/>
              <a:ext cx="1671" cy="7"/>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0" name="Line 8">
              <a:extLst>
                <a:ext uri="{FF2B5EF4-FFF2-40B4-BE49-F238E27FC236}">
                  <a16:creationId xmlns:a16="http://schemas.microsoft.com/office/drawing/2014/main" id="{567A4DE0-179F-45A2-B247-7F6C985FCCCC}"/>
                </a:ext>
              </a:extLst>
            </p:cNvPr>
            <p:cNvSpPr>
              <a:spLocks noChangeShapeType="1"/>
            </p:cNvSpPr>
            <p:nvPr/>
          </p:nvSpPr>
          <p:spPr bwMode="auto">
            <a:xfrm flipH="1">
              <a:off x="2971" y="1388"/>
              <a:ext cx="576" cy="594"/>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1" name="Line 9">
              <a:extLst>
                <a:ext uri="{FF2B5EF4-FFF2-40B4-BE49-F238E27FC236}">
                  <a16:creationId xmlns:a16="http://schemas.microsoft.com/office/drawing/2014/main" id="{129F7AB2-506B-4149-9C75-4EA3B89B3C5B}"/>
                </a:ext>
              </a:extLst>
            </p:cNvPr>
            <p:cNvSpPr>
              <a:spLocks noChangeShapeType="1"/>
            </p:cNvSpPr>
            <p:nvPr/>
          </p:nvSpPr>
          <p:spPr bwMode="auto">
            <a:xfrm flipH="1">
              <a:off x="2378" y="1388"/>
              <a:ext cx="614" cy="5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2" name="Line 10">
              <a:extLst>
                <a:ext uri="{FF2B5EF4-FFF2-40B4-BE49-F238E27FC236}">
                  <a16:creationId xmlns:a16="http://schemas.microsoft.com/office/drawing/2014/main" id="{6BD3FA64-E3D3-4CF1-A807-358655E2ADD9}"/>
                </a:ext>
              </a:extLst>
            </p:cNvPr>
            <p:cNvSpPr>
              <a:spLocks noChangeShapeType="1"/>
            </p:cNvSpPr>
            <p:nvPr/>
          </p:nvSpPr>
          <p:spPr bwMode="auto">
            <a:xfrm flipV="1">
              <a:off x="3379" y="1245"/>
              <a:ext cx="147"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3" name="Line 11">
              <a:extLst>
                <a:ext uri="{FF2B5EF4-FFF2-40B4-BE49-F238E27FC236}">
                  <a16:creationId xmlns:a16="http://schemas.microsoft.com/office/drawing/2014/main" id="{FB4C8E55-D8BD-4BA0-A7A2-187D33CEB1E9}"/>
                </a:ext>
              </a:extLst>
            </p:cNvPr>
            <p:cNvSpPr>
              <a:spLocks noChangeShapeType="1"/>
            </p:cNvSpPr>
            <p:nvPr/>
          </p:nvSpPr>
          <p:spPr bwMode="auto">
            <a:xfrm flipH="1" flipV="1">
              <a:off x="2992" y="1245"/>
              <a:ext cx="161"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172044" name="Object 12">
                  <a:extLst>
                    <a:ext uri="{FF2B5EF4-FFF2-40B4-BE49-F238E27FC236}">
                      <a16:creationId xmlns:a16="http://schemas.microsoft.com/office/drawing/2014/main" id="{D5D790A4-C85F-4A26-AB31-6BE57FFA9593}"/>
                    </a:ext>
                  </a:extLst>
                </p:cNvPr>
                <p:cNvSpPr txBox="1"/>
                <p:nvPr/>
              </p:nvSpPr>
              <p:spPr bwMode="auto">
                <a:xfrm>
                  <a:off x="3697" y="407"/>
                  <a:ext cx="214" cy="272"/>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s</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xmlns="">
            <p:sp>
              <p:nvSpPr>
                <p:cNvPr id="172044" name="Object 12">
                  <a:extLst>
                    <a:ext uri="{FF2B5EF4-FFF2-40B4-BE49-F238E27FC236}">
                      <a16:creationId xmlns:a16="http://schemas.microsoft.com/office/drawing/2014/main" id="{D5D790A4-C85F-4A26-AB31-6BE57FFA9593}"/>
                    </a:ext>
                  </a:extLst>
                </p:cNvPr>
                <p:cNvSpPr txBox="1">
                  <a:spLocks noRot="1" noChangeAspect="1" noMove="1" noResize="1" noEditPoints="1" noAdjustHandles="1" noChangeArrowheads="1" noChangeShapeType="1" noTextEdit="1"/>
                </p:cNvSpPr>
                <p:nvPr/>
              </p:nvSpPr>
              <p:spPr bwMode="auto">
                <a:xfrm>
                  <a:off x="3697" y="407"/>
                  <a:ext cx="214" cy="272"/>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172045" name="AutoShape 13">
              <a:extLst>
                <a:ext uri="{FF2B5EF4-FFF2-40B4-BE49-F238E27FC236}">
                  <a16:creationId xmlns:a16="http://schemas.microsoft.com/office/drawing/2014/main" id="{C88CCF45-1548-4374-B867-9916C65FE69A}"/>
                </a:ext>
              </a:extLst>
            </p:cNvPr>
            <p:cNvSpPr>
              <a:spLocks noChangeArrowheads="1"/>
            </p:cNvSpPr>
            <p:nvPr/>
          </p:nvSpPr>
          <p:spPr bwMode="auto">
            <a:xfrm>
              <a:off x="4604" y="565"/>
              <a:ext cx="192" cy="192"/>
            </a:xfrm>
            <a:prstGeom prst="irregularSeal1">
              <a:avLst/>
            </a:prstGeom>
            <a:solidFill>
              <a:srgbClr val="FF0000"/>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6" name="Text Box 14">
              <a:extLst>
                <a:ext uri="{FF2B5EF4-FFF2-40B4-BE49-F238E27FC236}">
                  <a16:creationId xmlns:a16="http://schemas.microsoft.com/office/drawing/2014/main" id="{C4C5C70E-0A8F-4085-8C50-37741659EE5B}"/>
                </a:ext>
              </a:extLst>
            </p:cNvPr>
            <p:cNvSpPr txBox="1">
              <a:spLocks noChangeArrowheads="1"/>
            </p:cNvSpPr>
            <p:nvPr/>
          </p:nvSpPr>
          <p:spPr bwMode="auto">
            <a:xfrm>
              <a:off x="3134" y="1092"/>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ut</a:t>
              </a:r>
            </a:p>
          </p:txBody>
        </p:sp>
        <p:sp>
          <p:nvSpPr>
            <p:cNvPr id="172047" name="Text Box 15">
              <a:extLst>
                <a:ext uri="{FF2B5EF4-FFF2-40B4-BE49-F238E27FC236}">
                  <a16:creationId xmlns:a16="http://schemas.microsoft.com/office/drawing/2014/main" id="{8F66801D-75FE-43CB-9CED-3A0F698D92BD}"/>
                </a:ext>
              </a:extLst>
            </p:cNvPr>
            <p:cNvSpPr txBox="1">
              <a:spLocks noChangeArrowheads="1"/>
            </p:cNvSpPr>
            <p:nvPr/>
          </p:nvSpPr>
          <p:spPr bwMode="auto">
            <a:xfrm>
              <a:off x="5376" y="1315"/>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x</a:t>
              </a:r>
            </a:p>
          </p:txBody>
        </p:sp>
        <p:sp>
          <p:nvSpPr>
            <p:cNvPr id="172048" name="Text Box 16">
              <a:extLst>
                <a:ext uri="{FF2B5EF4-FFF2-40B4-BE49-F238E27FC236}">
                  <a16:creationId xmlns:a16="http://schemas.microsoft.com/office/drawing/2014/main" id="{8A2ED8EC-7913-4284-A6AB-AA2B420FCDAD}"/>
                </a:ext>
              </a:extLst>
            </p:cNvPr>
            <p:cNvSpPr txBox="1">
              <a:spLocks noChangeArrowheads="1"/>
            </p:cNvSpPr>
            <p:nvPr/>
          </p:nvSpPr>
          <p:spPr bwMode="auto">
            <a:xfrm>
              <a:off x="5013" y="1360"/>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x</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49" name="Text Box 17">
              <a:extLst>
                <a:ext uri="{FF2B5EF4-FFF2-40B4-BE49-F238E27FC236}">
                  <a16:creationId xmlns:a16="http://schemas.microsoft.com/office/drawing/2014/main" id="{D5CC395A-3BCE-4A86-9DA2-3D7F9AEBB9E5}"/>
                </a:ext>
              </a:extLst>
            </p:cNvPr>
            <p:cNvSpPr txBox="1">
              <a:spLocks noChangeArrowheads="1"/>
            </p:cNvSpPr>
            <p:nvPr/>
          </p:nvSpPr>
          <p:spPr bwMode="auto">
            <a:xfrm>
              <a:off x="4558" y="361"/>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00FF"/>
                  </a:solidFill>
                  <a:effectLst/>
                  <a:latin typeface="Times New Roman" panose="02020603050405020304" pitchFamily="18" charset="0"/>
                  <a:ea typeface="宋体" panose="02010600030101010101" pitchFamily="2" charset="-122"/>
                </a:rPr>
                <a:t>P</a:t>
              </a:r>
            </a:p>
          </p:txBody>
        </p:sp>
        <p:sp>
          <p:nvSpPr>
            <p:cNvPr id="172050" name="Line 18">
              <a:extLst>
                <a:ext uri="{FF2B5EF4-FFF2-40B4-BE49-F238E27FC236}">
                  <a16:creationId xmlns:a16="http://schemas.microsoft.com/office/drawing/2014/main" id="{13271ACA-1D84-4929-8EF8-833EA1765127}"/>
                </a:ext>
              </a:extLst>
            </p:cNvPr>
            <p:cNvSpPr>
              <a:spLocks noChangeShapeType="1"/>
            </p:cNvSpPr>
            <p:nvPr/>
          </p:nvSpPr>
          <p:spPr bwMode="auto">
            <a:xfrm>
              <a:off x="4704" y="793"/>
              <a:ext cx="0" cy="861"/>
            </a:xfrm>
            <a:prstGeom prst="line">
              <a:avLst/>
            </a:prstGeom>
            <a:noFill/>
            <a:ln w="9525">
              <a:solidFill>
                <a:srgbClr val="0000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1" name="Line 19">
              <a:extLst>
                <a:ext uri="{FF2B5EF4-FFF2-40B4-BE49-F238E27FC236}">
                  <a16:creationId xmlns:a16="http://schemas.microsoft.com/office/drawing/2014/main" id="{3B06CF7C-ACAB-434B-8DDE-49E1AB068C10}"/>
                </a:ext>
              </a:extLst>
            </p:cNvPr>
            <p:cNvSpPr>
              <a:spLocks noChangeShapeType="1"/>
            </p:cNvSpPr>
            <p:nvPr/>
          </p:nvSpPr>
          <p:spPr bwMode="auto">
            <a:xfrm flipH="1" flipV="1">
              <a:off x="3561" y="1245"/>
              <a:ext cx="544"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2" name="Line 20">
              <a:extLst>
                <a:ext uri="{FF2B5EF4-FFF2-40B4-BE49-F238E27FC236}">
                  <a16:creationId xmlns:a16="http://schemas.microsoft.com/office/drawing/2014/main" id="{0DFF7A96-59EF-4860-9B68-D05A8FC2A5FF}"/>
                </a:ext>
              </a:extLst>
            </p:cNvPr>
            <p:cNvSpPr>
              <a:spLocks noChangeShapeType="1"/>
            </p:cNvSpPr>
            <p:nvPr/>
          </p:nvSpPr>
          <p:spPr bwMode="auto">
            <a:xfrm flipV="1">
              <a:off x="4332" y="1245"/>
              <a:ext cx="608"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3" name="Text Box 21">
              <a:extLst>
                <a:ext uri="{FF2B5EF4-FFF2-40B4-BE49-F238E27FC236}">
                  <a16:creationId xmlns:a16="http://schemas.microsoft.com/office/drawing/2014/main" id="{0C36EA89-85ED-45E7-B425-9C6A53AD2DF2}"/>
                </a:ext>
              </a:extLst>
            </p:cNvPr>
            <p:cNvSpPr txBox="1">
              <a:spLocks noChangeArrowheads="1"/>
            </p:cNvSpPr>
            <p:nvPr/>
          </p:nvSpPr>
          <p:spPr bwMode="auto">
            <a:xfrm>
              <a:off x="2790" y="192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z</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54" name="Text Box 22">
              <a:extLst>
                <a:ext uri="{FF2B5EF4-FFF2-40B4-BE49-F238E27FC236}">
                  <a16:creationId xmlns:a16="http://schemas.microsoft.com/office/drawing/2014/main" id="{5DCCCAF7-F99C-40D3-AFC6-5AC959BE0F71}"/>
                </a:ext>
              </a:extLst>
            </p:cNvPr>
            <p:cNvSpPr txBox="1">
              <a:spLocks noChangeArrowheads="1"/>
            </p:cNvSpPr>
            <p:nvPr/>
          </p:nvSpPr>
          <p:spPr bwMode="auto">
            <a:xfrm>
              <a:off x="2245" y="1880"/>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z</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72055" name="Text Box 23">
              <a:extLst>
                <a:ext uri="{FF2B5EF4-FFF2-40B4-BE49-F238E27FC236}">
                  <a16:creationId xmlns:a16="http://schemas.microsoft.com/office/drawing/2014/main" id="{9D32DAD7-D684-4D56-8DD6-C38B3DF03084}"/>
                </a:ext>
              </a:extLst>
            </p:cNvPr>
            <p:cNvSpPr txBox="1">
              <a:spLocks noChangeArrowheads="1"/>
            </p:cNvSpPr>
            <p:nvPr/>
          </p:nvSpPr>
          <p:spPr bwMode="auto">
            <a:xfrm>
              <a:off x="2880" y="136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FF0000"/>
                  </a:solidFill>
                  <a:effectLst/>
                  <a:latin typeface="Times New Roman" panose="02020603050405020304" pitchFamily="18" charset="0"/>
                  <a:ea typeface="宋体" panose="02010600030101010101" pitchFamily="2" charset="-122"/>
                </a:rPr>
                <a:t>O</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72056" name="Text Box 24">
              <a:extLst>
                <a:ext uri="{FF2B5EF4-FFF2-40B4-BE49-F238E27FC236}">
                  <a16:creationId xmlns:a16="http://schemas.microsoft.com/office/drawing/2014/main" id="{E6638C7F-558B-4CA9-A1A1-55E70E0B07EE}"/>
                </a:ext>
              </a:extLst>
            </p:cNvPr>
            <p:cNvSpPr txBox="1">
              <a:spLocks noChangeArrowheads="1"/>
            </p:cNvSpPr>
            <p:nvPr/>
          </p:nvSpPr>
          <p:spPr bwMode="auto">
            <a:xfrm>
              <a:off x="3425" y="136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8080"/>
                  </a:solidFill>
                  <a:effectLst/>
                  <a:latin typeface="Times New Roman" panose="02020603050405020304" pitchFamily="18" charset="0"/>
                  <a:ea typeface="宋体" panose="02010600030101010101" pitchFamily="2" charset="-122"/>
                </a:rPr>
                <a:t>O</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57" name="Line 25">
              <a:extLst>
                <a:ext uri="{FF2B5EF4-FFF2-40B4-BE49-F238E27FC236}">
                  <a16:creationId xmlns:a16="http://schemas.microsoft.com/office/drawing/2014/main" id="{99F676CF-3772-40E9-9E3C-8D58CDFACF08}"/>
                </a:ext>
              </a:extLst>
            </p:cNvPr>
            <p:cNvSpPr>
              <a:spLocks noChangeShapeType="1"/>
            </p:cNvSpPr>
            <p:nvPr/>
          </p:nvSpPr>
          <p:spPr bwMode="auto">
            <a:xfrm flipH="1">
              <a:off x="4553" y="1400"/>
              <a:ext cx="396" cy="428"/>
            </a:xfrm>
            <a:prstGeom prst="line">
              <a:avLst/>
            </a:prstGeom>
            <a:noFill/>
            <a:ln w="19050">
              <a:solidFill>
                <a:srgbClr val="000066"/>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8" name="Line 26">
              <a:extLst>
                <a:ext uri="{FF2B5EF4-FFF2-40B4-BE49-F238E27FC236}">
                  <a16:creationId xmlns:a16="http://schemas.microsoft.com/office/drawing/2014/main" id="{D17C290C-8854-4C77-B7E9-3AAC327247EB}"/>
                </a:ext>
              </a:extLst>
            </p:cNvPr>
            <p:cNvSpPr>
              <a:spLocks noChangeShapeType="1"/>
            </p:cNvSpPr>
            <p:nvPr/>
          </p:nvSpPr>
          <p:spPr bwMode="auto">
            <a:xfrm>
              <a:off x="4949" y="1155"/>
              <a:ext cx="0" cy="181"/>
            </a:xfrm>
            <a:prstGeom prst="line">
              <a:avLst/>
            </a:prstGeom>
            <a:noFill/>
            <a:ln w="952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9" name="Line 27">
              <a:extLst>
                <a:ext uri="{FF2B5EF4-FFF2-40B4-BE49-F238E27FC236}">
                  <a16:creationId xmlns:a16="http://schemas.microsoft.com/office/drawing/2014/main" id="{D904E35E-3C9C-48A6-B3E2-657402EFCA8F}"/>
                </a:ext>
              </a:extLst>
            </p:cNvPr>
            <p:cNvSpPr>
              <a:spLocks noChangeShapeType="1"/>
            </p:cNvSpPr>
            <p:nvPr/>
          </p:nvSpPr>
          <p:spPr bwMode="auto">
            <a:xfrm>
              <a:off x="2753" y="1663"/>
              <a:ext cx="1956" cy="0"/>
            </a:xfrm>
            <a:prstGeom prst="line">
              <a:avLst/>
            </a:prstGeom>
            <a:noFill/>
            <a:ln w="19050">
              <a:solidFill>
                <a:srgbClr val="000066"/>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60" name="Line 28">
              <a:extLst>
                <a:ext uri="{FF2B5EF4-FFF2-40B4-BE49-F238E27FC236}">
                  <a16:creationId xmlns:a16="http://schemas.microsoft.com/office/drawing/2014/main" id="{C3CC1974-380B-43C8-9941-C0E6C85D891E}"/>
                </a:ext>
              </a:extLst>
            </p:cNvPr>
            <p:cNvSpPr>
              <a:spLocks noChangeShapeType="1"/>
            </p:cNvSpPr>
            <p:nvPr/>
          </p:nvSpPr>
          <p:spPr bwMode="auto">
            <a:xfrm flipH="1">
              <a:off x="2563" y="1790"/>
              <a:ext cx="998" cy="0"/>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61" name="Line 29">
              <a:extLst>
                <a:ext uri="{FF2B5EF4-FFF2-40B4-BE49-F238E27FC236}">
                  <a16:creationId xmlns:a16="http://schemas.microsoft.com/office/drawing/2014/main" id="{7EE82CFD-BA0D-4B1D-9DD0-EBAC4F018673}"/>
                </a:ext>
              </a:extLst>
            </p:cNvPr>
            <p:cNvSpPr>
              <a:spLocks noChangeShapeType="1"/>
            </p:cNvSpPr>
            <p:nvPr/>
          </p:nvSpPr>
          <p:spPr bwMode="auto">
            <a:xfrm>
              <a:off x="3788" y="1790"/>
              <a:ext cx="816" cy="0"/>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62" name="Text Box 30">
              <a:extLst>
                <a:ext uri="{FF2B5EF4-FFF2-40B4-BE49-F238E27FC236}">
                  <a16:creationId xmlns:a16="http://schemas.microsoft.com/office/drawing/2014/main" id="{9812E9F9-7562-4873-8B18-21E44009F766}"/>
                </a:ext>
              </a:extLst>
            </p:cNvPr>
            <p:cNvSpPr txBox="1">
              <a:spLocks noChangeArrowheads="1"/>
            </p:cNvSpPr>
            <p:nvPr/>
          </p:nvSpPr>
          <p:spPr bwMode="auto">
            <a:xfrm>
              <a:off x="3561" y="1638"/>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x</a:t>
              </a:r>
            </a:p>
          </p:txBody>
        </p:sp>
        <p:sp>
          <p:nvSpPr>
            <p:cNvPr id="172063" name="Text Box 31">
              <a:extLst>
                <a:ext uri="{FF2B5EF4-FFF2-40B4-BE49-F238E27FC236}">
                  <a16:creationId xmlns:a16="http://schemas.microsoft.com/office/drawing/2014/main" id="{358D7F38-5A82-4189-B6F5-31563BAD7879}"/>
                </a:ext>
              </a:extLst>
            </p:cNvPr>
            <p:cNvSpPr txBox="1">
              <a:spLocks noChangeArrowheads="1"/>
            </p:cNvSpPr>
            <p:nvPr/>
          </p:nvSpPr>
          <p:spPr bwMode="auto">
            <a:xfrm>
              <a:off x="2925" y="179"/>
              <a:ext cx="4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y</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72064" name="Text Box 32">
              <a:extLst>
                <a:ext uri="{FF2B5EF4-FFF2-40B4-BE49-F238E27FC236}">
                  <a16:creationId xmlns:a16="http://schemas.microsoft.com/office/drawing/2014/main" id="{F5B41ACA-0B92-4D5D-9C75-03D7BD69D23F}"/>
                </a:ext>
              </a:extLst>
            </p:cNvPr>
            <p:cNvSpPr txBox="1">
              <a:spLocks noChangeArrowheads="1"/>
            </p:cNvSpPr>
            <p:nvPr/>
          </p:nvSpPr>
          <p:spPr bwMode="auto">
            <a:xfrm>
              <a:off x="3470" y="119"/>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y</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65" name="Text Box 33">
              <a:extLst>
                <a:ext uri="{FF2B5EF4-FFF2-40B4-BE49-F238E27FC236}">
                  <a16:creationId xmlns:a16="http://schemas.microsoft.com/office/drawing/2014/main" id="{7840AAB1-894C-46E8-9FC1-6275DBEBDB16}"/>
                </a:ext>
              </a:extLst>
            </p:cNvPr>
            <p:cNvSpPr txBox="1">
              <a:spLocks noChangeArrowheads="1"/>
            </p:cNvSpPr>
            <p:nvPr/>
          </p:nvSpPr>
          <p:spPr bwMode="auto">
            <a:xfrm>
              <a:off x="4106" y="1088"/>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x</a:t>
              </a:r>
              <a:r>
                <a:rPr lang="en-US" altLang="zh-CN" sz="2400">
                  <a:solidFill>
                    <a:srgbClr val="000066"/>
                  </a:solidFill>
                  <a:effectLst/>
                  <a:latin typeface="Times New Roman" panose="02020603050405020304" pitchFamily="18" charset="0"/>
                  <a:ea typeface="宋体" panose="02010600030101010101" pitchFamily="2" charset="-122"/>
                  <a:sym typeface="Symbol" panose="05050102010706020507" pitchFamily="18" charset="2"/>
                </a:rPr>
                <a:t></a:t>
              </a:r>
            </a:p>
          </p:txBody>
        </p:sp>
        <mc:AlternateContent xmlns:mc="http://schemas.openxmlformats.org/markup-compatibility/2006" xmlns:a14="http://schemas.microsoft.com/office/drawing/2010/main">
          <mc:Choice Requires="a14">
            <p:sp>
              <p:nvSpPr>
                <p:cNvPr id="172066" name="Object 34">
                  <a:extLst>
                    <a:ext uri="{FF2B5EF4-FFF2-40B4-BE49-F238E27FC236}">
                      <a16:creationId xmlns:a16="http://schemas.microsoft.com/office/drawing/2014/main" id="{D8B33D47-712E-412F-95C5-163EF0CE16A9}"/>
                    </a:ext>
                  </a:extLst>
                </p:cNvPr>
                <p:cNvSpPr txBox="1"/>
                <p:nvPr/>
              </p:nvSpPr>
              <p:spPr bwMode="auto">
                <a:xfrm>
                  <a:off x="3141" y="463"/>
                  <a:ext cx="166" cy="228"/>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s</m:t>
                        </m:r>
                      </m:oMath>
                    </m:oMathPara>
                  </a14:m>
                  <a:endParaRPr lang="zh-CN" altLang="en-US"/>
                </a:p>
              </p:txBody>
            </p:sp>
          </mc:Choice>
          <mc:Fallback xmlns="">
            <p:sp>
              <p:nvSpPr>
                <p:cNvPr id="172066" name="Object 34">
                  <a:extLst>
                    <a:ext uri="{FF2B5EF4-FFF2-40B4-BE49-F238E27FC236}">
                      <a16:creationId xmlns:a16="http://schemas.microsoft.com/office/drawing/2014/main" id="{D8B33D47-712E-412F-95C5-163EF0CE16A9}"/>
                    </a:ext>
                  </a:extLst>
                </p:cNvPr>
                <p:cNvSpPr txBox="1">
                  <a:spLocks noRot="1" noChangeAspect="1" noMove="1" noResize="1" noEditPoints="1" noAdjustHandles="1" noChangeArrowheads="1" noChangeShapeType="1" noTextEdit="1"/>
                </p:cNvSpPr>
                <p:nvPr/>
              </p:nvSpPr>
              <p:spPr bwMode="auto">
                <a:xfrm>
                  <a:off x="3141" y="463"/>
                  <a:ext cx="166" cy="228"/>
                </a:xfrm>
                <a:prstGeom prst="rect">
                  <a:avLst/>
                </a:prstGeom>
                <a:blipFill>
                  <a:blip r:embed="rId3"/>
                  <a:stretch>
                    <a:fillRect/>
                  </a:stretch>
                </a:blipFill>
                <a:ln>
                  <a:noFill/>
                </a:ln>
                <a:effectLst/>
              </p:spPr>
              <p:txBody>
                <a:bodyPr/>
                <a:lstStyle/>
                <a:p>
                  <a:r>
                    <a:rPr lang="zh-CN" altLang="en-US">
                      <a:noFill/>
                    </a:rPr>
                    <a:t> </a:t>
                  </a:r>
                </a:p>
              </p:txBody>
            </p:sp>
          </mc:Fallback>
        </mc:AlternateContent>
      </p:grpSp>
      <p:grpSp>
        <p:nvGrpSpPr>
          <p:cNvPr id="172067" name="Group 35">
            <a:extLst>
              <a:ext uri="{FF2B5EF4-FFF2-40B4-BE49-F238E27FC236}">
                <a16:creationId xmlns:a16="http://schemas.microsoft.com/office/drawing/2014/main" id="{CD3CD096-997E-402B-BBCB-2C40DB0C70E8}"/>
              </a:ext>
            </a:extLst>
          </p:cNvPr>
          <p:cNvGrpSpPr>
            <a:grpSpLocks/>
          </p:cNvGrpSpPr>
          <p:nvPr/>
        </p:nvGrpSpPr>
        <p:grpSpPr bwMode="auto">
          <a:xfrm>
            <a:off x="754062" y="1680869"/>
            <a:ext cx="2376488" cy="453778"/>
            <a:chOff x="1076" y="2689"/>
            <a:chExt cx="1853" cy="351"/>
          </a:xfrm>
        </p:grpSpPr>
        <mc:AlternateContent xmlns:mc="http://schemas.openxmlformats.org/markup-compatibility/2006" xmlns:a14="http://schemas.microsoft.com/office/drawing/2010/main">
          <mc:Choice Requires="a14">
            <p:sp>
              <p:nvSpPr>
                <p:cNvPr id="172068" name="Object 36">
                  <a:extLst>
                    <a:ext uri="{FF2B5EF4-FFF2-40B4-BE49-F238E27FC236}">
                      <a16:creationId xmlns:a16="http://schemas.microsoft.com/office/drawing/2014/main" id="{2D253788-D8D0-4956-9895-FB55FDF82F2C}"/>
                    </a:ext>
                  </a:extLst>
                </p:cNvPr>
                <p:cNvSpPr txBox="1"/>
                <p:nvPr/>
              </p:nvSpPr>
              <p:spPr bwMode="auto">
                <a:xfrm>
                  <a:off x="1328" y="2689"/>
                  <a:ext cx="1601" cy="333"/>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sz="2400" i="0">
                            <a:solidFill>
                              <a:srgbClr val="000000"/>
                            </a:solidFill>
                            <a:latin typeface="Cambria Math" panose="02040503050406030204" pitchFamily="18" charset="0"/>
                          </a:rPr>
                          <m:t>P</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𝑥</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𝑦</m:t>
                        </m:r>
                        <m:r>
                          <m:rPr>
                            <m:nor/>
                          </m:rPr>
                          <a:rPr lang="zh-CN" altLang="en-US" sz="2400" i="0">
                            <a:solidFill>
                              <a:srgbClr val="000000"/>
                            </a:solidFill>
                            <a:latin typeface="Cambria Math" panose="02040503050406030204" pitchFamily="18" charset="0"/>
                          </a:rPr>
                          <m:t> , </m:t>
                        </m:r>
                        <m:r>
                          <a:rPr lang="zh-CN" altLang="en-US" sz="2400" i="1">
                            <a:solidFill>
                              <a:srgbClr val="000000"/>
                            </a:solidFill>
                            <a:latin typeface="Cambria Math" panose="02040503050406030204" pitchFamily="18" charset="0"/>
                          </a:rPr>
                          <m:t>𝑧</m:t>
                        </m:r>
                        <m:r>
                          <m:rPr>
                            <m:nor/>
                          </m:rPr>
                          <a:rPr lang="zh-CN" altLang="en-US" sz="2400" i="0">
                            <a:solidFill>
                              <a:srgbClr val="000000"/>
                            </a:solidFill>
                            <a:latin typeface="Cambria Math" panose="02040503050406030204" pitchFamily="18" charset="0"/>
                          </a:rPr>
                          <m:t> , </m:t>
                        </m:r>
                        <m:r>
                          <a:rPr lang="zh-CN" altLang="en-US" sz="2400" i="1">
                            <a:solidFill>
                              <a:srgbClr val="000000"/>
                            </a:solidFill>
                            <a:latin typeface="Cambria Math" panose="02040503050406030204" pitchFamily="18" charset="0"/>
                          </a:rPr>
                          <m:t>𝑡</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172068" name="Object 36">
                  <a:extLst>
                    <a:ext uri="{FF2B5EF4-FFF2-40B4-BE49-F238E27FC236}">
                      <a16:creationId xmlns:a16="http://schemas.microsoft.com/office/drawing/2014/main" id="{2D253788-D8D0-4956-9895-FB55FDF82F2C}"/>
                    </a:ext>
                  </a:extLst>
                </p:cNvPr>
                <p:cNvSpPr txBox="1">
                  <a:spLocks noRot="1" noChangeAspect="1" noMove="1" noResize="1" noEditPoints="1" noAdjustHandles="1" noChangeArrowheads="1" noChangeShapeType="1" noTextEdit="1"/>
                </p:cNvSpPr>
                <p:nvPr/>
              </p:nvSpPr>
              <p:spPr bwMode="auto">
                <a:xfrm>
                  <a:off x="1328" y="2689"/>
                  <a:ext cx="1601" cy="333"/>
                </a:xfrm>
                <a:prstGeom prst="rect">
                  <a:avLst/>
                </a:prstGeom>
                <a:blipFill>
                  <a:blip r:embed="rId4"/>
                  <a:stretch>
                    <a:fillRect b="-1714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69" name="Object 37">
                  <a:extLst>
                    <a:ext uri="{FF2B5EF4-FFF2-40B4-BE49-F238E27FC236}">
                      <a16:creationId xmlns:a16="http://schemas.microsoft.com/office/drawing/2014/main" id="{328AE0C1-2FD7-4263-8810-E43E90E4A5F5}"/>
                    </a:ext>
                  </a:extLst>
                </p:cNvPr>
                <p:cNvSpPr txBox="1"/>
                <p:nvPr/>
              </p:nvSpPr>
              <p:spPr bwMode="auto">
                <a:xfrm>
                  <a:off x="1076" y="2743"/>
                  <a:ext cx="297" cy="29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m:rPr>
                            <m:sty m:val="p"/>
                          </m:rPr>
                          <a:rPr lang="zh-CN" altLang="en-US" sz="1600" i="0">
                            <a:solidFill>
                              <a:srgbClr val="000000"/>
                            </a:solidFill>
                            <a:latin typeface="Cambria Math" panose="02040503050406030204" pitchFamily="18" charset="0"/>
                          </a:rPr>
                          <m:t>S</m:t>
                        </m:r>
                        <m:func>
                          <m:funcPr>
                            <m:ctrlPr>
                              <a:rPr lang="zh-CN" altLang="en-US" sz="1600" i="1">
                                <a:solidFill>
                                  <a:srgbClr val="000000"/>
                                </a:solidFill>
                                <a:latin typeface="Cambria Math" panose="02040503050406030204" pitchFamily="18" charset="0"/>
                              </a:rPr>
                            </m:ctrlPr>
                          </m:funcPr>
                          <m:fName>
                            <m:r>
                              <a:rPr lang="zh-CN" altLang="en-US" sz="1600" i="0">
                                <a:solidFill>
                                  <a:srgbClr val="000000"/>
                                </a:solidFill>
                                <a:latin typeface="Cambria Math" panose="02040503050406030204" pitchFamily="18" charset="0"/>
                              </a:rPr>
                              <m:t>:</m:t>
                            </m:r>
                          </m:fName>
                          <m:e/>
                        </m:func>
                      </m:oMath>
                    </m:oMathPara>
                  </a14:m>
                  <a:endParaRPr lang="zh-CN" altLang="en-US" sz="1600" dirty="0"/>
                </a:p>
              </p:txBody>
            </p:sp>
          </mc:Choice>
          <mc:Fallback xmlns="">
            <p:sp>
              <p:nvSpPr>
                <p:cNvPr id="172069" name="Object 37">
                  <a:extLst>
                    <a:ext uri="{FF2B5EF4-FFF2-40B4-BE49-F238E27FC236}">
                      <a16:creationId xmlns:a16="http://schemas.microsoft.com/office/drawing/2014/main" id="{328AE0C1-2FD7-4263-8810-E43E90E4A5F5}"/>
                    </a:ext>
                  </a:extLst>
                </p:cNvPr>
                <p:cNvSpPr txBox="1">
                  <a:spLocks noRot="1" noChangeAspect="1" noMove="1" noResize="1" noEditPoints="1" noAdjustHandles="1" noChangeArrowheads="1" noChangeShapeType="1" noTextEdit="1"/>
                </p:cNvSpPr>
                <p:nvPr/>
              </p:nvSpPr>
              <p:spPr bwMode="auto">
                <a:xfrm>
                  <a:off x="1076" y="2743"/>
                  <a:ext cx="297" cy="297"/>
                </a:xfrm>
                <a:prstGeom prst="rect">
                  <a:avLst/>
                </a:prstGeom>
                <a:blipFill>
                  <a:blip r:embed="rId5"/>
                  <a:stretch>
                    <a:fillRect/>
                  </a:stretch>
                </a:blipFill>
                <a:ln>
                  <a:noFill/>
                </a:ln>
                <a:effectLst/>
              </p:spPr>
              <p:txBody>
                <a:bodyPr/>
                <a:lstStyle/>
                <a:p>
                  <a:r>
                    <a:rPr lang="zh-CN" altLang="en-US">
                      <a:noFill/>
                    </a:rPr>
                    <a:t> </a:t>
                  </a:r>
                </a:p>
              </p:txBody>
            </p:sp>
          </mc:Fallback>
        </mc:AlternateContent>
      </p:grpSp>
      <p:grpSp>
        <p:nvGrpSpPr>
          <p:cNvPr id="172070" name="Group 38">
            <a:extLst>
              <a:ext uri="{FF2B5EF4-FFF2-40B4-BE49-F238E27FC236}">
                <a16:creationId xmlns:a16="http://schemas.microsoft.com/office/drawing/2014/main" id="{0DEEBC4C-D5DB-4743-8477-4308917ED494}"/>
              </a:ext>
            </a:extLst>
          </p:cNvPr>
          <p:cNvGrpSpPr>
            <a:grpSpLocks/>
          </p:cNvGrpSpPr>
          <p:nvPr/>
        </p:nvGrpSpPr>
        <p:grpSpPr bwMode="auto">
          <a:xfrm>
            <a:off x="708610" y="2413000"/>
            <a:ext cx="2999790" cy="430213"/>
            <a:chOff x="1025" y="3142"/>
            <a:chExt cx="2120" cy="333"/>
          </a:xfrm>
        </p:grpSpPr>
        <mc:AlternateContent xmlns:mc="http://schemas.openxmlformats.org/markup-compatibility/2006" xmlns:a14="http://schemas.microsoft.com/office/drawing/2010/main">
          <mc:Choice Requires="a14">
            <p:sp>
              <p:nvSpPr>
                <p:cNvPr id="172071" name="Object 39">
                  <a:extLst>
                    <a:ext uri="{FF2B5EF4-FFF2-40B4-BE49-F238E27FC236}">
                      <a16:creationId xmlns:a16="http://schemas.microsoft.com/office/drawing/2014/main" id="{A0010B3E-B359-461A-9230-DC4734856BFB}"/>
                    </a:ext>
                  </a:extLst>
                </p:cNvPr>
                <p:cNvSpPr txBox="1"/>
                <p:nvPr/>
              </p:nvSpPr>
              <p:spPr bwMode="auto">
                <a:xfrm>
                  <a:off x="1334" y="3142"/>
                  <a:ext cx="1811" cy="333"/>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sz="2400" i="0">
                            <a:solidFill>
                              <a:srgbClr val="000000"/>
                            </a:solidFill>
                            <a:latin typeface="Cambria Math" panose="02040503050406030204" pitchFamily="18" charset="0"/>
                          </a:rPr>
                          <m:t>P</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m:t>
                            </m:r>
                          </m:sup>
                        </m:sSup>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m:t>
                            </m:r>
                          </m:sup>
                        </m:sSup>
                        <m:r>
                          <m:rPr>
                            <m:nor/>
                          </m:rPr>
                          <a:rPr lang="zh-CN" altLang="en-US" sz="2400" i="0">
                            <a:solidFill>
                              <a:srgbClr val="000000"/>
                            </a:solidFill>
                            <a:latin typeface="Cambria Math" panose="02040503050406030204" pitchFamily="18" charset="0"/>
                          </a:rPr>
                          <m:t> ,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𝑧</m:t>
                            </m:r>
                          </m:e>
                          <m:sup>
                            <m:r>
                              <a:rPr lang="zh-CN" altLang="en-US" sz="2400" i="1">
                                <a:solidFill>
                                  <a:srgbClr val="000000"/>
                                </a:solidFill>
                                <a:latin typeface="Cambria Math" panose="02040503050406030204" pitchFamily="18" charset="0"/>
                              </a:rPr>
                              <m:t>′</m:t>
                            </m:r>
                          </m:sup>
                        </m:sSup>
                        <m:r>
                          <m:rPr>
                            <m:nor/>
                          </m:rPr>
                          <a:rPr lang="zh-CN" altLang="en-US" sz="2400" i="0">
                            <a:solidFill>
                              <a:srgbClr val="000000"/>
                            </a:solidFill>
                            <a:latin typeface="Cambria Math" panose="02040503050406030204" pitchFamily="18" charset="0"/>
                          </a:rPr>
                          <m:t> ,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oMath>
                    </m:oMathPara>
                  </a14:m>
                  <a:endParaRPr lang="zh-CN" altLang="en-US" sz="2400"/>
                </a:p>
              </p:txBody>
            </p:sp>
          </mc:Choice>
          <mc:Fallback xmlns="">
            <p:sp>
              <p:nvSpPr>
                <p:cNvPr id="172071" name="Object 39">
                  <a:extLst>
                    <a:ext uri="{FF2B5EF4-FFF2-40B4-BE49-F238E27FC236}">
                      <a16:creationId xmlns:a16="http://schemas.microsoft.com/office/drawing/2014/main" id="{A0010B3E-B359-461A-9230-DC4734856BFB}"/>
                    </a:ext>
                  </a:extLst>
                </p:cNvPr>
                <p:cNvSpPr txBox="1">
                  <a:spLocks noRot="1" noChangeAspect="1" noMove="1" noResize="1" noEditPoints="1" noAdjustHandles="1" noChangeArrowheads="1" noChangeShapeType="1" noTextEdit="1"/>
                </p:cNvSpPr>
                <p:nvPr/>
              </p:nvSpPr>
              <p:spPr bwMode="auto">
                <a:xfrm>
                  <a:off x="1334" y="3142"/>
                  <a:ext cx="1811" cy="333"/>
                </a:xfrm>
                <a:prstGeom prst="rect">
                  <a:avLst/>
                </a:prstGeom>
                <a:blipFill>
                  <a:blip r:embed="rId6"/>
                  <a:stretch>
                    <a:fillRect b="-1714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72" name="Object 40">
                  <a:extLst>
                    <a:ext uri="{FF2B5EF4-FFF2-40B4-BE49-F238E27FC236}">
                      <a16:creationId xmlns:a16="http://schemas.microsoft.com/office/drawing/2014/main" id="{F5DE744D-265B-4EE6-86FD-AD85BA6A90D8}"/>
                    </a:ext>
                  </a:extLst>
                </p:cNvPr>
                <p:cNvSpPr txBox="1"/>
                <p:nvPr/>
              </p:nvSpPr>
              <p:spPr bwMode="auto">
                <a:xfrm>
                  <a:off x="1025" y="3168"/>
                  <a:ext cx="360" cy="29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func>
                      </m:oMath>
                    </m:oMathPara>
                  </a14:m>
                  <a:endParaRPr lang="zh-CN" altLang="en-US" dirty="0"/>
                </a:p>
              </p:txBody>
            </p:sp>
          </mc:Choice>
          <mc:Fallback xmlns="">
            <p:sp>
              <p:nvSpPr>
                <p:cNvPr id="172072" name="Object 40">
                  <a:extLst>
                    <a:ext uri="{FF2B5EF4-FFF2-40B4-BE49-F238E27FC236}">
                      <a16:creationId xmlns:a16="http://schemas.microsoft.com/office/drawing/2014/main" id="{F5DE744D-265B-4EE6-86FD-AD85BA6A90D8}"/>
                    </a:ext>
                  </a:extLst>
                </p:cNvPr>
                <p:cNvSpPr txBox="1">
                  <a:spLocks noRot="1" noChangeAspect="1" noMove="1" noResize="1" noEditPoints="1" noAdjustHandles="1" noChangeArrowheads="1" noChangeShapeType="1" noTextEdit="1"/>
                </p:cNvSpPr>
                <p:nvPr/>
              </p:nvSpPr>
              <p:spPr bwMode="auto">
                <a:xfrm>
                  <a:off x="1025" y="3168"/>
                  <a:ext cx="360" cy="297"/>
                </a:xfrm>
                <a:prstGeom prst="rect">
                  <a:avLst/>
                </a:prstGeom>
                <a:blipFill>
                  <a:blip r:embed="rId7"/>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2073" name="Object 41">
                <a:extLst>
                  <a:ext uri="{FF2B5EF4-FFF2-40B4-BE49-F238E27FC236}">
                    <a16:creationId xmlns:a16="http://schemas.microsoft.com/office/drawing/2014/main" id="{1C023029-F9CD-4528-B222-2140EC2A8EE6}"/>
                  </a:ext>
                </a:extLst>
              </p:cNvPr>
              <p:cNvSpPr txBox="1"/>
              <p:nvPr/>
            </p:nvSpPr>
            <p:spPr bwMode="auto">
              <a:xfrm>
                <a:off x="1258888" y="3627438"/>
                <a:ext cx="1830387" cy="231298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eqArr>
                            <m:eqArrPr>
                              <m:ctrlPr>
                                <a:rPr lang="zh-CN" altLang="en-US" sz="2400" i="1">
                                  <a:solidFill>
                                    <a:srgbClr val="000000"/>
                                  </a:solidFill>
                                  <a:latin typeface="Cambria Math" panose="02040503050406030204" pitchFamily="18" charset="0"/>
                                </a:rPr>
                              </m:ctrlPr>
                            </m:eqArrPr>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𝑢𝑡</m:t>
                              </m:r>
                            </m:e>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e>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𝑧</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e>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e>
                          </m:eqArr>
                        </m:e>
                      </m:d>
                    </m:oMath>
                  </m:oMathPara>
                </a14:m>
                <a:endParaRPr lang="zh-CN" altLang="en-US" sz="2400"/>
              </a:p>
            </p:txBody>
          </p:sp>
        </mc:Choice>
        <mc:Fallback xmlns="">
          <p:sp>
            <p:nvSpPr>
              <p:cNvPr id="172073" name="Object 41">
                <a:extLst>
                  <a:ext uri="{FF2B5EF4-FFF2-40B4-BE49-F238E27FC236}">
                    <a16:creationId xmlns:a16="http://schemas.microsoft.com/office/drawing/2014/main" id="{1C023029-F9CD-4528-B222-2140EC2A8EE6}"/>
                  </a:ext>
                </a:extLst>
              </p:cNvPr>
              <p:cNvSpPr txBox="1">
                <a:spLocks noRot="1" noChangeAspect="1" noMove="1" noResize="1" noEditPoints="1" noAdjustHandles="1" noChangeArrowheads="1" noChangeShapeType="1" noTextEdit="1"/>
              </p:cNvSpPr>
              <p:nvPr/>
            </p:nvSpPr>
            <p:spPr bwMode="auto">
              <a:xfrm>
                <a:off x="1258888" y="3627438"/>
                <a:ext cx="1830387" cy="2312987"/>
              </a:xfrm>
              <a:prstGeom prst="rect">
                <a:avLst/>
              </a:prstGeom>
              <a:blipFill>
                <a:blip r:embed="rId8"/>
                <a:stretch>
                  <a:fillRect/>
                </a:stretch>
              </a:blipFill>
              <a:ln>
                <a:noFill/>
              </a:ln>
              <a:effectLst/>
            </p:spPr>
            <p:txBody>
              <a:bodyPr/>
              <a:lstStyle/>
              <a:p>
                <a:r>
                  <a:rPr lang="zh-CN" altLang="en-US">
                    <a:noFill/>
                  </a:rPr>
                  <a:t> </a:t>
                </a:r>
              </a:p>
            </p:txBody>
          </p:sp>
        </mc:Fallback>
      </mc:AlternateContent>
      <p:grpSp>
        <p:nvGrpSpPr>
          <p:cNvPr id="172074" name="Group 42">
            <a:extLst>
              <a:ext uri="{FF2B5EF4-FFF2-40B4-BE49-F238E27FC236}">
                <a16:creationId xmlns:a16="http://schemas.microsoft.com/office/drawing/2014/main" id="{00A86A1D-0420-45E6-816F-C1621305AB41}"/>
              </a:ext>
            </a:extLst>
          </p:cNvPr>
          <p:cNvGrpSpPr>
            <a:grpSpLocks/>
          </p:cNvGrpSpPr>
          <p:nvPr/>
        </p:nvGrpSpPr>
        <p:grpSpPr bwMode="auto">
          <a:xfrm>
            <a:off x="3095625" y="3708400"/>
            <a:ext cx="2932113" cy="2312988"/>
            <a:chOff x="1950" y="2336"/>
            <a:chExt cx="1847" cy="1457"/>
          </a:xfrm>
        </p:grpSpPr>
        <mc:AlternateContent xmlns:mc="http://schemas.openxmlformats.org/markup-compatibility/2006" xmlns:a14="http://schemas.microsoft.com/office/drawing/2010/main">
          <mc:Choice Requires="a14">
            <p:sp>
              <p:nvSpPr>
                <p:cNvPr id="172075" name="Object 43">
                  <a:extLst>
                    <a:ext uri="{FF2B5EF4-FFF2-40B4-BE49-F238E27FC236}">
                      <a16:creationId xmlns:a16="http://schemas.microsoft.com/office/drawing/2014/main" id="{3A9A9451-F1DB-4028-A729-D768E6D68114}"/>
                    </a:ext>
                  </a:extLst>
                </p:cNvPr>
                <p:cNvSpPr txBox="1"/>
                <p:nvPr/>
              </p:nvSpPr>
              <p:spPr bwMode="auto">
                <a:xfrm>
                  <a:off x="2584" y="2336"/>
                  <a:ext cx="1213" cy="145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eqArr>
                              <m:eqArrPr>
                                <m:ctrlPr>
                                  <a:rPr lang="zh-CN" altLang="en-US" sz="2400" i="1">
                                    <a:solidFill>
                                      <a:srgbClr val="000000"/>
                                    </a:solidFill>
                                    <a:latin typeface="Cambria Math" panose="02040503050406030204" pitchFamily="18" charset="0"/>
                                  </a:rPr>
                                </m:ctrlPr>
                              </m:eqArrPr>
                              <m:e>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𝑢</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e>
                              <m:e>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m:t>
                                    </m:r>
                                  </m:sup>
                                </m:sSup>
                              </m:e>
                              <m:e>
                                <m:r>
                                  <a:rPr lang="zh-CN" altLang="en-US" sz="2400" i="1">
                                    <a:solidFill>
                                      <a:srgbClr val="000000"/>
                                    </a:solidFill>
                                    <a:latin typeface="Cambria Math" panose="02040503050406030204" pitchFamily="18" charset="0"/>
                                  </a:rPr>
                                  <m:t>𝑧</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𝑧</m:t>
                                    </m:r>
                                  </m:e>
                                  <m:sup>
                                    <m:r>
                                      <a:rPr lang="zh-CN" altLang="en-US" sz="2400" i="1">
                                        <a:solidFill>
                                          <a:srgbClr val="000000"/>
                                        </a:solidFill>
                                        <a:latin typeface="Cambria Math" panose="02040503050406030204" pitchFamily="18" charset="0"/>
                                      </a:rPr>
                                      <m:t>′</m:t>
                                    </m:r>
                                  </m:sup>
                                </m:sSup>
                              </m:e>
                              <m:e>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e>
                            </m:eqArr>
                          </m:e>
                        </m:d>
                      </m:oMath>
                    </m:oMathPara>
                  </a14:m>
                  <a:endParaRPr lang="zh-CN" altLang="en-US" sz="2400"/>
                </a:p>
              </p:txBody>
            </p:sp>
          </mc:Choice>
          <mc:Fallback xmlns="">
            <p:sp>
              <p:nvSpPr>
                <p:cNvPr id="172075" name="Object 43">
                  <a:extLst>
                    <a:ext uri="{FF2B5EF4-FFF2-40B4-BE49-F238E27FC236}">
                      <a16:creationId xmlns:a16="http://schemas.microsoft.com/office/drawing/2014/main" id="{3A9A9451-F1DB-4028-A729-D768E6D68114}"/>
                    </a:ext>
                  </a:extLst>
                </p:cNvPr>
                <p:cNvSpPr txBox="1">
                  <a:spLocks noRot="1" noChangeAspect="1" noMove="1" noResize="1" noEditPoints="1" noAdjustHandles="1" noChangeArrowheads="1" noChangeShapeType="1" noTextEdit="1"/>
                </p:cNvSpPr>
                <p:nvPr/>
              </p:nvSpPr>
              <p:spPr bwMode="auto">
                <a:xfrm>
                  <a:off x="2584" y="2336"/>
                  <a:ext cx="1213" cy="1457"/>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76" name="Object 44">
                  <a:extLst>
                    <a:ext uri="{FF2B5EF4-FFF2-40B4-BE49-F238E27FC236}">
                      <a16:creationId xmlns:a16="http://schemas.microsoft.com/office/drawing/2014/main" id="{F114A87B-AAA9-4B76-9602-E33CB10DF815}"/>
                    </a:ext>
                  </a:extLst>
                </p:cNvPr>
                <p:cNvSpPr txBox="1"/>
                <p:nvPr/>
              </p:nvSpPr>
              <p:spPr bwMode="auto">
                <a:xfrm>
                  <a:off x="1950" y="2632"/>
                  <a:ext cx="590" cy="381"/>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zh-CN" altLang="en-US" sz="2400" i="1">
                                <a:solidFill>
                                  <a:srgbClr val="000000"/>
                                </a:solidFill>
                                <a:latin typeface="Cambria Math" panose="02040503050406030204" pitchFamily="18" charset="0"/>
                              </a:rPr>
                            </m:ctrlPr>
                          </m:groupChrPr>
                          <m:e>
                            <m:r>
                              <a:rPr lang="zh-CN" altLang="en-US" sz="240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 </m:t>
                            </m:r>
                          </m:e>
                        </m:groupChr>
                      </m:oMath>
                    </m:oMathPara>
                  </a14:m>
                  <a:endParaRPr lang="zh-CN" altLang="en-US" sz="2400" dirty="0"/>
                </a:p>
              </p:txBody>
            </p:sp>
          </mc:Choice>
          <mc:Fallback xmlns="">
            <p:sp>
              <p:nvSpPr>
                <p:cNvPr id="172076" name="Object 44">
                  <a:extLst>
                    <a:ext uri="{FF2B5EF4-FFF2-40B4-BE49-F238E27FC236}">
                      <a16:creationId xmlns:a16="http://schemas.microsoft.com/office/drawing/2014/main" id="{F114A87B-AAA9-4B76-9602-E33CB10DF815}"/>
                    </a:ext>
                  </a:extLst>
                </p:cNvPr>
                <p:cNvSpPr txBox="1">
                  <a:spLocks noRot="1" noChangeAspect="1" noMove="1" noResize="1" noEditPoints="1" noAdjustHandles="1" noChangeArrowheads="1" noChangeShapeType="1" noTextEdit="1"/>
                </p:cNvSpPr>
                <p:nvPr/>
              </p:nvSpPr>
              <p:spPr bwMode="auto">
                <a:xfrm>
                  <a:off x="1950" y="2632"/>
                  <a:ext cx="590" cy="381"/>
                </a:xfrm>
                <a:prstGeom prst="rect">
                  <a:avLst/>
                </a:prstGeom>
                <a:blipFill>
                  <a:blip r:embed="rId10"/>
                  <a:stretch>
                    <a:fillRect/>
                  </a:stretch>
                </a:blipFill>
                <a:ln>
                  <a:noFill/>
                </a:ln>
                <a:effectLst/>
              </p:spPr>
              <p:txBody>
                <a:bodyPr/>
                <a:lstStyle/>
                <a:p>
                  <a:r>
                    <a:rPr lang="zh-CN" altLang="en-US">
                      <a:noFill/>
                    </a:rPr>
                    <a:t> </a:t>
                  </a:r>
                </a:p>
              </p:txBody>
            </p:sp>
          </mc:Fallback>
        </mc:AlternateContent>
      </p:grpSp>
      <p:sp>
        <p:nvSpPr>
          <p:cNvPr id="2" name="文本框 1"/>
          <p:cNvSpPr txBox="1"/>
          <p:nvPr/>
        </p:nvSpPr>
        <p:spPr>
          <a:xfrm flipH="1">
            <a:off x="2174081" y="5968322"/>
            <a:ext cx="5017364" cy="461665"/>
          </a:xfrm>
          <a:prstGeom prst="rect">
            <a:avLst/>
          </a:prstGeom>
          <a:noFill/>
        </p:spPr>
        <p:txBody>
          <a:bodyPr wrap="square" rtlCol="0">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两个体系中的 </a:t>
            </a:r>
            <a:r>
              <a:rPr lang="en-US" altLang="zh-CN" sz="2400" i="1" dirty="0">
                <a:latin typeface="Arial" panose="020B0604020202020204" pitchFamily="34" charset="0"/>
                <a:ea typeface="黑体" panose="02010609060101010101" pitchFamily="49" charset="-122"/>
                <a:cs typeface="Arial" panose="020B0604020202020204" pitchFamily="34" charset="0"/>
              </a:rPr>
              <a:t>t </a:t>
            </a:r>
            <a:r>
              <a:rPr lang="zh-CN" altLang="en-US" sz="2400" dirty="0">
                <a:latin typeface="Arial" panose="020B0604020202020204" pitchFamily="34" charset="0"/>
                <a:ea typeface="黑体" panose="02010609060101010101" pitchFamily="49" charset="-122"/>
                <a:cs typeface="Arial" panose="020B0604020202020204" pitchFamily="34" charset="0"/>
              </a:rPr>
              <a:t>相等：来源于直觉</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a:extLst>
              <a:ext uri="{FF2B5EF4-FFF2-40B4-BE49-F238E27FC236}">
                <a16:creationId xmlns:a16="http://schemas.microsoft.com/office/drawing/2014/main" id="{B6FC732C-83B8-49FF-9B87-C9924299D163}"/>
              </a:ext>
            </a:extLst>
          </p:cNvPr>
          <p:cNvSpPr txBox="1">
            <a:spLocks noChangeArrowheads="1"/>
          </p:cNvSpPr>
          <p:nvPr/>
        </p:nvSpPr>
        <p:spPr bwMode="auto">
          <a:xfrm>
            <a:off x="765175" y="750888"/>
            <a:ext cx="44545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dirty="0">
                <a:solidFill>
                  <a:srgbClr val="0000FF"/>
                </a:solidFill>
                <a:effectLst/>
                <a:latin typeface="黑体" panose="02010609060101010101" pitchFamily="49" charset="-122"/>
                <a:ea typeface="黑体" panose="02010609060101010101" pitchFamily="49" charset="-122"/>
              </a:rPr>
              <a:t>2.3 </a:t>
            </a:r>
            <a:r>
              <a:rPr kumimoji="1" lang="zh-CN" altLang="en-US" sz="2400" b="1" dirty="0">
                <a:solidFill>
                  <a:srgbClr val="0000FF"/>
                </a:solidFill>
                <a:effectLst/>
                <a:latin typeface="黑体" panose="02010609060101010101" pitchFamily="49" charset="-122"/>
                <a:ea typeface="黑体" panose="02010609060101010101" pitchFamily="49" charset="-122"/>
              </a:rPr>
              <a:t>伽利略速度变换</a:t>
            </a:r>
          </a:p>
        </p:txBody>
      </p:sp>
      <mc:AlternateContent xmlns:mc="http://schemas.openxmlformats.org/markup-compatibility/2006" xmlns:a14="http://schemas.microsoft.com/office/drawing/2010/main">
        <mc:Choice Requires="a14">
          <p:sp>
            <p:nvSpPr>
              <p:cNvPr id="173059" name="Object 3">
                <a:extLst>
                  <a:ext uri="{FF2B5EF4-FFF2-40B4-BE49-F238E27FC236}">
                    <a16:creationId xmlns:a16="http://schemas.microsoft.com/office/drawing/2014/main" id="{8914F168-E91B-41D5-A7C1-FE1025F56A90}"/>
                  </a:ext>
                </a:extLst>
              </p:cNvPr>
              <p:cNvSpPr txBox="1"/>
              <p:nvPr/>
            </p:nvSpPr>
            <p:spPr bwMode="auto">
              <a:xfrm>
                <a:off x="1258888" y="2782888"/>
                <a:ext cx="2289175" cy="224948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800" i="1">
                              <a:solidFill>
                                <a:srgbClr val="000000"/>
                              </a:solidFill>
                              <a:latin typeface="Cambria Math" panose="02040503050406030204" pitchFamily="18" charset="0"/>
                            </a:rPr>
                          </m:ctrlPr>
                        </m:dPr>
                        <m:e>
                          <m:eqArr>
                            <m:eqArrPr>
                              <m:ctrlPr>
                                <a:rPr lang="zh-CN" altLang="en-US" sz="2800" i="1">
                                  <a:solidFill>
                                    <a:srgbClr val="000000"/>
                                  </a:solidFill>
                                  <a:latin typeface="Cambria Math" panose="02040503050406030204" pitchFamily="18" charset="0"/>
                                </a:rPr>
                              </m:ctrlPr>
                            </m:eqArrPr>
                            <m:e>
                              <m:sSub>
                                <m:sSubPr>
                                  <m:ctrlPr>
                                    <a:rPr lang="zh-CN" altLang="en-US" sz="2800" i="1">
                                      <a:solidFill>
                                        <a:srgbClr val="000000"/>
                                      </a:solidFill>
                                      <a:latin typeface="Cambria Math" panose="02040503050406030204" pitchFamily="18" charset="0"/>
                                    </a:rPr>
                                  </m:ctrlPr>
                                </m:sSubPr>
                                <m:e>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m:t>
                                      </m:r>
                                    </m:sup>
                                  </m:sSup>
                                </m:e>
                                <m:sub>
                                  <m:r>
                                    <a:rPr lang="zh-CN" altLang="en-US" sz="2800" i="1">
                                      <a:solidFill>
                                        <a:srgbClr val="000000"/>
                                      </a:solidFill>
                                      <a:latin typeface="Cambria Math" panose="02040503050406030204" pitchFamily="18" charset="0"/>
                                    </a:rPr>
                                    <m:t>𝑥</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𝑢</m:t>
                                  </m:r>
                                </m:e>
                                <m:sub>
                                  <m:r>
                                    <a:rPr lang="zh-CN" altLang="en-US" sz="2800" i="1">
                                      <a:solidFill>
                                        <a:srgbClr val="000000"/>
                                      </a:solidFill>
                                      <a:latin typeface="Cambria Math" panose="02040503050406030204" pitchFamily="18" charset="0"/>
                                    </a:rPr>
                                    <m:t>𝑥</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𝑣</m:t>
                              </m:r>
                            </m:e>
                            <m:e>
                              <m:sSub>
                                <m:sSubPr>
                                  <m:ctrlPr>
                                    <a:rPr lang="zh-CN" altLang="en-US" sz="2800" i="1">
                                      <a:solidFill>
                                        <a:srgbClr val="000000"/>
                                      </a:solidFill>
                                      <a:latin typeface="Cambria Math" panose="02040503050406030204" pitchFamily="18" charset="0"/>
                                    </a:rPr>
                                  </m:ctrlPr>
                                </m:sSubPr>
                                <m:e>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m:t>
                                      </m:r>
                                    </m:sup>
                                  </m:sSup>
                                </m:e>
                                <m:sub>
                                  <m:r>
                                    <a:rPr lang="zh-CN" altLang="en-US" sz="2800" i="1">
                                      <a:solidFill>
                                        <a:srgbClr val="000000"/>
                                      </a:solidFill>
                                      <a:latin typeface="Cambria Math" panose="02040503050406030204" pitchFamily="18" charset="0"/>
                                    </a:rPr>
                                    <m:t>𝑦</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𝑢</m:t>
                                  </m:r>
                                </m:e>
                                <m:sub>
                                  <m:r>
                                    <a:rPr lang="zh-CN" altLang="en-US" sz="2800" i="1">
                                      <a:solidFill>
                                        <a:srgbClr val="000000"/>
                                      </a:solidFill>
                                      <a:latin typeface="Cambria Math" panose="02040503050406030204" pitchFamily="18" charset="0"/>
                                    </a:rPr>
                                    <m:t>𝑦</m:t>
                                  </m:r>
                                </m:sub>
                              </m:sSub>
                            </m:e>
                            <m:e>
                              <m:sSub>
                                <m:sSubPr>
                                  <m:ctrlPr>
                                    <a:rPr lang="zh-CN" altLang="en-US" sz="2800" i="1">
                                      <a:solidFill>
                                        <a:srgbClr val="000000"/>
                                      </a:solidFill>
                                      <a:latin typeface="Cambria Math" panose="02040503050406030204" pitchFamily="18" charset="0"/>
                                    </a:rPr>
                                  </m:ctrlPr>
                                </m:sSubPr>
                                <m:e>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m:t>
                                      </m:r>
                                    </m:sup>
                                  </m:sSup>
                                </m:e>
                                <m:sub>
                                  <m:r>
                                    <a:rPr lang="zh-CN" altLang="en-US" sz="2800" i="1">
                                      <a:solidFill>
                                        <a:srgbClr val="000000"/>
                                      </a:solidFill>
                                      <a:latin typeface="Cambria Math" panose="02040503050406030204" pitchFamily="18" charset="0"/>
                                    </a:rPr>
                                    <m:t>𝑧</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𝑢</m:t>
                                  </m:r>
                                </m:e>
                                <m:sub>
                                  <m:r>
                                    <a:rPr lang="zh-CN" altLang="en-US" sz="2800" i="1">
                                      <a:solidFill>
                                        <a:srgbClr val="000000"/>
                                      </a:solidFill>
                                      <a:latin typeface="Cambria Math" panose="02040503050406030204" pitchFamily="18" charset="0"/>
                                    </a:rPr>
                                    <m:t>𝑧</m:t>
                                  </m:r>
                                </m:sub>
                              </m:sSub>
                            </m:e>
                          </m:eqArr>
                        </m:e>
                      </m:d>
                    </m:oMath>
                  </m:oMathPara>
                </a14:m>
                <a:endParaRPr lang="zh-CN" altLang="en-US" sz="2800" dirty="0"/>
              </a:p>
            </p:txBody>
          </p:sp>
        </mc:Choice>
        <mc:Fallback xmlns="">
          <p:sp>
            <p:nvSpPr>
              <p:cNvPr id="173059" name="Object 3">
                <a:extLst>
                  <a:ext uri="{FF2B5EF4-FFF2-40B4-BE49-F238E27FC236}">
                    <a16:creationId xmlns:a16="http://schemas.microsoft.com/office/drawing/2014/main" id="{8914F168-E91B-41D5-A7C1-FE1025F56A90}"/>
                  </a:ext>
                </a:extLst>
              </p:cNvPr>
              <p:cNvSpPr txBox="1">
                <a:spLocks noRot="1" noChangeAspect="1" noMove="1" noResize="1" noEditPoints="1" noAdjustHandles="1" noChangeArrowheads="1" noChangeShapeType="1" noTextEdit="1"/>
              </p:cNvSpPr>
              <p:nvPr/>
            </p:nvSpPr>
            <p:spPr bwMode="auto">
              <a:xfrm>
                <a:off x="1258888" y="2782888"/>
                <a:ext cx="2289175" cy="2249487"/>
              </a:xfrm>
              <a:prstGeom prst="rect">
                <a:avLst/>
              </a:prstGeom>
              <a:blipFill>
                <a:blip r:embed="rId3"/>
                <a:stretch>
                  <a:fillRect/>
                </a:stretch>
              </a:blipFill>
              <a:ln>
                <a:noFill/>
              </a:ln>
              <a:effectLst/>
            </p:spPr>
            <p:txBody>
              <a:bodyPr/>
              <a:lstStyle/>
              <a:p>
                <a:r>
                  <a:rPr lang="zh-CN" altLang="en-US">
                    <a:noFill/>
                  </a:rPr>
                  <a:t> </a:t>
                </a:r>
              </a:p>
            </p:txBody>
          </p:sp>
        </mc:Fallback>
      </mc:AlternateContent>
      <p:graphicFrame>
        <p:nvGraphicFramePr>
          <p:cNvPr id="173060" name="Object 4">
            <a:extLst>
              <a:ext uri="{FF2B5EF4-FFF2-40B4-BE49-F238E27FC236}">
                <a16:creationId xmlns:a16="http://schemas.microsoft.com/office/drawing/2014/main" id="{8E1BEF9D-CAE8-49A6-B464-B2D8BD1C8B5A}"/>
              </a:ext>
            </a:extLst>
          </p:cNvPr>
          <p:cNvGraphicFramePr>
            <a:graphicFrameLocks noChangeAspect="1"/>
          </p:cNvGraphicFramePr>
          <p:nvPr/>
        </p:nvGraphicFramePr>
        <p:xfrm>
          <a:off x="795338" y="1427163"/>
          <a:ext cx="2228850" cy="1209675"/>
        </p:xfrm>
        <a:graphic>
          <a:graphicData uri="http://schemas.openxmlformats.org/presentationml/2006/ole">
            <mc:AlternateContent xmlns:mc="http://schemas.openxmlformats.org/markup-compatibility/2006">
              <mc:Choice xmlns:v="urn:schemas-microsoft-com:vml" Requires="v">
                <p:oleObj spid="_x0000_s7212" name="Equation" r:id="rId4" imgW="888840" imgH="482400" progId="Equation.DSMT4">
                  <p:embed/>
                </p:oleObj>
              </mc:Choice>
              <mc:Fallback>
                <p:oleObj name="Equation" r:id="rId4" imgW="888840" imgH="482400" progId="Equation.DSMT4">
                  <p:embed/>
                  <p:pic>
                    <p:nvPicPr>
                      <p:cNvPr id="173060" name="Object 4">
                        <a:extLst>
                          <a:ext uri="{FF2B5EF4-FFF2-40B4-BE49-F238E27FC236}">
                            <a16:creationId xmlns:a16="http://schemas.microsoft.com/office/drawing/2014/main" id="{8E1BEF9D-CAE8-49A6-B464-B2D8BD1C8B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338" y="1427163"/>
                        <a:ext cx="2228850"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3061" name="Group 5">
            <a:extLst>
              <a:ext uri="{FF2B5EF4-FFF2-40B4-BE49-F238E27FC236}">
                <a16:creationId xmlns:a16="http://schemas.microsoft.com/office/drawing/2014/main" id="{25160482-6DE1-47F1-AC21-025D2F06D102}"/>
              </a:ext>
            </a:extLst>
          </p:cNvPr>
          <p:cNvGrpSpPr>
            <a:grpSpLocks/>
          </p:cNvGrpSpPr>
          <p:nvPr/>
        </p:nvGrpSpPr>
        <p:grpSpPr bwMode="auto">
          <a:xfrm>
            <a:off x="3626498" y="2782887"/>
            <a:ext cx="3363913" cy="2249488"/>
            <a:chOff x="2290" y="2013"/>
            <a:chExt cx="2119" cy="1417"/>
          </a:xfrm>
        </p:grpSpPr>
        <mc:AlternateContent xmlns:mc="http://schemas.openxmlformats.org/markup-compatibility/2006" xmlns:a14="http://schemas.microsoft.com/office/drawing/2010/main">
          <mc:Choice Requires="a14">
            <p:sp>
              <p:nvSpPr>
                <p:cNvPr id="173062" name="Object 6">
                  <a:extLst>
                    <a:ext uri="{FF2B5EF4-FFF2-40B4-BE49-F238E27FC236}">
                      <a16:creationId xmlns:a16="http://schemas.microsoft.com/office/drawing/2014/main" id="{43F70C38-1D77-48D7-B19A-2A9F7D7E7D43}"/>
                    </a:ext>
                  </a:extLst>
                </p:cNvPr>
                <p:cNvSpPr txBox="1"/>
                <p:nvPr/>
              </p:nvSpPr>
              <p:spPr bwMode="auto">
                <a:xfrm>
                  <a:off x="2968" y="2013"/>
                  <a:ext cx="1441" cy="141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800" i="1">
                                <a:solidFill>
                                  <a:srgbClr val="000000"/>
                                </a:solidFill>
                                <a:latin typeface="Cambria Math" panose="02040503050406030204" pitchFamily="18" charset="0"/>
                              </a:rPr>
                            </m:ctrlPr>
                          </m:dPr>
                          <m:e>
                            <m:eqArr>
                              <m:eqArrPr>
                                <m:ctrlPr>
                                  <a:rPr lang="zh-CN" altLang="en-US" sz="2800" i="1">
                                    <a:solidFill>
                                      <a:srgbClr val="000000"/>
                                    </a:solidFill>
                                    <a:latin typeface="Cambria Math" panose="02040503050406030204" pitchFamily="18" charset="0"/>
                                  </a:rPr>
                                </m:ctrlPr>
                              </m:eqArrP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𝑢</m:t>
                                    </m:r>
                                  </m:e>
                                  <m:sub>
                                    <m:r>
                                      <a:rPr lang="zh-CN" altLang="en-US" sz="2800" i="1">
                                        <a:solidFill>
                                          <a:srgbClr val="000000"/>
                                        </a:solidFill>
                                        <a:latin typeface="Cambria Math" panose="02040503050406030204" pitchFamily="18" charset="0"/>
                                      </a:rPr>
                                      <m:t>𝑥</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m:t>
                                        </m:r>
                                      </m:sup>
                                    </m:sSup>
                                  </m:e>
                                  <m:sub>
                                    <m:r>
                                      <a:rPr lang="zh-CN" altLang="en-US" sz="2800" i="1">
                                        <a:solidFill>
                                          <a:srgbClr val="000000"/>
                                        </a:solidFill>
                                        <a:latin typeface="Cambria Math" panose="02040503050406030204" pitchFamily="18" charset="0"/>
                                      </a:rPr>
                                      <m:t>𝑥</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𝑣</m:t>
                                </m:r>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𝑢</m:t>
                                    </m:r>
                                  </m:e>
                                  <m:sub>
                                    <m:r>
                                      <a:rPr lang="zh-CN" altLang="en-US" sz="2800" i="1">
                                        <a:solidFill>
                                          <a:srgbClr val="000000"/>
                                        </a:solidFill>
                                        <a:latin typeface="Cambria Math" panose="02040503050406030204" pitchFamily="18" charset="0"/>
                                      </a:rPr>
                                      <m:t>𝑦</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m:t>
                                        </m:r>
                                      </m:sup>
                                    </m:sSup>
                                  </m:e>
                                  <m:sub>
                                    <m:r>
                                      <a:rPr lang="zh-CN" altLang="en-US" sz="2800" i="1">
                                        <a:solidFill>
                                          <a:srgbClr val="000000"/>
                                        </a:solidFill>
                                        <a:latin typeface="Cambria Math" panose="02040503050406030204" pitchFamily="18" charset="0"/>
                                      </a:rPr>
                                      <m:t>𝑦</m:t>
                                    </m:r>
                                  </m:sub>
                                </m:sSub>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𝑢</m:t>
                                    </m:r>
                                  </m:e>
                                  <m:sub>
                                    <m:r>
                                      <a:rPr lang="zh-CN" altLang="en-US" sz="2800" i="1">
                                        <a:solidFill>
                                          <a:srgbClr val="000000"/>
                                        </a:solidFill>
                                        <a:latin typeface="Cambria Math" panose="02040503050406030204" pitchFamily="18" charset="0"/>
                                      </a:rPr>
                                      <m:t>𝑧</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𝑢</m:t>
                                        </m:r>
                                      </m:e>
                                      <m:sup>
                                        <m:r>
                                          <a:rPr lang="zh-CN" altLang="en-US" sz="2800" i="1">
                                            <a:solidFill>
                                              <a:srgbClr val="000000"/>
                                            </a:solidFill>
                                            <a:latin typeface="Cambria Math" panose="02040503050406030204" pitchFamily="18" charset="0"/>
                                          </a:rPr>
                                          <m:t>′</m:t>
                                        </m:r>
                                      </m:sup>
                                    </m:sSup>
                                  </m:e>
                                  <m:sub>
                                    <m:r>
                                      <a:rPr lang="zh-CN" altLang="en-US" sz="2800" i="1">
                                        <a:solidFill>
                                          <a:srgbClr val="000000"/>
                                        </a:solidFill>
                                        <a:latin typeface="Cambria Math" panose="02040503050406030204" pitchFamily="18" charset="0"/>
                                      </a:rPr>
                                      <m:t>𝑧</m:t>
                                    </m:r>
                                  </m:sub>
                                </m:sSub>
                              </m:e>
                            </m:eqArr>
                          </m:e>
                        </m:d>
                      </m:oMath>
                    </m:oMathPara>
                  </a14:m>
                  <a:endParaRPr lang="zh-CN" altLang="en-US" sz="2800" dirty="0"/>
                </a:p>
              </p:txBody>
            </p:sp>
          </mc:Choice>
          <mc:Fallback xmlns="">
            <p:sp>
              <p:nvSpPr>
                <p:cNvPr id="173062" name="Object 6">
                  <a:extLst>
                    <a:ext uri="{FF2B5EF4-FFF2-40B4-BE49-F238E27FC236}">
                      <a16:creationId xmlns:a16="http://schemas.microsoft.com/office/drawing/2014/main" id="{43F70C38-1D77-48D7-B19A-2A9F7D7E7D43}"/>
                    </a:ext>
                  </a:extLst>
                </p:cNvPr>
                <p:cNvSpPr txBox="1">
                  <a:spLocks noRot="1" noChangeAspect="1" noMove="1" noResize="1" noEditPoints="1" noAdjustHandles="1" noChangeArrowheads="1" noChangeShapeType="1" noTextEdit="1"/>
                </p:cNvSpPr>
                <p:nvPr/>
              </p:nvSpPr>
              <p:spPr bwMode="auto">
                <a:xfrm>
                  <a:off x="2968" y="2013"/>
                  <a:ext cx="1441" cy="1417"/>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063" name="Object 7">
                  <a:extLst>
                    <a:ext uri="{FF2B5EF4-FFF2-40B4-BE49-F238E27FC236}">
                      <a16:creationId xmlns:a16="http://schemas.microsoft.com/office/drawing/2014/main" id="{98600646-CD45-4F5E-B5DB-568B9C504BCA}"/>
                    </a:ext>
                  </a:extLst>
                </p:cNvPr>
                <p:cNvSpPr txBox="1"/>
                <p:nvPr/>
              </p:nvSpPr>
              <p:spPr bwMode="auto">
                <a:xfrm>
                  <a:off x="2290" y="2478"/>
                  <a:ext cx="590" cy="381"/>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zh-CN" altLang="en-US" sz="2800" i="1">
                                <a:solidFill>
                                  <a:srgbClr val="000000"/>
                                </a:solidFill>
                                <a:latin typeface="Cambria Math" panose="02040503050406030204" pitchFamily="18" charset="0"/>
                              </a:rPr>
                            </m:ctrlPr>
                          </m:groupChrPr>
                          <m:e>
                            <m:r>
                              <a:rPr lang="zh-CN" altLang="en-US" sz="280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 </m:t>
                            </m:r>
                          </m:e>
                        </m:groupChr>
                      </m:oMath>
                    </m:oMathPara>
                  </a14:m>
                  <a:endParaRPr lang="zh-CN" altLang="en-US" sz="2800"/>
                </a:p>
              </p:txBody>
            </p:sp>
          </mc:Choice>
          <mc:Fallback xmlns="">
            <p:sp>
              <p:nvSpPr>
                <p:cNvPr id="173063" name="Object 7">
                  <a:extLst>
                    <a:ext uri="{FF2B5EF4-FFF2-40B4-BE49-F238E27FC236}">
                      <a16:creationId xmlns:a16="http://schemas.microsoft.com/office/drawing/2014/main" id="{98600646-CD45-4F5E-B5DB-568B9C504BCA}"/>
                    </a:ext>
                  </a:extLst>
                </p:cNvPr>
                <p:cNvSpPr txBox="1">
                  <a:spLocks noRot="1" noChangeAspect="1" noMove="1" noResize="1" noEditPoints="1" noAdjustHandles="1" noChangeArrowheads="1" noChangeShapeType="1" noTextEdit="1"/>
                </p:cNvSpPr>
                <p:nvPr/>
              </p:nvSpPr>
              <p:spPr bwMode="auto">
                <a:xfrm>
                  <a:off x="2290" y="2478"/>
                  <a:ext cx="590" cy="381"/>
                </a:xfrm>
                <a:prstGeom prst="rect">
                  <a:avLst/>
                </a:prstGeom>
                <a:blipFill>
                  <a:blip r:embed="rId7"/>
                  <a:stretch>
                    <a:fillRect/>
                  </a:stretch>
                </a:blipFill>
                <a:ln>
                  <a:noFill/>
                </a:ln>
                <a:effectLst/>
              </p:spPr>
              <p:txBody>
                <a:bodyPr/>
                <a:lstStyle/>
                <a:p>
                  <a:r>
                    <a:rPr lang="zh-CN" altLang="en-US">
                      <a:noFill/>
                    </a:rPr>
                    <a:t> </a:t>
                  </a:r>
                </a:p>
              </p:txBody>
            </p:sp>
          </mc:Fallback>
        </mc:AlternateContent>
      </p:grpSp>
      <p:sp>
        <p:nvSpPr>
          <p:cNvPr id="173064" name="Text Box 8">
            <a:extLst>
              <a:ext uri="{FF2B5EF4-FFF2-40B4-BE49-F238E27FC236}">
                <a16:creationId xmlns:a16="http://schemas.microsoft.com/office/drawing/2014/main" id="{953C829D-A922-4C71-8EFE-5BC490497887}"/>
              </a:ext>
            </a:extLst>
          </p:cNvPr>
          <p:cNvSpPr txBox="1">
            <a:spLocks noChangeArrowheads="1"/>
          </p:cNvSpPr>
          <p:nvPr/>
        </p:nvSpPr>
        <p:spPr bwMode="auto">
          <a:xfrm>
            <a:off x="913659" y="5374045"/>
            <a:ext cx="66246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Char char="Ø"/>
            </a:pPr>
            <a:r>
              <a:rPr lang="zh-CN" altLang="en-US" sz="2400" b="1">
                <a:solidFill>
                  <a:srgbClr val="008080"/>
                </a:solidFill>
                <a:effectLst/>
                <a:latin typeface="楷体_GB2312" pitchFamily="49" charset="-122"/>
              </a:rPr>
              <a:t> 牛顿力学满足伽利略变换下的不变性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3060"/>
                                        </p:tgtEl>
                                        <p:attrNameLst>
                                          <p:attrName>style.visibility</p:attrName>
                                        </p:attrNameLst>
                                      </p:cBhvr>
                                      <p:to>
                                        <p:strVal val="visible"/>
                                      </p:to>
                                    </p:set>
                                    <p:anim calcmode="lin" valueType="num">
                                      <p:cBhvr additive="base">
                                        <p:cTn id="7" dur="500" fill="hold"/>
                                        <p:tgtEl>
                                          <p:spTgt spid="173060"/>
                                        </p:tgtEl>
                                        <p:attrNameLst>
                                          <p:attrName>ppt_x</p:attrName>
                                        </p:attrNameLst>
                                      </p:cBhvr>
                                      <p:tavLst>
                                        <p:tav tm="0">
                                          <p:val>
                                            <p:strVal val="0-#ppt_w/2"/>
                                          </p:val>
                                        </p:tav>
                                        <p:tav tm="100000">
                                          <p:val>
                                            <p:strVal val="#ppt_x"/>
                                          </p:val>
                                        </p:tav>
                                      </p:tavLst>
                                    </p:anim>
                                    <p:anim calcmode="lin" valueType="num">
                                      <p:cBhvr additive="base">
                                        <p:cTn id="8" dur="500" fill="hold"/>
                                        <p:tgtEl>
                                          <p:spTgt spid="1730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173061"/>
                                        </p:tgtEl>
                                        <p:attrNameLst>
                                          <p:attrName>style.visibility</p:attrName>
                                        </p:attrNameLst>
                                      </p:cBhvr>
                                      <p:to>
                                        <p:strVal val="visible"/>
                                      </p:to>
                                    </p:set>
                                    <p:anim calcmode="lin" valueType="num">
                                      <p:cBhvr>
                                        <p:cTn id="13" dur="500" fill="hold"/>
                                        <p:tgtEl>
                                          <p:spTgt spid="173061"/>
                                        </p:tgtEl>
                                        <p:attrNameLst>
                                          <p:attrName>ppt_w</p:attrName>
                                        </p:attrNameLst>
                                      </p:cBhvr>
                                      <p:tavLst>
                                        <p:tav tm="0">
                                          <p:val>
                                            <p:fltVal val="0"/>
                                          </p:val>
                                        </p:tav>
                                        <p:tav tm="100000">
                                          <p:val>
                                            <p:strVal val="#ppt_w"/>
                                          </p:val>
                                        </p:tav>
                                      </p:tavLst>
                                    </p:anim>
                                    <p:anim calcmode="lin" valueType="num">
                                      <p:cBhvr>
                                        <p:cTn id="14" dur="500" fill="hold"/>
                                        <p:tgtEl>
                                          <p:spTgt spid="173061"/>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73064"/>
                                        </p:tgtEl>
                                        <p:attrNameLst>
                                          <p:attrName>style.visibility</p:attrName>
                                        </p:attrNameLst>
                                      </p:cBhvr>
                                      <p:to>
                                        <p:strVal val="visible"/>
                                      </p:to>
                                    </p:set>
                                    <p:animEffect transition="in" filter="slide(fromBottom)">
                                      <p:cBhvr>
                                        <p:cTn id="19" dur="500"/>
                                        <p:tgtEl>
                                          <p:spTgt spid="173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8" name="WordArt 6">
            <a:extLst>
              <a:ext uri="{FF2B5EF4-FFF2-40B4-BE49-F238E27FC236}">
                <a16:creationId xmlns:a16="http://schemas.microsoft.com/office/drawing/2014/main" id="{79C38C23-4D5C-48FB-87B3-E9203F973709}"/>
              </a:ext>
            </a:extLst>
          </p:cNvPr>
          <p:cNvSpPr>
            <a:spLocks noChangeArrowheads="1" noChangeShapeType="1" noTextEdit="1"/>
          </p:cNvSpPr>
          <p:nvPr/>
        </p:nvSpPr>
        <p:spPr bwMode="auto">
          <a:xfrm>
            <a:off x="1547813" y="2482850"/>
            <a:ext cx="6118225" cy="65722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b="1" kern="10">
                <a:gradFill rotWithShape="0">
                  <a:gsLst>
                    <a:gs pos="0">
                      <a:srgbClr val="993366"/>
                    </a:gs>
                    <a:gs pos="100000">
                      <a:srgbClr val="000066"/>
                    </a:gs>
                  </a:gsLst>
                  <a:lin ang="5400000" scaled="1"/>
                </a:gradFill>
                <a:effectLst>
                  <a:outerShdw dist="35921" dir="2700000" algn="ctr" rotWithShape="0">
                    <a:srgbClr val="C0C0C0">
                      <a:alpha val="80000"/>
                    </a:srgbClr>
                  </a:outerShdw>
                </a:effectLst>
                <a:latin typeface="黑体" panose="02010609060101010101" pitchFamily="49" charset="-122"/>
                <a:ea typeface="黑体" panose="02010609060101010101" pitchFamily="49" charset="-122"/>
              </a:rPr>
              <a:t>§2 </a:t>
            </a:r>
            <a:r>
              <a:rPr lang="zh-CN" altLang="en-US" sz="3600" b="1" kern="10">
                <a:gradFill rotWithShape="0">
                  <a:gsLst>
                    <a:gs pos="0">
                      <a:srgbClr val="993366"/>
                    </a:gs>
                    <a:gs pos="100000">
                      <a:srgbClr val="000066"/>
                    </a:gs>
                  </a:gsLst>
                  <a:lin ang="5400000" scaled="1"/>
                </a:gradFill>
                <a:effectLst>
                  <a:outerShdw dist="35921" dir="2700000" algn="ctr" rotWithShape="0">
                    <a:srgbClr val="C0C0C0">
                      <a:alpha val="80000"/>
                    </a:srgbClr>
                  </a:outerShdw>
                </a:effectLst>
                <a:latin typeface="黑体" panose="02010609060101010101" pitchFamily="49" charset="-122"/>
                <a:ea typeface="黑体" panose="02010609060101010101" pitchFamily="49" charset="-122"/>
              </a:rPr>
              <a:t>狭义相对论基本原理</a:t>
            </a:r>
          </a:p>
        </p:txBody>
      </p:sp>
      <p:sp>
        <p:nvSpPr>
          <p:cNvPr id="64521" name="WordArt 9">
            <a:extLst>
              <a:ext uri="{FF2B5EF4-FFF2-40B4-BE49-F238E27FC236}">
                <a16:creationId xmlns:a16="http://schemas.microsoft.com/office/drawing/2014/main" id="{4210795D-F56E-4C44-8A1A-62FE62DC89E6}"/>
              </a:ext>
            </a:extLst>
          </p:cNvPr>
          <p:cNvSpPr>
            <a:spLocks noChangeArrowheads="1" noChangeShapeType="1" noTextEdit="1"/>
          </p:cNvSpPr>
          <p:nvPr/>
        </p:nvSpPr>
        <p:spPr bwMode="auto">
          <a:xfrm>
            <a:off x="3205163" y="3500438"/>
            <a:ext cx="3598862" cy="649287"/>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zh-CN" altLang="en-US" sz="3600" b="1" kern="10">
                <a:gradFill rotWithShape="0">
                  <a:gsLst>
                    <a:gs pos="0">
                      <a:srgbClr val="993366"/>
                    </a:gs>
                    <a:gs pos="100000">
                      <a:srgbClr val="000066"/>
                    </a:gs>
                  </a:gsLst>
                  <a:lin ang="5400000" scaled="1"/>
                </a:gradFill>
                <a:effectLst>
                  <a:outerShdw dist="35921" dir="2700000" algn="ctr" rotWithShape="0">
                    <a:srgbClr val="C0C0C0">
                      <a:alpha val="80000"/>
                    </a:srgbClr>
                  </a:outerShdw>
                </a:effectLst>
                <a:latin typeface="黑体" panose="02010609060101010101" pitchFamily="49" charset="-122"/>
                <a:ea typeface="黑体" panose="02010609060101010101" pitchFamily="49" charset="-122"/>
              </a:rPr>
              <a:t>与时空的相对性</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407E5019-AEEC-4468-9BF3-6C65F85E704B}"/>
              </a:ext>
            </a:extLst>
          </p:cNvPr>
          <p:cNvSpPr>
            <a:spLocks noChangeArrowheads="1"/>
          </p:cNvSpPr>
          <p:nvPr/>
        </p:nvSpPr>
        <p:spPr bwMode="auto">
          <a:xfrm>
            <a:off x="508386" y="977873"/>
            <a:ext cx="6305550" cy="579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3200" b="1" dirty="0">
                <a:solidFill>
                  <a:srgbClr val="FF0000"/>
                </a:solidFill>
                <a:effectLst/>
                <a:latin typeface="黑体" panose="02010609060101010101" pitchFamily="49" charset="-122"/>
                <a:ea typeface="黑体" panose="02010609060101010101" pitchFamily="49" charset="-122"/>
              </a:rPr>
              <a:t>1.</a:t>
            </a:r>
            <a:r>
              <a:rPr kumimoji="1" lang="zh-CN" altLang="en-US" sz="3200" b="1" dirty="0">
                <a:solidFill>
                  <a:srgbClr val="FF0000"/>
                </a:solidFill>
                <a:effectLst/>
                <a:latin typeface="黑体" panose="02010609060101010101" pitchFamily="49" charset="-122"/>
                <a:ea typeface="黑体" panose="02010609060101010101" pitchFamily="49" charset="-122"/>
              </a:rPr>
              <a:t>光的速度与迈克尔逊－莫雷实验</a:t>
            </a:r>
          </a:p>
        </p:txBody>
      </p:sp>
      <p:graphicFrame>
        <p:nvGraphicFramePr>
          <p:cNvPr id="5" name="Object 4">
            <a:extLst>
              <a:ext uri="{FF2B5EF4-FFF2-40B4-BE49-F238E27FC236}">
                <a16:creationId xmlns:a16="http://schemas.microsoft.com/office/drawing/2014/main" id="{7257FB21-88E5-47D2-8AAE-B8CD0F934E1F}"/>
              </a:ext>
            </a:extLst>
          </p:cNvPr>
          <p:cNvGraphicFramePr>
            <a:graphicFrameLocks noChangeAspect="1"/>
          </p:cNvGraphicFramePr>
          <p:nvPr>
            <p:extLst>
              <p:ext uri="{D42A27DB-BD31-4B8C-83A1-F6EECF244321}">
                <p14:modId xmlns:p14="http://schemas.microsoft.com/office/powerpoint/2010/main" val="170230815"/>
              </p:ext>
            </p:extLst>
          </p:nvPr>
        </p:nvGraphicFramePr>
        <p:xfrm>
          <a:off x="1373573" y="2489173"/>
          <a:ext cx="4464050" cy="611187"/>
        </p:xfrm>
        <a:graphic>
          <a:graphicData uri="http://schemas.openxmlformats.org/presentationml/2006/ole">
            <mc:AlternateContent xmlns:mc="http://schemas.openxmlformats.org/markup-compatibility/2006">
              <mc:Choice xmlns:v="urn:schemas-microsoft-com:vml" Requires="v">
                <p:oleObj spid="_x0000_s9248" name="公式" r:id="rId3" imgW="1600200" imgH="215900" progId="Equation.3">
                  <p:embed/>
                </p:oleObj>
              </mc:Choice>
              <mc:Fallback>
                <p:oleObj name="公式" r:id="rId3" imgW="1600200" imgH="215900" progId="Equation.3">
                  <p:embed/>
                  <p:pic>
                    <p:nvPicPr>
                      <p:cNvPr id="65540" name="Object 4">
                        <a:extLst>
                          <a:ext uri="{FF2B5EF4-FFF2-40B4-BE49-F238E27FC236}">
                            <a16:creationId xmlns:a16="http://schemas.microsoft.com/office/drawing/2014/main" id="{E4F57AFA-600D-4A6F-B3C3-5A5E16D422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573" y="2489173"/>
                        <a:ext cx="4464050"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6">
            <a:extLst>
              <a:ext uri="{FF2B5EF4-FFF2-40B4-BE49-F238E27FC236}">
                <a16:creationId xmlns:a16="http://schemas.microsoft.com/office/drawing/2014/main" id="{C589F70F-FAEE-41C3-AAEC-5BDDB16A2777}"/>
              </a:ext>
            </a:extLst>
          </p:cNvPr>
          <p:cNvSpPr>
            <a:spLocks noChangeArrowheads="1"/>
          </p:cNvSpPr>
          <p:nvPr/>
        </p:nvSpPr>
        <p:spPr bwMode="auto">
          <a:xfrm>
            <a:off x="508386" y="3310059"/>
            <a:ext cx="56156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a:solidFill>
                  <a:srgbClr val="CC0066"/>
                </a:solidFill>
                <a:effectLst/>
                <a:latin typeface="Arial" panose="020B0604020202020204" pitchFamily="34" charset="0"/>
                <a:ea typeface="黑体" panose="02010609060101010101" pitchFamily="49" charset="-122"/>
                <a:cs typeface="Arial" panose="020B0604020202020204" pitchFamily="34" charset="0"/>
              </a:rPr>
              <a:t>问题：</a:t>
            </a:r>
            <a:r>
              <a:rPr kumimoji="1" lang="en-US" altLang="zh-CN" sz="2400" b="1" i="1">
                <a:solidFill>
                  <a:srgbClr val="CC0066"/>
                </a:solidFill>
                <a:effectLst/>
                <a:latin typeface="Arial" panose="020B0604020202020204" pitchFamily="34" charset="0"/>
                <a:ea typeface="黑体" panose="02010609060101010101" pitchFamily="49" charset="-122"/>
                <a:cs typeface="Arial" panose="020B0604020202020204" pitchFamily="34" charset="0"/>
              </a:rPr>
              <a:t>c</a:t>
            </a:r>
            <a:r>
              <a:rPr kumimoji="1" lang="zh-CN" altLang="en-US" sz="2400" b="1">
                <a:solidFill>
                  <a:srgbClr val="CC0066"/>
                </a:solidFill>
                <a:effectLst/>
                <a:latin typeface="Arial" panose="020B0604020202020204" pitchFamily="34" charset="0"/>
                <a:ea typeface="黑体" panose="02010609060101010101" pitchFamily="49" charset="-122"/>
                <a:cs typeface="Arial" panose="020B0604020202020204" pitchFamily="34" charset="0"/>
              </a:rPr>
              <a:t>是相对于哪一个参照系的速度？</a:t>
            </a:r>
          </a:p>
        </p:txBody>
      </p:sp>
      <p:sp>
        <p:nvSpPr>
          <p:cNvPr id="7" name="Rectangle 11">
            <a:extLst>
              <a:ext uri="{FF2B5EF4-FFF2-40B4-BE49-F238E27FC236}">
                <a16:creationId xmlns:a16="http://schemas.microsoft.com/office/drawing/2014/main" id="{EAD6EA9E-DA09-4046-BD56-1E3F50DFD472}"/>
              </a:ext>
            </a:extLst>
          </p:cNvPr>
          <p:cNvSpPr>
            <a:spLocks noChangeArrowheads="1"/>
          </p:cNvSpPr>
          <p:nvPr/>
        </p:nvSpPr>
        <p:spPr bwMode="auto">
          <a:xfrm>
            <a:off x="521086" y="1782884"/>
            <a:ext cx="142218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dirty="0">
                <a:solidFill>
                  <a:srgbClr val="0000FF"/>
                </a:solidFill>
                <a:effectLst/>
                <a:latin typeface="Arial" panose="020B0604020202020204" pitchFamily="34" charset="0"/>
                <a:ea typeface="黑体" panose="02010609060101010101" pitchFamily="49" charset="-122"/>
                <a:cs typeface="Arial" panose="020B0604020202020204" pitchFamily="34" charset="0"/>
              </a:rPr>
              <a:t>光的速度</a:t>
            </a:r>
            <a:endParaRPr kumimoji="1" lang="en-US" altLang="zh-CN" sz="2400" b="1" dirty="0">
              <a:solidFill>
                <a:srgbClr val="0000FF"/>
              </a:solidFill>
              <a:effectLst/>
              <a:latin typeface="Arial" panose="020B0604020202020204" pitchFamily="34" charset="0"/>
              <a:ea typeface="黑体" panose="02010609060101010101" pitchFamily="49" charset="-122"/>
              <a:cs typeface="Arial" panose="020B0604020202020204" pitchFamily="34" charset="0"/>
            </a:endParaRPr>
          </a:p>
        </p:txBody>
      </p:sp>
      <p:sp>
        <p:nvSpPr>
          <p:cNvPr id="8" name="Rectangle 11">
            <a:extLst>
              <a:ext uri="{FF2B5EF4-FFF2-40B4-BE49-F238E27FC236}">
                <a16:creationId xmlns:a16="http://schemas.microsoft.com/office/drawing/2014/main" id="{29BF451E-2FC1-4B0B-8C20-A3DB882EDAA3}"/>
              </a:ext>
            </a:extLst>
          </p:cNvPr>
          <p:cNvSpPr>
            <a:spLocks noChangeArrowheads="1"/>
          </p:cNvSpPr>
          <p:nvPr/>
        </p:nvSpPr>
        <p:spPr bwMode="auto">
          <a:xfrm>
            <a:off x="521086" y="4041599"/>
            <a:ext cx="482536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dirty="0">
                <a:solidFill>
                  <a:srgbClr val="0000FF"/>
                </a:solidFill>
                <a:latin typeface="Arial" panose="020B0604020202020204" pitchFamily="34" charset="0"/>
                <a:ea typeface="黑体" panose="02010609060101010101" pitchFamily="49" charset="-122"/>
                <a:cs typeface="Arial" panose="020B0604020202020204" pitchFamily="34" charset="0"/>
              </a:rPr>
              <a:t>麦克斯韦方程组不满足伽利略变换</a:t>
            </a:r>
            <a:endParaRPr kumimoji="1" lang="en-US" altLang="zh-CN" sz="2400" b="1" dirty="0">
              <a:solidFill>
                <a:srgbClr val="0000FF"/>
              </a:solidFill>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29526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8" name="Text Box 4">
            <a:extLst>
              <a:ext uri="{FF2B5EF4-FFF2-40B4-BE49-F238E27FC236}">
                <a16:creationId xmlns:a16="http://schemas.microsoft.com/office/drawing/2014/main" id="{BF40F598-17C1-40B9-9039-28A386BC43F6}"/>
              </a:ext>
            </a:extLst>
          </p:cNvPr>
          <p:cNvSpPr txBox="1">
            <a:spLocks noChangeArrowheads="1"/>
          </p:cNvSpPr>
          <p:nvPr/>
        </p:nvSpPr>
        <p:spPr bwMode="auto">
          <a:xfrm>
            <a:off x="682625" y="2001838"/>
            <a:ext cx="7777163"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kumimoji="1" lang="zh-CN" altLang="en-US" sz="2800" b="1">
                <a:solidFill>
                  <a:srgbClr val="CC0066"/>
                </a:solidFill>
                <a:effectLst/>
                <a:latin typeface="Times New Roman" panose="02020603050405020304" pitchFamily="18" charset="0"/>
                <a:ea typeface="黑体" panose="02010609060101010101" pitchFamily="49" charset="-122"/>
              </a:rPr>
              <a:t>以太说：</a:t>
            </a:r>
          </a:p>
          <a:p>
            <a:pPr algn="just">
              <a:spcBef>
                <a:spcPct val="50000"/>
              </a:spcBef>
            </a:pPr>
            <a:r>
              <a:rPr kumimoji="1" lang="zh-CN" altLang="en-US" sz="2800" b="1">
                <a:solidFill>
                  <a:srgbClr val="FFFF00"/>
                </a:solidFill>
                <a:effectLst/>
                <a:latin typeface="Times New Roman" panose="02020603050405020304" pitchFamily="18" charset="0"/>
                <a:ea typeface="宋体" panose="02010600030101010101" pitchFamily="2" charset="-122"/>
              </a:rPr>
              <a:t>      </a:t>
            </a:r>
            <a:r>
              <a:rPr kumimoji="1" lang="zh-CN" altLang="en-US" sz="2800" b="1">
                <a:solidFill>
                  <a:srgbClr val="000066"/>
                </a:solidFill>
                <a:effectLst/>
                <a:latin typeface="楷体_GB2312" pitchFamily="49" charset="-122"/>
              </a:rPr>
              <a:t>宇宙中弥漫着一种无所不在的媒质，万物（包括光）相对于该媒质运动。</a:t>
            </a:r>
            <a:r>
              <a:rPr kumimoji="1" lang="zh-CN" altLang="en-US" sz="2800" b="1">
                <a:solidFill>
                  <a:srgbClr val="FF0000"/>
                </a:solidFill>
                <a:effectLst/>
                <a:latin typeface="楷体_GB2312" pitchFamily="49" charset="-122"/>
              </a:rPr>
              <a:t>以太实际上被认为是一种绝对空间。</a:t>
            </a:r>
          </a:p>
          <a:p>
            <a:pPr algn="just">
              <a:spcBef>
                <a:spcPct val="50000"/>
              </a:spcBef>
            </a:pPr>
            <a:r>
              <a:rPr kumimoji="1" lang="zh-CN" altLang="en-US" sz="2800" b="1">
                <a:solidFill>
                  <a:schemeClr val="bg1"/>
                </a:solidFill>
                <a:effectLst/>
                <a:latin typeface="楷体_GB2312" pitchFamily="49" charset="-122"/>
              </a:rPr>
              <a:t>    </a:t>
            </a:r>
            <a:r>
              <a:rPr kumimoji="1" lang="zh-CN" altLang="en-US" sz="2800" b="1">
                <a:solidFill>
                  <a:srgbClr val="000066"/>
                </a:solidFill>
                <a:effectLst/>
                <a:latin typeface="楷体_GB2312" pitchFamily="49" charset="-122"/>
              </a:rPr>
              <a:t>若以太存在，对地球上的观察者来，不同方向的光速应不同。</a:t>
            </a:r>
          </a:p>
        </p:txBody>
      </p:sp>
      <p:sp>
        <p:nvSpPr>
          <p:cNvPr id="123909" name="Text Box 5">
            <a:extLst>
              <a:ext uri="{FF2B5EF4-FFF2-40B4-BE49-F238E27FC236}">
                <a16:creationId xmlns:a16="http://schemas.microsoft.com/office/drawing/2014/main" id="{C8439C80-EFF4-4358-BFBC-AE7C2119D2DA}"/>
              </a:ext>
            </a:extLst>
          </p:cNvPr>
          <p:cNvSpPr txBox="1">
            <a:spLocks noChangeArrowheads="1"/>
          </p:cNvSpPr>
          <p:nvPr/>
        </p:nvSpPr>
        <p:spPr bwMode="auto">
          <a:xfrm>
            <a:off x="684213" y="1325563"/>
            <a:ext cx="60483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a:solidFill>
                  <a:srgbClr val="0000FF"/>
                </a:solidFill>
                <a:effectLst/>
                <a:latin typeface="黑体" panose="02010609060101010101" pitchFamily="49" charset="-122"/>
                <a:ea typeface="黑体" panose="02010609060101010101" pitchFamily="49" charset="-122"/>
              </a:rPr>
              <a:t>1.2 </a:t>
            </a:r>
            <a:r>
              <a:rPr kumimoji="1" lang="zh-CN" altLang="en-US" sz="2800" b="1">
                <a:solidFill>
                  <a:srgbClr val="0000FF"/>
                </a:solidFill>
                <a:effectLst/>
                <a:latin typeface="黑体" panose="02010609060101010101" pitchFamily="49" charset="-122"/>
                <a:ea typeface="黑体" panose="02010609060101010101" pitchFamily="49" charset="-122"/>
              </a:rPr>
              <a:t>以太说与迈克尔逊</a:t>
            </a:r>
            <a:r>
              <a:rPr kumimoji="1" lang="en-US" altLang="zh-CN" sz="2800" b="1">
                <a:solidFill>
                  <a:srgbClr val="0000FF"/>
                </a:solidFill>
                <a:effectLst/>
                <a:latin typeface="黑体" panose="02010609060101010101" pitchFamily="49" charset="-122"/>
                <a:ea typeface="黑体" panose="02010609060101010101" pitchFamily="49" charset="-122"/>
              </a:rPr>
              <a:t>-</a:t>
            </a:r>
            <a:r>
              <a:rPr kumimoji="1" lang="zh-CN" altLang="en-US" sz="2800" b="1">
                <a:solidFill>
                  <a:srgbClr val="0000FF"/>
                </a:solidFill>
                <a:effectLst/>
                <a:latin typeface="黑体" panose="02010609060101010101" pitchFamily="49" charset="-122"/>
                <a:ea typeface="黑体" panose="02010609060101010101" pitchFamily="49" charset="-122"/>
              </a:rPr>
              <a:t>莫雷实验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908"/>
                                        </p:tgtEl>
                                        <p:attrNameLst>
                                          <p:attrName>style.visibility</p:attrName>
                                        </p:attrNameLst>
                                      </p:cBhvr>
                                      <p:to>
                                        <p:strVal val="visible"/>
                                      </p:to>
                                    </p:set>
                                    <p:anim calcmode="lin" valueType="num">
                                      <p:cBhvr additive="base">
                                        <p:cTn id="7" dur="500" fill="hold"/>
                                        <p:tgtEl>
                                          <p:spTgt spid="123908"/>
                                        </p:tgtEl>
                                        <p:attrNameLst>
                                          <p:attrName>ppt_x</p:attrName>
                                        </p:attrNameLst>
                                      </p:cBhvr>
                                      <p:tavLst>
                                        <p:tav tm="0">
                                          <p:val>
                                            <p:strVal val="0-#ppt_w/2"/>
                                          </p:val>
                                        </p:tav>
                                        <p:tav tm="100000">
                                          <p:val>
                                            <p:strVal val="#ppt_x"/>
                                          </p:val>
                                        </p:tav>
                                      </p:tavLst>
                                    </p:anim>
                                    <p:anim calcmode="lin" valueType="num">
                                      <p:cBhvr additive="base">
                                        <p:cTn id="8" dur="500" fill="hold"/>
                                        <p:tgtEl>
                                          <p:spTgt spid="1239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EF427A4-0C9A-4B0E-8B9B-BF7BE8B0480B}"/>
              </a:ext>
            </a:extLst>
          </p:cNvPr>
          <p:cNvPicPr>
            <a:picLocks noChangeAspect="1"/>
          </p:cNvPicPr>
          <p:nvPr/>
        </p:nvPicPr>
        <p:blipFill>
          <a:blip r:embed="rId2"/>
          <a:stretch>
            <a:fillRect/>
          </a:stretch>
        </p:blipFill>
        <p:spPr>
          <a:xfrm>
            <a:off x="1980299" y="1071816"/>
            <a:ext cx="5535096" cy="4276613"/>
          </a:xfrm>
          <a:prstGeom prst="rect">
            <a:avLst/>
          </a:prstGeom>
        </p:spPr>
      </p:pic>
    </p:spTree>
    <p:extLst>
      <p:ext uri="{BB962C8B-B14F-4D97-AF65-F5344CB8AC3E}">
        <p14:creationId xmlns:p14="http://schemas.microsoft.com/office/powerpoint/2010/main" val="3789968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Text Box 11">
            <a:extLst>
              <a:ext uri="{FF2B5EF4-FFF2-40B4-BE49-F238E27FC236}">
                <a16:creationId xmlns:a16="http://schemas.microsoft.com/office/drawing/2014/main" id="{0260BC3B-5FFB-4AB4-8213-E1BCC9984C85}"/>
              </a:ext>
            </a:extLst>
          </p:cNvPr>
          <p:cNvSpPr txBox="1">
            <a:spLocks noChangeArrowheads="1"/>
          </p:cNvSpPr>
          <p:nvPr/>
        </p:nvSpPr>
        <p:spPr bwMode="auto">
          <a:xfrm>
            <a:off x="468313" y="1328738"/>
            <a:ext cx="4103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zh-CN" sz="2800" b="1">
                <a:latin typeface="Times New Roman" panose="02020603050405020304" pitchFamily="18" charset="0"/>
              </a:rPr>
              <a:t>  </a:t>
            </a:r>
            <a:r>
              <a:rPr lang="zh-CN" altLang="en-US" sz="2800" b="1">
                <a:latin typeface="Times New Roman" panose="02020603050405020304" pitchFamily="18" charset="0"/>
              </a:rPr>
              <a:t>光顺着以太方向传播 </a:t>
            </a:r>
          </a:p>
        </p:txBody>
      </p:sp>
      <p:sp>
        <p:nvSpPr>
          <p:cNvPr id="15379" name="Text Box 19">
            <a:extLst>
              <a:ext uri="{FF2B5EF4-FFF2-40B4-BE49-F238E27FC236}">
                <a16:creationId xmlns:a16="http://schemas.microsoft.com/office/drawing/2014/main" id="{82F19B5E-7D4C-49F2-8EC5-2976BCE41D83}"/>
              </a:ext>
            </a:extLst>
          </p:cNvPr>
          <p:cNvSpPr txBox="1">
            <a:spLocks noChangeArrowheads="1"/>
          </p:cNvSpPr>
          <p:nvPr/>
        </p:nvSpPr>
        <p:spPr bwMode="auto">
          <a:xfrm>
            <a:off x="539750" y="2697163"/>
            <a:ext cx="4032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光逆着以太方向传播 </a:t>
            </a:r>
          </a:p>
        </p:txBody>
      </p:sp>
      <p:grpSp>
        <p:nvGrpSpPr>
          <p:cNvPr id="15391" name="Group 31">
            <a:extLst>
              <a:ext uri="{FF2B5EF4-FFF2-40B4-BE49-F238E27FC236}">
                <a16:creationId xmlns:a16="http://schemas.microsoft.com/office/drawing/2014/main" id="{080CF4CB-2954-4F2B-8868-6BB5F6A833CB}"/>
              </a:ext>
            </a:extLst>
          </p:cNvPr>
          <p:cNvGrpSpPr>
            <a:grpSpLocks/>
          </p:cNvGrpSpPr>
          <p:nvPr/>
        </p:nvGrpSpPr>
        <p:grpSpPr bwMode="auto">
          <a:xfrm>
            <a:off x="5219700" y="2781300"/>
            <a:ext cx="2160588" cy="1223963"/>
            <a:chOff x="3288" y="1661"/>
            <a:chExt cx="1361" cy="771"/>
          </a:xfrm>
        </p:grpSpPr>
        <p:sp>
          <p:nvSpPr>
            <p:cNvPr id="15390" name="Rectangle 30">
              <a:extLst>
                <a:ext uri="{FF2B5EF4-FFF2-40B4-BE49-F238E27FC236}">
                  <a16:creationId xmlns:a16="http://schemas.microsoft.com/office/drawing/2014/main" id="{0788B96D-97DF-473D-B712-68D1682E172D}"/>
                </a:ext>
              </a:extLst>
            </p:cNvPr>
            <p:cNvSpPr>
              <a:spLocks noChangeArrowheads="1"/>
            </p:cNvSpPr>
            <p:nvPr/>
          </p:nvSpPr>
          <p:spPr bwMode="auto">
            <a:xfrm>
              <a:off x="3288" y="1661"/>
              <a:ext cx="1361" cy="771"/>
            </a:xfrm>
            <a:prstGeom prst="rect">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83" name="Group 23">
              <a:extLst>
                <a:ext uri="{FF2B5EF4-FFF2-40B4-BE49-F238E27FC236}">
                  <a16:creationId xmlns:a16="http://schemas.microsoft.com/office/drawing/2014/main" id="{47349D0F-D937-4830-BAD0-62E86E44756C}"/>
                </a:ext>
              </a:extLst>
            </p:cNvPr>
            <p:cNvGrpSpPr>
              <a:grpSpLocks/>
            </p:cNvGrpSpPr>
            <p:nvPr/>
          </p:nvGrpSpPr>
          <p:grpSpPr bwMode="auto">
            <a:xfrm>
              <a:off x="3515" y="1797"/>
              <a:ext cx="1045" cy="551"/>
              <a:chOff x="3572" y="1207"/>
              <a:chExt cx="1045" cy="551"/>
            </a:xfrm>
          </p:grpSpPr>
          <mc:AlternateContent xmlns:mc="http://schemas.openxmlformats.org/markup-compatibility/2006" xmlns:a14="http://schemas.microsoft.com/office/drawing/2010/main">
            <mc:Choice Requires="a14">
              <p:sp>
                <p:nvSpPr>
                  <p:cNvPr id="15369" name="Object 9">
                    <a:extLst>
                      <a:ext uri="{FF2B5EF4-FFF2-40B4-BE49-F238E27FC236}">
                        <a16:creationId xmlns:a16="http://schemas.microsoft.com/office/drawing/2014/main" id="{8C395A33-17A6-4DAF-A124-1FA601FAA98F}"/>
                      </a:ext>
                    </a:extLst>
                  </p:cNvPr>
                  <p:cNvSpPr txBox="1"/>
                  <p:nvPr/>
                </p:nvSpPr>
                <p:spPr bwMode="auto">
                  <a:xfrm>
                    <a:off x="4195" y="1253"/>
                    <a:ext cx="182"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𝑐</m:t>
                          </m:r>
                        </m:oMath>
                      </m:oMathPara>
                    </a14:m>
                    <a:endParaRPr lang="zh-CN" altLang="en-US"/>
                  </a:p>
                </p:txBody>
              </p:sp>
            </mc:Choice>
            <mc:Fallback xmlns="">
              <p:sp>
                <p:nvSpPr>
                  <p:cNvPr id="15369" name="Object 9">
                    <a:extLst>
                      <a:ext uri="{FF2B5EF4-FFF2-40B4-BE49-F238E27FC236}">
                        <a16:creationId xmlns:a16="http://schemas.microsoft.com/office/drawing/2014/main" id="{8C395A33-17A6-4DAF-A124-1FA601FAA98F}"/>
                      </a:ext>
                    </a:extLst>
                  </p:cNvPr>
                  <p:cNvSpPr txBox="1">
                    <a:spLocks noRot="1" noChangeAspect="1" noMove="1" noResize="1" noEditPoints="1" noAdjustHandles="1" noChangeArrowheads="1" noChangeShapeType="1" noTextEdit="1"/>
                  </p:cNvSpPr>
                  <p:nvPr/>
                </p:nvSpPr>
                <p:spPr bwMode="auto">
                  <a:xfrm>
                    <a:off x="4195" y="1253"/>
                    <a:ext cx="182" cy="227"/>
                  </a:xfrm>
                  <a:prstGeom prst="rect">
                    <a:avLst/>
                  </a:prstGeom>
                  <a:blipFill>
                    <a:blip r:embed="rId2"/>
                    <a:stretch>
                      <a:fillRect/>
                    </a:stretch>
                  </a:blipFill>
                  <a:ln>
                    <a:noFill/>
                  </a:ln>
                </p:spPr>
                <p:txBody>
                  <a:bodyPr/>
                  <a:lstStyle/>
                  <a:p>
                    <a:r>
                      <a:rPr lang="zh-CN" altLang="en-US">
                        <a:noFill/>
                      </a:rPr>
                      <a:t> </a:t>
                    </a:r>
                  </a:p>
                </p:txBody>
              </p:sp>
            </mc:Fallback>
          </mc:AlternateContent>
          <p:sp>
            <p:nvSpPr>
              <p:cNvPr id="15373" name="Line 13">
                <a:extLst>
                  <a:ext uri="{FF2B5EF4-FFF2-40B4-BE49-F238E27FC236}">
                    <a16:creationId xmlns:a16="http://schemas.microsoft.com/office/drawing/2014/main" id="{96AC5E97-E853-4BC9-A1D1-DE75939C1A9D}"/>
                  </a:ext>
                </a:extLst>
              </p:cNvPr>
              <p:cNvSpPr>
                <a:spLocks noChangeShapeType="1"/>
              </p:cNvSpPr>
              <p:nvPr/>
            </p:nvSpPr>
            <p:spPr bwMode="auto">
              <a:xfrm flipH="1" flipV="1">
                <a:off x="3787" y="1525"/>
                <a:ext cx="402" cy="0"/>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15374" name="Object 14">
                    <a:extLst>
                      <a:ext uri="{FF2B5EF4-FFF2-40B4-BE49-F238E27FC236}">
                        <a16:creationId xmlns:a16="http://schemas.microsoft.com/office/drawing/2014/main" id="{3686AA65-9B91-4A13-AF31-7952AFBBDB72}"/>
                      </a:ext>
                    </a:extLst>
                  </p:cNvPr>
                  <p:cNvSpPr txBox="1"/>
                  <p:nvPr/>
                </p:nvSpPr>
                <p:spPr bwMode="auto">
                  <a:xfrm>
                    <a:off x="3696" y="1525"/>
                    <a:ext cx="597" cy="23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v</m:t>
                          </m:r>
                        </m:oMath>
                      </m:oMathPara>
                    </a14:m>
                    <a:endParaRPr lang="zh-CN" altLang="en-US"/>
                  </a:p>
                </p:txBody>
              </p:sp>
            </mc:Choice>
            <mc:Fallback xmlns="">
              <p:sp>
                <p:nvSpPr>
                  <p:cNvPr id="15374" name="Object 14">
                    <a:extLst>
                      <a:ext uri="{FF2B5EF4-FFF2-40B4-BE49-F238E27FC236}">
                        <a16:creationId xmlns:a16="http://schemas.microsoft.com/office/drawing/2014/main" id="{3686AA65-9B91-4A13-AF31-7952AFBBDB72}"/>
                      </a:ext>
                    </a:extLst>
                  </p:cNvPr>
                  <p:cNvSpPr txBox="1">
                    <a:spLocks noRot="1" noChangeAspect="1" noMove="1" noResize="1" noEditPoints="1" noAdjustHandles="1" noChangeArrowheads="1" noChangeShapeType="1" noTextEdit="1"/>
                  </p:cNvSpPr>
                  <p:nvPr/>
                </p:nvSpPr>
                <p:spPr bwMode="auto">
                  <a:xfrm>
                    <a:off x="3696" y="1525"/>
                    <a:ext cx="597" cy="233"/>
                  </a:xfrm>
                  <a:prstGeom prst="rect">
                    <a:avLst/>
                  </a:prstGeom>
                  <a:blipFill>
                    <a:blip r:embed="rId3"/>
                    <a:stretch>
                      <a:fillRect/>
                    </a:stretch>
                  </a:blipFill>
                  <a:ln>
                    <a:noFill/>
                  </a:ln>
                </p:spPr>
                <p:txBody>
                  <a:bodyPr/>
                  <a:lstStyle/>
                  <a:p>
                    <a:r>
                      <a:rPr lang="zh-CN" altLang="en-US">
                        <a:noFill/>
                      </a:rPr>
                      <a:t> </a:t>
                    </a:r>
                  </a:p>
                </p:txBody>
              </p:sp>
            </mc:Fallback>
          </mc:AlternateContent>
          <p:sp>
            <p:nvSpPr>
              <p:cNvPr id="15376" name="Line 16">
                <a:extLst>
                  <a:ext uri="{FF2B5EF4-FFF2-40B4-BE49-F238E27FC236}">
                    <a16:creationId xmlns:a16="http://schemas.microsoft.com/office/drawing/2014/main" id="{88DA9919-5636-4571-836B-383A25271DA8}"/>
                  </a:ext>
                </a:extLst>
              </p:cNvPr>
              <p:cNvSpPr>
                <a:spLocks noChangeShapeType="1"/>
              </p:cNvSpPr>
              <p:nvPr/>
            </p:nvSpPr>
            <p:spPr bwMode="auto">
              <a:xfrm flipH="1">
                <a:off x="3962" y="1207"/>
                <a:ext cx="655"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380" name="Line 20">
                <a:extLst>
                  <a:ext uri="{FF2B5EF4-FFF2-40B4-BE49-F238E27FC236}">
                    <a16:creationId xmlns:a16="http://schemas.microsoft.com/office/drawing/2014/main" id="{D15A9C6D-BC1B-4C07-9EA1-C541AFEE4E5B}"/>
                  </a:ext>
                </a:extLst>
              </p:cNvPr>
              <p:cNvSpPr>
                <a:spLocks noChangeAspect="1" noChangeShapeType="1"/>
              </p:cNvSpPr>
              <p:nvPr/>
            </p:nvSpPr>
            <p:spPr bwMode="auto">
              <a:xfrm>
                <a:off x="3572" y="1207"/>
                <a:ext cx="305"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15381" name="Object 21">
                    <a:extLst>
                      <a:ext uri="{FF2B5EF4-FFF2-40B4-BE49-F238E27FC236}">
                        <a16:creationId xmlns:a16="http://schemas.microsoft.com/office/drawing/2014/main" id="{D5C8D403-818E-4DDA-A512-155D65F09D51}"/>
                      </a:ext>
                    </a:extLst>
                  </p:cNvPr>
                  <p:cNvSpPr txBox="1"/>
                  <p:nvPr/>
                </p:nvSpPr>
                <p:spPr bwMode="auto">
                  <a:xfrm>
                    <a:off x="3606" y="1253"/>
                    <a:ext cx="220"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i="1">
                              <a:solidFill>
                                <a:srgbClr val="000000"/>
                              </a:solidFill>
                              <a:latin typeface="Cambria Math" panose="02040503050406030204" pitchFamily="18" charset="0"/>
                            </a:rPr>
                            <m:t>v</m:t>
                          </m:r>
                        </m:oMath>
                      </m:oMathPara>
                    </a14:m>
                    <a:endParaRPr lang="zh-CN" altLang="en-US"/>
                  </a:p>
                </p:txBody>
              </p:sp>
            </mc:Choice>
            <mc:Fallback xmlns="">
              <p:sp>
                <p:nvSpPr>
                  <p:cNvPr id="15381" name="Object 21">
                    <a:extLst>
                      <a:ext uri="{FF2B5EF4-FFF2-40B4-BE49-F238E27FC236}">
                        <a16:creationId xmlns:a16="http://schemas.microsoft.com/office/drawing/2014/main" id="{D5C8D403-818E-4DDA-A512-155D65F09D51}"/>
                      </a:ext>
                    </a:extLst>
                  </p:cNvPr>
                  <p:cNvSpPr txBox="1">
                    <a:spLocks noRot="1" noChangeAspect="1" noMove="1" noResize="1" noEditPoints="1" noAdjustHandles="1" noChangeArrowheads="1" noChangeShapeType="1" noTextEdit="1"/>
                  </p:cNvSpPr>
                  <p:nvPr/>
                </p:nvSpPr>
                <p:spPr bwMode="auto">
                  <a:xfrm>
                    <a:off x="3606" y="1253"/>
                    <a:ext cx="220" cy="227"/>
                  </a:xfrm>
                  <a:prstGeom prst="rect">
                    <a:avLst/>
                  </a:prstGeom>
                  <a:blipFill>
                    <a:blip r:embed="rId4"/>
                    <a:stretch>
                      <a:fillRect/>
                    </a:stretch>
                  </a:blipFill>
                  <a:ln>
                    <a:noFill/>
                  </a:ln>
                </p:spPr>
                <p:txBody>
                  <a:bodyPr/>
                  <a:lstStyle/>
                  <a:p>
                    <a:r>
                      <a:rPr lang="zh-CN" altLang="en-US">
                        <a:noFill/>
                      </a:rPr>
                      <a:t> </a:t>
                    </a:r>
                  </a:p>
                </p:txBody>
              </p:sp>
            </mc:Fallback>
          </mc:AlternateContent>
        </p:grpSp>
      </p:grpSp>
      <p:grpSp>
        <p:nvGrpSpPr>
          <p:cNvPr id="15389" name="Group 29">
            <a:extLst>
              <a:ext uri="{FF2B5EF4-FFF2-40B4-BE49-F238E27FC236}">
                <a16:creationId xmlns:a16="http://schemas.microsoft.com/office/drawing/2014/main" id="{9B238B29-A72B-4362-A51C-66B333FCA195}"/>
              </a:ext>
            </a:extLst>
          </p:cNvPr>
          <p:cNvGrpSpPr>
            <a:grpSpLocks/>
          </p:cNvGrpSpPr>
          <p:nvPr/>
        </p:nvGrpSpPr>
        <p:grpSpPr bwMode="auto">
          <a:xfrm>
            <a:off x="5219700" y="1125538"/>
            <a:ext cx="2160588" cy="1295400"/>
            <a:chOff x="3288" y="709"/>
            <a:chExt cx="1361" cy="816"/>
          </a:xfrm>
        </p:grpSpPr>
        <p:sp>
          <p:nvSpPr>
            <p:cNvPr id="15388" name="Rectangle 28">
              <a:extLst>
                <a:ext uri="{FF2B5EF4-FFF2-40B4-BE49-F238E27FC236}">
                  <a16:creationId xmlns:a16="http://schemas.microsoft.com/office/drawing/2014/main" id="{EFA8F516-7522-44A8-A355-2C6D65913168}"/>
                </a:ext>
              </a:extLst>
            </p:cNvPr>
            <p:cNvSpPr>
              <a:spLocks noChangeArrowheads="1"/>
            </p:cNvSpPr>
            <p:nvPr/>
          </p:nvSpPr>
          <p:spPr bwMode="auto">
            <a:xfrm>
              <a:off x="3288" y="709"/>
              <a:ext cx="1361" cy="816"/>
            </a:xfrm>
            <a:prstGeom prst="rect">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5" name="Line 5">
              <a:extLst>
                <a:ext uri="{FF2B5EF4-FFF2-40B4-BE49-F238E27FC236}">
                  <a16:creationId xmlns:a16="http://schemas.microsoft.com/office/drawing/2014/main" id="{9738FC0D-938D-4F99-B872-746FD267BBB5}"/>
                </a:ext>
              </a:extLst>
            </p:cNvPr>
            <p:cNvSpPr>
              <a:spLocks noChangeAspect="1" noChangeShapeType="1"/>
            </p:cNvSpPr>
            <p:nvPr/>
          </p:nvSpPr>
          <p:spPr bwMode="auto">
            <a:xfrm>
              <a:off x="3515" y="844"/>
              <a:ext cx="915" cy="0"/>
            </a:xfrm>
            <a:prstGeom prst="line">
              <a:avLst/>
            </a:prstGeom>
            <a:noFill/>
            <a:ln w="28575">
              <a:solidFill>
                <a:srgbClr val="FFFF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5366" name="Line 6">
              <a:extLst>
                <a:ext uri="{FF2B5EF4-FFF2-40B4-BE49-F238E27FC236}">
                  <a16:creationId xmlns:a16="http://schemas.microsoft.com/office/drawing/2014/main" id="{55D689CF-9755-41A7-B3CC-882490BB3280}"/>
                </a:ext>
              </a:extLst>
            </p:cNvPr>
            <p:cNvSpPr>
              <a:spLocks noChangeAspect="1" noChangeShapeType="1"/>
            </p:cNvSpPr>
            <p:nvPr/>
          </p:nvSpPr>
          <p:spPr bwMode="auto">
            <a:xfrm>
              <a:off x="3515" y="1184"/>
              <a:ext cx="305"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5367" name="Line 7">
              <a:extLst>
                <a:ext uri="{FF2B5EF4-FFF2-40B4-BE49-F238E27FC236}">
                  <a16:creationId xmlns:a16="http://schemas.microsoft.com/office/drawing/2014/main" id="{D50A1F8B-1944-4594-AF41-B6A7E93E91EE}"/>
                </a:ext>
              </a:extLst>
            </p:cNvPr>
            <p:cNvSpPr>
              <a:spLocks noChangeShapeType="1"/>
            </p:cNvSpPr>
            <p:nvPr/>
          </p:nvSpPr>
          <p:spPr bwMode="auto">
            <a:xfrm>
              <a:off x="3896" y="1184"/>
              <a:ext cx="6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15368" name="Object 8">
                  <a:extLst>
                    <a:ext uri="{FF2B5EF4-FFF2-40B4-BE49-F238E27FC236}">
                      <a16:creationId xmlns:a16="http://schemas.microsoft.com/office/drawing/2014/main" id="{5FA19988-D68A-44FD-8B46-B28BC0539BF9}"/>
                    </a:ext>
                  </a:extLst>
                </p:cNvPr>
                <p:cNvSpPr txBox="1"/>
                <p:nvPr/>
              </p:nvSpPr>
              <p:spPr bwMode="auto">
                <a:xfrm>
                  <a:off x="3549" y="1252"/>
                  <a:ext cx="220"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i="1">
                            <a:solidFill>
                              <a:srgbClr val="000000"/>
                            </a:solidFill>
                            <a:latin typeface="Cambria Math" panose="02040503050406030204" pitchFamily="18" charset="0"/>
                          </a:rPr>
                          <m:t>v</m:t>
                        </m:r>
                      </m:oMath>
                    </m:oMathPara>
                  </a14:m>
                  <a:endParaRPr lang="zh-CN" altLang="en-US"/>
                </a:p>
              </p:txBody>
            </p:sp>
          </mc:Choice>
          <mc:Fallback xmlns="">
            <p:sp>
              <p:nvSpPr>
                <p:cNvPr id="15368" name="Object 8">
                  <a:extLst>
                    <a:ext uri="{FF2B5EF4-FFF2-40B4-BE49-F238E27FC236}">
                      <a16:creationId xmlns:a16="http://schemas.microsoft.com/office/drawing/2014/main" id="{5FA19988-D68A-44FD-8B46-B28BC0539BF9}"/>
                    </a:ext>
                  </a:extLst>
                </p:cNvPr>
                <p:cNvSpPr txBox="1">
                  <a:spLocks noRot="1" noChangeAspect="1" noMove="1" noResize="1" noEditPoints="1" noAdjustHandles="1" noChangeArrowheads="1" noChangeShapeType="1" noTextEdit="1"/>
                </p:cNvSpPr>
                <p:nvPr/>
              </p:nvSpPr>
              <p:spPr bwMode="auto">
                <a:xfrm>
                  <a:off x="3549" y="1252"/>
                  <a:ext cx="220" cy="227"/>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70" name="Object 10">
                  <a:extLst>
                    <a:ext uri="{FF2B5EF4-FFF2-40B4-BE49-F238E27FC236}">
                      <a16:creationId xmlns:a16="http://schemas.microsoft.com/office/drawing/2014/main" id="{78E5C3F5-C19F-4161-98DE-E99149ECBF2B}"/>
                    </a:ext>
                  </a:extLst>
                </p:cNvPr>
                <p:cNvSpPr txBox="1"/>
                <p:nvPr/>
              </p:nvSpPr>
              <p:spPr bwMode="auto">
                <a:xfrm>
                  <a:off x="3733" y="844"/>
                  <a:ext cx="611" cy="261"/>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v</m:t>
                        </m:r>
                      </m:oMath>
                    </m:oMathPara>
                  </a14:m>
                  <a:endParaRPr lang="zh-CN" altLang="en-US"/>
                </a:p>
              </p:txBody>
            </p:sp>
          </mc:Choice>
          <mc:Fallback xmlns="">
            <p:sp>
              <p:nvSpPr>
                <p:cNvPr id="15370" name="Object 10">
                  <a:extLst>
                    <a:ext uri="{FF2B5EF4-FFF2-40B4-BE49-F238E27FC236}">
                      <a16:creationId xmlns:a16="http://schemas.microsoft.com/office/drawing/2014/main" id="{78E5C3F5-C19F-4161-98DE-E99149ECBF2B}"/>
                    </a:ext>
                  </a:extLst>
                </p:cNvPr>
                <p:cNvSpPr txBox="1">
                  <a:spLocks noRot="1" noChangeAspect="1" noMove="1" noResize="1" noEditPoints="1" noAdjustHandles="1" noChangeArrowheads="1" noChangeShapeType="1" noTextEdit="1"/>
                </p:cNvSpPr>
                <p:nvPr/>
              </p:nvSpPr>
              <p:spPr bwMode="auto">
                <a:xfrm>
                  <a:off x="3733" y="844"/>
                  <a:ext cx="611" cy="261"/>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82" name="Object 22">
                  <a:extLst>
                    <a:ext uri="{FF2B5EF4-FFF2-40B4-BE49-F238E27FC236}">
                      <a16:creationId xmlns:a16="http://schemas.microsoft.com/office/drawing/2014/main" id="{617F37E0-AFCB-4359-B197-8B937917858C}"/>
                    </a:ext>
                  </a:extLst>
                </p:cNvPr>
                <p:cNvSpPr txBox="1"/>
                <p:nvPr/>
              </p:nvSpPr>
              <p:spPr bwMode="auto">
                <a:xfrm>
                  <a:off x="4105" y="1252"/>
                  <a:ext cx="182"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𝑐</m:t>
                        </m:r>
                      </m:oMath>
                    </m:oMathPara>
                  </a14:m>
                  <a:endParaRPr lang="zh-CN" altLang="en-US"/>
                </a:p>
              </p:txBody>
            </p:sp>
          </mc:Choice>
          <mc:Fallback xmlns="">
            <p:sp>
              <p:nvSpPr>
                <p:cNvPr id="15382" name="Object 22">
                  <a:extLst>
                    <a:ext uri="{FF2B5EF4-FFF2-40B4-BE49-F238E27FC236}">
                      <a16:creationId xmlns:a16="http://schemas.microsoft.com/office/drawing/2014/main" id="{617F37E0-AFCB-4359-B197-8B937917858C}"/>
                    </a:ext>
                  </a:extLst>
                </p:cNvPr>
                <p:cNvSpPr txBox="1">
                  <a:spLocks noRot="1" noChangeAspect="1" noMove="1" noResize="1" noEditPoints="1" noAdjustHandles="1" noChangeArrowheads="1" noChangeShapeType="1" noTextEdit="1"/>
                </p:cNvSpPr>
                <p:nvPr/>
              </p:nvSpPr>
              <p:spPr bwMode="auto">
                <a:xfrm>
                  <a:off x="4105" y="1252"/>
                  <a:ext cx="182" cy="227"/>
                </a:xfrm>
                <a:prstGeom prst="rect">
                  <a:avLst/>
                </a:prstGeom>
                <a:blipFill>
                  <a:blip r:embed="rId7"/>
                  <a:stretch>
                    <a:fillRect/>
                  </a:stretch>
                </a:blipFill>
                <a:ln>
                  <a:noFill/>
                </a:ln>
              </p:spPr>
              <p:txBody>
                <a:bodyPr/>
                <a:lstStyle/>
                <a:p>
                  <a:r>
                    <a:rPr lang="zh-CN" altLang="en-US">
                      <a:noFill/>
                    </a:rPr>
                    <a:t> </a:t>
                  </a:r>
                </a:p>
              </p:txBody>
            </p:sp>
          </mc:Fallback>
        </mc:AlternateContent>
      </p:grpSp>
      <p:sp>
        <p:nvSpPr>
          <p:cNvPr id="15384" name="Text Box 24">
            <a:extLst>
              <a:ext uri="{FF2B5EF4-FFF2-40B4-BE49-F238E27FC236}">
                <a16:creationId xmlns:a16="http://schemas.microsoft.com/office/drawing/2014/main" id="{A739B6D3-4830-4E0A-BD69-40EAFCA5C955}"/>
              </a:ext>
            </a:extLst>
          </p:cNvPr>
          <p:cNvSpPr txBox="1">
            <a:spLocks noChangeArrowheads="1"/>
          </p:cNvSpPr>
          <p:nvPr/>
        </p:nvSpPr>
        <p:spPr bwMode="auto">
          <a:xfrm>
            <a:off x="539750" y="3933825"/>
            <a:ext cx="4464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Times New Roman" panose="02020603050405020304" pitchFamily="18" charset="0"/>
              </a:rPr>
              <a:t>往返一次所需时间： </a:t>
            </a:r>
          </a:p>
        </p:txBody>
      </p:sp>
      <mc:AlternateContent xmlns:mc="http://schemas.openxmlformats.org/markup-compatibility/2006" xmlns:a14="http://schemas.microsoft.com/office/drawing/2010/main">
        <mc:Choice Requires="a14">
          <p:sp>
            <p:nvSpPr>
              <p:cNvPr id="15385" name="Object 25">
                <a:extLst>
                  <a:ext uri="{FF2B5EF4-FFF2-40B4-BE49-F238E27FC236}">
                    <a16:creationId xmlns:a16="http://schemas.microsoft.com/office/drawing/2014/main" id="{9935D9EB-A155-4838-88BC-4B5D95EE7F42}"/>
                  </a:ext>
                </a:extLst>
              </p:cNvPr>
              <p:cNvSpPr txBox="1"/>
              <p:nvPr/>
            </p:nvSpPr>
            <p:spPr bwMode="auto">
              <a:xfrm>
                <a:off x="1536700" y="4893469"/>
                <a:ext cx="5616575" cy="1389063"/>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𝑙</m:t>
                          </m:r>
                        </m:num>
                        <m:den>
                          <m:r>
                            <a:rPr lang="zh-CN" altLang="en-US" sz="2400" i="1">
                              <a:solidFill>
                                <a:srgbClr val="000000"/>
                              </a:solidFill>
                              <a:latin typeface="Cambria Math" panose="02040503050406030204" pitchFamily="18" charset="0"/>
                            </a:rPr>
                            <m:t>𝑐</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𝑣</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𝑙</m:t>
                          </m:r>
                        </m:num>
                        <m:den>
                          <m:r>
                            <a:rPr lang="zh-CN" altLang="en-US" sz="2400" i="1">
                              <a:solidFill>
                                <a:srgbClr val="000000"/>
                              </a:solidFill>
                              <a:latin typeface="Cambria Math" panose="02040503050406030204" pitchFamily="18" charset="0"/>
                            </a:rPr>
                            <m:t>𝑐</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𝑣</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𝑙</m:t>
                          </m:r>
                        </m:num>
                        <m:den>
                          <m:r>
                            <a:rPr lang="zh-CN" altLang="en-US" sz="2400" i="1">
                              <a:solidFill>
                                <a:srgbClr val="000000"/>
                              </a:solidFill>
                              <a:latin typeface="Cambria Math" panose="02040503050406030204" pitchFamily="18" charset="0"/>
                            </a:rPr>
                            <m:t>𝑐</m:t>
                          </m:r>
                        </m:den>
                      </m:f>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den>
                              </m:f>
                            </m:e>
                          </m:d>
                        </m:e>
                        <m:sup>
                          <m:r>
                            <a:rPr lang="zh-CN" altLang="en-US" sz="2400" i="1">
                              <a:solidFill>
                                <a:srgbClr val="000000"/>
                              </a:solidFill>
                              <a:latin typeface="Cambria Math" panose="02040503050406030204" pitchFamily="18" charset="0"/>
                            </a:rPr>
                            <m:t>−1</m:t>
                          </m:r>
                        </m:sup>
                      </m:sSup>
                    </m:oMath>
                  </m:oMathPara>
                </a14:m>
                <a:endParaRPr lang="zh-CN" altLang="en-US" sz="2400" dirty="0"/>
              </a:p>
            </p:txBody>
          </p:sp>
        </mc:Choice>
        <mc:Fallback xmlns="">
          <p:sp>
            <p:nvSpPr>
              <p:cNvPr id="15385" name="Object 25">
                <a:extLst>
                  <a:ext uri="{FF2B5EF4-FFF2-40B4-BE49-F238E27FC236}">
                    <a16:creationId xmlns:a16="http://schemas.microsoft.com/office/drawing/2014/main" id="{9935D9EB-A155-4838-88BC-4B5D95EE7F42}"/>
                  </a:ext>
                </a:extLst>
              </p:cNvPr>
              <p:cNvSpPr txBox="1">
                <a:spLocks noRot="1" noChangeAspect="1" noMove="1" noResize="1" noEditPoints="1" noAdjustHandles="1" noChangeArrowheads="1" noChangeShapeType="1" noTextEdit="1"/>
              </p:cNvSpPr>
              <p:nvPr/>
            </p:nvSpPr>
            <p:spPr bwMode="auto">
              <a:xfrm>
                <a:off x="1536700" y="4893469"/>
                <a:ext cx="5616575" cy="1389063"/>
              </a:xfrm>
              <a:prstGeom prst="rect">
                <a:avLst/>
              </a:prstGeom>
              <a:blipFill>
                <a:blip r:embed="rId8"/>
                <a:stretch>
                  <a:fillRect/>
                </a:stretch>
              </a:blipFill>
            </p:spPr>
            <p:txBody>
              <a:bodyPr/>
              <a:lstStyle/>
              <a:p>
                <a:r>
                  <a:rPr lang="zh-CN" altLang="en-US">
                    <a:noFill/>
                  </a:rPr>
                  <a:t> </a:t>
                </a:r>
              </a:p>
            </p:txBody>
          </p:sp>
        </mc:Fallback>
      </mc:AlternateContent>
      <p:sp>
        <p:nvSpPr>
          <p:cNvPr id="15387" name="Text Box 27">
            <a:extLst>
              <a:ext uri="{FF2B5EF4-FFF2-40B4-BE49-F238E27FC236}">
                <a16:creationId xmlns:a16="http://schemas.microsoft.com/office/drawing/2014/main" id="{946E9490-067A-40D5-A410-C0AAC8F68A2A}"/>
              </a:ext>
            </a:extLst>
          </p:cNvPr>
          <p:cNvSpPr txBox="1">
            <a:spLocks noChangeArrowheads="1"/>
          </p:cNvSpPr>
          <p:nvPr/>
        </p:nvSpPr>
        <p:spPr bwMode="auto">
          <a:xfrm>
            <a:off x="539750" y="549275"/>
            <a:ext cx="3311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光路（</a:t>
            </a:r>
            <a:r>
              <a:rPr lang="en-US" altLang="zh-CN" sz="2800" b="1" dirty="0"/>
              <a:t>1</a:t>
            </a:r>
            <a:r>
              <a:rPr lang="zh-CN" altLang="en-US" sz="2800" b="1"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87"/>
                                        </p:tgtEl>
                                        <p:attrNameLst>
                                          <p:attrName>style.visibility</p:attrName>
                                        </p:attrNameLst>
                                      </p:cBhvr>
                                      <p:to>
                                        <p:strVal val="visible"/>
                                      </p:to>
                                    </p:set>
                                    <p:animEffect transition="in" filter="wipe(left)">
                                      <p:cBhvr>
                                        <p:cTn id="7" dur="500"/>
                                        <p:tgtEl>
                                          <p:spTgt spid="15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71"/>
                                        </p:tgtEl>
                                        <p:attrNameLst>
                                          <p:attrName>style.visibility</p:attrName>
                                        </p:attrNameLst>
                                      </p:cBhvr>
                                      <p:to>
                                        <p:strVal val="visible"/>
                                      </p:to>
                                    </p:set>
                                    <p:animEffect transition="in" filter="wipe(left)">
                                      <p:cBhvr>
                                        <p:cTn id="12" dur="500"/>
                                        <p:tgtEl>
                                          <p:spTgt spid="153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538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379"/>
                                        </p:tgtEl>
                                        <p:attrNameLst>
                                          <p:attrName>style.visibility</p:attrName>
                                        </p:attrNameLst>
                                      </p:cBhvr>
                                      <p:to>
                                        <p:strVal val="visible"/>
                                      </p:to>
                                    </p:set>
                                    <p:animEffect transition="in" filter="wipe(left)">
                                      <p:cBhvr>
                                        <p:cTn id="21" dur="500"/>
                                        <p:tgtEl>
                                          <p:spTgt spid="1537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539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384"/>
                                        </p:tgtEl>
                                        <p:attrNameLst>
                                          <p:attrName>style.visibility</p:attrName>
                                        </p:attrNameLst>
                                      </p:cBhvr>
                                      <p:to>
                                        <p:strVal val="visible"/>
                                      </p:to>
                                    </p:set>
                                    <p:animEffect transition="in" filter="wipe(left)">
                                      <p:cBhvr>
                                        <p:cTn id="30" dur="500"/>
                                        <p:tgtEl>
                                          <p:spTgt spid="15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1" grpId="0"/>
      <p:bldP spid="15379" grpId="0"/>
      <p:bldP spid="15384" grpId="0"/>
      <p:bldP spid="1538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ext Box 4">
            <a:extLst>
              <a:ext uri="{FF2B5EF4-FFF2-40B4-BE49-F238E27FC236}">
                <a16:creationId xmlns:a16="http://schemas.microsoft.com/office/drawing/2014/main" id="{5D263361-FC44-4960-A291-C0B50456C702}"/>
              </a:ext>
            </a:extLst>
          </p:cNvPr>
          <p:cNvSpPr txBox="1">
            <a:spLocks noChangeArrowheads="1"/>
          </p:cNvSpPr>
          <p:nvPr/>
        </p:nvSpPr>
        <p:spPr bwMode="auto">
          <a:xfrm>
            <a:off x="539750" y="461963"/>
            <a:ext cx="3311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光路（</a:t>
            </a:r>
            <a:r>
              <a:rPr lang="en-US" altLang="zh-CN" sz="2800" b="1" dirty="0">
                <a:latin typeface="Times New Roman" panose="02020603050405020304" pitchFamily="18" charset="0"/>
              </a:rPr>
              <a:t>2</a:t>
            </a:r>
            <a:r>
              <a:rPr lang="zh-CN" altLang="en-US" sz="2800" b="1" dirty="0"/>
              <a:t>）</a:t>
            </a:r>
          </a:p>
        </p:txBody>
      </p:sp>
      <p:grpSp>
        <p:nvGrpSpPr>
          <p:cNvPr id="16423" name="Group 39">
            <a:extLst>
              <a:ext uri="{FF2B5EF4-FFF2-40B4-BE49-F238E27FC236}">
                <a16:creationId xmlns:a16="http://schemas.microsoft.com/office/drawing/2014/main" id="{09AB2816-700D-4359-BD62-C533A89B6701}"/>
              </a:ext>
            </a:extLst>
          </p:cNvPr>
          <p:cNvGrpSpPr>
            <a:grpSpLocks/>
          </p:cNvGrpSpPr>
          <p:nvPr/>
        </p:nvGrpSpPr>
        <p:grpSpPr bwMode="auto">
          <a:xfrm>
            <a:off x="1116013" y="1844675"/>
            <a:ext cx="2592387" cy="1871663"/>
            <a:chOff x="703" y="1162"/>
            <a:chExt cx="1633" cy="1179"/>
          </a:xfrm>
        </p:grpSpPr>
        <p:sp>
          <p:nvSpPr>
            <p:cNvPr id="16421" name="Rectangle 37">
              <a:extLst>
                <a:ext uri="{FF2B5EF4-FFF2-40B4-BE49-F238E27FC236}">
                  <a16:creationId xmlns:a16="http://schemas.microsoft.com/office/drawing/2014/main" id="{86E2B394-D5BA-47F2-8B86-DC3CA11A4588}"/>
                </a:ext>
              </a:extLst>
            </p:cNvPr>
            <p:cNvSpPr>
              <a:spLocks noChangeArrowheads="1"/>
            </p:cNvSpPr>
            <p:nvPr/>
          </p:nvSpPr>
          <p:spPr bwMode="auto">
            <a:xfrm>
              <a:off x="703" y="1162"/>
              <a:ext cx="1633" cy="1179"/>
            </a:xfrm>
            <a:prstGeom prst="rect">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15" name="Group 31">
              <a:extLst>
                <a:ext uri="{FF2B5EF4-FFF2-40B4-BE49-F238E27FC236}">
                  <a16:creationId xmlns:a16="http://schemas.microsoft.com/office/drawing/2014/main" id="{8C64EADD-5993-4187-A6FD-87085B60D99F}"/>
                </a:ext>
              </a:extLst>
            </p:cNvPr>
            <p:cNvGrpSpPr>
              <a:grpSpLocks/>
            </p:cNvGrpSpPr>
            <p:nvPr/>
          </p:nvGrpSpPr>
          <p:grpSpPr bwMode="auto">
            <a:xfrm>
              <a:off x="884" y="1253"/>
              <a:ext cx="1406" cy="1043"/>
              <a:chOff x="884" y="1389"/>
              <a:chExt cx="1406" cy="1043"/>
            </a:xfrm>
          </p:grpSpPr>
          <mc:AlternateContent xmlns:mc="http://schemas.openxmlformats.org/markup-compatibility/2006" xmlns:a14="http://schemas.microsoft.com/office/drawing/2010/main">
            <mc:Choice Requires="a14">
              <p:sp>
                <p:nvSpPr>
                  <p:cNvPr id="16390" name="Object 6">
                    <a:extLst>
                      <a:ext uri="{FF2B5EF4-FFF2-40B4-BE49-F238E27FC236}">
                        <a16:creationId xmlns:a16="http://schemas.microsoft.com/office/drawing/2014/main" id="{DB4D5327-A4BF-43EB-A5F4-9EE9BB8E5BE3}"/>
                      </a:ext>
                    </a:extLst>
                  </p:cNvPr>
                  <p:cNvSpPr txBox="1"/>
                  <p:nvPr/>
                </p:nvSpPr>
                <p:spPr bwMode="auto">
                  <a:xfrm>
                    <a:off x="884" y="1616"/>
                    <a:ext cx="182"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𝑐</m:t>
                          </m:r>
                        </m:oMath>
                      </m:oMathPara>
                    </a14:m>
                    <a:endParaRPr lang="zh-CN" altLang="en-US"/>
                  </a:p>
                </p:txBody>
              </p:sp>
            </mc:Choice>
            <mc:Fallback xmlns="">
              <p:sp>
                <p:nvSpPr>
                  <p:cNvPr id="16390" name="Object 6">
                    <a:extLst>
                      <a:ext uri="{FF2B5EF4-FFF2-40B4-BE49-F238E27FC236}">
                        <a16:creationId xmlns:a16="http://schemas.microsoft.com/office/drawing/2014/main" id="{DB4D5327-A4BF-43EB-A5F4-9EE9BB8E5BE3}"/>
                      </a:ext>
                    </a:extLst>
                  </p:cNvPr>
                  <p:cNvSpPr txBox="1">
                    <a:spLocks noRot="1" noChangeAspect="1" noMove="1" noResize="1" noEditPoints="1" noAdjustHandles="1" noChangeArrowheads="1" noChangeShapeType="1" noTextEdit="1"/>
                  </p:cNvSpPr>
                  <p:nvPr/>
                </p:nvSpPr>
                <p:spPr bwMode="auto">
                  <a:xfrm>
                    <a:off x="884" y="1616"/>
                    <a:ext cx="182" cy="227"/>
                  </a:xfrm>
                  <a:prstGeom prst="rect">
                    <a:avLst/>
                  </a:prstGeom>
                  <a:blipFill>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95" name="Object 11">
                    <a:extLst>
                      <a:ext uri="{FF2B5EF4-FFF2-40B4-BE49-F238E27FC236}">
                        <a16:creationId xmlns:a16="http://schemas.microsoft.com/office/drawing/2014/main" id="{A6100578-9C78-4F29-861D-27BB897466E2}"/>
                      </a:ext>
                    </a:extLst>
                  </p:cNvPr>
                  <p:cNvSpPr txBox="1"/>
                  <p:nvPr/>
                </p:nvSpPr>
                <p:spPr bwMode="auto">
                  <a:xfrm>
                    <a:off x="1020" y="2205"/>
                    <a:ext cx="220"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i="1">
                              <a:solidFill>
                                <a:srgbClr val="000000"/>
                              </a:solidFill>
                              <a:latin typeface="Cambria Math" panose="02040503050406030204" pitchFamily="18" charset="0"/>
                            </a:rPr>
                            <m:t>v</m:t>
                          </m:r>
                        </m:oMath>
                      </m:oMathPara>
                    </a14:m>
                    <a:endParaRPr lang="zh-CN" altLang="en-US"/>
                  </a:p>
                </p:txBody>
              </p:sp>
            </mc:Choice>
            <mc:Fallback xmlns="">
              <p:sp>
                <p:nvSpPr>
                  <p:cNvPr id="16395" name="Object 11">
                    <a:extLst>
                      <a:ext uri="{FF2B5EF4-FFF2-40B4-BE49-F238E27FC236}">
                        <a16:creationId xmlns:a16="http://schemas.microsoft.com/office/drawing/2014/main" id="{A6100578-9C78-4F29-861D-27BB897466E2}"/>
                      </a:ext>
                    </a:extLst>
                  </p:cNvPr>
                  <p:cNvSpPr txBox="1">
                    <a:spLocks noRot="1" noChangeAspect="1" noMove="1" noResize="1" noEditPoints="1" noAdjustHandles="1" noChangeArrowheads="1" noChangeShapeType="1" noTextEdit="1"/>
                  </p:cNvSpPr>
                  <p:nvPr/>
                </p:nvSpPr>
                <p:spPr bwMode="auto">
                  <a:xfrm>
                    <a:off x="1020" y="2205"/>
                    <a:ext cx="220" cy="227"/>
                  </a:xfrm>
                  <a:prstGeom prst="rect">
                    <a:avLst/>
                  </a:prstGeom>
                  <a:blipFill>
                    <a:blip r:embed="rId3"/>
                    <a:stretch>
                      <a:fillRect/>
                    </a:stretch>
                  </a:blipFill>
                  <a:ln>
                    <a:noFill/>
                  </a:ln>
                </p:spPr>
                <p:txBody>
                  <a:bodyPr/>
                  <a:lstStyle/>
                  <a:p>
                    <a:r>
                      <a:rPr lang="zh-CN" altLang="en-US">
                        <a:noFill/>
                      </a:rPr>
                      <a:t> </a:t>
                    </a:r>
                  </a:p>
                </p:txBody>
              </p:sp>
            </mc:Fallback>
          </mc:AlternateContent>
          <p:sp>
            <p:nvSpPr>
              <p:cNvPr id="16397" name="Line 13">
                <a:extLst>
                  <a:ext uri="{FF2B5EF4-FFF2-40B4-BE49-F238E27FC236}">
                    <a16:creationId xmlns:a16="http://schemas.microsoft.com/office/drawing/2014/main" id="{C94EA59A-64E4-4D03-9AD4-A75B827EFD4D}"/>
                  </a:ext>
                </a:extLst>
              </p:cNvPr>
              <p:cNvSpPr>
                <a:spLocks noChangeAspect="1" noChangeShapeType="1"/>
              </p:cNvSpPr>
              <p:nvPr/>
            </p:nvSpPr>
            <p:spPr bwMode="auto">
              <a:xfrm>
                <a:off x="967" y="2178"/>
                <a:ext cx="3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398" name="Line 14">
                <a:extLst>
                  <a:ext uri="{FF2B5EF4-FFF2-40B4-BE49-F238E27FC236}">
                    <a16:creationId xmlns:a16="http://schemas.microsoft.com/office/drawing/2014/main" id="{D3FEA347-E135-41FE-95FE-B3C0CABC1C2E}"/>
                  </a:ext>
                </a:extLst>
              </p:cNvPr>
              <p:cNvSpPr>
                <a:spLocks noChangeAspect="1" noChangeShapeType="1"/>
              </p:cNvSpPr>
              <p:nvPr/>
            </p:nvSpPr>
            <p:spPr bwMode="auto">
              <a:xfrm rot="7024630" flipH="1">
                <a:off x="710" y="1791"/>
                <a:ext cx="809" cy="5"/>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400" name="Line 16">
                <a:extLst>
                  <a:ext uri="{FF2B5EF4-FFF2-40B4-BE49-F238E27FC236}">
                    <a16:creationId xmlns:a16="http://schemas.microsoft.com/office/drawing/2014/main" id="{5F737EF7-F5D0-4D37-AFE9-955F86007044}"/>
                  </a:ext>
                </a:extLst>
              </p:cNvPr>
              <p:cNvSpPr>
                <a:spLocks noChangeAspect="1" noChangeShapeType="1"/>
              </p:cNvSpPr>
              <p:nvPr/>
            </p:nvSpPr>
            <p:spPr bwMode="auto">
              <a:xfrm flipV="1">
                <a:off x="1305" y="1473"/>
                <a:ext cx="2" cy="699"/>
              </a:xfrm>
              <a:prstGeom prst="line">
                <a:avLst/>
              </a:prstGeom>
              <a:noFill/>
              <a:ln w="28575">
                <a:solidFill>
                  <a:srgbClr val="FFFF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16401" name="Object 17">
                    <a:extLst>
                      <a:ext uri="{FF2B5EF4-FFF2-40B4-BE49-F238E27FC236}">
                        <a16:creationId xmlns:a16="http://schemas.microsoft.com/office/drawing/2014/main" id="{21DD6332-6440-4582-869E-3754FCD8F4D3}"/>
                      </a:ext>
                    </a:extLst>
                  </p:cNvPr>
                  <p:cNvSpPr txBox="1"/>
                  <p:nvPr/>
                </p:nvSpPr>
                <p:spPr bwMode="auto">
                  <a:xfrm>
                    <a:off x="1297" y="1626"/>
                    <a:ext cx="993" cy="411"/>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ad>
                            <m:radPr>
                              <m:degHide m:val="on"/>
                              <m:ctrlPr>
                                <a:rPr lang="zh-CN" altLang="en-US" i="1">
                                  <a:solidFill>
                                    <a:srgbClr val="000000"/>
                                  </a:solidFill>
                                  <a:latin typeface="Cambria Math" panose="02040503050406030204" pitchFamily="18" charset="0"/>
                                </a:rPr>
                              </m:ctrlPr>
                            </m:radPr>
                            <m:deg/>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1">
                                      <a:solidFill>
                                        <a:srgbClr val="000000"/>
                                      </a:solidFill>
                                      <a:latin typeface="Cambria Math" panose="02040503050406030204" pitchFamily="18" charset="0"/>
                                    </a:rPr>
                                    <m:t>v</m:t>
                                  </m:r>
                                </m:e>
                                <m:sup>
                                  <m:r>
                                    <a:rPr lang="zh-CN" altLang="en-US" i="1">
                                      <a:solidFill>
                                        <a:srgbClr val="000000"/>
                                      </a:solidFill>
                                      <a:latin typeface="Cambria Math" panose="02040503050406030204" pitchFamily="18" charset="0"/>
                                    </a:rPr>
                                    <m:t>2</m:t>
                                  </m:r>
                                </m:sup>
                              </m:sSup>
                            </m:e>
                          </m:rad>
                        </m:oMath>
                      </m:oMathPara>
                    </a14:m>
                    <a:endParaRPr lang="zh-CN" altLang="en-US"/>
                  </a:p>
                </p:txBody>
              </p:sp>
            </mc:Choice>
            <mc:Fallback xmlns="">
              <p:sp>
                <p:nvSpPr>
                  <p:cNvPr id="16401" name="Object 17">
                    <a:extLst>
                      <a:ext uri="{FF2B5EF4-FFF2-40B4-BE49-F238E27FC236}">
                        <a16:creationId xmlns:a16="http://schemas.microsoft.com/office/drawing/2014/main" id="{21DD6332-6440-4582-869E-3754FCD8F4D3}"/>
                      </a:ext>
                    </a:extLst>
                  </p:cNvPr>
                  <p:cNvSpPr txBox="1">
                    <a:spLocks noRot="1" noChangeAspect="1" noMove="1" noResize="1" noEditPoints="1" noAdjustHandles="1" noChangeArrowheads="1" noChangeShapeType="1" noTextEdit="1"/>
                  </p:cNvSpPr>
                  <p:nvPr/>
                </p:nvSpPr>
                <p:spPr bwMode="auto">
                  <a:xfrm>
                    <a:off x="1297" y="1626"/>
                    <a:ext cx="993" cy="411"/>
                  </a:xfrm>
                  <a:prstGeom prst="rect">
                    <a:avLst/>
                  </a:prstGeom>
                  <a:blipFill>
                    <a:blip r:embed="rId4"/>
                    <a:stretch>
                      <a:fillRect/>
                    </a:stretch>
                  </a:blipFill>
                  <a:ln>
                    <a:noFill/>
                  </a:ln>
                </p:spPr>
                <p:txBody>
                  <a:bodyPr/>
                  <a:lstStyle/>
                  <a:p>
                    <a:r>
                      <a:rPr lang="zh-CN" altLang="en-US">
                        <a:noFill/>
                      </a:rPr>
                      <a:t> </a:t>
                    </a:r>
                  </a:p>
                </p:txBody>
              </p:sp>
            </mc:Fallback>
          </mc:AlternateContent>
        </p:grpSp>
      </p:grpSp>
      <p:sp>
        <p:nvSpPr>
          <p:cNvPr id="16410" name="Text Box 26">
            <a:extLst>
              <a:ext uri="{FF2B5EF4-FFF2-40B4-BE49-F238E27FC236}">
                <a16:creationId xmlns:a16="http://schemas.microsoft.com/office/drawing/2014/main" id="{5D21D5E0-F4CC-417C-9444-0F581BFE5080}"/>
              </a:ext>
            </a:extLst>
          </p:cNvPr>
          <p:cNvSpPr txBox="1">
            <a:spLocks noChangeArrowheads="1"/>
          </p:cNvSpPr>
          <p:nvPr/>
        </p:nvSpPr>
        <p:spPr bwMode="auto">
          <a:xfrm>
            <a:off x="539750" y="1125538"/>
            <a:ext cx="7345363"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a:t>光相对于地球的速度垂直于以太的方向。 </a:t>
            </a:r>
          </a:p>
        </p:txBody>
      </p:sp>
      <p:grpSp>
        <p:nvGrpSpPr>
          <p:cNvPr id="16424" name="Group 40">
            <a:extLst>
              <a:ext uri="{FF2B5EF4-FFF2-40B4-BE49-F238E27FC236}">
                <a16:creationId xmlns:a16="http://schemas.microsoft.com/office/drawing/2014/main" id="{C4A76669-BCC2-413A-84DD-253D18783081}"/>
              </a:ext>
            </a:extLst>
          </p:cNvPr>
          <p:cNvGrpSpPr>
            <a:grpSpLocks/>
          </p:cNvGrpSpPr>
          <p:nvPr/>
        </p:nvGrpSpPr>
        <p:grpSpPr bwMode="auto">
          <a:xfrm>
            <a:off x="4859338" y="1844675"/>
            <a:ext cx="2592387" cy="1871663"/>
            <a:chOff x="3061" y="1117"/>
            <a:chExt cx="1633" cy="1179"/>
          </a:xfrm>
        </p:grpSpPr>
        <p:sp>
          <p:nvSpPr>
            <p:cNvPr id="16422" name="Rectangle 38">
              <a:extLst>
                <a:ext uri="{FF2B5EF4-FFF2-40B4-BE49-F238E27FC236}">
                  <a16:creationId xmlns:a16="http://schemas.microsoft.com/office/drawing/2014/main" id="{E5CD684E-24E5-49B4-9C73-D5D5C065E3A2}"/>
                </a:ext>
              </a:extLst>
            </p:cNvPr>
            <p:cNvSpPr>
              <a:spLocks noChangeArrowheads="1"/>
            </p:cNvSpPr>
            <p:nvPr/>
          </p:nvSpPr>
          <p:spPr bwMode="auto">
            <a:xfrm>
              <a:off x="3061" y="1117"/>
              <a:ext cx="1633" cy="1179"/>
            </a:xfrm>
            <a:prstGeom prst="rect">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14" name="Group 30">
              <a:extLst>
                <a:ext uri="{FF2B5EF4-FFF2-40B4-BE49-F238E27FC236}">
                  <a16:creationId xmlns:a16="http://schemas.microsoft.com/office/drawing/2014/main" id="{5265D8A0-4F1F-4110-9677-A39D4350701E}"/>
                </a:ext>
              </a:extLst>
            </p:cNvPr>
            <p:cNvGrpSpPr>
              <a:grpSpLocks/>
            </p:cNvGrpSpPr>
            <p:nvPr/>
          </p:nvGrpSpPr>
          <p:grpSpPr bwMode="auto">
            <a:xfrm>
              <a:off x="3243" y="1253"/>
              <a:ext cx="1356" cy="960"/>
              <a:chOff x="3560" y="1389"/>
              <a:chExt cx="1356" cy="960"/>
            </a:xfrm>
          </p:grpSpPr>
          <p:sp>
            <p:nvSpPr>
              <p:cNvPr id="16404" name="Line 20">
                <a:extLst>
                  <a:ext uri="{FF2B5EF4-FFF2-40B4-BE49-F238E27FC236}">
                    <a16:creationId xmlns:a16="http://schemas.microsoft.com/office/drawing/2014/main" id="{C6B6C259-D1E0-4D1E-9378-DA8C08C3B841}"/>
                  </a:ext>
                </a:extLst>
              </p:cNvPr>
              <p:cNvSpPr>
                <a:spLocks noChangeAspect="1" noChangeShapeType="1"/>
              </p:cNvSpPr>
              <p:nvPr/>
            </p:nvSpPr>
            <p:spPr bwMode="auto">
              <a:xfrm flipV="1">
                <a:off x="3607" y="1616"/>
                <a:ext cx="316"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405" name="Line 21">
                <a:extLst>
                  <a:ext uri="{FF2B5EF4-FFF2-40B4-BE49-F238E27FC236}">
                    <a16:creationId xmlns:a16="http://schemas.microsoft.com/office/drawing/2014/main" id="{6ED297A9-E493-4524-8F94-2CFAEF462197}"/>
                  </a:ext>
                </a:extLst>
              </p:cNvPr>
              <p:cNvSpPr>
                <a:spLocks noChangeAspect="1" noChangeShapeType="1"/>
              </p:cNvSpPr>
              <p:nvPr/>
            </p:nvSpPr>
            <p:spPr bwMode="auto">
              <a:xfrm rot="-7024630" flipH="1" flipV="1">
                <a:off x="3373" y="1972"/>
                <a:ext cx="749" cy="5"/>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406" name="Line 22">
                <a:extLst>
                  <a:ext uri="{FF2B5EF4-FFF2-40B4-BE49-F238E27FC236}">
                    <a16:creationId xmlns:a16="http://schemas.microsoft.com/office/drawing/2014/main" id="{15348566-AB2D-4A3E-A17F-F38A4432BBB6}"/>
                  </a:ext>
                </a:extLst>
              </p:cNvPr>
              <p:cNvSpPr>
                <a:spLocks noChangeAspect="1" noChangeShapeType="1"/>
              </p:cNvSpPr>
              <p:nvPr/>
            </p:nvSpPr>
            <p:spPr bwMode="auto">
              <a:xfrm>
                <a:off x="3923" y="1616"/>
                <a:ext cx="2" cy="647"/>
              </a:xfrm>
              <a:prstGeom prst="line">
                <a:avLst/>
              </a:prstGeom>
              <a:noFill/>
              <a:ln w="28575">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16411" name="Object 27">
                    <a:extLst>
                      <a:ext uri="{FF2B5EF4-FFF2-40B4-BE49-F238E27FC236}">
                        <a16:creationId xmlns:a16="http://schemas.microsoft.com/office/drawing/2014/main" id="{1C5FEA34-8B69-4739-9C72-785DE43AEF2B}"/>
                      </a:ext>
                    </a:extLst>
                  </p:cNvPr>
                  <p:cNvSpPr txBox="1"/>
                  <p:nvPr/>
                </p:nvSpPr>
                <p:spPr bwMode="auto">
                  <a:xfrm>
                    <a:off x="3560" y="1888"/>
                    <a:ext cx="182"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𝑐</m:t>
                          </m:r>
                        </m:oMath>
                      </m:oMathPara>
                    </a14:m>
                    <a:endParaRPr lang="zh-CN" altLang="en-US"/>
                  </a:p>
                </p:txBody>
              </p:sp>
            </mc:Choice>
            <mc:Fallback xmlns="">
              <p:sp>
                <p:nvSpPr>
                  <p:cNvPr id="16411" name="Object 27">
                    <a:extLst>
                      <a:ext uri="{FF2B5EF4-FFF2-40B4-BE49-F238E27FC236}">
                        <a16:creationId xmlns:a16="http://schemas.microsoft.com/office/drawing/2014/main" id="{1C5FEA34-8B69-4739-9C72-785DE43AEF2B}"/>
                      </a:ext>
                    </a:extLst>
                  </p:cNvPr>
                  <p:cNvSpPr txBox="1">
                    <a:spLocks noRot="1" noChangeAspect="1" noMove="1" noResize="1" noEditPoints="1" noAdjustHandles="1" noChangeArrowheads="1" noChangeShapeType="1" noTextEdit="1"/>
                  </p:cNvSpPr>
                  <p:nvPr/>
                </p:nvSpPr>
                <p:spPr bwMode="auto">
                  <a:xfrm>
                    <a:off x="3560" y="1888"/>
                    <a:ext cx="182" cy="227"/>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12" name="Object 28">
                    <a:extLst>
                      <a:ext uri="{FF2B5EF4-FFF2-40B4-BE49-F238E27FC236}">
                        <a16:creationId xmlns:a16="http://schemas.microsoft.com/office/drawing/2014/main" id="{2B198626-0B3C-4392-BCAA-5CB787F42D0B}"/>
                      </a:ext>
                    </a:extLst>
                  </p:cNvPr>
                  <p:cNvSpPr txBox="1"/>
                  <p:nvPr/>
                </p:nvSpPr>
                <p:spPr bwMode="auto">
                  <a:xfrm>
                    <a:off x="3651" y="1389"/>
                    <a:ext cx="220" cy="22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i="1">
                              <a:solidFill>
                                <a:srgbClr val="000000"/>
                              </a:solidFill>
                              <a:latin typeface="Cambria Math" panose="02040503050406030204" pitchFamily="18" charset="0"/>
                            </a:rPr>
                            <m:t>v</m:t>
                          </m:r>
                        </m:oMath>
                      </m:oMathPara>
                    </a14:m>
                    <a:endParaRPr lang="zh-CN" altLang="en-US"/>
                  </a:p>
                </p:txBody>
              </p:sp>
            </mc:Choice>
            <mc:Fallback xmlns="">
              <p:sp>
                <p:nvSpPr>
                  <p:cNvPr id="16412" name="Object 28">
                    <a:extLst>
                      <a:ext uri="{FF2B5EF4-FFF2-40B4-BE49-F238E27FC236}">
                        <a16:creationId xmlns:a16="http://schemas.microsoft.com/office/drawing/2014/main" id="{2B198626-0B3C-4392-BCAA-5CB787F42D0B}"/>
                      </a:ext>
                    </a:extLst>
                  </p:cNvPr>
                  <p:cNvSpPr txBox="1">
                    <a:spLocks noRot="1" noChangeAspect="1" noMove="1" noResize="1" noEditPoints="1" noAdjustHandles="1" noChangeArrowheads="1" noChangeShapeType="1" noTextEdit="1"/>
                  </p:cNvSpPr>
                  <p:nvPr/>
                </p:nvSpPr>
                <p:spPr bwMode="auto">
                  <a:xfrm>
                    <a:off x="3651" y="1389"/>
                    <a:ext cx="220" cy="227"/>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13" name="Object 29">
                    <a:extLst>
                      <a:ext uri="{FF2B5EF4-FFF2-40B4-BE49-F238E27FC236}">
                        <a16:creationId xmlns:a16="http://schemas.microsoft.com/office/drawing/2014/main" id="{E083CA09-2DB5-4495-84C1-02D2CFC57050}"/>
                      </a:ext>
                    </a:extLst>
                  </p:cNvPr>
                  <p:cNvSpPr txBox="1"/>
                  <p:nvPr/>
                </p:nvSpPr>
                <p:spPr bwMode="auto">
                  <a:xfrm>
                    <a:off x="3923" y="1706"/>
                    <a:ext cx="993" cy="411"/>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ad>
                            <m:radPr>
                              <m:degHide m:val="on"/>
                              <m:ctrlPr>
                                <a:rPr lang="zh-CN" altLang="en-US" i="1">
                                  <a:solidFill>
                                    <a:srgbClr val="000000"/>
                                  </a:solidFill>
                                  <a:latin typeface="Cambria Math" panose="02040503050406030204" pitchFamily="18" charset="0"/>
                                </a:rPr>
                              </m:ctrlPr>
                            </m:radPr>
                            <m:deg/>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1">
                                      <a:solidFill>
                                        <a:srgbClr val="000000"/>
                                      </a:solidFill>
                                      <a:latin typeface="Cambria Math" panose="02040503050406030204" pitchFamily="18" charset="0"/>
                                    </a:rPr>
                                    <m:t>v</m:t>
                                  </m:r>
                                </m:e>
                                <m:sup>
                                  <m:r>
                                    <a:rPr lang="zh-CN" altLang="en-US" i="1">
                                      <a:solidFill>
                                        <a:srgbClr val="000000"/>
                                      </a:solidFill>
                                      <a:latin typeface="Cambria Math" panose="02040503050406030204" pitchFamily="18" charset="0"/>
                                    </a:rPr>
                                    <m:t>2</m:t>
                                  </m:r>
                                </m:sup>
                              </m:sSup>
                            </m:e>
                          </m:rad>
                        </m:oMath>
                      </m:oMathPara>
                    </a14:m>
                    <a:endParaRPr lang="zh-CN" altLang="en-US"/>
                  </a:p>
                </p:txBody>
              </p:sp>
            </mc:Choice>
            <mc:Fallback xmlns="">
              <p:sp>
                <p:nvSpPr>
                  <p:cNvPr id="16413" name="Object 29">
                    <a:extLst>
                      <a:ext uri="{FF2B5EF4-FFF2-40B4-BE49-F238E27FC236}">
                        <a16:creationId xmlns:a16="http://schemas.microsoft.com/office/drawing/2014/main" id="{E083CA09-2DB5-4495-84C1-02D2CFC57050}"/>
                      </a:ext>
                    </a:extLst>
                  </p:cNvPr>
                  <p:cNvSpPr txBox="1">
                    <a:spLocks noRot="1" noChangeAspect="1" noMove="1" noResize="1" noEditPoints="1" noAdjustHandles="1" noChangeArrowheads="1" noChangeShapeType="1" noTextEdit="1"/>
                  </p:cNvSpPr>
                  <p:nvPr/>
                </p:nvSpPr>
                <p:spPr bwMode="auto">
                  <a:xfrm>
                    <a:off x="3923" y="1706"/>
                    <a:ext cx="993" cy="411"/>
                  </a:xfrm>
                  <a:prstGeom prst="rect">
                    <a:avLst/>
                  </a:prstGeom>
                  <a:blipFill>
                    <a:blip r:embed="rId7"/>
                    <a:stretch>
                      <a:fillRect/>
                    </a:stretch>
                  </a:blipFill>
                  <a:ln>
                    <a:noFill/>
                  </a:ln>
                </p:spPr>
                <p:txBody>
                  <a:bodyPr/>
                  <a:lstStyle/>
                  <a:p>
                    <a:r>
                      <a:rPr lang="zh-CN" altLang="en-US">
                        <a:noFill/>
                      </a:rPr>
                      <a:t> </a:t>
                    </a:r>
                  </a:p>
                </p:txBody>
              </p:sp>
            </mc:Fallback>
          </mc:AlternateContent>
        </p:grpSp>
      </p:grpSp>
      <p:sp>
        <p:nvSpPr>
          <p:cNvPr id="16416" name="Text Box 32">
            <a:extLst>
              <a:ext uri="{FF2B5EF4-FFF2-40B4-BE49-F238E27FC236}">
                <a16:creationId xmlns:a16="http://schemas.microsoft.com/office/drawing/2014/main" id="{7294E096-0EC2-431B-82CB-F36C6125B539}"/>
              </a:ext>
            </a:extLst>
          </p:cNvPr>
          <p:cNvSpPr txBox="1">
            <a:spLocks noChangeArrowheads="1"/>
          </p:cNvSpPr>
          <p:nvPr/>
        </p:nvSpPr>
        <p:spPr bwMode="auto">
          <a:xfrm>
            <a:off x="611188" y="4057650"/>
            <a:ext cx="37449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Times New Roman" panose="02020603050405020304" pitchFamily="18" charset="0"/>
              </a:rPr>
              <a:t>往返一次需要时间 </a:t>
            </a:r>
          </a:p>
        </p:txBody>
      </p:sp>
      <mc:AlternateContent xmlns:mc="http://schemas.openxmlformats.org/markup-compatibility/2006" xmlns:a14="http://schemas.microsoft.com/office/drawing/2010/main">
        <mc:Choice Requires="a14">
          <p:sp>
            <p:nvSpPr>
              <p:cNvPr id="16417" name="Object 33">
                <a:extLst>
                  <a:ext uri="{FF2B5EF4-FFF2-40B4-BE49-F238E27FC236}">
                    <a16:creationId xmlns:a16="http://schemas.microsoft.com/office/drawing/2014/main" id="{60F81C99-C4DE-4A96-9DC8-D16C369F097F}"/>
                  </a:ext>
                </a:extLst>
              </p:cNvPr>
              <p:cNvSpPr txBox="1"/>
              <p:nvPr/>
            </p:nvSpPr>
            <p:spPr bwMode="auto">
              <a:xfrm>
                <a:off x="3851275" y="3554413"/>
                <a:ext cx="4392613" cy="131445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𝑙</m:t>
                          </m:r>
                        </m:num>
                        <m:den>
                          <m:rad>
                            <m:radPr>
                              <m:degHide m:val="on"/>
                              <m:ctrlPr>
                                <a:rPr lang="zh-CN" altLang="en-US" sz="2400" i="1">
                                  <a:solidFill>
                                    <a:srgbClr val="000000"/>
                                  </a:solidFill>
                                  <a:latin typeface="Cambria Math" panose="02040503050406030204" pitchFamily="18" charset="0"/>
                                </a:rPr>
                              </m:ctrlPr>
                            </m:radPr>
                            <m:deg/>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e>
                          </m:rad>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𝑙</m:t>
                          </m:r>
                        </m:num>
                        <m:den>
                          <m:r>
                            <a:rPr lang="zh-CN" altLang="en-US" sz="2400" i="1">
                              <a:solidFill>
                                <a:srgbClr val="000000"/>
                              </a:solidFill>
                              <a:latin typeface="Cambria Math" panose="02040503050406030204" pitchFamily="18" charset="0"/>
                            </a:rPr>
                            <m:t>𝑐</m:t>
                          </m:r>
                        </m:den>
                      </m:f>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den>
                              </m:f>
                            </m:e>
                          </m:d>
                        </m:e>
                        <m:sup>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sup>
                      </m:sSup>
                    </m:oMath>
                  </m:oMathPara>
                </a14:m>
                <a:endParaRPr lang="zh-CN" altLang="en-US" sz="2400" dirty="0"/>
              </a:p>
            </p:txBody>
          </p:sp>
        </mc:Choice>
        <mc:Fallback xmlns="">
          <p:sp>
            <p:nvSpPr>
              <p:cNvPr id="16417" name="Object 33">
                <a:extLst>
                  <a:ext uri="{FF2B5EF4-FFF2-40B4-BE49-F238E27FC236}">
                    <a16:creationId xmlns:a16="http://schemas.microsoft.com/office/drawing/2014/main" id="{60F81C99-C4DE-4A96-9DC8-D16C369F097F}"/>
                  </a:ext>
                </a:extLst>
              </p:cNvPr>
              <p:cNvSpPr txBox="1">
                <a:spLocks noRot="1" noChangeAspect="1" noMove="1" noResize="1" noEditPoints="1" noAdjustHandles="1" noChangeArrowheads="1" noChangeShapeType="1" noTextEdit="1"/>
              </p:cNvSpPr>
              <p:nvPr/>
            </p:nvSpPr>
            <p:spPr bwMode="auto">
              <a:xfrm>
                <a:off x="3851275" y="3554413"/>
                <a:ext cx="4392613" cy="131445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19" name="Object 35">
                <a:extLst>
                  <a:ext uri="{FF2B5EF4-FFF2-40B4-BE49-F238E27FC236}">
                    <a16:creationId xmlns:a16="http://schemas.microsoft.com/office/drawing/2014/main" id="{DA564A07-1CA1-468B-A7ED-EAA47C0908F7}"/>
                  </a:ext>
                </a:extLst>
              </p:cNvPr>
              <p:cNvSpPr txBox="1"/>
              <p:nvPr/>
            </p:nvSpPr>
            <p:spPr bwMode="auto">
              <a:xfrm>
                <a:off x="1331913" y="4868863"/>
                <a:ext cx="6335712" cy="164465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𝑙</m:t>
                          </m:r>
                        </m:num>
                        <m:den>
                          <m:r>
                            <a:rPr lang="zh-CN" altLang="en-US" sz="2400" i="1">
                              <a:solidFill>
                                <a:srgbClr val="000000"/>
                              </a:solidFill>
                              <a:latin typeface="Cambria Math" panose="02040503050406030204" pitchFamily="18" charset="0"/>
                            </a:rPr>
                            <m:t>𝑐</m:t>
                          </m:r>
                        </m:den>
                      </m:f>
                      <m:d>
                        <m:dPr>
                          <m:begChr m:val="["/>
                          <m:endChr m:val="]"/>
                          <m:ctrlPr>
                            <a:rPr lang="zh-CN" altLang="en-US" sz="2400" i="1">
                              <a:solidFill>
                                <a:srgbClr val="000000"/>
                              </a:solidFill>
                              <a:latin typeface="Cambria Math" panose="02040503050406030204" pitchFamily="18" charset="0"/>
                            </a:rPr>
                          </m:ctrlPr>
                        </m:dPr>
                        <m:e>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den>
                                  </m:f>
                                </m:e>
                              </m:d>
                            </m:e>
                            <m:sup>
                              <m:r>
                                <a:rPr lang="zh-CN" altLang="en-US" sz="2400" i="1">
                                  <a:solidFill>
                                    <a:srgbClr val="000000"/>
                                  </a:solidFill>
                                  <a:latin typeface="Cambria Math" panose="02040503050406030204" pitchFamily="18" charset="0"/>
                                </a:rPr>
                                <m:t>−1</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den>
                                  </m:f>
                                </m:e>
                              </m:d>
                            </m:e>
                            <m:sup>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sup>
                          </m:sSup>
                        </m:e>
                      </m:d>
                    </m:oMath>
                  </m:oMathPara>
                </a14:m>
                <a:endParaRPr lang="zh-CN" altLang="en-US" sz="2400" dirty="0"/>
              </a:p>
            </p:txBody>
          </p:sp>
        </mc:Choice>
        <mc:Fallback xmlns="">
          <p:sp>
            <p:nvSpPr>
              <p:cNvPr id="16419" name="Object 35">
                <a:extLst>
                  <a:ext uri="{FF2B5EF4-FFF2-40B4-BE49-F238E27FC236}">
                    <a16:creationId xmlns:a16="http://schemas.microsoft.com/office/drawing/2014/main" id="{DA564A07-1CA1-468B-A7ED-EAA47C0908F7}"/>
                  </a:ext>
                </a:extLst>
              </p:cNvPr>
              <p:cNvSpPr txBox="1">
                <a:spLocks noRot="1" noChangeAspect="1" noMove="1" noResize="1" noEditPoints="1" noAdjustHandles="1" noChangeArrowheads="1" noChangeShapeType="1" noTextEdit="1"/>
              </p:cNvSpPr>
              <p:nvPr/>
            </p:nvSpPr>
            <p:spPr bwMode="auto">
              <a:xfrm>
                <a:off x="1331913" y="4868863"/>
                <a:ext cx="6335712" cy="1644650"/>
              </a:xfrm>
              <a:prstGeom prst="rect">
                <a:avLst/>
              </a:prstGeom>
              <a:blipFill>
                <a:blip r:embed="rId9"/>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wipe(left)">
                                      <p:cBhvr>
                                        <p:cTn id="7" dur="500"/>
                                        <p:tgtEl>
                                          <p:spTgt spid="16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10"/>
                                        </p:tgtEl>
                                        <p:attrNameLst>
                                          <p:attrName>style.visibility</p:attrName>
                                        </p:attrNameLst>
                                      </p:cBhvr>
                                      <p:to>
                                        <p:strVal val="visible"/>
                                      </p:to>
                                    </p:set>
                                    <p:animEffect transition="in" filter="wipe(left)">
                                      <p:cBhvr>
                                        <p:cTn id="12" dur="500"/>
                                        <p:tgtEl>
                                          <p:spTgt spid="164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642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642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416"/>
                                        </p:tgtEl>
                                        <p:attrNameLst>
                                          <p:attrName>style.visibility</p:attrName>
                                        </p:attrNameLst>
                                      </p:cBhvr>
                                      <p:to>
                                        <p:strVal val="visible"/>
                                      </p:to>
                                    </p:set>
                                    <p:animEffect transition="in" filter="wipe(left)">
                                      <p:cBhvr>
                                        <p:cTn id="25" dur="500"/>
                                        <p:tgtEl>
                                          <p:spTgt spid="16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P spid="16410" grpId="0"/>
      <p:bldP spid="164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7" name="Group 9">
            <a:extLst>
              <a:ext uri="{FF2B5EF4-FFF2-40B4-BE49-F238E27FC236}">
                <a16:creationId xmlns:a16="http://schemas.microsoft.com/office/drawing/2014/main" id="{31CA723C-FD8E-451F-84AA-934F25783ECE}"/>
              </a:ext>
            </a:extLst>
          </p:cNvPr>
          <p:cNvGrpSpPr>
            <a:grpSpLocks/>
          </p:cNvGrpSpPr>
          <p:nvPr/>
        </p:nvGrpSpPr>
        <p:grpSpPr bwMode="auto">
          <a:xfrm>
            <a:off x="611188" y="549275"/>
            <a:ext cx="2808287" cy="581025"/>
            <a:chOff x="521" y="346"/>
            <a:chExt cx="1769" cy="366"/>
          </a:xfrm>
        </p:grpSpPr>
        <mc:AlternateContent xmlns:mc="http://schemas.openxmlformats.org/markup-compatibility/2006" xmlns:a14="http://schemas.microsoft.com/office/drawing/2010/main">
          <mc:Choice Requires="a14">
            <p:sp>
              <p:nvSpPr>
                <p:cNvPr id="17412" name="Object 4">
                  <a:extLst>
                    <a:ext uri="{FF2B5EF4-FFF2-40B4-BE49-F238E27FC236}">
                      <a16:creationId xmlns:a16="http://schemas.microsoft.com/office/drawing/2014/main" id="{3071E7E8-8C10-40C9-806D-0531600611B8}"/>
                    </a:ext>
                  </a:extLst>
                </p:cNvPr>
                <p:cNvSpPr txBox="1"/>
                <p:nvPr/>
              </p:nvSpPr>
              <p:spPr bwMode="auto">
                <a:xfrm>
                  <a:off x="1156" y="346"/>
                  <a:ext cx="1134" cy="366"/>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f>
                          <m:fPr>
                            <m:type m:val="lin"/>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&lt;&lt;1</m:t>
                            </m:r>
                          </m:den>
                        </m:f>
                      </m:oMath>
                    </m:oMathPara>
                  </a14:m>
                  <a:endParaRPr lang="zh-CN" altLang="en-US" dirty="0"/>
                </a:p>
              </p:txBody>
            </p:sp>
          </mc:Choice>
          <mc:Fallback xmlns="">
            <p:sp>
              <p:nvSpPr>
                <p:cNvPr id="17412" name="Object 4">
                  <a:extLst>
                    <a:ext uri="{FF2B5EF4-FFF2-40B4-BE49-F238E27FC236}">
                      <a16:creationId xmlns:a16="http://schemas.microsoft.com/office/drawing/2014/main" id="{3071E7E8-8C10-40C9-806D-0531600611B8}"/>
                    </a:ext>
                  </a:extLst>
                </p:cNvPr>
                <p:cNvSpPr txBox="1">
                  <a:spLocks noRot="1" noChangeAspect="1" noMove="1" noResize="1" noEditPoints="1" noAdjustHandles="1" noChangeArrowheads="1" noChangeShapeType="1" noTextEdit="1"/>
                </p:cNvSpPr>
                <p:nvPr/>
              </p:nvSpPr>
              <p:spPr bwMode="auto">
                <a:xfrm>
                  <a:off x="1156" y="346"/>
                  <a:ext cx="1134" cy="366"/>
                </a:xfrm>
                <a:prstGeom prst="rect">
                  <a:avLst/>
                </a:prstGeom>
                <a:blipFill>
                  <a:blip r:embed="rId2"/>
                  <a:stretch>
                    <a:fillRect l="-6780" t="-100000" b="-132632"/>
                  </a:stretch>
                </a:blipFill>
              </p:spPr>
              <p:txBody>
                <a:bodyPr/>
                <a:lstStyle/>
                <a:p>
                  <a:r>
                    <a:rPr lang="zh-CN" altLang="en-US">
                      <a:noFill/>
                    </a:rPr>
                    <a:t> </a:t>
                  </a:r>
                </a:p>
              </p:txBody>
            </p:sp>
          </mc:Fallback>
        </mc:AlternateContent>
        <p:sp>
          <p:nvSpPr>
            <p:cNvPr id="17416" name="Text Box 8">
              <a:extLst>
                <a:ext uri="{FF2B5EF4-FFF2-40B4-BE49-F238E27FC236}">
                  <a16:creationId xmlns:a16="http://schemas.microsoft.com/office/drawing/2014/main" id="{DA69241E-5D36-4C63-B465-0C711BDB320D}"/>
                </a:ext>
              </a:extLst>
            </p:cNvPr>
            <p:cNvSpPr txBox="1">
              <a:spLocks noChangeArrowheads="1"/>
            </p:cNvSpPr>
            <p:nvPr/>
          </p:nvSpPr>
          <p:spPr bwMode="auto">
            <a:xfrm>
              <a:off x="521" y="346"/>
              <a:ext cx="63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因为</a:t>
              </a:r>
            </a:p>
          </p:txBody>
        </p:sp>
      </p:grpSp>
      <p:grpSp>
        <p:nvGrpSpPr>
          <p:cNvPr id="17419" name="Group 11">
            <a:extLst>
              <a:ext uri="{FF2B5EF4-FFF2-40B4-BE49-F238E27FC236}">
                <a16:creationId xmlns:a16="http://schemas.microsoft.com/office/drawing/2014/main" id="{7E9A1AD1-604F-4ED1-ABDE-29718FFEB23B}"/>
              </a:ext>
            </a:extLst>
          </p:cNvPr>
          <p:cNvGrpSpPr>
            <a:grpSpLocks/>
          </p:cNvGrpSpPr>
          <p:nvPr/>
        </p:nvGrpSpPr>
        <p:grpSpPr bwMode="auto">
          <a:xfrm>
            <a:off x="3708400" y="498475"/>
            <a:ext cx="4662488" cy="641350"/>
            <a:chOff x="2336" y="314"/>
            <a:chExt cx="2937" cy="404"/>
          </a:xfrm>
        </p:grpSpPr>
        <mc:AlternateContent xmlns:mc="http://schemas.openxmlformats.org/markup-compatibility/2006" xmlns:a14="http://schemas.microsoft.com/office/drawing/2010/main">
          <mc:Choice Requires="a14">
            <p:sp>
              <p:nvSpPr>
                <p:cNvPr id="17414" name="Object 6">
                  <a:extLst>
                    <a:ext uri="{FF2B5EF4-FFF2-40B4-BE49-F238E27FC236}">
                      <a16:creationId xmlns:a16="http://schemas.microsoft.com/office/drawing/2014/main" id="{5EA90606-6B80-404C-9998-F895E99E43CA}"/>
                    </a:ext>
                  </a:extLst>
                </p:cNvPr>
                <p:cNvSpPr txBox="1"/>
                <p:nvPr/>
              </p:nvSpPr>
              <p:spPr bwMode="auto">
                <a:xfrm>
                  <a:off x="2653" y="314"/>
                  <a:ext cx="2620" cy="40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𝑥</m:t>
                                </m:r>
                              </m:e>
                            </m:d>
                          </m:e>
                          <m:sup>
                            <m:r>
                              <a:rPr lang="zh-CN" altLang="en-US" sz="2400" i="1">
                                <a:solidFill>
                                  <a:srgbClr val="000000"/>
                                </a:solidFill>
                                <a:latin typeface="Cambria Math" panose="02040503050406030204" pitchFamily="18" charset="0"/>
                              </a:rPr>
                              <m:t>𝑛</m:t>
                            </m:r>
                          </m:sup>
                        </m:sSup>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𝑛𝑥</m:t>
                        </m:r>
                        <m:r>
                          <a:rPr lang="zh-CN" altLang="en-US" sz="2400" i="1">
                            <a:solidFill>
                              <a:srgbClr val="000000"/>
                            </a:solidFill>
                            <a:latin typeface="Cambria Math" panose="02040503050406030204" pitchFamily="18" charset="0"/>
                          </a:rPr>
                          <m:t> </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&lt;&lt;1</m:t>
                            </m:r>
                          </m:e>
                        </m:d>
                      </m:oMath>
                    </m:oMathPara>
                  </a14:m>
                  <a:endParaRPr lang="zh-CN" altLang="en-US" dirty="0"/>
                </a:p>
              </p:txBody>
            </p:sp>
          </mc:Choice>
          <mc:Fallback xmlns="">
            <p:sp>
              <p:nvSpPr>
                <p:cNvPr id="17414" name="Object 6">
                  <a:extLst>
                    <a:ext uri="{FF2B5EF4-FFF2-40B4-BE49-F238E27FC236}">
                      <a16:creationId xmlns:a16="http://schemas.microsoft.com/office/drawing/2014/main" id="{5EA90606-6B80-404C-9998-F895E99E43CA}"/>
                    </a:ext>
                  </a:extLst>
                </p:cNvPr>
                <p:cNvSpPr txBox="1">
                  <a:spLocks noRot="1" noChangeAspect="1" noMove="1" noResize="1" noEditPoints="1" noAdjustHandles="1" noChangeArrowheads="1" noChangeShapeType="1" noTextEdit="1"/>
                </p:cNvSpPr>
                <p:nvPr/>
              </p:nvSpPr>
              <p:spPr bwMode="auto">
                <a:xfrm>
                  <a:off x="2653" y="314"/>
                  <a:ext cx="2620" cy="404"/>
                </a:xfrm>
                <a:prstGeom prst="rect">
                  <a:avLst/>
                </a:prstGeom>
                <a:blipFill>
                  <a:blip r:embed="rId3"/>
                  <a:stretch>
                    <a:fillRect/>
                  </a:stretch>
                </a:blipFill>
              </p:spPr>
              <p:txBody>
                <a:bodyPr/>
                <a:lstStyle/>
                <a:p>
                  <a:r>
                    <a:rPr lang="zh-CN" altLang="en-US">
                      <a:noFill/>
                    </a:rPr>
                    <a:t> </a:t>
                  </a:r>
                </a:p>
              </p:txBody>
            </p:sp>
          </mc:Fallback>
        </mc:AlternateContent>
        <p:sp>
          <p:nvSpPr>
            <p:cNvPr id="17418" name="Text Box 10">
              <a:extLst>
                <a:ext uri="{FF2B5EF4-FFF2-40B4-BE49-F238E27FC236}">
                  <a16:creationId xmlns:a16="http://schemas.microsoft.com/office/drawing/2014/main" id="{B81E5F32-C85D-4691-898A-2C8B0ADEE493}"/>
                </a:ext>
              </a:extLst>
            </p:cNvPr>
            <p:cNvSpPr txBox="1">
              <a:spLocks noChangeArrowheads="1"/>
            </p:cNvSpPr>
            <p:nvPr/>
          </p:nvSpPr>
          <p:spPr bwMode="auto">
            <a:xfrm>
              <a:off x="2336" y="346"/>
              <a:ext cx="3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由</a:t>
              </a:r>
            </a:p>
          </p:txBody>
        </p:sp>
      </p:grpSp>
      <mc:AlternateContent xmlns:mc="http://schemas.openxmlformats.org/markup-compatibility/2006" xmlns:a14="http://schemas.microsoft.com/office/drawing/2010/main">
        <mc:Choice Requires="a14">
          <p:sp>
            <p:nvSpPr>
              <p:cNvPr id="17420" name="Object 12">
                <a:extLst>
                  <a:ext uri="{FF2B5EF4-FFF2-40B4-BE49-F238E27FC236}">
                    <a16:creationId xmlns:a16="http://schemas.microsoft.com/office/drawing/2014/main" id="{31AF1361-5046-4BBA-9EAF-6FCE50B093BA}"/>
                  </a:ext>
                </a:extLst>
              </p:cNvPr>
              <p:cNvSpPr txBox="1"/>
              <p:nvPr/>
            </p:nvSpPr>
            <p:spPr bwMode="auto">
              <a:xfrm>
                <a:off x="2339975" y="1412875"/>
                <a:ext cx="2808288" cy="1141413"/>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𝑙</m:t>
                          </m:r>
                          <m:sSup>
                            <m:sSupPr>
                              <m:ctrlPr>
                                <a:rPr lang="zh-CN" altLang="en-US" sz="2400" i="1">
                                  <a:solidFill>
                                    <a:srgbClr val="000000"/>
                                  </a:solidFill>
                                  <a:latin typeface="Cambria Math" panose="02040503050406030204" pitchFamily="18" charset="0"/>
                                </a:rPr>
                              </m:ctrlPr>
                            </m:sSupPr>
                            <m:e>
                              <m:r>
                                <m:rPr>
                                  <m:sty m:val="p"/>
                                </m:rPr>
                                <a:rPr lang="zh-CN" altLang="en-US" sz="2400" i="1">
                                  <a:solidFill>
                                    <a:srgbClr val="000000"/>
                                  </a:solidFill>
                                  <a:latin typeface="Cambria Math" panose="02040503050406030204" pitchFamily="18" charset="0"/>
                                </a:rPr>
                                <m:t>v</m:t>
                              </m:r>
                            </m:e>
                            <m:sup>
                              <m:r>
                                <a:rPr lang="zh-CN" altLang="en-US" sz="2400" i="1">
                                  <a:solidFill>
                                    <a:srgbClr val="000000"/>
                                  </a:solidFill>
                                  <a:latin typeface="Cambria Math" panose="02040503050406030204" pitchFamily="18" charset="0"/>
                                </a:rPr>
                                <m:t>2</m:t>
                              </m:r>
                            </m:sup>
                          </m:sSup>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3</m:t>
                              </m:r>
                            </m:sup>
                          </m:sSup>
                        </m:den>
                      </m:f>
                    </m:oMath>
                  </m:oMathPara>
                </a14:m>
                <a:endParaRPr lang="zh-CN" altLang="en-US" dirty="0"/>
              </a:p>
            </p:txBody>
          </p:sp>
        </mc:Choice>
        <mc:Fallback xmlns="">
          <p:sp>
            <p:nvSpPr>
              <p:cNvPr id="17420" name="Object 12">
                <a:extLst>
                  <a:ext uri="{FF2B5EF4-FFF2-40B4-BE49-F238E27FC236}">
                    <a16:creationId xmlns:a16="http://schemas.microsoft.com/office/drawing/2014/main" id="{31AF1361-5046-4BBA-9EAF-6FCE50B093BA}"/>
                  </a:ext>
                </a:extLst>
              </p:cNvPr>
              <p:cNvSpPr txBox="1">
                <a:spLocks noRot="1" noChangeAspect="1" noMove="1" noResize="1" noEditPoints="1" noAdjustHandles="1" noChangeArrowheads="1" noChangeShapeType="1" noTextEdit="1"/>
              </p:cNvSpPr>
              <p:nvPr/>
            </p:nvSpPr>
            <p:spPr bwMode="auto">
              <a:xfrm>
                <a:off x="2339975" y="1412875"/>
                <a:ext cx="2808288" cy="1141413"/>
              </a:xfrm>
              <a:prstGeom prst="rect">
                <a:avLst/>
              </a:prstGeom>
              <a:blipFill>
                <a:blip r:embed="rId4"/>
                <a:stretch>
                  <a:fillRect/>
                </a:stretch>
              </a:blipFill>
            </p:spPr>
            <p:txBody>
              <a:bodyPr/>
              <a:lstStyle/>
              <a:p>
                <a:r>
                  <a:rPr lang="zh-CN" altLang="en-US">
                    <a:noFill/>
                  </a:rPr>
                  <a:t> </a:t>
                </a:r>
              </a:p>
            </p:txBody>
          </p:sp>
        </mc:Fallback>
      </mc:AlternateContent>
      <p:sp>
        <p:nvSpPr>
          <p:cNvPr id="17422" name="Text Box 14">
            <a:extLst>
              <a:ext uri="{FF2B5EF4-FFF2-40B4-BE49-F238E27FC236}">
                <a16:creationId xmlns:a16="http://schemas.microsoft.com/office/drawing/2014/main" id="{7E5A35E9-40A1-4929-9943-F65893416E55}"/>
              </a:ext>
            </a:extLst>
          </p:cNvPr>
          <p:cNvSpPr txBox="1">
            <a:spLocks noChangeArrowheads="1"/>
          </p:cNvSpPr>
          <p:nvPr/>
        </p:nvSpPr>
        <p:spPr bwMode="auto">
          <a:xfrm>
            <a:off x="323850" y="2924175"/>
            <a:ext cx="34559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两束光的光程差： </a:t>
            </a:r>
          </a:p>
        </p:txBody>
      </p:sp>
      <mc:AlternateContent xmlns:mc="http://schemas.openxmlformats.org/markup-compatibility/2006" xmlns:a14="http://schemas.microsoft.com/office/drawing/2010/main">
        <mc:Choice Requires="a14">
          <p:sp>
            <p:nvSpPr>
              <p:cNvPr id="17424" name="Object 16">
                <a:extLst>
                  <a:ext uri="{FF2B5EF4-FFF2-40B4-BE49-F238E27FC236}">
                    <a16:creationId xmlns:a16="http://schemas.microsoft.com/office/drawing/2014/main" id="{EF95C30E-7A11-4F8B-A7C6-0DAC19D48735}"/>
                  </a:ext>
                </a:extLst>
              </p:cNvPr>
              <p:cNvSpPr txBox="1"/>
              <p:nvPr/>
            </p:nvSpPr>
            <p:spPr bwMode="auto">
              <a:xfrm>
                <a:off x="3924300" y="2565400"/>
                <a:ext cx="3238500" cy="1184275"/>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sz="2800" i="1">
                          <a:solidFill>
                            <a:srgbClr val="000000"/>
                          </a:solidFill>
                          <a:latin typeface="Cambria Math" panose="02040503050406030204" pitchFamily="18" charset="0"/>
                        </a:rPr>
                        <m:t>𝛿</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𝑐</m:t>
                      </m:r>
                      <m:d>
                        <m:dPr>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𝑡</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𝑡</m:t>
                              </m:r>
                            </m:e>
                            <m:sub>
                              <m:r>
                                <a:rPr lang="zh-CN" altLang="en-US" sz="2800" i="1">
                                  <a:solidFill>
                                    <a:srgbClr val="000000"/>
                                  </a:solidFill>
                                  <a:latin typeface="Cambria Math" panose="02040503050406030204" pitchFamily="18" charset="0"/>
                                </a:rPr>
                                <m:t>2</m:t>
                              </m:r>
                            </m:sub>
                          </m:sSub>
                        </m:e>
                      </m:d>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𝑙</m:t>
                          </m:r>
                          <m:sSup>
                            <m:sSupPr>
                              <m:ctrlPr>
                                <a:rPr lang="zh-CN" altLang="en-US" sz="2800" i="1">
                                  <a:solidFill>
                                    <a:srgbClr val="000000"/>
                                  </a:solidFill>
                                  <a:latin typeface="Cambria Math" panose="02040503050406030204" pitchFamily="18" charset="0"/>
                                </a:rPr>
                              </m:ctrlPr>
                            </m:sSupPr>
                            <m:e>
                              <m:r>
                                <m:rPr>
                                  <m:sty m:val="p"/>
                                </m:rPr>
                                <a:rPr lang="zh-CN" altLang="en-US" sz="2800" i="1">
                                  <a:solidFill>
                                    <a:srgbClr val="000000"/>
                                  </a:solidFill>
                                  <a:latin typeface="Cambria Math" panose="02040503050406030204" pitchFamily="18" charset="0"/>
                                </a:rPr>
                                <m:t>v</m:t>
                              </m:r>
                            </m:e>
                            <m:sup>
                              <m:r>
                                <a:rPr lang="zh-CN" altLang="en-US" sz="2800" i="1">
                                  <a:solidFill>
                                    <a:srgbClr val="000000"/>
                                  </a:solidFill>
                                  <a:latin typeface="Cambria Math" panose="02040503050406030204" pitchFamily="18" charset="0"/>
                                </a:rPr>
                                <m:t>2</m:t>
                              </m:r>
                            </m:sup>
                          </m:sSup>
                        </m:num>
                        <m:den>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𝑐</m:t>
                              </m:r>
                            </m:e>
                            <m:sup>
                              <m:r>
                                <a:rPr lang="zh-CN" altLang="en-US" sz="2800" i="1">
                                  <a:solidFill>
                                    <a:srgbClr val="000000"/>
                                  </a:solidFill>
                                  <a:latin typeface="Cambria Math" panose="02040503050406030204" pitchFamily="18" charset="0"/>
                                </a:rPr>
                                <m:t>2</m:t>
                              </m:r>
                            </m:sup>
                          </m:sSup>
                        </m:den>
                      </m:f>
                    </m:oMath>
                  </m:oMathPara>
                </a14:m>
                <a:endParaRPr lang="zh-CN" altLang="en-US" dirty="0"/>
              </a:p>
            </p:txBody>
          </p:sp>
        </mc:Choice>
        <mc:Fallback xmlns="">
          <p:sp>
            <p:nvSpPr>
              <p:cNvPr id="17424" name="Object 16">
                <a:extLst>
                  <a:ext uri="{FF2B5EF4-FFF2-40B4-BE49-F238E27FC236}">
                    <a16:creationId xmlns:a16="http://schemas.microsoft.com/office/drawing/2014/main" id="{EF95C30E-7A11-4F8B-A7C6-0DAC19D48735}"/>
                  </a:ext>
                </a:extLst>
              </p:cNvPr>
              <p:cNvSpPr txBox="1">
                <a:spLocks noRot="1" noChangeAspect="1" noMove="1" noResize="1" noEditPoints="1" noAdjustHandles="1" noChangeArrowheads="1" noChangeShapeType="1" noTextEdit="1"/>
              </p:cNvSpPr>
              <p:nvPr/>
            </p:nvSpPr>
            <p:spPr bwMode="auto">
              <a:xfrm>
                <a:off x="3924300" y="2565400"/>
                <a:ext cx="3238500" cy="118427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27" name="Object 19">
                <a:extLst>
                  <a:ext uri="{FF2B5EF4-FFF2-40B4-BE49-F238E27FC236}">
                    <a16:creationId xmlns:a16="http://schemas.microsoft.com/office/drawing/2014/main" id="{1ED4B8EC-2395-44A5-B661-9EA748E7BBEF}"/>
                  </a:ext>
                </a:extLst>
              </p:cNvPr>
              <p:cNvSpPr txBox="1"/>
              <p:nvPr/>
            </p:nvSpPr>
            <p:spPr bwMode="auto">
              <a:xfrm>
                <a:off x="2700338" y="5300663"/>
                <a:ext cx="2663825" cy="1065212"/>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𝑁</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𝛿</m:t>
                          </m:r>
                        </m:num>
                        <m:den>
                          <m:r>
                            <a:rPr lang="zh-CN" altLang="en-US" sz="2400" i="1">
                              <a:solidFill>
                                <a:srgbClr val="000000"/>
                              </a:solidFill>
                              <a:latin typeface="Cambria Math" panose="02040503050406030204" pitchFamily="18" charset="0"/>
                            </a:rPr>
                            <m:t>𝜆</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𝑙</m:t>
                          </m:r>
                          <m:sSup>
                            <m:sSupPr>
                              <m:ctrlPr>
                                <a:rPr lang="zh-CN" altLang="en-US" sz="2400" i="1">
                                  <a:solidFill>
                                    <a:srgbClr val="000000"/>
                                  </a:solidFill>
                                  <a:latin typeface="Cambria Math" panose="02040503050406030204" pitchFamily="18" charset="0"/>
                                </a:rPr>
                              </m:ctrlPr>
                            </m:sSupPr>
                            <m:e>
                              <m:r>
                                <m:rPr>
                                  <m:sty m:val="p"/>
                                </m:rPr>
                                <a:rPr lang="zh-CN" altLang="en-US" sz="2400" i="1">
                                  <a:solidFill>
                                    <a:srgbClr val="000000"/>
                                  </a:solidFill>
                                  <a:latin typeface="Cambria Math" panose="02040503050406030204" pitchFamily="18" charset="0"/>
                                </a:rPr>
                                <m:t>v</m:t>
                              </m:r>
                            </m:e>
                            <m:sup>
                              <m:r>
                                <a:rPr lang="zh-CN" altLang="en-US" sz="2400" i="1">
                                  <a:solidFill>
                                    <a:srgbClr val="000000"/>
                                  </a:solidFill>
                                  <a:latin typeface="Cambria Math" panose="02040503050406030204" pitchFamily="18" charset="0"/>
                                </a:rPr>
                                <m:t>2</m:t>
                              </m:r>
                            </m:sup>
                          </m:sSup>
                        </m:num>
                        <m:den>
                          <m:r>
                            <a:rPr lang="zh-CN" altLang="en-US" sz="2400" i="1">
                              <a:solidFill>
                                <a:srgbClr val="000000"/>
                              </a:solidFill>
                              <a:latin typeface="Cambria Math" panose="02040503050406030204" pitchFamily="18" charset="0"/>
                            </a:rPr>
                            <m:t>𝜆</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den>
                      </m:f>
                    </m:oMath>
                  </m:oMathPara>
                </a14:m>
                <a:endParaRPr lang="zh-CN" altLang="en-US" dirty="0"/>
              </a:p>
            </p:txBody>
          </p:sp>
        </mc:Choice>
        <mc:Fallback xmlns="">
          <p:sp>
            <p:nvSpPr>
              <p:cNvPr id="17427" name="Object 19">
                <a:extLst>
                  <a:ext uri="{FF2B5EF4-FFF2-40B4-BE49-F238E27FC236}">
                    <a16:creationId xmlns:a16="http://schemas.microsoft.com/office/drawing/2014/main" id="{1ED4B8EC-2395-44A5-B661-9EA748E7BBEF}"/>
                  </a:ext>
                </a:extLst>
              </p:cNvPr>
              <p:cNvSpPr txBox="1">
                <a:spLocks noRot="1" noChangeAspect="1" noMove="1" noResize="1" noEditPoints="1" noAdjustHandles="1" noChangeArrowheads="1" noChangeShapeType="1" noTextEdit="1"/>
              </p:cNvSpPr>
              <p:nvPr/>
            </p:nvSpPr>
            <p:spPr bwMode="auto">
              <a:xfrm>
                <a:off x="2700338" y="5300663"/>
                <a:ext cx="2663825" cy="1065212"/>
              </a:xfrm>
              <a:prstGeom prst="rect">
                <a:avLst/>
              </a:prstGeom>
              <a:blipFill>
                <a:blip r:embed="rId6"/>
                <a:stretch>
                  <a:fillRect/>
                </a:stretch>
              </a:blipFill>
            </p:spPr>
            <p:txBody>
              <a:bodyPr/>
              <a:lstStyle/>
              <a:p>
                <a:r>
                  <a:rPr lang="zh-CN" altLang="en-US">
                    <a:noFill/>
                  </a:rPr>
                  <a:t> </a:t>
                </a:r>
              </a:p>
            </p:txBody>
          </p:sp>
        </mc:Fallback>
      </mc:AlternateContent>
      <p:grpSp>
        <p:nvGrpSpPr>
          <p:cNvPr id="17430" name="Group 22">
            <a:extLst>
              <a:ext uri="{FF2B5EF4-FFF2-40B4-BE49-F238E27FC236}">
                <a16:creationId xmlns:a16="http://schemas.microsoft.com/office/drawing/2014/main" id="{8F019E65-F845-4ACA-9538-4BA280DC2CE1}"/>
              </a:ext>
            </a:extLst>
          </p:cNvPr>
          <p:cNvGrpSpPr>
            <a:grpSpLocks/>
          </p:cNvGrpSpPr>
          <p:nvPr/>
        </p:nvGrpSpPr>
        <p:grpSpPr bwMode="auto">
          <a:xfrm>
            <a:off x="323850" y="3933825"/>
            <a:ext cx="7343775" cy="519113"/>
            <a:chOff x="204" y="2478"/>
            <a:chExt cx="4626" cy="327"/>
          </a:xfrm>
        </p:grpSpPr>
        <p:sp>
          <p:nvSpPr>
            <p:cNvPr id="17426" name="Text Box 18">
              <a:extLst>
                <a:ext uri="{FF2B5EF4-FFF2-40B4-BE49-F238E27FC236}">
                  <a16:creationId xmlns:a16="http://schemas.microsoft.com/office/drawing/2014/main" id="{E8F4B7B6-E91C-4DDE-8C24-5E1DA28BCE39}"/>
                </a:ext>
              </a:extLst>
            </p:cNvPr>
            <p:cNvSpPr txBox="1">
              <a:spLocks noChangeArrowheads="1"/>
            </p:cNvSpPr>
            <p:nvPr/>
          </p:nvSpPr>
          <p:spPr bwMode="auto">
            <a:xfrm>
              <a:off x="204" y="2478"/>
              <a:ext cx="462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Times New Roman" panose="02020603050405020304" pitchFamily="18" charset="0"/>
                </a:rPr>
                <a:t>将仪器旋转</a:t>
              </a:r>
              <a:r>
                <a:rPr lang="en-US" altLang="zh-CN" sz="2800">
                  <a:latin typeface="Times New Roman" panose="02020603050405020304" pitchFamily="18" charset="0"/>
                </a:rPr>
                <a:t>90°</a:t>
              </a:r>
              <a:r>
                <a:rPr lang="zh-CN" altLang="en-US" sz="2800" b="1">
                  <a:latin typeface="Times New Roman" panose="02020603050405020304" pitchFamily="18" charset="0"/>
                </a:rPr>
                <a:t>，由于光程差改变量        。</a:t>
              </a:r>
            </a:p>
          </p:txBody>
        </p:sp>
        <mc:AlternateContent xmlns:mc="http://schemas.openxmlformats.org/markup-compatibility/2006" xmlns:a14="http://schemas.microsoft.com/office/drawing/2010/main">
          <mc:Choice Requires="a14">
            <p:sp>
              <p:nvSpPr>
                <p:cNvPr id="17429" name="Object 21">
                  <a:extLst>
                    <a:ext uri="{FF2B5EF4-FFF2-40B4-BE49-F238E27FC236}">
                      <a16:creationId xmlns:a16="http://schemas.microsoft.com/office/drawing/2014/main" id="{56B9FE76-B9DA-4B43-A21F-BDD451E62D94}"/>
                    </a:ext>
                  </a:extLst>
                </p:cNvPr>
                <p:cNvSpPr txBox="1"/>
                <p:nvPr/>
              </p:nvSpPr>
              <p:spPr bwMode="auto">
                <a:xfrm>
                  <a:off x="3807" y="2506"/>
                  <a:ext cx="363" cy="299"/>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𝛿</m:t>
                        </m:r>
                      </m:oMath>
                    </m:oMathPara>
                  </a14:m>
                  <a:endParaRPr lang="zh-CN" altLang="en-US" sz="2400" dirty="0"/>
                </a:p>
              </p:txBody>
            </p:sp>
          </mc:Choice>
          <mc:Fallback xmlns="">
            <p:sp>
              <p:nvSpPr>
                <p:cNvPr id="17429" name="Object 21">
                  <a:extLst>
                    <a:ext uri="{FF2B5EF4-FFF2-40B4-BE49-F238E27FC236}">
                      <a16:creationId xmlns:a16="http://schemas.microsoft.com/office/drawing/2014/main" id="{56B9FE76-B9DA-4B43-A21F-BDD451E62D94}"/>
                    </a:ext>
                  </a:extLst>
                </p:cNvPr>
                <p:cNvSpPr txBox="1">
                  <a:spLocks noRot="1" noChangeAspect="1" noMove="1" noResize="1" noEditPoints="1" noAdjustHandles="1" noChangeArrowheads="1" noChangeShapeType="1" noTextEdit="1"/>
                </p:cNvSpPr>
                <p:nvPr/>
              </p:nvSpPr>
              <p:spPr bwMode="auto">
                <a:xfrm>
                  <a:off x="3807" y="2506"/>
                  <a:ext cx="363" cy="299"/>
                </a:xfrm>
                <a:prstGeom prst="rect">
                  <a:avLst/>
                </a:prstGeom>
                <a:blipFill>
                  <a:blip r:embed="rId7"/>
                  <a:stretch>
                    <a:fillRect/>
                  </a:stretch>
                </a:blipFill>
                <a:ln>
                  <a:noFill/>
                </a:ln>
                <a:effectLst/>
              </p:spPr>
              <p:txBody>
                <a:bodyPr/>
                <a:lstStyle/>
                <a:p>
                  <a:r>
                    <a:rPr lang="zh-CN" altLang="en-US">
                      <a:noFill/>
                    </a:rPr>
                    <a:t> </a:t>
                  </a:r>
                </a:p>
              </p:txBody>
            </p:sp>
          </mc:Fallback>
        </mc:AlternateContent>
      </p:grpSp>
      <p:sp>
        <p:nvSpPr>
          <p:cNvPr id="17431" name="Text Box 23">
            <a:extLst>
              <a:ext uri="{FF2B5EF4-FFF2-40B4-BE49-F238E27FC236}">
                <a16:creationId xmlns:a16="http://schemas.microsoft.com/office/drawing/2014/main" id="{EFF8D9E7-14E9-4F8A-B712-636269629508}"/>
              </a:ext>
            </a:extLst>
          </p:cNvPr>
          <p:cNvSpPr txBox="1">
            <a:spLocks noChangeArrowheads="1"/>
          </p:cNvSpPr>
          <p:nvPr/>
        </p:nvSpPr>
        <p:spPr bwMode="auto">
          <a:xfrm>
            <a:off x="395288" y="4797425"/>
            <a:ext cx="3889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引起的条纹移动：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17"/>
                                        </p:tgtEl>
                                        <p:attrNameLst>
                                          <p:attrName>style.visibility</p:attrName>
                                        </p:attrNameLst>
                                      </p:cBhvr>
                                      <p:to>
                                        <p:strVal val="visible"/>
                                      </p:to>
                                    </p:set>
                                    <p:animEffect transition="in" filter="wipe(left)">
                                      <p:cBhvr>
                                        <p:cTn id="7" dur="500"/>
                                        <p:tgtEl>
                                          <p:spTgt spid="174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419"/>
                                        </p:tgtEl>
                                        <p:attrNameLst>
                                          <p:attrName>style.visibility</p:attrName>
                                        </p:attrNameLst>
                                      </p:cBhvr>
                                      <p:to>
                                        <p:strVal val="visible"/>
                                      </p:to>
                                    </p:set>
                                    <p:animEffect transition="in" filter="wipe(left)">
                                      <p:cBhvr>
                                        <p:cTn id="12" dur="500"/>
                                        <p:tgtEl>
                                          <p:spTgt spid="174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22"/>
                                        </p:tgtEl>
                                        <p:attrNameLst>
                                          <p:attrName>style.visibility</p:attrName>
                                        </p:attrNameLst>
                                      </p:cBhvr>
                                      <p:to>
                                        <p:strVal val="visible"/>
                                      </p:to>
                                    </p:set>
                                    <p:animEffect transition="in" filter="wipe(left)">
                                      <p:cBhvr>
                                        <p:cTn id="17" dur="500"/>
                                        <p:tgtEl>
                                          <p:spTgt spid="174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430"/>
                                        </p:tgtEl>
                                        <p:attrNameLst>
                                          <p:attrName>style.visibility</p:attrName>
                                        </p:attrNameLst>
                                      </p:cBhvr>
                                      <p:to>
                                        <p:strVal val="visible"/>
                                      </p:to>
                                    </p:set>
                                    <p:animEffect transition="in" filter="wipe(left)">
                                      <p:cBhvr>
                                        <p:cTn id="22" dur="500"/>
                                        <p:tgtEl>
                                          <p:spTgt spid="174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31"/>
                                        </p:tgtEl>
                                        <p:attrNameLst>
                                          <p:attrName>style.visibility</p:attrName>
                                        </p:attrNameLst>
                                      </p:cBhvr>
                                      <p:to>
                                        <p:strVal val="visible"/>
                                      </p:to>
                                    </p:set>
                                    <p:animEffect transition="in" filter="wipe(left)">
                                      <p:cBhvr>
                                        <p:cTn id="27" dur="500"/>
                                        <p:tgtEl>
                                          <p:spTgt spid="17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2" grpId="0"/>
      <p:bldP spid="174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532" name="Object 4">
                <a:extLst>
                  <a:ext uri="{FF2B5EF4-FFF2-40B4-BE49-F238E27FC236}">
                    <a16:creationId xmlns:a16="http://schemas.microsoft.com/office/drawing/2014/main" id="{28763326-0335-47BE-B0B8-D04990E2FA9C}"/>
                  </a:ext>
                </a:extLst>
              </p:cNvPr>
              <p:cNvSpPr txBox="1"/>
              <p:nvPr/>
            </p:nvSpPr>
            <p:spPr bwMode="auto">
              <a:xfrm>
                <a:off x="5216525" y="4290649"/>
                <a:ext cx="955675" cy="48260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≈0.4</m:t>
                      </m:r>
                    </m:oMath>
                  </m:oMathPara>
                </a14:m>
                <a:endParaRPr lang="zh-CN" altLang="en-US" sz="2400" dirty="0"/>
              </a:p>
            </p:txBody>
          </p:sp>
        </mc:Choice>
        <mc:Fallback xmlns="">
          <p:sp>
            <p:nvSpPr>
              <p:cNvPr id="22532" name="Object 4">
                <a:extLst>
                  <a:ext uri="{FF2B5EF4-FFF2-40B4-BE49-F238E27FC236}">
                    <a16:creationId xmlns:a16="http://schemas.microsoft.com/office/drawing/2014/main" id="{28763326-0335-47BE-B0B8-D04990E2FA9C}"/>
                  </a:ext>
                </a:extLst>
              </p:cNvPr>
              <p:cNvSpPr txBox="1">
                <a:spLocks noRot="1" noChangeAspect="1" noMove="1" noResize="1" noEditPoints="1" noAdjustHandles="1" noChangeArrowheads="1" noChangeShapeType="1" noTextEdit="1"/>
              </p:cNvSpPr>
              <p:nvPr/>
            </p:nvSpPr>
            <p:spPr bwMode="auto">
              <a:xfrm>
                <a:off x="5216525" y="4290649"/>
                <a:ext cx="955675" cy="482600"/>
              </a:xfrm>
              <a:prstGeom prst="rect">
                <a:avLst/>
              </a:prstGeom>
              <a:blipFill>
                <a:blip r:embed="rId2"/>
                <a:stretch>
                  <a:fillRect/>
                </a:stretch>
              </a:blipFill>
            </p:spPr>
            <p:txBody>
              <a:bodyPr/>
              <a:lstStyle/>
              <a:p>
                <a:r>
                  <a:rPr lang="zh-CN" altLang="en-US">
                    <a:noFill/>
                  </a:rPr>
                  <a:t> </a:t>
                </a:r>
              </a:p>
            </p:txBody>
          </p:sp>
        </mc:Fallback>
      </mc:AlternateContent>
      <p:grpSp>
        <p:nvGrpSpPr>
          <p:cNvPr id="22554" name="Group 26">
            <a:extLst>
              <a:ext uri="{FF2B5EF4-FFF2-40B4-BE49-F238E27FC236}">
                <a16:creationId xmlns:a16="http://schemas.microsoft.com/office/drawing/2014/main" id="{EF0F6EF1-E42F-4FFC-943C-1EA69EE22A45}"/>
              </a:ext>
            </a:extLst>
          </p:cNvPr>
          <p:cNvGrpSpPr>
            <a:grpSpLocks/>
          </p:cNvGrpSpPr>
          <p:nvPr/>
        </p:nvGrpSpPr>
        <p:grpSpPr bwMode="auto">
          <a:xfrm>
            <a:off x="539750" y="476250"/>
            <a:ext cx="4808538" cy="633413"/>
            <a:chOff x="476" y="300"/>
            <a:chExt cx="3029" cy="399"/>
          </a:xfrm>
        </p:grpSpPr>
        <p:sp>
          <p:nvSpPr>
            <p:cNvPr id="22541" name="Text Box 13">
              <a:extLst>
                <a:ext uri="{FF2B5EF4-FFF2-40B4-BE49-F238E27FC236}">
                  <a16:creationId xmlns:a16="http://schemas.microsoft.com/office/drawing/2014/main" id="{70B5F864-3FB5-41B3-920D-C6349209F485}"/>
                </a:ext>
              </a:extLst>
            </p:cNvPr>
            <p:cNvSpPr txBox="1">
              <a:spLocks noChangeArrowheads="1"/>
            </p:cNvSpPr>
            <p:nvPr/>
          </p:nvSpPr>
          <p:spPr bwMode="auto">
            <a:xfrm>
              <a:off x="476" y="343"/>
              <a:ext cx="96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b="1">
                  <a:latin typeface="Times New Roman" panose="02020603050405020304" pitchFamily="18" charset="0"/>
                </a:rPr>
                <a:t>光速：</a:t>
              </a:r>
            </a:p>
          </p:txBody>
        </p:sp>
        <mc:AlternateContent xmlns:mc="http://schemas.openxmlformats.org/markup-compatibility/2006" xmlns:a14="http://schemas.microsoft.com/office/drawing/2010/main">
          <mc:Choice Requires="a14">
            <p:sp>
              <p:nvSpPr>
                <p:cNvPr id="22542" name="Object 14">
                  <a:extLst>
                    <a:ext uri="{FF2B5EF4-FFF2-40B4-BE49-F238E27FC236}">
                      <a16:creationId xmlns:a16="http://schemas.microsoft.com/office/drawing/2014/main" id="{56482929-5333-477E-8B23-82502B8B2855}"/>
                    </a:ext>
                  </a:extLst>
                </p:cNvPr>
                <p:cNvSpPr txBox="1"/>
                <p:nvPr/>
              </p:nvSpPr>
              <p:spPr bwMode="auto">
                <a:xfrm>
                  <a:off x="1710" y="300"/>
                  <a:ext cx="1795" cy="399"/>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𝑐</m:t>
                        </m:r>
                        <m:r>
                          <a:rPr lang="zh-CN" altLang="en-US" sz="2400" i="1">
                            <a:solidFill>
                              <a:srgbClr val="000000"/>
                            </a:solidFill>
                            <a:latin typeface="Cambria Math" panose="02040503050406030204" pitchFamily="18" charset="0"/>
                          </a:rPr>
                          <m:t>=3×1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8</m:t>
                            </m:r>
                          </m:sup>
                        </m:sSup>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𝐦</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𝐬</m:t>
                            </m:r>
                          </m:e>
                          <m:sup>
                            <m:r>
                              <a:rPr lang="zh-CN" altLang="en-US" sz="2400" i="1">
                                <a:solidFill>
                                  <a:srgbClr val="000000"/>
                                </a:solidFill>
                                <a:latin typeface="Cambria Math" panose="02040503050406030204" pitchFamily="18" charset="0"/>
                              </a:rPr>
                              <m:t>−1</m:t>
                            </m:r>
                          </m:sup>
                        </m:sSup>
                      </m:oMath>
                    </m:oMathPara>
                  </a14:m>
                  <a:endParaRPr lang="zh-CN" altLang="en-US" sz="2400" dirty="0"/>
                </a:p>
              </p:txBody>
            </p:sp>
          </mc:Choice>
          <mc:Fallback xmlns="">
            <p:sp>
              <p:nvSpPr>
                <p:cNvPr id="22542" name="Object 14">
                  <a:extLst>
                    <a:ext uri="{FF2B5EF4-FFF2-40B4-BE49-F238E27FC236}">
                      <a16:creationId xmlns:a16="http://schemas.microsoft.com/office/drawing/2014/main" id="{56482929-5333-477E-8B23-82502B8B2855}"/>
                    </a:ext>
                  </a:extLst>
                </p:cNvPr>
                <p:cNvSpPr txBox="1">
                  <a:spLocks noRot="1" noChangeAspect="1" noMove="1" noResize="1" noEditPoints="1" noAdjustHandles="1" noChangeArrowheads="1" noChangeShapeType="1" noTextEdit="1"/>
                </p:cNvSpPr>
                <p:nvPr/>
              </p:nvSpPr>
              <p:spPr bwMode="auto">
                <a:xfrm>
                  <a:off x="1710" y="300"/>
                  <a:ext cx="1795" cy="399"/>
                </a:xfrm>
                <a:prstGeom prst="rect">
                  <a:avLst/>
                </a:prstGeom>
                <a:blipFill>
                  <a:blip r:embed="rId3"/>
                  <a:stretch>
                    <a:fillRect/>
                  </a:stretch>
                </a:blipFill>
                <a:ln>
                  <a:noFill/>
                </a:ln>
                <a:effectLst/>
              </p:spPr>
              <p:txBody>
                <a:bodyPr/>
                <a:lstStyle/>
                <a:p>
                  <a:r>
                    <a:rPr lang="zh-CN" altLang="en-US">
                      <a:noFill/>
                    </a:rPr>
                    <a:t> </a:t>
                  </a:r>
                </a:p>
              </p:txBody>
            </p:sp>
          </mc:Fallback>
        </mc:AlternateContent>
      </p:grpSp>
      <p:grpSp>
        <p:nvGrpSpPr>
          <p:cNvPr id="22543" name="Group 15">
            <a:extLst>
              <a:ext uri="{FF2B5EF4-FFF2-40B4-BE49-F238E27FC236}">
                <a16:creationId xmlns:a16="http://schemas.microsoft.com/office/drawing/2014/main" id="{2AD9B140-C83C-433B-BE96-1FA85617F13E}"/>
              </a:ext>
            </a:extLst>
          </p:cNvPr>
          <p:cNvGrpSpPr>
            <a:grpSpLocks/>
          </p:cNvGrpSpPr>
          <p:nvPr/>
        </p:nvGrpSpPr>
        <p:grpSpPr bwMode="auto">
          <a:xfrm>
            <a:off x="539750" y="1484313"/>
            <a:ext cx="5459413" cy="619125"/>
            <a:chOff x="336" y="2208"/>
            <a:chExt cx="3439" cy="390"/>
          </a:xfrm>
        </p:grpSpPr>
        <p:sp>
          <p:nvSpPr>
            <p:cNvPr id="22544" name="Text Box 16">
              <a:extLst>
                <a:ext uri="{FF2B5EF4-FFF2-40B4-BE49-F238E27FC236}">
                  <a16:creationId xmlns:a16="http://schemas.microsoft.com/office/drawing/2014/main" id="{C9F6DE8F-A49E-40CA-8DA3-43C183B0C4AA}"/>
                </a:ext>
              </a:extLst>
            </p:cNvPr>
            <p:cNvSpPr txBox="1">
              <a:spLocks noChangeArrowheads="1"/>
            </p:cNvSpPr>
            <p:nvPr/>
          </p:nvSpPr>
          <p:spPr bwMode="auto">
            <a:xfrm>
              <a:off x="336" y="2208"/>
              <a:ext cx="17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b="1">
                  <a:latin typeface="Times New Roman" panose="02020603050405020304" pitchFamily="18" charset="0"/>
                </a:rPr>
                <a:t>所选光波长：</a:t>
              </a:r>
            </a:p>
          </p:txBody>
        </p:sp>
        <mc:AlternateContent xmlns:mc="http://schemas.openxmlformats.org/markup-compatibility/2006" xmlns:a14="http://schemas.microsoft.com/office/drawing/2010/main">
          <mc:Choice Requires="a14">
            <p:sp>
              <p:nvSpPr>
                <p:cNvPr id="22545" name="Object 17">
                  <a:extLst>
                    <a:ext uri="{FF2B5EF4-FFF2-40B4-BE49-F238E27FC236}">
                      <a16:creationId xmlns:a16="http://schemas.microsoft.com/office/drawing/2014/main" id="{0D0B9A1F-A7FC-4221-8158-EDA381EC8565}"/>
                    </a:ext>
                  </a:extLst>
                </p:cNvPr>
                <p:cNvSpPr txBox="1"/>
                <p:nvPr/>
              </p:nvSpPr>
              <p:spPr bwMode="auto">
                <a:xfrm>
                  <a:off x="2129" y="2208"/>
                  <a:ext cx="1646" cy="39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𝜆</m:t>
                        </m:r>
                        <m:r>
                          <a:rPr lang="zh-CN" altLang="en-US" sz="2400" i="1">
                            <a:solidFill>
                              <a:srgbClr val="000000"/>
                            </a:solidFill>
                            <a:latin typeface="Cambria Math" panose="02040503050406030204" pitchFamily="18" charset="0"/>
                          </a:rPr>
                          <m:t>≈5.9×1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−7</m:t>
                            </m:r>
                          </m:sup>
                        </m:sSup>
                        <m:r>
                          <a:rPr lang="zh-CN" altLang="en-US" sz="2400" i="1">
                            <a:solidFill>
                              <a:srgbClr val="000000"/>
                            </a:solidFill>
                            <a:latin typeface="Cambria Math" panose="02040503050406030204" pitchFamily="18" charset="0"/>
                          </a:rPr>
                          <m:t>𝐦</m:t>
                        </m:r>
                      </m:oMath>
                    </m:oMathPara>
                  </a14:m>
                  <a:endParaRPr lang="zh-CN" altLang="en-US" sz="2400" dirty="0"/>
                </a:p>
              </p:txBody>
            </p:sp>
          </mc:Choice>
          <mc:Fallback xmlns="">
            <p:sp>
              <p:nvSpPr>
                <p:cNvPr id="22545" name="Object 17">
                  <a:extLst>
                    <a:ext uri="{FF2B5EF4-FFF2-40B4-BE49-F238E27FC236}">
                      <a16:creationId xmlns:a16="http://schemas.microsoft.com/office/drawing/2014/main" id="{0D0B9A1F-A7FC-4221-8158-EDA381EC8565}"/>
                    </a:ext>
                  </a:extLst>
                </p:cNvPr>
                <p:cNvSpPr txBox="1">
                  <a:spLocks noRot="1" noChangeAspect="1" noMove="1" noResize="1" noEditPoints="1" noAdjustHandles="1" noChangeArrowheads="1" noChangeShapeType="1" noTextEdit="1"/>
                </p:cNvSpPr>
                <p:nvPr/>
              </p:nvSpPr>
              <p:spPr bwMode="auto">
                <a:xfrm>
                  <a:off x="2129" y="2208"/>
                  <a:ext cx="1646" cy="390"/>
                </a:xfrm>
                <a:prstGeom prst="rect">
                  <a:avLst/>
                </a:prstGeom>
                <a:blipFill>
                  <a:blip r:embed="rId4"/>
                  <a:stretch>
                    <a:fillRect/>
                  </a:stretch>
                </a:blipFill>
                <a:ln>
                  <a:noFill/>
                </a:ln>
                <a:effectLst/>
              </p:spPr>
              <p:txBody>
                <a:bodyPr/>
                <a:lstStyle/>
                <a:p>
                  <a:r>
                    <a:rPr lang="zh-CN" altLang="en-US">
                      <a:noFill/>
                    </a:rPr>
                    <a:t> </a:t>
                  </a:r>
                </a:p>
              </p:txBody>
            </p:sp>
          </mc:Fallback>
        </mc:AlternateContent>
      </p:grpSp>
      <p:grpSp>
        <p:nvGrpSpPr>
          <p:cNvPr id="22546" name="Group 18">
            <a:extLst>
              <a:ext uri="{FF2B5EF4-FFF2-40B4-BE49-F238E27FC236}">
                <a16:creationId xmlns:a16="http://schemas.microsoft.com/office/drawing/2014/main" id="{84A07ED6-1CEF-4154-963F-1C8DF579E848}"/>
              </a:ext>
            </a:extLst>
          </p:cNvPr>
          <p:cNvGrpSpPr>
            <a:grpSpLocks/>
          </p:cNvGrpSpPr>
          <p:nvPr/>
        </p:nvGrpSpPr>
        <p:grpSpPr bwMode="auto">
          <a:xfrm>
            <a:off x="539750" y="3213100"/>
            <a:ext cx="7639050" cy="685800"/>
            <a:chOff x="288" y="2640"/>
            <a:chExt cx="4812" cy="432"/>
          </a:xfrm>
        </p:grpSpPr>
        <p:sp>
          <p:nvSpPr>
            <p:cNvPr id="22547" name="Text Box 19">
              <a:extLst>
                <a:ext uri="{FF2B5EF4-FFF2-40B4-BE49-F238E27FC236}">
                  <a16:creationId xmlns:a16="http://schemas.microsoft.com/office/drawing/2014/main" id="{9AADFAE7-DC5D-4CAB-9303-59155B9B00E0}"/>
                </a:ext>
              </a:extLst>
            </p:cNvPr>
            <p:cNvSpPr txBox="1">
              <a:spLocks noChangeArrowheads="1"/>
            </p:cNvSpPr>
            <p:nvPr/>
          </p:nvSpPr>
          <p:spPr bwMode="auto">
            <a:xfrm>
              <a:off x="288" y="2688"/>
              <a:ext cx="29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b="1">
                  <a:latin typeface="Times New Roman" panose="02020603050405020304" pitchFamily="18" charset="0"/>
                </a:rPr>
                <a:t>地球绕太阳的公转速度：</a:t>
              </a:r>
            </a:p>
          </p:txBody>
        </p:sp>
        <mc:AlternateContent xmlns:mc="http://schemas.openxmlformats.org/markup-compatibility/2006" xmlns:a14="http://schemas.microsoft.com/office/drawing/2010/main">
          <mc:Choice Requires="a14">
            <p:sp>
              <p:nvSpPr>
                <p:cNvPr id="22548" name="Object 20">
                  <a:extLst>
                    <a:ext uri="{FF2B5EF4-FFF2-40B4-BE49-F238E27FC236}">
                      <a16:creationId xmlns:a16="http://schemas.microsoft.com/office/drawing/2014/main" id="{C5709BFE-93BF-4C94-A575-733060490241}"/>
                    </a:ext>
                  </a:extLst>
                </p:cNvPr>
                <p:cNvSpPr txBox="1"/>
                <p:nvPr/>
              </p:nvSpPr>
              <p:spPr bwMode="auto">
                <a:xfrm>
                  <a:off x="3108" y="2640"/>
                  <a:ext cx="1992" cy="432"/>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v</m:t>
                        </m:r>
                        <m:r>
                          <a:rPr lang="zh-CN" altLang="en-US" sz="2400" i="1">
                            <a:solidFill>
                              <a:srgbClr val="000000"/>
                            </a:solidFill>
                            <a:latin typeface="Cambria Math" panose="02040503050406030204" pitchFamily="18" charset="0"/>
                          </a:rPr>
                          <m:t>=3×1</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4</m:t>
                            </m:r>
                          </m:sup>
                        </m:sSup>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𝐦</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𝐬</m:t>
                            </m:r>
                          </m:e>
                          <m: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𝟏</m:t>
                            </m:r>
                          </m:sup>
                        </m:sSup>
                      </m:oMath>
                    </m:oMathPara>
                  </a14:m>
                  <a:endParaRPr lang="zh-CN" altLang="en-US" sz="2400" dirty="0"/>
                </a:p>
              </p:txBody>
            </p:sp>
          </mc:Choice>
          <mc:Fallback xmlns="">
            <p:sp>
              <p:nvSpPr>
                <p:cNvPr id="22548" name="Object 20">
                  <a:extLst>
                    <a:ext uri="{FF2B5EF4-FFF2-40B4-BE49-F238E27FC236}">
                      <a16:creationId xmlns:a16="http://schemas.microsoft.com/office/drawing/2014/main" id="{C5709BFE-93BF-4C94-A575-733060490241}"/>
                    </a:ext>
                  </a:extLst>
                </p:cNvPr>
                <p:cNvSpPr txBox="1">
                  <a:spLocks noRot="1" noChangeAspect="1" noMove="1" noResize="1" noEditPoints="1" noAdjustHandles="1" noChangeArrowheads="1" noChangeShapeType="1" noTextEdit="1"/>
                </p:cNvSpPr>
                <p:nvPr/>
              </p:nvSpPr>
              <p:spPr bwMode="auto">
                <a:xfrm>
                  <a:off x="3108" y="2640"/>
                  <a:ext cx="1992" cy="432"/>
                </a:xfrm>
                <a:prstGeom prst="rect">
                  <a:avLst/>
                </a:prstGeom>
                <a:blipFill>
                  <a:blip r:embed="rId5"/>
                  <a:stretch>
                    <a:fillRect/>
                  </a:stretch>
                </a:blipFill>
                <a:ln>
                  <a:noFill/>
                </a:ln>
                <a:effectLst/>
              </p:spPr>
              <p:txBody>
                <a:bodyPr/>
                <a:lstStyle/>
                <a:p>
                  <a:r>
                    <a:rPr lang="zh-CN" altLang="en-US">
                      <a:noFill/>
                    </a:rPr>
                    <a:t> </a:t>
                  </a:r>
                </a:p>
              </p:txBody>
            </p:sp>
          </mc:Fallback>
        </mc:AlternateContent>
      </p:grpSp>
      <p:grpSp>
        <p:nvGrpSpPr>
          <p:cNvPr id="22549" name="Group 21">
            <a:extLst>
              <a:ext uri="{FF2B5EF4-FFF2-40B4-BE49-F238E27FC236}">
                <a16:creationId xmlns:a16="http://schemas.microsoft.com/office/drawing/2014/main" id="{EFBF6DAF-FC37-4580-B289-FFD74319FFBD}"/>
              </a:ext>
            </a:extLst>
          </p:cNvPr>
          <p:cNvGrpSpPr>
            <a:grpSpLocks/>
          </p:cNvGrpSpPr>
          <p:nvPr/>
        </p:nvGrpSpPr>
        <p:grpSpPr bwMode="auto">
          <a:xfrm>
            <a:off x="539750" y="2420938"/>
            <a:ext cx="5410200" cy="633412"/>
            <a:chOff x="384" y="3067"/>
            <a:chExt cx="3408" cy="399"/>
          </a:xfrm>
        </p:grpSpPr>
        <p:sp>
          <p:nvSpPr>
            <p:cNvPr id="22550" name="Text Box 22">
              <a:extLst>
                <a:ext uri="{FF2B5EF4-FFF2-40B4-BE49-F238E27FC236}">
                  <a16:creationId xmlns:a16="http://schemas.microsoft.com/office/drawing/2014/main" id="{9A42CE9A-D291-4F64-B653-59B767444022}"/>
                </a:ext>
              </a:extLst>
            </p:cNvPr>
            <p:cNvSpPr txBox="1">
              <a:spLocks noChangeArrowheads="1"/>
            </p:cNvSpPr>
            <p:nvPr/>
          </p:nvSpPr>
          <p:spPr bwMode="auto">
            <a:xfrm>
              <a:off x="384" y="3067"/>
              <a:ext cx="17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b="1">
                  <a:latin typeface="Times New Roman" panose="02020603050405020304" pitchFamily="18" charset="0"/>
                </a:rPr>
                <a:t>干涉仪臂长约：</a:t>
              </a:r>
            </a:p>
          </p:txBody>
        </p:sp>
        <mc:AlternateContent xmlns:mc="http://schemas.openxmlformats.org/markup-compatibility/2006" xmlns:a14="http://schemas.microsoft.com/office/drawing/2010/main">
          <mc:Choice Requires="a14">
            <p:sp>
              <p:nvSpPr>
                <p:cNvPr id="22551" name="Object 23">
                  <a:extLst>
                    <a:ext uri="{FF2B5EF4-FFF2-40B4-BE49-F238E27FC236}">
                      <a16:creationId xmlns:a16="http://schemas.microsoft.com/office/drawing/2014/main" id="{30314309-879E-43E4-BDFE-FC06594C28D0}"/>
                    </a:ext>
                  </a:extLst>
                </p:cNvPr>
                <p:cNvSpPr txBox="1"/>
                <p:nvPr/>
              </p:nvSpPr>
              <p:spPr bwMode="auto">
                <a:xfrm>
                  <a:off x="2784" y="3084"/>
                  <a:ext cx="1008" cy="382"/>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𝑙</m:t>
                        </m:r>
                        <m:r>
                          <a:rPr lang="zh-CN" altLang="en-US" sz="2400" i="1">
                            <a:solidFill>
                              <a:srgbClr val="000000"/>
                            </a:solidFill>
                            <a:latin typeface="Cambria Math" panose="02040503050406030204" pitchFamily="18" charset="0"/>
                          </a:rPr>
                          <m:t>=10 </m:t>
                        </m:r>
                        <m:r>
                          <a:rPr lang="zh-CN" altLang="en-US" sz="2400" i="1">
                            <a:solidFill>
                              <a:srgbClr val="000000"/>
                            </a:solidFill>
                            <a:latin typeface="Cambria Math" panose="02040503050406030204" pitchFamily="18" charset="0"/>
                          </a:rPr>
                          <m:t>𝐦</m:t>
                        </m:r>
                      </m:oMath>
                    </m:oMathPara>
                  </a14:m>
                  <a:endParaRPr lang="zh-CN" altLang="en-US" sz="2400" dirty="0"/>
                </a:p>
              </p:txBody>
            </p:sp>
          </mc:Choice>
          <mc:Fallback xmlns="">
            <p:sp>
              <p:nvSpPr>
                <p:cNvPr id="22551" name="Object 23">
                  <a:extLst>
                    <a:ext uri="{FF2B5EF4-FFF2-40B4-BE49-F238E27FC236}">
                      <a16:creationId xmlns:a16="http://schemas.microsoft.com/office/drawing/2014/main" id="{30314309-879E-43E4-BDFE-FC06594C28D0}"/>
                    </a:ext>
                  </a:extLst>
                </p:cNvPr>
                <p:cNvSpPr txBox="1">
                  <a:spLocks noRot="1" noChangeAspect="1" noMove="1" noResize="1" noEditPoints="1" noAdjustHandles="1" noChangeArrowheads="1" noChangeShapeType="1" noTextEdit="1"/>
                </p:cNvSpPr>
                <p:nvPr/>
              </p:nvSpPr>
              <p:spPr bwMode="auto">
                <a:xfrm>
                  <a:off x="2784" y="3084"/>
                  <a:ext cx="1008" cy="382"/>
                </a:xfrm>
                <a:prstGeom prst="rect">
                  <a:avLst/>
                </a:prstGeom>
                <a:blipFill>
                  <a:blip r:embed="rId6"/>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2553" name="Object 25">
                <a:extLst>
                  <a:ext uri="{FF2B5EF4-FFF2-40B4-BE49-F238E27FC236}">
                    <a16:creationId xmlns:a16="http://schemas.microsoft.com/office/drawing/2014/main" id="{BF267BC1-B66E-41E6-93E6-D25C13B4CDEF}"/>
                  </a:ext>
                </a:extLst>
              </p:cNvPr>
              <p:cNvSpPr txBox="1"/>
              <p:nvPr/>
            </p:nvSpPr>
            <p:spPr bwMode="auto">
              <a:xfrm>
                <a:off x="2498725" y="4076439"/>
                <a:ext cx="2879725" cy="1150938"/>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𝑁</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𝛿</m:t>
                          </m:r>
                        </m:num>
                        <m:den>
                          <m:r>
                            <a:rPr lang="zh-CN" altLang="en-US" sz="2400" i="1">
                              <a:solidFill>
                                <a:srgbClr val="000000"/>
                              </a:solidFill>
                              <a:latin typeface="Cambria Math" panose="02040503050406030204" pitchFamily="18" charset="0"/>
                            </a:rPr>
                            <m:t>𝜆</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𝑙</m:t>
                          </m:r>
                          <m:sSup>
                            <m:sSupPr>
                              <m:ctrlPr>
                                <a:rPr lang="zh-CN" altLang="en-US" sz="2400" i="1">
                                  <a:solidFill>
                                    <a:srgbClr val="000000"/>
                                  </a:solidFill>
                                  <a:latin typeface="Cambria Math" panose="02040503050406030204" pitchFamily="18" charset="0"/>
                                </a:rPr>
                              </m:ctrlPr>
                            </m:sSupPr>
                            <m:e>
                              <m:r>
                                <m:rPr>
                                  <m:sty m:val="p"/>
                                </m:rPr>
                                <a:rPr lang="zh-CN" altLang="en-US" sz="2400" i="1">
                                  <a:solidFill>
                                    <a:srgbClr val="000000"/>
                                  </a:solidFill>
                                  <a:latin typeface="Cambria Math" panose="02040503050406030204" pitchFamily="18" charset="0"/>
                                </a:rPr>
                                <m:t>v</m:t>
                              </m:r>
                            </m:e>
                            <m:sup>
                              <m:r>
                                <a:rPr lang="zh-CN" altLang="en-US" sz="2400" i="1">
                                  <a:solidFill>
                                    <a:srgbClr val="000000"/>
                                  </a:solidFill>
                                  <a:latin typeface="Cambria Math" panose="02040503050406030204" pitchFamily="18" charset="0"/>
                                </a:rPr>
                                <m:t>2</m:t>
                              </m:r>
                            </m:sup>
                          </m:sSup>
                        </m:num>
                        <m:den>
                          <m:r>
                            <a:rPr lang="zh-CN" altLang="en-US" sz="2400" i="1">
                              <a:solidFill>
                                <a:srgbClr val="000000"/>
                              </a:solidFill>
                              <a:latin typeface="Cambria Math" panose="02040503050406030204" pitchFamily="18" charset="0"/>
                            </a:rPr>
                            <m:t>𝜆</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𝑐</m:t>
                              </m:r>
                            </m:e>
                            <m:sup>
                              <m:r>
                                <a:rPr lang="zh-CN" altLang="en-US" sz="2400" i="1">
                                  <a:solidFill>
                                    <a:srgbClr val="000000"/>
                                  </a:solidFill>
                                  <a:latin typeface="Cambria Math" panose="02040503050406030204" pitchFamily="18" charset="0"/>
                                </a:rPr>
                                <m:t>2</m:t>
                              </m:r>
                            </m:sup>
                          </m:sSup>
                        </m:den>
                      </m:f>
                    </m:oMath>
                  </m:oMathPara>
                </a14:m>
                <a:endParaRPr lang="zh-CN" altLang="en-US" sz="1600" dirty="0"/>
              </a:p>
            </p:txBody>
          </p:sp>
        </mc:Choice>
        <mc:Fallback xmlns="">
          <p:sp>
            <p:nvSpPr>
              <p:cNvPr id="22553" name="Object 25">
                <a:extLst>
                  <a:ext uri="{FF2B5EF4-FFF2-40B4-BE49-F238E27FC236}">
                    <a16:creationId xmlns:a16="http://schemas.microsoft.com/office/drawing/2014/main" id="{BF267BC1-B66E-41E6-93E6-D25C13B4CDEF}"/>
                  </a:ext>
                </a:extLst>
              </p:cNvPr>
              <p:cNvSpPr txBox="1">
                <a:spLocks noRot="1" noChangeAspect="1" noMove="1" noResize="1" noEditPoints="1" noAdjustHandles="1" noChangeArrowheads="1" noChangeShapeType="1" noTextEdit="1"/>
              </p:cNvSpPr>
              <p:nvPr/>
            </p:nvSpPr>
            <p:spPr bwMode="auto">
              <a:xfrm>
                <a:off x="2498725" y="4076439"/>
                <a:ext cx="2879725" cy="1150938"/>
              </a:xfrm>
              <a:prstGeom prst="rect">
                <a:avLst/>
              </a:prstGeom>
              <a:blipFill>
                <a:blip r:embed="rId7"/>
                <a:stretch>
                  <a:fillRect/>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90C1DC37-13B6-4306-8AA9-9319FA2B0096}"/>
              </a:ext>
            </a:extLst>
          </p:cNvPr>
          <p:cNvSpPr/>
          <p:nvPr/>
        </p:nvSpPr>
        <p:spPr>
          <a:xfrm>
            <a:off x="581645" y="5308331"/>
            <a:ext cx="8205252" cy="1200329"/>
          </a:xfrm>
          <a:prstGeom prst="rect">
            <a:avLst/>
          </a:prstGeom>
        </p:spPr>
        <p:txBody>
          <a:bodyPr wrap="square">
            <a:spAutoFit/>
          </a:bodyPr>
          <a:lstStyle/>
          <a:p>
            <a:r>
              <a:rPr lang="zh-CN" altLang="en-US" sz="2400" dirty="0">
                <a:latin typeface="黑体" panose="02010609060101010101" pitchFamily="49" charset="-122"/>
                <a:ea typeface="黑体" panose="02010609060101010101" pitchFamily="49" charset="-122"/>
              </a:rPr>
              <a:t>实验结果根本看不到干涉条纹的变化。其后，在不同的地方又做了精度更高的实验，都支持了麦克尔逊和莫雷的“负”实验结果。这就是麦克尔逊</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莫雷否定以太的著名实验。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554"/>
                                        </p:tgtEl>
                                        <p:attrNameLst>
                                          <p:attrName>style.visibility</p:attrName>
                                        </p:attrNameLst>
                                      </p:cBhvr>
                                      <p:to>
                                        <p:strVal val="visible"/>
                                      </p:to>
                                    </p:set>
                                    <p:animEffect transition="in" filter="wipe(left)">
                                      <p:cBhvr>
                                        <p:cTn id="7" dur="500"/>
                                        <p:tgtEl>
                                          <p:spTgt spid="22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2543"/>
                                        </p:tgtEl>
                                        <p:attrNameLst>
                                          <p:attrName>style.visibility</p:attrName>
                                        </p:attrNameLst>
                                      </p:cBhvr>
                                      <p:to>
                                        <p:strVal val="visible"/>
                                      </p:to>
                                    </p:set>
                                    <p:animEffect transition="in" filter="strips(downRight)">
                                      <p:cBhvr>
                                        <p:cTn id="12" dur="500"/>
                                        <p:tgtEl>
                                          <p:spTgt spid="225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22546"/>
                                        </p:tgtEl>
                                        <p:attrNameLst>
                                          <p:attrName>style.visibility</p:attrName>
                                        </p:attrNameLst>
                                      </p:cBhvr>
                                      <p:to>
                                        <p:strVal val="visible"/>
                                      </p:to>
                                    </p:set>
                                    <p:animEffect transition="in" filter="strips(downRight)">
                                      <p:cBhvr>
                                        <p:cTn id="17" dur="500"/>
                                        <p:tgtEl>
                                          <p:spTgt spid="225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22549"/>
                                        </p:tgtEl>
                                        <p:attrNameLst>
                                          <p:attrName>style.visibility</p:attrName>
                                        </p:attrNameLst>
                                      </p:cBhvr>
                                      <p:to>
                                        <p:strVal val="visible"/>
                                      </p:to>
                                    </p:set>
                                    <p:animEffect transition="in" filter="strips(downRight)">
                                      <p:cBhvr>
                                        <p:cTn id="22" dur="500"/>
                                        <p:tgtEl>
                                          <p:spTgt spid="22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F590BD0-1ECD-4383-9FFC-3A3A3B40BD5E}"/>
              </a:ext>
            </a:extLst>
          </p:cNvPr>
          <p:cNvPicPr>
            <a:picLocks noChangeAspect="1"/>
          </p:cNvPicPr>
          <p:nvPr/>
        </p:nvPicPr>
        <p:blipFill>
          <a:blip r:embed="rId2"/>
          <a:stretch>
            <a:fillRect/>
          </a:stretch>
        </p:blipFill>
        <p:spPr>
          <a:xfrm>
            <a:off x="717137" y="952274"/>
            <a:ext cx="1370801" cy="1938704"/>
          </a:xfrm>
          <a:prstGeom prst="rect">
            <a:avLst/>
          </a:prstGeom>
        </p:spPr>
      </p:pic>
      <p:sp>
        <p:nvSpPr>
          <p:cNvPr id="3" name="文本框 2">
            <a:extLst>
              <a:ext uri="{FF2B5EF4-FFF2-40B4-BE49-F238E27FC236}">
                <a16:creationId xmlns:a16="http://schemas.microsoft.com/office/drawing/2014/main" id="{E22FA839-D6ED-46B0-AAE1-20B210F9902F}"/>
              </a:ext>
            </a:extLst>
          </p:cNvPr>
          <p:cNvSpPr txBox="1"/>
          <p:nvPr/>
        </p:nvSpPr>
        <p:spPr>
          <a:xfrm>
            <a:off x="2586291" y="952274"/>
            <a:ext cx="5252400" cy="1128579"/>
          </a:xfrm>
          <a:prstGeom prst="rect">
            <a:avLst/>
          </a:prstGeom>
          <a:noFill/>
        </p:spPr>
        <p:txBody>
          <a:bodyPr wrap="none" rtlCol="0">
            <a:spAutoFit/>
          </a:bodyPr>
          <a:lstStyle/>
          <a:p>
            <a:pPr>
              <a:lnSpc>
                <a:spcPct val="150000"/>
              </a:lnSpc>
            </a:pPr>
            <a:r>
              <a:rPr lang="zh-CN" altLang="en-US" sz="2400" dirty="0">
                <a:latin typeface="Arial" panose="020B0604020202020204" pitchFamily="34" charset="0"/>
                <a:ea typeface="黑体" panose="02010609060101010101" pitchFamily="49" charset="-122"/>
                <a:cs typeface="Arial" panose="020B0604020202020204" pitchFamily="34" charset="0"/>
              </a:rPr>
              <a:t>洛伦兹（</a:t>
            </a:r>
            <a:r>
              <a:rPr lang="en-US" altLang="zh-CN" sz="2400" dirty="0">
                <a:latin typeface="Arial" panose="020B0604020202020204" pitchFamily="34" charset="0"/>
                <a:ea typeface="黑体" panose="02010609060101010101" pitchFamily="49" charset="-122"/>
                <a:cs typeface="Arial" panose="020B0604020202020204" pitchFamily="34" charset="0"/>
              </a:rPr>
              <a:t>Hendrik </a:t>
            </a:r>
            <a:r>
              <a:rPr lang="en-US" altLang="zh-CN" sz="2400" dirty="0" err="1">
                <a:latin typeface="Arial" panose="020B0604020202020204" pitchFamily="34" charset="0"/>
                <a:ea typeface="黑体" panose="02010609060101010101" pitchFamily="49" charset="-122"/>
                <a:cs typeface="Arial" panose="020B0604020202020204" pitchFamily="34" charset="0"/>
              </a:rPr>
              <a:t>Antoon</a:t>
            </a:r>
            <a:r>
              <a:rPr lang="en-US" altLang="zh-CN" sz="2400" dirty="0">
                <a:latin typeface="Arial" panose="020B0604020202020204" pitchFamily="34" charset="0"/>
                <a:ea typeface="黑体" panose="02010609060101010101" pitchFamily="49" charset="-122"/>
                <a:cs typeface="Arial" panose="020B0604020202020204" pitchFamily="34" charset="0"/>
              </a:rPr>
              <a:t> Lorentz</a:t>
            </a:r>
            <a:r>
              <a:rPr lang="zh-CN" altLang="en-US" sz="2400" b="1" dirty="0">
                <a:latin typeface="Arial" panose="020B0604020202020204" pitchFamily="34" charset="0"/>
                <a:ea typeface="黑体" panose="02010609060101010101" pitchFamily="49" charset="-122"/>
                <a:cs typeface="Arial" panose="020B0604020202020204" pitchFamily="34" charset="0"/>
              </a:rPr>
              <a:t>）</a:t>
            </a:r>
            <a:r>
              <a:rPr lang="zh-CN" altLang="en-US" sz="2400" dirty="0">
                <a:latin typeface="Arial" panose="020B0604020202020204" pitchFamily="34" charset="0"/>
                <a:ea typeface="黑体" panose="02010609060101010101" pitchFamily="49" charset="-122"/>
                <a:cs typeface="Arial" panose="020B0604020202020204" pitchFamily="34" charset="0"/>
              </a:rPr>
              <a:t>：</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a:lnSpc>
                <a:spcPct val="150000"/>
              </a:lnSpc>
            </a:pPr>
            <a:r>
              <a:rPr lang="zh-CN" altLang="en-US" sz="2400" dirty="0">
                <a:latin typeface="Arial" panose="020B0604020202020204" pitchFamily="34" charset="0"/>
                <a:ea typeface="黑体" panose="02010609060101010101" pitchFamily="49" charset="-122"/>
                <a:cs typeface="Arial" panose="020B0604020202020204" pitchFamily="34" charset="0"/>
              </a:rPr>
              <a:t>物体在运动方向的长度会收缩</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651F4CE-2937-46F3-9585-BBCDBA996B87}"/>
                  </a:ext>
                </a:extLst>
              </p:cNvPr>
              <p:cNvSpPr txBox="1"/>
              <p:nvPr/>
            </p:nvSpPr>
            <p:spPr>
              <a:xfrm>
                <a:off x="3525039" y="2350927"/>
                <a:ext cx="2633221" cy="4814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𝐿</m:t>
                          </m:r>
                        </m:e>
                        <m:sub>
                          <m:r>
                            <a:rPr lang="en-US" altLang="zh-CN" sz="2400" b="0" i="1" smtClean="0">
                              <a:latin typeface="Cambria Math" panose="02040503050406030204" pitchFamily="18" charset="0"/>
                            </a:rPr>
                            <m:t>||</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𝐿</m:t>
                          </m:r>
                        </m:e>
                        <m:sub>
                          <m:r>
                            <a:rPr lang="en-US" altLang="zh-CN" sz="2400" b="0" i="1" smtClean="0">
                              <a:latin typeface="Cambria Math" panose="02040503050406030204" pitchFamily="18" charset="0"/>
                            </a:rPr>
                            <m:t>0</m:t>
                          </m:r>
                        </m:sub>
                      </m:sSub>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oMath>
                  </m:oMathPara>
                </a14:m>
                <a:endParaRPr lang="zh-CN" altLang="en-US" sz="2400" dirty="0"/>
              </a:p>
            </p:txBody>
          </p:sp>
        </mc:Choice>
        <mc:Fallback xmlns="">
          <p:sp>
            <p:nvSpPr>
              <p:cNvPr id="4" name="文本框 3">
                <a:extLst>
                  <a:ext uri="{FF2B5EF4-FFF2-40B4-BE49-F238E27FC236}">
                    <a16:creationId xmlns:a16="http://schemas.microsoft.com/office/drawing/2014/main" id="{3651F4CE-2937-46F3-9585-BBCDBA996B87}"/>
                  </a:ext>
                </a:extLst>
              </p:cNvPr>
              <p:cNvSpPr txBox="1">
                <a:spLocks noRot="1" noChangeAspect="1" noMove="1" noResize="1" noEditPoints="1" noAdjustHandles="1" noChangeArrowheads="1" noChangeShapeType="1" noTextEdit="1"/>
              </p:cNvSpPr>
              <p:nvPr/>
            </p:nvSpPr>
            <p:spPr>
              <a:xfrm>
                <a:off x="3525039" y="2350927"/>
                <a:ext cx="2633221" cy="48147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267944-3ED4-4DCD-B818-832003D852E9}"/>
                  </a:ext>
                </a:extLst>
              </p:cNvPr>
              <p:cNvSpPr txBox="1"/>
              <p:nvPr/>
            </p:nvSpPr>
            <p:spPr>
              <a:xfrm>
                <a:off x="1554036" y="3901151"/>
                <a:ext cx="5761257" cy="957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𝑐</m:t>
                          </m:r>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r>
                                <a:rPr lang="en-US" altLang="zh-CN" sz="2400" i="1">
                                  <a:latin typeface="Cambria Math" panose="02040503050406030204" pitchFamily="18" charset="0"/>
                                </a:rPr>
                                <m:t>1−</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𝑢</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m:t>
                                  </m:r>
                                </m:e>
                                <m:sup>
                                  <m:r>
                                    <a:rPr lang="en-US" altLang="zh-CN" sz="2400" i="1">
                                      <a:latin typeface="Cambria Math" panose="02040503050406030204" pitchFamily="18" charset="0"/>
                                    </a:rPr>
                                    <m:t>2</m:t>
                                  </m:r>
                                </m:sup>
                              </m:sSup>
                            </m:e>
                          </m:rad>
                        </m:num>
                        <m:den>
                          <m:r>
                            <a:rPr lang="en-US" altLang="zh-CN" sz="2400" i="1">
                              <a:latin typeface="Cambria Math" panose="02040503050406030204" pitchFamily="18" charset="0"/>
                            </a:rPr>
                            <m:t>1−</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𝑢</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m:t>
                              </m:r>
                            </m:e>
                            <m:sup>
                              <m:r>
                                <a:rPr lang="en-US" altLang="zh-CN" sz="2400" i="1">
                                  <a:latin typeface="Cambria Math" panose="02040503050406030204" pitchFamily="18" charset="0"/>
                                </a:rPr>
                                <m:t>2</m:t>
                              </m:r>
                            </m:sup>
                          </m:sSup>
                        </m:den>
                      </m:f>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i="1">
                              <a:latin typeface="Cambria Math" panose="02040503050406030204" pitchFamily="18" charset="0"/>
                            </a:rPr>
                            <m:t>2</m:t>
                          </m:r>
                          <m:r>
                            <a:rPr lang="en-US" altLang="zh-CN" sz="2400" i="1">
                              <a:latin typeface="Cambria Math" panose="02040503050406030204" pitchFamily="18" charset="0"/>
                            </a:rPr>
                            <m:t>𝐿</m:t>
                          </m:r>
                          <m:r>
                            <a:rPr lang="en-US" altLang="zh-CN" sz="2400" i="1">
                              <a:latin typeface="Cambria Math" panose="02040503050406030204" pitchFamily="18" charset="0"/>
                            </a:rPr>
                            <m:t>/</m:t>
                          </m:r>
                          <m:r>
                            <a:rPr lang="en-US" altLang="zh-CN" sz="2400" i="1">
                              <a:latin typeface="Cambria Math" panose="02040503050406030204" pitchFamily="18" charset="0"/>
                            </a:rPr>
                            <m:t>𝑐</m:t>
                          </m:r>
                        </m:num>
                        <m:den>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1−</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𝑢</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m:t>
                                  </m:r>
                                </m:e>
                                <m:sup>
                                  <m:r>
                                    <a:rPr lang="en-US" altLang="zh-CN" sz="2400" i="1">
                                      <a:latin typeface="Cambria Math" panose="02040503050406030204" pitchFamily="18" charset="0"/>
                                    </a:rPr>
                                    <m:t>2</m:t>
                                  </m:r>
                                </m:sup>
                              </m:sSup>
                            </m:e>
                          </m:rad>
                        </m:den>
                      </m:f>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5" name="文本框 4">
                <a:extLst>
                  <a:ext uri="{FF2B5EF4-FFF2-40B4-BE49-F238E27FC236}">
                    <a16:creationId xmlns:a16="http://schemas.microsoft.com/office/drawing/2014/main" id="{76267944-3ED4-4DCD-B818-832003D852E9}"/>
                  </a:ext>
                </a:extLst>
              </p:cNvPr>
              <p:cNvSpPr txBox="1">
                <a:spLocks noRot="1" noChangeAspect="1" noMove="1" noResize="1" noEditPoints="1" noAdjustHandles="1" noChangeArrowheads="1" noChangeShapeType="1" noTextEdit="1"/>
              </p:cNvSpPr>
              <p:nvPr/>
            </p:nvSpPr>
            <p:spPr>
              <a:xfrm>
                <a:off x="1554036" y="3901151"/>
                <a:ext cx="5761257" cy="957313"/>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98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8">
            <a:extLst>
              <a:ext uri="{FF2B5EF4-FFF2-40B4-BE49-F238E27FC236}">
                <a16:creationId xmlns:a16="http://schemas.microsoft.com/office/drawing/2014/main" id="{818C02EB-3BFF-41B0-A19E-CD186C0F8BC9}"/>
              </a:ext>
            </a:extLst>
          </p:cNvPr>
          <p:cNvSpPr txBox="1">
            <a:spLocks noChangeArrowheads="1"/>
          </p:cNvSpPr>
          <p:nvPr/>
        </p:nvSpPr>
        <p:spPr bwMode="auto">
          <a:xfrm>
            <a:off x="577850" y="152400"/>
            <a:ext cx="41751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FF0000"/>
                </a:solidFill>
                <a:effectLst/>
                <a:latin typeface="黑体" panose="02010609060101010101" pitchFamily="49" charset="-122"/>
                <a:ea typeface="黑体" panose="02010609060101010101" pitchFamily="49" charset="-122"/>
              </a:rPr>
              <a:t>洛伦兹坐标变换</a:t>
            </a:r>
          </a:p>
        </p:txBody>
      </p:sp>
      <p:grpSp>
        <p:nvGrpSpPr>
          <p:cNvPr id="3" name="Group 5">
            <a:extLst>
              <a:ext uri="{FF2B5EF4-FFF2-40B4-BE49-F238E27FC236}">
                <a16:creationId xmlns:a16="http://schemas.microsoft.com/office/drawing/2014/main" id="{687B3876-67D4-4DB3-AA23-313AE4631717}"/>
              </a:ext>
            </a:extLst>
          </p:cNvPr>
          <p:cNvGrpSpPr>
            <a:grpSpLocks/>
          </p:cNvGrpSpPr>
          <p:nvPr/>
        </p:nvGrpSpPr>
        <p:grpSpPr bwMode="auto">
          <a:xfrm>
            <a:off x="722312" y="815975"/>
            <a:ext cx="2447925" cy="431800"/>
            <a:chOff x="1076" y="2688"/>
            <a:chExt cx="1852" cy="334"/>
          </a:xfrm>
        </p:grpSpPr>
        <p:graphicFrame>
          <p:nvGraphicFramePr>
            <p:cNvPr id="4" name="Object 6">
              <a:extLst>
                <a:ext uri="{FF2B5EF4-FFF2-40B4-BE49-F238E27FC236}">
                  <a16:creationId xmlns:a16="http://schemas.microsoft.com/office/drawing/2014/main" id="{9740EFF4-648C-4F17-9796-4A224F2D4DFB}"/>
                </a:ext>
              </a:extLst>
            </p:cNvPr>
            <p:cNvGraphicFramePr>
              <a:graphicFrameLocks noChangeAspect="1"/>
            </p:cNvGraphicFramePr>
            <p:nvPr/>
          </p:nvGraphicFramePr>
          <p:xfrm>
            <a:off x="1327" y="2689"/>
            <a:ext cx="1601" cy="333"/>
          </p:xfrm>
          <a:graphic>
            <a:graphicData uri="http://schemas.openxmlformats.org/presentationml/2006/ole">
              <mc:AlternateContent xmlns:mc="http://schemas.openxmlformats.org/markup-compatibility/2006">
                <mc:Choice xmlns:v="urn:schemas-microsoft-com:vml" Requires="v">
                  <p:oleObj spid="_x0000_s57410" name="Equation" r:id="rId3" imgW="977760" imgH="203040" progId="Equation.DSMT4">
                    <p:embed/>
                  </p:oleObj>
                </mc:Choice>
                <mc:Fallback>
                  <p:oleObj name="Equation" r:id="rId3" imgW="977760" imgH="203040" progId="Equation.DSMT4">
                    <p:embed/>
                    <p:pic>
                      <p:nvPicPr>
                        <p:cNvPr id="60422" name="Object 6">
                          <a:extLst>
                            <a:ext uri="{FF2B5EF4-FFF2-40B4-BE49-F238E27FC236}">
                              <a16:creationId xmlns:a16="http://schemas.microsoft.com/office/drawing/2014/main" id="{E02575FA-96A0-457E-A6A5-9F581380A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7" y="2689"/>
                          <a:ext cx="1601"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7">
              <a:extLst>
                <a:ext uri="{FF2B5EF4-FFF2-40B4-BE49-F238E27FC236}">
                  <a16:creationId xmlns:a16="http://schemas.microsoft.com/office/drawing/2014/main" id="{DC9397E6-2298-4945-AA60-F14F8254A1E5}"/>
                </a:ext>
              </a:extLst>
            </p:cNvPr>
            <p:cNvGraphicFramePr>
              <a:graphicFrameLocks noChangeAspect="1"/>
            </p:cNvGraphicFramePr>
            <p:nvPr/>
          </p:nvGraphicFramePr>
          <p:xfrm>
            <a:off x="1076" y="2688"/>
            <a:ext cx="297" cy="297"/>
          </p:xfrm>
          <a:graphic>
            <a:graphicData uri="http://schemas.openxmlformats.org/presentationml/2006/ole">
              <mc:AlternateContent xmlns:mc="http://schemas.openxmlformats.org/markup-compatibility/2006">
                <mc:Choice xmlns:v="urn:schemas-microsoft-com:vml" Requires="v">
                  <p:oleObj spid="_x0000_s57411" name="Equation" r:id="rId5" imgW="177480" imgH="177480" progId="Equation.DSMT4">
                    <p:embed/>
                  </p:oleObj>
                </mc:Choice>
                <mc:Fallback>
                  <p:oleObj name="Equation" r:id="rId5" imgW="177480" imgH="177480" progId="Equation.DSMT4">
                    <p:embed/>
                    <p:pic>
                      <p:nvPicPr>
                        <p:cNvPr id="60423" name="Object 7">
                          <a:extLst>
                            <a:ext uri="{FF2B5EF4-FFF2-40B4-BE49-F238E27FC236}">
                              <a16:creationId xmlns:a16="http://schemas.microsoft.com/office/drawing/2014/main" id="{432DC201-5BAC-4B9D-8E8E-16F0C8C6FC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 y="2688"/>
                          <a:ext cx="297"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8">
            <a:extLst>
              <a:ext uri="{FF2B5EF4-FFF2-40B4-BE49-F238E27FC236}">
                <a16:creationId xmlns:a16="http://schemas.microsoft.com/office/drawing/2014/main" id="{C8C129E0-B39D-44BC-899B-4075FEFC0AD3}"/>
              </a:ext>
            </a:extLst>
          </p:cNvPr>
          <p:cNvGrpSpPr>
            <a:grpSpLocks/>
          </p:cNvGrpSpPr>
          <p:nvPr/>
        </p:nvGrpSpPr>
        <p:grpSpPr bwMode="auto">
          <a:xfrm>
            <a:off x="720725" y="1390650"/>
            <a:ext cx="2808287" cy="431800"/>
            <a:chOff x="1056" y="3142"/>
            <a:chExt cx="2089" cy="333"/>
          </a:xfrm>
        </p:grpSpPr>
        <p:graphicFrame>
          <p:nvGraphicFramePr>
            <p:cNvPr id="7" name="Object 9">
              <a:extLst>
                <a:ext uri="{FF2B5EF4-FFF2-40B4-BE49-F238E27FC236}">
                  <a16:creationId xmlns:a16="http://schemas.microsoft.com/office/drawing/2014/main" id="{47524F8F-1009-46E2-A0A7-CB53739A98A8}"/>
                </a:ext>
              </a:extLst>
            </p:cNvPr>
            <p:cNvGraphicFramePr>
              <a:graphicFrameLocks noChangeAspect="1"/>
            </p:cNvGraphicFramePr>
            <p:nvPr/>
          </p:nvGraphicFramePr>
          <p:xfrm>
            <a:off x="1334" y="3142"/>
            <a:ext cx="1811" cy="333"/>
          </p:xfrm>
          <a:graphic>
            <a:graphicData uri="http://schemas.openxmlformats.org/presentationml/2006/ole">
              <mc:AlternateContent xmlns:mc="http://schemas.openxmlformats.org/markup-compatibility/2006">
                <mc:Choice xmlns:v="urn:schemas-microsoft-com:vml" Requires="v">
                  <p:oleObj spid="_x0000_s57412" name="Equation" r:id="rId7" imgW="1104840" imgH="203040" progId="Equation.DSMT4">
                    <p:embed/>
                  </p:oleObj>
                </mc:Choice>
                <mc:Fallback>
                  <p:oleObj name="Equation" r:id="rId7" imgW="1104840" imgH="203040" progId="Equation.DSMT4">
                    <p:embed/>
                    <p:pic>
                      <p:nvPicPr>
                        <p:cNvPr id="60425" name="Object 9">
                          <a:extLst>
                            <a:ext uri="{FF2B5EF4-FFF2-40B4-BE49-F238E27FC236}">
                              <a16:creationId xmlns:a16="http://schemas.microsoft.com/office/drawing/2014/main" id="{8EAA8B39-5B58-477B-B57C-5CACD067A4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4" y="3142"/>
                          <a:ext cx="1811"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0">
              <a:extLst>
                <a:ext uri="{FF2B5EF4-FFF2-40B4-BE49-F238E27FC236}">
                  <a16:creationId xmlns:a16="http://schemas.microsoft.com/office/drawing/2014/main" id="{E779319B-0998-42A8-BF71-395310DBD7C5}"/>
                </a:ext>
              </a:extLst>
            </p:cNvPr>
            <p:cNvGraphicFramePr>
              <a:graphicFrameLocks noChangeAspect="1"/>
            </p:cNvGraphicFramePr>
            <p:nvPr/>
          </p:nvGraphicFramePr>
          <p:xfrm>
            <a:off x="1056" y="3142"/>
            <a:ext cx="360" cy="297"/>
          </p:xfrm>
          <a:graphic>
            <a:graphicData uri="http://schemas.openxmlformats.org/presentationml/2006/ole">
              <mc:AlternateContent xmlns:mc="http://schemas.openxmlformats.org/markup-compatibility/2006">
                <mc:Choice xmlns:v="urn:schemas-microsoft-com:vml" Requires="v">
                  <p:oleObj spid="_x0000_s57413" name="Equation" r:id="rId9" imgW="215640" imgH="177480" progId="Equation.DSMT4">
                    <p:embed/>
                  </p:oleObj>
                </mc:Choice>
                <mc:Fallback>
                  <p:oleObj name="Equation" r:id="rId9" imgW="215640" imgH="177480" progId="Equation.DSMT4">
                    <p:embed/>
                    <p:pic>
                      <p:nvPicPr>
                        <p:cNvPr id="60426" name="Object 10">
                          <a:extLst>
                            <a:ext uri="{FF2B5EF4-FFF2-40B4-BE49-F238E27FC236}">
                              <a16:creationId xmlns:a16="http://schemas.microsoft.com/office/drawing/2014/main" id="{26EE49E3-BDFF-4EAA-809F-AEF51315E8C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6" y="3142"/>
                          <a:ext cx="360"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46">
            <a:extLst>
              <a:ext uri="{FF2B5EF4-FFF2-40B4-BE49-F238E27FC236}">
                <a16:creationId xmlns:a16="http://schemas.microsoft.com/office/drawing/2014/main" id="{FF29338E-6284-4D74-848E-2D1417874341}"/>
              </a:ext>
            </a:extLst>
          </p:cNvPr>
          <p:cNvGrpSpPr>
            <a:grpSpLocks/>
          </p:cNvGrpSpPr>
          <p:nvPr/>
        </p:nvGrpSpPr>
        <p:grpSpPr bwMode="auto">
          <a:xfrm>
            <a:off x="1871662" y="3429000"/>
            <a:ext cx="5400675" cy="3290887"/>
            <a:chOff x="1246" y="2219"/>
            <a:chExt cx="3402" cy="2073"/>
          </a:xfrm>
        </p:grpSpPr>
        <p:sp>
          <p:nvSpPr>
            <p:cNvPr id="10" name="Text Box 28">
              <a:extLst>
                <a:ext uri="{FF2B5EF4-FFF2-40B4-BE49-F238E27FC236}">
                  <a16:creationId xmlns:a16="http://schemas.microsoft.com/office/drawing/2014/main" id="{19BED26F-FD08-47D8-9765-079F3C5F49A5}"/>
                </a:ext>
              </a:extLst>
            </p:cNvPr>
            <p:cNvSpPr txBox="1">
              <a:spLocks noChangeArrowheads="1"/>
            </p:cNvSpPr>
            <p:nvPr/>
          </p:nvSpPr>
          <p:spPr bwMode="auto">
            <a:xfrm>
              <a:off x="2471" y="2219"/>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y</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1" name="Text Box 29">
              <a:extLst>
                <a:ext uri="{FF2B5EF4-FFF2-40B4-BE49-F238E27FC236}">
                  <a16:creationId xmlns:a16="http://schemas.microsoft.com/office/drawing/2014/main" id="{286903FB-B159-4DDD-AD60-55C56EE567BC}"/>
                </a:ext>
              </a:extLst>
            </p:cNvPr>
            <p:cNvSpPr txBox="1">
              <a:spLocks noChangeArrowheads="1"/>
            </p:cNvSpPr>
            <p:nvPr/>
          </p:nvSpPr>
          <p:spPr bwMode="auto">
            <a:xfrm>
              <a:off x="1972" y="2265"/>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y</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grpSp>
          <p:nvGrpSpPr>
            <p:cNvPr id="12" name="Group 45">
              <a:extLst>
                <a:ext uri="{FF2B5EF4-FFF2-40B4-BE49-F238E27FC236}">
                  <a16:creationId xmlns:a16="http://schemas.microsoft.com/office/drawing/2014/main" id="{A68F11F4-393D-4BBC-AF26-67AEAE9FD455}"/>
                </a:ext>
              </a:extLst>
            </p:cNvPr>
            <p:cNvGrpSpPr>
              <a:grpSpLocks/>
            </p:cNvGrpSpPr>
            <p:nvPr/>
          </p:nvGrpSpPr>
          <p:grpSpPr bwMode="auto">
            <a:xfrm>
              <a:off x="1246" y="2423"/>
              <a:ext cx="3402" cy="1869"/>
              <a:chOff x="1246" y="2423"/>
              <a:chExt cx="3402" cy="1869"/>
            </a:xfrm>
          </p:grpSpPr>
          <p:sp>
            <p:nvSpPr>
              <p:cNvPr id="13" name="Line 11">
                <a:extLst>
                  <a:ext uri="{FF2B5EF4-FFF2-40B4-BE49-F238E27FC236}">
                    <a16:creationId xmlns:a16="http://schemas.microsoft.com/office/drawing/2014/main" id="{731EFE59-E9E1-4C6F-A5A7-A65BFD9DFF98}"/>
                  </a:ext>
                </a:extLst>
              </p:cNvPr>
              <p:cNvSpPr>
                <a:spLocks noChangeShapeType="1"/>
              </p:cNvSpPr>
              <p:nvPr/>
            </p:nvSpPr>
            <p:spPr bwMode="auto">
              <a:xfrm flipV="1">
                <a:off x="1993" y="2506"/>
                <a:ext cx="0" cy="96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a:extLst>
                  <a:ext uri="{FF2B5EF4-FFF2-40B4-BE49-F238E27FC236}">
                    <a16:creationId xmlns:a16="http://schemas.microsoft.com/office/drawing/2014/main" id="{F948C904-5169-4E2B-9990-971387653AAB}"/>
                  </a:ext>
                </a:extLst>
              </p:cNvPr>
              <p:cNvSpPr>
                <a:spLocks noChangeShapeType="1"/>
              </p:cNvSpPr>
              <p:nvPr/>
            </p:nvSpPr>
            <p:spPr bwMode="auto">
              <a:xfrm>
                <a:off x="1993" y="3466"/>
                <a:ext cx="2496" cy="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a:extLst>
                  <a:ext uri="{FF2B5EF4-FFF2-40B4-BE49-F238E27FC236}">
                    <a16:creationId xmlns:a16="http://schemas.microsoft.com/office/drawing/2014/main" id="{DE98ACE6-5DC7-4164-A97F-D59799ECBEC5}"/>
                  </a:ext>
                </a:extLst>
              </p:cNvPr>
              <p:cNvSpPr>
                <a:spLocks noChangeShapeType="1"/>
              </p:cNvSpPr>
              <p:nvPr/>
            </p:nvSpPr>
            <p:spPr bwMode="auto">
              <a:xfrm flipV="1">
                <a:off x="2544" y="2506"/>
                <a:ext cx="0" cy="960"/>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a:extLst>
                  <a:ext uri="{FF2B5EF4-FFF2-40B4-BE49-F238E27FC236}">
                    <a16:creationId xmlns:a16="http://schemas.microsoft.com/office/drawing/2014/main" id="{0D7370D7-B1B9-4444-A318-1B06E7E28907}"/>
                  </a:ext>
                </a:extLst>
              </p:cNvPr>
              <p:cNvSpPr>
                <a:spLocks noChangeShapeType="1"/>
              </p:cNvSpPr>
              <p:nvPr/>
            </p:nvSpPr>
            <p:spPr bwMode="auto">
              <a:xfrm flipV="1">
                <a:off x="2549" y="3469"/>
                <a:ext cx="1671" cy="3"/>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a:extLst>
                  <a:ext uri="{FF2B5EF4-FFF2-40B4-BE49-F238E27FC236}">
                    <a16:creationId xmlns:a16="http://schemas.microsoft.com/office/drawing/2014/main" id="{9E019928-CEDA-48C4-991D-266DADD4CBAA}"/>
                  </a:ext>
                </a:extLst>
              </p:cNvPr>
              <p:cNvSpPr>
                <a:spLocks noChangeShapeType="1"/>
              </p:cNvSpPr>
              <p:nvPr/>
            </p:nvSpPr>
            <p:spPr bwMode="auto">
              <a:xfrm flipH="1">
                <a:off x="1972" y="3466"/>
                <a:ext cx="576" cy="594"/>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6">
                <a:extLst>
                  <a:ext uri="{FF2B5EF4-FFF2-40B4-BE49-F238E27FC236}">
                    <a16:creationId xmlns:a16="http://schemas.microsoft.com/office/drawing/2014/main" id="{9D02BA40-03BD-48E6-A04E-B11F26913C3D}"/>
                  </a:ext>
                </a:extLst>
              </p:cNvPr>
              <p:cNvSpPr>
                <a:spLocks noChangeShapeType="1"/>
              </p:cNvSpPr>
              <p:nvPr/>
            </p:nvSpPr>
            <p:spPr bwMode="auto">
              <a:xfrm flipH="1">
                <a:off x="1379" y="3466"/>
                <a:ext cx="614" cy="5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7">
                <a:extLst>
                  <a:ext uri="{FF2B5EF4-FFF2-40B4-BE49-F238E27FC236}">
                    <a16:creationId xmlns:a16="http://schemas.microsoft.com/office/drawing/2014/main" id="{635DAA54-C8B2-47EE-AC25-85D2E80536EF}"/>
                  </a:ext>
                </a:extLst>
              </p:cNvPr>
              <p:cNvSpPr>
                <a:spLocks noChangeShapeType="1"/>
              </p:cNvSpPr>
              <p:nvPr/>
            </p:nvSpPr>
            <p:spPr bwMode="auto">
              <a:xfrm flipV="1">
                <a:off x="2380" y="3323"/>
                <a:ext cx="147"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8">
                <a:extLst>
                  <a:ext uri="{FF2B5EF4-FFF2-40B4-BE49-F238E27FC236}">
                    <a16:creationId xmlns:a16="http://schemas.microsoft.com/office/drawing/2014/main" id="{0C3647D6-0A40-435F-A4EC-7968D2C54F52}"/>
                  </a:ext>
                </a:extLst>
              </p:cNvPr>
              <p:cNvSpPr>
                <a:spLocks noChangeShapeType="1"/>
              </p:cNvSpPr>
              <p:nvPr/>
            </p:nvSpPr>
            <p:spPr bwMode="auto">
              <a:xfrm flipH="1" flipV="1">
                <a:off x="1993" y="3323"/>
                <a:ext cx="161"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AutoShape 19">
                <a:extLst>
                  <a:ext uri="{FF2B5EF4-FFF2-40B4-BE49-F238E27FC236}">
                    <a16:creationId xmlns:a16="http://schemas.microsoft.com/office/drawing/2014/main" id="{3614B789-6717-4F6B-8FF9-30CEE24ABCC5}"/>
                  </a:ext>
                </a:extLst>
              </p:cNvPr>
              <p:cNvSpPr>
                <a:spLocks noChangeArrowheads="1"/>
              </p:cNvSpPr>
              <p:nvPr/>
            </p:nvSpPr>
            <p:spPr bwMode="auto">
              <a:xfrm>
                <a:off x="3605" y="2643"/>
                <a:ext cx="192" cy="192"/>
              </a:xfrm>
              <a:prstGeom prst="irregularSeal1">
                <a:avLst/>
              </a:prstGeom>
              <a:solidFill>
                <a:srgbClr val="FF0000"/>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20">
                <a:extLst>
                  <a:ext uri="{FF2B5EF4-FFF2-40B4-BE49-F238E27FC236}">
                    <a16:creationId xmlns:a16="http://schemas.microsoft.com/office/drawing/2014/main" id="{FFBBE82C-F71F-4E13-81E1-07EDBEBF72DA}"/>
                  </a:ext>
                </a:extLst>
              </p:cNvPr>
              <p:cNvSpPr txBox="1">
                <a:spLocks noChangeArrowheads="1"/>
              </p:cNvSpPr>
              <p:nvPr/>
            </p:nvSpPr>
            <p:spPr bwMode="auto">
              <a:xfrm>
                <a:off x="2153" y="3172"/>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vt</a:t>
                </a:r>
              </a:p>
            </p:txBody>
          </p:sp>
          <p:sp>
            <p:nvSpPr>
              <p:cNvPr id="23" name="Text Box 21">
                <a:extLst>
                  <a:ext uri="{FF2B5EF4-FFF2-40B4-BE49-F238E27FC236}">
                    <a16:creationId xmlns:a16="http://schemas.microsoft.com/office/drawing/2014/main" id="{71516D31-B419-4D38-8F57-F4BC06BB524F}"/>
                  </a:ext>
                </a:extLst>
              </p:cNvPr>
              <p:cNvSpPr txBox="1">
                <a:spLocks noChangeArrowheads="1"/>
              </p:cNvSpPr>
              <p:nvPr/>
            </p:nvSpPr>
            <p:spPr bwMode="auto">
              <a:xfrm>
                <a:off x="4421" y="3399"/>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x</a:t>
                </a:r>
              </a:p>
            </p:txBody>
          </p:sp>
          <p:sp>
            <p:nvSpPr>
              <p:cNvPr id="24" name="Text Box 22">
                <a:extLst>
                  <a:ext uri="{FF2B5EF4-FFF2-40B4-BE49-F238E27FC236}">
                    <a16:creationId xmlns:a16="http://schemas.microsoft.com/office/drawing/2014/main" id="{61364452-C0C0-402B-AEDE-93E032FAC8ED}"/>
                  </a:ext>
                </a:extLst>
              </p:cNvPr>
              <p:cNvSpPr txBox="1">
                <a:spLocks noChangeArrowheads="1"/>
              </p:cNvSpPr>
              <p:nvPr/>
            </p:nvSpPr>
            <p:spPr bwMode="auto">
              <a:xfrm>
                <a:off x="4059" y="3444"/>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x</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25" name="Text Box 23">
                <a:extLst>
                  <a:ext uri="{FF2B5EF4-FFF2-40B4-BE49-F238E27FC236}">
                    <a16:creationId xmlns:a16="http://schemas.microsoft.com/office/drawing/2014/main" id="{D00CE0CC-F2BE-420C-981F-8F0EF430EC40}"/>
                  </a:ext>
                </a:extLst>
              </p:cNvPr>
              <p:cNvSpPr txBox="1">
                <a:spLocks noChangeArrowheads="1"/>
              </p:cNvSpPr>
              <p:nvPr/>
            </p:nvSpPr>
            <p:spPr bwMode="auto">
              <a:xfrm>
                <a:off x="3514" y="2423"/>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00FF"/>
                    </a:solidFill>
                    <a:effectLst/>
                    <a:latin typeface="Times New Roman" panose="02020603050405020304" pitchFamily="18" charset="0"/>
                    <a:ea typeface="宋体" panose="02010600030101010101" pitchFamily="2" charset="-122"/>
                  </a:rPr>
                  <a:t>P</a:t>
                </a:r>
              </a:p>
            </p:txBody>
          </p:sp>
          <p:sp>
            <p:nvSpPr>
              <p:cNvPr id="26" name="Line 24">
                <a:extLst>
                  <a:ext uri="{FF2B5EF4-FFF2-40B4-BE49-F238E27FC236}">
                    <a16:creationId xmlns:a16="http://schemas.microsoft.com/office/drawing/2014/main" id="{F05D990D-47B6-40D4-9C31-2416E6EB0549}"/>
                  </a:ext>
                </a:extLst>
              </p:cNvPr>
              <p:cNvSpPr>
                <a:spLocks noChangeShapeType="1"/>
              </p:cNvSpPr>
              <p:nvPr/>
            </p:nvSpPr>
            <p:spPr bwMode="auto">
              <a:xfrm>
                <a:off x="3705" y="2871"/>
                <a:ext cx="0" cy="861"/>
              </a:xfrm>
              <a:prstGeom prst="line">
                <a:avLst/>
              </a:prstGeom>
              <a:noFill/>
              <a:ln w="9525">
                <a:solidFill>
                  <a:srgbClr val="0000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5">
                <a:extLst>
                  <a:ext uri="{FF2B5EF4-FFF2-40B4-BE49-F238E27FC236}">
                    <a16:creationId xmlns:a16="http://schemas.microsoft.com/office/drawing/2014/main" id="{C4950D73-9CB4-48AA-BC79-FE761B2DC5A4}"/>
                  </a:ext>
                </a:extLst>
              </p:cNvPr>
              <p:cNvSpPr>
                <a:spLocks noChangeShapeType="1"/>
              </p:cNvSpPr>
              <p:nvPr/>
            </p:nvSpPr>
            <p:spPr bwMode="auto">
              <a:xfrm flipH="1" flipV="1">
                <a:off x="2562" y="3323"/>
                <a:ext cx="227"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6">
                <a:extLst>
                  <a:ext uri="{FF2B5EF4-FFF2-40B4-BE49-F238E27FC236}">
                    <a16:creationId xmlns:a16="http://schemas.microsoft.com/office/drawing/2014/main" id="{C393AE6E-146F-4C03-9F2E-AA921863CC2B}"/>
                  </a:ext>
                </a:extLst>
              </p:cNvPr>
              <p:cNvSpPr>
                <a:spLocks noChangeShapeType="1"/>
              </p:cNvSpPr>
              <p:nvPr/>
            </p:nvSpPr>
            <p:spPr bwMode="auto">
              <a:xfrm flipV="1">
                <a:off x="3705" y="3323"/>
                <a:ext cx="236"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9" name="Object 27">
                <a:extLst>
                  <a:ext uri="{FF2B5EF4-FFF2-40B4-BE49-F238E27FC236}">
                    <a16:creationId xmlns:a16="http://schemas.microsoft.com/office/drawing/2014/main" id="{3A30CF99-9342-407F-9587-C640524A7216}"/>
                  </a:ext>
                </a:extLst>
              </p:cNvPr>
              <p:cNvGraphicFramePr>
                <a:graphicFrameLocks noChangeAspect="1"/>
              </p:cNvGraphicFramePr>
              <p:nvPr/>
            </p:nvGraphicFramePr>
            <p:xfrm>
              <a:off x="2795" y="3126"/>
              <a:ext cx="938" cy="295"/>
            </p:xfrm>
            <a:graphic>
              <a:graphicData uri="http://schemas.openxmlformats.org/presentationml/2006/ole">
                <mc:AlternateContent xmlns:mc="http://schemas.openxmlformats.org/markup-compatibility/2006">
                  <mc:Choice xmlns:v="urn:schemas-microsoft-com:vml" Requires="v">
                    <p:oleObj spid="_x0000_s57414" name="Equation" r:id="rId11" imgW="812520" imgH="253800" progId="Equation.DSMT4">
                      <p:embed/>
                    </p:oleObj>
                  </mc:Choice>
                  <mc:Fallback>
                    <p:oleObj name="Equation" r:id="rId11" imgW="812520" imgH="253800" progId="Equation.DSMT4">
                      <p:embed/>
                      <p:pic>
                        <p:nvPicPr>
                          <p:cNvPr id="60443" name="Object 27">
                            <a:extLst>
                              <a:ext uri="{FF2B5EF4-FFF2-40B4-BE49-F238E27FC236}">
                                <a16:creationId xmlns:a16="http://schemas.microsoft.com/office/drawing/2014/main" id="{9B970528-522D-4411-B7D4-7D43C74E1C3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95" y="3126"/>
                            <a:ext cx="938"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 name="Text Box 30">
                <a:extLst>
                  <a:ext uri="{FF2B5EF4-FFF2-40B4-BE49-F238E27FC236}">
                    <a16:creationId xmlns:a16="http://schemas.microsoft.com/office/drawing/2014/main" id="{C4C83454-A28B-47C7-A243-40AE60B1273F}"/>
                  </a:ext>
                </a:extLst>
              </p:cNvPr>
              <p:cNvSpPr txBox="1">
                <a:spLocks noChangeArrowheads="1"/>
              </p:cNvSpPr>
              <p:nvPr/>
            </p:nvSpPr>
            <p:spPr bwMode="auto">
              <a:xfrm>
                <a:off x="1791" y="4004"/>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z</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31" name="Text Box 31">
                <a:extLst>
                  <a:ext uri="{FF2B5EF4-FFF2-40B4-BE49-F238E27FC236}">
                    <a16:creationId xmlns:a16="http://schemas.microsoft.com/office/drawing/2014/main" id="{FF026125-72B5-42C3-B041-8026CD19FCBC}"/>
                  </a:ext>
                </a:extLst>
              </p:cNvPr>
              <p:cNvSpPr txBox="1">
                <a:spLocks noChangeArrowheads="1"/>
              </p:cNvSpPr>
              <p:nvPr/>
            </p:nvSpPr>
            <p:spPr bwMode="auto">
              <a:xfrm>
                <a:off x="1246" y="3958"/>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z</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32" name="Object 32">
                <a:extLst>
                  <a:ext uri="{FF2B5EF4-FFF2-40B4-BE49-F238E27FC236}">
                    <a16:creationId xmlns:a16="http://schemas.microsoft.com/office/drawing/2014/main" id="{933BF2FD-53F4-4888-B142-61063CFBBF73}"/>
                  </a:ext>
                </a:extLst>
              </p:cNvPr>
              <p:cNvGraphicFramePr>
                <a:graphicFrameLocks noChangeAspect="1"/>
              </p:cNvGraphicFramePr>
              <p:nvPr/>
            </p:nvGraphicFramePr>
            <p:xfrm>
              <a:off x="2063" y="2750"/>
              <a:ext cx="308" cy="467"/>
            </p:xfrm>
            <a:graphic>
              <a:graphicData uri="http://schemas.openxmlformats.org/presentationml/2006/ole">
                <mc:AlternateContent xmlns:mc="http://schemas.openxmlformats.org/markup-compatibility/2006">
                  <mc:Choice xmlns:v="urn:schemas-microsoft-com:vml" Requires="v">
                    <p:oleObj spid="_x0000_s57415" name="Image" r:id="rId13" imgW="736248" imgH="1117460" progId="Photoshop.Image.6">
                      <p:embed/>
                    </p:oleObj>
                  </mc:Choice>
                  <mc:Fallback>
                    <p:oleObj name="Image" r:id="rId13" imgW="736248" imgH="1117460" progId="Photoshop.Image.6">
                      <p:embed/>
                      <p:pic>
                        <p:nvPicPr>
                          <p:cNvPr id="60448" name="Object 32">
                            <a:extLst>
                              <a:ext uri="{FF2B5EF4-FFF2-40B4-BE49-F238E27FC236}">
                                <a16:creationId xmlns:a16="http://schemas.microsoft.com/office/drawing/2014/main" id="{1A0F4F6D-309A-486A-A682-479483A05F9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3" y="2750"/>
                            <a:ext cx="308" cy="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Text Box 33">
                <a:extLst>
                  <a:ext uri="{FF2B5EF4-FFF2-40B4-BE49-F238E27FC236}">
                    <a16:creationId xmlns:a16="http://schemas.microsoft.com/office/drawing/2014/main" id="{2AD0C39C-870E-4FB3-A62F-31182894A744}"/>
                  </a:ext>
                </a:extLst>
              </p:cNvPr>
              <p:cNvSpPr txBox="1">
                <a:spLocks noChangeArrowheads="1"/>
              </p:cNvSpPr>
              <p:nvPr/>
            </p:nvSpPr>
            <p:spPr bwMode="auto">
              <a:xfrm>
                <a:off x="1881" y="3444"/>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FF0000"/>
                    </a:solidFill>
                    <a:effectLst/>
                    <a:latin typeface="Times New Roman" panose="02020603050405020304" pitchFamily="18" charset="0"/>
                    <a:ea typeface="宋体" panose="02010600030101010101" pitchFamily="2" charset="-122"/>
                  </a:rPr>
                  <a:t>O</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34" name="Text Box 34">
                <a:extLst>
                  <a:ext uri="{FF2B5EF4-FFF2-40B4-BE49-F238E27FC236}">
                    <a16:creationId xmlns:a16="http://schemas.microsoft.com/office/drawing/2014/main" id="{6CAF9736-4617-46D8-9F14-2630CCE5B1C8}"/>
                  </a:ext>
                </a:extLst>
              </p:cNvPr>
              <p:cNvSpPr txBox="1">
                <a:spLocks noChangeArrowheads="1"/>
              </p:cNvSpPr>
              <p:nvPr/>
            </p:nvSpPr>
            <p:spPr bwMode="auto">
              <a:xfrm>
                <a:off x="2471" y="3444"/>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8080"/>
                    </a:solidFill>
                    <a:effectLst/>
                    <a:latin typeface="Times New Roman" panose="02020603050405020304" pitchFamily="18" charset="0"/>
                    <a:ea typeface="宋体" panose="02010600030101010101" pitchFamily="2" charset="-122"/>
                  </a:rPr>
                  <a:t>O</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35" name="Line 35">
                <a:extLst>
                  <a:ext uri="{FF2B5EF4-FFF2-40B4-BE49-F238E27FC236}">
                    <a16:creationId xmlns:a16="http://schemas.microsoft.com/office/drawing/2014/main" id="{AEE1986C-8A00-48D7-A90F-E829EF3B409C}"/>
                  </a:ext>
                </a:extLst>
              </p:cNvPr>
              <p:cNvSpPr>
                <a:spLocks noChangeShapeType="1"/>
              </p:cNvSpPr>
              <p:nvPr/>
            </p:nvSpPr>
            <p:spPr bwMode="auto">
              <a:xfrm flipH="1">
                <a:off x="3554" y="3478"/>
                <a:ext cx="396" cy="428"/>
              </a:xfrm>
              <a:prstGeom prst="line">
                <a:avLst/>
              </a:prstGeom>
              <a:noFill/>
              <a:ln w="19050">
                <a:solidFill>
                  <a:srgbClr val="000066"/>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6">
                <a:extLst>
                  <a:ext uri="{FF2B5EF4-FFF2-40B4-BE49-F238E27FC236}">
                    <a16:creationId xmlns:a16="http://schemas.microsoft.com/office/drawing/2014/main" id="{18F5D36F-6D1C-42D6-8C9C-8B446E8E1465}"/>
                  </a:ext>
                </a:extLst>
              </p:cNvPr>
              <p:cNvSpPr>
                <a:spLocks noChangeShapeType="1"/>
              </p:cNvSpPr>
              <p:nvPr/>
            </p:nvSpPr>
            <p:spPr bwMode="auto">
              <a:xfrm>
                <a:off x="3950" y="3233"/>
                <a:ext cx="0" cy="181"/>
              </a:xfrm>
              <a:prstGeom prst="line">
                <a:avLst/>
              </a:prstGeom>
              <a:noFill/>
              <a:ln w="952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7">
                <a:extLst>
                  <a:ext uri="{FF2B5EF4-FFF2-40B4-BE49-F238E27FC236}">
                    <a16:creationId xmlns:a16="http://schemas.microsoft.com/office/drawing/2014/main" id="{8A4B4D9E-E3A2-4454-A28C-32D119E0F54C}"/>
                  </a:ext>
                </a:extLst>
              </p:cNvPr>
              <p:cNvSpPr>
                <a:spLocks noChangeShapeType="1"/>
              </p:cNvSpPr>
              <p:nvPr/>
            </p:nvSpPr>
            <p:spPr bwMode="auto">
              <a:xfrm>
                <a:off x="1754" y="3741"/>
                <a:ext cx="1956" cy="0"/>
              </a:xfrm>
              <a:prstGeom prst="line">
                <a:avLst/>
              </a:prstGeom>
              <a:noFill/>
              <a:ln w="19050">
                <a:solidFill>
                  <a:srgbClr val="000066"/>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38">
                <a:extLst>
                  <a:ext uri="{FF2B5EF4-FFF2-40B4-BE49-F238E27FC236}">
                    <a16:creationId xmlns:a16="http://schemas.microsoft.com/office/drawing/2014/main" id="{0BECC936-AD0E-4F85-ADEF-254C3BB588B8}"/>
                  </a:ext>
                </a:extLst>
              </p:cNvPr>
              <p:cNvSpPr>
                <a:spLocks noChangeShapeType="1"/>
              </p:cNvSpPr>
              <p:nvPr/>
            </p:nvSpPr>
            <p:spPr bwMode="auto">
              <a:xfrm flipH="1">
                <a:off x="1564" y="3868"/>
                <a:ext cx="998" cy="0"/>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39">
                <a:extLst>
                  <a:ext uri="{FF2B5EF4-FFF2-40B4-BE49-F238E27FC236}">
                    <a16:creationId xmlns:a16="http://schemas.microsoft.com/office/drawing/2014/main" id="{FB6CB275-B8E6-4CE5-ABA3-5225619B2232}"/>
                  </a:ext>
                </a:extLst>
              </p:cNvPr>
              <p:cNvSpPr>
                <a:spLocks noChangeShapeType="1"/>
              </p:cNvSpPr>
              <p:nvPr/>
            </p:nvSpPr>
            <p:spPr bwMode="auto">
              <a:xfrm>
                <a:off x="2789" y="3868"/>
                <a:ext cx="816" cy="0"/>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Text Box 40">
                <a:extLst>
                  <a:ext uri="{FF2B5EF4-FFF2-40B4-BE49-F238E27FC236}">
                    <a16:creationId xmlns:a16="http://schemas.microsoft.com/office/drawing/2014/main" id="{60BA7B42-6BAC-498A-BCE3-FEE4412D92BB}"/>
                  </a:ext>
                </a:extLst>
              </p:cNvPr>
              <p:cNvSpPr txBox="1">
                <a:spLocks noChangeArrowheads="1"/>
              </p:cNvSpPr>
              <p:nvPr/>
            </p:nvSpPr>
            <p:spPr bwMode="auto">
              <a:xfrm>
                <a:off x="2562" y="3716"/>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x</a:t>
                </a:r>
              </a:p>
            </p:txBody>
          </p:sp>
          <p:sp>
            <p:nvSpPr>
              <p:cNvPr id="41" name="Text Box 41">
                <a:extLst>
                  <a:ext uri="{FF2B5EF4-FFF2-40B4-BE49-F238E27FC236}">
                    <a16:creationId xmlns:a16="http://schemas.microsoft.com/office/drawing/2014/main" id="{BC35242B-2ED9-478A-8B2E-6D74D4F1ED5E}"/>
                  </a:ext>
                </a:extLst>
              </p:cNvPr>
              <p:cNvSpPr txBox="1">
                <a:spLocks noChangeArrowheads="1"/>
              </p:cNvSpPr>
              <p:nvPr/>
            </p:nvSpPr>
            <p:spPr bwMode="auto">
              <a:xfrm>
                <a:off x="2108" y="2514"/>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FF0000"/>
                    </a:solidFill>
                    <a:effectLst/>
                    <a:latin typeface="Times New Roman" panose="02020603050405020304" pitchFamily="18" charset="0"/>
                    <a:ea typeface="宋体" panose="02010600030101010101" pitchFamily="2" charset="-122"/>
                  </a:rPr>
                  <a:t>S</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42" name="Text Box 42">
                <a:extLst>
                  <a:ext uri="{FF2B5EF4-FFF2-40B4-BE49-F238E27FC236}">
                    <a16:creationId xmlns:a16="http://schemas.microsoft.com/office/drawing/2014/main" id="{C452A26F-0D69-44E9-A486-736042572E90}"/>
                  </a:ext>
                </a:extLst>
              </p:cNvPr>
              <p:cNvSpPr txBox="1">
                <a:spLocks noChangeArrowheads="1"/>
              </p:cNvSpPr>
              <p:nvPr/>
            </p:nvSpPr>
            <p:spPr bwMode="auto">
              <a:xfrm>
                <a:off x="2607" y="2514"/>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8080"/>
                    </a:solidFill>
                    <a:effectLst/>
                    <a:latin typeface="Times New Roman" panose="02020603050405020304" pitchFamily="18" charset="0"/>
                    <a:ea typeface="宋体" panose="02010600030101010101" pitchFamily="2" charset="-122"/>
                  </a:rPr>
                  <a:t>S</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grpSp>
      </p:grpSp>
      <p:graphicFrame>
        <p:nvGraphicFramePr>
          <p:cNvPr id="43" name="Object 43">
            <a:extLst>
              <a:ext uri="{FF2B5EF4-FFF2-40B4-BE49-F238E27FC236}">
                <a16:creationId xmlns:a16="http://schemas.microsoft.com/office/drawing/2014/main" id="{E57936F9-0165-46FF-8CB4-6E38BD25ADF0}"/>
              </a:ext>
            </a:extLst>
          </p:cNvPr>
          <p:cNvGraphicFramePr>
            <a:graphicFrameLocks noChangeAspect="1"/>
          </p:cNvGraphicFramePr>
          <p:nvPr>
            <p:extLst>
              <p:ext uri="{D42A27DB-BD31-4B8C-83A1-F6EECF244321}">
                <p14:modId xmlns:p14="http://schemas.microsoft.com/office/powerpoint/2010/main" val="1734102720"/>
              </p:ext>
            </p:extLst>
          </p:nvPr>
        </p:nvGraphicFramePr>
        <p:xfrm>
          <a:off x="895350" y="1857375"/>
          <a:ext cx="3246437" cy="1262062"/>
        </p:xfrm>
        <a:graphic>
          <a:graphicData uri="http://schemas.openxmlformats.org/presentationml/2006/ole">
            <mc:AlternateContent xmlns:mc="http://schemas.openxmlformats.org/markup-compatibility/2006">
              <mc:Choice xmlns:v="urn:schemas-microsoft-com:vml" Requires="v">
                <p:oleObj spid="_x0000_s57416" name="Equation" r:id="rId15" imgW="1498320" imgH="583920" progId="Equation.DSMT4">
                  <p:embed/>
                </p:oleObj>
              </mc:Choice>
              <mc:Fallback>
                <p:oleObj name="Equation" r:id="rId15" imgW="1498320" imgH="583920" progId="Equation.DSMT4">
                  <p:embed/>
                  <p:pic>
                    <p:nvPicPr>
                      <p:cNvPr id="60459" name="Object 43">
                        <a:extLst>
                          <a:ext uri="{FF2B5EF4-FFF2-40B4-BE49-F238E27FC236}">
                            <a16:creationId xmlns:a16="http://schemas.microsoft.com/office/drawing/2014/main" id="{83CB0BD8-D6D1-488D-8E5D-0431282446E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95350" y="1857375"/>
                        <a:ext cx="3246437" cy="1262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44">
            <a:extLst>
              <a:ext uri="{FF2B5EF4-FFF2-40B4-BE49-F238E27FC236}">
                <a16:creationId xmlns:a16="http://schemas.microsoft.com/office/drawing/2014/main" id="{3CB5CE13-F697-48B1-8F35-167C8BEF0267}"/>
              </a:ext>
            </a:extLst>
          </p:cNvPr>
          <p:cNvGraphicFramePr>
            <a:graphicFrameLocks noChangeAspect="1"/>
          </p:cNvGraphicFramePr>
          <p:nvPr>
            <p:extLst>
              <p:ext uri="{D42A27DB-BD31-4B8C-83A1-F6EECF244321}">
                <p14:modId xmlns:p14="http://schemas.microsoft.com/office/powerpoint/2010/main" val="2750191185"/>
              </p:ext>
            </p:extLst>
          </p:nvPr>
        </p:nvGraphicFramePr>
        <p:xfrm>
          <a:off x="4252912" y="1479550"/>
          <a:ext cx="2727325" cy="2071687"/>
        </p:xfrm>
        <a:graphic>
          <a:graphicData uri="http://schemas.openxmlformats.org/presentationml/2006/ole">
            <mc:AlternateContent xmlns:mc="http://schemas.openxmlformats.org/markup-compatibility/2006">
              <mc:Choice xmlns:v="urn:schemas-microsoft-com:vml" Requires="v">
                <p:oleObj spid="_x0000_s57417" name="Equation" r:id="rId17" imgW="1244520" imgH="939600" progId="Equation.DSMT4">
                  <p:embed/>
                </p:oleObj>
              </mc:Choice>
              <mc:Fallback>
                <p:oleObj name="Equation" r:id="rId17" imgW="1244520" imgH="939600" progId="Equation.DSMT4">
                  <p:embed/>
                  <p:pic>
                    <p:nvPicPr>
                      <p:cNvPr id="60460" name="Object 44">
                        <a:extLst>
                          <a:ext uri="{FF2B5EF4-FFF2-40B4-BE49-F238E27FC236}">
                            <a16:creationId xmlns:a16="http://schemas.microsoft.com/office/drawing/2014/main" id="{17687A98-61A9-4F9F-B87D-BA750D091DF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52912" y="1479550"/>
                        <a:ext cx="2727325" cy="2071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70042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checkerboard(across)">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p:cTn id="30" dur="500" fill="hold"/>
                                        <p:tgtEl>
                                          <p:spTgt spid="44"/>
                                        </p:tgtEl>
                                        <p:attrNameLst>
                                          <p:attrName>ppt_w</p:attrName>
                                        </p:attrNameLst>
                                      </p:cBhvr>
                                      <p:tavLst>
                                        <p:tav tm="0">
                                          <p:val>
                                            <p:fltVal val="0"/>
                                          </p:val>
                                        </p:tav>
                                        <p:tav tm="100000">
                                          <p:val>
                                            <p:strVal val="#ppt_w"/>
                                          </p:val>
                                        </p:tav>
                                      </p:tavLst>
                                    </p:anim>
                                    <p:anim calcmode="lin" valueType="num">
                                      <p:cBhvr>
                                        <p:cTn id="31" dur="500" fill="hold"/>
                                        <p:tgtEl>
                                          <p:spTgt spid="4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1488661" y="1639117"/>
                <a:ext cx="2282997" cy="8221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𝑢𝑡</m:t>
                          </m:r>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488661" y="1639117"/>
                <a:ext cx="2282997" cy="82214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529890" y="2812242"/>
                <a:ext cx="92531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𝑦</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oMath>
                  </m:oMathPara>
                </a14:m>
                <a:endParaRPr lang="zh-CN" altLang="en-US" sz="24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529890" y="2812242"/>
                <a:ext cx="925318" cy="369332"/>
              </a:xfrm>
              <a:prstGeom prst="rect">
                <a:avLst/>
              </a:prstGeom>
              <a:blipFill>
                <a:blip r:embed="rId3"/>
                <a:stretch>
                  <a:fillRect l="-7895" r="-723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529890" y="3645126"/>
                <a:ext cx="8804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𝑧</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𝑧</m:t>
                      </m:r>
                    </m:oMath>
                  </m:oMathPara>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1529890" y="3645126"/>
                <a:ext cx="880434" cy="369332"/>
              </a:xfrm>
              <a:prstGeom prst="rect">
                <a:avLst/>
              </a:prstGeom>
              <a:blipFill>
                <a:blip r:embed="rId4"/>
                <a:stretch>
                  <a:fillRect l="-4861" r="-3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488661" y="4273044"/>
                <a:ext cx="2241768" cy="896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𝑡</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𝑢𝑥</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488661" y="4273044"/>
                <a:ext cx="2241768" cy="896143"/>
              </a:xfrm>
              <a:prstGeom prst="rect">
                <a:avLst/>
              </a:prstGeom>
              <a:blipFill>
                <a:blip r:embed="rId5"/>
                <a:stretch>
                  <a:fillRect/>
                </a:stretch>
              </a:blipFill>
            </p:spPr>
            <p:txBody>
              <a:bodyPr/>
              <a:lstStyle/>
              <a:p>
                <a:r>
                  <a:rPr lang="zh-CN" altLang="en-US">
                    <a:noFill/>
                  </a:rPr>
                  <a:t> </a:t>
                </a:r>
              </a:p>
            </p:txBody>
          </p:sp>
        </mc:Fallback>
      </mc:AlternateContent>
      <p:sp>
        <p:nvSpPr>
          <p:cNvPr id="6" name="矩形 5"/>
          <p:cNvSpPr/>
          <p:nvPr/>
        </p:nvSpPr>
        <p:spPr>
          <a:xfrm>
            <a:off x="837324" y="681887"/>
            <a:ext cx="1723549" cy="461665"/>
          </a:xfrm>
          <a:prstGeom prst="rect">
            <a:avLst/>
          </a:prstGeom>
        </p:spPr>
        <p:txBody>
          <a:bodyPr wrap="none">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洛伦兹变换</a:t>
            </a:r>
            <a:endParaRPr lang="zh-CN" altLang="en-US" sz="2400" dirty="0"/>
          </a:p>
        </p:txBody>
      </p:sp>
      <mc:AlternateContent xmlns:mc="http://schemas.openxmlformats.org/markup-compatibility/2006" xmlns:a14="http://schemas.microsoft.com/office/drawing/2010/main">
        <mc:Choice Requires="a14">
          <p:sp>
            <p:nvSpPr>
              <p:cNvPr id="7" name="文本框 6"/>
              <p:cNvSpPr txBox="1"/>
              <p:nvPr/>
            </p:nvSpPr>
            <p:spPr>
              <a:xfrm>
                <a:off x="5707034" y="1639117"/>
                <a:ext cx="2182584" cy="870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𝑢𝑡</m:t>
                          </m:r>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5707034" y="1639117"/>
                <a:ext cx="2182584" cy="87036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5748263" y="2812242"/>
                <a:ext cx="92531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𝑦</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oMath>
                  </m:oMathPara>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5748263" y="2812242"/>
                <a:ext cx="925318" cy="369332"/>
              </a:xfrm>
              <a:prstGeom prst="rect">
                <a:avLst/>
              </a:prstGeom>
              <a:blipFill>
                <a:blip r:embed="rId7"/>
                <a:stretch>
                  <a:fillRect l="-7895" r="-723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748263" y="3645126"/>
                <a:ext cx="8804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𝑧</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𝑧</m:t>
                      </m:r>
                    </m:oMath>
                  </m:oMathPara>
                </a14:m>
                <a:endParaRPr lang="zh-CN" altLang="en-US" sz="2400" dirty="0"/>
              </a:p>
            </p:txBody>
          </p:sp>
        </mc:Choice>
        <mc:Fallback xmlns="">
          <p:sp>
            <p:nvSpPr>
              <p:cNvPr id="9" name="文本框 8"/>
              <p:cNvSpPr txBox="1">
                <a:spLocks noRot="1" noChangeAspect="1" noMove="1" noResize="1" noEditPoints="1" noAdjustHandles="1" noChangeArrowheads="1" noChangeShapeType="1" noTextEdit="1"/>
              </p:cNvSpPr>
              <p:nvPr/>
            </p:nvSpPr>
            <p:spPr>
              <a:xfrm>
                <a:off x="5748263" y="3645126"/>
                <a:ext cx="880434" cy="369332"/>
              </a:xfrm>
              <a:prstGeom prst="rect">
                <a:avLst/>
              </a:prstGeom>
              <a:blipFill>
                <a:blip r:embed="rId8"/>
                <a:stretch>
                  <a:fillRect l="-4861" r="-3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5707034" y="4273044"/>
                <a:ext cx="2139111" cy="896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𝑡</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5707034" y="4273044"/>
                <a:ext cx="2139111" cy="896143"/>
              </a:xfrm>
              <a:prstGeom prst="rect">
                <a:avLst/>
              </a:prstGeom>
              <a:blipFill>
                <a:blip r:embed="rId9"/>
                <a:stretch>
                  <a:fillRect/>
                </a:stretch>
              </a:blipFill>
            </p:spPr>
            <p:txBody>
              <a:bodyPr/>
              <a:lstStyle/>
              <a:p>
                <a:r>
                  <a:rPr lang="zh-CN" altLang="en-US">
                    <a:noFill/>
                  </a:rPr>
                  <a:t> </a:t>
                </a:r>
              </a:p>
            </p:txBody>
          </p:sp>
        </mc:Fallback>
      </mc:AlternateContent>
      <p:sp>
        <p:nvSpPr>
          <p:cNvPr id="11" name="右箭头 10"/>
          <p:cNvSpPr/>
          <p:nvPr/>
        </p:nvSpPr>
        <p:spPr>
          <a:xfrm>
            <a:off x="4183190" y="3181574"/>
            <a:ext cx="761672" cy="463552"/>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3775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709011" y="3000240"/>
            <a:ext cx="1885950" cy="2419350"/>
          </a:xfrm>
          <a:prstGeom prst="rect">
            <a:avLst/>
          </a:prstGeom>
        </p:spPr>
      </p:pic>
      <p:pic>
        <p:nvPicPr>
          <p:cNvPr id="3" name="Picture 5" descr="u=4056433537,2505042268&amp;gp=2">
            <a:hlinkClick r:id="rId3"/>
            <a:extLst>
              <a:ext uri="{FF2B5EF4-FFF2-40B4-BE49-F238E27FC236}">
                <a16:creationId xmlns:a16="http://schemas.microsoft.com/office/drawing/2014/main" id="{F4FC0D66-1994-4D05-80B6-A478C22C3D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9120" y="3000240"/>
            <a:ext cx="1935163" cy="2160587"/>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1007263" y="5673440"/>
            <a:ext cx="3762568" cy="461665"/>
          </a:xfrm>
          <a:prstGeom prst="rect">
            <a:avLst/>
          </a:prstGeom>
          <a:noFill/>
        </p:spPr>
        <p:txBody>
          <a:bodyPr wrap="none" rtlCol="0">
            <a:spAutoFit/>
          </a:bodyPr>
          <a:lstStyle/>
          <a:p>
            <a:r>
              <a:rPr lang="zh-CN" altLang="en-US" sz="2400">
                <a:latin typeface="Arial" panose="020B0604020202020204" pitchFamily="34" charset="0"/>
                <a:ea typeface="黑体" panose="02010609060101010101" pitchFamily="49" charset="-122"/>
                <a:cs typeface="Arial" panose="020B0604020202020204" pitchFamily="34" charset="0"/>
              </a:rPr>
              <a:t>庞加莱（</a:t>
            </a:r>
            <a:r>
              <a:rPr lang="en-US" altLang="zh-CN" sz="2400">
                <a:latin typeface="Arial" panose="020B0604020202020204" pitchFamily="34" charset="0"/>
                <a:ea typeface="黑体" panose="02010609060101010101" pitchFamily="49" charset="-122"/>
                <a:cs typeface="Arial" panose="020B0604020202020204" pitchFamily="34" charset="0"/>
              </a:rPr>
              <a:t>Henri Poincaré</a:t>
            </a:r>
            <a:r>
              <a:rPr lang="zh-CN" altLang="en-US" sz="2400">
                <a:latin typeface="Arial" panose="020B0604020202020204" pitchFamily="34" charset="0"/>
                <a:ea typeface="黑体" panose="02010609060101010101" pitchFamily="49" charset="-122"/>
                <a:cs typeface="Arial" panose="020B0604020202020204" pitchFamily="34" charset="0"/>
              </a:rPr>
              <a:t>）</a:t>
            </a:r>
            <a:endParaRPr lang="zh-CN" altLang="en-US" sz="2400" dirty="0">
              <a:latin typeface="Arial" panose="020B0604020202020204" pitchFamily="34" charset="0"/>
              <a:ea typeface="黑体" panose="02010609060101010101" pitchFamily="49" charset="-122"/>
              <a:cs typeface="Arial" panose="020B0604020202020204" pitchFamily="34" charset="0"/>
            </a:endParaRPr>
          </a:p>
        </p:txBody>
      </p:sp>
      <p:sp>
        <p:nvSpPr>
          <p:cNvPr id="7" name="矩形 6"/>
          <p:cNvSpPr/>
          <p:nvPr/>
        </p:nvSpPr>
        <p:spPr>
          <a:xfrm>
            <a:off x="6225079" y="5673440"/>
            <a:ext cx="1415772" cy="461665"/>
          </a:xfrm>
          <a:prstGeom prst="rect">
            <a:avLst/>
          </a:prstGeom>
        </p:spPr>
        <p:txBody>
          <a:bodyPr wrap="none">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爱因斯坦</a:t>
            </a:r>
            <a:endParaRPr lang="zh-CN" altLang="en-US" sz="2400" dirty="0"/>
          </a:p>
        </p:txBody>
      </p:sp>
      <p:sp>
        <p:nvSpPr>
          <p:cNvPr id="8" name="Rectangle 3"/>
          <p:cNvSpPr>
            <a:spLocks noChangeArrowheads="1"/>
          </p:cNvSpPr>
          <p:nvPr/>
        </p:nvSpPr>
        <p:spPr bwMode="auto">
          <a:xfrm>
            <a:off x="148300" y="1954864"/>
            <a:ext cx="8893175" cy="912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30000"/>
              </a:lnSpc>
            </a:pPr>
            <a:r>
              <a:rPr lang="zh-CN" altLang="en-US" sz="2100" b="1" dirty="0">
                <a:solidFill>
                  <a:schemeClr val="hlink"/>
                </a:solidFill>
                <a:latin typeface="Arial" panose="020B0604020202020204" pitchFamily="34" charset="0"/>
                <a:ea typeface="黑体" panose="02010609060101010101" pitchFamily="49" charset="-122"/>
                <a:cs typeface="Arial" panose="020B0604020202020204" pitchFamily="34" charset="0"/>
              </a:rPr>
              <a:t>第二个基本假设</a:t>
            </a:r>
            <a:r>
              <a:rPr lang="zh-CN" altLang="en-US" sz="2000" b="1" dirty="0">
                <a:solidFill>
                  <a:schemeClr val="hlink"/>
                </a:solidFill>
                <a:latin typeface="Arial" panose="020B0604020202020204" pitchFamily="34" charset="0"/>
                <a:ea typeface="黑体" panose="02010609060101010101" pitchFamily="49" charset="-122"/>
                <a:cs typeface="Arial" panose="020B0604020202020204" pitchFamily="34" charset="0"/>
              </a:rPr>
              <a:t>：</a:t>
            </a:r>
            <a:r>
              <a:rPr lang="zh-CN" altLang="en-US" sz="2000" b="1" dirty="0">
                <a:solidFill>
                  <a:srgbClr val="000000"/>
                </a:solidFill>
                <a:latin typeface="Arial" panose="020B0604020202020204" pitchFamily="34" charset="0"/>
                <a:ea typeface="黑体" panose="02010609060101010101" pitchFamily="49" charset="-122"/>
                <a:cs typeface="Arial" panose="020B0604020202020204" pitchFamily="34" charset="0"/>
              </a:rPr>
              <a:t>在所有惯性系中，物理定律的形式都相同</a:t>
            </a:r>
            <a:r>
              <a:rPr lang="en-US" altLang="zh-CN" sz="2000"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zh-CN" altLang="en-US" sz="2000" b="1" dirty="0">
                <a:solidFill>
                  <a:srgbClr val="000000"/>
                </a:solidFill>
                <a:latin typeface="Arial" panose="020B0604020202020204" pitchFamily="34" charset="0"/>
                <a:ea typeface="黑体" panose="02010609060101010101" pitchFamily="49" charset="-122"/>
                <a:cs typeface="Arial" panose="020B0604020202020204" pitchFamily="34" charset="0"/>
              </a:rPr>
              <a:t>相对性原理。</a:t>
            </a:r>
            <a:endParaRPr lang="en-US" altLang="zh-CN" sz="2000" b="1" dirty="0">
              <a:solidFill>
                <a:srgbClr val="000000"/>
              </a:solidFill>
              <a:latin typeface="Arial" panose="020B0604020202020204" pitchFamily="34" charset="0"/>
              <a:ea typeface="黑体" panose="02010609060101010101" pitchFamily="49" charset="-122"/>
              <a:cs typeface="Arial" panose="020B0604020202020204" pitchFamily="34" charset="0"/>
            </a:endParaRPr>
          </a:p>
          <a:p>
            <a:pPr>
              <a:lnSpc>
                <a:spcPct val="130000"/>
              </a:lnSpc>
            </a:pPr>
            <a:r>
              <a:rPr lang="zh-CN" altLang="en-US" sz="2000" b="1" dirty="0">
                <a:solidFill>
                  <a:srgbClr val="000000"/>
                </a:solidFill>
                <a:latin typeface="Arial" panose="020B0604020202020204" pitchFamily="34" charset="0"/>
                <a:ea typeface="黑体" panose="02010609060101010101" pitchFamily="49" charset="-122"/>
                <a:cs typeface="Arial" panose="020B0604020202020204" pitchFamily="34" charset="0"/>
              </a:rPr>
              <a:t>在洛伦兹变换下，所有物理规律的形式不变</a:t>
            </a:r>
            <a:endParaRPr lang="zh-CN" altLang="en-US" sz="2000" b="1" dirty="0">
              <a:solidFill>
                <a:schemeClr val="hlink"/>
              </a:solidFill>
              <a:latin typeface="Arial" panose="020B0604020202020204" pitchFamily="34" charset="0"/>
              <a:ea typeface="黑体" panose="02010609060101010101" pitchFamily="49" charset="-122"/>
              <a:cs typeface="Arial" panose="020B0604020202020204" pitchFamily="34" charset="0"/>
            </a:endParaRPr>
          </a:p>
        </p:txBody>
      </p:sp>
      <p:sp>
        <p:nvSpPr>
          <p:cNvPr id="9" name="Rectangle 6"/>
          <p:cNvSpPr>
            <a:spLocks noChangeArrowheads="1"/>
          </p:cNvSpPr>
          <p:nvPr/>
        </p:nvSpPr>
        <p:spPr bwMode="auto">
          <a:xfrm>
            <a:off x="148300" y="989019"/>
            <a:ext cx="8713788" cy="9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30000"/>
              </a:lnSpc>
            </a:pPr>
            <a:r>
              <a:rPr lang="zh-CN" altLang="en-US" sz="2100" b="1" dirty="0">
                <a:solidFill>
                  <a:schemeClr val="hlink"/>
                </a:solidFill>
                <a:latin typeface="Arial" panose="020B0604020202020204" pitchFamily="34" charset="0"/>
                <a:ea typeface="黑体" panose="02010609060101010101" pitchFamily="49" charset="-122"/>
                <a:cs typeface="Arial" panose="020B0604020202020204" pitchFamily="34" charset="0"/>
              </a:rPr>
              <a:t>第一个基本假设</a:t>
            </a:r>
            <a:r>
              <a:rPr lang="zh-CN" altLang="en-US" sz="2000" b="1" dirty="0">
                <a:solidFill>
                  <a:schemeClr val="hlink"/>
                </a:solidFill>
                <a:latin typeface="Arial" panose="020B0604020202020204" pitchFamily="34" charset="0"/>
                <a:ea typeface="黑体" panose="02010609060101010101" pitchFamily="49" charset="-122"/>
                <a:cs typeface="Arial" panose="020B0604020202020204" pitchFamily="34" charset="0"/>
              </a:rPr>
              <a:t>：</a:t>
            </a:r>
            <a:r>
              <a:rPr lang="zh-CN" altLang="en-US" sz="2000" b="1" dirty="0">
                <a:solidFill>
                  <a:srgbClr val="000000"/>
                </a:solidFill>
                <a:latin typeface="Arial" panose="020B0604020202020204" pitchFamily="34" charset="0"/>
                <a:ea typeface="黑体" panose="02010609060101010101" pitchFamily="49" charset="-122"/>
                <a:cs typeface="Arial" panose="020B0604020202020204" pitchFamily="34" charset="0"/>
              </a:rPr>
              <a:t>在所有惯性系中，无论光源或观察者是否运动，真空中的  </a:t>
            </a:r>
          </a:p>
          <a:p>
            <a:pPr>
              <a:lnSpc>
                <a:spcPct val="130000"/>
              </a:lnSpc>
            </a:pPr>
            <a:r>
              <a:rPr lang="zh-CN" altLang="en-US" sz="2000" b="1" dirty="0">
                <a:solidFill>
                  <a:srgbClr val="000000"/>
                </a:solidFill>
                <a:latin typeface="Arial" panose="020B0604020202020204" pitchFamily="34" charset="0"/>
                <a:ea typeface="黑体" panose="02010609060101010101" pitchFamily="49" charset="-122"/>
                <a:cs typeface="Arial" panose="020B0604020202020204" pitchFamily="34" charset="0"/>
              </a:rPr>
              <a:t>                 光速恒为</a:t>
            </a:r>
            <a:r>
              <a:rPr lang="en-US" altLang="zh-CN" sz="2000" b="1" i="1" dirty="0">
                <a:solidFill>
                  <a:srgbClr val="000000"/>
                </a:solidFill>
                <a:latin typeface="Arial" panose="020B0604020202020204" pitchFamily="34" charset="0"/>
                <a:ea typeface="黑体" panose="02010609060101010101" pitchFamily="49" charset="-122"/>
                <a:cs typeface="Arial" panose="020B0604020202020204" pitchFamily="34" charset="0"/>
              </a:rPr>
              <a:t>c</a:t>
            </a:r>
            <a:r>
              <a:rPr lang="zh-CN" altLang="en-US" sz="2000" b="1" dirty="0">
                <a:solidFill>
                  <a:srgbClr val="000000"/>
                </a:solidFill>
                <a:latin typeface="Arial" panose="020B0604020202020204" pitchFamily="34" charset="0"/>
                <a:ea typeface="黑体" panose="02010609060101010101" pitchFamily="49" charset="-122"/>
                <a:cs typeface="Arial" panose="020B0604020202020204" pitchFamily="34" charset="0"/>
              </a:rPr>
              <a:t>   </a:t>
            </a:r>
            <a:r>
              <a:rPr lang="en-US" altLang="zh-CN" sz="2000"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zh-CN" altLang="en-US" sz="2000" b="1" dirty="0">
                <a:solidFill>
                  <a:srgbClr val="000000"/>
                </a:solidFill>
                <a:latin typeface="Arial" panose="020B0604020202020204" pitchFamily="34" charset="0"/>
                <a:ea typeface="黑体" panose="02010609060101010101" pitchFamily="49" charset="-122"/>
                <a:cs typeface="Arial" panose="020B0604020202020204" pitchFamily="34" charset="0"/>
              </a:rPr>
              <a:t>光速不变原理。</a:t>
            </a:r>
          </a:p>
        </p:txBody>
      </p:sp>
      <p:sp>
        <p:nvSpPr>
          <p:cNvPr id="11" name="Text Box 2">
            <a:extLst>
              <a:ext uri="{FF2B5EF4-FFF2-40B4-BE49-F238E27FC236}">
                <a16:creationId xmlns:a16="http://schemas.microsoft.com/office/drawing/2014/main" id="{EAC105BA-CED7-4C98-AA4C-D77D06037B86}"/>
              </a:ext>
            </a:extLst>
          </p:cNvPr>
          <p:cNvSpPr txBox="1">
            <a:spLocks noChangeArrowheads="1"/>
          </p:cNvSpPr>
          <p:nvPr/>
        </p:nvSpPr>
        <p:spPr bwMode="auto">
          <a:xfrm>
            <a:off x="309348" y="215113"/>
            <a:ext cx="4752975" cy="579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dirty="0">
                <a:solidFill>
                  <a:srgbClr val="FF0000"/>
                </a:solidFill>
                <a:effectLst/>
                <a:latin typeface="黑体" panose="02010609060101010101" pitchFamily="49" charset="-122"/>
                <a:ea typeface="黑体" panose="02010609060101010101" pitchFamily="49" charset="-122"/>
              </a:rPr>
              <a:t>2.</a:t>
            </a:r>
            <a:r>
              <a:rPr kumimoji="1" lang="zh-CN" altLang="en-US" sz="3200" b="1" dirty="0">
                <a:solidFill>
                  <a:srgbClr val="FF0000"/>
                </a:solidFill>
                <a:effectLst/>
                <a:latin typeface="黑体" panose="02010609060101010101" pitchFamily="49" charset="-122"/>
                <a:ea typeface="黑体" panose="02010609060101010101" pitchFamily="49" charset="-122"/>
              </a:rPr>
              <a:t>力学相对性原理</a:t>
            </a:r>
          </a:p>
        </p:txBody>
      </p:sp>
    </p:spTree>
    <p:extLst>
      <p:ext uri="{BB962C8B-B14F-4D97-AF65-F5344CB8AC3E}">
        <p14:creationId xmlns:p14="http://schemas.microsoft.com/office/powerpoint/2010/main" val="194528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Text Box 3">
            <a:extLst>
              <a:ext uri="{FF2B5EF4-FFF2-40B4-BE49-F238E27FC236}">
                <a16:creationId xmlns:a16="http://schemas.microsoft.com/office/drawing/2014/main" id="{42F62570-C0AE-409B-A6B1-A40E5DD2D873}"/>
              </a:ext>
            </a:extLst>
          </p:cNvPr>
          <p:cNvSpPr txBox="1">
            <a:spLocks noChangeArrowheads="1"/>
          </p:cNvSpPr>
          <p:nvPr/>
        </p:nvSpPr>
        <p:spPr bwMode="auto">
          <a:xfrm>
            <a:off x="611188" y="909638"/>
            <a:ext cx="8064500" cy="50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lang="zh-CN" altLang="en-US" sz="2400" b="1">
                <a:solidFill>
                  <a:srgbClr val="000066"/>
                </a:solidFill>
                <a:effectLst/>
                <a:latin typeface="Times New Roman" panose="02020603050405020304" pitchFamily="18" charset="0"/>
                <a:ea typeface="宋体" panose="02010600030101010101" pitchFamily="2" charset="-122"/>
              </a:rPr>
              <a:t>        力学基本定律在所有的惯性参照系中都等效。</a:t>
            </a:r>
          </a:p>
        </p:txBody>
      </p:sp>
      <p:sp>
        <p:nvSpPr>
          <p:cNvPr id="166916" name="Text Box 4">
            <a:extLst>
              <a:ext uri="{FF2B5EF4-FFF2-40B4-BE49-F238E27FC236}">
                <a16:creationId xmlns:a16="http://schemas.microsoft.com/office/drawing/2014/main" id="{8732FDEC-80CB-4990-A258-355DA83376B8}"/>
              </a:ext>
            </a:extLst>
          </p:cNvPr>
          <p:cNvSpPr txBox="1">
            <a:spLocks noChangeArrowheads="1"/>
          </p:cNvSpPr>
          <p:nvPr/>
        </p:nvSpPr>
        <p:spPr bwMode="auto">
          <a:xfrm>
            <a:off x="611188" y="1682750"/>
            <a:ext cx="8064500" cy="51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lang="zh-CN" altLang="en-US" sz="2400" b="1">
                <a:solidFill>
                  <a:srgbClr val="000066"/>
                </a:solidFill>
                <a:effectLst/>
                <a:latin typeface="Times New Roman" panose="02020603050405020304" pitchFamily="18" charset="0"/>
                <a:ea typeface="宋体" panose="02010600030101010101" pitchFamily="2" charset="-122"/>
              </a:rPr>
              <a:t>        </a:t>
            </a:r>
          </a:p>
        </p:txBody>
      </p:sp>
      <p:grpSp>
        <p:nvGrpSpPr>
          <p:cNvPr id="166917" name="Group 5">
            <a:extLst>
              <a:ext uri="{FF2B5EF4-FFF2-40B4-BE49-F238E27FC236}">
                <a16:creationId xmlns:a16="http://schemas.microsoft.com/office/drawing/2014/main" id="{157E0F6B-F57E-4468-9392-86E67E9E5B98}"/>
              </a:ext>
            </a:extLst>
          </p:cNvPr>
          <p:cNvGrpSpPr>
            <a:grpSpLocks/>
          </p:cNvGrpSpPr>
          <p:nvPr/>
        </p:nvGrpSpPr>
        <p:grpSpPr bwMode="auto">
          <a:xfrm>
            <a:off x="2484438" y="3357563"/>
            <a:ext cx="4859337" cy="3046412"/>
            <a:chOff x="1338" y="1783"/>
            <a:chExt cx="3424" cy="2282"/>
          </a:xfrm>
        </p:grpSpPr>
        <p:pic>
          <p:nvPicPr>
            <p:cNvPr id="166918" name="Picture 6">
              <a:extLst>
                <a:ext uri="{FF2B5EF4-FFF2-40B4-BE49-F238E27FC236}">
                  <a16:creationId xmlns:a16="http://schemas.microsoft.com/office/drawing/2014/main" id="{E4041B28-2609-447D-A2F2-F1A04CD4B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 y="1783"/>
              <a:ext cx="2994" cy="2282"/>
            </a:xfrm>
            <a:prstGeom prst="rect">
              <a:avLst/>
            </a:prstGeom>
            <a:noFill/>
            <a:extLst>
              <a:ext uri="{909E8E84-426E-40DD-AFC4-6F175D3DCCD1}">
                <a14:hiddenFill xmlns:a14="http://schemas.microsoft.com/office/drawing/2010/main">
                  <a:solidFill>
                    <a:srgbClr val="FFFFFF"/>
                  </a:solidFill>
                </a14:hiddenFill>
              </a:ext>
            </a:extLst>
          </p:spPr>
        </p:pic>
        <p:sp>
          <p:nvSpPr>
            <p:cNvPr id="166919" name="Text Box 7">
              <a:extLst>
                <a:ext uri="{FF2B5EF4-FFF2-40B4-BE49-F238E27FC236}">
                  <a16:creationId xmlns:a16="http://schemas.microsoft.com/office/drawing/2014/main" id="{0FD3EF6C-ED96-4EC3-9442-91AD20401F02}"/>
                </a:ext>
              </a:extLst>
            </p:cNvPr>
            <p:cNvSpPr txBox="1">
              <a:spLocks noChangeArrowheads="1"/>
            </p:cNvSpPr>
            <p:nvPr/>
          </p:nvSpPr>
          <p:spPr bwMode="auto">
            <a:xfrm>
              <a:off x="4372" y="2334"/>
              <a:ext cx="390" cy="1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kumimoji="1" lang="zh-CN" altLang="en-US" sz="2400" b="1" dirty="0">
                  <a:solidFill>
                    <a:srgbClr val="0000FF"/>
                  </a:solidFill>
                  <a:effectLst/>
                  <a:latin typeface="Times New Roman" panose="02020603050405020304" pitchFamily="18" charset="0"/>
                </a:rPr>
                <a:t>舟行而不觉</a:t>
              </a:r>
            </a:p>
          </p:txBody>
        </p:sp>
      </p:grpSp>
      <p:sp>
        <p:nvSpPr>
          <p:cNvPr id="166921" name="Text Box 9">
            <a:extLst>
              <a:ext uri="{FF2B5EF4-FFF2-40B4-BE49-F238E27FC236}">
                <a16:creationId xmlns:a16="http://schemas.microsoft.com/office/drawing/2014/main" id="{80619154-A21E-478B-84F9-0F2AD42F6ACD}"/>
              </a:ext>
            </a:extLst>
          </p:cNvPr>
          <p:cNvSpPr txBox="1">
            <a:spLocks noChangeArrowheads="1"/>
          </p:cNvSpPr>
          <p:nvPr/>
        </p:nvSpPr>
        <p:spPr bwMode="auto">
          <a:xfrm>
            <a:off x="684213" y="1520825"/>
            <a:ext cx="8064500" cy="96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lang="zh-CN" altLang="en-US" sz="2400" b="1">
                <a:solidFill>
                  <a:srgbClr val="000066"/>
                </a:solidFill>
                <a:effectLst/>
                <a:latin typeface="Times New Roman" panose="02020603050405020304" pitchFamily="18" charset="0"/>
                <a:ea typeface="宋体" panose="02010600030101010101" pitchFamily="2" charset="-122"/>
              </a:rPr>
              <a:t>        或在一个惯性参照系中无法通过任何力学实验来判断一个参照系本身是处于静止状态还是在作匀速直线运动。</a:t>
            </a:r>
          </a:p>
        </p:txBody>
      </p:sp>
    </p:spTree>
    <p:extLst>
      <p:ext uri="{BB962C8B-B14F-4D97-AF65-F5344CB8AC3E}">
        <p14:creationId xmlns:p14="http://schemas.microsoft.com/office/powerpoint/2010/main" val="2799561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6915"/>
                                        </p:tgtEl>
                                        <p:attrNameLst>
                                          <p:attrName>style.visibility</p:attrName>
                                        </p:attrNameLst>
                                      </p:cBhvr>
                                      <p:to>
                                        <p:strVal val="visible"/>
                                      </p:to>
                                    </p:set>
                                    <p:animEffect transition="in" filter="checkerboard(across)">
                                      <p:cBhvr>
                                        <p:cTn id="7" dur="500"/>
                                        <p:tgtEl>
                                          <p:spTgt spid="1669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Effect transition="in" filter="dissolve">
                                      <p:cBhvr>
                                        <p:cTn id="12" dur="500"/>
                                        <p:tgtEl>
                                          <p:spTgt spid="166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66921"/>
                                        </p:tgtEl>
                                        <p:attrNameLst>
                                          <p:attrName>style.visibility</p:attrName>
                                        </p:attrNameLst>
                                      </p:cBhvr>
                                      <p:to>
                                        <p:strVal val="visible"/>
                                      </p:to>
                                    </p:set>
                                    <p:animEffect transition="in" filter="checkerboard(across)">
                                      <p:cBhvr>
                                        <p:cTn id="17" dur="500"/>
                                        <p:tgtEl>
                                          <p:spTgt spid="166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p:bldP spid="1669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spid="10267" r:id="rId2" imgW="8209524" imgH="5688724"/>
        </mc:Choice>
        <mc:Fallback>
          <p:control r:id="rId2" imgW="8209524" imgH="5688724">
            <p:pic>
              <p:nvPicPr>
                <p:cNvPr id="167938" name="obj1">
                  <a:extLst>
                    <a:ext uri="{FF2B5EF4-FFF2-40B4-BE49-F238E27FC236}">
                      <a16:creationId xmlns:a16="http://schemas.microsoft.com/office/drawing/2014/main" id="{BFEF60C9-2C99-41FD-AA32-4E33BF116EA4}"/>
                    </a:ext>
                  </a:extLst>
                </p:cNvPr>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611188" y="549275"/>
                  <a:ext cx="8208962" cy="5689600"/>
                </a:xfrm>
                <a:prstGeom prst="rect">
                  <a:avLst/>
                </a:prstGeom>
                <a:noFill/>
                <a:ln w="19050">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577305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31" name="Group 87"/>
          <p:cNvGrpSpPr>
            <a:grpSpLocks/>
          </p:cNvGrpSpPr>
          <p:nvPr/>
        </p:nvGrpSpPr>
        <p:grpSpPr bwMode="auto">
          <a:xfrm>
            <a:off x="1369828" y="1901345"/>
            <a:ext cx="1752600" cy="2376487"/>
            <a:chOff x="816" y="2055"/>
            <a:chExt cx="1104" cy="1497"/>
          </a:xfrm>
        </p:grpSpPr>
        <p:grpSp>
          <p:nvGrpSpPr>
            <p:cNvPr id="6230" name="Group 86"/>
            <p:cNvGrpSpPr>
              <a:grpSpLocks/>
            </p:cNvGrpSpPr>
            <p:nvPr/>
          </p:nvGrpSpPr>
          <p:grpSpPr bwMode="auto">
            <a:xfrm>
              <a:off x="816" y="2188"/>
              <a:ext cx="1085" cy="1248"/>
              <a:chOff x="816" y="2188"/>
              <a:chExt cx="1085" cy="1248"/>
            </a:xfrm>
          </p:grpSpPr>
          <p:sp>
            <p:nvSpPr>
              <p:cNvPr id="6169" name="Line 25"/>
              <p:cNvSpPr>
                <a:spLocks noChangeShapeType="1"/>
              </p:cNvSpPr>
              <p:nvPr/>
            </p:nvSpPr>
            <p:spPr bwMode="auto">
              <a:xfrm>
                <a:off x="1200" y="2993"/>
                <a:ext cx="701" cy="2"/>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0" name="Line 26"/>
              <p:cNvSpPr>
                <a:spLocks noChangeShapeType="1"/>
              </p:cNvSpPr>
              <p:nvPr/>
            </p:nvSpPr>
            <p:spPr bwMode="auto">
              <a:xfrm flipH="1">
                <a:off x="816" y="2993"/>
                <a:ext cx="366" cy="443"/>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1" name="Line 27"/>
              <p:cNvSpPr>
                <a:spLocks noChangeShapeType="1"/>
              </p:cNvSpPr>
              <p:nvPr/>
            </p:nvSpPr>
            <p:spPr bwMode="auto">
              <a:xfrm flipV="1">
                <a:off x="1200" y="2188"/>
                <a:ext cx="0" cy="805"/>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75" name="Text Box 31"/>
            <p:cNvSpPr txBox="1">
              <a:spLocks noChangeArrowheads="1"/>
            </p:cNvSpPr>
            <p:nvPr/>
          </p:nvSpPr>
          <p:spPr bwMode="auto">
            <a:xfrm>
              <a:off x="985" y="2123"/>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y</a:t>
              </a:r>
            </a:p>
          </p:txBody>
        </p:sp>
        <p:sp>
          <p:nvSpPr>
            <p:cNvPr id="6176" name="Text Box 32"/>
            <p:cNvSpPr txBox="1">
              <a:spLocks noChangeArrowheads="1"/>
            </p:cNvSpPr>
            <p:nvPr/>
          </p:nvSpPr>
          <p:spPr bwMode="auto">
            <a:xfrm>
              <a:off x="862" y="3264"/>
              <a:ext cx="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z</a:t>
              </a:r>
            </a:p>
          </p:txBody>
        </p:sp>
        <p:sp>
          <p:nvSpPr>
            <p:cNvPr id="6177" name="Text Box 33"/>
            <p:cNvSpPr txBox="1">
              <a:spLocks noChangeArrowheads="1"/>
            </p:cNvSpPr>
            <p:nvPr/>
          </p:nvSpPr>
          <p:spPr bwMode="auto">
            <a:xfrm>
              <a:off x="1708" y="299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x</a:t>
              </a:r>
            </a:p>
          </p:txBody>
        </p:sp>
        <p:sp>
          <p:nvSpPr>
            <p:cNvPr id="6178" name="Text Box 34"/>
            <p:cNvSpPr txBox="1">
              <a:spLocks noChangeArrowheads="1"/>
            </p:cNvSpPr>
            <p:nvPr/>
          </p:nvSpPr>
          <p:spPr bwMode="auto">
            <a:xfrm>
              <a:off x="940" y="2801"/>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O</a:t>
              </a:r>
            </a:p>
          </p:txBody>
        </p:sp>
        <p:sp>
          <p:nvSpPr>
            <p:cNvPr id="6185" name="Text Box 41"/>
            <p:cNvSpPr txBox="1">
              <a:spLocks noChangeArrowheads="1"/>
            </p:cNvSpPr>
            <p:nvPr/>
          </p:nvSpPr>
          <p:spPr bwMode="auto">
            <a:xfrm>
              <a:off x="1256" y="205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FF"/>
                  </a:solidFill>
                </a:rPr>
                <a:t>S</a:t>
              </a:r>
            </a:p>
          </p:txBody>
        </p:sp>
      </p:grpSp>
      <p:grpSp>
        <p:nvGrpSpPr>
          <p:cNvPr id="6226" name="Group 82"/>
          <p:cNvGrpSpPr>
            <a:grpSpLocks/>
          </p:cNvGrpSpPr>
          <p:nvPr/>
        </p:nvGrpSpPr>
        <p:grpSpPr bwMode="auto">
          <a:xfrm>
            <a:off x="6135503" y="2079145"/>
            <a:ext cx="1831975" cy="1852612"/>
            <a:chOff x="3242" y="2620"/>
            <a:chExt cx="1154" cy="1167"/>
          </a:xfrm>
        </p:grpSpPr>
        <p:sp>
          <p:nvSpPr>
            <p:cNvPr id="6165" name="Text Box 21"/>
            <p:cNvSpPr txBox="1">
              <a:spLocks noChangeArrowheads="1"/>
            </p:cNvSpPr>
            <p:nvPr/>
          </p:nvSpPr>
          <p:spPr bwMode="auto">
            <a:xfrm>
              <a:off x="3895" y="2784"/>
              <a:ext cx="501"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5400">
                  <a:sym typeface="Wingdings 2" panose="05020102010507070707" pitchFamily="18" charset="2"/>
                </a:rPr>
                <a:t></a:t>
              </a:r>
            </a:p>
          </p:txBody>
        </p:sp>
        <p:sp>
          <p:nvSpPr>
            <p:cNvPr id="6211" name="Text Box 67"/>
            <p:cNvSpPr txBox="1">
              <a:spLocks noChangeArrowheads="1"/>
            </p:cNvSpPr>
            <p:nvPr/>
          </p:nvSpPr>
          <p:spPr bwMode="auto">
            <a:xfrm>
              <a:off x="3651" y="2874"/>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t>S</a:t>
              </a:r>
              <a:r>
                <a:rPr lang="en-US" altLang="zh-CN" i="1">
                  <a:sym typeface="Symbol" panose="05050102010706020507" pitchFamily="18" charset="2"/>
                </a:rPr>
                <a:t>  </a:t>
              </a:r>
              <a:endParaRPr lang="en-US" altLang="zh-CN"/>
            </a:p>
          </p:txBody>
        </p:sp>
        <p:grpSp>
          <p:nvGrpSpPr>
            <p:cNvPr id="6215" name="Group 71"/>
            <p:cNvGrpSpPr>
              <a:grpSpLocks/>
            </p:cNvGrpSpPr>
            <p:nvPr/>
          </p:nvGrpSpPr>
          <p:grpSpPr bwMode="auto">
            <a:xfrm>
              <a:off x="3349" y="2890"/>
              <a:ext cx="672" cy="776"/>
              <a:chOff x="384" y="2737"/>
              <a:chExt cx="960" cy="967"/>
            </a:xfrm>
          </p:grpSpPr>
          <p:sp>
            <p:nvSpPr>
              <p:cNvPr id="6216" name="Line 72"/>
              <p:cNvSpPr>
                <a:spLocks noChangeShapeType="1"/>
              </p:cNvSpPr>
              <p:nvPr/>
            </p:nvSpPr>
            <p:spPr bwMode="auto">
              <a:xfrm>
                <a:off x="717" y="3361"/>
                <a:ext cx="627" cy="1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7" name="Line 73"/>
              <p:cNvSpPr>
                <a:spLocks noChangeShapeType="1"/>
              </p:cNvSpPr>
              <p:nvPr/>
            </p:nvSpPr>
            <p:spPr bwMode="auto">
              <a:xfrm flipH="1">
                <a:off x="384" y="3361"/>
                <a:ext cx="333" cy="343"/>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8" name="Line 74"/>
              <p:cNvSpPr>
                <a:spLocks noChangeShapeType="1"/>
              </p:cNvSpPr>
              <p:nvPr/>
            </p:nvSpPr>
            <p:spPr bwMode="auto">
              <a:xfrm flipV="1">
                <a:off x="717" y="2737"/>
                <a:ext cx="0" cy="624"/>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219" name="Line 75"/>
            <p:cNvSpPr>
              <a:spLocks noChangeShapeType="1"/>
            </p:cNvSpPr>
            <p:nvPr/>
          </p:nvSpPr>
          <p:spPr bwMode="auto">
            <a:xfrm flipV="1">
              <a:off x="3654" y="2876"/>
              <a:ext cx="305" cy="11"/>
            </a:xfrm>
            <a:prstGeom prst="line">
              <a:avLst/>
            </a:prstGeom>
            <a:noFill/>
            <a:ln w="317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220" name="Object 76"/>
            <p:cNvGraphicFramePr>
              <a:graphicFrameLocks noChangeAspect="1"/>
            </p:cNvGraphicFramePr>
            <p:nvPr/>
          </p:nvGraphicFramePr>
          <p:xfrm>
            <a:off x="3836" y="2620"/>
            <a:ext cx="194" cy="247"/>
          </p:xfrm>
          <a:graphic>
            <a:graphicData uri="http://schemas.openxmlformats.org/presentationml/2006/ole">
              <mc:AlternateContent xmlns:mc="http://schemas.openxmlformats.org/markup-compatibility/2006">
                <mc:Choice xmlns:v="urn:schemas-microsoft-com:vml" Requires="v">
                  <p:oleObj spid="_x0000_s12365" name="Equation" r:id="rId3" imgW="139680" imgH="177480" progId="Equation.3">
                    <p:embed/>
                  </p:oleObj>
                </mc:Choice>
                <mc:Fallback>
                  <p:oleObj name="Equation" r:id="rId3" imgW="139680" imgH="177480" progId="Equation.3">
                    <p:embed/>
                    <p:pic>
                      <p:nvPicPr>
                        <p:cNvPr id="6220" name="Object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6" y="2620"/>
                          <a:ext cx="194"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21" name="Text Box 77"/>
            <p:cNvSpPr txBox="1">
              <a:spLocks noChangeArrowheads="1"/>
            </p:cNvSpPr>
            <p:nvPr/>
          </p:nvSpPr>
          <p:spPr bwMode="auto">
            <a:xfrm>
              <a:off x="3811" y="3369"/>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x</a:t>
              </a:r>
              <a:r>
                <a:rPr lang="en-US" altLang="zh-CN" i="1">
                  <a:sym typeface="Symbol" panose="05050102010706020507" pitchFamily="18" charset="2"/>
                </a:rPr>
                <a:t>  </a:t>
              </a:r>
              <a:endParaRPr lang="en-US" altLang="zh-CN" i="1"/>
            </a:p>
          </p:txBody>
        </p:sp>
        <p:sp>
          <p:nvSpPr>
            <p:cNvPr id="6222" name="Text Box 78"/>
            <p:cNvSpPr txBox="1">
              <a:spLocks noChangeArrowheads="1"/>
            </p:cNvSpPr>
            <p:nvPr/>
          </p:nvSpPr>
          <p:spPr bwMode="auto">
            <a:xfrm>
              <a:off x="3331" y="2877"/>
              <a:ext cx="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y</a:t>
              </a:r>
              <a:r>
                <a:rPr lang="en-US" altLang="zh-CN" i="1">
                  <a:sym typeface="Symbol" panose="05050102010706020507" pitchFamily="18" charset="2"/>
                </a:rPr>
                <a:t>  </a:t>
              </a:r>
              <a:endParaRPr lang="en-US" altLang="zh-CN" i="1"/>
            </a:p>
          </p:txBody>
        </p:sp>
        <p:sp>
          <p:nvSpPr>
            <p:cNvPr id="6223" name="Text Box 79"/>
            <p:cNvSpPr txBox="1">
              <a:spLocks noChangeArrowheads="1"/>
            </p:cNvSpPr>
            <p:nvPr/>
          </p:nvSpPr>
          <p:spPr bwMode="auto">
            <a:xfrm>
              <a:off x="3410" y="3499"/>
              <a:ext cx="3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z</a:t>
              </a:r>
              <a:r>
                <a:rPr lang="en-US" altLang="zh-CN" i="1">
                  <a:sym typeface="Symbol" panose="05050102010706020507" pitchFamily="18" charset="2"/>
                </a:rPr>
                <a:t>  </a:t>
              </a:r>
              <a:endParaRPr lang="en-US" altLang="zh-CN" i="1"/>
            </a:p>
          </p:txBody>
        </p:sp>
        <p:sp>
          <p:nvSpPr>
            <p:cNvPr id="6224" name="Text Box 80"/>
            <p:cNvSpPr txBox="1">
              <a:spLocks noChangeArrowheads="1"/>
            </p:cNvSpPr>
            <p:nvPr/>
          </p:nvSpPr>
          <p:spPr bwMode="auto">
            <a:xfrm>
              <a:off x="3242" y="3194"/>
              <a:ext cx="3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O</a:t>
              </a:r>
              <a:r>
                <a:rPr lang="en-US" altLang="zh-CN" i="1">
                  <a:sym typeface="Symbol" panose="05050102010706020507" pitchFamily="18" charset="2"/>
                </a:rPr>
                <a:t>  </a:t>
              </a:r>
              <a:endParaRPr lang="en-US" altLang="zh-CN" i="1"/>
            </a:p>
          </p:txBody>
        </p:sp>
      </p:grpSp>
      <p:grpSp>
        <p:nvGrpSpPr>
          <p:cNvPr id="6227" name="Group 83"/>
          <p:cNvGrpSpPr>
            <a:grpSpLocks/>
          </p:cNvGrpSpPr>
          <p:nvPr/>
        </p:nvGrpSpPr>
        <p:grpSpPr bwMode="auto">
          <a:xfrm>
            <a:off x="3712978" y="1839432"/>
            <a:ext cx="1724025" cy="2376488"/>
            <a:chOff x="1716" y="2469"/>
            <a:chExt cx="1086" cy="1497"/>
          </a:xfrm>
        </p:grpSpPr>
        <p:grpSp>
          <p:nvGrpSpPr>
            <p:cNvPr id="6200" name="Group 56"/>
            <p:cNvGrpSpPr>
              <a:grpSpLocks/>
            </p:cNvGrpSpPr>
            <p:nvPr/>
          </p:nvGrpSpPr>
          <p:grpSpPr bwMode="auto">
            <a:xfrm>
              <a:off x="1716" y="2469"/>
              <a:ext cx="1086" cy="1497"/>
              <a:chOff x="254" y="2496"/>
              <a:chExt cx="1086" cy="1497"/>
            </a:xfrm>
          </p:grpSpPr>
          <p:grpSp>
            <p:nvGrpSpPr>
              <p:cNvPr id="6201" name="Group 57"/>
              <p:cNvGrpSpPr>
                <a:grpSpLocks/>
              </p:cNvGrpSpPr>
              <p:nvPr/>
            </p:nvGrpSpPr>
            <p:grpSpPr bwMode="auto">
              <a:xfrm>
                <a:off x="254" y="2629"/>
                <a:ext cx="1067" cy="1248"/>
                <a:chOff x="254" y="2629"/>
                <a:chExt cx="1067" cy="1248"/>
              </a:xfrm>
            </p:grpSpPr>
            <p:sp>
              <p:nvSpPr>
                <p:cNvPr id="6202" name="Line 58"/>
                <p:cNvSpPr>
                  <a:spLocks noChangeShapeType="1"/>
                </p:cNvSpPr>
                <p:nvPr/>
              </p:nvSpPr>
              <p:spPr bwMode="auto">
                <a:xfrm>
                  <a:off x="620" y="3434"/>
                  <a:ext cx="701" cy="2"/>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03" name="Line 59"/>
                <p:cNvSpPr>
                  <a:spLocks noChangeShapeType="1"/>
                </p:cNvSpPr>
                <p:nvPr/>
              </p:nvSpPr>
              <p:spPr bwMode="auto">
                <a:xfrm flipH="1">
                  <a:off x="254" y="3434"/>
                  <a:ext cx="366" cy="443"/>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04" name="Line 60"/>
                <p:cNvSpPr>
                  <a:spLocks noChangeShapeType="1"/>
                </p:cNvSpPr>
                <p:nvPr/>
              </p:nvSpPr>
              <p:spPr bwMode="auto">
                <a:xfrm flipV="1">
                  <a:off x="620" y="2629"/>
                  <a:ext cx="0" cy="805"/>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205" name="Text Box 61"/>
              <p:cNvSpPr txBox="1">
                <a:spLocks noChangeArrowheads="1"/>
              </p:cNvSpPr>
              <p:nvPr/>
            </p:nvSpPr>
            <p:spPr bwMode="auto">
              <a:xfrm>
                <a:off x="405" y="2564"/>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y</a:t>
                </a:r>
              </a:p>
            </p:txBody>
          </p:sp>
          <p:sp>
            <p:nvSpPr>
              <p:cNvPr id="6206" name="Text Box 62"/>
              <p:cNvSpPr txBox="1">
                <a:spLocks noChangeArrowheads="1"/>
              </p:cNvSpPr>
              <p:nvPr/>
            </p:nvSpPr>
            <p:spPr bwMode="auto">
              <a:xfrm>
                <a:off x="282" y="3705"/>
                <a:ext cx="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z</a:t>
                </a:r>
              </a:p>
            </p:txBody>
          </p:sp>
          <p:sp>
            <p:nvSpPr>
              <p:cNvPr id="6207" name="Text Box 63"/>
              <p:cNvSpPr txBox="1">
                <a:spLocks noChangeArrowheads="1"/>
              </p:cNvSpPr>
              <p:nvPr/>
            </p:nvSpPr>
            <p:spPr bwMode="auto">
              <a:xfrm>
                <a:off x="1128" y="343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x</a:t>
                </a:r>
              </a:p>
            </p:txBody>
          </p:sp>
          <p:sp>
            <p:nvSpPr>
              <p:cNvPr id="6208" name="Text Box 64"/>
              <p:cNvSpPr txBox="1">
                <a:spLocks noChangeArrowheads="1"/>
              </p:cNvSpPr>
              <p:nvPr/>
            </p:nvSpPr>
            <p:spPr bwMode="auto">
              <a:xfrm>
                <a:off x="360" y="3242"/>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0000FF"/>
                    </a:solidFill>
                  </a:rPr>
                  <a:t>O</a:t>
                </a:r>
              </a:p>
            </p:txBody>
          </p:sp>
          <p:sp>
            <p:nvSpPr>
              <p:cNvPr id="6209" name="Text Box 65"/>
              <p:cNvSpPr txBox="1">
                <a:spLocks noChangeArrowheads="1"/>
              </p:cNvSpPr>
              <p:nvPr/>
            </p:nvSpPr>
            <p:spPr bwMode="auto">
              <a:xfrm>
                <a:off x="676" y="2496"/>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FF"/>
                    </a:solidFill>
                  </a:rPr>
                  <a:t>S</a:t>
                </a:r>
              </a:p>
            </p:txBody>
          </p:sp>
        </p:grpSp>
        <p:sp>
          <p:nvSpPr>
            <p:cNvPr id="6225" name="Text Box 81"/>
            <p:cNvSpPr txBox="1">
              <a:spLocks noChangeArrowheads="1"/>
            </p:cNvSpPr>
            <p:nvPr/>
          </p:nvSpPr>
          <p:spPr bwMode="auto">
            <a:xfrm>
              <a:off x="2151" y="2588"/>
              <a:ext cx="501"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5400">
                  <a:solidFill>
                    <a:srgbClr val="0000FF"/>
                  </a:solidFill>
                  <a:sym typeface="Wingdings 2" panose="05020102010507070707" pitchFamily="18" charset="2"/>
                </a:rPr>
                <a:t></a:t>
              </a:r>
            </a:p>
          </p:txBody>
        </p:sp>
      </p:grpSp>
      <p:graphicFrame>
        <p:nvGraphicFramePr>
          <p:cNvPr id="6229" name="Object 85"/>
          <p:cNvGraphicFramePr>
            <a:graphicFrameLocks noChangeAspect="1"/>
          </p:cNvGraphicFramePr>
          <p:nvPr>
            <p:extLst>
              <p:ext uri="{D42A27DB-BD31-4B8C-83A1-F6EECF244321}">
                <p14:modId xmlns:p14="http://schemas.microsoft.com/office/powerpoint/2010/main" val="299065475"/>
              </p:ext>
            </p:extLst>
          </p:nvPr>
        </p:nvGraphicFramePr>
        <p:xfrm>
          <a:off x="2643003" y="4520570"/>
          <a:ext cx="3759200" cy="484188"/>
        </p:xfrm>
        <a:graphic>
          <a:graphicData uri="http://schemas.openxmlformats.org/presentationml/2006/ole">
            <mc:AlternateContent xmlns:mc="http://schemas.openxmlformats.org/markup-compatibility/2006">
              <mc:Choice xmlns:v="urn:schemas-microsoft-com:vml" Requires="v">
                <p:oleObj spid="_x0000_s12366" name="Equation" r:id="rId5" imgW="1676160" imgH="215640" progId="Equation.3">
                  <p:embed/>
                </p:oleObj>
              </mc:Choice>
              <mc:Fallback>
                <p:oleObj name="Equation" r:id="rId5" imgW="1676160" imgH="215640" progId="Equation.3">
                  <p:embed/>
                  <p:pic>
                    <p:nvPicPr>
                      <p:cNvPr id="6229" name="Object 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3003" y="4520570"/>
                        <a:ext cx="3759200"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235" name="Group 91"/>
          <p:cNvGrpSpPr>
            <a:grpSpLocks/>
          </p:cNvGrpSpPr>
          <p:nvPr/>
        </p:nvGrpSpPr>
        <p:grpSpPr bwMode="auto">
          <a:xfrm>
            <a:off x="1446028" y="2144232"/>
            <a:ext cx="1468438" cy="1852613"/>
            <a:chOff x="853" y="2205"/>
            <a:chExt cx="925" cy="1167"/>
          </a:xfrm>
        </p:grpSpPr>
        <p:sp>
          <p:nvSpPr>
            <p:cNvPr id="6160" name="Text Box 16"/>
            <p:cNvSpPr txBox="1">
              <a:spLocks noChangeArrowheads="1"/>
            </p:cNvSpPr>
            <p:nvPr/>
          </p:nvSpPr>
          <p:spPr bwMode="auto">
            <a:xfrm>
              <a:off x="1262" y="2459"/>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S</a:t>
              </a:r>
              <a:r>
                <a:rPr lang="en-US" altLang="zh-CN" i="1">
                  <a:sym typeface="Symbol" panose="05050102010706020507" pitchFamily="18" charset="2"/>
                </a:rPr>
                <a:t></a:t>
              </a:r>
              <a:endParaRPr lang="en-US" altLang="zh-CN"/>
            </a:p>
          </p:txBody>
        </p:sp>
        <p:grpSp>
          <p:nvGrpSpPr>
            <p:cNvPr id="6234" name="Group 90"/>
            <p:cNvGrpSpPr>
              <a:grpSpLocks/>
            </p:cNvGrpSpPr>
            <p:nvPr/>
          </p:nvGrpSpPr>
          <p:grpSpPr bwMode="auto">
            <a:xfrm>
              <a:off x="853" y="2205"/>
              <a:ext cx="925" cy="1167"/>
              <a:chOff x="853" y="2205"/>
              <a:chExt cx="925" cy="1167"/>
            </a:xfrm>
          </p:grpSpPr>
          <p:grpSp>
            <p:nvGrpSpPr>
              <p:cNvPr id="6233" name="Group 89"/>
              <p:cNvGrpSpPr>
                <a:grpSpLocks/>
              </p:cNvGrpSpPr>
              <p:nvPr/>
            </p:nvGrpSpPr>
            <p:grpSpPr bwMode="auto">
              <a:xfrm>
                <a:off x="942" y="2205"/>
                <a:ext cx="836" cy="1167"/>
                <a:chOff x="942" y="2205"/>
                <a:chExt cx="836" cy="1167"/>
              </a:xfrm>
            </p:grpSpPr>
            <p:sp>
              <p:nvSpPr>
                <p:cNvPr id="6166" name="AutoShape 22"/>
                <p:cNvSpPr>
                  <a:spLocks noChangeArrowheads="1"/>
                </p:cNvSpPr>
                <p:nvPr/>
              </p:nvSpPr>
              <p:spPr bwMode="auto">
                <a:xfrm>
                  <a:off x="1088" y="2877"/>
                  <a:ext cx="214" cy="213"/>
                </a:xfrm>
                <a:prstGeom prst="sun">
                  <a:avLst>
                    <a:gd name="adj" fmla="val 46875"/>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232" name="Group 88"/>
                <p:cNvGrpSpPr>
                  <a:grpSpLocks/>
                </p:cNvGrpSpPr>
                <p:nvPr/>
              </p:nvGrpSpPr>
              <p:grpSpPr bwMode="auto">
                <a:xfrm>
                  <a:off x="960" y="2475"/>
                  <a:ext cx="672" cy="776"/>
                  <a:chOff x="960" y="2475"/>
                  <a:chExt cx="672" cy="776"/>
                </a:xfrm>
              </p:grpSpPr>
              <p:sp>
                <p:nvSpPr>
                  <p:cNvPr id="6152" name="Line 8"/>
                  <p:cNvSpPr>
                    <a:spLocks noChangeShapeType="1"/>
                  </p:cNvSpPr>
                  <p:nvPr/>
                </p:nvSpPr>
                <p:spPr bwMode="auto">
                  <a:xfrm>
                    <a:off x="1193" y="2976"/>
                    <a:ext cx="439" cy="8"/>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Line 10"/>
                  <p:cNvSpPr>
                    <a:spLocks noChangeShapeType="1"/>
                  </p:cNvSpPr>
                  <p:nvPr/>
                </p:nvSpPr>
                <p:spPr bwMode="auto">
                  <a:xfrm flipH="1">
                    <a:off x="960" y="2976"/>
                    <a:ext cx="233" cy="275"/>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5" name="Line 11"/>
                  <p:cNvSpPr>
                    <a:spLocks noChangeShapeType="1"/>
                  </p:cNvSpPr>
                  <p:nvPr/>
                </p:nvSpPr>
                <p:spPr bwMode="auto">
                  <a:xfrm flipV="1">
                    <a:off x="1193" y="2475"/>
                    <a:ext cx="0" cy="501"/>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72" name="Line 28"/>
                <p:cNvSpPr>
                  <a:spLocks noChangeShapeType="1"/>
                </p:cNvSpPr>
                <p:nvPr/>
              </p:nvSpPr>
              <p:spPr bwMode="auto">
                <a:xfrm flipV="1">
                  <a:off x="1265" y="2450"/>
                  <a:ext cx="305" cy="22"/>
                </a:xfrm>
                <a:prstGeom prst="line">
                  <a:avLst/>
                </a:prstGeom>
                <a:noFill/>
                <a:ln w="317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73" name="Object 29"/>
                <p:cNvGraphicFramePr>
                  <a:graphicFrameLocks noChangeAspect="1"/>
                </p:cNvGraphicFramePr>
                <p:nvPr/>
              </p:nvGraphicFramePr>
              <p:xfrm>
                <a:off x="1447" y="2205"/>
                <a:ext cx="194" cy="247"/>
              </p:xfrm>
              <a:graphic>
                <a:graphicData uri="http://schemas.openxmlformats.org/presentationml/2006/ole">
                  <mc:AlternateContent xmlns:mc="http://schemas.openxmlformats.org/markup-compatibility/2006">
                    <mc:Choice xmlns:v="urn:schemas-microsoft-com:vml" Requires="v">
                      <p:oleObj spid="_x0000_s12367" name="Equation" r:id="rId7" imgW="139680" imgH="177480" progId="Equation.3">
                        <p:embed/>
                      </p:oleObj>
                    </mc:Choice>
                    <mc:Fallback>
                      <p:oleObj name="Equation" r:id="rId7" imgW="139680" imgH="177480" progId="Equation.3">
                        <p:embed/>
                        <p:pic>
                          <p:nvPicPr>
                            <p:cNvPr id="6173"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 y="2205"/>
                              <a:ext cx="194"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74" name="Text Box 30"/>
                <p:cNvSpPr txBox="1">
                  <a:spLocks noChangeArrowheads="1"/>
                </p:cNvSpPr>
                <p:nvPr/>
              </p:nvSpPr>
              <p:spPr bwMode="auto">
                <a:xfrm>
                  <a:off x="1422" y="2954"/>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x</a:t>
                  </a:r>
                  <a:r>
                    <a:rPr lang="en-US" altLang="zh-CN" i="1">
                      <a:sym typeface="Symbol" panose="05050102010706020507" pitchFamily="18" charset="2"/>
                    </a:rPr>
                    <a:t>  </a:t>
                  </a:r>
                  <a:endParaRPr lang="en-US" altLang="zh-CN" i="1"/>
                </a:p>
              </p:txBody>
            </p:sp>
            <p:sp>
              <p:nvSpPr>
                <p:cNvPr id="6179" name="Text Box 35"/>
                <p:cNvSpPr txBox="1">
                  <a:spLocks noChangeArrowheads="1"/>
                </p:cNvSpPr>
                <p:nvPr/>
              </p:nvSpPr>
              <p:spPr bwMode="auto">
                <a:xfrm>
                  <a:off x="942" y="246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y</a:t>
                  </a:r>
                  <a:r>
                    <a:rPr lang="en-US" altLang="zh-CN" i="1">
                      <a:sym typeface="Symbol" panose="05050102010706020507" pitchFamily="18" charset="2"/>
                    </a:rPr>
                    <a:t> </a:t>
                  </a:r>
                  <a:endParaRPr lang="en-US" altLang="zh-CN" i="1"/>
                </a:p>
              </p:txBody>
            </p:sp>
            <p:sp>
              <p:nvSpPr>
                <p:cNvPr id="6180" name="Text Box 36"/>
                <p:cNvSpPr txBox="1">
                  <a:spLocks noChangeArrowheads="1"/>
                </p:cNvSpPr>
                <p:nvPr/>
              </p:nvSpPr>
              <p:spPr bwMode="auto">
                <a:xfrm>
                  <a:off x="1021" y="3084"/>
                  <a:ext cx="3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z</a:t>
                  </a:r>
                  <a:r>
                    <a:rPr lang="en-US" altLang="zh-CN" i="1">
                      <a:sym typeface="Symbol" panose="05050102010706020507" pitchFamily="18" charset="2"/>
                    </a:rPr>
                    <a:t>  </a:t>
                  </a:r>
                  <a:endParaRPr lang="en-US" altLang="zh-CN" i="1"/>
                </a:p>
              </p:txBody>
            </p:sp>
          </p:grpSp>
          <p:sp>
            <p:nvSpPr>
              <p:cNvPr id="6183" name="Text Box 39"/>
              <p:cNvSpPr txBox="1">
                <a:spLocks noChangeArrowheads="1"/>
              </p:cNvSpPr>
              <p:nvPr/>
            </p:nvSpPr>
            <p:spPr bwMode="auto">
              <a:xfrm>
                <a:off x="853" y="2779"/>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O</a:t>
                </a:r>
                <a:r>
                  <a:rPr lang="en-US" altLang="zh-CN" i="1">
                    <a:sym typeface="Symbol" panose="05050102010706020507" pitchFamily="18" charset="2"/>
                  </a:rPr>
                  <a:t> </a:t>
                </a:r>
                <a:endParaRPr lang="en-US" altLang="zh-CN" i="1"/>
              </a:p>
            </p:txBody>
          </p:sp>
        </p:grpSp>
      </p:grpSp>
      <p:sp>
        <p:nvSpPr>
          <p:cNvPr id="57" name="矩形 56"/>
          <p:cNvSpPr/>
          <p:nvPr/>
        </p:nvSpPr>
        <p:spPr>
          <a:xfrm>
            <a:off x="464100" y="569879"/>
            <a:ext cx="3262432" cy="461665"/>
          </a:xfrm>
          <a:prstGeom prst="rect">
            <a:avLst/>
          </a:prstGeom>
        </p:spPr>
        <p:txBody>
          <a:bodyPr wrap="none">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洛伦兹变换的简单推导</a:t>
            </a:r>
            <a:endParaRPr lang="zh-CN" altLang="en-US" sz="2400" dirty="0"/>
          </a:p>
        </p:txBody>
      </p:sp>
    </p:spTree>
    <p:extLst>
      <p:ext uri="{BB962C8B-B14F-4D97-AF65-F5344CB8AC3E}">
        <p14:creationId xmlns:p14="http://schemas.microsoft.com/office/powerpoint/2010/main" val="2045777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31"/>
                                        </p:tgtEl>
                                        <p:attrNameLst>
                                          <p:attrName>style.visibility</p:attrName>
                                        </p:attrNameLst>
                                      </p:cBhvr>
                                      <p:to>
                                        <p:strVal val="visible"/>
                                      </p:to>
                                    </p:set>
                                    <p:animEffect transition="in" filter="wipe(left)">
                                      <p:cBhvr>
                                        <p:cTn id="7" dur="500"/>
                                        <p:tgtEl>
                                          <p:spTgt spid="62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35"/>
                                        </p:tgtEl>
                                        <p:attrNameLst>
                                          <p:attrName>style.visibility</p:attrName>
                                        </p:attrNameLst>
                                      </p:cBhvr>
                                      <p:to>
                                        <p:strVal val="visible"/>
                                      </p:to>
                                    </p:set>
                                    <p:animEffect transition="in" filter="wipe(left)">
                                      <p:cBhvr>
                                        <p:cTn id="12" dur="500"/>
                                        <p:tgtEl>
                                          <p:spTgt spid="62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27"/>
                                        </p:tgtEl>
                                        <p:attrNameLst>
                                          <p:attrName>style.visibility</p:attrName>
                                        </p:attrNameLst>
                                      </p:cBhvr>
                                      <p:to>
                                        <p:strVal val="visible"/>
                                      </p:to>
                                    </p:set>
                                    <p:animEffect transition="in" filter="wipe(left)">
                                      <p:cBhvr>
                                        <p:cTn id="17" dur="500"/>
                                        <p:tgtEl>
                                          <p:spTgt spid="62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26"/>
                                        </p:tgtEl>
                                        <p:attrNameLst>
                                          <p:attrName>style.visibility</p:attrName>
                                        </p:attrNameLst>
                                      </p:cBhvr>
                                      <p:to>
                                        <p:strVal val="visible"/>
                                      </p:to>
                                    </p:set>
                                    <p:animEffect transition="in" filter="wipe(left)">
                                      <p:cBhvr>
                                        <p:cTn id="22" dur="500"/>
                                        <p:tgtEl>
                                          <p:spTgt spid="62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229"/>
                                        </p:tgtEl>
                                        <p:attrNameLst>
                                          <p:attrName>style.visibility</p:attrName>
                                        </p:attrNameLst>
                                      </p:cBhvr>
                                      <p:to>
                                        <p:strVal val="visible"/>
                                      </p:to>
                                    </p:set>
                                    <p:animEffect transition="in" filter="wipe(left)">
                                      <p:cBhvr>
                                        <p:cTn id="27" dur="500"/>
                                        <p:tgtEl>
                                          <p:spTgt spid="6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2" name="Object 4"/>
          <p:cNvGraphicFramePr>
            <a:graphicFrameLocks noChangeAspect="1"/>
          </p:cNvGraphicFramePr>
          <p:nvPr>
            <p:extLst>
              <p:ext uri="{D42A27DB-BD31-4B8C-83A1-F6EECF244321}">
                <p14:modId xmlns:p14="http://schemas.microsoft.com/office/powerpoint/2010/main" val="14058785"/>
              </p:ext>
            </p:extLst>
          </p:nvPr>
        </p:nvGraphicFramePr>
        <p:xfrm>
          <a:off x="3200400" y="2279650"/>
          <a:ext cx="3200400" cy="539750"/>
        </p:xfrm>
        <a:graphic>
          <a:graphicData uri="http://schemas.openxmlformats.org/presentationml/2006/ole">
            <mc:AlternateContent xmlns:mc="http://schemas.openxmlformats.org/markup-compatibility/2006">
              <mc:Choice xmlns:v="urn:schemas-microsoft-com:vml" Requires="v">
                <p:oleObj spid="_x0000_s13464" name="Equation" r:id="rId3" imgW="1434960" imgH="241200" progId="Equation.3">
                  <p:embed/>
                </p:oleObj>
              </mc:Choice>
              <mc:Fallback>
                <p:oleObj name="Equation" r:id="rId3" imgW="1434960" imgH="241200" progId="Equation.3">
                  <p:embed/>
                  <p:pic>
                    <p:nvPicPr>
                      <p:cNvPr id="71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279650"/>
                        <a:ext cx="320040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5"/>
          <p:cNvGraphicFramePr>
            <a:graphicFrameLocks noChangeAspect="1"/>
          </p:cNvGraphicFramePr>
          <p:nvPr>
            <p:extLst>
              <p:ext uri="{D42A27DB-BD31-4B8C-83A1-F6EECF244321}">
                <p14:modId xmlns:p14="http://schemas.microsoft.com/office/powerpoint/2010/main" val="3176783510"/>
              </p:ext>
            </p:extLst>
          </p:nvPr>
        </p:nvGraphicFramePr>
        <p:xfrm>
          <a:off x="2971800" y="4953000"/>
          <a:ext cx="3733800" cy="573088"/>
        </p:xfrm>
        <a:graphic>
          <a:graphicData uri="http://schemas.openxmlformats.org/presentationml/2006/ole">
            <mc:AlternateContent xmlns:mc="http://schemas.openxmlformats.org/markup-compatibility/2006">
              <mc:Choice xmlns:v="urn:schemas-microsoft-com:vml" Requires="v">
                <p:oleObj spid="_x0000_s13465" name="Equation" r:id="rId5" imgW="1574640" imgH="241200" progId="Equation.3">
                  <p:embed/>
                </p:oleObj>
              </mc:Choice>
              <mc:Fallback>
                <p:oleObj name="Equation" r:id="rId5" imgW="1574640" imgH="241200" progId="Equation.3">
                  <p:embed/>
                  <p:pic>
                    <p:nvPicPr>
                      <p:cNvPr id="717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4953000"/>
                        <a:ext cx="3733800"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5" name="Text Box 7"/>
          <p:cNvSpPr txBox="1">
            <a:spLocks noChangeArrowheads="1"/>
          </p:cNvSpPr>
          <p:nvPr/>
        </p:nvSpPr>
        <p:spPr bwMode="auto">
          <a:xfrm>
            <a:off x="1066800" y="533400"/>
            <a:ext cx="6934200"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5000"/>
              </a:lnSpc>
            </a:pPr>
            <a:r>
              <a:rPr lang="zh-CN" altLang="en-US" sz="2400">
                <a:latin typeface="Arial" panose="020B0604020202020204" pitchFamily="34" charset="0"/>
                <a:ea typeface="黑体" panose="02010609060101010101" pitchFamily="49" charset="-122"/>
                <a:cs typeface="Arial" panose="020B0604020202020204" pitchFamily="34" charset="0"/>
              </a:rPr>
              <a:t>对于</a:t>
            </a:r>
            <a:r>
              <a:rPr lang="en-US" altLang="zh-CN" sz="2400">
                <a:latin typeface="Arial" panose="020B0604020202020204" pitchFamily="34" charset="0"/>
                <a:ea typeface="黑体" panose="02010609060101010101" pitchFamily="49" charset="-122"/>
                <a:cs typeface="Arial" panose="020B0604020202020204" pitchFamily="34" charset="0"/>
              </a:rPr>
              <a:t>S</a:t>
            </a:r>
            <a:r>
              <a:rPr lang="zh-CN" altLang="en-US" sz="2400">
                <a:latin typeface="Arial" panose="020B0604020202020204" pitchFamily="34" charset="0"/>
                <a:ea typeface="黑体" panose="02010609060101010101" pitchFamily="49" charset="-122"/>
                <a:cs typeface="Arial" panose="020B0604020202020204" pitchFamily="34" charset="0"/>
              </a:rPr>
              <a:t>系而言，其波面</a:t>
            </a:r>
            <a:r>
              <a:rPr lang="en-US" altLang="zh-CN" sz="2400">
                <a:latin typeface="Arial" panose="020B0604020202020204" pitchFamily="34" charset="0"/>
                <a:ea typeface="黑体" panose="02010609060101010101" pitchFamily="49" charset="-122"/>
                <a:cs typeface="Arial" panose="020B0604020202020204" pitchFamily="34" charset="0"/>
              </a:rPr>
              <a:t>(</a:t>
            </a:r>
            <a:r>
              <a:rPr lang="zh-CN" altLang="en-US" sz="2400">
                <a:latin typeface="Arial" panose="020B0604020202020204" pitchFamily="34" charset="0"/>
                <a:ea typeface="黑体" panose="02010609060101010101" pitchFamily="49" charset="-122"/>
                <a:cs typeface="Arial" panose="020B0604020202020204" pitchFamily="34" charset="0"/>
              </a:rPr>
              <a:t>波前</a:t>
            </a:r>
            <a:r>
              <a:rPr lang="en-US" altLang="zh-CN" sz="2400">
                <a:latin typeface="Arial" panose="020B0604020202020204" pitchFamily="34" charset="0"/>
                <a:ea typeface="黑体" panose="02010609060101010101" pitchFamily="49" charset="-122"/>
                <a:cs typeface="Arial" panose="020B0604020202020204" pitchFamily="34" charset="0"/>
              </a:rPr>
              <a:t>)</a:t>
            </a:r>
            <a:r>
              <a:rPr lang="zh-CN" altLang="en-US" sz="2400">
                <a:latin typeface="Arial" panose="020B0604020202020204" pitchFamily="34" charset="0"/>
                <a:ea typeface="黑体" panose="02010609060101010101" pitchFamily="49" charset="-122"/>
                <a:cs typeface="Arial" panose="020B0604020202020204" pitchFamily="34" charset="0"/>
              </a:rPr>
              <a:t>到达</a:t>
            </a:r>
            <a:r>
              <a:rPr lang="en-US" altLang="zh-CN" sz="2400">
                <a:latin typeface="Arial" panose="020B0604020202020204" pitchFamily="34" charset="0"/>
                <a:ea typeface="黑体" panose="02010609060101010101" pitchFamily="49" charset="-122"/>
                <a:cs typeface="Arial" panose="020B0604020202020204" pitchFamily="34" charset="0"/>
              </a:rPr>
              <a:t>(</a:t>
            </a:r>
            <a:r>
              <a:rPr lang="en-US" altLang="zh-CN" sz="2400" i="1">
                <a:latin typeface="Arial" panose="020B0604020202020204" pitchFamily="34" charset="0"/>
                <a:ea typeface="黑体" panose="02010609060101010101" pitchFamily="49" charset="-122"/>
                <a:cs typeface="Arial" panose="020B0604020202020204" pitchFamily="34" charset="0"/>
              </a:rPr>
              <a:t>x</a:t>
            </a:r>
            <a:r>
              <a:rPr lang="zh-CN" altLang="en-US" sz="2400">
                <a:latin typeface="Arial" panose="020B0604020202020204" pitchFamily="34" charset="0"/>
                <a:ea typeface="黑体" panose="02010609060101010101" pitchFamily="49" charset="-122"/>
                <a:cs typeface="Arial" panose="020B0604020202020204" pitchFamily="34" charset="0"/>
              </a:rPr>
              <a:t>，</a:t>
            </a:r>
            <a:r>
              <a:rPr lang="en-US" altLang="zh-CN" sz="2400" i="1">
                <a:latin typeface="Arial" panose="020B0604020202020204" pitchFamily="34" charset="0"/>
                <a:ea typeface="黑体" panose="02010609060101010101" pitchFamily="49" charset="-122"/>
                <a:cs typeface="Arial" panose="020B0604020202020204" pitchFamily="34" charset="0"/>
              </a:rPr>
              <a:t>y</a:t>
            </a:r>
            <a:r>
              <a:rPr lang="zh-CN" altLang="en-US" sz="2400">
                <a:latin typeface="Arial" panose="020B0604020202020204" pitchFamily="34" charset="0"/>
                <a:ea typeface="黑体" panose="02010609060101010101" pitchFamily="49" charset="-122"/>
                <a:cs typeface="Arial" panose="020B0604020202020204" pitchFamily="34" charset="0"/>
              </a:rPr>
              <a:t>，</a:t>
            </a:r>
            <a:r>
              <a:rPr lang="en-US" altLang="zh-CN" sz="2400" i="1">
                <a:latin typeface="Arial" panose="020B0604020202020204" pitchFamily="34" charset="0"/>
                <a:ea typeface="黑体" panose="02010609060101010101" pitchFamily="49" charset="-122"/>
                <a:cs typeface="Arial" panose="020B0604020202020204" pitchFamily="34" charset="0"/>
              </a:rPr>
              <a:t>z</a:t>
            </a:r>
            <a:r>
              <a:rPr lang="en-US" altLang="zh-CN" sz="2400">
                <a:latin typeface="Arial" panose="020B0604020202020204" pitchFamily="34" charset="0"/>
                <a:ea typeface="黑体" panose="02010609060101010101" pitchFamily="49" charset="-122"/>
                <a:cs typeface="Arial" panose="020B0604020202020204" pitchFamily="34" charset="0"/>
              </a:rPr>
              <a:t>)</a:t>
            </a:r>
            <a:r>
              <a:rPr lang="zh-CN" altLang="en-US" sz="2400">
                <a:latin typeface="Arial" panose="020B0604020202020204" pitchFamily="34" charset="0"/>
                <a:ea typeface="黑体" panose="02010609060101010101" pitchFamily="49" charset="-122"/>
                <a:cs typeface="Arial" panose="020B0604020202020204" pitchFamily="34" charset="0"/>
              </a:rPr>
              <a:t>处所需时间为：</a:t>
            </a:r>
          </a:p>
        </p:txBody>
      </p:sp>
      <p:graphicFrame>
        <p:nvGraphicFramePr>
          <p:cNvPr id="7176" name="Object 8"/>
          <p:cNvGraphicFramePr>
            <a:graphicFrameLocks noChangeAspect="1"/>
          </p:cNvGraphicFramePr>
          <p:nvPr>
            <p:extLst>
              <p:ext uri="{D42A27DB-BD31-4B8C-83A1-F6EECF244321}">
                <p14:modId xmlns:p14="http://schemas.microsoft.com/office/powerpoint/2010/main" val="953328780"/>
              </p:ext>
            </p:extLst>
          </p:nvPr>
        </p:nvGraphicFramePr>
        <p:xfrm>
          <a:off x="3505200" y="1295400"/>
          <a:ext cx="2209800" cy="833438"/>
        </p:xfrm>
        <a:graphic>
          <a:graphicData uri="http://schemas.openxmlformats.org/presentationml/2006/ole">
            <mc:AlternateContent xmlns:mc="http://schemas.openxmlformats.org/markup-compatibility/2006">
              <mc:Choice xmlns:v="urn:schemas-microsoft-com:vml" Requires="v">
                <p:oleObj spid="_x0000_s13466" name="公式" r:id="rId7" imgW="2679480" imgH="927000" progId="Equation.3">
                  <p:embed/>
                </p:oleObj>
              </mc:Choice>
              <mc:Fallback>
                <p:oleObj name="公式" r:id="rId7" imgW="2679480" imgH="927000" progId="Equation.3">
                  <p:embed/>
                  <p:pic>
                    <p:nvPicPr>
                      <p:cNvPr id="717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1295400"/>
                        <a:ext cx="2209800" cy="833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7" name="AutoShape 9"/>
          <p:cNvSpPr>
            <a:spLocks noChangeArrowheads="1"/>
          </p:cNvSpPr>
          <p:nvPr/>
        </p:nvSpPr>
        <p:spPr bwMode="auto">
          <a:xfrm>
            <a:off x="1295400" y="2444750"/>
            <a:ext cx="609600" cy="228600"/>
          </a:xfrm>
          <a:prstGeom prst="rightArrow">
            <a:avLst>
              <a:gd name="adj1" fmla="val 50000"/>
              <a:gd name="adj2" fmla="val 6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grpSp>
        <p:nvGrpSpPr>
          <p:cNvPr id="7184" name="Group 16"/>
          <p:cNvGrpSpPr>
            <a:grpSpLocks/>
          </p:cNvGrpSpPr>
          <p:nvPr/>
        </p:nvGrpSpPr>
        <p:grpSpPr bwMode="auto">
          <a:xfrm>
            <a:off x="1219200" y="2819405"/>
            <a:ext cx="6934200" cy="1089027"/>
            <a:chOff x="768" y="1776"/>
            <a:chExt cx="4368" cy="686"/>
          </a:xfrm>
        </p:grpSpPr>
        <p:sp>
          <p:nvSpPr>
            <p:cNvPr id="7179" name="Text Box 11"/>
            <p:cNvSpPr txBox="1">
              <a:spLocks noChangeArrowheads="1"/>
            </p:cNvSpPr>
            <p:nvPr/>
          </p:nvSpPr>
          <p:spPr bwMode="auto">
            <a:xfrm>
              <a:off x="768" y="1776"/>
              <a:ext cx="4368" cy="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5000"/>
                </a:lnSpc>
              </a:pPr>
              <a:r>
                <a:rPr lang="zh-CN" altLang="en-US" sz="2400">
                  <a:latin typeface="Arial" panose="020B0604020202020204" pitchFamily="34" charset="0"/>
                  <a:ea typeface="黑体" panose="02010609060101010101" pitchFamily="49" charset="-122"/>
                  <a:cs typeface="Arial" panose="020B0604020202020204" pitchFamily="34" charset="0"/>
                </a:rPr>
                <a:t>对于   系而言，其波面（波前）到达</a:t>
              </a:r>
            </a:p>
            <a:p>
              <a:pPr>
                <a:lnSpc>
                  <a:spcPct val="135000"/>
                </a:lnSpc>
              </a:pPr>
              <a:r>
                <a:rPr lang="zh-CN" altLang="en-US" sz="2400">
                  <a:latin typeface="Arial" panose="020B0604020202020204" pitchFamily="34" charset="0"/>
                  <a:ea typeface="黑体" panose="02010609060101010101" pitchFamily="49" charset="-122"/>
                  <a:cs typeface="Arial" panose="020B0604020202020204" pitchFamily="34" charset="0"/>
                </a:rPr>
                <a:t>处所需时间，根据光速不变原理得</a:t>
              </a:r>
              <a:endParaRPr lang="zh-CN" altLang="en-US" sz="2400" b="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7180" name="Object 12"/>
            <p:cNvGraphicFramePr>
              <a:graphicFrameLocks noChangeAspect="1"/>
            </p:cNvGraphicFramePr>
            <p:nvPr/>
          </p:nvGraphicFramePr>
          <p:xfrm>
            <a:off x="3888" y="1872"/>
            <a:ext cx="816" cy="236"/>
          </p:xfrm>
          <a:graphic>
            <a:graphicData uri="http://schemas.openxmlformats.org/presentationml/2006/ole">
              <mc:AlternateContent xmlns:mc="http://schemas.openxmlformats.org/markup-compatibility/2006">
                <mc:Choice xmlns:v="urn:schemas-microsoft-com:vml" Requires="v">
                  <p:oleObj spid="_x0000_s13467" name="公式" r:id="rId9" imgW="1409400" imgH="406080" progId="Equation.3">
                    <p:embed/>
                  </p:oleObj>
                </mc:Choice>
                <mc:Fallback>
                  <p:oleObj name="公式" r:id="rId9" imgW="1409400" imgH="406080" progId="Equation.3">
                    <p:embed/>
                    <p:pic>
                      <p:nvPicPr>
                        <p:cNvPr id="718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8" y="1872"/>
                          <a:ext cx="816"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1" name="Object 13"/>
            <p:cNvGraphicFramePr>
              <a:graphicFrameLocks noChangeAspect="1"/>
            </p:cNvGraphicFramePr>
            <p:nvPr/>
          </p:nvGraphicFramePr>
          <p:xfrm>
            <a:off x="1152" y="1872"/>
            <a:ext cx="224" cy="240"/>
          </p:xfrm>
          <a:graphic>
            <a:graphicData uri="http://schemas.openxmlformats.org/presentationml/2006/ole">
              <mc:AlternateContent xmlns:mc="http://schemas.openxmlformats.org/markup-compatibility/2006">
                <mc:Choice xmlns:v="urn:schemas-microsoft-com:vml" Requires="v">
                  <p:oleObj spid="_x0000_s13468" name="Equation" r:id="rId11" imgW="164880" imgH="177480" progId="Equation.3">
                    <p:embed/>
                  </p:oleObj>
                </mc:Choice>
                <mc:Fallback>
                  <p:oleObj name="Equation" r:id="rId11" imgW="164880" imgH="177480" progId="Equation.3">
                    <p:embed/>
                    <p:pic>
                      <p:nvPicPr>
                        <p:cNvPr id="7181"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52" y="1872"/>
                          <a:ext cx="22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183" name="Object 15"/>
          <p:cNvGraphicFramePr>
            <a:graphicFrameLocks noChangeAspect="1"/>
          </p:cNvGraphicFramePr>
          <p:nvPr>
            <p:extLst>
              <p:ext uri="{D42A27DB-BD31-4B8C-83A1-F6EECF244321}">
                <p14:modId xmlns:p14="http://schemas.microsoft.com/office/powerpoint/2010/main" val="1206037653"/>
              </p:ext>
            </p:extLst>
          </p:nvPr>
        </p:nvGraphicFramePr>
        <p:xfrm>
          <a:off x="3505200" y="4114800"/>
          <a:ext cx="2286000" cy="830263"/>
        </p:xfrm>
        <a:graphic>
          <a:graphicData uri="http://schemas.openxmlformats.org/presentationml/2006/ole">
            <mc:AlternateContent xmlns:mc="http://schemas.openxmlformats.org/markup-compatibility/2006">
              <mc:Choice xmlns:v="urn:schemas-microsoft-com:vml" Requires="v">
                <p:oleObj spid="_x0000_s13469" name="公式" r:id="rId13" imgW="3060360" imgH="927000" progId="Equation.3">
                  <p:embed/>
                </p:oleObj>
              </mc:Choice>
              <mc:Fallback>
                <p:oleObj name="公式" r:id="rId13" imgW="3060360" imgH="927000" progId="Equation.3">
                  <p:embed/>
                  <p:pic>
                    <p:nvPicPr>
                      <p:cNvPr id="7183"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05200" y="4114800"/>
                        <a:ext cx="2286000" cy="830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55018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5">
                                            <p:txEl>
                                              <p:pRg st="0" end="0"/>
                                            </p:txEl>
                                          </p:spTgt>
                                        </p:tgtEl>
                                        <p:attrNameLst>
                                          <p:attrName>style.visibility</p:attrName>
                                        </p:attrNameLst>
                                      </p:cBhvr>
                                      <p:to>
                                        <p:strVal val="visible"/>
                                      </p:to>
                                    </p:set>
                                    <p:animEffect transition="in" filter="wipe(left)">
                                      <p:cBhvr>
                                        <p:cTn id="7" dur="500"/>
                                        <p:tgtEl>
                                          <p:spTgt spid="71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76"/>
                                        </p:tgtEl>
                                        <p:attrNameLst>
                                          <p:attrName>style.visibility</p:attrName>
                                        </p:attrNameLst>
                                      </p:cBhvr>
                                      <p:to>
                                        <p:strVal val="visible"/>
                                      </p:to>
                                    </p:set>
                                    <p:animEffect transition="in" filter="wipe(left)">
                                      <p:cBhvr>
                                        <p:cTn id="12" dur="500"/>
                                        <p:tgtEl>
                                          <p:spTgt spid="71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177"/>
                                        </p:tgtEl>
                                        <p:attrNameLst>
                                          <p:attrName>style.visibility</p:attrName>
                                        </p:attrNameLst>
                                      </p:cBhvr>
                                      <p:to>
                                        <p:strVal val="visible"/>
                                      </p:to>
                                    </p:set>
                                    <p:animEffect transition="in" filter="wipe(left)">
                                      <p:cBhvr>
                                        <p:cTn id="17" dur="500"/>
                                        <p:tgtEl>
                                          <p:spTgt spid="71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72"/>
                                        </p:tgtEl>
                                        <p:attrNameLst>
                                          <p:attrName>style.visibility</p:attrName>
                                        </p:attrNameLst>
                                      </p:cBhvr>
                                      <p:to>
                                        <p:strVal val="visible"/>
                                      </p:to>
                                    </p:set>
                                    <p:animEffect transition="in" filter="wipe(left)">
                                      <p:cBhvr>
                                        <p:cTn id="22" dur="500"/>
                                        <p:tgtEl>
                                          <p:spTgt spid="71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84"/>
                                        </p:tgtEl>
                                        <p:attrNameLst>
                                          <p:attrName>style.visibility</p:attrName>
                                        </p:attrNameLst>
                                      </p:cBhvr>
                                      <p:to>
                                        <p:strVal val="visible"/>
                                      </p:to>
                                    </p:set>
                                    <p:animEffect transition="in" filter="wipe(left)">
                                      <p:cBhvr>
                                        <p:cTn id="27" dur="500"/>
                                        <p:tgtEl>
                                          <p:spTgt spid="71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83"/>
                                        </p:tgtEl>
                                        <p:attrNameLst>
                                          <p:attrName>style.visibility</p:attrName>
                                        </p:attrNameLst>
                                      </p:cBhvr>
                                      <p:to>
                                        <p:strVal val="visible"/>
                                      </p:to>
                                    </p:set>
                                    <p:animEffect transition="in" filter="wipe(left)">
                                      <p:cBhvr>
                                        <p:cTn id="32" dur="500"/>
                                        <p:tgtEl>
                                          <p:spTgt spid="718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73"/>
                                        </p:tgtEl>
                                        <p:attrNameLst>
                                          <p:attrName>style.visibility</p:attrName>
                                        </p:attrNameLst>
                                      </p:cBhvr>
                                      <p:to>
                                        <p:strVal val="visible"/>
                                      </p:to>
                                    </p:set>
                                    <p:animEffect transition="in" filter="wipe(left)">
                                      <p:cBhvr>
                                        <p:cTn id="37"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7" name="Object 3"/>
          <p:cNvGraphicFramePr>
            <a:graphicFrameLocks noChangeAspect="1"/>
          </p:cNvGraphicFramePr>
          <p:nvPr>
            <p:extLst>
              <p:ext uri="{D42A27DB-BD31-4B8C-83A1-F6EECF244321}">
                <p14:modId xmlns:p14="http://schemas.microsoft.com/office/powerpoint/2010/main" val="3707194935"/>
              </p:ext>
            </p:extLst>
          </p:nvPr>
        </p:nvGraphicFramePr>
        <p:xfrm>
          <a:off x="382588" y="693738"/>
          <a:ext cx="8124825" cy="2303462"/>
        </p:xfrm>
        <a:graphic>
          <a:graphicData uri="http://schemas.openxmlformats.org/presentationml/2006/ole">
            <mc:AlternateContent xmlns:mc="http://schemas.openxmlformats.org/markup-compatibility/2006">
              <mc:Choice xmlns:v="urn:schemas-microsoft-com:vml" Requires="v">
                <p:oleObj spid="_x0000_s14386" name="Document" r:id="rId3" imgW="8348840" imgH="2373340" progId="Word.Document.8">
                  <p:embed/>
                </p:oleObj>
              </mc:Choice>
              <mc:Fallback>
                <p:oleObj name="Document" r:id="rId3" imgW="8348840" imgH="2373340" progId="Word.Document.8">
                  <p:embed/>
                  <p:pic>
                    <p:nvPicPr>
                      <p:cNvPr id="11267" name="Object 3"/>
                      <p:cNvPicPr>
                        <a:picLocks noChangeAspect="1" noChangeArrowheads="1"/>
                      </p:cNvPicPr>
                      <p:nvPr/>
                    </p:nvPicPr>
                    <p:blipFill>
                      <a:blip r:embed="rId4"/>
                      <a:srcRect/>
                      <a:stretch>
                        <a:fillRect/>
                      </a:stretch>
                    </p:blipFill>
                    <p:spPr bwMode="auto">
                      <a:xfrm>
                        <a:off x="382588" y="693738"/>
                        <a:ext cx="8124825" cy="230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 name="Object 4"/>
          <p:cNvGraphicFramePr>
            <a:graphicFrameLocks noChangeAspect="1"/>
          </p:cNvGraphicFramePr>
          <p:nvPr>
            <p:extLst>
              <p:ext uri="{D42A27DB-BD31-4B8C-83A1-F6EECF244321}">
                <p14:modId xmlns:p14="http://schemas.microsoft.com/office/powerpoint/2010/main" val="3965613695"/>
              </p:ext>
            </p:extLst>
          </p:nvPr>
        </p:nvGraphicFramePr>
        <p:xfrm>
          <a:off x="393700" y="3136900"/>
          <a:ext cx="8194675" cy="3206750"/>
        </p:xfrm>
        <a:graphic>
          <a:graphicData uri="http://schemas.openxmlformats.org/presentationml/2006/ole">
            <mc:AlternateContent xmlns:mc="http://schemas.openxmlformats.org/markup-compatibility/2006">
              <mc:Choice xmlns:v="urn:schemas-microsoft-com:vml" Requires="v">
                <p:oleObj spid="_x0000_s14387" name="Document" r:id="rId5" imgW="8312928" imgH="3258132" progId="Word.Document.8">
                  <p:embed/>
                </p:oleObj>
              </mc:Choice>
              <mc:Fallback>
                <p:oleObj name="Document" r:id="rId5" imgW="8312928" imgH="3258132" progId="Word.Document.8">
                  <p:embed/>
                  <p:pic>
                    <p:nvPicPr>
                      <p:cNvPr id="11268" name="Object 4"/>
                      <p:cNvPicPr>
                        <a:picLocks noChangeAspect="1" noChangeArrowheads="1"/>
                      </p:cNvPicPr>
                      <p:nvPr/>
                    </p:nvPicPr>
                    <p:blipFill>
                      <a:blip r:embed="rId6"/>
                      <a:srcRect/>
                      <a:stretch>
                        <a:fillRect/>
                      </a:stretch>
                    </p:blipFill>
                    <p:spPr bwMode="auto">
                      <a:xfrm>
                        <a:off x="393700" y="3136900"/>
                        <a:ext cx="8194675" cy="320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80239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blinds(horizontal)">
                                      <p:cBhvr>
                                        <p:cTn id="7" dur="500"/>
                                        <p:tgtEl>
                                          <p:spTgt spid="11267"/>
                                        </p:tgtEl>
                                      </p:cBhvr>
                                    </p:animEffect>
                                  </p:childTnLst>
                                </p:cTn>
                              </p:par>
                              <p:par>
                                <p:cTn id="8" presetID="3" presetClass="entr" presetSubtype="10" fill="hold" nodeType="withEffect">
                                  <p:stCondLst>
                                    <p:cond delay="0"/>
                                  </p:stCondLst>
                                  <p:childTnLst>
                                    <p:set>
                                      <p:cBhvr>
                                        <p:cTn id="9" dur="1" fill="hold">
                                          <p:stCondLst>
                                            <p:cond delay="0"/>
                                          </p:stCondLst>
                                        </p:cTn>
                                        <p:tgtEl>
                                          <p:spTgt spid="11268"/>
                                        </p:tgtEl>
                                        <p:attrNameLst>
                                          <p:attrName>style.visibility</p:attrName>
                                        </p:attrNameLst>
                                      </p:cBhvr>
                                      <p:to>
                                        <p:strVal val="visible"/>
                                      </p:to>
                                    </p:set>
                                    <p:animEffect transition="in" filter="blinds(horizontal)">
                                      <p:cBhvr>
                                        <p:cTn id="10"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ChangeAspect="1"/>
          </p:cNvGraphicFramePr>
          <p:nvPr>
            <p:extLst>
              <p:ext uri="{D42A27DB-BD31-4B8C-83A1-F6EECF244321}">
                <p14:modId xmlns:p14="http://schemas.microsoft.com/office/powerpoint/2010/main" val="3129603247"/>
              </p:ext>
            </p:extLst>
          </p:nvPr>
        </p:nvGraphicFramePr>
        <p:xfrm>
          <a:off x="242888" y="590550"/>
          <a:ext cx="8415337" cy="2754313"/>
        </p:xfrm>
        <a:graphic>
          <a:graphicData uri="http://schemas.openxmlformats.org/presentationml/2006/ole">
            <mc:AlternateContent xmlns:mc="http://schemas.openxmlformats.org/markup-compatibility/2006">
              <mc:Choice xmlns:v="urn:schemas-microsoft-com:vml" Requires="v">
                <p:oleObj spid="_x0000_s15386" name="Document" r:id="rId3" imgW="8430720" imgH="2769017" progId="Word.Document.8">
                  <p:embed/>
                </p:oleObj>
              </mc:Choice>
              <mc:Fallback>
                <p:oleObj name="Document" r:id="rId3" imgW="8430720" imgH="2769017" progId="Word.Document.8">
                  <p:embed/>
                  <p:pic>
                    <p:nvPicPr>
                      <p:cNvPr id="12291" name="Object 3"/>
                      <p:cNvPicPr>
                        <a:picLocks noChangeAspect="1" noChangeArrowheads="1"/>
                      </p:cNvPicPr>
                      <p:nvPr/>
                    </p:nvPicPr>
                    <p:blipFill>
                      <a:blip r:embed="rId4"/>
                      <a:srcRect/>
                      <a:stretch>
                        <a:fillRect/>
                      </a:stretch>
                    </p:blipFill>
                    <p:spPr bwMode="auto">
                      <a:xfrm>
                        <a:off x="242888" y="590550"/>
                        <a:ext cx="8415337" cy="275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Rectangle 4"/>
          <p:cNvSpPr>
            <a:spLocks noChangeArrowheads="1"/>
          </p:cNvSpPr>
          <p:nvPr/>
        </p:nvSpPr>
        <p:spPr bwMode="auto">
          <a:xfrm>
            <a:off x="242888" y="3953922"/>
            <a:ext cx="8713787"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70000"/>
              </a:lnSpc>
            </a:pPr>
            <a:r>
              <a:rPr lang="zh-CN" altLang="en-US" sz="2000" b="1" dirty="0">
                <a:solidFill>
                  <a:srgbClr val="000000"/>
                </a:solidFill>
                <a:latin typeface="黑体" panose="02010609060101010101" pitchFamily="49" charset="-122"/>
                <a:ea typeface="黑体" panose="02010609060101010101" pitchFamily="49" charset="-122"/>
              </a:rPr>
              <a:t>上式显然满足光速不变及相对性原理，因为，它是由这两条原理出发而得出。</a:t>
            </a:r>
          </a:p>
        </p:txBody>
      </p:sp>
      <p:sp>
        <p:nvSpPr>
          <p:cNvPr id="4" name="文本框 3"/>
          <p:cNvSpPr txBox="1"/>
          <p:nvPr/>
        </p:nvSpPr>
        <p:spPr>
          <a:xfrm flipH="1">
            <a:off x="2235261" y="5178534"/>
            <a:ext cx="5313854" cy="461665"/>
          </a:xfrm>
          <a:prstGeom prst="rect">
            <a:avLst/>
          </a:prstGeom>
          <a:noFill/>
        </p:spPr>
        <p:txBody>
          <a:bodyPr wrap="square" rtlCol="0">
            <a:spAutoFit/>
          </a:bodyPr>
          <a:lstStyle/>
          <a:p>
            <a:r>
              <a:rPr lang="en-US" altLang="zh-CN" sz="2400" i="1" dirty="0">
                <a:solidFill>
                  <a:srgbClr val="C00000"/>
                </a:solidFill>
                <a:latin typeface="Arial" panose="020B0604020202020204" pitchFamily="34" charset="0"/>
                <a:ea typeface="黑体" panose="02010609060101010101" pitchFamily="49" charset="-122"/>
                <a:cs typeface="Arial" panose="020B0604020202020204" pitchFamily="34" charset="0"/>
              </a:rPr>
              <a:t>t</a:t>
            </a:r>
            <a:r>
              <a:rPr lang="en-US" altLang="zh-CN" sz="2400" dirty="0">
                <a:solidFill>
                  <a:srgbClr val="C00000"/>
                </a:solidFill>
                <a:latin typeface="Arial" panose="020B0604020202020204" pitchFamily="34" charset="0"/>
                <a:ea typeface="黑体" panose="02010609060101010101" pitchFamily="49" charset="-122"/>
                <a:cs typeface="Arial" panose="020B0604020202020204" pitchFamily="34" charset="0"/>
              </a:rPr>
              <a:t> ≠ </a:t>
            </a:r>
            <a:r>
              <a:rPr lang="en-US" altLang="zh-CN" sz="2400" i="1" dirty="0">
                <a:solidFill>
                  <a:srgbClr val="C00000"/>
                </a:solidFill>
                <a:latin typeface="Arial" panose="020B0604020202020204" pitchFamily="34" charset="0"/>
                <a:ea typeface="黑体" panose="02010609060101010101" pitchFamily="49" charset="-122"/>
                <a:cs typeface="Arial" panose="020B0604020202020204" pitchFamily="34" charset="0"/>
              </a:rPr>
              <a:t>t’, x</a:t>
            </a:r>
            <a:r>
              <a:rPr lang="en-US" altLang="zh-CN" sz="2400" dirty="0">
                <a:solidFill>
                  <a:srgbClr val="C00000"/>
                </a:solidFill>
                <a:latin typeface="Arial" panose="020B0604020202020204" pitchFamily="34" charset="0"/>
                <a:ea typeface="黑体" panose="02010609060101010101" pitchFamily="49" charset="-122"/>
                <a:cs typeface="Arial" panose="020B0604020202020204" pitchFamily="34" charset="0"/>
              </a:rPr>
              <a:t> ≠ </a:t>
            </a:r>
            <a:r>
              <a:rPr lang="en-US" altLang="zh-CN" sz="2400" i="1" dirty="0">
                <a:solidFill>
                  <a:srgbClr val="C00000"/>
                </a:solidFill>
                <a:latin typeface="Arial" panose="020B0604020202020204" pitchFamily="34" charset="0"/>
                <a:ea typeface="黑体" panose="02010609060101010101" pitchFamily="49" charset="-122"/>
                <a:cs typeface="Arial" panose="020B0604020202020204" pitchFamily="34" charset="0"/>
              </a:rPr>
              <a:t>x’,</a:t>
            </a:r>
            <a:r>
              <a:rPr lang="zh-CN" altLang="en-US" sz="2400" dirty="0">
                <a:solidFill>
                  <a:srgbClr val="C00000"/>
                </a:solidFill>
                <a:latin typeface="Arial" panose="020B0604020202020204" pitchFamily="34" charset="0"/>
                <a:ea typeface="黑体" panose="02010609060101010101" pitchFamily="49" charset="-122"/>
                <a:cs typeface="Arial" panose="020B0604020202020204" pitchFamily="34" charset="0"/>
              </a:rPr>
              <a:t>空间与时间相互关联</a:t>
            </a:r>
          </a:p>
        </p:txBody>
      </p:sp>
    </p:spTree>
    <p:extLst>
      <p:ext uri="{BB962C8B-B14F-4D97-AF65-F5344CB8AC3E}">
        <p14:creationId xmlns:p14="http://schemas.microsoft.com/office/powerpoint/2010/main" val="248747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extLst>
              <p:ext uri="{D42A27DB-BD31-4B8C-83A1-F6EECF244321}">
                <p14:modId xmlns:p14="http://schemas.microsoft.com/office/powerpoint/2010/main" val="1140218911"/>
              </p:ext>
            </p:extLst>
          </p:nvPr>
        </p:nvGraphicFramePr>
        <p:xfrm>
          <a:off x="412750" y="1044575"/>
          <a:ext cx="8056563" cy="2065338"/>
        </p:xfrm>
        <a:graphic>
          <a:graphicData uri="http://schemas.openxmlformats.org/presentationml/2006/ole">
            <mc:AlternateContent xmlns:mc="http://schemas.openxmlformats.org/markup-compatibility/2006">
              <mc:Choice xmlns:v="urn:schemas-microsoft-com:vml" Requires="v">
                <p:oleObj spid="_x0000_s16434" name="Document" r:id="rId3" imgW="8187236" imgH="2099853" progId="Word.Document.8">
                  <p:embed/>
                </p:oleObj>
              </mc:Choice>
              <mc:Fallback>
                <p:oleObj name="Document" r:id="rId3" imgW="8187236" imgH="2099853" progId="Word.Document.8">
                  <p:embed/>
                  <p:pic>
                    <p:nvPicPr>
                      <p:cNvPr id="13314" name="Object 2"/>
                      <p:cNvPicPr>
                        <a:picLocks noChangeAspect="1" noChangeArrowheads="1"/>
                      </p:cNvPicPr>
                      <p:nvPr/>
                    </p:nvPicPr>
                    <p:blipFill>
                      <a:blip r:embed="rId4"/>
                      <a:srcRect/>
                      <a:stretch>
                        <a:fillRect/>
                      </a:stretch>
                    </p:blipFill>
                    <p:spPr bwMode="auto">
                      <a:xfrm>
                        <a:off x="412750" y="1044575"/>
                        <a:ext cx="8056563" cy="206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3"/>
          <p:cNvGraphicFramePr>
            <a:graphicFrameLocks noChangeAspect="1"/>
          </p:cNvGraphicFramePr>
          <p:nvPr>
            <p:extLst>
              <p:ext uri="{D42A27DB-BD31-4B8C-83A1-F6EECF244321}">
                <p14:modId xmlns:p14="http://schemas.microsoft.com/office/powerpoint/2010/main" val="3712721606"/>
              </p:ext>
            </p:extLst>
          </p:nvPr>
        </p:nvGraphicFramePr>
        <p:xfrm>
          <a:off x="148545" y="2900362"/>
          <a:ext cx="8672512" cy="3957638"/>
        </p:xfrm>
        <a:graphic>
          <a:graphicData uri="http://schemas.openxmlformats.org/presentationml/2006/ole">
            <mc:AlternateContent xmlns:mc="http://schemas.openxmlformats.org/markup-compatibility/2006">
              <mc:Choice xmlns:v="urn:schemas-microsoft-com:vml" Requires="v">
                <p:oleObj spid="_x0000_s16435" name="Document" r:id="rId5" imgW="6880036" imgH="3148881" progId="Word.Document.8">
                  <p:embed/>
                </p:oleObj>
              </mc:Choice>
              <mc:Fallback>
                <p:oleObj name="Document" r:id="rId5" imgW="6880036" imgH="3148881" progId="Word.Document.8">
                  <p:embed/>
                  <p:pic>
                    <p:nvPicPr>
                      <p:cNvPr id="13315" name="Object 3"/>
                      <p:cNvPicPr>
                        <a:picLocks noChangeAspect="1" noChangeArrowheads="1"/>
                      </p:cNvPicPr>
                      <p:nvPr/>
                    </p:nvPicPr>
                    <p:blipFill>
                      <a:blip r:embed="rId6"/>
                      <a:srcRect/>
                      <a:stretch>
                        <a:fillRect/>
                      </a:stretch>
                    </p:blipFill>
                    <p:spPr bwMode="auto">
                      <a:xfrm>
                        <a:off x="148545" y="2900362"/>
                        <a:ext cx="8672512" cy="3957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2514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a:extLst>
              <a:ext uri="{FF2B5EF4-FFF2-40B4-BE49-F238E27FC236}">
                <a16:creationId xmlns:a16="http://schemas.microsoft.com/office/drawing/2014/main" id="{AB239CD0-7E05-4F21-875D-B5F1AA0F8B8E}"/>
              </a:ext>
            </a:extLst>
          </p:cNvPr>
          <p:cNvSpPr txBox="1">
            <a:spLocks noChangeArrowheads="1"/>
          </p:cNvSpPr>
          <p:nvPr/>
        </p:nvSpPr>
        <p:spPr bwMode="auto">
          <a:xfrm>
            <a:off x="693738" y="827088"/>
            <a:ext cx="409416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0000FF"/>
                </a:solidFill>
                <a:effectLst/>
                <a:latin typeface="黑体" panose="02010609060101010101" pitchFamily="49" charset="-122"/>
                <a:ea typeface="黑体" panose="02010609060101010101" pitchFamily="49" charset="-122"/>
              </a:rPr>
              <a:t>伽利略坐标变换</a:t>
            </a:r>
          </a:p>
        </p:txBody>
      </p:sp>
      <p:grpSp>
        <p:nvGrpSpPr>
          <p:cNvPr id="172035" name="Group 3">
            <a:extLst>
              <a:ext uri="{FF2B5EF4-FFF2-40B4-BE49-F238E27FC236}">
                <a16:creationId xmlns:a16="http://schemas.microsoft.com/office/drawing/2014/main" id="{FC17DA41-C305-41E8-BC9E-DD3C566325AC}"/>
              </a:ext>
            </a:extLst>
          </p:cNvPr>
          <p:cNvGrpSpPr>
            <a:grpSpLocks/>
          </p:cNvGrpSpPr>
          <p:nvPr/>
        </p:nvGrpSpPr>
        <p:grpSpPr bwMode="auto">
          <a:xfrm>
            <a:off x="3563938" y="323850"/>
            <a:ext cx="5330825" cy="3325813"/>
            <a:chOff x="2245" y="119"/>
            <a:chExt cx="3358" cy="2095"/>
          </a:xfrm>
        </p:grpSpPr>
        <p:sp>
          <p:nvSpPr>
            <p:cNvPr id="172036" name="Line 4">
              <a:extLst>
                <a:ext uri="{FF2B5EF4-FFF2-40B4-BE49-F238E27FC236}">
                  <a16:creationId xmlns:a16="http://schemas.microsoft.com/office/drawing/2014/main" id="{028256AC-4E68-4376-8DFD-F1102C6EE57B}"/>
                </a:ext>
              </a:extLst>
            </p:cNvPr>
            <p:cNvSpPr>
              <a:spLocks noChangeShapeType="1"/>
            </p:cNvSpPr>
            <p:nvPr/>
          </p:nvSpPr>
          <p:spPr bwMode="auto">
            <a:xfrm flipV="1">
              <a:off x="2992" y="428"/>
              <a:ext cx="0" cy="96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37" name="Line 5">
              <a:extLst>
                <a:ext uri="{FF2B5EF4-FFF2-40B4-BE49-F238E27FC236}">
                  <a16:creationId xmlns:a16="http://schemas.microsoft.com/office/drawing/2014/main" id="{22A88CE2-1F15-4327-AB58-7E51CC4EA8E2}"/>
                </a:ext>
              </a:extLst>
            </p:cNvPr>
            <p:cNvSpPr>
              <a:spLocks noChangeShapeType="1"/>
            </p:cNvSpPr>
            <p:nvPr/>
          </p:nvSpPr>
          <p:spPr bwMode="auto">
            <a:xfrm>
              <a:off x="2992" y="1388"/>
              <a:ext cx="2496" cy="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38" name="Line 6">
              <a:extLst>
                <a:ext uri="{FF2B5EF4-FFF2-40B4-BE49-F238E27FC236}">
                  <a16:creationId xmlns:a16="http://schemas.microsoft.com/office/drawing/2014/main" id="{D5EEA6FC-9E4A-4745-AB08-1BC5D96AE2F4}"/>
                </a:ext>
              </a:extLst>
            </p:cNvPr>
            <p:cNvSpPr>
              <a:spLocks noChangeShapeType="1"/>
            </p:cNvSpPr>
            <p:nvPr/>
          </p:nvSpPr>
          <p:spPr bwMode="auto">
            <a:xfrm flipV="1">
              <a:off x="3543" y="428"/>
              <a:ext cx="0" cy="960"/>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39" name="Line 7">
              <a:extLst>
                <a:ext uri="{FF2B5EF4-FFF2-40B4-BE49-F238E27FC236}">
                  <a16:creationId xmlns:a16="http://schemas.microsoft.com/office/drawing/2014/main" id="{3B47D813-5930-489D-B07A-8AD53DCE2E19}"/>
                </a:ext>
              </a:extLst>
            </p:cNvPr>
            <p:cNvSpPr>
              <a:spLocks noChangeShapeType="1"/>
            </p:cNvSpPr>
            <p:nvPr/>
          </p:nvSpPr>
          <p:spPr bwMode="auto">
            <a:xfrm>
              <a:off x="3548" y="1394"/>
              <a:ext cx="1671" cy="7"/>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0" name="Line 8">
              <a:extLst>
                <a:ext uri="{FF2B5EF4-FFF2-40B4-BE49-F238E27FC236}">
                  <a16:creationId xmlns:a16="http://schemas.microsoft.com/office/drawing/2014/main" id="{567A4DE0-179F-45A2-B247-7F6C985FCCCC}"/>
                </a:ext>
              </a:extLst>
            </p:cNvPr>
            <p:cNvSpPr>
              <a:spLocks noChangeShapeType="1"/>
            </p:cNvSpPr>
            <p:nvPr/>
          </p:nvSpPr>
          <p:spPr bwMode="auto">
            <a:xfrm flipH="1">
              <a:off x="2971" y="1388"/>
              <a:ext cx="576" cy="594"/>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1" name="Line 9">
              <a:extLst>
                <a:ext uri="{FF2B5EF4-FFF2-40B4-BE49-F238E27FC236}">
                  <a16:creationId xmlns:a16="http://schemas.microsoft.com/office/drawing/2014/main" id="{129F7AB2-506B-4149-9C75-4EA3B89B3C5B}"/>
                </a:ext>
              </a:extLst>
            </p:cNvPr>
            <p:cNvSpPr>
              <a:spLocks noChangeShapeType="1"/>
            </p:cNvSpPr>
            <p:nvPr/>
          </p:nvSpPr>
          <p:spPr bwMode="auto">
            <a:xfrm flipH="1">
              <a:off x="2378" y="1388"/>
              <a:ext cx="614" cy="5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2" name="Line 10">
              <a:extLst>
                <a:ext uri="{FF2B5EF4-FFF2-40B4-BE49-F238E27FC236}">
                  <a16:creationId xmlns:a16="http://schemas.microsoft.com/office/drawing/2014/main" id="{6BD3FA64-E3D3-4CF1-A807-358655E2ADD9}"/>
                </a:ext>
              </a:extLst>
            </p:cNvPr>
            <p:cNvSpPr>
              <a:spLocks noChangeShapeType="1"/>
            </p:cNvSpPr>
            <p:nvPr/>
          </p:nvSpPr>
          <p:spPr bwMode="auto">
            <a:xfrm flipV="1">
              <a:off x="3379" y="1245"/>
              <a:ext cx="147"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43" name="Line 11">
              <a:extLst>
                <a:ext uri="{FF2B5EF4-FFF2-40B4-BE49-F238E27FC236}">
                  <a16:creationId xmlns:a16="http://schemas.microsoft.com/office/drawing/2014/main" id="{FB4C8E55-D8BD-4BA0-A7A2-187D33CEB1E9}"/>
                </a:ext>
              </a:extLst>
            </p:cNvPr>
            <p:cNvSpPr>
              <a:spLocks noChangeShapeType="1"/>
            </p:cNvSpPr>
            <p:nvPr/>
          </p:nvSpPr>
          <p:spPr bwMode="auto">
            <a:xfrm flipH="1" flipV="1">
              <a:off x="2992" y="1245"/>
              <a:ext cx="161"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172044" name="Object 12">
                  <a:extLst>
                    <a:ext uri="{FF2B5EF4-FFF2-40B4-BE49-F238E27FC236}">
                      <a16:creationId xmlns:a16="http://schemas.microsoft.com/office/drawing/2014/main" id="{D5D790A4-C85F-4A26-AB31-6BE57FFA9593}"/>
                    </a:ext>
                  </a:extLst>
                </p:cNvPr>
                <p:cNvSpPr txBox="1"/>
                <p:nvPr/>
              </p:nvSpPr>
              <p:spPr bwMode="auto">
                <a:xfrm>
                  <a:off x="3697" y="407"/>
                  <a:ext cx="214" cy="272"/>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s</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xmlns="">
            <p:sp>
              <p:nvSpPr>
                <p:cNvPr id="172044" name="Object 12">
                  <a:extLst>
                    <a:ext uri="{FF2B5EF4-FFF2-40B4-BE49-F238E27FC236}">
                      <a16:creationId xmlns:a16="http://schemas.microsoft.com/office/drawing/2014/main" id="{D5D790A4-C85F-4A26-AB31-6BE57FFA9593}"/>
                    </a:ext>
                  </a:extLst>
                </p:cNvPr>
                <p:cNvSpPr txBox="1">
                  <a:spLocks noRot="1" noChangeAspect="1" noMove="1" noResize="1" noEditPoints="1" noAdjustHandles="1" noChangeArrowheads="1" noChangeShapeType="1" noTextEdit="1"/>
                </p:cNvSpPr>
                <p:nvPr/>
              </p:nvSpPr>
              <p:spPr bwMode="auto">
                <a:xfrm>
                  <a:off x="3697" y="407"/>
                  <a:ext cx="214" cy="272"/>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172045" name="AutoShape 13">
              <a:extLst>
                <a:ext uri="{FF2B5EF4-FFF2-40B4-BE49-F238E27FC236}">
                  <a16:creationId xmlns:a16="http://schemas.microsoft.com/office/drawing/2014/main" id="{C88CCF45-1548-4374-B867-9916C65FE69A}"/>
                </a:ext>
              </a:extLst>
            </p:cNvPr>
            <p:cNvSpPr>
              <a:spLocks noChangeArrowheads="1"/>
            </p:cNvSpPr>
            <p:nvPr/>
          </p:nvSpPr>
          <p:spPr bwMode="auto">
            <a:xfrm>
              <a:off x="4604" y="565"/>
              <a:ext cx="192" cy="192"/>
            </a:xfrm>
            <a:prstGeom prst="irregularSeal1">
              <a:avLst/>
            </a:prstGeom>
            <a:solidFill>
              <a:srgbClr val="FF0000"/>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6" name="Text Box 14">
              <a:extLst>
                <a:ext uri="{FF2B5EF4-FFF2-40B4-BE49-F238E27FC236}">
                  <a16:creationId xmlns:a16="http://schemas.microsoft.com/office/drawing/2014/main" id="{C4C5C70E-0A8F-4085-8C50-37741659EE5B}"/>
                </a:ext>
              </a:extLst>
            </p:cNvPr>
            <p:cNvSpPr txBox="1">
              <a:spLocks noChangeArrowheads="1"/>
            </p:cNvSpPr>
            <p:nvPr/>
          </p:nvSpPr>
          <p:spPr bwMode="auto">
            <a:xfrm>
              <a:off x="3134" y="1092"/>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ut</a:t>
              </a:r>
            </a:p>
          </p:txBody>
        </p:sp>
        <p:sp>
          <p:nvSpPr>
            <p:cNvPr id="172047" name="Text Box 15">
              <a:extLst>
                <a:ext uri="{FF2B5EF4-FFF2-40B4-BE49-F238E27FC236}">
                  <a16:creationId xmlns:a16="http://schemas.microsoft.com/office/drawing/2014/main" id="{8F66801D-75FE-43CB-9CED-3A0F698D92BD}"/>
                </a:ext>
              </a:extLst>
            </p:cNvPr>
            <p:cNvSpPr txBox="1">
              <a:spLocks noChangeArrowheads="1"/>
            </p:cNvSpPr>
            <p:nvPr/>
          </p:nvSpPr>
          <p:spPr bwMode="auto">
            <a:xfrm>
              <a:off x="5376" y="1315"/>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x</a:t>
              </a:r>
            </a:p>
          </p:txBody>
        </p:sp>
        <p:sp>
          <p:nvSpPr>
            <p:cNvPr id="172048" name="Text Box 16">
              <a:extLst>
                <a:ext uri="{FF2B5EF4-FFF2-40B4-BE49-F238E27FC236}">
                  <a16:creationId xmlns:a16="http://schemas.microsoft.com/office/drawing/2014/main" id="{8A2ED8EC-7913-4284-A6AB-AA2B420FCDAD}"/>
                </a:ext>
              </a:extLst>
            </p:cNvPr>
            <p:cNvSpPr txBox="1">
              <a:spLocks noChangeArrowheads="1"/>
            </p:cNvSpPr>
            <p:nvPr/>
          </p:nvSpPr>
          <p:spPr bwMode="auto">
            <a:xfrm>
              <a:off x="5013" y="1360"/>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x</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49" name="Text Box 17">
              <a:extLst>
                <a:ext uri="{FF2B5EF4-FFF2-40B4-BE49-F238E27FC236}">
                  <a16:creationId xmlns:a16="http://schemas.microsoft.com/office/drawing/2014/main" id="{D5CC395A-3BCE-4A86-9DA2-3D7F9AEBB9E5}"/>
                </a:ext>
              </a:extLst>
            </p:cNvPr>
            <p:cNvSpPr txBox="1">
              <a:spLocks noChangeArrowheads="1"/>
            </p:cNvSpPr>
            <p:nvPr/>
          </p:nvSpPr>
          <p:spPr bwMode="auto">
            <a:xfrm>
              <a:off x="4558" y="361"/>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00FF"/>
                  </a:solidFill>
                  <a:effectLst/>
                  <a:latin typeface="Times New Roman" panose="02020603050405020304" pitchFamily="18" charset="0"/>
                  <a:ea typeface="宋体" panose="02010600030101010101" pitchFamily="2" charset="-122"/>
                </a:rPr>
                <a:t>P</a:t>
              </a:r>
            </a:p>
          </p:txBody>
        </p:sp>
        <p:sp>
          <p:nvSpPr>
            <p:cNvPr id="172050" name="Line 18">
              <a:extLst>
                <a:ext uri="{FF2B5EF4-FFF2-40B4-BE49-F238E27FC236}">
                  <a16:creationId xmlns:a16="http://schemas.microsoft.com/office/drawing/2014/main" id="{13271ACA-1D84-4929-8EF8-833EA1765127}"/>
                </a:ext>
              </a:extLst>
            </p:cNvPr>
            <p:cNvSpPr>
              <a:spLocks noChangeShapeType="1"/>
            </p:cNvSpPr>
            <p:nvPr/>
          </p:nvSpPr>
          <p:spPr bwMode="auto">
            <a:xfrm>
              <a:off x="4704" y="793"/>
              <a:ext cx="0" cy="861"/>
            </a:xfrm>
            <a:prstGeom prst="line">
              <a:avLst/>
            </a:prstGeom>
            <a:noFill/>
            <a:ln w="9525">
              <a:solidFill>
                <a:srgbClr val="0000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1" name="Line 19">
              <a:extLst>
                <a:ext uri="{FF2B5EF4-FFF2-40B4-BE49-F238E27FC236}">
                  <a16:creationId xmlns:a16="http://schemas.microsoft.com/office/drawing/2014/main" id="{3B06CF7C-ACAB-434B-8DDE-49E1AB068C10}"/>
                </a:ext>
              </a:extLst>
            </p:cNvPr>
            <p:cNvSpPr>
              <a:spLocks noChangeShapeType="1"/>
            </p:cNvSpPr>
            <p:nvPr/>
          </p:nvSpPr>
          <p:spPr bwMode="auto">
            <a:xfrm flipH="1" flipV="1">
              <a:off x="3561" y="1245"/>
              <a:ext cx="544"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2" name="Line 20">
              <a:extLst>
                <a:ext uri="{FF2B5EF4-FFF2-40B4-BE49-F238E27FC236}">
                  <a16:creationId xmlns:a16="http://schemas.microsoft.com/office/drawing/2014/main" id="{0DFF7A96-59EF-4860-9B68-D05A8FC2A5FF}"/>
                </a:ext>
              </a:extLst>
            </p:cNvPr>
            <p:cNvSpPr>
              <a:spLocks noChangeShapeType="1"/>
            </p:cNvSpPr>
            <p:nvPr/>
          </p:nvSpPr>
          <p:spPr bwMode="auto">
            <a:xfrm flipV="1">
              <a:off x="4332" y="1245"/>
              <a:ext cx="608" cy="1"/>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3" name="Text Box 21">
              <a:extLst>
                <a:ext uri="{FF2B5EF4-FFF2-40B4-BE49-F238E27FC236}">
                  <a16:creationId xmlns:a16="http://schemas.microsoft.com/office/drawing/2014/main" id="{0C36EA89-85ED-45E7-B425-9C6A53AD2DF2}"/>
                </a:ext>
              </a:extLst>
            </p:cNvPr>
            <p:cNvSpPr txBox="1">
              <a:spLocks noChangeArrowheads="1"/>
            </p:cNvSpPr>
            <p:nvPr/>
          </p:nvSpPr>
          <p:spPr bwMode="auto">
            <a:xfrm>
              <a:off x="2790" y="192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z</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54" name="Text Box 22">
              <a:extLst>
                <a:ext uri="{FF2B5EF4-FFF2-40B4-BE49-F238E27FC236}">
                  <a16:creationId xmlns:a16="http://schemas.microsoft.com/office/drawing/2014/main" id="{5DCCCAF7-F99C-40D3-AFC6-5AC959BE0F71}"/>
                </a:ext>
              </a:extLst>
            </p:cNvPr>
            <p:cNvSpPr txBox="1">
              <a:spLocks noChangeArrowheads="1"/>
            </p:cNvSpPr>
            <p:nvPr/>
          </p:nvSpPr>
          <p:spPr bwMode="auto">
            <a:xfrm>
              <a:off x="2245" y="1880"/>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z</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72055" name="Text Box 23">
              <a:extLst>
                <a:ext uri="{FF2B5EF4-FFF2-40B4-BE49-F238E27FC236}">
                  <a16:creationId xmlns:a16="http://schemas.microsoft.com/office/drawing/2014/main" id="{9D32DAD7-D684-4D56-8DD6-C38B3DF03084}"/>
                </a:ext>
              </a:extLst>
            </p:cNvPr>
            <p:cNvSpPr txBox="1">
              <a:spLocks noChangeArrowheads="1"/>
            </p:cNvSpPr>
            <p:nvPr/>
          </p:nvSpPr>
          <p:spPr bwMode="auto">
            <a:xfrm>
              <a:off x="2880" y="136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FF0000"/>
                  </a:solidFill>
                  <a:effectLst/>
                  <a:latin typeface="Times New Roman" panose="02020603050405020304" pitchFamily="18" charset="0"/>
                  <a:ea typeface="宋体" panose="02010600030101010101" pitchFamily="2" charset="-122"/>
                </a:rPr>
                <a:t>O</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72056" name="Text Box 24">
              <a:extLst>
                <a:ext uri="{FF2B5EF4-FFF2-40B4-BE49-F238E27FC236}">
                  <a16:creationId xmlns:a16="http://schemas.microsoft.com/office/drawing/2014/main" id="{E6638C7F-558B-4CA9-A1A1-55E70E0B07EE}"/>
                </a:ext>
              </a:extLst>
            </p:cNvPr>
            <p:cNvSpPr txBox="1">
              <a:spLocks noChangeArrowheads="1"/>
            </p:cNvSpPr>
            <p:nvPr/>
          </p:nvSpPr>
          <p:spPr bwMode="auto">
            <a:xfrm>
              <a:off x="3425" y="136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8080"/>
                  </a:solidFill>
                  <a:effectLst/>
                  <a:latin typeface="Times New Roman" panose="02020603050405020304" pitchFamily="18" charset="0"/>
                  <a:ea typeface="宋体" panose="02010600030101010101" pitchFamily="2" charset="-122"/>
                </a:rPr>
                <a:t>O</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57" name="Line 25">
              <a:extLst>
                <a:ext uri="{FF2B5EF4-FFF2-40B4-BE49-F238E27FC236}">
                  <a16:creationId xmlns:a16="http://schemas.microsoft.com/office/drawing/2014/main" id="{99F676CF-3772-40E9-9E3C-8D58CDFACF08}"/>
                </a:ext>
              </a:extLst>
            </p:cNvPr>
            <p:cNvSpPr>
              <a:spLocks noChangeShapeType="1"/>
            </p:cNvSpPr>
            <p:nvPr/>
          </p:nvSpPr>
          <p:spPr bwMode="auto">
            <a:xfrm flipH="1">
              <a:off x="4553" y="1400"/>
              <a:ext cx="396" cy="428"/>
            </a:xfrm>
            <a:prstGeom prst="line">
              <a:avLst/>
            </a:prstGeom>
            <a:noFill/>
            <a:ln w="19050">
              <a:solidFill>
                <a:srgbClr val="000066"/>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8" name="Line 26">
              <a:extLst>
                <a:ext uri="{FF2B5EF4-FFF2-40B4-BE49-F238E27FC236}">
                  <a16:creationId xmlns:a16="http://schemas.microsoft.com/office/drawing/2014/main" id="{D17C290C-8854-4C77-B7E9-3AAC327247EB}"/>
                </a:ext>
              </a:extLst>
            </p:cNvPr>
            <p:cNvSpPr>
              <a:spLocks noChangeShapeType="1"/>
            </p:cNvSpPr>
            <p:nvPr/>
          </p:nvSpPr>
          <p:spPr bwMode="auto">
            <a:xfrm>
              <a:off x="4949" y="1155"/>
              <a:ext cx="0" cy="181"/>
            </a:xfrm>
            <a:prstGeom prst="line">
              <a:avLst/>
            </a:prstGeom>
            <a:noFill/>
            <a:ln w="952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59" name="Line 27">
              <a:extLst>
                <a:ext uri="{FF2B5EF4-FFF2-40B4-BE49-F238E27FC236}">
                  <a16:creationId xmlns:a16="http://schemas.microsoft.com/office/drawing/2014/main" id="{D904E35E-3C9C-48A6-B3E2-657402EFCA8F}"/>
                </a:ext>
              </a:extLst>
            </p:cNvPr>
            <p:cNvSpPr>
              <a:spLocks noChangeShapeType="1"/>
            </p:cNvSpPr>
            <p:nvPr/>
          </p:nvSpPr>
          <p:spPr bwMode="auto">
            <a:xfrm>
              <a:off x="2753" y="1663"/>
              <a:ext cx="1956" cy="0"/>
            </a:xfrm>
            <a:prstGeom prst="line">
              <a:avLst/>
            </a:prstGeom>
            <a:noFill/>
            <a:ln w="19050">
              <a:solidFill>
                <a:srgbClr val="000066"/>
              </a:solidFill>
              <a:prstDash val="dash"/>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60" name="Line 28">
              <a:extLst>
                <a:ext uri="{FF2B5EF4-FFF2-40B4-BE49-F238E27FC236}">
                  <a16:creationId xmlns:a16="http://schemas.microsoft.com/office/drawing/2014/main" id="{C3CC1974-380B-43C8-9941-C0E6C85D891E}"/>
                </a:ext>
              </a:extLst>
            </p:cNvPr>
            <p:cNvSpPr>
              <a:spLocks noChangeShapeType="1"/>
            </p:cNvSpPr>
            <p:nvPr/>
          </p:nvSpPr>
          <p:spPr bwMode="auto">
            <a:xfrm flipH="1">
              <a:off x="2563" y="1790"/>
              <a:ext cx="998" cy="0"/>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61" name="Line 29">
              <a:extLst>
                <a:ext uri="{FF2B5EF4-FFF2-40B4-BE49-F238E27FC236}">
                  <a16:creationId xmlns:a16="http://schemas.microsoft.com/office/drawing/2014/main" id="{7EE82CFD-BA0D-4B1D-9DD0-EBAC4F018673}"/>
                </a:ext>
              </a:extLst>
            </p:cNvPr>
            <p:cNvSpPr>
              <a:spLocks noChangeShapeType="1"/>
            </p:cNvSpPr>
            <p:nvPr/>
          </p:nvSpPr>
          <p:spPr bwMode="auto">
            <a:xfrm>
              <a:off x="3788" y="1790"/>
              <a:ext cx="816" cy="0"/>
            </a:xfrm>
            <a:prstGeom prst="line">
              <a:avLst/>
            </a:prstGeom>
            <a:noFill/>
            <a:ln w="952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062" name="Text Box 30">
              <a:extLst>
                <a:ext uri="{FF2B5EF4-FFF2-40B4-BE49-F238E27FC236}">
                  <a16:creationId xmlns:a16="http://schemas.microsoft.com/office/drawing/2014/main" id="{9812E9F9-7562-4873-8B18-21E44009F766}"/>
                </a:ext>
              </a:extLst>
            </p:cNvPr>
            <p:cNvSpPr txBox="1">
              <a:spLocks noChangeArrowheads="1"/>
            </p:cNvSpPr>
            <p:nvPr/>
          </p:nvSpPr>
          <p:spPr bwMode="auto">
            <a:xfrm>
              <a:off x="3561" y="1638"/>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x</a:t>
              </a:r>
            </a:p>
          </p:txBody>
        </p:sp>
        <p:sp>
          <p:nvSpPr>
            <p:cNvPr id="172063" name="Text Box 31">
              <a:extLst>
                <a:ext uri="{FF2B5EF4-FFF2-40B4-BE49-F238E27FC236}">
                  <a16:creationId xmlns:a16="http://schemas.microsoft.com/office/drawing/2014/main" id="{358D7F38-5A82-4189-B6F5-31563BAD7879}"/>
                </a:ext>
              </a:extLst>
            </p:cNvPr>
            <p:cNvSpPr txBox="1">
              <a:spLocks noChangeArrowheads="1"/>
            </p:cNvSpPr>
            <p:nvPr/>
          </p:nvSpPr>
          <p:spPr bwMode="auto">
            <a:xfrm>
              <a:off x="2925" y="179"/>
              <a:ext cx="4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y</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72064" name="Text Box 32">
              <a:extLst>
                <a:ext uri="{FF2B5EF4-FFF2-40B4-BE49-F238E27FC236}">
                  <a16:creationId xmlns:a16="http://schemas.microsoft.com/office/drawing/2014/main" id="{F5B41ACA-0B92-4D5D-9C75-03D7BD69D23F}"/>
                </a:ext>
              </a:extLst>
            </p:cNvPr>
            <p:cNvSpPr txBox="1">
              <a:spLocks noChangeArrowheads="1"/>
            </p:cNvSpPr>
            <p:nvPr/>
          </p:nvSpPr>
          <p:spPr bwMode="auto">
            <a:xfrm>
              <a:off x="3470" y="119"/>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y</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72065" name="Text Box 33">
              <a:extLst>
                <a:ext uri="{FF2B5EF4-FFF2-40B4-BE49-F238E27FC236}">
                  <a16:creationId xmlns:a16="http://schemas.microsoft.com/office/drawing/2014/main" id="{7840AAB1-894C-46E8-9FC1-6275DBEBDB16}"/>
                </a:ext>
              </a:extLst>
            </p:cNvPr>
            <p:cNvSpPr txBox="1">
              <a:spLocks noChangeArrowheads="1"/>
            </p:cNvSpPr>
            <p:nvPr/>
          </p:nvSpPr>
          <p:spPr bwMode="auto">
            <a:xfrm>
              <a:off x="4106" y="1088"/>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0066"/>
                  </a:solidFill>
                  <a:effectLst/>
                  <a:latin typeface="Times New Roman" panose="02020603050405020304" pitchFamily="18" charset="0"/>
                  <a:ea typeface="宋体" panose="02010600030101010101" pitchFamily="2" charset="-122"/>
                </a:rPr>
                <a:t>x</a:t>
              </a:r>
              <a:r>
                <a:rPr lang="en-US" altLang="zh-CN" sz="2400">
                  <a:solidFill>
                    <a:srgbClr val="000066"/>
                  </a:solidFill>
                  <a:effectLst/>
                  <a:latin typeface="Times New Roman" panose="02020603050405020304" pitchFamily="18" charset="0"/>
                  <a:ea typeface="宋体" panose="02010600030101010101" pitchFamily="2" charset="-122"/>
                  <a:sym typeface="Symbol" panose="05050102010706020507" pitchFamily="18" charset="2"/>
                </a:rPr>
                <a:t></a:t>
              </a:r>
            </a:p>
          </p:txBody>
        </p:sp>
        <mc:AlternateContent xmlns:mc="http://schemas.openxmlformats.org/markup-compatibility/2006" xmlns:a14="http://schemas.microsoft.com/office/drawing/2010/main">
          <mc:Choice Requires="a14">
            <p:sp>
              <p:nvSpPr>
                <p:cNvPr id="172066" name="Object 34">
                  <a:extLst>
                    <a:ext uri="{FF2B5EF4-FFF2-40B4-BE49-F238E27FC236}">
                      <a16:creationId xmlns:a16="http://schemas.microsoft.com/office/drawing/2014/main" id="{D8B33D47-712E-412F-95C5-163EF0CE16A9}"/>
                    </a:ext>
                  </a:extLst>
                </p:cNvPr>
                <p:cNvSpPr txBox="1"/>
                <p:nvPr/>
              </p:nvSpPr>
              <p:spPr bwMode="auto">
                <a:xfrm>
                  <a:off x="3141" y="463"/>
                  <a:ext cx="166" cy="228"/>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s</m:t>
                        </m:r>
                      </m:oMath>
                    </m:oMathPara>
                  </a14:m>
                  <a:endParaRPr lang="zh-CN" altLang="en-US"/>
                </a:p>
              </p:txBody>
            </p:sp>
          </mc:Choice>
          <mc:Fallback xmlns="">
            <p:sp>
              <p:nvSpPr>
                <p:cNvPr id="172066" name="Object 34">
                  <a:extLst>
                    <a:ext uri="{FF2B5EF4-FFF2-40B4-BE49-F238E27FC236}">
                      <a16:creationId xmlns:a16="http://schemas.microsoft.com/office/drawing/2014/main" id="{D8B33D47-712E-412F-95C5-163EF0CE16A9}"/>
                    </a:ext>
                  </a:extLst>
                </p:cNvPr>
                <p:cNvSpPr txBox="1">
                  <a:spLocks noRot="1" noChangeAspect="1" noMove="1" noResize="1" noEditPoints="1" noAdjustHandles="1" noChangeArrowheads="1" noChangeShapeType="1" noTextEdit="1"/>
                </p:cNvSpPr>
                <p:nvPr/>
              </p:nvSpPr>
              <p:spPr bwMode="auto">
                <a:xfrm>
                  <a:off x="3141" y="463"/>
                  <a:ext cx="166" cy="228"/>
                </a:xfrm>
                <a:prstGeom prst="rect">
                  <a:avLst/>
                </a:prstGeom>
                <a:blipFill>
                  <a:blip r:embed="rId3"/>
                  <a:stretch>
                    <a:fillRect/>
                  </a:stretch>
                </a:blipFill>
                <a:ln>
                  <a:noFill/>
                </a:ln>
                <a:effectLst/>
              </p:spPr>
              <p:txBody>
                <a:bodyPr/>
                <a:lstStyle/>
                <a:p>
                  <a:r>
                    <a:rPr lang="zh-CN" altLang="en-US">
                      <a:noFill/>
                    </a:rPr>
                    <a:t> </a:t>
                  </a:r>
                </a:p>
              </p:txBody>
            </p:sp>
          </mc:Fallback>
        </mc:AlternateContent>
      </p:grpSp>
      <p:grpSp>
        <p:nvGrpSpPr>
          <p:cNvPr id="172067" name="Group 35">
            <a:extLst>
              <a:ext uri="{FF2B5EF4-FFF2-40B4-BE49-F238E27FC236}">
                <a16:creationId xmlns:a16="http://schemas.microsoft.com/office/drawing/2014/main" id="{CD3CD096-997E-402B-BBCB-2C40DB0C70E8}"/>
              </a:ext>
            </a:extLst>
          </p:cNvPr>
          <p:cNvGrpSpPr>
            <a:grpSpLocks/>
          </p:cNvGrpSpPr>
          <p:nvPr/>
        </p:nvGrpSpPr>
        <p:grpSpPr bwMode="auto">
          <a:xfrm>
            <a:off x="754062" y="1680869"/>
            <a:ext cx="2376488" cy="453778"/>
            <a:chOff x="1076" y="2689"/>
            <a:chExt cx="1853" cy="351"/>
          </a:xfrm>
        </p:grpSpPr>
        <mc:AlternateContent xmlns:mc="http://schemas.openxmlformats.org/markup-compatibility/2006" xmlns:a14="http://schemas.microsoft.com/office/drawing/2010/main">
          <mc:Choice Requires="a14">
            <p:sp>
              <p:nvSpPr>
                <p:cNvPr id="172068" name="Object 36">
                  <a:extLst>
                    <a:ext uri="{FF2B5EF4-FFF2-40B4-BE49-F238E27FC236}">
                      <a16:creationId xmlns:a16="http://schemas.microsoft.com/office/drawing/2014/main" id="{2D253788-D8D0-4956-9895-FB55FDF82F2C}"/>
                    </a:ext>
                  </a:extLst>
                </p:cNvPr>
                <p:cNvSpPr txBox="1"/>
                <p:nvPr/>
              </p:nvSpPr>
              <p:spPr bwMode="auto">
                <a:xfrm>
                  <a:off x="1328" y="2689"/>
                  <a:ext cx="1601" cy="333"/>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sz="2400" i="0">
                            <a:solidFill>
                              <a:srgbClr val="000000"/>
                            </a:solidFill>
                            <a:latin typeface="Cambria Math" panose="02040503050406030204" pitchFamily="18" charset="0"/>
                          </a:rPr>
                          <m:t>P</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𝑥</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𝑦</m:t>
                        </m:r>
                        <m:r>
                          <m:rPr>
                            <m:nor/>
                          </m:rPr>
                          <a:rPr lang="zh-CN" altLang="en-US" sz="2400" i="0">
                            <a:solidFill>
                              <a:srgbClr val="000000"/>
                            </a:solidFill>
                            <a:latin typeface="Cambria Math" panose="02040503050406030204" pitchFamily="18" charset="0"/>
                          </a:rPr>
                          <m:t> , </m:t>
                        </m:r>
                        <m:r>
                          <a:rPr lang="zh-CN" altLang="en-US" sz="2400" i="1">
                            <a:solidFill>
                              <a:srgbClr val="000000"/>
                            </a:solidFill>
                            <a:latin typeface="Cambria Math" panose="02040503050406030204" pitchFamily="18" charset="0"/>
                          </a:rPr>
                          <m:t>𝑧</m:t>
                        </m:r>
                        <m:r>
                          <m:rPr>
                            <m:nor/>
                          </m:rPr>
                          <a:rPr lang="zh-CN" altLang="en-US" sz="2400" i="0">
                            <a:solidFill>
                              <a:srgbClr val="000000"/>
                            </a:solidFill>
                            <a:latin typeface="Cambria Math" panose="02040503050406030204" pitchFamily="18" charset="0"/>
                          </a:rPr>
                          <m:t> , </m:t>
                        </m:r>
                        <m:r>
                          <a:rPr lang="zh-CN" altLang="en-US" sz="2400" i="1">
                            <a:solidFill>
                              <a:srgbClr val="000000"/>
                            </a:solidFill>
                            <a:latin typeface="Cambria Math" panose="02040503050406030204" pitchFamily="18" charset="0"/>
                          </a:rPr>
                          <m:t>𝑡</m:t>
                        </m:r>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172068" name="Object 36">
                  <a:extLst>
                    <a:ext uri="{FF2B5EF4-FFF2-40B4-BE49-F238E27FC236}">
                      <a16:creationId xmlns:a16="http://schemas.microsoft.com/office/drawing/2014/main" id="{2D253788-D8D0-4956-9895-FB55FDF82F2C}"/>
                    </a:ext>
                  </a:extLst>
                </p:cNvPr>
                <p:cNvSpPr txBox="1">
                  <a:spLocks noRot="1" noChangeAspect="1" noMove="1" noResize="1" noEditPoints="1" noAdjustHandles="1" noChangeArrowheads="1" noChangeShapeType="1" noTextEdit="1"/>
                </p:cNvSpPr>
                <p:nvPr/>
              </p:nvSpPr>
              <p:spPr bwMode="auto">
                <a:xfrm>
                  <a:off x="1328" y="2689"/>
                  <a:ext cx="1601" cy="333"/>
                </a:xfrm>
                <a:prstGeom prst="rect">
                  <a:avLst/>
                </a:prstGeom>
                <a:blipFill>
                  <a:blip r:embed="rId4"/>
                  <a:stretch>
                    <a:fillRect b="-1714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69" name="Object 37">
                  <a:extLst>
                    <a:ext uri="{FF2B5EF4-FFF2-40B4-BE49-F238E27FC236}">
                      <a16:creationId xmlns:a16="http://schemas.microsoft.com/office/drawing/2014/main" id="{328AE0C1-2FD7-4263-8810-E43E90E4A5F5}"/>
                    </a:ext>
                  </a:extLst>
                </p:cNvPr>
                <p:cNvSpPr txBox="1"/>
                <p:nvPr/>
              </p:nvSpPr>
              <p:spPr bwMode="auto">
                <a:xfrm>
                  <a:off x="1076" y="2743"/>
                  <a:ext cx="297" cy="29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m:rPr>
                            <m:sty m:val="p"/>
                          </m:rPr>
                          <a:rPr lang="zh-CN" altLang="en-US" sz="2000" i="0" smtClean="0">
                            <a:solidFill>
                              <a:srgbClr val="000000"/>
                            </a:solidFill>
                            <a:latin typeface="Cambria Math" panose="02040503050406030204" pitchFamily="18" charset="0"/>
                          </a:rPr>
                          <m:t>S</m:t>
                        </m:r>
                        <m:r>
                          <a:rPr lang="en-US" altLang="zh-CN" sz="2000" b="0" i="0" smtClean="0">
                            <a:solidFill>
                              <a:srgbClr val="000000"/>
                            </a:solidFill>
                            <a:latin typeface="Cambria Math" panose="02040503050406030204" pitchFamily="18" charset="0"/>
                          </a:rPr>
                          <m:t>:</m:t>
                        </m:r>
                      </m:oMath>
                    </m:oMathPara>
                  </a14:m>
                  <a:endParaRPr lang="zh-CN" altLang="en-US" sz="2000" dirty="0"/>
                </a:p>
              </p:txBody>
            </p:sp>
          </mc:Choice>
          <mc:Fallback xmlns="">
            <p:sp>
              <p:nvSpPr>
                <p:cNvPr id="172069" name="Object 37">
                  <a:extLst>
                    <a:ext uri="{FF2B5EF4-FFF2-40B4-BE49-F238E27FC236}">
                      <a16:creationId xmlns:a16="http://schemas.microsoft.com/office/drawing/2014/main" id="{328AE0C1-2FD7-4263-8810-E43E90E4A5F5}"/>
                    </a:ext>
                  </a:extLst>
                </p:cNvPr>
                <p:cNvSpPr txBox="1">
                  <a:spLocks noRot="1" noChangeAspect="1" noMove="1" noResize="1" noEditPoints="1" noAdjustHandles="1" noChangeArrowheads="1" noChangeShapeType="1" noTextEdit="1"/>
                </p:cNvSpPr>
                <p:nvPr/>
              </p:nvSpPr>
              <p:spPr bwMode="auto">
                <a:xfrm>
                  <a:off x="1076" y="2743"/>
                  <a:ext cx="297" cy="297"/>
                </a:xfrm>
                <a:prstGeom prst="rect">
                  <a:avLst/>
                </a:prstGeom>
                <a:blipFill>
                  <a:blip r:embed="rId5"/>
                  <a:stretch>
                    <a:fillRect/>
                  </a:stretch>
                </a:blipFill>
                <a:ln>
                  <a:noFill/>
                </a:ln>
                <a:effectLst/>
              </p:spPr>
              <p:txBody>
                <a:bodyPr/>
                <a:lstStyle/>
                <a:p>
                  <a:r>
                    <a:rPr lang="zh-CN" altLang="en-US">
                      <a:noFill/>
                    </a:rPr>
                    <a:t> </a:t>
                  </a:r>
                </a:p>
              </p:txBody>
            </p:sp>
          </mc:Fallback>
        </mc:AlternateContent>
      </p:grpSp>
      <p:grpSp>
        <p:nvGrpSpPr>
          <p:cNvPr id="172070" name="Group 38">
            <a:extLst>
              <a:ext uri="{FF2B5EF4-FFF2-40B4-BE49-F238E27FC236}">
                <a16:creationId xmlns:a16="http://schemas.microsoft.com/office/drawing/2014/main" id="{0DEEBC4C-D5DB-4743-8477-4308917ED494}"/>
              </a:ext>
            </a:extLst>
          </p:cNvPr>
          <p:cNvGrpSpPr>
            <a:grpSpLocks/>
          </p:cNvGrpSpPr>
          <p:nvPr/>
        </p:nvGrpSpPr>
        <p:grpSpPr bwMode="auto">
          <a:xfrm>
            <a:off x="708610" y="2413000"/>
            <a:ext cx="2999790" cy="430213"/>
            <a:chOff x="1025" y="3142"/>
            <a:chExt cx="2120" cy="333"/>
          </a:xfrm>
        </p:grpSpPr>
        <mc:AlternateContent xmlns:mc="http://schemas.openxmlformats.org/markup-compatibility/2006" xmlns:a14="http://schemas.microsoft.com/office/drawing/2010/main">
          <mc:Choice Requires="a14">
            <p:sp>
              <p:nvSpPr>
                <p:cNvPr id="172071" name="Object 39">
                  <a:extLst>
                    <a:ext uri="{FF2B5EF4-FFF2-40B4-BE49-F238E27FC236}">
                      <a16:creationId xmlns:a16="http://schemas.microsoft.com/office/drawing/2014/main" id="{A0010B3E-B359-461A-9230-DC4734856BFB}"/>
                    </a:ext>
                  </a:extLst>
                </p:cNvPr>
                <p:cNvSpPr txBox="1"/>
                <p:nvPr/>
              </p:nvSpPr>
              <p:spPr bwMode="auto">
                <a:xfrm>
                  <a:off x="1334" y="3142"/>
                  <a:ext cx="1811" cy="333"/>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m:rPr>
                            <m:sty m:val="p"/>
                          </m:rPr>
                          <a:rPr lang="zh-CN" altLang="en-US" sz="2400" i="0">
                            <a:solidFill>
                              <a:srgbClr val="000000"/>
                            </a:solidFill>
                            <a:latin typeface="Cambria Math" panose="02040503050406030204" pitchFamily="18" charset="0"/>
                          </a:rPr>
                          <m:t>P</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m:t>
                            </m:r>
                          </m:sup>
                        </m:sSup>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m:t>
                            </m:r>
                          </m:sup>
                        </m:sSup>
                        <m:r>
                          <m:rPr>
                            <m:nor/>
                          </m:rPr>
                          <a:rPr lang="zh-CN" altLang="en-US" sz="2400" i="0">
                            <a:solidFill>
                              <a:srgbClr val="000000"/>
                            </a:solidFill>
                            <a:latin typeface="Cambria Math" panose="02040503050406030204" pitchFamily="18" charset="0"/>
                          </a:rPr>
                          <m:t> ,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𝑧</m:t>
                            </m:r>
                          </m:e>
                          <m:sup>
                            <m:r>
                              <a:rPr lang="zh-CN" altLang="en-US" sz="2400" i="1">
                                <a:solidFill>
                                  <a:srgbClr val="000000"/>
                                </a:solidFill>
                                <a:latin typeface="Cambria Math" panose="02040503050406030204" pitchFamily="18" charset="0"/>
                              </a:rPr>
                              <m:t>′</m:t>
                            </m:r>
                          </m:sup>
                        </m:sSup>
                        <m:r>
                          <m:rPr>
                            <m:nor/>
                          </m:rPr>
                          <a:rPr lang="zh-CN" altLang="en-US" sz="2400" i="0">
                            <a:solidFill>
                              <a:srgbClr val="000000"/>
                            </a:solidFill>
                            <a:latin typeface="Cambria Math" panose="02040503050406030204" pitchFamily="18" charset="0"/>
                          </a:rPr>
                          <m:t> , </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oMath>
                    </m:oMathPara>
                  </a14:m>
                  <a:endParaRPr lang="zh-CN" altLang="en-US" sz="2400"/>
                </a:p>
              </p:txBody>
            </p:sp>
          </mc:Choice>
          <mc:Fallback xmlns="">
            <p:sp>
              <p:nvSpPr>
                <p:cNvPr id="172071" name="Object 39">
                  <a:extLst>
                    <a:ext uri="{FF2B5EF4-FFF2-40B4-BE49-F238E27FC236}">
                      <a16:creationId xmlns:a16="http://schemas.microsoft.com/office/drawing/2014/main" id="{A0010B3E-B359-461A-9230-DC4734856BFB}"/>
                    </a:ext>
                  </a:extLst>
                </p:cNvPr>
                <p:cNvSpPr txBox="1">
                  <a:spLocks noRot="1" noChangeAspect="1" noMove="1" noResize="1" noEditPoints="1" noAdjustHandles="1" noChangeArrowheads="1" noChangeShapeType="1" noTextEdit="1"/>
                </p:cNvSpPr>
                <p:nvPr/>
              </p:nvSpPr>
              <p:spPr bwMode="auto">
                <a:xfrm>
                  <a:off x="1334" y="3142"/>
                  <a:ext cx="1811" cy="333"/>
                </a:xfrm>
                <a:prstGeom prst="rect">
                  <a:avLst/>
                </a:prstGeom>
                <a:blipFill>
                  <a:blip r:embed="rId6"/>
                  <a:stretch>
                    <a:fillRect b="-1714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72" name="Object 40">
                  <a:extLst>
                    <a:ext uri="{FF2B5EF4-FFF2-40B4-BE49-F238E27FC236}">
                      <a16:creationId xmlns:a16="http://schemas.microsoft.com/office/drawing/2014/main" id="{F5DE744D-265B-4EE6-86FD-AD85BA6A90D8}"/>
                    </a:ext>
                  </a:extLst>
                </p:cNvPr>
                <p:cNvSpPr txBox="1"/>
                <p:nvPr/>
              </p:nvSpPr>
              <p:spPr bwMode="auto">
                <a:xfrm>
                  <a:off x="1025" y="3168"/>
                  <a:ext cx="360" cy="297"/>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p>
                          <m:sSupPr>
                            <m:ctrlPr>
                              <a:rPr lang="zh-CN" altLang="en-US" sz="2000" i="1" smtClean="0">
                                <a:solidFill>
                                  <a:srgbClr val="000000"/>
                                </a:solidFill>
                                <a:latin typeface="Cambria Math" panose="02040503050406030204" pitchFamily="18" charset="0"/>
                              </a:rPr>
                            </m:ctrlPr>
                          </m:sSupPr>
                          <m:e>
                            <m:r>
                              <m:rPr>
                                <m:sty m:val="p"/>
                              </m:rPr>
                              <a:rPr lang="zh-CN" altLang="en-US" sz="2000" i="0">
                                <a:solidFill>
                                  <a:srgbClr val="000000"/>
                                </a:solidFill>
                                <a:latin typeface="Cambria Math" panose="02040503050406030204" pitchFamily="18" charset="0"/>
                              </a:rPr>
                              <m:t>S</m:t>
                            </m:r>
                          </m:e>
                          <m:sup>
                            <m:r>
                              <a:rPr lang="zh-CN" altLang="en-US" sz="2000" i="1">
                                <a:solidFill>
                                  <a:srgbClr val="000000"/>
                                </a:solidFill>
                                <a:latin typeface="Cambria Math" panose="02040503050406030204" pitchFamily="18" charset="0"/>
                              </a:rPr>
                              <m:t>′</m:t>
                            </m:r>
                          </m:sup>
                        </m:sSup>
                        <m:r>
                          <a:rPr lang="en-US" altLang="zh-CN" sz="2000" b="0" i="1" smtClean="0">
                            <a:solidFill>
                              <a:srgbClr val="000000"/>
                            </a:solidFill>
                            <a:latin typeface="Cambria Math" panose="02040503050406030204" pitchFamily="18" charset="0"/>
                          </a:rPr>
                          <m:t>:</m:t>
                        </m:r>
                      </m:oMath>
                    </m:oMathPara>
                  </a14:m>
                  <a:endParaRPr lang="zh-CN" altLang="en-US" sz="2000" dirty="0"/>
                </a:p>
              </p:txBody>
            </p:sp>
          </mc:Choice>
          <mc:Fallback xmlns="">
            <p:sp>
              <p:nvSpPr>
                <p:cNvPr id="172072" name="Object 40">
                  <a:extLst>
                    <a:ext uri="{FF2B5EF4-FFF2-40B4-BE49-F238E27FC236}">
                      <a16:creationId xmlns:a16="http://schemas.microsoft.com/office/drawing/2014/main" id="{F5DE744D-265B-4EE6-86FD-AD85BA6A90D8}"/>
                    </a:ext>
                  </a:extLst>
                </p:cNvPr>
                <p:cNvSpPr txBox="1">
                  <a:spLocks noRot="1" noChangeAspect="1" noMove="1" noResize="1" noEditPoints="1" noAdjustHandles="1" noChangeArrowheads="1" noChangeShapeType="1" noTextEdit="1"/>
                </p:cNvSpPr>
                <p:nvPr/>
              </p:nvSpPr>
              <p:spPr bwMode="auto">
                <a:xfrm>
                  <a:off x="1025" y="3168"/>
                  <a:ext cx="360" cy="297"/>
                </a:xfrm>
                <a:prstGeom prst="rect">
                  <a:avLst/>
                </a:prstGeom>
                <a:blipFill>
                  <a:blip r:embed="rId7"/>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2073" name="Object 41">
                <a:extLst>
                  <a:ext uri="{FF2B5EF4-FFF2-40B4-BE49-F238E27FC236}">
                    <a16:creationId xmlns:a16="http://schemas.microsoft.com/office/drawing/2014/main" id="{1C023029-F9CD-4528-B222-2140EC2A8EE6}"/>
                  </a:ext>
                </a:extLst>
              </p:cNvPr>
              <p:cNvSpPr txBox="1"/>
              <p:nvPr/>
            </p:nvSpPr>
            <p:spPr bwMode="auto">
              <a:xfrm>
                <a:off x="2455369" y="4090102"/>
                <a:ext cx="1830387" cy="231298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eqArr>
                            <m:eqArrPr>
                              <m:ctrlPr>
                                <a:rPr lang="zh-CN" altLang="en-US" sz="2400" i="1">
                                  <a:solidFill>
                                    <a:srgbClr val="000000"/>
                                  </a:solidFill>
                                  <a:latin typeface="Cambria Math" panose="02040503050406030204" pitchFamily="18" charset="0"/>
                                </a:rPr>
                              </m:ctrlPr>
                            </m:eqArrPr>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𝑢𝑡</m:t>
                              </m:r>
                            </m:e>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e>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𝑧</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𝑧</m:t>
                              </m:r>
                            </m:e>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e>
                          </m:eqArr>
                        </m:e>
                      </m:d>
                    </m:oMath>
                  </m:oMathPara>
                </a14:m>
                <a:endParaRPr lang="zh-CN" altLang="en-US" sz="2400"/>
              </a:p>
            </p:txBody>
          </p:sp>
        </mc:Choice>
        <mc:Fallback xmlns="">
          <p:sp>
            <p:nvSpPr>
              <p:cNvPr id="172073" name="Object 41">
                <a:extLst>
                  <a:ext uri="{FF2B5EF4-FFF2-40B4-BE49-F238E27FC236}">
                    <a16:creationId xmlns:a16="http://schemas.microsoft.com/office/drawing/2014/main" id="{1C023029-F9CD-4528-B222-2140EC2A8EE6}"/>
                  </a:ext>
                </a:extLst>
              </p:cNvPr>
              <p:cNvSpPr txBox="1">
                <a:spLocks noRot="1" noChangeAspect="1" noMove="1" noResize="1" noEditPoints="1" noAdjustHandles="1" noChangeArrowheads="1" noChangeShapeType="1" noTextEdit="1"/>
              </p:cNvSpPr>
              <p:nvPr/>
            </p:nvSpPr>
            <p:spPr bwMode="auto">
              <a:xfrm>
                <a:off x="2455369" y="4090102"/>
                <a:ext cx="1830387" cy="2312987"/>
              </a:xfrm>
              <a:prstGeom prst="rect">
                <a:avLst/>
              </a:prstGeom>
              <a:blipFill>
                <a:blip r:embed="rId8"/>
                <a:stretch>
                  <a:fillRect/>
                </a:stretch>
              </a:blipFill>
              <a:ln>
                <a:noFill/>
              </a:ln>
              <a:effectLst/>
            </p:spPr>
            <p:txBody>
              <a:bodyPr/>
              <a:lstStyle/>
              <a:p>
                <a:r>
                  <a:rPr lang="zh-CN" altLang="en-US">
                    <a:noFill/>
                  </a:rPr>
                  <a:t> </a:t>
                </a:r>
              </a:p>
            </p:txBody>
          </p:sp>
        </mc:Fallback>
      </mc:AlternateContent>
      <p:grpSp>
        <p:nvGrpSpPr>
          <p:cNvPr id="172074" name="Group 42">
            <a:extLst>
              <a:ext uri="{FF2B5EF4-FFF2-40B4-BE49-F238E27FC236}">
                <a16:creationId xmlns:a16="http://schemas.microsoft.com/office/drawing/2014/main" id="{00A86A1D-0420-45E6-816F-C1621305AB41}"/>
              </a:ext>
            </a:extLst>
          </p:cNvPr>
          <p:cNvGrpSpPr>
            <a:grpSpLocks/>
          </p:cNvGrpSpPr>
          <p:nvPr/>
        </p:nvGrpSpPr>
        <p:grpSpPr bwMode="auto">
          <a:xfrm>
            <a:off x="4292106" y="4171064"/>
            <a:ext cx="2932113" cy="2312988"/>
            <a:chOff x="1950" y="2336"/>
            <a:chExt cx="1847" cy="1457"/>
          </a:xfrm>
        </p:grpSpPr>
        <mc:AlternateContent xmlns:mc="http://schemas.openxmlformats.org/markup-compatibility/2006" xmlns:a14="http://schemas.microsoft.com/office/drawing/2010/main">
          <mc:Choice Requires="a14">
            <p:sp>
              <p:nvSpPr>
                <p:cNvPr id="172075" name="Object 43">
                  <a:extLst>
                    <a:ext uri="{FF2B5EF4-FFF2-40B4-BE49-F238E27FC236}">
                      <a16:creationId xmlns:a16="http://schemas.microsoft.com/office/drawing/2014/main" id="{3A9A9451-F1DB-4028-A729-D768E6D68114}"/>
                    </a:ext>
                  </a:extLst>
                </p:cNvPr>
                <p:cNvSpPr txBox="1"/>
                <p:nvPr/>
              </p:nvSpPr>
              <p:spPr bwMode="auto">
                <a:xfrm>
                  <a:off x="2584" y="2336"/>
                  <a:ext cx="1213" cy="145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eqArr>
                              <m:eqArrPr>
                                <m:ctrlPr>
                                  <a:rPr lang="zh-CN" altLang="en-US" sz="2400" i="1">
                                    <a:solidFill>
                                      <a:srgbClr val="000000"/>
                                    </a:solidFill>
                                    <a:latin typeface="Cambria Math" panose="02040503050406030204" pitchFamily="18" charset="0"/>
                                  </a:rPr>
                                </m:ctrlPr>
                              </m:eqArrPr>
                              <m:e>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𝑢</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e>
                              <m:e>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𝑦</m:t>
                                    </m:r>
                                  </m:e>
                                  <m:sup>
                                    <m:r>
                                      <a:rPr lang="zh-CN" altLang="en-US" sz="2400" i="1">
                                        <a:solidFill>
                                          <a:srgbClr val="000000"/>
                                        </a:solidFill>
                                        <a:latin typeface="Cambria Math" panose="02040503050406030204" pitchFamily="18" charset="0"/>
                                      </a:rPr>
                                      <m:t>′</m:t>
                                    </m:r>
                                  </m:sup>
                                </m:sSup>
                              </m:e>
                              <m:e>
                                <m:r>
                                  <a:rPr lang="zh-CN" altLang="en-US" sz="2400" i="1">
                                    <a:solidFill>
                                      <a:srgbClr val="000000"/>
                                    </a:solidFill>
                                    <a:latin typeface="Cambria Math" panose="02040503050406030204" pitchFamily="18" charset="0"/>
                                  </a:rPr>
                                  <m:t>𝑧</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𝑧</m:t>
                                    </m:r>
                                  </m:e>
                                  <m:sup>
                                    <m:r>
                                      <a:rPr lang="zh-CN" altLang="en-US" sz="2400" i="1">
                                        <a:solidFill>
                                          <a:srgbClr val="000000"/>
                                        </a:solidFill>
                                        <a:latin typeface="Cambria Math" panose="02040503050406030204" pitchFamily="18" charset="0"/>
                                      </a:rPr>
                                      <m:t>′</m:t>
                                    </m:r>
                                  </m:sup>
                                </m:sSup>
                              </m:e>
                              <m:e>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m:t>
                                    </m:r>
                                  </m:sup>
                                </m:sSup>
                              </m:e>
                            </m:eqArr>
                          </m:e>
                        </m:d>
                      </m:oMath>
                    </m:oMathPara>
                  </a14:m>
                  <a:endParaRPr lang="zh-CN" altLang="en-US" sz="2400" dirty="0"/>
                </a:p>
              </p:txBody>
            </p:sp>
          </mc:Choice>
          <mc:Fallback xmlns="">
            <p:sp>
              <p:nvSpPr>
                <p:cNvPr id="172075" name="Object 43">
                  <a:extLst>
                    <a:ext uri="{FF2B5EF4-FFF2-40B4-BE49-F238E27FC236}">
                      <a16:creationId xmlns:a16="http://schemas.microsoft.com/office/drawing/2014/main" id="{3A9A9451-F1DB-4028-A729-D768E6D68114}"/>
                    </a:ext>
                  </a:extLst>
                </p:cNvPr>
                <p:cNvSpPr txBox="1">
                  <a:spLocks noRot="1" noChangeAspect="1" noMove="1" noResize="1" noEditPoints="1" noAdjustHandles="1" noChangeArrowheads="1" noChangeShapeType="1" noTextEdit="1"/>
                </p:cNvSpPr>
                <p:nvPr/>
              </p:nvSpPr>
              <p:spPr bwMode="auto">
                <a:xfrm>
                  <a:off x="2584" y="2336"/>
                  <a:ext cx="1213" cy="1457"/>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76" name="Object 44">
                  <a:extLst>
                    <a:ext uri="{FF2B5EF4-FFF2-40B4-BE49-F238E27FC236}">
                      <a16:creationId xmlns:a16="http://schemas.microsoft.com/office/drawing/2014/main" id="{F114A87B-AAA9-4B76-9602-E33CB10DF815}"/>
                    </a:ext>
                  </a:extLst>
                </p:cNvPr>
                <p:cNvSpPr txBox="1"/>
                <p:nvPr/>
              </p:nvSpPr>
              <p:spPr bwMode="auto">
                <a:xfrm>
                  <a:off x="1950" y="2632"/>
                  <a:ext cx="590" cy="381"/>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zh-CN" altLang="en-US" sz="2400" i="1">
                                <a:solidFill>
                                  <a:srgbClr val="000000"/>
                                </a:solidFill>
                                <a:latin typeface="Cambria Math" panose="02040503050406030204" pitchFamily="18" charset="0"/>
                              </a:rPr>
                            </m:ctrlPr>
                          </m:groupChrPr>
                          <m:e>
                            <m:r>
                              <a:rPr lang="zh-CN" altLang="en-US" sz="240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 </m:t>
                            </m:r>
                          </m:e>
                        </m:groupChr>
                      </m:oMath>
                    </m:oMathPara>
                  </a14:m>
                  <a:endParaRPr lang="zh-CN" altLang="en-US" sz="2400" dirty="0"/>
                </a:p>
              </p:txBody>
            </p:sp>
          </mc:Choice>
          <mc:Fallback xmlns="">
            <p:sp>
              <p:nvSpPr>
                <p:cNvPr id="172076" name="Object 44">
                  <a:extLst>
                    <a:ext uri="{FF2B5EF4-FFF2-40B4-BE49-F238E27FC236}">
                      <a16:creationId xmlns:a16="http://schemas.microsoft.com/office/drawing/2014/main" id="{F114A87B-AAA9-4B76-9602-E33CB10DF815}"/>
                    </a:ext>
                  </a:extLst>
                </p:cNvPr>
                <p:cNvSpPr txBox="1">
                  <a:spLocks noRot="1" noChangeAspect="1" noMove="1" noResize="1" noEditPoints="1" noAdjustHandles="1" noChangeArrowheads="1" noChangeShapeType="1" noTextEdit="1"/>
                </p:cNvSpPr>
                <p:nvPr/>
              </p:nvSpPr>
              <p:spPr bwMode="auto">
                <a:xfrm>
                  <a:off x="1950" y="2632"/>
                  <a:ext cx="590" cy="381"/>
                </a:xfrm>
                <a:prstGeom prst="rect">
                  <a:avLst/>
                </a:prstGeom>
                <a:blipFill>
                  <a:blip r:embed="rId10"/>
                  <a:stretch>
                    <a:fillRect/>
                  </a:stretch>
                </a:blipFill>
                <a:ln>
                  <a:noFill/>
                </a:ln>
                <a:effectLst/>
              </p:spPr>
              <p:txBody>
                <a:bodyPr/>
                <a:lstStyle/>
                <a:p>
                  <a:r>
                    <a:rPr lang="zh-CN" altLang="en-US">
                      <a:noFill/>
                    </a:rPr>
                    <a:t> </a:t>
                  </a:r>
                </a:p>
              </p:txBody>
            </p:sp>
          </mc:Fallback>
        </mc:AlternateContent>
      </p:grpSp>
    </p:spTree>
    <p:extLst>
      <p:ext uri="{BB962C8B-B14F-4D97-AF65-F5344CB8AC3E}">
        <p14:creationId xmlns:p14="http://schemas.microsoft.com/office/powerpoint/2010/main" val="3288820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1488661" y="1639117"/>
                <a:ext cx="2282997" cy="8221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𝑢𝑡</m:t>
                          </m:r>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488661" y="1639117"/>
                <a:ext cx="2282997" cy="82214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529890" y="2812242"/>
                <a:ext cx="92531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𝑦</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oMath>
                  </m:oMathPara>
                </a14:m>
                <a:endParaRPr lang="zh-CN" altLang="en-US" sz="24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529890" y="2812242"/>
                <a:ext cx="925318" cy="369332"/>
              </a:xfrm>
              <a:prstGeom prst="rect">
                <a:avLst/>
              </a:prstGeom>
              <a:blipFill>
                <a:blip r:embed="rId3"/>
                <a:stretch>
                  <a:fillRect l="-7895" r="-723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529890" y="3645126"/>
                <a:ext cx="8804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𝑧</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𝑧</m:t>
                      </m:r>
                    </m:oMath>
                  </m:oMathPara>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1529890" y="3645126"/>
                <a:ext cx="880434" cy="369332"/>
              </a:xfrm>
              <a:prstGeom prst="rect">
                <a:avLst/>
              </a:prstGeom>
              <a:blipFill>
                <a:blip r:embed="rId4"/>
                <a:stretch>
                  <a:fillRect l="-4861" r="-3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488661" y="4273044"/>
                <a:ext cx="2241768" cy="896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𝑡</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𝑢𝑥</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488661" y="4273044"/>
                <a:ext cx="2241768" cy="896143"/>
              </a:xfrm>
              <a:prstGeom prst="rect">
                <a:avLst/>
              </a:prstGeom>
              <a:blipFill>
                <a:blip r:embed="rId5"/>
                <a:stretch>
                  <a:fillRect/>
                </a:stretch>
              </a:blipFill>
            </p:spPr>
            <p:txBody>
              <a:bodyPr/>
              <a:lstStyle/>
              <a:p>
                <a:r>
                  <a:rPr lang="zh-CN" altLang="en-US">
                    <a:noFill/>
                  </a:rPr>
                  <a:t> </a:t>
                </a:r>
              </a:p>
            </p:txBody>
          </p:sp>
        </mc:Fallback>
      </mc:AlternateContent>
      <p:sp>
        <p:nvSpPr>
          <p:cNvPr id="6" name="矩形 5"/>
          <p:cNvSpPr/>
          <p:nvPr/>
        </p:nvSpPr>
        <p:spPr>
          <a:xfrm>
            <a:off x="837324" y="681887"/>
            <a:ext cx="1723549" cy="461665"/>
          </a:xfrm>
          <a:prstGeom prst="rect">
            <a:avLst/>
          </a:prstGeom>
        </p:spPr>
        <p:txBody>
          <a:bodyPr wrap="none">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洛伦兹变换</a:t>
            </a:r>
            <a:endParaRPr lang="zh-CN" altLang="en-US" sz="2400" dirty="0"/>
          </a:p>
        </p:txBody>
      </p:sp>
      <mc:AlternateContent xmlns:mc="http://schemas.openxmlformats.org/markup-compatibility/2006" xmlns:a14="http://schemas.microsoft.com/office/drawing/2010/main">
        <mc:Choice Requires="a14">
          <p:sp>
            <p:nvSpPr>
              <p:cNvPr id="7" name="文本框 6"/>
              <p:cNvSpPr txBox="1"/>
              <p:nvPr/>
            </p:nvSpPr>
            <p:spPr>
              <a:xfrm>
                <a:off x="5707034" y="1639117"/>
                <a:ext cx="2182584" cy="870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𝑡</m:t>
                              </m:r>
                            </m:e>
                            <m:sup>
                              <m:r>
                                <a:rPr lang="en-US" altLang="zh-CN" sz="2400" b="0" i="1" smtClean="0">
                                  <a:latin typeface="Cambria Math" panose="02040503050406030204" pitchFamily="18" charset="0"/>
                                </a:rPr>
                                <m:t>′</m:t>
                              </m:r>
                            </m:sup>
                          </m:sSup>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5707034" y="1639117"/>
                <a:ext cx="2182584" cy="87036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5748263" y="2812242"/>
                <a:ext cx="92531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𝑦</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m:t>
                          </m:r>
                          <m:r>
                            <a:rPr lang="en-US" altLang="zh-CN" sz="2400" i="1">
                              <a:latin typeface="Cambria Math" panose="02040503050406030204" pitchFamily="18" charset="0"/>
                            </a:rPr>
                            <m:t>𝑦</m:t>
                          </m:r>
                        </m:e>
                        <m:sup>
                          <m:r>
                            <a:rPr lang="en-US" altLang="zh-CN" sz="2400" i="1">
                              <a:latin typeface="Cambria Math" panose="02040503050406030204" pitchFamily="18" charset="0"/>
                            </a:rPr>
                            <m:t>′</m:t>
                          </m:r>
                        </m:sup>
                      </m:sSup>
                    </m:oMath>
                  </m:oMathPara>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5748263" y="2812242"/>
                <a:ext cx="925318" cy="369332"/>
              </a:xfrm>
              <a:prstGeom prst="rect">
                <a:avLst/>
              </a:prstGeom>
              <a:blipFill>
                <a:blip r:embed="rId7"/>
                <a:stretch>
                  <a:fillRect l="-7895" r="-1316"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748263" y="3645126"/>
                <a:ext cx="8804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𝑧</m:t>
                      </m:r>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𝑧</m:t>
                          </m:r>
                        </m:e>
                        <m:sup>
                          <m:r>
                            <a:rPr lang="en-US" altLang="zh-CN" sz="2400" i="1">
                              <a:latin typeface="Cambria Math" panose="02040503050406030204" pitchFamily="18" charset="0"/>
                            </a:rPr>
                            <m:t>′</m:t>
                          </m:r>
                        </m:sup>
                      </m:sSup>
                    </m:oMath>
                  </m:oMathPara>
                </a14:m>
                <a:endParaRPr lang="zh-CN" altLang="en-US" sz="2400" dirty="0"/>
              </a:p>
            </p:txBody>
          </p:sp>
        </mc:Choice>
        <mc:Fallback xmlns="">
          <p:sp>
            <p:nvSpPr>
              <p:cNvPr id="9" name="文本框 8"/>
              <p:cNvSpPr txBox="1">
                <a:spLocks noRot="1" noChangeAspect="1" noMove="1" noResize="1" noEditPoints="1" noAdjustHandles="1" noChangeArrowheads="1" noChangeShapeType="1" noTextEdit="1"/>
              </p:cNvSpPr>
              <p:nvPr/>
            </p:nvSpPr>
            <p:spPr>
              <a:xfrm>
                <a:off x="5748263" y="3645126"/>
                <a:ext cx="880434" cy="369332"/>
              </a:xfrm>
              <a:prstGeom prst="rect">
                <a:avLst/>
              </a:prstGeom>
              <a:blipFill>
                <a:blip r:embed="rId8"/>
                <a:stretch>
                  <a:fillRect l="-4861" r="-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5707034" y="4273044"/>
                <a:ext cx="2139111" cy="896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𝑡</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b="0" i="1" smtClean="0">
                                  <a:latin typeface="Cambria Math" panose="02040503050406030204" pitchFamily="18" charset="0"/>
                                </a:rPr>
                                <m:t>′</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𝑢</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5707034" y="4273044"/>
                <a:ext cx="2139111" cy="896143"/>
              </a:xfrm>
              <a:prstGeom prst="rect">
                <a:avLst/>
              </a:prstGeom>
              <a:blipFill>
                <a:blip r:embed="rId9"/>
                <a:stretch>
                  <a:fillRect/>
                </a:stretch>
              </a:blipFill>
            </p:spPr>
            <p:txBody>
              <a:bodyPr/>
              <a:lstStyle/>
              <a:p>
                <a:r>
                  <a:rPr lang="zh-CN" altLang="en-US">
                    <a:noFill/>
                  </a:rPr>
                  <a:t> </a:t>
                </a:r>
              </a:p>
            </p:txBody>
          </p:sp>
        </mc:Fallback>
      </mc:AlternateContent>
      <p:sp>
        <p:nvSpPr>
          <p:cNvPr id="11" name="右箭头 10"/>
          <p:cNvSpPr/>
          <p:nvPr/>
        </p:nvSpPr>
        <p:spPr>
          <a:xfrm>
            <a:off x="4183190" y="3181574"/>
            <a:ext cx="761672" cy="463552"/>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418187" y="5651945"/>
            <a:ext cx="4572000" cy="646331"/>
          </a:xfrm>
          <a:prstGeom prst="rect">
            <a:avLst/>
          </a:prstGeom>
        </p:spPr>
        <p:txBody>
          <a:bodyPr>
            <a:spAutoFit/>
          </a:bodyPr>
          <a:lstStyle/>
          <a:p>
            <a:r>
              <a:rPr lang="en-US" altLang="zh-CN" dirty="0"/>
              <a:t>https://www.bilibili.com/video/BV17P4y1V7BX?spm_id_from=333.337.search-card.all.click</a:t>
            </a:r>
            <a:endParaRPr lang="zh-CN" altLang="en-US" dirty="0"/>
          </a:p>
        </p:txBody>
      </p:sp>
    </p:spTree>
    <p:extLst>
      <p:ext uri="{BB962C8B-B14F-4D97-AF65-F5344CB8AC3E}">
        <p14:creationId xmlns:p14="http://schemas.microsoft.com/office/powerpoint/2010/main" val="11716307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Text Box 4"/>
          <p:cNvSpPr txBox="1">
            <a:spLocks noChangeArrowheads="1"/>
          </p:cNvSpPr>
          <p:nvPr/>
        </p:nvSpPr>
        <p:spPr bwMode="auto">
          <a:xfrm>
            <a:off x="539750" y="1125538"/>
            <a:ext cx="4321175"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000FF"/>
                </a:solidFill>
                <a:effectLst/>
                <a:latin typeface="黑体" panose="02010609060101010101" pitchFamily="49" charset="-122"/>
                <a:ea typeface="黑体" panose="02010609060101010101" pitchFamily="49" charset="-122"/>
              </a:rPr>
              <a:t>3.1 </a:t>
            </a:r>
            <a:r>
              <a:rPr kumimoji="1" lang="zh-CN" altLang="en-US" sz="2800" b="1" dirty="0">
                <a:solidFill>
                  <a:srgbClr val="0000FF"/>
                </a:solidFill>
                <a:effectLst/>
                <a:latin typeface="黑体" panose="02010609060101010101" pitchFamily="49" charset="-122"/>
                <a:ea typeface="黑体" panose="02010609060101010101" pitchFamily="49" charset="-122"/>
              </a:rPr>
              <a:t>同时的相对性</a:t>
            </a:r>
          </a:p>
        </p:txBody>
      </p:sp>
      <p:grpSp>
        <p:nvGrpSpPr>
          <p:cNvPr id="76933" name="Group 133"/>
          <p:cNvGrpSpPr>
            <a:grpSpLocks/>
          </p:cNvGrpSpPr>
          <p:nvPr/>
        </p:nvGrpSpPr>
        <p:grpSpPr bwMode="auto">
          <a:xfrm>
            <a:off x="606425" y="1998663"/>
            <a:ext cx="3749675" cy="1358900"/>
            <a:chOff x="382" y="935"/>
            <a:chExt cx="2362" cy="856"/>
          </a:xfrm>
        </p:grpSpPr>
        <p:grpSp>
          <p:nvGrpSpPr>
            <p:cNvPr id="76932" name="Group 132"/>
            <p:cNvGrpSpPr>
              <a:grpSpLocks/>
            </p:cNvGrpSpPr>
            <p:nvPr/>
          </p:nvGrpSpPr>
          <p:grpSpPr bwMode="auto">
            <a:xfrm>
              <a:off x="382" y="935"/>
              <a:ext cx="2362" cy="856"/>
              <a:chOff x="382" y="935"/>
              <a:chExt cx="2362" cy="856"/>
            </a:xfrm>
          </p:grpSpPr>
          <p:graphicFrame>
            <p:nvGraphicFramePr>
              <p:cNvPr id="76822" name="Object 22"/>
              <p:cNvGraphicFramePr>
                <a:graphicFrameLocks noChangeAspect="1"/>
              </p:cNvGraphicFramePr>
              <p:nvPr/>
            </p:nvGraphicFramePr>
            <p:xfrm>
              <a:off x="382" y="935"/>
              <a:ext cx="1484" cy="322"/>
            </p:xfrm>
            <a:graphic>
              <a:graphicData uri="http://schemas.openxmlformats.org/presentationml/2006/ole">
                <mc:AlternateContent xmlns:mc="http://schemas.openxmlformats.org/markup-compatibility/2006">
                  <mc:Choice xmlns:v="urn:schemas-microsoft-com:vml" Requires="v">
                    <p:oleObj spid="_x0000_s17606" name="Equation" r:id="rId3" imgW="990360" imgH="215640" progId="Equation.DSMT4">
                      <p:embed/>
                    </p:oleObj>
                  </mc:Choice>
                  <mc:Fallback>
                    <p:oleObj name="Equation" r:id="rId3" imgW="990360" imgH="215640" progId="Equation.DSMT4">
                      <p:embed/>
                      <p:pic>
                        <p:nvPicPr>
                          <p:cNvPr id="76822"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 y="935"/>
                            <a:ext cx="1484"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87" name="Object 87"/>
              <p:cNvGraphicFramePr>
                <a:graphicFrameLocks noChangeAspect="1"/>
              </p:cNvGraphicFramePr>
              <p:nvPr/>
            </p:nvGraphicFramePr>
            <p:xfrm>
              <a:off x="2427" y="1302"/>
              <a:ext cx="317" cy="489"/>
            </p:xfrm>
            <a:graphic>
              <a:graphicData uri="http://schemas.openxmlformats.org/presentationml/2006/ole">
                <mc:AlternateContent xmlns:mc="http://schemas.openxmlformats.org/markup-compatibility/2006">
                  <mc:Choice xmlns:v="urn:schemas-microsoft-com:vml" Requires="v">
                    <p:oleObj spid="_x0000_s17607" name="Image" r:id="rId5" imgW="736248" imgH="1117460" progId="Photoshop.Image.6">
                      <p:embed/>
                    </p:oleObj>
                  </mc:Choice>
                  <mc:Fallback>
                    <p:oleObj name="Image" r:id="rId5" imgW="736248" imgH="1117460" progId="Photoshop.Image.6">
                      <p:embed/>
                      <p:pic>
                        <p:nvPicPr>
                          <p:cNvPr id="76887" name="Object 8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7" y="1302"/>
                            <a:ext cx="317" cy="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6888" name="Object 88"/>
            <p:cNvGraphicFramePr>
              <a:graphicFrameLocks noChangeAspect="1"/>
            </p:cNvGraphicFramePr>
            <p:nvPr/>
          </p:nvGraphicFramePr>
          <p:xfrm>
            <a:off x="2517" y="1082"/>
            <a:ext cx="184" cy="216"/>
          </p:xfrm>
          <a:graphic>
            <a:graphicData uri="http://schemas.openxmlformats.org/presentationml/2006/ole">
              <mc:AlternateContent xmlns:mc="http://schemas.openxmlformats.org/markup-compatibility/2006">
                <mc:Choice xmlns:v="urn:schemas-microsoft-com:vml" Requires="v">
                  <p:oleObj spid="_x0000_s17608" name="公式" r:id="rId7" imgW="152280" imgH="177480" progId="Equation.3">
                    <p:embed/>
                  </p:oleObj>
                </mc:Choice>
                <mc:Fallback>
                  <p:oleObj name="公式" r:id="rId7" imgW="152280" imgH="177480" progId="Equation.3">
                    <p:embed/>
                    <p:pic>
                      <p:nvPicPr>
                        <p:cNvPr id="76888" name="Object 8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7" y="1082"/>
                          <a:ext cx="184"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6929" name="Group 129"/>
          <p:cNvGrpSpPr>
            <a:grpSpLocks/>
          </p:cNvGrpSpPr>
          <p:nvPr/>
        </p:nvGrpSpPr>
        <p:grpSpPr bwMode="auto">
          <a:xfrm>
            <a:off x="3563938" y="1927225"/>
            <a:ext cx="4583112" cy="2060575"/>
            <a:chOff x="2624" y="890"/>
            <a:chExt cx="2887" cy="1298"/>
          </a:xfrm>
        </p:grpSpPr>
        <p:sp>
          <p:nvSpPr>
            <p:cNvPr id="76874" name="Rectangle 74"/>
            <p:cNvSpPr>
              <a:spLocks noChangeArrowheads="1"/>
            </p:cNvSpPr>
            <p:nvPr/>
          </p:nvSpPr>
          <p:spPr bwMode="auto">
            <a:xfrm>
              <a:off x="3141" y="1457"/>
              <a:ext cx="148" cy="332"/>
            </a:xfrm>
            <a:prstGeom prst="rect">
              <a:avLst/>
            </a:prstGeom>
            <a:solidFill>
              <a:srgbClr val="FFFF99"/>
            </a:solidFill>
            <a:ln w="2857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rgbClr val="FF0000"/>
                  </a:solidFill>
                  <a:effectLst/>
                  <a:latin typeface="Times New Roman" panose="02020603050405020304" pitchFamily="18" charset="0"/>
                  <a:ea typeface="宋体" panose="02010600030101010101" pitchFamily="2" charset="-122"/>
                </a:rPr>
                <a:t>A</a:t>
              </a:r>
            </a:p>
          </p:txBody>
        </p:sp>
        <p:sp>
          <p:nvSpPr>
            <p:cNvPr id="76875" name="AutoShape 75"/>
            <p:cNvSpPr>
              <a:spLocks noChangeArrowheads="1"/>
            </p:cNvSpPr>
            <p:nvPr/>
          </p:nvSpPr>
          <p:spPr bwMode="auto">
            <a:xfrm>
              <a:off x="4124" y="1485"/>
              <a:ext cx="155" cy="156"/>
            </a:xfrm>
            <a:prstGeom prst="irregularSeal1">
              <a:avLst/>
            </a:prstGeom>
            <a:solidFill>
              <a:srgbClr val="FFFF66"/>
            </a:solidFill>
            <a:ln w="2857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76" name="Line 76"/>
            <p:cNvSpPr>
              <a:spLocks noChangeShapeType="1"/>
            </p:cNvSpPr>
            <p:nvPr/>
          </p:nvSpPr>
          <p:spPr bwMode="auto">
            <a:xfrm>
              <a:off x="4334" y="1565"/>
              <a:ext cx="763" cy="3"/>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77" name="Line 77"/>
            <p:cNvSpPr>
              <a:spLocks noChangeShapeType="1"/>
            </p:cNvSpPr>
            <p:nvPr/>
          </p:nvSpPr>
          <p:spPr bwMode="auto">
            <a:xfrm flipH="1">
              <a:off x="3307" y="1565"/>
              <a:ext cx="697" cy="3"/>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78" name="AutoShape 78"/>
            <p:cNvSpPr>
              <a:spLocks noChangeArrowheads="1"/>
            </p:cNvSpPr>
            <p:nvPr/>
          </p:nvSpPr>
          <p:spPr bwMode="auto">
            <a:xfrm>
              <a:off x="3195" y="890"/>
              <a:ext cx="146" cy="442"/>
            </a:xfrm>
            <a:prstGeom prst="cloudCallout">
              <a:avLst>
                <a:gd name="adj1" fmla="val -48343"/>
                <a:gd name="adj2" fmla="val 78491"/>
              </a:avLst>
            </a:prstGeom>
            <a:solidFill>
              <a:srgbClr val="DE006F"/>
            </a:solidFill>
            <a:ln w="2857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sp>
          <p:nvSpPr>
            <p:cNvPr id="76879" name="AutoShape 79"/>
            <p:cNvSpPr>
              <a:spLocks noChangeArrowheads="1"/>
            </p:cNvSpPr>
            <p:nvPr/>
          </p:nvSpPr>
          <p:spPr bwMode="auto">
            <a:xfrm>
              <a:off x="5143" y="890"/>
              <a:ext cx="147" cy="442"/>
            </a:xfrm>
            <a:prstGeom prst="cloudCallout">
              <a:avLst>
                <a:gd name="adj1" fmla="val -48343"/>
                <a:gd name="adj2" fmla="val 78491"/>
              </a:avLst>
            </a:prstGeom>
            <a:solidFill>
              <a:srgbClr val="DE006F"/>
            </a:solidFill>
            <a:ln w="2857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sp>
          <p:nvSpPr>
            <p:cNvPr id="76880" name="Line 80"/>
            <p:cNvSpPr>
              <a:spLocks noChangeShapeType="1"/>
            </p:cNvSpPr>
            <p:nvPr/>
          </p:nvSpPr>
          <p:spPr bwMode="auto">
            <a:xfrm>
              <a:off x="2864" y="1789"/>
              <a:ext cx="2609"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81" name="Line 81"/>
            <p:cNvSpPr>
              <a:spLocks noChangeShapeType="1"/>
            </p:cNvSpPr>
            <p:nvPr/>
          </p:nvSpPr>
          <p:spPr bwMode="auto">
            <a:xfrm>
              <a:off x="3231" y="1899"/>
              <a:ext cx="0" cy="185"/>
            </a:xfrm>
            <a:prstGeom prst="line">
              <a:avLst/>
            </a:prstGeom>
            <a:noFill/>
            <a:ln w="190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82" name="Line 82"/>
            <p:cNvSpPr>
              <a:spLocks noChangeShapeType="1"/>
            </p:cNvSpPr>
            <p:nvPr/>
          </p:nvSpPr>
          <p:spPr bwMode="auto">
            <a:xfrm>
              <a:off x="5180" y="1899"/>
              <a:ext cx="0" cy="185"/>
            </a:xfrm>
            <a:prstGeom prst="line">
              <a:avLst/>
            </a:prstGeom>
            <a:noFill/>
            <a:ln w="190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83" name="Line 83"/>
            <p:cNvSpPr>
              <a:spLocks noChangeShapeType="1"/>
            </p:cNvSpPr>
            <p:nvPr/>
          </p:nvSpPr>
          <p:spPr bwMode="auto">
            <a:xfrm flipH="1">
              <a:off x="3243" y="2010"/>
              <a:ext cx="809"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84" name="Line 84"/>
            <p:cNvSpPr>
              <a:spLocks noChangeShapeType="1"/>
            </p:cNvSpPr>
            <p:nvPr/>
          </p:nvSpPr>
          <p:spPr bwMode="auto">
            <a:xfrm>
              <a:off x="4385" y="2010"/>
              <a:ext cx="809"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85" name="Text Box 85"/>
            <p:cNvSpPr txBox="1">
              <a:spLocks noChangeArrowheads="1"/>
            </p:cNvSpPr>
            <p:nvPr/>
          </p:nvSpPr>
          <p:spPr bwMode="auto">
            <a:xfrm>
              <a:off x="4060" y="1900"/>
              <a:ext cx="3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solidFill>
                    <a:srgbClr val="000066"/>
                  </a:solidFill>
                  <a:effectLst/>
                  <a:latin typeface="Times New Roman" panose="02020603050405020304" pitchFamily="18" charset="0"/>
                  <a:ea typeface="宋体" panose="02010600030101010101" pitchFamily="2" charset="-122"/>
                </a:rPr>
                <a:t>2</a:t>
              </a:r>
              <a:r>
                <a:rPr kumimoji="1" lang="en-US" altLang="zh-CN" sz="2400" i="1">
                  <a:solidFill>
                    <a:srgbClr val="000066"/>
                  </a:solidFill>
                  <a:effectLst/>
                  <a:latin typeface="Times New Roman" panose="02020603050405020304" pitchFamily="18" charset="0"/>
                  <a:ea typeface="宋体" panose="02010600030101010101" pitchFamily="2" charset="-122"/>
                </a:rPr>
                <a:t>l</a:t>
              </a:r>
              <a:r>
                <a:rPr kumimoji="1" lang="en-US" altLang="zh-CN" sz="2400" baseline="-25000">
                  <a:solidFill>
                    <a:srgbClr val="000066"/>
                  </a:solidFill>
                  <a:effectLst/>
                  <a:latin typeface="Times New Roman" panose="02020603050405020304" pitchFamily="18" charset="0"/>
                  <a:ea typeface="宋体" panose="02010600030101010101" pitchFamily="2" charset="-122"/>
                </a:rPr>
                <a:t>0</a:t>
              </a:r>
              <a:endParaRPr kumimoji="1" lang="en-US" altLang="zh-CN" sz="2400">
                <a:solidFill>
                  <a:srgbClr val="000066"/>
                </a:solidFill>
                <a:effectLst/>
                <a:latin typeface="Times New Roman" panose="02020603050405020304" pitchFamily="18" charset="0"/>
                <a:ea typeface="宋体" panose="02010600030101010101" pitchFamily="2" charset="-122"/>
              </a:endParaRPr>
            </a:p>
          </p:txBody>
        </p:sp>
        <p:sp>
          <p:nvSpPr>
            <p:cNvPr id="76886" name="Rectangle 86"/>
            <p:cNvSpPr>
              <a:spLocks noChangeArrowheads="1"/>
            </p:cNvSpPr>
            <p:nvPr/>
          </p:nvSpPr>
          <p:spPr bwMode="auto">
            <a:xfrm>
              <a:off x="2790" y="890"/>
              <a:ext cx="2721" cy="900"/>
            </a:xfrm>
            <a:prstGeom prst="rect">
              <a:avLst/>
            </a:prstGeom>
            <a:noFill/>
            <a:ln w="28575">
              <a:solidFill>
                <a:srgbClr val="99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89" name="Rectangle 89"/>
            <p:cNvSpPr>
              <a:spLocks noChangeArrowheads="1"/>
            </p:cNvSpPr>
            <p:nvPr/>
          </p:nvSpPr>
          <p:spPr bwMode="auto">
            <a:xfrm>
              <a:off x="5091" y="1454"/>
              <a:ext cx="148" cy="332"/>
            </a:xfrm>
            <a:prstGeom prst="rect">
              <a:avLst/>
            </a:prstGeom>
            <a:solidFill>
              <a:srgbClr val="FFFF99"/>
            </a:solidFill>
            <a:ln w="28575" algn="ctr">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rgbClr val="FF0000"/>
                  </a:solidFill>
                  <a:effectLst/>
                  <a:latin typeface="Times New Roman" panose="02020603050405020304" pitchFamily="18" charset="0"/>
                  <a:ea typeface="宋体" panose="02010600030101010101" pitchFamily="2" charset="-122"/>
                </a:rPr>
                <a:t>B</a:t>
              </a:r>
            </a:p>
          </p:txBody>
        </p:sp>
        <p:sp>
          <p:nvSpPr>
            <p:cNvPr id="76890" name="Text Box 90"/>
            <p:cNvSpPr txBox="1">
              <a:spLocks noChangeArrowheads="1"/>
            </p:cNvSpPr>
            <p:nvPr/>
          </p:nvSpPr>
          <p:spPr bwMode="auto">
            <a:xfrm>
              <a:off x="2624" y="1242"/>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en-US" sz="2400">
                <a:effectLst/>
                <a:ea typeface="宋体" panose="02010600030101010101" pitchFamily="2" charset="-122"/>
              </a:endParaRPr>
            </a:p>
          </p:txBody>
        </p:sp>
      </p:grpSp>
      <p:grpSp>
        <p:nvGrpSpPr>
          <p:cNvPr id="76930" name="Group 130"/>
          <p:cNvGrpSpPr>
            <a:grpSpLocks/>
          </p:cNvGrpSpPr>
          <p:nvPr/>
        </p:nvGrpSpPr>
        <p:grpSpPr bwMode="auto">
          <a:xfrm>
            <a:off x="611188" y="3798888"/>
            <a:ext cx="3763962" cy="2171700"/>
            <a:chOff x="385" y="2069"/>
            <a:chExt cx="2371" cy="1368"/>
          </a:xfrm>
        </p:grpSpPr>
        <p:graphicFrame>
          <p:nvGraphicFramePr>
            <p:cNvPr id="76823" name="Object 23"/>
            <p:cNvGraphicFramePr>
              <a:graphicFrameLocks noChangeAspect="1"/>
            </p:cNvGraphicFramePr>
            <p:nvPr/>
          </p:nvGraphicFramePr>
          <p:xfrm>
            <a:off x="385" y="2069"/>
            <a:ext cx="2238" cy="327"/>
          </p:xfrm>
          <a:graphic>
            <a:graphicData uri="http://schemas.openxmlformats.org/presentationml/2006/ole">
              <mc:AlternateContent xmlns:mc="http://schemas.openxmlformats.org/markup-compatibility/2006">
                <mc:Choice xmlns:v="urn:schemas-microsoft-com:vml" Requires="v">
                  <p:oleObj spid="_x0000_s17609" name="Equation" r:id="rId9" imgW="1473120" imgH="215640" progId="Equation.DSMT4">
                    <p:embed/>
                  </p:oleObj>
                </mc:Choice>
                <mc:Fallback>
                  <p:oleObj name="Equation" r:id="rId9" imgW="1473120" imgH="215640" progId="Equation.DSMT4">
                    <p:embed/>
                    <p:pic>
                      <p:nvPicPr>
                        <p:cNvPr id="76823"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 y="2069"/>
                          <a:ext cx="223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923" name="Object 123"/>
            <p:cNvGraphicFramePr>
              <a:graphicFrameLocks noChangeAspect="1"/>
            </p:cNvGraphicFramePr>
            <p:nvPr/>
          </p:nvGraphicFramePr>
          <p:xfrm>
            <a:off x="2427" y="2931"/>
            <a:ext cx="329" cy="506"/>
          </p:xfrm>
          <a:graphic>
            <a:graphicData uri="http://schemas.openxmlformats.org/presentationml/2006/ole">
              <mc:AlternateContent xmlns:mc="http://schemas.openxmlformats.org/markup-compatibility/2006">
                <mc:Choice xmlns:v="urn:schemas-microsoft-com:vml" Requires="v">
                  <p:oleObj spid="_x0000_s17610" name="Image" r:id="rId11" imgW="736248" imgH="1117460" progId="Photoshop.Image.6">
                    <p:embed/>
                  </p:oleObj>
                </mc:Choice>
                <mc:Fallback>
                  <p:oleObj name="Image" r:id="rId11" imgW="736248" imgH="1117460" progId="Photoshop.Image.6">
                    <p:embed/>
                    <p:pic>
                      <p:nvPicPr>
                        <p:cNvPr id="76923" name="Object 1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7" y="2931"/>
                          <a:ext cx="329" cy="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924" name="Object 124"/>
            <p:cNvGraphicFramePr>
              <a:graphicFrameLocks noChangeAspect="1"/>
            </p:cNvGraphicFramePr>
            <p:nvPr/>
          </p:nvGraphicFramePr>
          <p:xfrm>
            <a:off x="2512" y="2680"/>
            <a:ext cx="176" cy="251"/>
          </p:xfrm>
          <a:graphic>
            <a:graphicData uri="http://schemas.openxmlformats.org/presentationml/2006/ole">
              <mc:AlternateContent xmlns:mc="http://schemas.openxmlformats.org/markup-compatibility/2006">
                <mc:Choice xmlns:v="urn:schemas-microsoft-com:vml" Requires="v">
                  <p:oleObj spid="_x0000_s17611" name="公式" r:id="rId12" imgW="126720" imgH="177480" progId="Equation.3">
                    <p:embed/>
                  </p:oleObj>
                </mc:Choice>
                <mc:Fallback>
                  <p:oleObj name="公式" r:id="rId12" imgW="126720" imgH="177480" progId="Equation.3">
                    <p:embed/>
                    <p:pic>
                      <p:nvPicPr>
                        <p:cNvPr id="76924" name="Object 1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12" y="2680"/>
                          <a:ext cx="176"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6926" name="Text Box 126"/>
          <p:cNvSpPr txBox="1">
            <a:spLocks noChangeArrowheads="1"/>
          </p:cNvSpPr>
          <p:nvPr/>
        </p:nvSpPr>
        <p:spPr bwMode="auto">
          <a:xfrm>
            <a:off x="3708400" y="5056188"/>
            <a:ext cx="215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ffectLst/>
                <a:ea typeface="宋体" panose="02010600030101010101" pitchFamily="2" charset="-122"/>
              </a:rPr>
              <a:t> </a:t>
            </a:r>
          </a:p>
        </p:txBody>
      </p:sp>
      <p:grpSp>
        <p:nvGrpSpPr>
          <p:cNvPr id="76931" name="Group 131"/>
          <p:cNvGrpSpPr>
            <a:grpSpLocks/>
          </p:cNvGrpSpPr>
          <p:nvPr/>
        </p:nvGrpSpPr>
        <p:grpSpPr bwMode="auto">
          <a:xfrm>
            <a:off x="4429125" y="4087813"/>
            <a:ext cx="4319588" cy="2436812"/>
            <a:chOff x="2790" y="2251"/>
            <a:chExt cx="2721" cy="1535"/>
          </a:xfrm>
        </p:grpSpPr>
        <p:sp>
          <p:nvSpPr>
            <p:cNvPr id="76909" name="Rectangle 109"/>
            <p:cNvSpPr>
              <a:spLocks noChangeArrowheads="1"/>
            </p:cNvSpPr>
            <p:nvPr/>
          </p:nvSpPr>
          <p:spPr bwMode="auto">
            <a:xfrm>
              <a:off x="3096" y="3090"/>
              <a:ext cx="154" cy="345"/>
            </a:xfrm>
            <a:prstGeom prst="rect">
              <a:avLst/>
            </a:prstGeom>
            <a:solidFill>
              <a:srgbClr val="FFFF99"/>
            </a:solidFill>
            <a:ln w="28575" algn="ctr">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rgbClr val="FF0000"/>
                  </a:solidFill>
                  <a:effectLst/>
                  <a:latin typeface="Times New Roman" panose="02020603050405020304" pitchFamily="18" charset="0"/>
                  <a:ea typeface="宋体" panose="02010600030101010101" pitchFamily="2" charset="-122"/>
                </a:rPr>
                <a:t>A</a:t>
              </a:r>
            </a:p>
          </p:txBody>
        </p:sp>
        <p:sp>
          <p:nvSpPr>
            <p:cNvPr id="76910" name="Rectangle 110"/>
            <p:cNvSpPr>
              <a:spLocks noChangeArrowheads="1"/>
            </p:cNvSpPr>
            <p:nvPr/>
          </p:nvSpPr>
          <p:spPr bwMode="auto">
            <a:xfrm>
              <a:off x="5128" y="3090"/>
              <a:ext cx="154" cy="345"/>
            </a:xfrm>
            <a:prstGeom prst="rect">
              <a:avLst/>
            </a:prstGeom>
            <a:solidFill>
              <a:srgbClr val="FFFF99"/>
            </a:solidFill>
            <a:ln w="28575" algn="ctr">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rgbClr val="FF0000"/>
                  </a:solidFill>
                  <a:effectLst/>
                  <a:latin typeface="Times New Roman" panose="02020603050405020304" pitchFamily="18" charset="0"/>
                  <a:ea typeface="宋体" panose="02010600030101010101" pitchFamily="2" charset="-122"/>
                </a:rPr>
                <a:t>B</a:t>
              </a:r>
            </a:p>
          </p:txBody>
        </p:sp>
        <p:sp>
          <p:nvSpPr>
            <p:cNvPr id="76911" name="Line 111"/>
            <p:cNvSpPr>
              <a:spLocks noChangeShapeType="1"/>
            </p:cNvSpPr>
            <p:nvPr/>
          </p:nvSpPr>
          <p:spPr bwMode="auto">
            <a:xfrm>
              <a:off x="4055" y="3180"/>
              <a:ext cx="1063"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12" name="Line 112"/>
            <p:cNvSpPr>
              <a:spLocks noChangeShapeType="1"/>
            </p:cNvSpPr>
            <p:nvPr/>
          </p:nvSpPr>
          <p:spPr bwMode="auto">
            <a:xfrm flipH="1">
              <a:off x="3252" y="3180"/>
              <a:ext cx="535"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13" name="AutoShape 113"/>
            <p:cNvSpPr>
              <a:spLocks noChangeArrowheads="1"/>
            </p:cNvSpPr>
            <p:nvPr/>
          </p:nvSpPr>
          <p:spPr bwMode="auto">
            <a:xfrm>
              <a:off x="3135" y="2529"/>
              <a:ext cx="153" cy="459"/>
            </a:xfrm>
            <a:prstGeom prst="cloudCallout">
              <a:avLst>
                <a:gd name="adj1" fmla="val -48037"/>
                <a:gd name="adj2" fmla="val 76579"/>
              </a:avLst>
            </a:prstGeom>
            <a:solidFill>
              <a:srgbClr val="DE006F"/>
            </a:solidFill>
            <a:ln w="952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sp>
          <p:nvSpPr>
            <p:cNvPr id="76914" name="AutoShape 114"/>
            <p:cNvSpPr>
              <a:spLocks noChangeArrowheads="1"/>
            </p:cNvSpPr>
            <p:nvPr/>
          </p:nvSpPr>
          <p:spPr bwMode="auto">
            <a:xfrm>
              <a:off x="5166" y="2529"/>
              <a:ext cx="153" cy="459"/>
            </a:xfrm>
            <a:prstGeom prst="cloudCallout">
              <a:avLst>
                <a:gd name="adj1" fmla="val -48037"/>
                <a:gd name="adj2" fmla="val 76579"/>
              </a:avLst>
            </a:prstGeom>
            <a:solidFill>
              <a:srgbClr val="DE006F"/>
            </a:solidFill>
            <a:ln w="952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sp>
          <p:nvSpPr>
            <p:cNvPr id="76915" name="Line 115"/>
            <p:cNvSpPr>
              <a:spLocks noChangeShapeType="1"/>
            </p:cNvSpPr>
            <p:nvPr/>
          </p:nvSpPr>
          <p:spPr bwMode="auto">
            <a:xfrm>
              <a:off x="2790" y="3435"/>
              <a:ext cx="2721"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16" name="Line 116"/>
            <p:cNvSpPr>
              <a:spLocks noChangeShapeType="1"/>
            </p:cNvSpPr>
            <p:nvPr/>
          </p:nvSpPr>
          <p:spPr bwMode="auto">
            <a:xfrm>
              <a:off x="3732" y="2408"/>
              <a:ext cx="691"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17" name="Line 117"/>
            <p:cNvSpPr>
              <a:spLocks noChangeShapeType="1"/>
            </p:cNvSpPr>
            <p:nvPr/>
          </p:nvSpPr>
          <p:spPr bwMode="auto">
            <a:xfrm>
              <a:off x="3173" y="3526"/>
              <a:ext cx="0" cy="192"/>
            </a:xfrm>
            <a:prstGeom prst="line">
              <a:avLst/>
            </a:prstGeom>
            <a:noFill/>
            <a:ln w="190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18" name="Line 118"/>
            <p:cNvSpPr>
              <a:spLocks noChangeShapeType="1"/>
            </p:cNvSpPr>
            <p:nvPr/>
          </p:nvSpPr>
          <p:spPr bwMode="auto">
            <a:xfrm>
              <a:off x="5205" y="3526"/>
              <a:ext cx="0" cy="192"/>
            </a:xfrm>
            <a:prstGeom prst="line">
              <a:avLst/>
            </a:prstGeom>
            <a:noFill/>
            <a:ln w="190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19" name="Line 119"/>
            <p:cNvSpPr>
              <a:spLocks noChangeShapeType="1"/>
            </p:cNvSpPr>
            <p:nvPr/>
          </p:nvSpPr>
          <p:spPr bwMode="auto">
            <a:xfrm flipH="1">
              <a:off x="3153" y="3641"/>
              <a:ext cx="843"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20" name="Line 120"/>
            <p:cNvSpPr>
              <a:spLocks noChangeShapeType="1"/>
            </p:cNvSpPr>
            <p:nvPr/>
          </p:nvSpPr>
          <p:spPr bwMode="auto">
            <a:xfrm>
              <a:off x="4323" y="3641"/>
              <a:ext cx="843"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921" name="Text Box 121"/>
            <p:cNvSpPr txBox="1">
              <a:spLocks noChangeArrowheads="1"/>
            </p:cNvSpPr>
            <p:nvPr/>
          </p:nvSpPr>
          <p:spPr bwMode="auto">
            <a:xfrm>
              <a:off x="4015" y="3498"/>
              <a:ext cx="3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solidFill>
                    <a:srgbClr val="000066"/>
                  </a:solidFill>
                  <a:effectLst/>
                  <a:latin typeface="Times New Roman" panose="02020603050405020304" pitchFamily="18" charset="0"/>
                  <a:ea typeface="宋体" panose="02010600030101010101" pitchFamily="2" charset="-122"/>
                </a:rPr>
                <a:t>2</a:t>
              </a:r>
              <a:r>
                <a:rPr kumimoji="1" lang="en-US" altLang="zh-CN" sz="2400" i="1">
                  <a:solidFill>
                    <a:srgbClr val="000066"/>
                  </a:solidFill>
                  <a:effectLst/>
                  <a:latin typeface="Times New Roman" panose="02020603050405020304" pitchFamily="18" charset="0"/>
                  <a:ea typeface="宋体" panose="02010600030101010101" pitchFamily="2" charset="-122"/>
                </a:rPr>
                <a:t>l</a:t>
              </a:r>
              <a:endParaRPr kumimoji="1" lang="en-US" altLang="zh-CN" sz="2400">
                <a:solidFill>
                  <a:srgbClr val="000066"/>
                </a:solidFill>
                <a:effectLst/>
                <a:latin typeface="Times New Roman" panose="02020603050405020304" pitchFamily="18" charset="0"/>
                <a:ea typeface="宋体" panose="02010600030101010101" pitchFamily="2" charset="-122"/>
              </a:endParaRPr>
            </a:p>
          </p:txBody>
        </p:sp>
        <p:sp>
          <p:nvSpPr>
            <p:cNvPr id="76922" name="Rectangle 122"/>
            <p:cNvSpPr>
              <a:spLocks noChangeArrowheads="1"/>
            </p:cNvSpPr>
            <p:nvPr/>
          </p:nvSpPr>
          <p:spPr bwMode="auto">
            <a:xfrm>
              <a:off x="2790" y="2542"/>
              <a:ext cx="2721" cy="893"/>
            </a:xfrm>
            <a:prstGeom prst="rect">
              <a:avLst/>
            </a:prstGeom>
            <a:noFill/>
            <a:ln w="28575">
              <a:solidFill>
                <a:srgbClr val="99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25" name="AutoShape 125"/>
            <p:cNvSpPr>
              <a:spLocks noChangeArrowheads="1"/>
            </p:cNvSpPr>
            <p:nvPr/>
          </p:nvSpPr>
          <p:spPr bwMode="auto">
            <a:xfrm>
              <a:off x="3833" y="3092"/>
              <a:ext cx="155" cy="156"/>
            </a:xfrm>
            <a:prstGeom prst="irregularSeal1">
              <a:avLst/>
            </a:prstGeom>
            <a:solidFill>
              <a:srgbClr val="FFFF66"/>
            </a:solidFill>
            <a:ln w="2857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27" name="Text Box 127"/>
            <p:cNvSpPr txBox="1">
              <a:spLocks noChangeArrowheads="1"/>
            </p:cNvSpPr>
            <p:nvPr/>
          </p:nvSpPr>
          <p:spPr bwMode="auto">
            <a:xfrm>
              <a:off x="4394" y="2251"/>
              <a:ext cx="3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i="1">
                  <a:solidFill>
                    <a:srgbClr val="000066"/>
                  </a:solidFill>
                  <a:effectLst/>
                  <a:latin typeface="Times New Roman" panose="02020603050405020304" pitchFamily="18" charset="0"/>
                  <a:ea typeface="宋体" panose="02010600030101010101" pitchFamily="2" charset="-122"/>
                </a:rPr>
                <a:t>v</a:t>
              </a:r>
            </a:p>
          </p:txBody>
        </p:sp>
      </p:grpSp>
      <p:sp>
        <p:nvSpPr>
          <p:cNvPr id="76934" name="Text Box 134"/>
          <p:cNvSpPr txBox="1">
            <a:spLocks noChangeArrowheads="1"/>
          </p:cNvSpPr>
          <p:nvPr/>
        </p:nvSpPr>
        <p:spPr bwMode="auto">
          <a:xfrm>
            <a:off x="539750" y="404813"/>
            <a:ext cx="4321175" cy="579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a:solidFill>
                  <a:srgbClr val="FF0000"/>
                </a:solidFill>
                <a:effectLst/>
                <a:latin typeface="黑体" panose="02010609060101010101" pitchFamily="49" charset="-122"/>
                <a:ea typeface="黑体" panose="02010609060101010101" pitchFamily="49" charset="-122"/>
              </a:rPr>
              <a:t>3.</a:t>
            </a:r>
            <a:r>
              <a:rPr kumimoji="1" lang="zh-CN" altLang="en-US" sz="3200" b="1">
                <a:solidFill>
                  <a:srgbClr val="FF0000"/>
                </a:solidFill>
                <a:effectLst/>
                <a:latin typeface="黑体" panose="02010609060101010101" pitchFamily="49" charset="-122"/>
                <a:ea typeface="黑体" panose="02010609060101010101" pitchFamily="49" charset="-122"/>
              </a:rPr>
              <a:t>时空的相对性</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20A63C1-5E09-4FC4-B0DD-02E57FBE2804}"/>
                  </a:ext>
                </a:extLst>
              </p:cNvPr>
              <p:cNvSpPr txBox="1"/>
              <p:nvPr/>
            </p:nvSpPr>
            <p:spPr>
              <a:xfrm>
                <a:off x="830933" y="2636837"/>
                <a:ext cx="2019912" cy="8181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800" i="1" smtClean="0">
                              <a:latin typeface="Cambria Math" panose="02040503050406030204" pitchFamily="18" charset="0"/>
                            </a:rPr>
                          </m:ctrlPr>
                        </m:sSubSupPr>
                        <m:e>
                          <m:r>
                            <a:rPr lang="en-US" altLang="zh-CN" sz="2800" b="0" i="1" smtClean="0">
                              <a:latin typeface="Cambria Math" panose="02040503050406030204" pitchFamily="18" charset="0"/>
                            </a:rPr>
                            <m:t>𝑡</m:t>
                          </m:r>
                        </m:e>
                        <m:sub>
                          <m:r>
                            <a:rPr lang="en-US" altLang="zh-CN" sz="2800" b="0" i="1" smtClean="0">
                              <a:latin typeface="Cambria Math" panose="02040503050406030204" pitchFamily="18" charset="0"/>
                            </a:rPr>
                            <m:t>𝐴</m:t>
                          </m:r>
                        </m:sub>
                        <m:sup>
                          <m:r>
                            <a:rPr lang="en-US" altLang="zh-CN" sz="2800" b="0" i="1" smtClean="0">
                              <a:latin typeface="Cambria Math" panose="02040503050406030204" pitchFamily="18" charset="0"/>
                            </a:rPr>
                            <m:t>′</m:t>
                          </m:r>
                        </m:sup>
                      </m:sSubSup>
                      <m:r>
                        <a:rPr lang="en-US" altLang="zh-CN" sz="2800" b="0" i="1" smtClean="0">
                          <a:latin typeface="Cambria Math" panose="02040503050406030204" pitchFamily="18" charset="0"/>
                        </a:rPr>
                        <m:t>=</m:t>
                      </m:r>
                      <m:sSubSup>
                        <m:sSubSupPr>
                          <m:ctrlPr>
                            <a:rPr lang="en-US" altLang="zh-CN" sz="2800" i="1">
                              <a:latin typeface="Cambria Math" panose="02040503050406030204" pitchFamily="18" charset="0"/>
                            </a:rPr>
                          </m:ctrlPr>
                        </m:sSubSupPr>
                        <m:e>
                          <m:r>
                            <a:rPr lang="en-US" altLang="zh-CN" sz="2800" i="1">
                              <a:latin typeface="Cambria Math" panose="02040503050406030204" pitchFamily="18" charset="0"/>
                            </a:rPr>
                            <m:t>𝑡</m:t>
                          </m:r>
                        </m:e>
                        <m:sub>
                          <m:r>
                            <a:rPr lang="en-US" altLang="zh-CN" sz="2800" b="0" i="1" smtClean="0">
                              <a:latin typeface="Cambria Math" panose="02040503050406030204" pitchFamily="18" charset="0"/>
                            </a:rPr>
                            <m:t>𝐵</m:t>
                          </m:r>
                        </m:sub>
                        <m:sup>
                          <m:r>
                            <a:rPr lang="en-US" altLang="zh-CN" sz="2800" i="1">
                              <a:latin typeface="Cambria Math" panose="02040503050406030204" pitchFamily="18" charset="0"/>
                            </a:rPr>
                            <m:t>′</m:t>
                          </m:r>
                        </m:sup>
                      </m:sSubSup>
                      <m:r>
                        <a:rPr lang="en-US" altLang="zh-CN" sz="2800" b="0" i="1" smtClean="0">
                          <a:latin typeface="Cambria Math" panose="02040503050406030204" pitchFamily="18" charset="0"/>
                        </a:rPr>
                        <m:t>= </m:t>
                      </m:r>
                      <m:f>
                        <m:fPr>
                          <m:ctrlPr>
                            <a:rPr lang="en-US" altLang="zh-CN" sz="2800" b="0" i="1" smtClean="0">
                              <a:latin typeface="Cambria Math" panose="02040503050406030204" pitchFamily="18" charset="0"/>
                            </a:rPr>
                          </m:ctrlPr>
                        </m:fPr>
                        <m:num>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𝑙</m:t>
                              </m:r>
                            </m:e>
                            <m:sub>
                              <m:r>
                                <a:rPr lang="en-US" altLang="zh-CN" sz="2800" b="0" i="1" smtClean="0">
                                  <a:latin typeface="Cambria Math" panose="02040503050406030204" pitchFamily="18" charset="0"/>
                                </a:rPr>
                                <m:t>0</m:t>
                              </m:r>
                            </m:sub>
                          </m:sSub>
                        </m:num>
                        <m:den>
                          <m:r>
                            <a:rPr lang="en-US" altLang="zh-CN" sz="2800" b="0" i="1" smtClean="0">
                              <a:latin typeface="Cambria Math" panose="02040503050406030204" pitchFamily="18" charset="0"/>
                            </a:rPr>
                            <m:t>𝑐</m:t>
                          </m:r>
                        </m:den>
                      </m:f>
                    </m:oMath>
                  </m:oMathPara>
                </a14:m>
                <a:endParaRPr lang="zh-CN" altLang="en-US" sz="2800" dirty="0"/>
              </a:p>
            </p:txBody>
          </p:sp>
        </mc:Choice>
        <mc:Fallback xmlns="">
          <p:sp>
            <p:nvSpPr>
              <p:cNvPr id="2" name="文本框 1">
                <a:extLst>
                  <a:ext uri="{FF2B5EF4-FFF2-40B4-BE49-F238E27FC236}">
                    <a16:creationId xmlns:a16="http://schemas.microsoft.com/office/drawing/2014/main" id="{D20A63C1-5E09-4FC4-B0DD-02E57FBE2804}"/>
                  </a:ext>
                </a:extLst>
              </p:cNvPr>
              <p:cNvSpPr txBox="1">
                <a:spLocks noRot="1" noChangeAspect="1" noMove="1" noResize="1" noEditPoints="1" noAdjustHandles="1" noChangeArrowheads="1" noChangeShapeType="1" noTextEdit="1"/>
              </p:cNvSpPr>
              <p:nvPr/>
            </p:nvSpPr>
            <p:spPr>
              <a:xfrm>
                <a:off x="830933" y="2636837"/>
                <a:ext cx="2019912" cy="818173"/>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A1AF4F7-CD5F-4DE9-9309-6CD26F525BBB}"/>
                  </a:ext>
                </a:extLst>
              </p:cNvPr>
              <p:cNvSpPr txBox="1"/>
              <p:nvPr/>
            </p:nvSpPr>
            <p:spPr>
              <a:xfrm>
                <a:off x="1244315" y="4968082"/>
                <a:ext cx="119314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𝑡</m:t>
                          </m:r>
                        </m:e>
                        <m:sub>
                          <m:r>
                            <a:rPr lang="en-US" altLang="zh-CN" sz="2800" b="0" i="1" smtClean="0">
                              <a:latin typeface="Cambria Math" panose="02040503050406030204" pitchFamily="18" charset="0"/>
                            </a:rPr>
                            <m:t>𝐴</m:t>
                          </m:r>
                        </m:sub>
                      </m:sSub>
                      <m:r>
                        <a:rPr lang="en-US" altLang="zh-CN" sz="2800" i="1" smtClean="0">
                          <a:latin typeface="Cambria Math" panose="02040503050406030204" pitchFamily="18" charset="0"/>
                          <a:ea typeface="Cambria Math" panose="02040503050406030204" pitchFamily="18" charset="0"/>
                        </a:rPr>
                        <m:t>≠</m:t>
                      </m:r>
                      <m:sSub>
                        <m:sSubPr>
                          <m:ctrlPr>
                            <a:rPr lang="en-US" altLang="zh-CN" sz="280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𝑡</m:t>
                          </m:r>
                        </m:e>
                        <m:sub>
                          <m:r>
                            <a:rPr lang="en-US" altLang="zh-CN" sz="2800" b="0" i="1" smtClean="0">
                              <a:latin typeface="Cambria Math" panose="02040503050406030204" pitchFamily="18" charset="0"/>
                              <a:ea typeface="Cambria Math" panose="02040503050406030204" pitchFamily="18" charset="0"/>
                            </a:rPr>
                            <m:t>𝐵</m:t>
                          </m:r>
                        </m:sub>
                      </m:sSub>
                    </m:oMath>
                  </m:oMathPara>
                </a14:m>
                <a:endParaRPr lang="zh-CN" altLang="en-US" sz="2800" dirty="0"/>
              </a:p>
            </p:txBody>
          </p:sp>
        </mc:Choice>
        <mc:Fallback xmlns="">
          <p:sp>
            <p:nvSpPr>
              <p:cNvPr id="3" name="文本框 2">
                <a:extLst>
                  <a:ext uri="{FF2B5EF4-FFF2-40B4-BE49-F238E27FC236}">
                    <a16:creationId xmlns:a16="http://schemas.microsoft.com/office/drawing/2014/main" id="{7A1AF4F7-CD5F-4DE9-9309-6CD26F525BBB}"/>
                  </a:ext>
                </a:extLst>
              </p:cNvPr>
              <p:cNvSpPr txBox="1">
                <a:spLocks noRot="1" noChangeAspect="1" noMove="1" noResize="1" noEditPoints="1" noAdjustHandles="1" noChangeArrowheads="1" noChangeShapeType="1" noTextEdit="1"/>
              </p:cNvSpPr>
              <p:nvPr/>
            </p:nvSpPr>
            <p:spPr>
              <a:xfrm>
                <a:off x="1244315" y="4968082"/>
                <a:ext cx="1193147" cy="430887"/>
              </a:xfrm>
              <a:prstGeom prst="rect">
                <a:avLst/>
              </a:prstGeom>
              <a:blipFill>
                <a:blip r:embed="rId1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9223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6929"/>
                                        </p:tgtEl>
                                        <p:attrNameLst>
                                          <p:attrName>style.visibility</p:attrName>
                                        </p:attrNameLst>
                                      </p:cBhvr>
                                      <p:to>
                                        <p:strVal val="visible"/>
                                      </p:to>
                                    </p:set>
                                    <p:animEffect transition="in" filter="box(in)">
                                      <p:cBhvr>
                                        <p:cTn id="7" dur="500"/>
                                        <p:tgtEl>
                                          <p:spTgt spid="769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6933"/>
                                        </p:tgtEl>
                                        <p:attrNameLst>
                                          <p:attrName>style.visibility</p:attrName>
                                        </p:attrNameLst>
                                      </p:cBhvr>
                                      <p:to>
                                        <p:strVal val="visible"/>
                                      </p:to>
                                    </p:set>
                                    <p:animEffect transition="in" filter="box(in)">
                                      <p:cBhvr>
                                        <p:cTn id="12" dur="500"/>
                                        <p:tgtEl>
                                          <p:spTgt spid="769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76930"/>
                                        </p:tgtEl>
                                        <p:attrNameLst>
                                          <p:attrName>style.visibility</p:attrName>
                                        </p:attrNameLst>
                                      </p:cBhvr>
                                      <p:to>
                                        <p:strVal val="visible"/>
                                      </p:to>
                                    </p:set>
                                    <p:anim calcmode="lin" valueType="num">
                                      <p:cBhvr>
                                        <p:cTn id="17" dur="500" fill="hold"/>
                                        <p:tgtEl>
                                          <p:spTgt spid="76930"/>
                                        </p:tgtEl>
                                        <p:attrNameLst>
                                          <p:attrName>ppt_w</p:attrName>
                                        </p:attrNameLst>
                                      </p:cBhvr>
                                      <p:tavLst>
                                        <p:tav tm="0">
                                          <p:val>
                                            <p:fltVal val="0"/>
                                          </p:val>
                                        </p:tav>
                                        <p:tav tm="100000">
                                          <p:val>
                                            <p:strVal val="#ppt_w"/>
                                          </p:val>
                                        </p:tav>
                                      </p:tavLst>
                                    </p:anim>
                                    <p:anim calcmode="lin" valueType="num">
                                      <p:cBhvr>
                                        <p:cTn id="18" dur="500" fill="hold"/>
                                        <p:tgtEl>
                                          <p:spTgt spid="76930"/>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76931"/>
                                        </p:tgtEl>
                                        <p:attrNameLst>
                                          <p:attrName>style.visibility</p:attrName>
                                        </p:attrNameLst>
                                      </p:cBhvr>
                                      <p:to>
                                        <p:strVal val="visible"/>
                                      </p:to>
                                    </p:set>
                                    <p:anim calcmode="lin" valueType="num">
                                      <p:cBhvr additive="base">
                                        <p:cTn id="23" dur="500" fill="hold"/>
                                        <p:tgtEl>
                                          <p:spTgt spid="76931"/>
                                        </p:tgtEl>
                                        <p:attrNameLst>
                                          <p:attrName>ppt_x</p:attrName>
                                        </p:attrNameLst>
                                      </p:cBhvr>
                                      <p:tavLst>
                                        <p:tav tm="0">
                                          <p:val>
                                            <p:strVal val="#ppt_x"/>
                                          </p:val>
                                        </p:tav>
                                        <p:tav tm="100000">
                                          <p:val>
                                            <p:strVal val="#ppt_x"/>
                                          </p:val>
                                        </p:tav>
                                      </p:tavLst>
                                    </p:anim>
                                    <p:anim calcmode="lin" valueType="num">
                                      <p:cBhvr additive="base">
                                        <p:cTn id="24" dur="500" fill="hold"/>
                                        <p:tgtEl>
                                          <p:spTgt spid="769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1956391" y="2105247"/>
                <a:ext cx="5053178" cy="988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𝐴</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b="0" i="1" smtClean="0">
                              <a:latin typeface="Cambria Math" panose="02040503050406030204" pitchFamily="18" charset="0"/>
                            </a:rPr>
                            <m:t>𝐵</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d>
                            <m:dPr>
                              <m:ctrlPr>
                                <a:rPr lang="en-US" altLang="zh-CN" sz="2400" b="0" i="1" smtClean="0">
                                  <a:latin typeface="Cambria Math" panose="02040503050406030204" pitchFamily="18" charset="0"/>
                                </a:rPr>
                              </m:ctrlPr>
                            </m:dPr>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𝐴</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𝑡</m:t>
                                  </m:r>
                                </m:e>
                                <m:sub>
                                  <m:r>
                                    <a:rPr lang="en-US" altLang="zh-CN" sz="2400" b="0" i="1" smtClean="0">
                                      <a:latin typeface="Cambria Math" panose="02040503050406030204" pitchFamily="18" charset="0"/>
                                    </a:rPr>
                                    <m:t>𝐵</m:t>
                                  </m:r>
                                </m:sub>
                                <m:sup>
                                  <m:r>
                                    <a:rPr lang="en-US" altLang="zh-CN" sz="2400" i="1">
                                      <a:latin typeface="Cambria Math" panose="02040503050406030204" pitchFamily="18" charset="0"/>
                                    </a:rPr>
                                    <m:t>′</m:t>
                                  </m:r>
                                </m:sup>
                              </m:sSubSup>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𝑣</m:t>
                          </m:r>
                          <m:r>
                            <a:rPr lang="en-US" altLang="zh-CN" sz="2400" b="0" i="1" smtClean="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b="0" i="1" smtClean="0">
                                  <a:latin typeface="Cambria Math" panose="02040503050406030204" pitchFamily="18" charset="0"/>
                                </a:rPr>
                                <m:t>𝑥</m:t>
                              </m:r>
                            </m:e>
                            <m:sub>
                              <m:r>
                                <a:rPr lang="en-US" altLang="zh-CN" sz="2400" i="1">
                                  <a:latin typeface="Cambria Math" panose="02040503050406030204" pitchFamily="18" charset="0"/>
                                </a:rPr>
                                <m:t>𝐴</m:t>
                              </m:r>
                            </m:sub>
                            <m:sup>
                              <m:r>
                                <a:rPr lang="en-US" altLang="zh-CN" sz="2400" i="1">
                                  <a:latin typeface="Cambria Math" panose="02040503050406030204" pitchFamily="18" charset="0"/>
                                </a:rPr>
                                <m:t>′</m:t>
                              </m:r>
                            </m:sup>
                          </m:sSubSup>
                          <m:r>
                            <a:rPr lang="en-US" altLang="zh-CN" sz="2400" b="0" i="1" smtClean="0">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𝐵</m:t>
                              </m:r>
                            </m:sub>
                            <m:sup>
                              <m:r>
                                <a:rPr lang="en-US" altLang="zh-CN" sz="2400" i="1">
                                  <a:latin typeface="Cambria Math" panose="02040503050406030204" pitchFamily="18" charset="0"/>
                                </a:rPr>
                                <m:t>′</m:t>
                              </m:r>
                            </m:sup>
                          </m:sSub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𝑣</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956391" y="2105247"/>
                <a:ext cx="5053178" cy="98847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3072809" y="3448494"/>
                <a:ext cx="2434321" cy="988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𝑣</m:t>
                          </m:r>
                          <m:r>
                            <a:rPr lang="en-US" altLang="zh-CN"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i="1">
                                  <a:latin typeface="Cambria Math" panose="02040503050406030204" pitchFamily="18" charset="0"/>
                                </a:rPr>
                                <m:t>𝐴</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𝐵</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m:t>
                              </m:r>
                            </m:e>
                            <m:sup>
                              <m:r>
                                <a:rPr lang="en-US" altLang="zh-CN" sz="2400" i="1">
                                  <a:latin typeface="Cambria Math" panose="02040503050406030204" pitchFamily="18" charset="0"/>
                                </a:rPr>
                                <m:t>2</m:t>
                              </m:r>
                            </m:sup>
                          </m:sSup>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𝑣</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3" name="文本框 2"/>
              <p:cNvSpPr txBox="1">
                <a:spLocks noRot="1" noChangeAspect="1" noMove="1" noResize="1" noEditPoints="1" noAdjustHandles="1" noChangeArrowheads="1" noChangeShapeType="1" noTextEdit="1"/>
              </p:cNvSpPr>
              <p:nvPr/>
            </p:nvSpPr>
            <p:spPr>
              <a:xfrm>
                <a:off x="3072809" y="3448494"/>
                <a:ext cx="2434321" cy="98847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4981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Text Box 4"/>
          <p:cNvSpPr txBox="1">
            <a:spLocks noChangeArrowheads="1"/>
          </p:cNvSpPr>
          <p:nvPr/>
        </p:nvSpPr>
        <p:spPr bwMode="auto">
          <a:xfrm>
            <a:off x="609600" y="2422525"/>
            <a:ext cx="8210550"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spcBef>
                <a:spcPct val="50000"/>
              </a:spcBef>
            </a:pPr>
            <a:r>
              <a:rPr kumimoji="1" lang="zh-CN" altLang="en-US" sz="2400" b="1" dirty="0">
                <a:solidFill>
                  <a:srgbClr val="000066"/>
                </a:solidFill>
                <a:effectLst/>
                <a:latin typeface="Times New Roman" panose="02020603050405020304" pitchFamily="18" charset="0"/>
                <a:ea typeface="宋体" panose="02010600030101010101" pitchFamily="2" charset="-122"/>
              </a:rPr>
              <a:t>        在一个参照系中测得同时发生的两个事件，在另一个参照系中测得未必同时发生，相对论中同时只有相对的意义。</a:t>
            </a:r>
          </a:p>
        </p:txBody>
      </p:sp>
      <p:sp>
        <p:nvSpPr>
          <p:cNvPr id="103429" name="Rectangle 5"/>
          <p:cNvSpPr>
            <a:spLocks noChangeArrowheads="1"/>
          </p:cNvSpPr>
          <p:nvPr/>
        </p:nvSpPr>
        <p:spPr bwMode="auto">
          <a:xfrm>
            <a:off x="563563" y="1916113"/>
            <a:ext cx="2279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a:solidFill>
                  <a:srgbClr val="FF3300"/>
                </a:solidFill>
                <a:effectLst/>
                <a:ea typeface="黑体" panose="02010609060101010101" pitchFamily="49" charset="-122"/>
              </a:rPr>
              <a:t>结论：</a:t>
            </a:r>
          </a:p>
        </p:txBody>
      </p:sp>
    </p:spTree>
    <p:extLst>
      <p:ext uri="{BB962C8B-B14F-4D97-AF65-F5344CB8AC3E}">
        <p14:creationId xmlns:p14="http://schemas.microsoft.com/office/powerpoint/2010/main" val="948434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anim calcmode="lin" valueType="num">
                                      <p:cBhvr>
                                        <p:cTn id="7" dur="500" fill="hold"/>
                                        <p:tgtEl>
                                          <p:spTgt spid="103428"/>
                                        </p:tgtEl>
                                        <p:attrNameLst>
                                          <p:attrName>ppt_w</p:attrName>
                                        </p:attrNameLst>
                                      </p:cBhvr>
                                      <p:tavLst>
                                        <p:tav tm="0">
                                          <p:val>
                                            <p:strVal val="#ppt_w*0.70"/>
                                          </p:val>
                                        </p:tav>
                                        <p:tav tm="100000">
                                          <p:val>
                                            <p:strVal val="#ppt_w"/>
                                          </p:val>
                                        </p:tav>
                                      </p:tavLst>
                                    </p:anim>
                                    <p:anim calcmode="lin" valueType="num">
                                      <p:cBhvr>
                                        <p:cTn id="8" dur="500" fill="hold"/>
                                        <p:tgtEl>
                                          <p:spTgt spid="103428"/>
                                        </p:tgtEl>
                                        <p:attrNameLst>
                                          <p:attrName>ppt_h</p:attrName>
                                        </p:attrNameLst>
                                      </p:cBhvr>
                                      <p:tavLst>
                                        <p:tav tm="0">
                                          <p:val>
                                            <p:strVal val="#ppt_h"/>
                                          </p:val>
                                        </p:tav>
                                        <p:tav tm="100000">
                                          <p:val>
                                            <p:strVal val="#ppt_h"/>
                                          </p:val>
                                        </p:tav>
                                      </p:tavLst>
                                    </p:anim>
                                    <p:animEffect transition="in" filter="fade">
                                      <p:cBhvr>
                                        <p:cTn id="9" dur="500"/>
                                        <p:tgtEl>
                                          <p:spTgt spid="10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0680" name="Object 24"/>
          <p:cNvGraphicFramePr>
            <a:graphicFrameLocks noGrp="1" noChangeAspect="1"/>
          </p:cNvGraphicFramePr>
          <p:nvPr>
            <p:ph sz="half" idx="4294967295"/>
          </p:nvPr>
        </p:nvGraphicFramePr>
        <p:xfrm>
          <a:off x="1258888" y="2278063"/>
          <a:ext cx="1873250" cy="806450"/>
        </p:xfrm>
        <a:graphic>
          <a:graphicData uri="http://schemas.openxmlformats.org/presentationml/2006/ole">
            <mc:AlternateContent xmlns:mc="http://schemas.openxmlformats.org/markup-compatibility/2006">
              <mc:Choice xmlns:v="urn:schemas-microsoft-com:vml" Requires="v">
                <p:oleObj spid="_x0000_s18663" name="Equation" r:id="rId3" imgW="914400" imgH="393480" progId="Equation.DSMT4">
                  <p:embed/>
                </p:oleObj>
              </mc:Choice>
              <mc:Fallback>
                <p:oleObj name="Equation" r:id="rId3" imgW="914400" imgH="393480" progId="Equation.DSMT4">
                  <p:embed/>
                  <p:pic>
                    <p:nvPicPr>
                      <p:cNvPr id="7068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278063"/>
                        <a:ext cx="1873250"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717" name="Object 61"/>
          <p:cNvGraphicFramePr>
            <a:graphicFrameLocks noChangeAspect="1"/>
          </p:cNvGraphicFramePr>
          <p:nvPr>
            <p:extLst>
              <p:ext uri="{D42A27DB-BD31-4B8C-83A1-F6EECF244321}">
                <p14:modId xmlns:p14="http://schemas.microsoft.com/office/powerpoint/2010/main" val="3753080012"/>
              </p:ext>
            </p:extLst>
          </p:nvPr>
        </p:nvGraphicFramePr>
        <p:xfrm>
          <a:off x="826294" y="4400551"/>
          <a:ext cx="2374900" cy="1062037"/>
        </p:xfrm>
        <a:graphic>
          <a:graphicData uri="http://schemas.openxmlformats.org/presentationml/2006/ole">
            <mc:AlternateContent xmlns:mc="http://schemas.openxmlformats.org/markup-compatibility/2006">
              <mc:Choice xmlns:v="urn:schemas-microsoft-com:vml" Requires="v">
                <p:oleObj spid="_x0000_s18664" name="Equation" r:id="rId5" imgW="1028520" imgH="431640" progId="Equation.DSMT4">
                  <p:embed/>
                </p:oleObj>
              </mc:Choice>
              <mc:Fallback>
                <p:oleObj name="Equation" r:id="rId5" imgW="1028520" imgH="431640" progId="Equation.DSMT4">
                  <p:embed/>
                  <p:pic>
                    <p:nvPicPr>
                      <p:cNvPr id="70717"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6294" y="4400551"/>
                        <a:ext cx="2374900" cy="1062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720" name="Text Box 64"/>
          <p:cNvSpPr txBox="1">
            <a:spLocks noChangeArrowheads="1"/>
          </p:cNvSpPr>
          <p:nvPr/>
        </p:nvSpPr>
        <p:spPr bwMode="auto">
          <a:xfrm>
            <a:off x="611188" y="333375"/>
            <a:ext cx="3960812"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000FF"/>
                </a:solidFill>
                <a:effectLst/>
                <a:latin typeface="黑体" panose="02010609060101010101" pitchFamily="49" charset="-122"/>
                <a:ea typeface="黑体" panose="02010609060101010101" pitchFamily="49" charset="-122"/>
              </a:rPr>
              <a:t>3.2 </a:t>
            </a:r>
            <a:r>
              <a:rPr kumimoji="1" lang="zh-CN" altLang="en-US" sz="2800" b="1" dirty="0">
                <a:solidFill>
                  <a:srgbClr val="0000FF"/>
                </a:solidFill>
                <a:effectLst/>
                <a:latin typeface="黑体" panose="02010609060101010101" pitchFamily="49" charset="-122"/>
                <a:ea typeface="黑体" panose="02010609060101010101" pitchFamily="49" charset="-122"/>
              </a:rPr>
              <a:t>时间量度的相对性</a:t>
            </a:r>
          </a:p>
        </p:txBody>
      </p:sp>
      <p:grpSp>
        <p:nvGrpSpPr>
          <p:cNvPr id="70806" name="Group 150"/>
          <p:cNvGrpSpPr>
            <a:grpSpLocks/>
          </p:cNvGrpSpPr>
          <p:nvPr/>
        </p:nvGrpSpPr>
        <p:grpSpPr bwMode="auto">
          <a:xfrm>
            <a:off x="682625" y="1663700"/>
            <a:ext cx="4090988" cy="1693863"/>
            <a:chOff x="424" y="821"/>
            <a:chExt cx="2577" cy="1067"/>
          </a:xfrm>
        </p:grpSpPr>
        <p:graphicFrame>
          <p:nvGraphicFramePr>
            <p:cNvPr id="70712" name="Object 56"/>
            <p:cNvGraphicFramePr>
              <a:graphicFrameLocks noChangeAspect="1"/>
            </p:cNvGraphicFramePr>
            <p:nvPr/>
          </p:nvGraphicFramePr>
          <p:xfrm>
            <a:off x="424" y="821"/>
            <a:ext cx="1141" cy="318"/>
          </p:xfrm>
          <a:graphic>
            <a:graphicData uri="http://schemas.openxmlformats.org/presentationml/2006/ole">
              <mc:AlternateContent xmlns:mc="http://schemas.openxmlformats.org/markup-compatibility/2006">
                <mc:Choice xmlns:v="urn:schemas-microsoft-com:vml" Requires="v">
                  <p:oleObj spid="_x0000_s18665" name="Equation" r:id="rId7" imgW="774360" imgH="215640" progId="Equation.DSMT4">
                    <p:embed/>
                  </p:oleObj>
                </mc:Choice>
                <mc:Fallback>
                  <p:oleObj name="Equation" r:id="rId7" imgW="774360" imgH="215640" progId="Equation.DSMT4">
                    <p:embed/>
                    <p:pic>
                      <p:nvPicPr>
                        <p:cNvPr id="70712"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 y="821"/>
                          <a:ext cx="1141"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741" name="Object 85"/>
            <p:cNvGraphicFramePr>
              <a:graphicFrameLocks noChangeAspect="1"/>
            </p:cNvGraphicFramePr>
            <p:nvPr/>
          </p:nvGraphicFramePr>
          <p:xfrm>
            <a:off x="2627" y="1322"/>
            <a:ext cx="374" cy="566"/>
          </p:xfrm>
          <a:graphic>
            <a:graphicData uri="http://schemas.openxmlformats.org/presentationml/2006/ole">
              <mc:AlternateContent xmlns:mc="http://schemas.openxmlformats.org/markup-compatibility/2006">
                <mc:Choice xmlns:v="urn:schemas-microsoft-com:vml" Requires="v">
                  <p:oleObj spid="_x0000_s18666" name="Image" r:id="rId9" imgW="736248" imgH="1117460" progId="Photoshop.Image.6">
                    <p:embed/>
                  </p:oleObj>
                </mc:Choice>
                <mc:Fallback>
                  <p:oleObj name="Image" r:id="rId9" imgW="736248" imgH="1117460" progId="Photoshop.Image.6">
                    <p:embed/>
                    <p:pic>
                      <p:nvPicPr>
                        <p:cNvPr id="70741" name="Object 8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7" y="1322"/>
                          <a:ext cx="374" cy="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742" name="Object 86"/>
            <p:cNvGraphicFramePr>
              <a:graphicFrameLocks noChangeAspect="1"/>
            </p:cNvGraphicFramePr>
            <p:nvPr/>
          </p:nvGraphicFramePr>
          <p:xfrm>
            <a:off x="2721" y="1106"/>
            <a:ext cx="204" cy="238"/>
          </p:xfrm>
          <a:graphic>
            <a:graphicData uri="http://schemas.openxmlformats.org/presentationml/2006/ole">
              <mc:AlternateContent xmlns:mc="http://schemas.openxmlformats.org/markup-compatibility/2006">
                <mc:Choice xmlns:v="urn:schemas-microsoft-com:vml" Requires="v">
                  <p:oleObj spid="_x0000_s18667" name="公式" r:id="rId11" imgW="152280" imgH="177480" progId="Equation.3">
                    <p:embed/>
                  </p:oleObj>
                </mc:Choice>
                <mc:Fallback>
                  <p:oleObj name="公式" r:id="rId11" imgW="152280" imgH="177480" progId="Equation.3">
                    <p:embed/>
                    <p:pic>
                      <p:nvPicPr>
                        <p:cNvPr id="70742" name="Object 8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1" y="1106"/>
                          <a:ext cx="204"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0807" name="Group 151"/>
          <p:cNvGrpSpPr>
            <a:grpSpLocks/>
          </p:cNvGrpSpPr>
          <p:nvPr/>
        </p:nvGrpSpPr>
        <p:grpSpPr bwMode="auto">
          <a:xfrm>
            <a:off x="4162425" y="1016000"/>
            <a:ext cx="2016125" cy="2341563"/>
            <a:chOff x="2622" y="413"/>
            <a:chExt cx="1270" cy="1475"/>
          </a:xfrm>
        </p:grpSpPr>
        <p:grpSp>
          <p:nvGrpSpPr>
            <p:cNvPr id="70743" name="Group 87"/>
            <p:cNvGrpSpPr>
              <a:grpSpLocks/>
            </p:cNvGrpSpPr>
            <p:nvPr/>
          </p:nvGrpSpPr>
          <p:grpSpPr bwMode="auto">
            <a:xfrm>
              <a:off x="3036" y="551"/>
              <a:ext cx="393" cy="1218"/>
              <a:chOff x="657" y="2750"/>
              <a:chExt cx="454" cy="1406"/>
            </a:xfrm>
          </p:grpSpPr>
          <p:sp>
            <p:nvSpPr>
              <p:cNvPr id="70744" name="Rectangle 88"/>
              <p:cNvSpPr>
                <a:spLocks noChangeArrowheads="1"/>
              </p:cNvSpPr>
              <p:nvPr/>
            </p:nvSpPr>
            <p:spPr bwMode="auto">
              <a:xfrm>
                <a:off x="657" y="3793"/>
                <a:ext cx="363" cy="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45" name="Line 89"/>
              <p:cNvSpPr>
                <a:spLocks noChangeShapeType="1"/>
              </p:cNvSpPr>
              <p:nvPr/>
            </p:nvSpPr>
            <p:spPr bwMode="auto">
              <a:xfrm>
                <a:off x="657" y="2750"/>
                <a:ext cx="363"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46" name="Line 90"/>
              <p:cNvSpPr>
                <a:spLocks noChangeShapeType="1"/>
              </p:cNvSpPr>
              <p:nvPr/>
            </p:nvSpPr>
            <p:spPr bwMode="auto">
              <a:xfrm flipV="1">
                <a:off x="793" y="2750"/>
                <a:ext cx="0" cy="952"/>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47" name="Oval 91"/>
              <p:cNvSpPr>
                <a:spLocks noChangeArrowheads="1"/>
              </p:cNvSpPr>
              <p:nvPr/>
            </p:nvSpPr>
            <p:spPr bwMode="auto">
              <a:xfrm>
                <a:off x="657" y="3793"/>
                <a:ext cx="363" cy="363"/>
              </a:xfrm>
              <a:prstGeom prst="ellipse">
                <a:avLst/>
              </a:prstGeom>
              <a:gradFill rotWithShape="1">
                <a:gsLst>
                  <a:gs pos="0">
                    <a:schemeClr val="bg1"/>
                  </a:gs>
                  <a:gs pos="100000">
                    <a:srgbClr val="DE006F"/>
                  </a:gs>
                </a:gsLst>
                <a:path path="shape">
                  <a:fillToRect l="50000" t="50000" r="50000" b="5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48" name="Line 92"/>
              <p:cNvSpPr>
                <a:spLocks noChangeShapeType="1"/>
              </p:cNvSpPr>
              <p:nvPr/>
            </p:nvSpPr>
            <p:spPr bwMode="auto">
              <a:xfrm flipV="1">
                <a:off x="839" y="3792"/>
                <a:ext cx="0" cy="183"/>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49" name="Line 93"/>
              <p:cNvSpPr>
                <a:spLocks noChangeShapeType="1"/>
              </p:cNvSpPr>
              <p:nvPr/>
            </p:nvSpPr>
            <p:spPr bwMode="auto">
              <a:xfrm>
                <a:off x="839" y="3975"/>
                <a:ext cx="181" cy="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50" name="Line 94"/>
              <p:cNvSpPr>
                <a:spLocks noChangeShapeType="1"/>
              </p:cNvSpPr>
              <p:nvPr/>
            </p:nvSpPr>
            <p:spPr bwMode="auto">
              <a:xfrm>
                <a:off x="884" y="2750"/>
                <a:ext cx="0" cy="952"/>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51" name="Line 95"/>
              <p:cNvSpPr>
                <a:spLocks noChangeShapeType="1"/>
              </p:cNvSpPr>
              <p:nvPr/>
            </p:nvSpPr>
            <p:spPr bwMode="auto">
              <a:xfrm>
                <a:off x="702" y="3702"/>
                <a:ext cx="273"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52" name="Line 96"/>
              <p:cNvSpPr>
                <a:spLocks noChangeShapeType="1"/>
              </p:cNvSpPr>
              <p:nvPr/>
            </p:nvSpPr>
            <p:spPr bwMode="auto">
              <a:xfrm>
                <a:off x="839" y="3702"/>
                <a:ext cx="0" cy="9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53" name="Text Box 97"/>
              <p:cNvSpPr txBox="1">
                <a:spLocks noChangeArrowheads="1"/>
              </p:cNvSpPr>
              <p:nvPr/>
            </p:nvSpPr>
            <p:spPr bwMode="auto">
              <a:xfrm>
                <a:off x="885" y="3157"/>
                <a:ext cx="226"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i="1">
                    <a:solidFill>
                      <a:srgbClr val="FF0000"/>
                    </a:solidFill>
                    <a:effectLst/>
                    <a:latin typeface="Times New Roman" panose="02020603050405020304" pitchFamily="18" charset="0"/>
                    <a:ea typeface="宋体" panose="02010600030101010101" pitchFamily="2" charset="-122"/>
                  </a:rPr>
                  <a:t>d</a:t>
                </a:r>
              </a:p>
            </p:txBody>
          </p:sp>
        </p:grpSp>
        <p:sp>
          <p:nvSpPr>
            <p:cNvPr id="70754" name="Rectangle 98"/>
            <p:cNvSpPr>
              <a:spLocks noChangeArrowheads="1"/>
            </p:cNvSpPr>
            <p:nvPr/>
          </p:nvSpPr>
          <p:spPr bwMode="auto">
            <a:xfrm>
              <a:off x="2622" y="433"/>
              <a:ext cx="984" cy="1455"/>
            </a:xfrm>
            <a:prstGeom prst="rect">
              <a:avLst/>
            </a:prstGeom>
            <a:noFill/>
            <a:ln w="28575">
              <a:solidFill>
                <a:srgbClr val="99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55" name="Text Box 99"/>
            <p:cNvSpPr txBox="1">
              <a:spLocks noChangeArrowheads="1"/>
            </p:cNvSpPr>
            <p:nvPr/>
          </p:nvSpPr>
          <p:spPr bwMode="auto">
            <a:xfrm>
              <a:off x="3348" y="413"/>
              <a:ext cx="5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0000FF"/>
                  </a:solidFill>
                  <a:effectLst/>
                  <a:latin typeface="Times New Roman" panose="02020603050405020304" pitchFamily="18" charset="0"/>
                  <a:ea typeface="宋体" panose="02010600030101010101" pitchFamily="2" charset="-122"/>
                </a:rPr>
                <a:t>M</a:t>
              </a:r>
            </a:p>
          </p:txBody>
        </p:sp>
        <p:sp>
          <p:nvSpPr>
            <p:cNvPr id="70756" name="Text Box 100"/>
            <p:cNvSpPr txBox="1">
              <a:spLocks noChangeArrowheads="1"/>
            </p:cNvSpPr>
            <p:nvPr/>
          </p:nvSpPr>
          <p:spPr bwMode="auto">
            <a:xfrm>
              <a:off x="3302" y="1275"/>
              <a:ext cx="5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0000FF"/>
                  </a:solidFill>
                  <a:effectLst/>
                  <a:latin typeface="Times New Roman" panose="02020603050405020304" pitchFamily="18" charset="0"/>
                  <a:ea typeface="宋体" panose="02010600030101010101" pitchFamily="2" charset="-122"/>
                </a:rPr>
                <a:t>C</a:t>
              </a:r>
            </a:p>
          </p:txBody>
        </p:sp>
      </p:grpSp>
      <p:sp>
        <p:nvSpPr>
          <p:cNvPr id="70757" name="Text Box 101"/>
          <p:cNvSpPr txBox="1">
            <a:spLocks noChangeArrowheads="1"/>
          </p:cNvSpPr>
          <p:nvPr/>
        </p:nvSpPr>
        <p:spPr bwMode="auto">
          <a:xfrm>
            <a:off x="3995738" y="166528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en-US" sz="2400" b="1">
              <a:effectLst/>
              <a:ea typeface="宋体" panose="02010600030101010101" pitchFamily="2" charset="-122"/>
            </a:endParaRPr>
          </a:p>
        </p:txBody>
      </p:sp>
      <p:grpSp>
        <p:nvGrpSpPr>
          <p:cNvPr id="70808" name="Group 152"/>
          <p:cNvGrpSpPr>
            <a:grpSpLocks/>
          </p:cNvGrpSpPr>
          <p:nvPr/>
        </p:nvGrpSpPr>
        <p:grpSpPr bwMode="auto">
          <a:xfrm>
            <a:off x="681038" y="3176588"/>
            <a:ext cx="3386137" cy="3168650"/>
            <a:chOff x="429" y="1774"/>
            <a:chExt cx="2133" cy="1996"/>
          </a:xfrm>
        </p:grpSpPr>
        <p:graphicFrame>
          <p:nvGraphicFramePr>
            <p:cNvPr id="70715" name="Object 59"/>
            <p:cNvGraphicFramePr>
              <a:graphicFrameLocks noChangeAspect="1"/>
            </p:cNvGraphicFramePr>
            <p:nvPr/>
          </p:nvGraphicFramePr>
          <p:xfrm>
            <a:off x="429" y="1774"/>
            <a:ext cx="1907" cy="323"/>
          </p:xfrm>
          <a:graphic>
            <a:graphicData uri="http://schemas.openxmlformats.org/presentationml/2006/ole">
              <mc:AlternateContent xmlns:mc="http://schemas.openxmlformats.org/markup-compatibility/2006">
                <mc:Choice xmlns:v="urn:schemas-microsoft-com:vml" Requires="v">
                  <p:oleObj spid="_x0000_s18668" name="Equation" r:id="rId13" imgW="1269720" imgH="215640" progId="Equation.DSMT4">
                    <p:embed/>
                  </p:oleObj>
                </mc:Choice>
                <mc:Fallback>
                  <p:oleObj name="Equation" r:id="rId13" imgW="1269720" imgH="215640" progId="Equation.DSMT4">
                    <p:embed/>
                    <p:pic>
                      <p:nvPicPr>
                        <p:cNvPr id="70715" name="Object 5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9" y="1774"/>
                          <a:ext cx="1907"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788" name="Object 132"/>
            <p:cNvGraphicFramePr>
              <a:graphicFrameLocks noChangeAspect="1"/>
            </p:cNvGraphicFramePr>
            <p:nvPr/>
          </p:nvGraphicFramePr>
          <p:xfrm>
            <a:off x="2188" y="3203"/>
            <a:ext cx="374" cy="567"/>
          </p:xfrm>
          <a:graphic>
            <a:graphicData uri="http://schemas.openxmlformats.org/presentationml/2006/ole">
              <mc:AlternateContent xmlns:mc="http://schemas.openxmlformats.org/markup-compatibility/2006">
                <mc:Choice xmlns:v="urn:schemas-microsoft-com:vml" Requires="v">
                  <p:oleObj spid="_x0000_s18669" name="Image" r:id="rId15" imgW="736248" imgH="1117460" progId="Photoshop.Image.6">
                    <p:embed/>
                  </p:oleObj>
                </mc:Choice>
                <mc:Fallback>
                  <p:oleObj name="Image" r:id="rId15" imgW="736248" imgH="1117460" progId="Photoshop.Image.6">
                    <p:embed/>
                    <p:pic>
                      <p:nvPicPr>
                        <p:cNvPr id="70788" name="Object 1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8" y="3203"/>
                          <a:ext cx="374"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789" name="Object 133"/>
            <p:cNvGraphicFramePr>
              <a:graphicFrameLocks noChangeAspect="1"/>
            </p:cNvGraphicFramePr>
            <p:nvPr/>
          </p:nvGraphicFramePr>
          <p:xfrm>
            <a:off x="2309" y="2931"/>
            <a:ext cx="163" cy="230"/>
          </p:xfrm>
          <a:graphic>
            <a:graphicData uri="http://schemas.openxmlformats.org/presentationml/2006/ole">
              <mc:AlternateContent xmlns:mc="http://schemas.openxmlformats.org/markup-compatibility/2006">
                <mc:Choice xmlns:v="urn:schemas-microsoft-com:vml" Requires="v">
                  <p:oleObj spid="_x0000_s18670" name="公式" r:id="rId16" imgW="126720" imgH="177480" progId="Equation.3">
                    <p:embed/>
                  </p:oleObj>
                </mc:Choice>
                <mc:Fallback>
                  <p:oleObj name="公式" r:id="rId16" imgW="126720" imgH="177480" progId="Equation.3">
                    <p:embed/>
                    <p:pic>
                      <p:nvPicPr>
                        <p:cNvPr id="70789" name="Object 1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09" y="2931"/>
                          <a:ext cx="163"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0760" name="Line 104"/>
          <p:cNvSpPr>
            <a:spLocks noChangeShapeType="1"/>
          </p:cNvSpPr>
          <p:nvPr/>
        </p:nvSpPr>
        <p:spPr bwMode="auto">
          <a:xfrm flipV="1">
            <a:off x="4587875" y="4156075"/>
            <a:ext cx="1689100" cy="132397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1" name="Line 115"/>
          <p:cNvSpPr>
            <a:spLocks noChangeShapeType="1"/>
          </p:cNvSpPr>
          <p:nvPr/>
        </p:nvSpPr>
        <p:spPr bwMode="auto">
          <a:xfrm>
            <a:off x="6340475" y="4156075"/>
            <a:ext cx="1692275" cy="131445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804" name="Group 148"/>
          <p:cNvGrpSpPr>
            <a:grpSpLocks/>
          </p:cNvGrpSpPr>
          <p:nvPr/>
        </p:nvGrpSpPr>
        <p:grpSpPr bwMode="auto">
          <a:xfrm>
            <a:off x="4514850" y="4217988"/>
            <a:ext cx="2076450" cy="1658937"/>
            <a:chOff x="2844" y="2430"/>
            <a:chExt cx="1308" cy="1045"/>
          </a:xfrm>
        </p:grpSpPr>
        <p:grpSp>
          <p:nvGrpSpPr>
            <p:cNvPr id="70800" name="Group 144"/>
            <p:cNvGrpSpPr>
              <a:grpSpLocks/>
            </p:cNvGrpSpPr>
            <p:nvPr/>
          </p:nvGrpSpPr>
          <p:grpSpPr bwMode="auto">
            <a:xfrm>
              <a:off x="2844" y="2636"/>
              <a:ext cx="1308" cy="839"/>
              <a:chOff x="2844" y="2636"/>
              <a:chExt cx="1308" cy="839"/>
            </a:xfrm>
          </p:grpSpPr>
          <p:sp>
            <p:nvSpPr>
              <p:cNvPr id="70774" name="Text Box 118"/>
              <p:cNvSpPr txBox="1">
                <a:spLocks noChangeArrowheads="1"/>
              </p:cNvSpPr>
              <p:nvPr/>
            </p:nvSpPr>
            <p:spPr bwMode="auto">
              <a:xfrm>
                <a:off x="3954" y="2707"/>
                <a:ext cx="1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i="1">
                    <a:solidFill>
                      <a:srgbClr val="FF0000"/>
                    </a:solidFill>
                    <a:effectLst/>
                    <a:latin typeface="Times New Roman" panose="02020603050405020304" pitchFamily="18" charset="0"/>
                    <a:ea typeface="宋体" panose="02010600030101010101" pitchFamily="2" charset="-122"/>
                  </a:rPr>
                  <a:t>d</a:t>
                </a:r>
              </a:p>
            </p:txBody>
          </p:sp>
          <p:graphicFrame>
            <p:nvGraphicFramePr>
              <p:cNvPr id="70782" name="Object 126"/>
              <p:cNvGraphicFramePr>
                <a:graphicFrameLocks noChangeAspect="1"/>
              </p:cNvGraphicFramePr>
              <p:nvPr/>
            </p:nvGraphicFramePr>
            <p:xfrm>
              <a:off x="3190" y="3245"/>
              <a:ext cx="562" cy="230"/>
            </p:xfrm>
            <a:graphic>
              <a:graphicData uri="http://schemas.openxmlformats.org/presentationml/2006/ole">
                <mc:AlternateContent xmlns:mc="http://schemas.openxmlformats.org/markup-compatibility/2006">
                  <mc:Choice xmlns:v="urn:schemas-microsoft-com:vml" Requires="v">
                    <p:oleObj spid="_x0000_s18671" name="Equation" r:id="rId18" imgW="431640" imgH="177480" progId="Equation.DSMT4">
                      <p:embed/>
                    </p:oleObj>
                  </mc:Choice>
                  <mc:Fallback>
                    <p:oleObj name="Equation" r:id="rId18" imgW="431640" imgH="177480" progId="Equation.DSMT4">
                      <p:embed/>
                      <p:pic>
                        <p:nvPicPr>
                          <p:cNvPr id="70782" name="Object 1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90" y="3245"/>
                            <a:ext cx="562"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783" name="Object 127"/>
              <p:cNvGraphicFramePr>
                <a:graphicFrameLocks noChangeAspect="1"/>
              </p:cNvGraphicFramePr>
              <p:nvPr/>
            </p:nvGraphicFramePr>
            <p:xfrm>
              <a:off x="2844" y="2636"/>
              <a:ext cx="544" cy="225"/>
            </p:xfrm>
            <a:graphic>
              <a:graphicData uri="http://schemas.openxmlformats.org/presentationml/2006/ole">
                <mc:AlternateContent xmlns:mc="http://schemas.openxmlformats.org/markup-compatibility/2006">
                  <mc:Choice xmlns:v="urn:schemas-microsoft-com:vml" Requires="v">
                    <p:oleObj spid="_x0000_s18672" name="Equation" r:id="rId20" imgW="431640" imgH="177480" progId="Equation.DSMT4">
                      <p:embed/>
                    </p:oleObj>
                  </mc:Choice>
                  <mc:Fallback>
                    <p:oleObj name="Equation" r:id="rId20" imgW="431640" imgH="177480" progId="Equation.DSMT4">
                      <p:embed/>
                      <p:pic>
                        <p:nvPicPr>
                          <p:cNvPr id="70783" name="Object 12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44" y="2636"/>
                            <a:ext cx="544"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0784" name="Line 128"/>
            <p:cNvSpPr>
              <a:spLocks noChangeShapeType="1"/>
            </p:cNvSpPr>
            <p:nvPr/>
          </p:nvSpPr>
          <p:spPr bwMode="auto">
            <a:xfrm>
              <a:off x="3047" y="3219"/>
              <a:ext cx="750" cy="0"/>
            </a:xfrm>
            <a:prstGeom prst="line">
              <a:avLst/>
            </a:prstGeom>
            <a:noFill/>
            <a:ln w="19050">
              <a:solidFill>
                <a:srgbClr val="0000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5" name="Line 129"/>
            <p:cNvSpPr>
              <a:spLocks noChangeShapeType="1"/>
            </p:cNvSpPr>
            <p:nvPr/>
          </p:nvSpPr>
          <p:spPr bwMode="auto">
            <a:xfrm rot="5400000">
              <a:off x="3579" y="2805"/>
              <a:ext cx="750" cy="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1" name="Group 155"/>
          <p:cNvGrpSpPr>
            <a:grpSpLocks/>
          </p:cNvGrpSpPr>
          <p:nvPr/>
        </p:nvGrpSpPr>
        <p:grpSpPr bwMode="auto">
          <a:xfrm>
            <a:off x="4067175" y="3502025"/>
            <a:ext cx="2017713" cy="2822575"/>
            <a:chOff x="2562" y="1979"/>
            <a:chExt cx="1271" cy="1778"/>
          </a:xfrm>
        </p:grpSpPr>
        <p:grpSp>
          <p:nvGrpSpPr>
            <p:cNvPr id="70810" name="Group 154"/>
            <p:cNvGrpSpPr>
              <a:grpSpLocks/>
            </p:cNvGrpSpPr>
            <p:nvPr/>
          </p:nvGrpSpPr>
          <p:grpSpPr bwMode="auto">
            <a:xfrm>
              <a:off x="2562" y="2160"/>
              <a:ext cx="1008" cy="1597"/>
              <a:chOff x="2562" y="2160"/>
              <a:chExt cx="1008" cy="1597"/>
            </a:xfrm>
          </p:grpSpPr>
          <p:sp>
            <p:nvSpPr>
              <p:cNvPr id="70786" name="Line 130"/>
              <p:cNvSpPr>
                <a:spLocks noChangeShapeType="1"/>
              </p:cNvSpPr>
              <p:nvPr/>
            </p:nvSpPr>
            <p:spPr bwMode="auto">
              <a:xfrm>
                <a:off x="2744" y="2160"/>
                <a:ext cx="552" cy="0"/>
              </a:xfrm>
              <a:prstGeom prst="line">
                <a:avLst/>
              </a:prstGeom>
              <a:noFill/>
              <a:ln w="28575">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801" name="Group 145"/>
              <p:cNvGrpSpPr>
                <a:grpSpLocks/>
              </p:cNvGrpSpPr>
              <p:nvPr/>
            </p:nvGrpSpPr>
            <p:grpSpPr bwMode="auto">
              <a:xfrm>
                <a:off x="2562" y="2257"/>
                <a:ext cx="1008" cy="1500"/>
                <a:chOff x="2562" y="2257"/>
                <a:chExt cx="1008" cy="1500"/>
              </a:xfrm>
            </p:grpSpPr>
            <p:sp>
              <p:nvSpPr>
                <p:cNvPr id="70758" name="Rectangle 102"/>
                <p:cNvSpPr>
                  <a:spLocks noChangeArrowheads="1"/>
                </p:cNvSpPr>
                <p:nvPr/>
              </p:nvSpPr>
              <p:spPr bwMode="auto">
                <a:xfrm>
                  <a:off x="2731" y="3298"/>
                  <a:ext cx="316" cy="3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59" name="Line 103"/>
                <p:cNvSpPr>
                  <a:spLocks noChangeShapeType="1"/>
                </p:cNvSpPr>
                <p:nvPr/>
              </p:nvSpPr>
              <p:spPr bwMode="auto">
                <a:xfrm>
                  <a:off x="2731" y="2391"/>
                  <a:ext cx="31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1" name="Oval 105"/>
                <p:cNvSpPr>
                  <a:spLocks noChangeArrowheads="1"/>
                </p:cNvSpPr>
                <p:nvPr/>
              </p:nvSpPr>
              <p:spPr bwMode="auto">
                <a:xfrm>
                  <a:off x="2731" y="3298"/>
                  <a:ext cx="316" cy="316"/>
                </a:xfrm>
                <a:prstGeom prst="ellipse">
                  <a:avLst/>
                </a:prstGeom>
                <a:gradFill rotWithShape="1">
                  <a:gsLst>
                    <a:gs pos="0">
                      <a:schemeClr val="bg1"/>
                    </a:gs>
                    <a:gs pos="100000">
                      <a:srgbClr val="DE006F"/>
                    </a:gs>
                  </a:gsLst>
                  <a:path path="shape">
                    <a:fillToRect l="50000" t="50000" r="50000" b="5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62" name="Line 106"/>
                <p:cNvSpPr>
                  <a:spLocks noChangeShapeType="1"/>
                </p:cNvSpPr>
                <p:nvPr/>
              </p:nvSpPr>
              <p:spPr bwMode="auto">
                <a:xfrm flipV="1">
                  <a:off x="2889" y="3298"/>
                  <a:ext cx="0" cy="15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3" name="Line 107"/>
                <p:cNvSpPr>
                  <a:spLocks noChangeShapeType="1"/>
                </p:cNvSpPr>
                <p:nvPr/>
              </p:nvSpPr>
              <p:spPr bwMode="auto">
                <a:xfrm>
                  <a:off x="2889" y="3457"/>
                  <a:ext cx="158"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4" name="Line 108"/>
                <p:cNvSpPr>
                  <a:spLocks noChangeShapeType="1"/>
                </p:cNvSpPr>
                <p:nvPr/>
              </p:nvSpPr>
              <p:spPr bwMode="auto">
                <a:xfrm>
                  <a:off x="2770" y="3219"/>
                  <a:ext cx="23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5" name="Line 109"/>
                <p:cNvSpPr>
                  <a:spLocks noChangeShapeType="1"/>
                </p:cNvSpPr>
                <p:nvPr/>
              </p:nvSpPr>
              <p:spPr bwMode="auto">
                <a:xfrm>
                  <a:off x="2889" y="3219"/>
                  <a:ext cx="0" cy="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7" name="Rectangle 131"/>
                <p:cNvSpPr>
                  <a:spLocks noChangeArrowheads="1"/>
                </p:cNvSpPr>
                <p:nvPr/>
              </p:nvSpPr>
              <p:spPr bwMode="auto">
                <a:xfrm>
                  <a:off x="2562" y="2296"/>
                  <a:ext cx="952" cy="1461"/>
                </a:xfrm>
                <a:prstGeom prst="rect">
                  <a:avLst/>
                </a:prstGeom>
                <a:noFill/>
                <a:ln w="28575">
                  <a:solidFill>
                    <a:srgbClr val="99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0" name="Text Box 134"/>
                <p:cNvSpPr txBox="1">
                  <a:spLocks noChangeArrowheads="1"/>
                </p:cNvSpPr>
                <p:nvPr/>
              </p:nvSpPr>
              <p:spPr bwMode="auto">
                <a:xfrm>
                  <a:off x="2708" y="2953"/>
                  <a:ext cx="5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0000FF"/>
                      </a:solidFill>
                      <a:effectLst/>
                      <a:latin typeface="Times New Roman" panose="02020603050405020304" pitchFamily="18" charset="0"/>
                      <a:ea typeface="宋体" panose="02010600030101010101" pitchFamily="2" charset="-122"/>
                    </a:rPr>
                    <a:t>C</a:t>
                  </a:r>
                </a:p>
              </p:txBody>
            </p:sp>
            <p:sp>
              <p:nvSpPr>
                <p:cNvPr id="70791" name="Text Box 135"/>
                <p:cNvSpPr txBox="1">
                  <a:spLocks noChangeArrowheads="1"/>
                </p:cNvSpPr>
                <p:nvPr/>
              </p:nvSpPr>
              <p:spPr bwMode="auto">
                <a:xfrm>
                  <a:off x="3026" y="2257"/>
                  <a:ext cx="5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0000FF"/>
                      </a:solidFill>
                      <a:effectLst/>
                      <a:latin typeface="Times New Roman" panose="02020603050405020304" pitchFamily="18" charset="0"/>
                      <a:ea typeface="宋体" panose="02010600030101010101" pitchFamily="2" charset="-122"/>
                    </a:rPr>
                    <a:t>M</a:t>
                  </a:r>
                </a:p>
              </p:txBody>
            </p:sp>
          </p:grpSp>
        </p:grpSp>
        <p:sp>
          <p:nvSpPr>
            <p:cNvPr id="70793" name="Text Box 137"/>
            <p:cNvSpPr txBox="1">
              <a:spLocks noChangeArrowheads="1"/>
            </p:cNvSpPr>
            <p:nvPr/>
          </p:nvSpPr>
          <p:spPr bwMode="auto">
            <a:xfrm>
              <a:off x="3288" y="1979"/>
              <a:ext cx="5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i="1">
                  <a:solidFill>
                    <a:srgbClr val="000066"/>
                  </a:solidFill>
                  <a:effectLst/>
                  <a:latin typeface="Times New Roman" panose="02020603050405020304" pitchFamily="18" charset="0"/>
                  <a:ea typeface="宋体" panose="02010600030101010101" pitchFamily="2" charset="-122"/>
                </a:rPr>
                <a:t>v</a:t>
              </a:r>
            </a:p>
          </p:txBody>
        </p:sp>
      </p:grpSp>
      <p:grpSp>
        <p:nvGrpSpPr>
          <p:cNvPr id="70809" name="Group 153"/>
          <p:cNvGrpSpPr>
            <a:grpSpLocks/>
          </p:cNvGrpSpPr>
          <p:nvPr/>
        </p:nvGrpSpPr>
        <p:grpSpPr bwMode="auto">
          <a:xfrm>
            <a:off x="5651500" y="4005263"/>
            <a:ext cx="1512888" cy="2319337"/>
            <a:chOff x="3560" y="2296"/>
            <a:chExt cx="953" cy="1461"/>
          </a:xfrm>
        </p:grpSpPr>
        <p:sp>
          <p:nvSpPr>
            <p:cNvPr id="70766" name="Rectangle 110"/>
            <p:cNvSpPr>
              <a:spLocks noChangeArrowheads="1"/>
            </p:cNvSpPr>
            <p:nvPr/>
          </p:nvSpPr>
          <p:spPr bwMode="auto">
            <a:xfrm>
              <a:off x="3797" y="3298"/>
              <a:ext cx="316" cy="3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67" name="Line 111"/>
            <p:cNvSpPr>
              <a:spLocks noChangeShapeType="1"/>
            </p:cNvSpPr>
            <p:nvPr/>
          </p:nvSpPr>
          <p:spPr bwMode="auto">
            <a:xfrm>
              <a:off x="3797" y="2391"/>
              <a:ext cx="31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8" name="Oval 112"/>
            <p:cNvSpPr>
              <a:spLocks noChangeArrowheads="1"/>
            </p:cNvSpPr>
            <p:nvPr/>
          </p:nvSpPr>
          <p:spPr bwMode="auto">
            <a:xfrm>
              <a:off x="3797" y="3298"/>
              <a:ext cx="316" cy="316"/>
            </a:xfrm>
            <a:prstGeom prst="ellipse">
              <a:avLst/>
            </a:prstGeom>
            <a:gradFill rotWithShape="1">
              <a:gsLst>
                <a:gs pos="0">
                  <a:schemeClr val="bg1"/>
                </a:gs>
                <a:gs pos="100000">
                  <a:srgbClr val="DE006F"/>
                </a:gs>
              </a:gsLst>
              <a:path path="shape">
                <a:fillToRect l="50000" t="50000" r="50000" b="5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69" name="Line 113"/>
            <p:cNvSpPr>
              <a:spLocks noChangeShapeType="1"/>
            </p:cNvSpPr>
            <p:nvPr/>
          </p:nvSpPr>
          <p:spPr bwMode="auto">
            <a:xfrm flipV="1">
              <a:off x="3955" y="3298"/>
              <a:ext cx="0" cy="15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0" name="Line 114"/>
            <p:cNvSpPr>
              <a:spLocks noChangeShapeType="1"/>
            </p:cNvSpPr>
            <p:nvPr/>
          </p:nvSpPr>
          <p:spPr bwMode="auto">
            <a:xfrm>
              <a:off x="3955" y="3457"/>
              <a:ext cx="158"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2" name="Line 116"/>
            <p:cNvSpPr>
              <a:spLocks noChangeShapeType="1"/>
            </p:cNvSpPr>
            <p:nvPr/>
          </p:nvSpPr>
          <p:spPr bwMode="auto">
            <a:xfrm>
              <a:off x="3836" y="3219"/>
              <a:ext cx="23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3" name="Line 117"/>
            <p:cNvSpPr>
              <a:spLocks noChangeShapeType="1"/>
            </p:cNvSpPr>
            <p:nvPr/>
          </p:nvSpPr>
          <p:spPr bwMode="auto">
            <a:xfrm>
              <a:off x="3955" y="3219"/>
              <a:ext cx="0" cy="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98" name="Rectangle 142"/>
            <p:cNvSpPr>
              <a:spLocks noChangeArrowheads="1"/>
            </p:cNvSpPr>
            <p:nvPr/>
          </p:nvSpPr>
          <p:spPr bwMode="auto">
            <a:xfrm>
              <a:off x="3560" y="2296"/>
              <a:ext cx="953" cy="1461"/>
            </a:xfrm>
            <a:prstGeom prst="rect">
              <a:avLst/>
            </a:prstGeom>
            <a:noFill/>
            <a:ln w="28575">
              <a:solidFill>
                <a:srgbClr val="99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0803" name="Group 147"/>
          <p:cNvGrpSpPr>
            <a:grpSpLocks/>
          </p:cNvGrpSpPr>
          <p:nvPr/>
        </p:nvGrpSpPr>
        <p:grpSpPr bwMode="auto">
          <a:xfrm>
            <a:off x="7235825" y="4005263"/>
            <a:ext cx="1584325" cy="2319337"/>
            <a:chOff x="4558" y="2296"/>
            <a:chExt cx="998" cy="1461"/>
          </a:xfrm>
        </p:grpSpPr>
        <p:sp>
          <p:nvSpPr>
            <p:cNvPr id="70775" name="Rectangle 119"/>
            <p:cNvSpPr>
              <a:spLocks noChangeArrowheads="1"/>
            </p:cNvSpPr>
            <p:nvPr/>
          </p:nvSpPr>
          <p:spPr bwMode="auto">
            <a:xfrm>
              <a:off x="4901" y="3298"/>
              <a:ext cx="316" cy="3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76" name="Line 120"/>
            <p:cNvSpPr>
              <a:spLocks noChangeShapeType="1"/>
            </p:cNvSpPr>
            <p:nvPr/>
          </p:nvSpPr>
          <p:spPr bwMode="auto">
            <a:xfrm>
              <a:off x="4901" y="2391"/>
              <a:ext cx="31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7" name="Oval 121"/>
            <p:cNvSpPr>
              <a:spLocks noChangeArrowheads="1"/>
            </p:cNvSpPr>
            <p:nvPr/>
          </p:nvSpPr>
          <p:spPr bwMode="auto">
            <a:xfrm>
              <a:off x="4901" y="3298"/>
              <a:ext cx="316" cy="316"/>
            </a:xfrm>
            <a:prstGeom prst="ellipse">
              <a:avLst/>
            </a:prstGeom>
            <a:gradFill rotWithShape="1">
              <a:gsLst>
                <a:gs pos="0">
                  <a:schemeClr val="bg1"/>
                </a:gs>
                <a:gs pos="100000">
                  <a:srgbClr val="DE006F"/>
                </a:gs>
              </a:gsLst>
              <a:path path="shape">
                <a:fillToRect l="50000" t="50000" r="50000" b="50000"/>
              </a:path>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78" name="Line 122"/>
            <p:cNvSpPr>
              <a:spLocks noChangeShapeType="1"/>
            </p:cNvSpPr>
            <p:nvPr/>
          </p:nvSpPr>
          <p:spPr bwMode="auto">
            <a:xfrm flipV="1">
              <a:off x="5060" y="3298"/>
              <a:ext cx="0" cy="15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9" name="Line 123"/>
            <p:cNvSpPr>
              <a:spLocks noChangeShapeType="1"/>
            </p:cNvSpPr>
            <p:nvPr/>
          </p:nvSpPr>
          <p:spPr bwMode="auto">
            <a:xfrm>
              <a:off x="5060" y="3457"/>
              <a:ext cx="157"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0" name="Line 124"/>
            <p:cNvSpPr>
              <a:spLocks noChangeShapeType="1"/>
            </p:cNvSpPr>
            <p:nvPr/>
          </p:nvSpPr>
          <p:spPr bwMode="auto">
            <a:xfrm>
              <a:off x="4940" y="3219"/>
              <a:ext cx="23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1" name="Line 125"/>
            <p:cNvSpPr>
              <a:spLocks noChangeShapeType="1"/>
            </p:cNvSpPr>
            <p:nvPr/>
          </p:nvSpPr>
          <p:spPr bwMode="auto">
            <a:xfrm>
              <a:off x="5060" y="3219"/>
              <a:ext cx="0" cy="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99" name="Rectangle 143"/>
            <p:cNvSpPr>
              <a:spLocks noChangeArrowheads="1"/>
            </p:cNvSpPr>
            <p:nvPr/>
          </p:nvSpPr>
          <p:spPr bwMode="auto">
            <a:xfrm>
              <a:off x="4558" y="2296"/>
              <a:ext cx="998" cy="1461"/>
            </a:xfrm>
            <a:prstGeom prst="rect">
              <a:avLst/>
            </a:prstGeom>
            <a:noFill/>
            <a:ln w="28575">
              <a:solidFill>
                <a:srgbClr val="9933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1844042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0807"/>
                                        </p:tgtEl>
                                        <p:attrNameLst>
                                          <p:attrName>style.visibility</p:attrName>
                                        </p:attrNameLst>
                                      </p:cBhvr>
                                      <p:to>
                                        <p:strVal val="visible"/>
                                      </p:to>
                                    </p:set>
                                    <p:animEffect transition="in" filter="checkerboard(across)">
                                      <p:cBhvr>
                                        <p:cTn id="7" dur="500"/>
                                        <p:tgtEl>
                                          <p:spTgt spid="708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70806"/>
                                        </p:tgtEl>
                                        <p:attrNameLst>
                                          <p:attrName>style.visibility</p:attrName>
                                        </p:attrNameLst>
                                      </p:cBhvr>
                                      <p:to>
                                        <p:strVal val="visible"/>
                                      </p:to>
                                    </p:set>
                                    <p:animEffect transition="in" filter="checkerboard(across)">
                                      <p:cBhvr>
                                        <p:cTn id="12" dur="500"/>
                                        <p:tgtEl>
                                          <p:spTgt spid="708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70680"/>
                                        </p:tgtEl>
                                        <p:attrNameLst>
                                          <p:attrName>style.visibility</p:attrName>
                                        </p:attrNameLst>
                                      </p:cBhvr>
                                      <p:to>
                                        <p:strVal val="visible"/>
                                      </p:to>
                                    </p:set>
                                    <p:anim calcmode="lin" valueType="num">
                                      <p:cBhvr additive="base">
                                        <p:cTn id="17" dur="500" fill="hold"/>
                                        <p:tgtEl>
                                          <p:spTgt spid="70680"/>
                                        </p:tgtEl>
                                        <p:attrNameLst>
                                          <p:attrName>ppt_x</p:attrName>
                                        </p:attrNameLst>
                                      </p:cBhvr>
                                      <p:tavLst>
                                        <p:tav tm="0">
                                          <p:val>
                                            <p:strVal val="0-#ppt_w/2"/>
                                          </p:val>
                                        </p:tav>
                                        <p:tav tm="100000">
                                          <p:val>
                                            <p:strVal val="#ppt_x"/>
                                          </p:val>
                                        </p:tav>
                                      </p:tavLst>
                                    </p:anim>
                                    <p:anim calcmode="lin" valueType="num">
                                      <p:cBhvr additive="base">
                                        <p:cTn id="18" dur="500" fill="hold"/>
                                        <p:tgtEl>
                                          <p:spTgt spid="7068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70808"/>
                                        </p:tgtEl>
                                        <p:attrNameLst>
                                          <p:attrName>style.visibility</p:attrName>
                                        </p:attrNameLst>
                                      </p:cBhvr>
                                      <p:to>
                                        <p:strVal val="visible"/>
                                      </p:to>
                                    </p:set>
                                    <p:animEffect transition="in" filter="slide(fromBottom)">
                                      <p:cBhvr>
                                        <p:cTn id="23" dur="500"/>
                                        <p:tgtEl>
                                          <p:spTgt spid="7080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nodeType="clickEffect">
                                  <p:stCondLst>
                                    <p:cond delay="0"/>
                                  </p:stCondLst>
                                  <p:childTnLst>
                                    <p:set>
                                      <p:cBhvr>
                                        <p:cTn id="27" dur="1" fill="hold">
                                          <p:stCondLst>
                                            <p:cond delay="0"/>
                                          </p:stCondLst>
                                        </p:cTn>
                                        <p:tgtEl>
                                          <p:spTgt spid="70811"/>
                                        </p:tgtEl>
                                        <p:attrNameLst>
                                          <p:attrName>style.visibility</p:attrName>
                                        </p:attrNameLst>
                                      </p:cBhvr>
                                      <p:to>
                                        <p:strVal val="visible"/>
                                      </p:to>
                                    </p:set>
                                    <p:animEffect transition="in" filter="checkerboard(across)">
                                      <p:cBhvr>
                                        <p:cTn id="28" dur="500"/>
                                        <p:tgtEl>
                                          <p:spTgt spid="7081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70809"/>
                                        </p:tgtEl>
                                        <p:attrNameLst>
                                          <p:attrName>style.visibility</p:attrName>
                                        </p:attrNameLst>
                                      </p:cBhvr>
                                      <p:to>
                                        <p:strVal val="visible"/>
                                      </p:to>
                                    </p:set>
                                    <p:animEffect transition="in" filter="checkerboard(across)">
                                      <p:cBhvr>
                                        <p:cTn id="33" dur="500"/>
                                        <p:tgtEl>
                                          <p:spTgt spid="7080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nodeType="clickEffect">
                                  <p:stCondLst>
                                    <p:cond delay="0"/>
                                  </p:stCondLst>
                                  <p:childTnLst>
                                    <p:set>
                                      <p:cBhvr>
                                        <p:cTn id="37" dur="1" fill="hold">
                                          <p:stCondLst>
                                            <p:cond delay="0"/>
                                          </p:stCondLst>
                                        </p:cTn>
                                        <p:tgtEl>
                                          <p:spTgt spid="70760"/>
                                        </p:tgtEl>
                                        <p:attrNameLst>
                                          <p:attrName>style.visibility</p:attrName>
                                        </p:attrNameLst>
                                      </p:cBhvr>
                                      <p:to>
                                        <p:strVal val="visible"/>
                                      </p:to>
                                    </p:set>
                                    <p:animEffect transition="in" filter="checkerboard(across)">
                                      <p:cBhvr>
                                        <p:cTn id="38" dur="500"/>
                                        <p:tgtEl>
                                          <p:spTgt spid="7076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nodeType="clickEffect">
                                  <p:stCondLst>
                                    <p:cond delay="0"/>
                                  </p:stCondLst>
                                  <p:childTnLst>
                                    <p:set>
                                      <p:cBhvr>
                                        <p:cTn id="42" dur="1" fill="hold">
                                          <p:stCondLst>
                                            <p:cond delay="0"/>
                                          </p:stCondLst>
                                        </p:cTn>
                                        <p:tgtEl>
                                          <p:spTgt spid="70803"/>
                                        </p:tgtEl>
                                        <p:attrNameLst>
                                          <p:attrName>style.visibility</p:attrName>
                                        </p:attrNameLst>
                                      </p:cBhvr>
                                      <p:to>
                                        <p:strVal val="visible"/>
                                      </p:to>
                                    </p:set>
                                    <p:animEffect transition="in" filter="checkerboard(across)">
                                      <p:cBhvr>
                                        <p:cTn id="43" dur="500"/>
                                        <p:tgtEl>
                                          <p:spTgt spid="7080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 presetClass="entr" presetSubtype="10" fill="hold" nodeType="clickEffect">
                                  <p:stCondLst>
                                    <p:cond delay="0"/>
                                  </p:stCondLst>
                                  <p:childTnLst>
                                    <p:set>
                                      <p:cBhvr>
                                        <p:cTn id="47" dur="1" fill="hold">
                                          <p:stCondLst>
                                            <p:cond delay="0"/>
                                          </p:stCondLst>
                                        </p:cTn>
                                        <p:tgtEl>
                                          <p:spTgt spid="70771"/>
                                        </p:tgtEl>
                                        <p:attrNameLst>
                                          <p:attrName>style.visibility</p:attrName>
                                        </p:attrNameLst>
                                      </p:cBhvr>
                                      <p:to>
                                        <p:strVal val="visible"/>
                                      </p:to>
                                    </p:set>
                                    <p:animEffect transition="in" filter="checkerboard(across)">
                                      <p:cBhvr>
                                        <p:cTn id="48" dur="500"/>
                                        <p:tgtEl>
                                          <p:spTgt spid="7077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 presetClass="entr" presetSubtype="10" fill="hold" nodeType="clickEffect">
                                  <p:stCondLst>
                                    <p:cond delay="0"/>
                                  </p:stCondLst>
                                  <p:childTnLst>
                                    <p:set>
                                      <p:cBhvr>
                                        <p:cTn id="52" dur="1" fill="hold">
                                          <p:stCondLst>
                                            <p:cond delay="0"/>
                                          </p:stCondLst>
                                        </p:cTn>
                                        <p:tgtEl>
                                          <p:spTgt spid="70804"/>
                                        </p:tgtEl>
                                        <p:attrNameLst>
                                          <p:attrName>style.visibility</p:attrName>
                                        </p:attrNameLst>
                                      </p:cBhvr>
                                      <p:to>
                                        <p:strVal val="visible"/>
                                      </p:to>
                                    </p:set>
                                    <p:animEffect transition="in" filter="checkerboard(across)">
                                      <p:cBhvr>
                                        <p:cTn id="53" dur="500"/>
                                        <p:tgtEl>
                                          <p:spTgt spid="7080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8" fill="hold" nodeType="clickEffect">
                                  <p:stCondLst>
                                    <p:cond delay="0"/>
                                  </p:stCondLst>
                                  <p:childTnLst>
                                    <p:set>
                                      <p:cBhvr>
                                        <p:cTn id="57" dur="1" fill="hold">
                                          <p:stCondLst>
                                            <p:cond delay="0"/>
                                          </p:stCondLst>
                                        </p:cTn>
                                        <p:tgtEl>
                                          <p:spTgt spid="70717"/>
                                        </p:tgtEl>
                                        <p:attrNameLst>
                                          <p:attrName>style.visibility</p:attrName>
                                        </p:attrNameLst>
                                      </p:cBhvr>
                                      <p:to>
                                        <p:strVal val="visible"/>
                                      </p:to>
                                    </p:set>
                                    <p:anim calcmode="lin" valueType="num">
                                      <p:cBhvr additive="base">
                                        <p:cTn id="58" dur="500" fill="hold"/>
                                        <p:tgtEl>
                                          <p:spTgt spid="70717"/>
                                        </p:tgtEl>
                                        <p:attrNameLst>
                                          <p:attrName>ppt_x</p:attrName>
                                        </p:attrNameLst>
                                      </p:cBhvr>
                                      <p:tavLst>
                                        <p:tav tm="0">
                                          <p:val>
                                            <p:strVal val="0-#ppt_w/2"/>
                                          </p:val>
                                        </p:tav>
                                        <p:tav tm="100000">
                                          <p:val>
                                            <p:strVal val="#ppt_x"/>
                                          </p:val>
                                        </p:tav>
                                      </p:tavLst>
                                    </p:anim>
                                    <p:anim calcmode="lin" valueType="num">
                                      <p:cBhvr additive="base">
                                        <p:cTn id="59" dur="500" fill="hold"/>
                                        <p:tgtEl>
                                          <p:spTgt spid="707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8" name="Text Box 6"/>
          <p:cNvSpPr txBox="1">
            <a:spLocks noChangeArrowheads="1"/>
          </p:cNvSpPr>
          <p:nvPr/>
        </p:nvSpPr>
        <p:spPr bwMode="auto">
          <a:xfrm>
            <a:off x="695325" y="1323975"/>
            <a:ext cx="4679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solidFill>
                  <a:srgbClr val="FF0000"/>
                </a:solidFill>
                <a:effectLst/>
                <a:ea typeface="黑体" panose="02010609060101010101" pitchFamily="49" charset="-122"/>
              </a:rPr>
              <a:t>结论：</a:t>
            </a:r>
          </a:p>
        </p:txBody>
      </p:sp>
      <p:sp>
        <p:nvSpPr>
          <p:cNvPr id="79879" name="Rectangle 7"/>
          <p:cNvSpPr>
            <a:spLocks noChangeArrowheads="1"/>
          </p:cNvSpPr>
          <p:nvPr/>
        </p:nvSpPr>
        <p:spPr bwMode="auto">
          <a:xfrm>
            <a:off x="768350" y="2066925"/>
            <a:ext cx="32528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000066"/>
                </a:solidFill>
                <a:effectLst/>
                <a:ea typeface="宋体" panose="02010600030101010101" pitchFamily="2" charset="-122"/>
              </a:rPr>
              <a:t>1</a:t>
            </a:r>
            <a:r>
              <a:rPr lang="zh-CN" altLang="en-US" sz="2800" b="1">
                <a:solidFill>
                  <a:srgbClr val="000066"/>
                </a:solidFill>
                <a:effectLst/>
                <a:ea typeface="宋体" panose="02010600030101010101" pitchFamily="2" charset="-122"/>
              </a:rPr>
              <a:t>）运动的钟变慢：</a:t>
            </a:r>
          </a:p>
        </p:txBody>
      </p:sp>
      <p:sp>
        <p:nvSpPr>
          <p:cNvPr id="79880" name="Text Box 8"/>
          <p:cNvSpPr txBox="1">
            <a:spLocks noChangeArrowheads="1"/>
          </p:cNvSpPr>
          <p:nvPr/>
        </p:nvSpPr>
        <p:spPr bwMode="auto">
          <a:xfrm>
            <a:off x="2063750" y="2838450"/>
            <a:ext cx="49688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en-US" sz="2800">
              <a:effectLst/>
              <a:ea typeface="宋体" panose="02010600030101010101" pitchFamily="2" charset="-122"/>
            </a:endParaRPr>
          </a:p>
        </p:txBody>
      </p:sp>
      <p:sp>
        <p:nvSpPr>
          <p:cNvPr id="79882"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9884" name="Rectangle 12"/>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79883" name="Object 11"/>
          <p:cNvGraphicFramePr>
            <a:graphicFrameLocks noChangeAspect="1"/>
          </p:cNvGraphicFramePr>
          <p:nvPr>
            <p:extLst>
              <p:ext uri="{D42A27DB-BD31-4B8C-83A1-F6EECF244321}">
                <p14:modId xmlns:p14="http://schemas.microsoft.com/office/powerpoint/2010/main" val="1467557937"/>
              </p:ext>
            </p:extLst>
          </p:nvPr>
        </p:nvGraphicFramePr>
        <p:xfrm>
          <a:off x="2424113" y="2767013"/>
          <a:ext cx="3887787" cy="1619250"/>
        </p:xfrm>
        <a:graphic>
          <a:graphicData uri="http://schemas.openxmlformats.org/presentationml/2006/ole">
            <mc:AlternateContent xmlns:mc="http://schemas.openxmlformats.org/markup-compatibility/2006">
              <mc:Choice xmlns:v="urn:schemas-microsoft-com:vml" Requires="v">
                <p:oleObj spid="_x0000_s19478" name="Equation" r:id="rId3" imgW="1028520" imgH="431640" progId="Equation.DSMT4">
                  <p:embed/>
                </p:oleObj>
              </mc:Choice>
              <mc:Fallback>
                <p:oleObj name="Equation" r:id="rId3" imgW="1028520" imgH="431640" progId="Equation.DSMT4">
                  <p:embed/>
                  <p:pic>
                    <p:nvPicPr>
                      <p:cNvPr id="79883"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4113" y="2767013"/>
                        <a:ext cx="3887787" cy="1619250"/>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86" name="Rectangle 14"/>
          <p:cNvSpPr>
            <a:spLocks noChangeArrowheads="1"/>
          </p:cNvSpPr>
          <p:nvPr/>
        </p:nvSpPr>
        <p:spPr bwMode="auto">
          <a:xfrm>
            <a:off x="768350" y="4638675"/>
            <a:ext cx="86280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000066"/>
                </a:solidFill>
                <a:effectLst/>
                <a:ea typeface="宋体" panose="02010600030101010101" pitchFamily="2" charset="-122"/>
              </a:rPr>
              <a:t>2</a:t>
            </a:r>
            <a:r>
              <a:rPr lang="zh-CN" altLang="en-US" sz="2800" b="1" dirty="0">
                <a:solidFill>
                  <a:srgbClr val="000066"/>
                </a:solidFill>
                <a:effectLst/>
                <a:ea typeface="宋体" panose="02010600030101010101" pitchFamily="2" charset="-122"/>
              </a:rPr>
              <a:t>）运动参照系中所有物理过程的节奏都</a:t>
            </a:r>
            <a:r>
              <a:rPr lang="zh-CN" altLang="en-US" sz="2800" b="1" dirty="0" smtClean="0">
                <a:solidFill>
                  <a:srgbClr val="000066"/>
                </a:solidFill>
                <a:effectLst/>
                <a:ea typeface="宋体" panose="02010600030101010101" pitchFamily="2" charset="-122"/>
              </a:rPr>
              <a:t>变慢了</a:t>
            </a:r>
            <a:r>
              <a:rPr lang="zh-CN" altLang="en-US" sz="2800" b="1" dirty="0">
                <a:solidFill>
                  <a:srgbClr val="000066"/>
                </a:solidFill>
                <a:effectLst/>
                <a:ea typeface="宋体" panose="02010600030101010101" pitchFamily="2" charset="-122"/>
              </a:rPr>
              <a:t>。</a:t>
            </a:r>
          </a:p>
        </p:txBody>
      </p:sp>
    </p:spTree>
    <p:extLst>
      <p:ext uri="{BB962C8B-B14F-4D97-AF65-F5344CB8AC3E}">
        <p14:creationId xmlns:p14="http://schemas.microsoft.com/office/powerpoint/2010/main" val="31457502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879"/>
                                        </p:tgtEl>
                                        <p:attrNameLst>
                                          <p:attrName>style.visibility</p:attrName>
                                        </p:attrNameLst>
                                      </p:cBhvr>
                                      <p:to>
                                        <p:strVal val="visible"/>
                                      </p:to>
                                    </p:set>
                                    <p:anim calcmode="lin" valueType="num">
                                      <p:cBhvr additive="base">
                                        <p:cTn id="7" dur="500" fill="hold"/>
                                        <p:tgtEl>
                                          <p:spTgt spid="79879"/>
                                        </p:tgtEl>
                                        <p:attrNameLst>
                                          <p:attrName>ppt_x</p:attrName>
                                        </p:attrNameLst>
                                      </p:cBhvr>
                                      <p:tavLst>
                                        <p:tav tm="0">
                                          <p:val>
                                            <p:strVal val="#ppt_x"/>
                                          </p:val>
                                        </p:tav>
                                        <p:tav tm="100000">
                                          <p:val>
                                            <p:strVal val="#ppt_x"/>
                                          </p:val>
                                        </p:tav>
                                      </p:tavLst>
                                    </p:anim>
                                    <p:anim calcmode="lin" valueType="num">
                                      <p:cBhvr additive="base">
                                        <p:cTn id="8" dur="500" fill="hold"/>
                                        <p:tgtEl>
                                          <p:spTgt spid="7987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79883"/>
                                        </p:tgtEl>
                                        <p:attrNameLst>
                                          <p:attrName>style.visibility</p:attrName>
                                        </p:attrNameLst>
                                      </p:cBhvr>
                                      <p:to>
                                        <p:strVal val="visible"/>
                                      </p:to>
                                    </p:set>
                                    <p:animEffect transition="in" filter="diamond(in)">
                                      <p:cBhvr>
                                        <p:cTn id="13" dur="500"/>
                                        <p:tgtEl>
                                          <p:spTgt spid="7988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0" presetClass="entr" presetSubtype="0" fill="hold" grpId="0" nodeType="clickEffect">
                                  <p:stCondLst>
                                    <p:cond delay="0"/>
                                  </p:stCondLst>
                                  <p:childTnLst>
                                    <p:set>
                                      <p:cBhvr>
                                        <p:cTn id="17" dur="1" fill="hold">
                                          <p:stCondLst>
                                            <p:cond delay="0"/>
                                          </p:stCondLst>
                                        </p:cTn>
                                        <p:tgtEl>
                                          <p:spTgt spid="79886"/>
                                        </p:tgtEl>
                                        <p:attrNameLst>
                                          <p:attrName>style.visibility</p:attrName>
                                        </p:attrNameLst>
                                      </p:cBhvr>
                                      <p:to>
                                        <p:strVal val="visible"/>
                                      </p:to>
                                    </p:set>
                                    <p:animEffect transition="in" filter="wedge">
                                      <p:cBhvr>
                                        <p:cTn id="18" dur="500"/>
                                        <p:tgtEl>
                                          <p:spTgt spid="79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9" grpId="0"/>
      <p:bldP spid="7988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79" name="Text Box 51"/>
          <p:cNvSpPr txBox="1">
            <a:spLocks noChangeArrowheads="1"/>
          </p:cNvSpPr>
          <p:nvPr/>
        </p:nvSpPr>
        <p:spPr bwMode="auto">
          <a:xfrm>
            <a:off x="468313" y="533400"/>
            <a:ext cx="439261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dirty="0">
                <a:solidFill>
                  <a:srgbClr val="FF0000"/>
                </a:solidFill>
                <a:effectLst/>
                <a:latin typeface="黑体" panose="02010609060101010101" pitchFamily="49" charset="-122"/>
                <a:ea typeface="黑体" panose="02010609060101010101" pitchFamily="49" charset="-122"/>
              </a:rPr>
              <a:t>3.</a:t>
            </a:r>
            <a:r>
              <a:rPr kumimoji="1" lang="zh-CN" altLang="en-US" sz="2400" b="1" dirty="0">
                <a:solidFill>
                  <a:srgbClr val="FF0000"/>
                </a:solidFill>
                <a:effectLst/>
                <a:latin typeface="黑体" panose="02010609060101010101" pitchFamily="49" charset="-122"/>
                <a:ea typeface="黑体" panose="02010609060101010101" pitchFamily="49" charset="-122"/>
              </a:rPr>
              <a:t>长度量度的相对性</a:t>
            </a:r>
          </a:p>
        </p:txBody>
      </p:sp>
      <p:sp>
        <p:nvSpPr>
          <p:cNvPr id="95" name="Text Box 3"/>
          <p:cNvSpPr txBox="1">
            <a:spLocks noChangeArrowheads="1"/>
          </p:cNvSpPr>
          <p:nvPr/>
        </p:nvSpPr>
        <p:spPr bwMode="auto">
          <a:xfrm>
            <a:off x="1054100" y="1143000"/>
            <a:ext cx="7128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a:solidFill>
                  <a:srgbClr val="FF0000"/>
                </a:solidFill>
                <a:latin typeface="Arial" panose="020B0604020202020204" pitchFamily="34" charset="0"/>
                <a:ea typeface="黑体" panose="02010609060101010101" pitchFamily="49" charset="-122"/>
                <a:cs typeface="Arial" panose="020B0604020202020204" pitchFamily="34" charset="0"/>
              </a:rPr>
              <a:t>静长度</a:t>
            </a:r>
            <a:r>
              <a:rPr lang="en-US" altLang="zh-CN" sz="2400">
                <a:solidFill>
                  <a:srgbClr val="FF0000"/>
                </a:solidFill>
                <a:latin typeface="Arial" panose="020B0604020202020204" pitchFamily="34" charset="0"/>
                <a:ea typeface="黑体" panose="02010609060101010101" pitchFamily="49" charset="-122"/>
                <a:cs typeface="Arial" panose="020B0604020202020204" pitchFamily="34" charset="0"/>
              </a:rPr>
              <a:t>(</a:t>
            </a:r>
            <a:r>
              <a:rPr lang="zh-CN" altLang="en-US" sz="2400">
                <a:solidFill>
                  <a:srgbClr val="FF0000"/>
                </a:solidFill>
                <a:latin typeface="Arial" panose="020B0604020202020204" pitchFamily="34" charset="0"/>
                <a:ea typeface="黑体" panose="02010609060101010101" pitchFamily="49" charset="-122"/>
                <a:cs typeface="Arial" panose="020B0604020202020204" pitchFamily="34" charset="0"/>
              </a:rPr>
              <a:t>固有长度</a:t>
            </a:r>
            <a:r>
              <a:rPr lang="en-US" altLang="zh-CN" sz="2400">
                <a:solidFill>
                  <a:srgbClr val="FF0000"/>
                </a:solidFill>
                <a:latin typeface="Arial" panose="020B0604020202020204" pitchFamily="34" charset="0"/>
                <a:ea typeface="黑体" panose="02010609060101010101" pitchFamily="49" charset="-122"/>
                <a:cs typeface="Arial" panose="020B0604020202020204" pitchFamily="34" charset="0"/>
              </a:rPr>
              <a:t>)</a:t>
            </a:r>
            <a:r>
              <a:rPr lang="en-US" altLang="zh-CN" sz="2400">
                <a:latin typeface="Arial" panose="020B0604020202020204" pitchFamily="34" charset="0"/>
                <a:ea typeface="黑体" panose="02010609060101010101" pitchFamily="49" charset="-122"/>
                <a:cs typeface="Arial" panose="020B0604020202020204" pitchFamily="34" charset="0"/>
              </a:rPr>
              <a:t>——</a:t>
            </a:r>
            <a:r>
              <a:rPr lang="zh-CN" altLang="en-US" sz="2400">
                <a:latin typeface="Arial" panose="020B0604020202020204" pitchFamily="34" charset="0"/>
                <a:ea typeface="黑体" panose="02010609060101010101" pitchFamily="49" charset="-122"/>
                <a:cs typeface="Arial" panose="020B0604020202020204" pitchFamily="34" charset="0"/>
              </a:rPr>
              <a:t>相对观察者静止时的长度 </a:t>
            </a:r>
            <a:r>
              <a:rPr lang="en-US" altLang="zh-CN" sz="2400" i="1">
                <a:latin typeface="Arial" panose="020B0604020202020204" pitchFamily="34" charset="0"/>
                <a:ea typeface="黑体" panose="02010609060101010101" pitchFamily="49" charset="-122"/>
                <a:cs typeface="Arial" panose="020B0604020202020204" pitchFamily="34" charset="0"/>
              </a:rPr>
              <a:t>l</a:t>
            </a:r>
            <a:r>
              <a:rPr lang="en-US" altLang="zh-CN" sz="2400" baseline="-25000">
                <a:latin typeface="Arial" panose="020B0604020202020204" pitchFamily="34" charset="0"/>
                <a:ea typeface="黑体" panose="02010609060101010101" pitchFamily="49" charset="-122"/>
                <a:cs typeface="Arial" panose="020B0604020202020204" pitchFamily="34" charset="0"/>
              </a:rPr>
              <a:t>0</a:t>
            </a:r>
            <a:r>
              <a:rPr lang="en-US" altLang="zh-CN" sz="2400">
                <a:latin typeface="Arial" panose="020B0604020202020204" pitchFamily="34" charset="0"/>
                <a:ea typeface="黑体" panose="02010609060101010101" pitchFamily="49" charset="-122"/>
                <a:cs typeface="Arial" panose="020B0604020202020204" pitchFamily="34" charset="0"/>
              </a:rPr>
              <a:t>.</a:t>
            </a:r>
            <a:r>
              <a:rPr lang="en-US" altLang="zh-CN" sz="2400" i="1" baseline="-25000">
                <a:latin typeface="Arial" panose="020B0604020202020204" pitchFamily="34" charset="0"/>
                <a:ea typeface="黑体" panose="02010609060101010101" pitchFamily="49" charset="-122"/>
                <a:cs typeface="Arial" panose="020B0604020202020204" pitchFamily="34" charset="0"/>
              </a:rPr>
              <a:t>    </a:t>
            </a:r>
            <a:endParaRPr lang="en-US" altLang="zh-CN" sz="2400">
              <a:latin typeface="Arial" panose="020B0604020202020204" pitchFamily="34" charset="0"/>
              <a:ea typeface="黑体" panose="02010609060101010101" pitchFamily="49" charset="-122"/>
              <a:cs typeface="Arial" panose="020B0604020202020204" pitchFamily="34" charset="0"/>
            </a:endParaRPr>
          </a:p>
        </p:txBody>
      </p:sp>
      <p:sp>
        <p:nvSpPr>
          <p:cNvPr id="96" name="Text Box 4"/>
          <p:cNvSpPr txBox="1">
            <a:spLocks noChangeArrowheads="1"/>
          </p:cNvSpPr>
          <p:nvPr/>
        </p:nvSpPr>
        <p:spPr bwMode="auto">
          <a:xfrm>
            <a:off x="1066800" y="1676400"/>
            <a:ext cx="61253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a:latin typeface="Arial" panose="020B0604020202020204" pitchFamily="34" charset="0"/>
                <a:ea typeface="黑体" panose="02010609060101010101" pitchFamily="49" charset="-122"/>
                <a:cs typeface="Arial" panose="020B0604020202020204" pitchFamily="34" charset="0"/>
              </a:rPr>
              <a:t>当棒相对观察者以 </a:t>
            </a:r>
            <a:r>
              <a:rPr lang="en-US" altLang="zh-CN" sz="2400" i="1">
                <a:latin typeface="Arial" panose="020B0604020202020204" pitchFamily="34" charset="0"/>
                <a:ea typeface="黑体" panose="02010609060101010101" pitchFamily="49" charset="-122"/>
                <a:cs typeface="Arial" panose="020B0604020202020204" pitchFamily="34" charset="0"/>
              </a:rPr>
              <a:t>u </a:t>
            </a:r>
            <a:r>
              <a:rPr lang="zh-CN" altLang="en-US" sz="2400">
                <a:latin typeface="Arial" panose="020B0604020202020204" pitchFamily="34" charset="0"/>
                <a:ea typeface="黑体" panose="02010609060101010101" pitchFamily="49" charset="-122"/>
                <a:cs typeface="Arial" panose="020B0604020202020204" pitchFamily="34" charset="0"/>
              </a:rPr>
              <a:t>运动时，观测长度 </a:t>
            </a:r>
            <a:r>
              <a:rPr lang="en-US" altLang="zh-CN" sz="2400" i="1">
                <a:latin typeface="Arial" panose="020B0604020202020204" pitchFamily="34" charset="0"/>
                <a:ea typeface="黑体" panose="02010609060101010101" pitchFamily="49" charset="-122"/>
                <a:cs typeface="Arial" panose="020B0604020202020204" pitchFamily="34" charset="0"/>
              </a:rPr>
              <a:t>l=</a:t>
            </a:r>
            <a:r>
              <a:rPr lang="en-US" altLang="zh-CN" sz="2400">
                <a:latin typeface="Arial" panose="020B0604020202020204" pitchFamily="34" charset="0"/>
                <a:ea typeface="黑体" panose="02010609060101010101" pitchFamily="49" charset="-122"/>
                <a:cs typeface="Arial" panose="020B0604020202020204" pitchFamily="34" charset="0"/>
              </a:rPr>
              <a:t>?  </a:t>
            </a:r>
          </a:p>
        </p:txBody>
      </p:sp>
      <p:sp>
        <p:nvSpPr>
          <p:cNvPr id="97" name="Text Box 29"/>
          <p:cNvSpPr txBox="1">
            <a:spLocks noChangeArrowheads="1"/>
          </p:cNvSpPr>
          <p:nvPr/>
        </p:nvSpPr>
        <p:spPr bwMode="auto">
          <a:xfrm>
            <a:off x="1066800" y="2203450"/>
            <a:ext cx="40430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a:latin typeface="Arial" panose="020B0604020202020204" pitchFamily="34" charset="0"/>
                <a:ea typeface="黑体" panose="02010609060101010101" pitchFamily="49" charset="-122"/>
                <a:cs typeface="Arial" panose="020B0604020202020204" pitchFamily="34" charset="0"/>
              </a:rPr>
              <a:t>设</a:t>
            </a:r>
            <a:r>
              <a:rPr lang="zh-CN" altLang="zh-CN" sz="2400">
                <a:latin typeface="Arial" panose="020B0604020202020204" pitchFamily="34" charset="0"/>
                <a:ea typeface="黑体" panose="02010609060101010101" pitchFamily="49" charset="-122"/>
                <a:cs typeface="Arial" panose="020B0604020202020204" pitchFamily="34" charset="0"/>
              </a:rPr>
              <a:t>棒与</a:t>
            </a:r>
            <a:r>
              <a:rPr lang="en-US" altLang="zh-CN" sz="2400">
                <a:latin typeface="Arial" panose="020B0604020202020204" pitchFamily="34" charset="0"/>
                <a:ea typeface="黑体" panose="02010609060101010101" pitchFamily="49" charset="-122"/>
                <a:cs typeface="Arial" panose="020B0604020202020204" pitchFamily="34" charset="0"/>
              </a:rPr>
              <a:t>S</a:t>
            </a:r>
            <a:r>
              <a:rPr lang="en-US" altLang="zh-CN" sz="2400" i="1">
                <a:latin typeface="Arial" panose="020B0604020202020204" pitchFamily="34" charset="0"/>
                <a:ea typeface="黑体" panose="02010609060101010101" pitchFamily="49" charset="-122"/>
                <a:cs typeface="Arial" panose="020B0604020202020204" pitchFamily="34" charset="0"/>
                <a:sym typeface="Symbol" panose="05050102010706020507" pitchFamily="18" charset="2"/>
              </a:rPr>
              <a:t></a:t>
            </a:r>
            <a:r>
              <a:rPr lang="en-US" altLang="zh-CN" sz="2400" baseline="30000">
                <a:latin typeface="Arial" panose="020B0604020202020204" pitchFamily="34" charset="0"/>
                <a:ea typeface="黑体" panose="02010609060101010101" pitchFamily="49" charset="-122"/>
                <a:cs typeface="Arial" panose="020B0604020202020204" pitchFamily="34" charset="0"/>
              </a:rPr>
              <a:t> </a:t>
            </a:r>
            <a:r>
              <a:rPr lang="zh-CN" altLang="zh-CN" sz="2400">
                <a:latin typeface="Arial" panose="020B0604020202020204" pitchFamily="34" charset="0"/>
                <a:ea typeface="黑体" panose="02010609060101010101" pitchFamily="49" charset="-122"/>
                <a:cs typeface="Arial" panose="020B0604020202020204" pitchFamily="34" charset="0"/>
              </a:rPr>
              <a:t>系固定,</a:t>
            </a:r>
            <a:r>
              <a:rPr lang="en-US" altLang="zh-CN" sz="2400">
                <a:latin typeface="Arial" panose="020B0604020202020204" pitchFamily="34" charset="0"/>
                <a:ea typeface="黑体" panose="02010609060101010101" pitchFamily="49" charset="-122"/>
                <a:cs typeface="Arial" panose="020B0604020202020204" pitchFamily="34" charset="0"/>
              </a:rPr>
              <a:t> </a:t>
            </a:r>
            <a:r>
              <a:rPr lang="en-US" altLang="zh-CN" sz="2400" i="1">
                <a:latin typeface="Arial" panose="020B0604020202020204" pitchFamily="34" charset="0"/>
                <a:ea typeface="黑体" panose="02010609060101010101" pitchFamily="49" charset="-122"/>
                <a:cs typeface="Arial" panose="020B0604020202020204" pitchFamily="34" charset="0"/>
              </a:rPr>
              <a:t>u</a:t>
            </a:r>
            <a:r>
              <a:rPr lang="zh-CN" altLang="zh-CN" sz="2400">
                <a:latin typeface="Arial" panose="020B0604020202020204" pitchFamily="34" charset="0"/>
                <a:ea typeface="黑体" panose="02010609060101010101" pitchFamily="49" charset="-122"/>
                <a:cs typeface="Arial" panose="020B0604020202020204" pitchFamily="34" charset="0"/>
              </a:rPr>
              <a:t>为</a:t>
            </a:r>
            <a:r>
              <a:rPr lang="en-US" altLang="zh-CN" sz="2400" i="1">
                <a:latin typeface="Arial" panose="020B0604020202020204" pitchFamily="34" charset="0"/>
                <a:ea typeface="黑体" panose="02010609060101010101" pitchFamily="49" charset="-122"/>
                <a:cs typeface="Arial" panose="020B0604020202020204" pitchFamily="34" charset="0"/>
              </a:rPr>
              <a:t>x</a:t>
            </a:r>
            <a:r>
              <a:rPr lang="zh-CN" altLang="zh-CN" sz="2400">
                <a:latin typeface="Arial" panose="020B0604020202020204" pitchFamily="34" charset="0"/>
                <a:ea typeface="黑体" panose="02010609060101010101" pitchFamily="49" charset="-122"/>
                <a:cs typeface="Arial" panose="020B0604020202020204" pitchFamily="34" charset="0"/>
              </a:rPr>
              <a:t>方向</a:t>
            </a:r>
            <a:r>
              <a:rPr lang="en-US" altLang="zh-CN" sz="2400">
                <a:latin typeface="Arial" panose="020B0604020202020204" pitchFamily="34" charset="0"/>
                <a:ea typeface="黑体" panose="02010609060101010101" pitchFamily="49" charset="-122"/>
                <a:cs typeface="Arial" panose="020B0604020202020204" pitchFamily="34" charset="0"/>
              </a:rPr>
              <a:t>,  </a:t>
            </a:r>
          </a:p>
        </p:txBody>
      </p:sp>
      <p:sp>
        <p:nvSpPr>
          <p:cNvPr id="98" name="Rectangle 30"/>
          <p:cNvSpPr>
            <a:spLocks noChangeArrowheads="1"/>
          </p:cNvSpPr>
          <p:nvPr/>
        </p:nvSpPr>
        <p:spPr bwMode="auto">
          <a:xfrm>
            <a:off x="4832350" y="2198688"/>
            <a:ext cx="32672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a:latin typeface="Arial" panose="020B0604020202020204" pitchFamily="34" charset="0"/>
                <a:ea typeface="黑体" panose="02010609060101010101" pitchFamily="49" charset="-122"/>
                <a:cs typeface="Arial" panose="020B0604020202020204" pitchFamily="34" charset="0"/>
              </a:rPr>
              <a:t>棒相对于</a:t>
            </a:r>
            <a:r>
              <a:rPr lang="en-US" altLang="zh-CN" sz="2400">
                <a:latin typeface="Arial" panose="020B0604020202020204" pitchFamily="34" charset="0"/>
                <a:ea typeface="黑体" panose="02010609060101010101" pitchFamily="49" charset="-122"/>
                <a:cs typeface="Arial" panose="020B0604020202020204" pitchFamily="34" charset="0"/>
              </a:rPr>
              <a:t>S</a:t>
            </a:r>
            <a:r>
              <a:rPr lang="en-US" altLang="zh-CN" sz="2400" i="1">
                <a:latin typeface="Arial" panose="020B0604020202020204" pitchFamily="34" charset="0"/>
                <a:ea typeface="黑体" panose="02010609060101010101" pitchFamily="49" charset="-122"/>
                <a:cs typeface="Arial" panose="020B0604020202020204" pitchFamily="34" charset="0"/>
                <a:sym typeface="Symbol" panose="05050102010706020507" pitchFamily="18" charset="2"/>
              </a:rPr>
              <a:t> </a:t>
            </a:r>
            <a:r>
              <a:rPr lang="zh-CN" altLang="zh-CN" sz="2400">
                <a:latin typeface="Arial" panose="020B0604020202020204" pitchFamily="34" charset="0"/>
                <a:ea typeface="黑体" panose="02010609060101010101" pitchFamily="49" charset="-122"/>
                <a:cs typeface="Arial" panose="020B0604020202020204" pitchFamily="34" charset="0"/>
              </a:rPr>
              <a:t>的</a:t>
            </a:r>
            <a:r>
              <a:rPr lang="zh-CN" altLang="en-US" sz="2400">
                <a:latin typeface="Arial" panose="020B0604020202020204" pitchFamily="34" charset="0"/>
                <a:ea typeface="黑体" panose="02010609060101010101" pitchFamily="49" charset="-122"/>
                <a:cs typeface="Arial" panose="020B0604020202020204" pitchFamily="34" charset="0"/>
              </a:rPr>
              <a:t>长度为   </a:t>
            </a:r>
          </a:p>
        </p:txBody>
      </p:sp>
      <p:sp>
        <p:nvSpPr>
          <p:cNvPr id="99" name="Text Box 42"/>
          <p:cNvSpPr txBox="1">
            <a:spLocks noChangeArrowheads="1"/>
          </p:cNvSpPr>
          <p:nvPr/>
        </p:nvSpPr>
        <p:spPr bwMode="auto">
          <a:xfrm>
            <a:off x="1035050" y="4435475"/>
            <a:ext cx="6099175"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35000"/>
              </a:lnSpc>
            </a:pPr>
            <a:r>
              <a:rPr lang="zh-CN" altLang="en-US" sz="2400">
                <a:latin typeface="Arial" panose="020B0604020202020204" pitchFamily="34" charset="0"/>
                <a:ea typeface="黑体" panose="02010609060101010101" pitchFamily="49" charset="-122"/>
                <a:cs typeface="Arial" panose="020B0604020202020204" pitchFamily="34" charset="0"/>
              </a:rPr>
              <a:t>在</a:t>
            </a:r>
            <a:r>
              <a:rPr lang="en-US" altLang="zh-CN" sz="2400">
                <a:latin typeface="Arial" panose="020B0604020202020204" pitchFamily="34" charset="0"/>
                <a:ea typeface="黑体" panose="02010609060101010101" pitchFamily="49" charset="-122"/>
                <a:cs typeface="Arial" panose="020B0604020202020204" pitchFamily="34" charset="0"/>
              </a:rPr>
              <a:t>S</a:t>
            </a:r>
            <a:r>
              <a:rPr lang="zh-CN" altLang="zh-CN" sz="2400">
                <a:latin typeface="Arial" panose="020B0604020202020204" pitchFamily="34" charset="0"/>
                <a:ea typeface="黑体" panose="02010609060101010101" pitchFamily="49" charset="-122"/>
                <a:cs typeface="Arial" panose="020B0604020202020204" pitchFamily="34" charset="0"/>
              </a:rPr>
              <a:t>上观察，必须</a:t>
            </a:r>
            <a:r>
              <a:rPr lang="zh-CN" altLang="zh-CN" sz="2400">
                <a:solidFill>
                  <a:srgbClr val="FF0000"/>
                </a:solidFill>
                <a:latin typeface="Arial" panose="020B0604020202020204" pitchFamily="34" charset="0"/>
                <a:ea typeface="黑体" panose="02010609060101010101" pitchFamily="49" charset="-122"/>
                <a:cs typeface="Arial" panose="020B0604020202020204" pitchFamily="34" charset="0"/>
              </a:rPr>
              <a:t>同时</a:t>
            </a:r>
            <a:r>
              <a:rPr lang="zh-CN" altLang="zh-CN" sz="2400">
                <a:latin typeface="Arial" panose="020B0604020202020204" pitchFamily="34" charset="0"/>
                <a:ea typeface="黑体" panose="02010609060101010101" pitchFamily="49" charset="-122"/>
                <a:cs typeface="Arial" panose="020B0604020202020204" pitchFamily="34" charset="0"/>
              </a:rPr>
              <a:t>测出棒各端点坐标，</a:t>
            </a:r>
            <a:r>
              <a:rPr lang="zh-CN" altLang="en-US" sz="2400">
                <a:latin typeface="Arial" panose="020B0604020202020204" pitchFamily="34" charset="0"/>
                <a:ea typeface="黑体" panose="02010609060101010101" pitchFamily="49" charset="-122"/>
                <a:cs typeface="Arial" panose="020B0604020202020204" pitchFamily="34" charset="0"/>
              </a:rPr>
              <a:t> </a:t>
            </a:r>
          </a:p>
        </p:txBody>
      </p:sp>
      <p:graphicFrame>
        <p:nvGraphicFramePr>
          <p:cNvPr id="100" name="Object 47"/>
          <p:cNvGraphicFramePr>
            <a:graphicFrameLocks noChangeAspect="1"/>
          </p:cNvGraphicFramePr>
          <p:nvPr>
            <p:extLst/>
          </p:nvPr>
        </p:nvGraphicFramePr>
        <p:xfrm>
          <a:off x="1300163" y="3186113"/>
          <a:ext cx="1600200" cy="488950"/>
        </p:xfrm>
        <a:graphic>
          <a:graphicData uri="http://schemas.openxmlformats.org/presentationml/2006/ole">
            <mc:AlternateContent xmlns:mc="http://schemas.openxmlformats.org/markup-compatibility/2006">
              <mc:Choice xmlns:v="urn:schemas-microsoft-com:vml" Requires="v">
                <p:oleObj spid="_x0000_s61482" name="Equation" r:id="rId3" imgW="749160" imgH="228600" progId="Equation.3">
                  <p:embed/>
                </p:oleObj>
              </mc:Choice>
              <mc:Fallback>
                <p:oleObj name="Equation" r:id="rId3" imgW="749160" imgH="228600" progId="Equation.3">
                  <p:embed/>
                  <p:pic>
                    <p:nvPicPr>
                      <p:cNvPr id="10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163" y="3186113"/>
                        <a:ext cx="16002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1" name="Group 56"/>
          <p:cNvGrpSpPr>
            <a:grpSpLocks/>
          </p:cNvGrpSpPr>
          <p:nvPr/>
        </p:nvGrpSpPr>
        <p:grpSpPr bwMode="auto">
          <a:xfrm>
            <a:off x="5046663" y="2790825"/>
            <a:ext cx="2651125" cy="1606550"/>
            <a:chOff x="3609" y="1533"/>
            <a:chExt cx="1670" cy="1012"/>
          </a:xfrm>
        </p:grpSpPr>
        <p:sp>
          <p:nvSpPr>
            <p:cNvPr id="102" name="Line 12"/>
            <p:cNvSpPr>
              <a:spLocks noChangeShapeType="1"/>
            </p:cNvSpPr>
            <p:nvPr/>
          </p:nvSpPr>
          <p:spPr bwMode="auto">
            <a:xfrm flipV="1">
              <a:off x="3848" y="1648"/>
              <a:ext cx="0" cy="533"/>
            </a:xfrm>
            <a:prstGeom prst="line">
              <a:avLst/>
            </a:prstGeom>
            <a:noFill/>
            <a:ln w="19050">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sp>
          <p:nvSpPr>
            <p:cNvPr id="103" name="Line 13"/>
            <p:cNvSpPr>
              <a:spLocks noChangeShapeType="1"/>
            </p:cNvSpPr>
            <p:nvPr/>
          </p:nvSpPr>
          <p:spPr bwMode="auto">
            <a:xfrm>
              <a:off x="3848" y="2160"/>
              <a:ext cx="1392" cy="0"/>
            </a:xfrm>
            <a:prstGeom prst="line">
              <a:avLst/>
            </a:prstGeom>
            <a:noFill/>
            <a:ln w="19050">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sp>
          <p:nvSpPr>
            <p:cNvPr id="104" name="Rectangle 14"/>
            <p:cNvSpPr>
              <a:spLocks noChangeArrowheads="1"/>
            </p:cNvSpPr>
            <p:nvPr/>
          </p:nvSpPr>
          <p:spPr bwMode="auto">
            <a:xfrm>
              <a:off x="3908" y="1533"/>
              <a:ext cx="40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2400">
                  <a:latin typeface="Arial" panose="020B0604020202020204" pitchFamily="34" charset="0"/>
                  <a:ea typeface="黑体" panose="02010609060101010101" pitchFamily="49" charset="-122"/>
                  <a:cs typeface="Arial" panose="020B0604020202020204" pitchFamily="34" charset="0"/>
                </a:rPr>
                <a:t>S</a:t>
              </a:r>
              <a:r>
                <a:rPr lang="en-US" altLang="zh-CN" sz="2400" i="1">
                  <a:latin typeface="Arial" panose="020B0604020202020204" pitchFamily="34" charset="0"/>
                  <a:ea typeface="黑体" panose="02010609060101010101" pitchFamily="49" charset="-122"/>
                  <a:cs typeface="Arial" panose="020B0604020202020204" pitchFamily="34" charset="0"/>
                  <a:sym typeface="Symbol" panose="05050102010706020507" pitchFamily="18" charset="2"/>
                </a:rPr>
                <a:t>  </a:t>
              </a:r>
              <a:endParaRPr lang="en-US" altLang="zh-CN" sz="2400" i="1">
                <a:latin typeface="Arial" panose="020B0604020202020204" pitchFamily="34" charset="0"/>
                <a:ea typeface="黑体" panose="02010609060101010101" pitchFamily="49" charset="-122"/>
                <a:cs typeface="Arial" panose="020B0604020202020204" pitchFamily="34" charset="0"/>
              </a:endParaRPr>
            </a:p>
          </p:txBody>
        </p:sp>
        <p:sp>
          <p:nvSpPr>
            <p:cNvPr id="105" name="Line 15"/>
            <p:cNvSpPr>
              <a:spLocks noChangeShapeType="1"/>
            </p:cNvSpPr>
            <p:nvPr/>
          </p:nvSpPr>
          <p:spPr bwMode="auto">
            <a:xfrm flipV="1">
              <a:off x="4134" y="1850"/>
              <a:ext cx="312" cy="11"/>
            </a:xfrm>
            <a:prstGeom prst="line">
              <a:avLst/>
            </a:prstGeom>
            <a:noFill/>
            <a:ln w="31750">
              <a:solidFill>
                <a:srgbClr val="FF0000"/>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sp>
          <p:nvSpPr>
            <p:cNvPr id="106" name="AutoShape 26"/>
            <p:cNvSpPr>
              <a:spLocks noChangeArrowheads="1"/>
            </p:cNvSpPr>
            <p:nvPr/>
          </p:nvSpPr>
          <p:spPr bwMode="auto">
            <a:xfrm rot="5400000">
              <a:off x="4396" y="1828"/>
              <a:ext cx="63" cy="621"/>
            </a:xfrm>
            <a:prstGeom prst="can">
              <a:avLst>
                <a:gd name="adj" fmla="val 56496"/>
              </a:avLst>
            </a:prstGeom>
            <a:gradFill rotWithShape="0">
              <a:gsLst>
                <a:gs pos="0">
                  <a:srgbClr val="CC6600"/>
                </a:gs>
                <a:gs pos="50000">
                  <a:srgbClr val="CC6600">
                    <a:gamma/>
                    <a:tint val="0"/>
                    <a:invGamma/>
                  </a:srgbClr>
                </a:gs>
                <a:gs pos="100000">
                  <a:srgbClr val="CC6600"/>
                </a:gs>
              </a:gsLst>
              <a:lin ang="5400000" scaled="1"/>
            </a:gradFill>
            <a:ln w="38100">
              <a:solidFill>
                <a:srgbClr val="CC66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107" name="Object 48"/>
            <p:cNvGraphicFramePr>
              <a:graphicFrameLocks noChangeAspect="1"/>
            </p:cNvGraphicFramePr>
            <p:nvPr/>
          </p:nvGraphicFramePr>
          <p:xfrm>
            <a:off x="3998" y="2149"/>
            <a:ext cx="242" cy="294"/>
          </p:xfrm>
          <a:graphic>
            <a:graphicData uri="http://schemas.openxmlformats.org/presentationml/2006/ole">
              <mc:AlternateContent xmlns:mc="http://schemas.openxmlformats.org/markup-compatibility/2006">
                <mc:Choice xmlns:v="urn:schemas-microsoft-com:vml" Requires="v">
                  <p:oleObj spid="_x0000_s61483" name="Equation" r:id="rId5" imgW="177480" imgH="215640" progId="Equation.3">
                    <p:embed/>
                  </p:oleObj>
                </mc:Choice>
                <mc:Fallback>
                  <p:oleObj name="Equation" r:id="rId5" imgW="177480" imgH="215640" progId="Equation.3">
                    <p:embed/>
                    <p:pic>
                      <p:nvPicPr>
                        <p:cNvPr id="107"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8" y="2149"/>
                          <a:ext cx="242"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 name="Object 49"/>
            <p:cNvGraphicFramePr>
              <a:graphicFrameLocks noChangeAspect="1"/>
            </p:cNvGraphicFramePr>
            <p:nvPr/>
          </p:nvGraphicFramePr>
          <p:xfrm>
            <a:off x="4628" y="2167"/>
            <a:ext cx="259" cy="294"/>
          </p:xfrm>
          <a:graphic>
            <a:graphicData uri="http://schemas.openxmlformats.org/presentationml/2006/ole">
              <mc:AlternateContent xmlns:mc="http://schemas.openxmlformats.org/markup-compatibility/2006">
                <mc:Choice xmlns:v="urn:schemas-microsoft-com:vml" Requires="v">
                  <p:oleObj spid="_x0000_s61484" name="Equation" r:id="rId7" imgW="190440" imgH="215640" progId="Equation.3">
                    <p:embed/>
                  </p:oleObj>
                </mc:Choice>
                <mc:Fallback>
                  <p:oleObj name="Equation" r:id="rId7" imgW="190440" imgH="215640" progId="Equation.3">
                    <p:embed/>
                    <p:pic>
                      <p:nvPicPr>
                        <p:cNvPr id="108"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8" y="2167"/>
                          <a:ext cx="259"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 name="Object 50"/>
            <p:cNvGraphicFramePr>
              <a:graphicFrameLocks noChangeAspect="1"/>
            </p:cNvGraphicFramePr>
            <p:nvPr/>
          </p:nvGraphicFramePr>
          <p:xfrm>
            <a:off x="5037" y="2198"/>
            <a:ext cx="242" cy="242"/>
          </p:xfrm>
          <a:graphic>
            <a:graphicData uri="http://schemas.openxmlformats.org/presentationml/2006/ole">
              <mc:AlternateContent xmlns:mc="http://schemas.openxmlformats.org/markup-compatibility/2006">
                <mc:Choice xmlns:v="urn:schemas-microsoft-com:vml" Requires="v">
                  <p:oleObj spid="_x0000_s61485" name="Equation" r:id="rId9" imgW="177480" imgH="177480" progId="Equation.3">
                    <p:embed/>
                  </p:oleObj>
                </mc:Choice>
                <mc:Fallback>
                  <p:oleObj name="Equation" r:id="rId9" imgW="177480" imgH="177480" progId="Equation.3">
                    <p:embed/>
                    <p:pic>
                      <p:nvPicPr>
                        <p:cNvPr id="109"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7" y="2198"/>
                          <a:ext cx="242"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 name="Object 51"/>
            <p:cNvGraphicFramePr>
              <a:graphicFrameLocks noChangeAspect="1"/>
            </p:cNvGraphicFramePr>
            <p:nvPr/>
          </p:nvGraphicFramePr>
          <p:xfrm>
            <a:off x="4484" y="1697"/>
            <a:ext cx="212" cy="270"/>
          </p:xfrm>
          <a:graphic>
            <a:graphicData uri="http://schemas.openxmlformats.org/presentationml/2006/ole">
              <mc:AlternateContent xmlns:mc="http://schemas.openxmlformats.org/markup-compatibility/2006">
                <mc:Choice xmlns:v="urn:schemas-microsoft-com:vml" Requires="v">
                  <p:oleObj spid="_x0000_s61486" name="Equation" r:id="rId11" imgW="139680" imgH="177480" progId="Equation.3">
                    <p:embed/>
                  </p:oleObj>
                </mc:Choice>
                <mc:Fallback>
                  <p:oleObj name="Equation" r:id="rId11" imgW="139680" imgH="177480" progId="Equation.3">
                    <p:embed/>
                    <p:pic>
                      <p:nvPicPr>
                        <p:cNvPr id="110"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84" y="1697"/>
                          <a:ext cx="212"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 name="Object 52"/>
            <p:cNvGraphicFramePr>
              <a:graphicFrameLocks noChangeAspect="1"/>
            </p:cNvGraphicFramePr>
            <p:nvPr/>
          </p:nvGraphicFramePr>
          <p:xfrm>
            <a:off x="3609" y="1576"/>
            <a:ext cx="238" cy="272"/>
          </p:xfrm>
          <a:graphic>
            <a:graphicData uri="http://schemas.openxmlformats.org/presentationml/2006/ole">
              <mc:AlternateContent xmlns:mc="http://schemas.openxmlformats.org/markup-compatibility/2006">
                <mc:Choice xmlns:v="urn:schemas-microsoft-com:vml" Requires="v">
                  <p:oleObj spid="_x0000_s61487" name="Equation" r:id="rId13" imgW="177480" imgH="203040" progId="Equation.3">
                    <p:embed/>
                  </p:oleObj>
                </mc:Choice>
                <mc:Fallback>
                  <p:oleObj name="Equation" r:id="rId13" imgW="177480" imgH="203040" progId="Equation.3">
                    <p:embed/>
                    <p:pic>
                      <p:nvPicPr>
                        <p:cNvPr id="111" name="Object 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9" y="1576"/>
                          <a:ext cx="23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 name="Line 53"/>
            <p:cNvSpPr>
              <a:spLocks noChangeShapeType="1"/>
            </p:cNvSpPr>
            <p:nvPr/>
          </p:nvSpPr>
          <p:spPr bwMode="auto">
            <a:xfrm flipH="1">
              <a:off x="3659" y="2157"/>
              <a:ext cx="192" cy="26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113" name="Object 54"/>
            <p:cNvGraphicFramePr>
              <a:graphicFrameLocks noChangeAspect="1"/>
            </p:cNvGraphicFramePr>
            <p:nvPr/>
          </p:nvGraphicFramePr>
          <p:xfrm>
            <a:off x="3714" y="2275"/>
            <a:ext cx="231" cy="270"/>
          </p:xfrm>
          <a:graphic>
            <a:graphicData uri="http://schemas.openxmlformats.org/presentationml/2006/ole">
              <mc:AlternateContent xmlns:mc="http://schemas.openxmlformats.org/markup-compatibility/2006">
                <mc:Choice xmlns:v="urn:schemas-microsoft-com:vml" Requires="v">
                  <p:oleObj spid="_x0000_s61488" name="Equation" r:id="rId15" imgW="152280" imgH="177480" progId="Equation.3">
                    <p:embed/>
                  </p:oleObj>
                </mc:Choice>
                <mc:Fallback>
                  <p:oleObj name="Equation" r:id="rId15" imgW="152280" imgH="177480" progId="Equation.3">
                    <p:embed/>
                    <p:pic>
                      <p:nvPicPr>
                        <p:cNvPr id="113" name="Object 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14" y="2275"/>
                          <a:ext cx="231"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4" name="Group 59"/>
          <p:cNvGrpSpPr>
            <a:grpSpLocks/>
          </p:cNvGrpSpPr>
          <p:nvPr/>
        </p:nvGrpSpPr>
        <p:grpSpPr bwMode="auto">
          <a:xfrm>
            <a:off x="3652838" y="2790828"/>
            <a:ext cx="1400175" cy="1579564"/>
            <a:chOff x="4075" y="2640"/>
            <a:chExt cx="882" cy="995"/>
          </a:xfrm>
        </p:grpSpPr>
        <p:sp>
          <p:nvSpPr>
            <p:cNvPr id="115" name="Line 7"/>
            <p:cNvSpPr>
              <a:spLocks noChangeShapeType="1"/>
            </p:cNvSpPr>
            <p:nvPr/>
          </p:nvSpPr>
          <p:spPr bwMode="auto">
            <a:xfrm flipV="1">
              <a:off x="4292" y="2700"/>
              <a:ext cx="0" cy="568"/>
            </a:xfrm>
            <a:prstGeom prst="line">
              <a:avLst/>
            </a:prstGeom>
            <a:noFill/>
            <a:ln w="19050">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sp>
          <p:nvSpPr>
            <p:cNvPr id="116" name="Line 8"/>
            <p:cNvSpPr>
              <a:spLocks noChangeShapeType="1"/>
            </p:cNvSpPr>
            <p:nvPr/>
          </p:nvSpPr>
          <p:spPr bwMode="auto">
            <a:xfrm>
              <a:off x="4288" y="3267"/>
              <a:ext cx="624" cy="0"/>
            </a:xfrm>
            <a:prstGeom prst="line">
              <a:avLst/>
            </a:prstGeom>
            <a:noFill/>
            <a:ln w="19050">
              <a:solidFill>
                <a:schemeClr val="tx1"/>
              </a:solidFill>
              <a:round/>
              <a:headEnd type="none"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sp>
          <p:nvSpPr>
            <p:cNvPr id="117" name="Rectangle 9"/>
            <p:cNvSpPr>
              <a:spLocks noChangeArrowheads="1"/>
            </p:cNvSpPr>
            <p:nvPr/>
          </p:nvSpPr>
          <p:spPr bwMode="auto">
            <a:xfrm>
              <a:off x="4330" y="2640"/>
              <a:ext cx="20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altLang="zh-CN" sz="2400">
                  <a:latin typeface="Arial" panose="020B0604020202020204" pitchFamily="34" charset="0"/>
                  <a:ea typeface="黑体" panose="02010609060101010101" pitchFamily="49" charset="-122"/>
                  <a:cs typeface="Arial" panose="020B0604020202020204" pitchFamily="34" charset="0"/>
                </a:rPr>
                <a:t>S</a:t>
              </a:r>
              <a:endParaRPr lang="en-US" altLang="zh-CN" sz="2400" b="0">
                <a:latin typeface="Arial" panose="020B0604020202020204" pitchFamily="34" charset="0"/>
                <a:ea typeface="黑体" panose="02010609060101010101" pitchFamily="49" charset="-122"/>
                <a:cs typeface="Arial" panose="020B0604020202020204" pitchFamily="34" charset="0"/>
              </a:endParaRPr>
            </a:p>
          </p:txBody>
        </p:sp>
        <p:sp>
          <p:nvSpPr>
            <p:cNvPr id="118" name="Rectangle 10"/>
            <p:cNvSpPr>
              <a:spLocks noChangeArrowheads="1"/>
            </p:cNvSpPr>
            <p:nvPr/>
          </p:nvSpPr>
          <p:spPr bwMode="auto">
            <a:xfrm>
              <a:off x="4743" y="3252"/>
              <a:ext cx="2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CN" sz="2400" i="1">
                  <a:latin typeface="Arial" panose="020B0604020202020204" pitchFamily="34" charset="0"/>
                  <a:ea typeface="黑体" panose="02010609060101010101" pitchFamily="49" charset="-122"/>
                  <a:cs typeface="Arial" panose="020B0604020202020204" pitchFamily="34" charset="0"/>
                </a:rPr>
                <a:t>x</a:t>
              </a:r>
            </a:p>
          </p:txBody>
        </p:sp>
        <p:sp>
          <p:nvSpPr>
            <p:cNvPr id="119" name="Line 55"/>
            <p:cNvSpPr>
              <a:spLocks noChangeShapeType="1"/>
            </p:cNvSpPr>
            <p:nvPr/>
          </p:nvSpPr>
          <p:spPr bwMode="auto">
            <a:xfrm flipH="1">
              <a:off x="4105" y="3270"/>
              <a:ext cx="192" cy="26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sp>
          <p:nvSpPr>
            <p:cNvPr id="120" name="Text Box 57"/>
            <p:cNvSpPr txBox="1">
              <a:spLocks noChangeArrowheads="1"/>
            </p:cNvSpPr>
            <p:nvPr/>
          </p:nvSpPr>
          <p:spPr bwMode="auto">
            <a:xfrm>
              <a:off x="4075" y="2666"/>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a:latin typeface="Arial" panose="020B0604020202020204" pitchFamily="34" charset="0"/>
                  <a:ea typeface="黑体" panose="02010609060101010101" pitchFamily="49" charset="-122"/>
                  <a:cs typeface="Arial" panose="020B0604020202020204" pitchFamily="34" charset="0"/>
                </a:rPr>
                <a:t>y</a:t>
              </a:r>
            </a:p>
          </p:txBody>
        </p:sp>
        <p:sp>
          <p:nvSpPr>
            <p:cNvPr id="121" name="Text Box 58"/>
            <p:cNvSpPr txBox="1">
              <a:spLocks noChangeArrowheads="1"/>
            </p:cNvSpPr>
            <p:nvPr/>
          </p:nvSpPr>
          <p:spPr bwMode="auto">
            <a:xfrm>
              <a:off x="4154" y="3344"/>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a:latin typeface="Arial" panose="020B0604020202020204" pitchFamily="34" charset="0"/>
                  <a:ea typeface="黑体" panose="02010609060101010101" pitchFamily="49" charset="-122"/>
                  <a:cs typeface="Arial" panose="020B0604020202020204" pitchFamily="34" charset="0"/>
                </a:rPr>
                <a:t>z</a:t>
              </a:r>
            </a:p>
          </p:txBody>
        </p:sp>
      </p:grpSp>
      <p:graphicFrame>
        <p:nvGraphicFramePr>
          <p:cNvPr id="122" name="Object 60"/>
          <p:cNvGraphicFramePr>
            <a:graphicFrameLocks noChangeAspect="1"/>
          </p:cNvGraphicFramePr>
          <p:nvPr>
            <p:extLst/>
          </p:nvPr>
        </p:nvGraphicFramePr>
        <p:xfrm>
          <a:off x="3025775" y="5026025"/>
          <a:ext cx="1465263" cy="460375"/>
        </p:xfrm>
        <a:graphic>
          <a:graphicData uri="http://schemas.openxmlformats.org/presentationml/2006/ole">
            <mc:AlternateContent xmlns:mc="http://schemas.openxmlformats.org/markup-compatibility/2006">
              <mc:Choice xmlns:v="urn:schemas-microsoft-com:vml" Requires="v">
                <p:oleObj spid="_x0000_s61489" name="Equation" r:id="rId17" imgW="685800" imgH="215640" progId="Equation.3">
                  <p:embed/>
                </p:oleObj>
              </mc:Choice>
              <mc:Fallback>
                <p:oleObj name="Equation" r:id="rId17" imgW="685800" imgH="215640" progId="Equation.3">
                  <p:embed/>
                  <p:pic>
                    <p:nvPicPr>
                      <p:cNvPr id="122" name="Object 6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25775" y="5026025"/>
                        <a:ext cx="1465263"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 name="Object 61"/>
          <p:cNvGraphicFramePr>
            <a:graphicFrameLocks noChangeAspect="1"/>
          </p:cNvGraphicFramePr>
          <p:nvPr>
            <p:extLst/>
          </p:nvPr>
        </p:nvGraphicFramePr>
        <p:xfrm>
          <a:off x="2328863" y="5519738"/>
          <a:ext cx="1689100" cy="552450"/>
        </p:xfrm>
        <a:graphic>
          <a:graphicData uri="http://schemas.openxmlformats.org/presentationml/2006/ole">
            <mc:AlternateContent xmlns:mc="http://schemas.openxmlformats.org/markup-compatibility/2006">
              <mc:Choice xmlns:v="urn:schemas-microsoft-com:vml" Requires="v">
                <p:oleObj spid="_x0000_s61490" name="Equation" r:id="rId19" imgW="749160" imgH="228600" progId="Equation.3">
                  <p:embed/>
                </p:oleObj>
              </mc:Choice>
              <mc:Fallback>
                <p:oleObj name="Equation" r:id="rId19" imgW="749160" imgH="228600" progId="Equation.3">
                  <p:embed/>
                  <p:pic>
                    <p:nvPicPr>
                      <p:cNvPr id="123" name="Object 6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28863" y="5519738"/>
                        <a:ext cx="168910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 name="Object 62"/>
          <p:cNvGraphicFramePr>
            <a:graphicFrameLocks noChangeAspect="1"/>
          </p:cNvGraphicFramePr>
          <p:nvPr>
            <p:extLst/>
          </p:nvPr>
        </p:nvGraphicFramePr>
        <p:xfrm>
          <a:off x="4044950" y="5499100"/>
          <a:ext cx="1654175" cy="442913"/>
        </p:xfrm>
        <a:graphic>
          <a:graphicData uri="http://schemas.openxmlformats.org/presentationml/2006/ole">
            <mc:AlternateContent xmlns:mc="http://schemas.openxmlformats.org/markup-compatibility/2006">
              <mc:Choice xmlns:v="urn:schemas-microsoft-com:vml" Requires="v">
                <p:oleObj spid="_x0000_s61491" name="公式" r:id="rId21" imgW="799920" imgH="215640" progId="Equation.3">
                  <p:embed/>
                </p:oleObj>
              </mc:Choice>
              <mc:Fallback>
                <p:oleObj name="公式" r:id="rId21" imgW="799920" imgH="215640" progId="Equation.3">
                  <p:embed/>
                  <p:pic>
                    <p:nvPicPr>
                      <p:cNvPr id="124" name="Object 6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44950" y="5499100"/>
                        <a:ext cx="1654175"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 name="Text Box 63"/>
          <p:cNvSpPr txBox="1">
            <a:spLocks noChangeArrowheads="1"/>
          </p:cNvSpPr>
          <p:nvPr/>
        </p:nvSpPr>
        <p:spPr bwMode="auto">
          <a:xfrm>
            <a:off x="6196013" y="5486400"/>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dirty="0">
                <a:latin typeface="Arial" panose="020B0604020202020204" pitchFamily="34" charset="0"/>
                <a:ea typeface="黑体" panose="02010609060101010101" pitchFamily="49" charset="-122"/>
                <a:cs typeface="Arial" panose="020B0604020202020204" pitchFamily="34" charset="0"/>
              </a:rPr>
              <a:t>l </a:t>
            </a:r>
          </a:p>
        </p:txBody>
      </p:sp>
      <p:sp>
        <p:nvSpPr>
          <p:cNvPr id="126" name="AutoShape 64"/>
          <p:cNvSpPr>
            <a:spLocks noChangeArrowheads="1"/>
          </p:cNvSpPr>
          <p:nvPr/>
        </p:nvSpPr>
        <p:spPr bwMode="auto">
          <a:xfrm>
            <a:off x="4572000" y="5519738"/>
            <a:ext cx="1600200" cy="457200"/>
          </a:xfrm>
          <a:prstGeom prst="rightArrowCallout">
            <a:avLst>
              <a:gd name="adj1" fmla="val 25000"/>
              <a:gd name="adj2" fmla="val 25000"/>
              <a:gd name="adj3" fmla="val 58333"/>
              <a:gd name="adj4" fmla="val 66667"/>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249954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wipe(left)">
                                      <p:cBhvr>
                                        <p:cTn id="7" dur="500"/>
                                        <p:tgtEl>
                                          <p:spTgt spid="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
                                            <p:txEl>
                                              <p:pRg st="0" end="0"/>
                                            </p:txEl>
                                          </p:spTgt>
                                        </p:tgtEl>
                                        <p:attrNameLst>
                                          <p:attrName>style.visibility</p:attrName>
                                        </p:attrNameLst>
                                      </p:cBhvr>
                                      <p:to>
                                        <p:strVal val="visible"/>
                                      </p:to>
                                    </p:set>
                                    <p:animEffect transition="in" filter="wipe(left)">
                                      <p:cBhvr>
                                        <p:cTn id="12" dur="500"/>
                                        <p:tgtEl>
                                          <p:spTgt spid="9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
                                            <p:txEl>
                                              <p:pRg st="0" end="0"/>
                                            </p:txEl>
                                          </p:spTgt>
                                        </p:tgtEl>
                                        <p:attrNameLst>
                                          <p:attrName>style.visibility</p:attrName>
                                        </p:attrNameLst>
                                      </p:cBhvr>
                                      <p:to>
                                        <p:strVal val="visible"/>
                                      </p:to>
                                    </p:set>
                                    <p:animEffect transition="in" filter="wipe(left)">
                                      <p:cBhvr>
                                        <p:cTn id="17" dur="500"/>
                                        <p:tgtEl>
                                          <p:spTgt spid="9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
                                            <p:txEl>
                                              <p:pRg st="0" end="0"/>
                                            </p:txEl>
                                          </p:spTgt>
                                        </p:tgtEl>
                                        <p:attrNameLst>
                                          <p:attrName>style.visibility</p:attrName>
                                        </p:attrNameLst>
                                      </p:cBhvr>
                                      <p:to>
                                        <p:strVal val="visible"/>
                                      </p:to>
                                    </p:set>
                                    <p:animEffect transition="in" filter="wipe(left)">
                                      <p:cBhvr>
                                        <p:cTn id="22" dur="500"/>
                                        <p:tgtEl>
                                          <p:spTgt spid="9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1"/>
                                        </p:tgtEl>
                                        <p:attrNameLst>
                                          <p:attrName>style.visibility</p:attrName>
                                        </p:attrNameLst>
                                      </p:cBhvr>
                                      <p:to>
                                        <p:strVal val="visible"/>
                                      </p:to>
                                    </p:set>
                                    <p:animEffect transition="in" filter="wipe(left)">
                                      <p:cBhvr>
                                        <p:cTn id="27" dur="500"/>
                                        <p:tgtEl>
                                          <p:spTgt spid="10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wipe(left)">
                                      <p:cBhvr>
                                        <p:cTn id="32" dur="500"/>
                                        <p:tgtEl>
                                          <p:spTgt spid="1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0"/>
                                        </p:tgtEl>
                                        <p:attrNameLst>
                                          <p:attrName>style.visibility</p:attrName>
                                        </p:attrNameLst>
                                      </p:cBhvr>
                                      <p:to>
                                        <p:strVal val="visible"/>
                                      </p:to>
                                    </p:set>
                                    <p:animEffect transition="in" filter="wipe(left)">
                                      <p:cBhvr>
                                        <p:cTn id="37" dur="500"/>
                                        <p:tgtEl>
                                          <p:spTgt spid="10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9">
                                            <p:txEl>
                                              <p:pRg st="0" end="0"/>
                                            </p:txEl>
                                          </p:spTgt>
                                        </p:tgtEl>
                                        <p:attrNameLst>
                                          <p:attrName>style.visibility</p:attrName>
                                        </p:attrNameLst>
                                      </p:cBhvr>
                                      <p:to>
                                        <p:strVal val="visible"/>
                                      </p:to>
                                    </p:set>
                                    <p:animEffect transition="in" filter="wipe(left)">
                                      <p:cBhvr>
                                        <p:cTn id="42" dur="500"/>
                                        <p:tgtEl>
                                          <p:spTgt spid="9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2"/>
                                        </p:tgtEl>
                                        <p:attrNameLst>
                                          <p:attrName>style.visibility</p:attrName>
                                        </p:attrNameLst>
                                      </p:cBhvr>
                                      <p:to>
                                        <p:strVal val="visible"/>
                                      </p:to>
                                    </p:set>
                                    <p:animEffect transition="in" filter="wipe(left)">
                                      <p:cBhvr>
                                        <p:cTn id="47" dur="500"/>
                                        <p:tgtEl>
                                          <p:spTgt spid="1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3"/>
                                        </p:tgtEl>
                                        <p:attrNameLst>
                                          <p:attrName>style.visibility</p:attrName>
                                        </p:attrNameLst>
                                      </p:cBhvr>
                                      <p:to>
                                        <p:strVal val="visible"/>
                                      </p:to>
                                    </p:set>
                                    <p:animEffect transition="in" filter="wipe(left)">
                                      <p:cBhvr>
                                        <p:cTn id="52" dur="500"/>
                                        <p:tgtEl>
                                          <p:spTgt spid="12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24"/>
                                        </p:tgtEl>
                                        <p:attrNameLst>
                                          <p:attrName>style.visibility</p:attrName>
                                        </p:attrNameLst>
                                      </p:cBhvr>
                                      <p:to>
                                        <p:strVal val="visible"/>
                                      </p:to>
                                    </p:set>
                                    <p:animEffect transition="in" filter="wipe(left)">
                                      <p:cBhvr>
                                        <p:cTn id="57" dur="500"/>
                                        <p:tgtEl>
                                          <p:spTgt spid="1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26"/>
                                        </p:tgtEl>
                                        <p:attrNameLst>
                                          <p:attrName>style.visibility</p:attrName>
                                        </p:attrNameLst>
                                      </p:cBhvr>
                                      <p:to>
                                        <p:strVal val="visible"/>
                                      </p:to>
                                    </p:set>
                                    <p:animEffect transition="in" filter="wipe(left)">
                                      <p:cBhvr>
                                        <p:cTn id="62" dur="500"/>
                                        <p:tgtEl>
                                          <p:spTgt spid="1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25">
                                            <p:txEl>
                                              <p:pRg st="0" end="0"/>
                                            </p:txEl>
                                          </p:spTgt>
                                        </p:tgtEl>
                                        <p:attrNameLst>
                                          <p:attrName>style.visibility</p:attrName>
                                        </p:attrNameLst>
                                      </p:cBhvr>
                                      <p:to>
                                        <p:strVal val="visible"/>
                                      </p:to>
                                    </p:set>
                                    <p:animEffect transition="in" filter="wipe(left)">
                                      <p:cBhvr>
                                        <p:cTn id="67" dur="500"/>
                                        <p:tgtEl>
                                          <p:spTgt spid="1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build="p" autoUpdateAnimBg="0"/>
      <p:bldP spid="96" grpId="0" build="p" autoUpdateAnimBg="0"/>
      <p:bldP spid="97" grpId="0" build="p" autoUpdateAnimBg="0"/>
      <p:bldP spid="98" grpId="0" build="p" autoUpdateAnimBg="0"/>
      <p:bldP spid="99" grpId="0" build="p" autoUpdateAnimBg="0"/>
      <p:bldP spid="125"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6" name="Text Box 6"/>
          <p:cNvSpPr txBox="1">
            <a:spLocks noChangeArrowheads="1"/>
          </p:cNvSpPr>
          <p:nvPr/>
        </p:nvSpPr>
        <p:spPr bwMode="auto">
          <a:xfrm>
            <a:off x="539750" y="1409700"/>
            <a:ext cx="36718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solidFill>
                  <a:srgbClr val="FF0000"/>
                </a:solidFill>
                <a:effectLst/>
                <a:ea typeface="黑体" panose="02010609060101010101" pitchFamily="49" charset="-122"/>
              </a:rPr>
              <a:t>结论：</a:t>
            </a:r>
          </a:p>
        </p:txBody>
      </p:sp>
      <p:sp>
        <p:nvSpPr>
          <p:cNvPr id="81927" name="Rectangle 7"/>
          <p:cNvSpPr>
            <a:spLocks noChangeArrowheads="1"/>
          </p:cNvSpPr>
          <p:nvPr/>
        </p:nvSpPr>
        <p:spPr bwMode="auto">
          <a:xfrm>
            <a:off x="539750" y="2118847"/>
            <a:ext cx="32528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800" b="1">
                <a:solidFill>
                  <a:srgbClr val="000066"/>
                </a:solidFill>
                <a:effectLst/>
                <a:ea typeface="宋体" panose="02010600030101010101" pitchFamily="2" charset="-122"/>
              </a:rPr>
              <a:t>1</a:t>
            </a:r>
            <a:r>
              <a:rPr kumimoji="1" lang="zh-CN" altLang="en-US" sz="2800" b="1">
                <a:solidFill>
                  <a:srgbClr val="000066"/>
                </a:solidFill>
                <a:effectLst/>
                <a:ea typeface="宋体" panose="02010600030101010101" pitchFamily="2" charset="-122"/>
              </a:rPr>
              <a:t>）运动的尺变短：</a:t>
            </a:r>
          </a:p>
        </p:txBody>
      </p:sp>
      <p:sp>
        <p:nvSpPr>
          <p:cNvPr id="81929" name="Rectangle 9"/>
          <p:cNvSpPr>
            <a:spLocks noChangeArrowheads="1"/>
          </p:cNvSpPr>
          <p:nvPr/>
        </p:nvSpPr>
        <p:spPr bwMode="auto">
          <a:xfrm>
            <a:off x="0" y="3290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81928" name="Object 8"/>
          <p:cNvGraphicFramePr>
            <a:graphicFrameLocks noChangeAspect="1"/>
          </p:cNvGraphicFramePr>
          <p:nvPr/>
        </p:nvGraphicFramePr>
        <p:xfrm>
          <a:off x="2217738" y="2905125"/>
          <a:ext cx="3484562" cy="955675"/>
        </p:xfrm>
        <a:graphic>
          <a:graphicData uri="http://schemas.openxmlformats.org/presentationml/2006/ole">
            <mc:AlternateContent xmlns:mc="http://schemas.openxmlformats.org/markup-compatibility/2006">
              <mc:Choice xmlns:v="urn:schemas-microsoft-com:vml" Requires="v">
                <p:oleObj spid="_x0000_s62470" name="Equation" r:id="rId3" imgW="1002960" imgH="279360" progId="Equation.DSMT4">
                  <p:embed/>
                </p:oleObj>
              </mc:Choice>
              <mc:Fallback>
                <p:oleObj name="Equation" r:id="rId3" imgW="1002960" imgH="279360" progId="Equation.DSMT4">
                  <p:embed/>
                  <p:pic>
                    <p:nvPicPr>
                      <p:cNvPr id="819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7738" y="2905125"/>
                        <a:ext cx="3484562" cy="955675"/>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31" name="Rectangle 11"/>
          <p:cNvSpPr>
            <a:spLocks noChangeArrowheads="1"/>
          </p:cNvSpPr>
          <p:nvPr/>
        </p:nvSpPr>
        <p:spPr bwMode="auto">
          <a:xfrm>
            <a:off x="539750" y="4219110"/>
            <a:ext cx="87447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800" b="1">
                <a:solidFill>
                  <a:srgbClr val="000066"/>
                </a:solidFill>
                <a:effectLst/>
                <a:ea typeface="宋体" panose="02010600030101010101" pitchFamily="2" charset="-122"/>
              </a:rPr>
              <a:t>2</a:t>
            </a:r>
            <a:r>
              <a:rPr kumimoji="1" lang="zh-CN" altLang="en-US" sz="2800" b="1">
                <a:solidFill>
                  <a:srgbClr val="000066"/>
                </a:solidFill>
                <a:effectLst/>
                <a:ea typeface="宋体" panose="02010600030101010101" pitchFamily="2" charset="-122"/>
              </a:rPr>
              <a:t>）运动参照系中所有物体沿运动方向的尺度缩短了。 </a:t>
            </a:r>
          </a:p>
        </p:txBody>
      </p:sp>
    </p:spTree>
    <p:extLst>
      <p:ext uri="{BB962C8B-B14F-4D97-AF65-F5344CB8AC3E}">
        <p14:creationId xmlns:p14="http://schemas.microsoft.com/office/powerpoint/2010/main" val="138228692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7"/>
                                        </p:tgtEl>
                                        <p:attrNameLst>
                                          <p:attrName>style.visibility</p:attrName>
                                        </p:attrNameLst>
                                      </p:cBhvr>
                                      <p:to>
                                        <p:strVal val="visible"/>
                                      </p:to>
                                    </p:set>
                                    <p:anim calcmode="lin" valueType="num">
                                      <p:cBhvr additive="base">
                                        <p:cTn id="7" dur="500" fill="hold"/>
                                        <p:tgtEl>
                                          <p:spTgt spid="81927"/>
                                        </p:tgtEl>
                                        <p:attrNameLst>
                                          <p:attrName>ppt_x</p:attrName>
                                        </p:attrNameLst>
                                      </p:cBhvr>
                                      <p:tavLst>
                                        <p:tav tm="0">
                                          <p:val>
                                            <p:strVal val="#ppt_x"/>
                                          </p:val>
                                        </p:tav>
                                        <p:tav tm="100000">
                                          <p:val>
                                            <p:strVal val="#ppt_x"/>
                                          </p:val>
                                        </p:tav>
                                      </p:tavLst>
                                    </p:anim>
                                    <p:anim calcmode="lin" valueType="num">
                                      <p:cBhvr additive="base">
                                        <p:cTn id="8" dur="500" fill="hold"/>
                                        <p:tgtEl>
                                          <p:spTgt spid="8192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81928"/>
                                        </p:tgtEl>
                                        <p:attrNameLst>
                                          <p:attrName>style.visibility</p:attrName>
                                        </p:attrNameLst>
                                      </p:cBhvr>
                                      <p:to>
                                        <p:strVal val="visible"/>
                                      </p:to>
                                    </p:set>
                                    <p:animEffect transition="in" filter="box(in)">
                                      <p:cBhvr>
                                        <p:cTn id="13" dur="500"/>
                                        <p:tgtEl>
                                          <p:spTgt spid="8192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0" presetClass="entr" presetSubtype="0" fill="hold" grpId="0" nodeType="clickEffect">
                                  <p:stCondLst>
                                    <p:cond delay="0"/>
                                  </p:stCondLst>
                                  <p:childTnLst>
                                    <p:set>
                                      <p:cBhvr>
                                        <p:cTn id="17" dur="1" fill="hold">
                                          <p:stCondLst>
                                            <p:cond delay="0"/>
                                          </p:stCondLst>
                                        </p:cTn>
                                        <p:tgtEl>
                                          <p:spTgt spid="81931"/>
                                        </p:tgtEl>
                                        <p:attrNameLst>
                                          <p:attrName>style.visibility</p:attrName>
                                        </p:attrNameLst>
                                      </p:cBhvr>
                                      <p:to>
                                        <p:strVal val="visible"/>
                                      </p:to>
                                    </p:set>
                                    <p:animEffect transition="in" filter="wedge">
                                      <p:cBhvr>
                                        <p:cTn id="18" dur="500"/>
                                        <p:tgtEl>
                                          <p:spTgt spid="81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7" grpId="0"/>
      <p:bldP spid="8193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2" name="Picture 2" descr="cosmic-ray"/>
          <p:cNvPicPr>
            <a:picLocks noChangeAspect="1" noChangeArrowheads="1"/>
          </p:cNvPicPr>
          <p:nvPr/>
        </p:nvPicPr>
        <p:blipFill>
          <a:blip r:embed="rId3">
            <a:extLst>
              <a:ext uri="{28A0092B-C50C-407E-A947-70E740481C1C}">
                <a14:useLocalDpi xmlns:a14="http://schemas.microsoft.com/office/drawing/2010/main" val="0"/>
              </a:ext>
            </a:extLst>
          </a:blip>
          <a:srcRect b="2815"/>
          <a:stretch>
            <a:fillRect/>
          </a:stretch>
        </p:blipFill>
        <p:spPr bwMode="auto">
          <a:xfrm>
            <a:off x="4505325" y="0"/>
            <a:ext cx="46386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20163" name="Rectangle 3"/>
          <p:cNvSpPr>
            <a:spLocks noGrp="1" noChangeArrowheads="1"/>
          </p:cNvSpPr>
          <p:nvPr>
            <p:ph type="subTitle" idx="1"/>
          </p:nvPr>
        </p:nvSpPr>
        <p:spPr>
          <a:xfrm>
            <a:off x="228600" y="152400"/>
            <a:ext cx="2895600" cy="533400"/>
          </a:xfrm>
        </p:spPr>
        <p:txBody>
          <a:bodyPr/>
          <a:lstStyle/>
          <a:p>
            <a:pPr algn="l"/>
            <a:r>
              <a:rPr lang="el-GR" altLang="zh-CN" i="1" dirty="0">
                <a:latin typeface="Times New Roman" panose="02020603050405020304" pitchFamily="18" charset="0"/>
                <a:ea typeface="宋体" panose="02010600030101010101" pitchFamily="2" charset="-122"/>
                <a:sym typeface="Math1" pitchFamily="2" charset="2"/>
              </a:rPr>
              <a:t>μ</a:t>
            </a:r>
            <a:r>
              <a:rPr lang="zh-CN" altLang="el-GR" dirty="0">
                <a:cs typeface="Arial" panose="020B0604020202020204" pitchFamily="34" charset="0"/>
              </a:rPr>
              <a:t>子衰变</a:t>
            </a:r>
            <a:endParaRPr lang="el-GR" altLang="zh-CN" dirty="0">
              <a:cs typeface="Arial" panose="020B0604020202020204" pitchFamily="34" charset="0"/>
            </a:endParaRPr>
          </a:p>
        </p:txBody>
      </p:sp>
      <p:graphicFrame>
        <p:nvGraphicFramePr>
          <p:cNvPr id="220164" name="Object 4"/>
          <p:cNvGraphicFramePr>
            <a:graphicFrameLocks noChangeAspect="1"/>
          </p:cNvGraphicFramePr>
          <p:nvPr/>
        </p:nvGraphicFramePr>
        <p:xfrm>
          <a:off x="762000" y="2133600"/>
          <a:ext cx="2590800" cy="588963"/>
        </p:xfrm>
        <a:graphic>
          <a:graphicData uri="http://schemas.openxmlformats.org/presentationml/2006/ole">
            <mc:AlternateContent xmlns:mc="http://schemas.openxmlformats.org/markup-compatibility/2006">
              <mc:Choice xmlns:v="urn:schemas-microsoft-com:vml" Requires="v">
                <p:oleObj spid="_x0000_s58384" name="公式" r:id="rId4" imgW="1117440" imgH="253800" progId="Equation.3">
                  <p:embed/>
                </p:oleObj>
              </mc:Choice>
              <mc:Fallback>
                <p:oleObj name="公式" r:id="rId4" imgW="1117440" imgH="253800" progId="Equation.3">
                  <p:embed/>
                  <p:pic>
                    <p:nvPicPr>
                      <p:cNvPr id="22016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2133600"/>
                        <a:ext cx="259080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65" name="Rectangle 5"/>
          <p:cNvSpPr>
            <a:spLocks noChangeArrowheads="1"/>
          </p:cNvSpPr>
          <p:nvPr/>
        </p:nvSpPr>
        <p:spPr bwMode="auto">
          <a:xfrm>
            <a:off x="152400" y="2820988"/>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子静止时的寿命</a:t>
            </a:r>
            <a:endParaRPr lang="zh-CN" altLang="en-US" sz="2400">
              <a:effectLst/>
              <a:latin typeface="Times New Roman" panose="02020603050405020304" pitchFamily="18" charset="0"/>
              <a:ea typeface="宋体" panose="02010600030101010101" pitchFamily="2" charset="-122"/>
            </a:endParaRPr>
          </a:p>
        </p:txBody>
      </p:sp>
      <p:graphicFrame>
        <p:nvGraphicFramePr>
          <p:cNvPr id="220166" name="Object 6"/>
          <p:cNvGraphicFramePr>
            <a:graphicFrameLocks noChangeAspect="1"/>
          </p:cNvGraphicFramePr>
          <p:nvPr/>
        </p:nvGraphicFramePr>
        <p:xfrm>
          <a:off x="152400" y="3352800"/>
          <a:ext cx="4125913" cy="490538"/>
        </p:xfrm>
        <a:graphic>
          <a:graphicData uri="http://schemas.openxmlformats.org/presentationml/2006/ole">
            <mc:AlternateContent xmlns:mc="http://schemas.openxmlformats.org/markup-compatibility/2006">
              <mc:Choice xmlns:v="urn:schemas-microsoft-com:vml" Requires="v">
                <p:oleObj spid="_x0000_s58385" name="公式" r:id="rId6" imgW="1917360" imgH="228600" progId="Equation.3">
                  <p:embed/>
                </p:oleObj>
              </mc:Choice>
              <mc:Fallback>
                <p:oleObj name="公式" r:id="rId6" imgW="1917360" imgH="228600" progId="Equation.3">
                  <p:embed/>
                  <p:pic>
                    <p:nvPicPr>
                      <p:cNvPr id="22016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3352800"/>
                        <a:ext cx="4125913"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67" name="Text Box 7"/>
          <p:cNvSpPr txBox="1">
            <a:spLocks noChangeArrowheads="1"/>
          </p:cNvSpPr>
          <p:nvPr/>
        </p:nvSpPr>
        <p:spPr bwMode="auto">
          <a:xfrm>
            <a:off x="228600" y="762000"/>
            <a:ext cx="38417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400" i="1" dirty="0">
                <a:effectLst/>
                <a:latin typeface="Times New Roman" panose="02020603050405020304" pitchFamily="18" charset="0"/>
                <a:ea typeface="宋体" panose="02010600030101010101" pitchFamily="2" charset="-122"/>
                <a:sym typeface="Math1" pitchFamily="2" charset="2"/>
              </a:rPr>
              <a:t>μ</a:t>
            </a:r>
            <a:r>
              <a:rPr lang="zh-CN" altLang="en-US" sz="2400" dirty="0">
                <a:effectLst/>
                <a:latin typeface="Times New Roman" panose="02020603050405020304" pitchFamily="18" charset="0"/>
                <a:ea typeface="宋体" panose="02010600030101010101" pitchFamily="2" charset="-122"/>
                <a:sym typeface="Math1" pitchFamily="2" charset="2"/>
              </a:rPr>
              <a:t>子是物理性质与电子类似</a:t>
            </a:r>
          </a:p>
          <a:p>
            <a:r>
              <a:rPr lang="zh-CN" altLang="en-US" sz="2400" dirty="0">
                <a:effectLst/>
                <a:latin typeface="Times New Roman" panose="02020603050405020304" pitchFamily="18" charset="0"/>
                <a:ea typeface="宋体" panose="02010600030101010101" pitchFamily="2" charset="-122"/>
                <a:sym typeface="Math1" pitchFamily="2" charset="2"/>
              </a:rPr>
              <a:t>的粒子，质量是电子质量的</a:t>
            </a:r>
          </a:p>
          <a:p>
            <a:r>
              <a:rPr lang="en-US" altLang="zh-CN" sz="2400" dirty="0">
                <a:effectLst/>
                <a:latin typeface="Times New Roman" panose="02020603050405020304" pitchFamily="18" charset="0"/>
                <a:ea typeface="宋体" panose="02010600030101010101" pitchFamily="2" charset="-122"/>
                <a:sym typeface="Math1" pitchFamily="2" charset="2"/>
              </a:rPr>
              <a:t>206.768</a:t>
            </a:r>
            <a:r>
              <a:rPr lang="zh-CN" altLang="en-US" sz="2400" dirty="0">
                <a:effectLst/>
                <a:latin typeface="Times New Roman" panose="02020603050405020304" pitchFamily="18" charset="0"/>
                <a:ea typeface="宋体" panose="02010600030101010101" pitchFamily="2" charset="-122"/>
                <a:sym typeface="Math1" pitchFamily="2" charset="2"/>
              </a:rPr>
              <a:t>倍。</a:t>
            </a:r>
          </a:p>
        </p:txBody>
      </p:sp>
      <p:sp>
        <p:nvSpPr>
          <p:cNvPr id="220168" name="Rectangle 8"/>
          <p:cNvSpPr>
            <a:spLocks noChangeArrowheads="1"/>
          </p:cNvSpPr>
          <p:nvPr/>
        </p:nvSpPr>
        <p:spPr bwMode="auto">
          <a:xfrm>
            <a:off x="228600" y="4040188"/>
            <a:ext cx="4052888"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子在大气层上部产生，速度</a:t>
            </a:r>
            <a:endParaRPr lang="zh-CN" altLang="en-US" sz="2400">
              <a:effectLst/>
              <a:latin typeface="Times New Roman" panose="02020603050405020304" pitchFamily="18" charset="0"/>
              <a:ea typeface="宋体" panose="02010600030101010101" pitchFamily="2" charset="-122"/>
            </a:endParaRPr>
          </a:p>
          <a:p>
            <a:r>
              <a:rPr lang="zh-CN" altLang="el-GR" sz="2400">
                <a:effectLst/>
                <a:latin typeface="Times New Roman" panose="02020603050405020304" pitchFamily="18" charset="0"/>
                <a:ea typeface="宋体" panose="02010600030101010101" pitchFamily="2" charset="-122"/>
              </a:rPr>
              <a:t>为</a:t>
            </a:r>
            <a:r>
              <a:rPr lang="en-US" altLang="zh-CN" sz="2400">
                <a:effectLst/>
                <a:latin typeface="Times New Roman" panose="02020603050405020304" pitchFamily="18" charset="0"/>
                <a:ea typeface="宋体" panose="02010600030101010101" pitchFamily="2" charset="-122"/>
              </a:rPr>
              <a:t>0.998c</a:t>
            </a:r>
            <a:r>
              <a:rPr lang="zh-CN" altLang="en-US" sz="2400">
                <a:effectLst/>
                <a:latin typeface="Times New Roman" panose="02020603050405020304" pitchFamily="18" charset="0"/>
                <a:ea typeface="宋体" panose="02010600030101010101" pitchFamily="2" charset="-122"/>
              </a:rPr>
              <a:t>，无时钟效应，平均</a:t>
            </a:r>
          </a:p>
          <a:p>
            <a:r>
              <a:rPr lang="zh-CN" altLang="en-US" sz="2400">
                <a:effectLst/>
                <a:latin typeface="Times New Roman" panose="02020603050405020304" pitchFamily="18" charset="0"/>
                <a:ea typeface="宋体" panose="02010600030101010101" pitchFamily="2" charset="-122"/>
              </a:rPr>
              <a:t>走过距离</a:t>
            </a:r>
            <a:r>
              <a:rPr lang="en-US" altLang="zh-CN" sz="2400">
                <a:effectLst/>
                <a:latin typeface="Times New Roman" panose="02020603050405020304" pitchFamily="18" charset="0"/>
                <a:ea typeface="宋体" panose="02010600030101010101" pitchFamily="2" charset="-122"/>
              </a:rPr>
              <a:t>660</a:t>
            </a:r>
            <a:r>
              <a:rPr lang="zh-CN" altLang="en-US" sz="2400">
                <a:effectLst/>
                <a:latin typeface="Times New Roman" panose="02020603050405020304" pitchFamily="18" charset="0"/>
                <a:ea typeface="宋体" panose="02010600030101010101" pitchFamily="2" charset="-122"/>
              </a:rPr>
              <a:t>米，但实际上大</a:t>
            </a:r>
          </a:p>
          <a:p>
            <a:r>
              <a:rPr lang="zh-CN" altLang="en-US" sz="2400">
                <a:effectLst/>
                <a:latin typeface="Times New Roman" panose="02020603050405020304" pitchFamily="18" charset="0"/>
                <a:ea typeface="宋体" panose="02010600030101010101" pitchFamily="2" charset="-122"/>
              </a:rPr>
              <a:t>部分</a:t>
            </a:r>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子都能穿透大气层到达</a:t>
            </a:r>
            <a:endParaRPr lang="zh-CN" altLang="en-US" sz="2400">
              <a:effectLst/>
              <a:latin typeface="Times New Roman" panose="02020603050405020304" pitchFamily="18" charset="0"/>
              <a:ea typeface="宋体" panose="02010600030101010101" pitchFamily="2" charset="-122"/>
            </a:endParaRPr>
          </a:p>
          <a:p>
            <a:r>
              <a:rPr lang="zh-CN" altLang="el-GR" sz="2400">
                <a:effectLst/>
                <a:latin typeface="Times New Roman" panose="02020603050405020304" pitchFamily="18" charset="0"/>
                <a:ea typeface="宋体" panose="02010600030101010101" pitchFamily="2" charset="-122"/>
              </a:rPr>
              <a:t>底部。</a:t>
            </a:r>
            <a:endParaRPr lang="zh-CN" altLang="en-US" sz="240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954833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0167"/>
                                        </p:tgtEl>
                                        <p:attrNameLst>
                                          <p:attrName>style.visibility</p:attrName>
                                        </p:attrNameLst>
                                      </p:cBhvr>
                                      <p:to>
                                        <p:strVal val="visible"/>
                                      </p:to>
                                    </p:set>
                                    <p:animEffect transition="in" filter="wipe(up)">
                                      <p:cBhvr>
                                        <p:cTn id="7" dur="500"/>
                                        <p:tgtEl>
                                          <p:spTgt spid="2201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20164"/>
                                        </p:tgtEl>
                                        <p:attrNameLst>
                                          <p:attrName>style.visibility</p:attrName>
                                        </p:attrNameLst>
                                      </p:cBhvr>
                                      <p:to>
                                        <p:strVal val="visible"/>
                                      </p:to>
                                    </p:set>
                                    <p:anim calcmode="lin" valueType="num">
                                      <p:cBhvr additive="base">
                                        <p:cTn id="12" dur="500" fill="hold"/>
                                        <p:tgtEl>
                                          <p:spTgt spid="220164"/>
                                        </p:tgtEl>
                                        <p:attrNameLst>
                                          <p:attrName>ppt_x</p:attrName>
                                        </p:attrNameLst>
                                      </p:cBhvr>
                                      <p:tavLst>
                                        <p:tav tm="0">
                                          <p:val>
                                            <p:strVal val="#ppt_x"/>
                                          </p:val>
                                        </p:tav>
                                        <p:tav tm="100000">
                                          <p:val>
                                            <p:strVal val="#ppt_x"/>
                                          </p:val>
                                        </p:tav>
                                      </p:tavLst>
                                    </p:anim>
                                    <p:anim calcmode="lin" valueType="num">
                                      <p:cBhvr additive="base">
                                        <p:cTn id="13" dur="500" fill="hold"/>
                                        <p:tgtEl>
                                          <p:spTgt spid="22016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0165"/>
                                        </p:tgtEl>
                                        <p:attrNameLst>
                                          <p:attrName>style.visibility</p:attrName>
                                        </p:attrNameLst>
                                      </p:cBhvr>
                                      <p:to>
                                        <p:strVal val="visible"/>
                                      </p:to>
                                    </p:set>
                                    <p:animEffect transition="in" filter="wipe(left)">
                                      <p:cBhvr>
                                        <p:cTn id="18" dur="500"/>
                                        <p:tgtEl>
                                          <p:spTgt spid="220165"/>
                                        </p:tgtEl>
                                      </p:cBhvr>
                                    </p:animEffect>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220166"/>
                                        </p:tgtEl>
                                        <p:attrNameLst>
                                          <p:attrName>style.visibility</p:attrName>
                                        </p:attrNameLst>
                                      </p:cBhvr>
                                      <p:to>
                                        <p:strVal val="visible"/>
                                      </p:to>
                                    </p:set>
                                    <p:animEffect transition="in" filter="wipe(left)">
                                      <p:cBhvr>
                                        <p:cTn id="22" dur="500"/>
                                        <p:tgtEl>
                                          <p:spTgt spid="2201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20168"/>
                                        </p:tgtEl>
                                        <p:attrNameLst>
                                          <p:attrName>style.visibility</p:attrName>
                                        </p:attrNameLst>
                                      </p:cBhvr>
                                      <p:to>
                                        <p:strVal val="visible"/>
                                      </p:to>
                                    </p:set>
                                    <p:animEffect transition="in" filter="wipe(up)">
                                      <p:cBhvr>
                                        <p:cTn id="27" dur="500"/>
                                        <p:tgtEl>
                                          <p:spTgt spid="220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5" grpId="0"/>
      <p:bldP spid="220167" grpId="0"/>
      <p:bldP spid="22016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ChangeArrowheads="1"/>
          </p:cNvSpPr>
          <p:nvPr/>
        </p:nvSpPr>
        <p:spPr bwMode="auto">
          <a:xfrm>
            <a:off x="228600" y="15240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子以速度</a:t>
            </a:r>
            <a:r>
              <a:rPr lang="en-US" altLang="zh-CN" sz="2400">
                <a:effectLst/>
                <a:latin typeface="Times New Roman" panose="02020603050405020304" pitchFamily="18" charset="0"/>
                <a:ea typeface="宋体" panose="02010600030101010101" pitchFamily="2" charset="-122"/>
              </a:rPr>
              <a:t>0.998</a:t>
            </a:r>
            <a:r>
              <a:rPr lang="en-US" altLang="zh-CN" sz="2400" i="1">
                <a:effectLst/>
                <a:latin typeface="Times New Roman" panose="02020603050405020304" pitchFamily="18" charset="0"/>
                <a:ea typeface="宋体" panose="02010600030101010101" pitchFamily="2" charset="-122"/>
              </a:rPr>
              <a:t>c</a:t>
            </a:r>
            <a:r>
              <a:rPr lang="zh-CN" altLang="en-US" sz="2400">
                <a:effectLst/>
                <a:latin typeface="Times New Roman" panose="02020603050405020304" pitchFamily="18" charset="0"/>
                <a:ea typeface="宋体" panose="02010600030101010101" pitchFamily="2" charset="-122"/>
              </a:rPr>
              <a:t>运动，寿命是静止寿命的</a:t>
            </a:r>
            <a:r>
              <a:rPr lang="en-US" altLang="zh-CN" sz="2400">
                <a:effectLst/>
                <a:latin typeface="Times New Roman" panose="02020603050405020304" pitchFamily="18" charset="0"/>
                <a:ea typeface="宋体" panose="02010600030101010101" pitchFamily="2" charset="-122"/>
              </a:rPr>
              <a:t>15</a:t>
            </a:r>
            <a:r>
              <a:rPr lang="zh-CN" altLang="en-US" sz="2400">
                <a:effectLst/>
                <a:latin typeface="Times New Roman" panose="02020603050405020304" pitchFamily="18" charset="0"/>
                <a:ea typeface="宋体" panose="02010600030101010101" pitchFamily="2" charset="-122"/>
              </a:rPr>
              <a:t>倍，可运行</a:t>
            </a:r>
            <a:r>
              <a:rPr lang="en-US" altLang="zh-CN" sz="2400">
                <a:effectLst/>
                <a:latin typeface="Times New Roman" panose="02020603050405020304" pitchFamily="18" charset="0"/>
                <a:ea typeface="宋体" panose="02010600030101010101" pitchFamily="2" charset="-122"/>
              </a:rPr>
              <a:t>9500m</a:t>
            </a:r>
          </a:p>
        </p:txBody>
      </p:sp>
      <p:sp>
        <p:nvSpPr>
          <p:cNvPr id="221187" name="Text Box 3"/>
          <p:cNvSpPr txBox="1">
            <a:spLocks noChangeArrowheads="1"/>
          </p:cNvSpPr>
          <p:nvPr/>
        </p:nvSpPr>
        <p:spPr bwMode="auto">
          <a:xfrm>
            <a:off x="304800" y="457200"/>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effectLst/>
                <a:latin typeface="Times New Roman" panose="02020603050405020304" pitchFamily="18" charset="0"/>
                <a:ea typeface="宋体" panose="02010600030101010101" pitchFamily="2" charset="-122"/>
              </a:rPr>
              <a:t>由于相对论效应</a:t>
            </a:r>
          </a:p>
        </p:txBody>
      </p:sp>
      <p:graphicFrame>
        <p:nvGraphicFramePr>
          <p:cNvPr id="221188" name="Object 4"/>
          <p:cNvGraphicFramePr>
            <a:graphicFrameLocks noChangeAspect="1"/>
          </p:cNvGraphicFramePr>
          <p:nvPr/>
        </p:nvGraphicFramePr>
        <p:xfrm>
          <a:off x="2743200" y="304800"/>
          <a:ext cx="3479800" cy="1006475"/>
        </p:xfrm>
        <a:graphic>
          <a:graphicData uri="http://schemas.openxmlformats.org/presentationml/2006/ole">
            <mc:AlternateContent xmlns:mc="http://schemas.openxmlformats.org/markup-compatibility/2006">
              <mc:Choice xmlns:v="urn:schemas-microsoft-com:vml" Requires="v">
                <p:oleObj spid="_x0000_s59401" name="公式" r:id="rId3" imgW="1625400" imgH="469800" progId="Equation.3">
                  <p:embed/>
                </p:oleObj>
              </mc:Choice>
              <mc:Fallback>
                <p:oleObj name="公式" r:id="rId3" imgW="1625400" imgH="469800" progId="Equation.3">
                  <p:embed/>
                  <p:pic>
                    <p:nvPicPr>
                      <p:cNvPr id="2211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304800"/>
                        <a:ext cx="34798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1189" name="Rectangle 5"/>
          <p:cNvSpPr>
            <a:spLocks noChangeArrowheads="1"/>
          </p:cNvSpPr>
          <p:nvPr/>
        </p:nvSpPr>
        <p:spPr bwMode="auto">
          <a:xfrm>
            <a:off x="228600" y="2439988"/>
            <a:ext cx="7956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子在较短的固有寿命中能够飞跃大气层，这是客观事实，</a:t>
            </a:r>
            <a:endParaRPr lang="zh-CN" altLang="en-US" sz="2400">
              <a:effectLst/>
              <a:latin typeface="Times New Roman" panose="02020603050405020304" pitchFamily="18" charset="0"/>
              <a:ea typeface="宋体" panose="02010600030101010101" pitchFamily="2" charset="-122"/>
            </a:endParaRPr>
          </a:p>
          <a:p>
            <a:r>
              <a:rPr lang="zh-CN" altLang="el-GR" sz="2400">
                <a:effectLst/>
                <a:latin typeface="Times New Roman" panose="02020603050405020304" pitchFamily="18" charset="0"/>
                <a:ea typeface="宋体" panose="02010600030101010101" pitchFamily="2" charset="-122"/>
              </a:rPr>
              <a:t>但在不同的惯性系中有不同的解释：</a:t>
            </a:r>
            <a:endParaRPr lang="zh-CN" altLang="en-US" sz="2400">
              <a:effectLst/>
              <a:latin typeface="Times New Roman" panose="02020603050405020304" pitchFamily="18" charset="0"/>
              <a:ea typeface="宋体" panose="02010600030101010101" pitchFamily="2" charset="-122"/>
            </a:endParaRPr>
          </a:p>
        </p:txBody>
      </p:sp>
      <p:sp>
        <p:nvSpPr>
          <p:cNvPr id="221190" name="Text Box 6"/>
          <p:cNvSpPr txBox="1">
            <a:spLocks noChangeArrowheads="1"/>
          </p:cNvSpPr>
          <p:nvPr/>
        </p:nvSpPr>
        <p:spPr bwMode="auto">
          <a:xfrm>
            <a:off x="1905000" y="3581400"/>
            <a:ext cx="4908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effectLst/>
                <a:latin typeface="Times New Roman" panose="02020603050405020304" pitchFamily="18" charset="0"/>
                <a:ea typeface="宋体" panose="02010600030101010101" pitchFamily="2" charset="-122"/>
              </a:rPr>
              <a:t>地面参考系： </a:t>
            </a:r>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子的寿命变长了。</a:t>
            </a:r>
            <a:endParaRPr lang="zh-CN" altLang="en-US" sz="2400">
              <a:effectLst/>
              <a:latin typeface="Times New Roman" panose="02020603050405020304" pitchFamily="18" charset="0"/>
              <a:ea typeface="宋体" panose="02010600030101010101" pitchFamily="2" charset="-122"/>
            </a:endParaRPr>
          </a:p>
          <a:p>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a:t>
            </a:r>
            <a:r>
              <a:rPr lang="zh-CN" altLang="en-US" sz="2400">
                <a:effectLst/>
                <a:latin typeface="Times New Roman" panose="02020603050405020304" pitchFamily="18" charset="0"/>
                <a:ea typeface="宋体" panose="02010600030101010101" pitchFamily="2" charset="-122"/>
              </a:rPr>
              <a:t>参考系：大气层的厚度变短了。</a:t>
            </a:r>
          </a:p>
        </p:txBody>
      </p:sp>
      <p:sp>
        <p:nvSpPr>
          <p:cNvPr id="221191" name="Text Box 7"/>
          <p:cNvSpPr txBox="1">
            <a:spLocks noChangeArrowheads="1"/>
          </p:cNvSpPr>
          <p:nvPr/>
        </p:nvSpPr>
        <p:spPr bwMode="auto">
          <a:xfrm>
            <a:off x="838200" y="5029200"/>
            <a:ext cx="710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a:effectLst/>
                <a:latin typeface="Times New Roman" panose="02020603050405020304" pitchFamily="18" charset="0"/>
                <a:ea typeface="宋体" panose="02010600030101010101" pitchFamily="2" charset="-122"/>
              </a:rPr>
              <a:t>然而结果相同：大部分</a:t>
            </a:r>
            <a:r>
              <a:rPr lang="el-GR" altLang="zh-CN" sz="2400" i="1">
                <a:effectLst/>
                <a:latin typeface="Times New Roman" panose="02020603050405020304" pitchFamily="18" charset="0"/>
                <a:ea typeface="宋体" panose="02010600030101010101" pitchFamily="2" charset="-122"/>
                <a:sym typeface="Math1" pitchFamily="2" charset="2"/>
              </a:rPr>
              <a:t>μ</a:t>
            </a:r>
            <a:r>
              <a:rPr lang="zh-CN" altLang="el-GR" sz="2400">
                <a:effectLst/>
                <a:latin typeface="Times New Roman" panose="02020603050405020304" pitchFamily="18" charset="0"/>
                <a:ea typeface="宋体" panose="02010600030101010101" pitchFamily="2" charset="-122"/>
              </a:rPr>
              <a:t>子都能穿透大气层到达底部</a:t>
            </a:r>
            <a:endParaRPr lang="zh-CN" altLang="en-US" sz="240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651081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7"/>
                                        </p:tgtEl>
                                        <p:attrNameLst>
                                          <p:attrName>style.visibility</p:attrName>
                                        </p:attrNameLst>
                                      </p:cBhvr>
                                      <p:to>
                                        <p:strVal val="visible"/>
                                      </p:to>
                                    </p:set>
                                    <p:animEffect transition="in" filter="wipe(left)">
                                      <p:cBhvr>
                                        <p:cTn id="7" dur="500"/>
                                        <p:tgtEl>
                                          <p:spTgt spid="22118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1188"/>
                                        </p:tgtEl>
                                        <p:attrNameLst>
                                          <p:attrName>style.visibility</p:attrName>
                                        </p:attrNameLst>
                                      </p:cBhvr>
                                      <p:to>
                                        <p:strVal val="visible"/>
                                      </p:to>
                                    </p:set>
                                    <p:animEffect transition="in" filter="wipe(left)">
                                      <p:cBhvr>
                                        <p:cTn id="11" dur="500"/>
                                        <p:tgtEl>
                                          <p:spTgt spid="2211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21186"/>
                                        </p:tgtEl>
                                        <p:attrNameLst>
                                          <p:attrName>style.visibility</p:attrName>
                                        </p:attrNameLst>
                                      </p:cBhvr>
                                      <p:to>
                                        <p:strVal val="visible"/>
                                      </p:to>
                                    </p:set>
                                    <p:animEffect transition="in" filter="wipe(up)">
                                      <p:cBhvr>
                                        <p:cTn id="16" dur="500"/>
                                        <p:tgtEl>
                                          <p:spTgt spid="22118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21189"/>
                                        </p:tgtEl>
                                        <p:attrNameLst>
                                          <p:attrName>style.visibility</p:attrName>
                                        </p:attrNameLst>
                                      </p:cBhvr>
                                      <p:to>
                                        <p:strVal val="visible"/>
                                      </p:to>
                                    </p:set>
                                    <p:anim calcmode="lin" valueType="num">
                                      <p:cBhvr additive="base">
                                        <p:cTn id="21" dur="500" fill="hold"/>
                                        <p:tgtEl>
                                          <p:spTgt spid="221189"/>
                                        </p:tgtEl>
                                        <p:attrNameLst>
                                          <p:attrName>ppt_x</p:attrName>
                                        </p:attrNameLst>
                                      </p:cBhvr>
                                      <p:tavLst>
                                        <p:tav tm="0">
                                          <p:val>
                                            <p:strVal val="#ppt_x"/>
                                          </p:val>
                                        </p:tav>
                                        <p:tav tm="100000">
                                          <p:val>
                                            <p:strVal val="#ppt_x"/>
                                          </p:val>
                                        </p:tav>
                                      </p:tavLst>
                                    </p:anim>
                                    <p:anim calcmode="lin" valueType="num">
                                      <p:cBhvr additive="base">
                                        <p:cTn id="22" dur="500" fill="hold"/>
                                        <p:tgtEl>
                                          <p:spTgt spid="221189"/>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21190"/>
                                        </p:tgtEl>
                                        <p:attrNameLst>
                                          <p:attrName>style.visibility</p:attrName>
                                        </p:attrNameLst>
                                      </p:cBhvr>
                                      <p:to>
                                        <p:strVal val="visible"/>
                                      </p:to>
                                    </p:set>
                                    <p:anim calcmode="lin" valueType="num">
                                      <p:cBhvr additive="base">
                                        <p:cTn id="27" dur="500" fill="hold"/>
                                        <p:tgtEl>
                                          <p:spTgt spid="221190"/>
                                        </p:tgtEl>
                                        <p:attrNameLst>
                                          <p:attrName>ppt_x</p:attrName>
                                        </p:attrNameLst>
                                      </p:cBhvr>
                                      <p:tavLst>
                                        <p:tav tm="0">
                                          <p:val>
                                            <p:strVal val="#ppt_x"/>
                                          </p:val>
                                        </p:tav>
                                        <p:tav tm="100000">
                                          <p:val>
                                            <p:strVal val="#ppt_x"/>
                                          </p:val>
                                        </p:tav>
                                      </p:tavLst>
                                    </p:anim>
                                    <p:anim calcmode="lin" valueType="num">
                                      <p:cBhvr additive="base">
                                        <p:cTn id="28" dur="500" fill="hold"/>
                                        <p:tgtEl>
                                          <p:spTgt spid="221190"/>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21191"/>
                                        </p:tgtEl>
                                        <p:attrNameLst>
                                          <p:attrName>style.visibility</p:attrName>
                                        </p:attrNameLst>
                                      </p:cBhvr>
                                      <p:to>
                                        <p:strVal val="visible"/>
                                      </p:to>
                                    </p:set>
                                    <p:anim calcmode="lin" valueType="num">
                                      <p:cBhvr additive="base">
                                        <p:cTn id="33" dur="500" fill="hold"/>
                                        <p:tgtEl>
                                          <p:spTgt spid="221191"/>
                                        </p:tgtEl>
                                        <p:attrNameLst>
                                          <p:attrName>ppt_x</p:attrName>
                                        </p:attrNameLst>
                                      </p:cBhvr>
                                      <p:tavLst>
                                        <p:tav tm="0">
                                          <p:val>
                                            <p:strVal val="#ppt_x"/>
                                          </p:val>
                                        </p:tav>
                                        <p:tav tm="100000">
                                          <p:val>
                                            <p:strVal val="#ppt_x"/>
                                          </p:val>
                                        </p:tav>
                                      </p:tavLst>
                                    </p:anim>
                                    <p:anim calcmode="lin" valueType="num">
                                      <p:cBhvr additive="base">
                                        <p:cTn id="34" dur="500" fill="hold"/>
                                        <p:tgtEl>
                                          <p:spTgt spid="2211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p:bldP spid="221187" grpId="0"/>
      <p:bldP spid="221189" grpId="0"/>
      <p:bldP spid="221190" grpId="0"/>
      <p:bldP spid="22119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684213" y="1685925"/>
            <a:ext cx="7056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kumimoji="1" lang="zh-CN" altLang="en-US" sz="2400" b="1" dirty="0">
                <a:solidFill>
                  <a:srgbClr val="FF0000"/>
                </a:solidFill>
                <a:effectLst/>
                <a:latin typeface="Arial" panose="020B0604020202020204" pitchFamily="34" charset="0"/>
                <a:ea typeface="黑体" panose="02010609060101010101" pitchFamily="49" charset="-122"/>
                <a:cs typeface="Arial" panose="020B0604020202020204" pitchFamily="34" charset="0"/>
              </a:rPr>
              <a:t>例</a:t>
            </a:r>
            <a:r>
              <a:rPr kumimoji="1" lang="en-US" altLang="zh-CN" sz="2400" b="1" dirty="0">
                <a:solidFill>
                  <a:srgbClr val="FF0000"/>
                </a:solidFill>
                <a:effectLst/>
                <a:latin typeface="Arial" panose="020B0604020202020204" pitchFamily="34" charset="0"/>
                <a:ea typeface="黑体" panose="02010609060101010101" pitchFamily="49" charset="-122"/>
                <a:cs typeface="Arial" panose="020B0604020202020204" pitchFamily="34" charset="0"/>
              </a:rPr>
              <a:t> </a:t>
            </a:r>
            <a:r>
              <a:rPr kumimoji="1" lang="zh-CN" altLang="en-US" sz="2400" b="1" dirty="0">
                <a:solidFill>
                  <a:srgbClr val="FF0000"/>
                </a:solidFill>
                <a:effectLst/>
                <a:latin typeface="Arial" panose="020B0604020202020204" pitchFamily="34" charset="0"/>
                <a:ea typeface="黑体" panose="02010609060101010101" pitchFamily="49" charset="-122"/>
                <a:cs typeface="Arial" panose="020B0604020202020204" pitchFamily="34" charset="0"/>
              </a:rPr>
              <a:t>尽快获知有无外星人的“好办法”：</a:t>
            </a:r>
          </a:p>
        </p:txBody>
      </p:sp>
      <p:sp>
        <p:nvSpPr>
          <p:cNvPr id="164867" name="Rectangle 3"/>
          <p:cNvSpPr>
            <a:spLocks noChangeArrowheads="1"/>
          </p:cNvSpPr>
          <p:nvPr/>
        </p:nvSpPr>
        <p:spPr bwMode="auto">
          <a:xfrm>
            <a:off x="684213" y="2254250"/>
            <a:ext cx="7993062" cy="1903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zh-CN" altLang="en-US"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某外星</a:t>
            </a:r>
            <a:r>
              <a:rPr kumimoji="1" lang="en-US" altLang="zh-CN"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M</a:t>
            </a:r>
            <a:r>
              <a:rPr kumimoji="1" lang="zh-CN" altLang="en-US"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离地球</a:t>
            </a:r>
            <a:r>
              <a:rPr kumimoji="1" lang="en-US" altLang="zh-CN"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2</a:t>
            </a:r>
            <a:r>
              <a:rPr kumimoji="1" lang="zh-CN" altLang="en-US"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万光年（即光从地球传播到该外星需</a:t>
            </a:r>
            <a:r>
              <a:rPr kumimoji="1" lang="en-US" altLang="zh-CN"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2</a:t>
            </a:r>
            <a:r>
              <a:rPr kumimoji="1" lang="zh-CN" altLang="en-US"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万年时间），某宇航员以速度</a:t>
            </a:r>
            <a:r>
              <a:rPr kumimoji="1" lang="en-US" altLang="zh-CN" sz="2400" b="1" i="1" dirty="0">
                <a:solidFill>
                  <a:srgbClr val="000066"/>
                </a:solidFill>
                <a:effectLst/>
                <a:latin typeface="Arial" panose="020B0604020202020204" pitchFamily="34" charset="0"/>
                <a:ea typeface="黑体" panose="02010609060101010101" pitchFamily="49" charset="-122"/>
                <a:cs typeface="Arial" panose="020B0604020202020204" pitchFamily="34" charset="0"/>
              </a:rPr>
              <a:t>u</a:t>
            </a:r>
            <a:r>
              <a:rPr kumimoji="1" lang="zh-CN" altLang="en-US"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从地球出发驶向该外星。假设宇航员估计自己还能活</a:t>
            </a:r>
            <a:r>
              <a:rPr kumimoji="1" lang="en-US" altLang="zh-CN"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100</a:t>
            </a:r>
            <a:r>
              <a:rPr kumimoji="1" lang="zh-CN" altLang="en-US"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年，问：该宇航员是否可能在有生之年抵达外星？若可能，其速度</a:t>
            </a:r>
            <a:r>
              <a:rPr kumimoji="1" lang="en-US" altLang="zh-CN" sz="2400" b="1" i="1" dirty="0">
                <a:solidFill>
                  <a:srgbClr val="000066"/>
                </a:solidFill>
                <a:effectLst/>
                <a:latin typeface="Arial" panose="020B0604020202020204" pitchFamily="34" charset="0"/>
                <a:ea typeface="黑体" panose="02010609060101010101" pitchFamily="49" charset="-122"/>
                <a:cs typeface="Arial" panose="020B0604020202020204" pitchFamily="34" charset="0"/>
              </a:rPr>
              <a:t>u</a:t>
            </a:r>
            <a:r>
              <a:rPr kumimoji="1" lang="zh-CN" altLang="en-US" sz="2400" b="1" dirty="0">
                <a:solidFill>
                  <a:srgbClr val="000066"/>
                </a:solidFill>
                <a:effectLst/>
                <a:latin typeface="Arial" panose="020B0604020202020204" pitchFamily="34" charset="0"/>
                <a:ea typeface="黑体" panose="02010609060101010101" pitchFamily="49" charset="-122"/>
                <a:cs typeface="Arial" panose="020B0604020202020204" pitchFamily="34" charset="0"/>
              </a:rPr>
              <a:t>至少为多大？</a:t>
            </a:r>
            <a:r>
              <a:rPr kumimoji="1" lang="zh-CN" altLang="en-US" sz="2400" dirty="0">
                <a:solidFill>
                  <a:srgbClr val="000066"/>
                </a:solidFill>
                <a:effectLst/>
                <a:latin typeface="Arial" panose="020B0604020202020204" pitchFamily="34" charset="0"/>
                <a:ea typeface="黑体" panose="02010609060101010101" pitchFamily="49" charset="-122"/>
                <a:cs typeface="Arial" panose="020B0604020202020204" pitchFamily="34" charset="0"/>
              </a:rPr>
              <a:t> </a:t>
            </a:r>
          </a:p>
        </p:txBody>
      </p:sp>
    </p:spTree>
    <p:extLst>
      <p:ext uri="{BB962C8B-B14F-4D97-AF65-F5344CB8AC3E}">
        <p14:creationId xmlns:p14="http://schemas.microsoft.com/office/powerpoint/2010/main" val="3930853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4867"/>
                                        </p:tgtEl>
                                        <p:attrNameLst>
                                          <p:attrName>style.visibility</p:attrName>
                                        </p:attrNameLst>
                                      </p:cBhvr>
                                      <p:to>
                                        <p:strVal val="visible"/>
                                      </p:to>
                                    </p:set>
                                    <p:anim calcmode="lin" valueType="num">
                                      <p:cBhvr additive="base">
                                        <p:cTn id="7" dur="500" fill="hold"/>
                                        <p:tgtEl>
                                          <p:spTgt spid="164867"/>
                                        </p:tgtEl>
                                        <p:attrNameLst>
                                          <p:attrName>ppt_x</p:attrName>
                                        </p:attrNameLst>
                                      </p:cBhvr>
                                      <p:tavLst>
                                        <p:tav tm="0">
                                          <p:val>
                                            <p:strVal val="0-#ppt_w/2"/>
                                          </p:val>
                                        </p:tav>
                                        <p:tav tm="100000">
                                          <p:val>
                                            <p:strVal val="#ppt_x"/>
                                          </p:val>
                                        </p:tav>
                                      </p:tavLst>
                                    </p:anim>
                                    <p:anim calcmode="lin" valueType="num">
                                      <p:cBhvr additive="base">
                                        <p:cTn id="8" dur="500" fill="hold"/>
                                        <p:tgtEl>
                                          <p:spTgt spid="1648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0" name="Object 2"/>
          <p:cNvGraphicFramePr>
            <a:graphicFrameLocks noChangeAspect="1"/>
          </p:cNvGraphicFramePr>
          <p:nvPr/>
        </p:nvGraphicFramePr>
        <p:xfrm>
          <a:off x="682625" y="769938"/>
          <a:ext cx="7823200" cy="5399087"/>
        </p:xfrm>
        <a:graphic>
          <a:graphicData uri="http://schemas.openxmlformats.org/presentationml/2006/ole">
            <mc:AlternateContent xmlns:mc="http://schemas.openxmlformats.org/markup-compatibility/2006">
              <mc:Choice xmlns:v="urn:schemas-microsoft-com:vml" Requires="v">
                <p:oleObj spid="_x0000_s60425" name="文档" r:id="rId3" imgW="2886330" imgH="1993590" progId="Word.Document.8">
                  <p:embed/>
                </p:oleObj>
              </mc:Choice>
              <mc:Fallback>
                <p:oleObj name="文档" r:id="rId3" imgW="2886330" imgH="1993590" progId="Word.Document.8">
                  <p:embed/>
                  <p:pic>
                    <p:nvPicPr>
                      <p:cNvPr id="1658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625" y="769938"/>
                        <a:ext cx="7823200" cy="539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894442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2818" name="Object 2"/>
          <p:cNvGraphicFramePr>
            <a:graphicFrameLocks noChangeAspect="1"/>
          </p:cNvGraphicFramePr>
          <p:nvPr/>
        </p:nvGraphicFramePr>
        <p:xfrm>
          <a:off x="677863" y="2276475"/>
          <a:ext cx="7997825" cy="3208338"/>
        </p:xfrm>
        <a:graphic>
          <a:graphicData uri="http://schemas.openxmlformats.org/presentationml/2006/ole">
            <mc:AlternateContent xmlns:mc="http://schemas.openxmlformats.org/markup-compatibility/2006">
              <mc:Choice xmlns:v="urn:schemas-microsoft-com:vml" Requires="v">
                <p:oleObj spid="_x0000_s22550" name="文档" r:id="rId3" imgW="3316201" imgH="1331099" progId="Word.Document.8">
                  <p:embed/>
                </p:oleObj>
              </mc:Choice>
              <mc:Fallback>
                <p:oleObj name="文档" r:id="rId3" imgW="3316201" imgH="1331099" progId="Word.Document.8">
                  <p:embed/>
                  <p:pic>
                    <p:nvPicPr>
                      <p:cNvPr id="1628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863" y="2276475"/>
                        <a:ext cx="7997825" cy="320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19" name="Text Box 3"/>
          <p:cNvSpPr txBox="1">
            <a:spLocks noChangeArrowheads="1"/>
          </p:cNvSpPr>
          <p:nvPr/>
        </p:nvSpPr>
        <p:spPr bwMode="auto">
          <a:xfrm>
            <a:off x="611188" y="1628775"/>
            <a:ext cx="33115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FF0000"/>
                </a:solidFill>
                <a:effectLst/>
                <a:latin typeface="黑体" panose="02010609060101010101" pitchFamily="49" charset="-122"/>
                <a:ea typeface="黑体" panose="02010609060101010101" pitchFamily="49" charset="-122"/>
              </a:rPr>
              <a:t>例</a:t>
            </a:r>
            <a:r>
              <a:rPr kumimoji="1" lang="en-US" altLang="zh-CN" sz="2400" b="1" dirty="0">
                <a:solidFill>
                  <a:srgbClr val="FF0000"/>
                </a:solidFill>
                <a:effectLst/>
                <a:latin typeface="黑体" panose="02010609060101010101" pitchFamily="49" charset="-122"/>
                <a:ea typeface="黑体" panose="02010609060101010101" pitchFamily="49" charset="-122"/>
              </a:rPr>
              <a:t> </a:t>
            </a:r>
            <a:r>
              <a:rPr kumimoji="1" lang="zh-CN" altLang="en-US" sz="2400" b="1" dirty="0">
                <a:solidFill>
                  <a:srgbClr val="FF0000"/>
                </a:solidFill>
                <a:effectLst/>
                <a:latin typeface="黑体" panose="02010609060101010101" pitchFamily="49" charset="-122"/>
                <a:ea typeface="黑体" panose="02010609060101010101" pitchFamily="49" charset="-122"/>
              </a:rPr>
              <a:t>父与子：</a:t>
            </a:r>
            <a:r>
              <a:rPr kumimoji="1" lang="zh-CN" altLang="en-US" sz="2400" dirty="0">
                <a:solidFill>
                  <a:srgbClr val="FF0000"/>
                </a:solidFill>
                <a:effectLst/>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27590222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2818"/>
                                        </p:tgtEl>
                                        <p:attrNameLst>
                                          <p:attrName>style.visibility</p:attrName>
                                        </p:attrNameLst>
                                      </p:cBhvr>
                                      <p:to>
                                        <p:strVal val="visible"/>
                                      </p:to>
                                    </p:set>
                                    <p:anim calcmode="lin" valueType="num">
                                      <p:cBhvr additive="base">
                                        <p:cTn id="7" dur="500" fill="hold"/>
                                        <p:tgtEl>
                                          <p:spTgt spid="162818"/>
                                        </p:tgtEl>
                                        <p:attrNameLst>
                                          <p:attrName>ppt_x</p:attrName>
                                        </p:attrNameLst>
                                      </p:cBhvr>
                                      <p:tavLst>
                                        <p:tav tm="0">
                                          <p:val>
                                            <p:strVal val="0-#ppt_w/2"/>
                                          </p:val>
                                        </p:tav>
                                        <p:tav tm="100000">
                                          <p:val>
                                            <p:strVal val="#ppt_x"/>
                                          </p:val>
                                        </p:tav>
                                      </p:tavLst>
                                    </p:anim>
                                    <p:anim calcmode="lin" valueType="num">
                                      <p:cBhvr additive="base">
                                        <p:cTn id="8" dur="500" fill="hold"/>
                                        <p:tgtEl>
                                          <p:spTgt spid="1628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42" name="Object 2"/>
          <p:cNvGraphicFramePr>
            <a:graphicFrameLocks noChangeAspect="1"/>
          </p:cNvGraphicFramePr>
          <p:nvPr/>
        </p:nvGraphicFramePr>
        <p:xfrm>
          <a:off x="827088" y="1131888"/>
          <a:ext cx="7924800" cy="5006975"/>
        </p:xfrm>
        <a:graphic>
          <a:graphicData uri="http://schemas.openxmlformats.org/presentationml/2006/ole">
            <mc:AlternateContent xmlns:mc="http://schemas.openxmlformats.org/markup-compatibility/2006">
              <mc:Choice xmlns:v="urn:schemas-microsoft-com:vml" Requires="v">
                <p:oleObj spid="_x0000_s23574" name="文档" r:id="rId3" imgW="2923052" imgH="1847490" progId="Word.Document.8">
                  <p:embed/>
                </p:oleObj>
              </mc:Choice>
              <mc:Fallback>
                <p:oleObj name="文档" r:id="rId3" imgW="2923052" imgH="1847490" progId="Word.Document.8">
                  <p:embed/>
                  <p:pic>
                    <p:nvPicPr>
                      <p:cNvPr id="163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131888"/>
                        <a:ext cx="7924800" cy="500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773325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Text Box 4"/>
          <p:cNvSpPr txBox="1">
            <a:spLocks noChangeArrowheads="1"/>
          </p:cNvSpPr>
          <p:nvPr/>
        </p:nvSpPr>
        <p:spPr bwMode="auto">
          <a:xfrm>
            <a:off x="611188" y="188913"/>
            <a:ext cx="4953000"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000FF"/>
                </a:solidFill>
                <a:effectLst/>
                <a:latin typeface="黑体" panose="02010609060101010101" pitchFamily="49" charset="-122"/>
                <a:ea typeface="黑体" panose="02010609060101010101" pitchFamily="49" charset="-122"/>
              </a:rPr>
              <a:t>事件的先后顺序与因果律</a:t>
            </a:r>
          </a:p>
        </p:txBody>
      </p:sp>
      <p:grpSp>
        <p:nvGrpSpPr>
          <p:cNvPr id="150587" name="Group 59"/>
          <p:cNvGrpSpPr>
            <a:grpSpLocks/>
          </p:cNvGrpSpPr>
          <p:nvPr/>
        </p:nvGrpSpPr>
        <p:grpSpPr bwMode="auto">
          <a:xfrm>
            <a:off x="5005388" y="981075"/>
            <a:ext cx="4103687" cy="2425700"/>
            <a:chOff x="3198" y="868"/>
            <a:chExt cx="2585" cy="1528"/>
          </a:xfrm>
        </p:grpSpPr>
        <p:sp>
          <p:nvSpPr>
            <p:cNvPr id="150561" name="Text Box 33"/>
            <p:cNvSpPr txBox="1">
              <a:spLocks noChangeArrowheads="1"/>
            </p:cNvSpPr>
            <p:nvPr/>
          </p:nvSpPr>
          <p:spPr bwMode="auto">
            <a:xfrm>
              <a:off x="3334" y="868"/>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y</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50562" name="Text Box 34"/>
            <p:cNvSpPr txBox="1">
              <a:spLocks noChangeArrowheads="1"/>
            </p:cNvSpPr>
            <p:nvPr/>
          </p:nvSpPr>
          <p:spPr bwMode="auto">
            <a:xfrm>
              <a:off x="3198" y="2063"/>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8080"/>
                  </a:solidFill>
                  <a:effectLst/>
                  <a:latin typeface="Times New Roman" panose="02020603050405020304" pitchFamily="18" charset="0"/>
                  <a:ea typeface="宋体" panose="02010600030101010101" pitchFamily="2" charset="-122"/>
                </a:rPr>
                <a:t>O</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50563" name="Line 35"/>
            <p:cNvSpPr>
              <a:spLocks noChangeShapeType="1"/>
            </p:cNvSpPr>
            <p:nvPr/>
          </p:nvSpPr>
          <p:spPr bwMode="auto">
            <a:xfrm flipV="1">
              <a:off x="3401" y="1148"/>
              <a:ext cx="0" cy="960"/>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64" name="Line 36"/>
            <p:cNvSpPr>
              <a:spLocks noChangeShapeType="1"/>
            </p:cNvSpPr>
            <p:nvPr/>
          </p:nvSpPr>
          <p:spPr bwMode="auto">
            <a:xfrm>
              <a:off x="3401" y="2108"/>
              <a:ext cx="2065" cy="0"/>
            </a:xfrm>
            <a:prstGeom prst="line">
              <a:avLst/>
            </a:prstGeom>
            <a:noFill/>
            <a:ln w="19050">
              <a:solidFill>
                <a:srgbClr val="00808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65" name="Text Box 37"/>
            <p:cNvSpPr txBox="1">
              <a:spLocks noChangeArrowheads="1"/>
            </p:cNvSpPr>
            <p:nvPr/>
          </p:nvSpPr>
          <p:spPr bwMode="auto">
            <a:xfrm>
              <a:off x="5420" y="2018"/>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008080"/>
                  </a:solidFill>
                  <a:effectLst/>
                  <a:latin typeface="Times New Roman" panose="02020603050405020304" pitchFamily="18" charset="0"/>
                  <a:ea typeface="宋体" panose="02010600030101010101" pitchFamily="2" charset="-122"/>
                </a:rPr>
                <a:t>x</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50568" name="Text Box 40"/>
            <p:cNvSpPr txBox="1">
              <a:spLocks noChangeArrowheads="1"/>
            </p:cNvSpPr>
            <p:nvPr/>
          </p:nvSpPr>
          <p:spPr bwMode="auto">
            <a:xfrm>
              <a:off x="3606" y="913"/>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008080"/>
                  </a:solidFill>
                  <a:effectLst/>
                  <a:latin typeface="Times New Roman" panose="02020603050405020304" pitchFamily="18" charset="0"/>
                  <a:ea typeface="宋体" panose="02010600030101010101" pitchFamily="2" charset="-122"/>
                </a:rPr>
                <a:t>S</a:t>
              </a:r>
              <a:r>
                <a:rPr lang="en-US" altLang="zh-CN" sz="2400">
                  <a:solidFill>
                    <a:srgbClr val="008080"/>
                  </a:solidFill>
                  <a:effectLst/>
                  <a:latin typeface="Times New Roman" panose="02020603050405020304" pitchFamily="18" charset="0"/>
                  <a:ea typeface="宋体" panose="02010600030101010101" pitchFamily="2" charset="-122"/>
                  <a:sym typeface="Symbol" panose="05050102010706020507" pitchFamily="18" charset="2"/>
                </a:rPr>
                <a:t></a:t>
              </a:r>
            </a:p>
          </p:txBody>
        </p:sp>
        <p:sp>
          <p:nvSpPr>
            <p:cNvPr id="150569" name="AutoShape 41"/>
            <p:cNvSpPr>
              <a:spLocks noChangeArrowheads="1"/>
            </p:cNvSpPr>
            <p:nvPr/>
          </p:nvSpPr>
          <p:spPr bwMode="auto">
            <a:xfrm>
              <a:off x="3923" y="1489"/>
              <a:ext cx="147" cy="442"/>
            </a:xfrm>
            <a:prstGeom prst="cloudCallout">
              <a:avLst>
                <a:gd name="adj1" fmla="val -79250"/>
                <a:gd name="adj2" fmla="val 78505"/>
              </a:avLst>
            </a:prstGeom>
            <a:solidFill>
              <a:srgbClr val="DE006F"/>
            </a:solidFill>
            <a:ln w="2857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sp>
          <p:nvSpPr>
            <p:cNvPr id="150570" name="AutoShape 42"/>
            <p:cNvSpPr>
              <a:spLocks noChangeArrowheads="1"/>
            </p:cNvSpPr>
            <p:nvPr/>
          </p:nvSpPr>
          <p:spPr bwMode="auto">
            <a:xfrm>
              <a:off x="4774" y="1489"/>
              <a:ext cx="147" cy="442"/>
            </a:xfrm>
            <a:prstGeom prst="cloudCallout">
              <a:avLst>
                <a:gd name="adj1" fmla="val -79250"/>
                <a:gd name="adj2" fmla="val 78505"/>
              </a:avLst>
            </a:prstGeom>
            <a:solidFill>
              <a:srgbClr val="DE006F"/>
            </a:solidFill>
            <a:ln w="2857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graphicFrame>
          <p:nvGraphicFramePr>
            <p:cNvPr id="150573" name="Object 45"/>
            <p:cNvGraphicFramePr>
              <a:graphicFrameLocks noChangeAspect="1"/>
            </p:cNvGraphicFramePr>
            <p:nvPr/>
          </p:nvGraphicFramePr>
          <p:xfrm>
            <a:off x="3923" y="1171"/>
            <a:ext cx="176" cy="317"/>
          </p:xfrm>
          <a:graphic>
            <a:graphicData uri="http://schemas.openxmlformats.org/presentationml/2006/ole">
              <mc:AlternateContent xmlns:mc="http://schemas.openxmlformats.org/markup-compatibility/2006">
                <mc:Choice xmlns:v="urn:schemas-microsoft-com:vml" Requires="v">
                  <p:oleObj spid="_x0000_s44178" name="Equation" r:id="rId3" imgW="126720" imgH="228600" progId="Equation.DSMT4">
                    <p:embed/>
                  </p:oleObj>
                </mc:Choice>
                <mc:Fallback>
                  <p:oleObj name="Equation" r:id="rId3" imgW="126720" imgH="228600" progId="Equation.DSMT4">
                    <p:embed/>
                    <p:pic>
                      <p:nvPicPr>
                        <p:cNvPr id="150573" name="Object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 y="1171"/>
                          <a:ext cx="176"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0574" name="Object 46"/>
            <p:cNvGraphicFramePr>
              <a:graphicFrameLocks noChangeAspect="1"/>
            </p:cNvGraphicFramePr>
            <p:nvPr/>
          </p:nvGraphicFramePr>
          <p:xfrm>
            <a:off x="4776" y="1172"/>
            <a:ext cx="194" cy="317"/>
          </p:xfrm>
          <a:graphic>
            <a:graphicData uri="http://schemas.openxmlformats.org/presentationml/2006/ole">
              <mc:AlternateContent xmlns:mc="http://schemas.openxmlformats.org/markup-compatibility/2006">
                <mc:Choice xmlns:v="urn:schemas-microsoft-com:vml" Requires="v">
                  <p:oleObj spid="_x0000_s44179" name="Equation" r:id="rId5" imgW="139680" imgH="228600" progId="Equation.DSMT4">
                    <p:embed/>
                  </p:oleObj>
                </mc:Choice>
                <mc:Fallback>
                  <p:oleObj name="Equation" r:id="rId5" imgW="139680" imgH="228600" progId="Equation.DSMT4">
                    <p:embed/>
                    <p:pic>
                      <p:nvPicPr>
                        <p:cNvPr id="150574"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6" y="1172"/>
                          <a:ext cx="194"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0575" name="Object 47"/>
            <p:cNvGraphicFramePr>
              <a:graphicFrameLocks noChangeAspect="1"/>
            </p:cNvGraphicFramePr>
            <p:nvPr/>
          </p:nvGraphicFramePr>
          <p:xfrm>
            <a:off x="3830" y="2079"/>
            <a:ext cx="229" cy="317"/>
          </p:xfrm>
          <a:graphic>
            <a:graphicData uri="http://schemas.openxmlformats.org/presentationml/2006/ole">
              <mc:AlternateContent xmlns:mc="http://schemas.openxmlformats.org/markup-compatibility/2006">
                <mc:Choice xmlns:v="urn:schemas-microsoft-com:vml" Requires="v">
                  <p:oleObj spid="_x0000_s44180" name="Equation" r:id="rId7" imgW="164880" imgH="228600" progId="Equation.DSMT4">
                    <p:embed/>
                  </p:oleObj>
                </mc:Choice>
                <mc:Fallback>
                  <p:oleObj name="Equation" r:id="rId7" imgW="164880" imgH="228600" progId="Equation.DSMT4">
                    <p:embed/>
                    <p:pic>
                      <p:nvPicPr>
                        <p:cNvPr id="150575"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0" y="2079"/>
                          <a:ext cx="229"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0576" name="Object 48"/>
            <p:cNvGraphicFramePr>
              <a:graphicFrameLocks noChangeAspect="1"/>
            </p:cNvGraphicFramePr>
            <p:nvPr/>
          </p:nvGraphicFramePr>
          <p:xfrm>
            <a:off x="4694" y="2079"/>
            <a:ext cx="229" cy="317"/>
          </p:xfrm>
          <a:graphic>
            <a:graphicData uri="http://schemas.openxmlformats.org/presentationml/2006/ole">
              <mc:AlternateContent xmlns:mc="http://schemas.openxmlformats.org/markup-compatibility/2006">
                <mc:Choice xmlns:v="urn:schemas-microsoft-com:vml" Requires="v">
                  <p:oleObj spid="_x0000_s44181" name="Equation" r:id="rId9" imgW="164880" imgH="228600" progId="Equation.DSMT4">
                    <p:embed/>
                  </p:oleObj>
                </mc:Choice>
                <mc:Fallback>
                  <p:oleObj name="Equation" r:id="rId9" imgW="164880" imgH="228600" progId="Equation.DSMT4">
                    <p:embed/>
                    <p:pic>
                      <p:nvPicPr>
                        <p:cNvPr id="150576" name="Object 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4" y="2079"/>
                          <a:ext cx="229"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50588" name="Group 60"/>
          <p:cNvGrpSpPr>
            <a:grpSpLocks/>
          </p:cNvGrpSpPr>
          <p:nvPr/>
        </p:nvGrpSpPr>
        <p:grpSpPr bwMode="auto">
          <a:xfrm>
            <a:off x="5003800" y="3382963"/>
            <a:ext cx="3889375" cy="2328862"/>
            <a:chOff x="3197" y="2381"/>
            <a:chExt cx="2450" cy="1467"/>
          </a:xfrm>
        </p:grpSpPr>
        <p:sp>
          <p:nvSpPr>
            <p:cNvPr id="150555" name="Line 27"/>
            <p:cNvSpPr>
              <a:spLocks noChangeShapeType="1"/>
            </p:cNvSpPr>
            <p:nvPr/>
          </p:nvSpPr>
          <p:spPr bwMode="auto">
            <a:xfrm flipV="1">
              <a:off x="3379" y="2645"/>
              <a:ext cx="0" cy="96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56" name="Line 28"/>
            <p:cNvSpPr>
              <a:spLocks noChangeShapeType="1"/>
            </p:cNvSpPr>
            <p:nvPr/>
          </p:nvSpPr>
          <p:spPr bwMode="auto">
            <a:xfrm>
              <a:off x="3379" y="3605"/>
              <a:ext cx="2065" cy="0"/>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557" name="Text Box 29"/>
            <p:cNvSpPr txBox="1">
              <a:spLocks noChangeArrowheads="1"/>
            </p:cNvSpPr>
            <p:nvPr/>
          </p:nvSpPr>
          <p:spPr bwMode="auto">
            <a:xfrm>
              <a:off x="5420" y="3515"/>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x</a:t>
              </a:r>
            </a:p>
          </p:txBody>
        </p:sp>
        <p:sp>
          <p:nvSpPr>
            <p:cNvPr id="150558" name="Text Box 30"/>
            <p:cNvSpPr txBox="1">
              <a:spLocks noChangeArrowheads="1"/>
            </p:cNvSpPr>
            <p:nvPr/>
          </p:nvSpPr>
          <p:spPr bwMode="auto">
            <a:xfrm>
              <a:off x="3333" y="2381"/>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y</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50559" name="Text Box 31"/>
            <p:cNvSpPr txBox="1">
              <a:spLocks noChangeArrowheads="1"/>
            </p:cNvSpPr>
            <p:nvPr/>
          </p:nvSpPr>
          <p:spPr bwMode="auto">
            <a:xfrm>
              <a:off x="3197" y="3559"/>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FF0000"/>
                  </a:solidFill>
                  <a:effectLst/>
                  <a:latin typeface="Times New Roman" panose="02020603050405020304" pitchFamily="18" charset="0"/>
                  <a:ea typeface="宋体" panose="02010600030101010101" pitchFamily="2" charset="-122"/>
                </a:rPr>
                <a:t>O</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50560" name="Text Box 32"/>
            <p:cNvSpPr txBox="1">
              <a:spLocks noChangeArrowheads="1"/>
            </p:cNvSpPr>
            <p:nvPr/>
          </p:nvSpPr>
          <p:spPr bwMode="auto">
            <a:xfrm>
              <a:off x="3515" y="254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rgbClr val="FF0000"/>
                  </a:solidFill>
                  <a:effectLst/>
                  <a:latin typeface="Times New Roman" panose="02020603050405020304" pitchFamily="18" charset="0"/>
                  <a:ea typeface="宋体" panose="02010600030101010101" pitchFamily="2" charset="-122"/>
                </a:rPr>
                <a:t>S</a:t>
              </a:r>
              <a:endParaRPr lang="en-US" altLang="zh-CN" sz="2400">
                <a:solidFill>
                  <a:srgbClr val="FF0000"/>
                </a:solidFill>
                <a:effectLst/>
                <a:latin typeface="Times New Roman" panose="02020603050405020304" pitchFamily="18" charset="0"/>
                <a:ea typeface="宋体" panose="02010600030101010101" pitchFamily="2" charset="-122"/>
                <a:sym typeface="Symbol" panose="05050102010706020507" pitchFamily="18" charset="2"/>
              </a:endParaRPr>
            </a:p>
          </p:txBody>
        </p:sp>
        <p:sp>
          <p:nvSpPr>
            <p:cNvPr id="150566" name="Text Box 38"/>
            <p:cNvSpPr txBox="1">
              <a:spLocks noChangeArrowheads="1"/>
            </p:cNvSpPr>
            <p:nvPr/>
          </p:nvSpPr>
          <p:spPr bwMode="auto">
            <a:xfrm>
              <a:off x="3923" y="3560"/>
              <a:ext cx="4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x</a:t>
              </a:r>
              <a:r>
                <a:rPr lang="en-US" altLang="zh-CN" sz="2400" baseline="-25000">
                  <a:solidFill>
                    <a:srgbClr val="FF0000"/>
                  </a:solidFill>
                  <a:effectLst/>
                  <a:latin typeface="Times New Roman" panose="02020603050405020304" pitchFamily="18" charset="0"/>
                  <a:ea typeface="宋体" panose="02010600030101010101" pitchFamily="2" charset="-122"/>
                </a:rPr>
                <a:t>1</a:t>
              </a:r>
              <a:endParaRPr lang="en-US" altLang="zh-CN" sz="2400">
                <a:solidFill>
                  <a:srgbClr val="FF0000"/>
                </a:solidFill>
                <a:effectLst/>
                <a:latin typeface="Times New Roman" panose="02020603050405020304" pitchFamily="18" charset="0"/>
                <a:ea typeface="宋体" panose="02010600030101010101" pitchFamily="2" charset="-122"/>
              </a:endParaRPr>
            </a:p>
          </p:txBody>
        </p:sp>
        <p:sp>
          <p:nvSpPr>
            <p:cNvPr id="150567" name="Text Box 39"/>
            <p:cNvSpPr txBox="1">
              <a:spLocks noChangeArrowheads="1"/>
            </p:cNvSpPr>
            <p:nvPr/>
          </p:nvSpPr>
          <p:spPr bwMode="auto">
            <a:xfrm>
              <a:off x="4785" y="3550"/>
              <a:ext cx="4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x</a:t>
              </a:r>
              <a:r>
                <a:rPr lang="en-US" altLang="zh-CN" sz="2400" baseline="-25000">
                  <a:solidFill>
                    <a:srgbClr val="FF0000"/>
                  </a:solidFill>
                  <a:effectLst/>
                  <a:latin typeface="Times New Roman" panose="02020603050405020304" pitchFamily="18" charset="0"/>
                  <a:ea typeface="宋体" panose="02010600030101010101" pitchFamily="2" charset="-122"/>
                </a:rPr>
                <a:t>2</a:t>
              </a:r>
              <a:endParaRPr lang="en-US" altLang="zh-CN" sz="2400">
                <a:solidFill>
                  <a:srgbClr val="FF0000"/>
                </a:solidFill>
                <a:effectLst/>
                <a:latin typeface="Times New Roman" panose="02020603050405020304" pitchFamily="18" charset="0"/>
                <a:ea typeface="宋体" panose="02010600030101010101" pitchFamily="2" charset="-122"/>
              </a:endParaRPr>
            </a:p>
          </p:txBody>
        </p:sp>
        <p:sp>
          <p:nvSpPr>
            <p:cNvPr id="150571" name="AutoShape 43"/>
            <p:cNvSpPr>
              <a:spLocks noChangeArrowheads="1"/>
            </p:cNvSpPr>
            <p:nvPr/>
          </p:nvSpPr>
          <p:spPr bwMode="auto">
            <a:xfrm>
              <a:off x="4014" y="2997"/>
              <a:ext cx="147" cy="442"/>
            </a:xfrm>
            <a:prstGeom prst="cloudCallout">
              <a:avLst>
                <a:gd name="adj1" fmla="val -79250"/>
                <a:gd name="adj2" fmla="val 78505"/>
              </a:avLst>
            </a:prstGeom>
            <a:solidFill>
              <a:srgbClr val="DE006F"/>
            </a:solidFill>
            <a:ln w="2857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sp>
          <p:nvSpPr>
            <p:cNvPr id="150572" name="AutoShape 44"/>
            <p:cNvSpPr>
              <a:spLocks noChangeArrowheads="1"/>
            </p:cNvSpPr>
            <p:nvPr/>
          </p:nvSpPr>
          <p:spPr bwMode="auto">
            <a:xfrm>
              <a:off x="4865" y="2997"/>
              <a:ext cx="147" cy="442"/>
            </a:xfrm>
            <a:prstGeom prst="cloudCallout">
              <a:avLst>
                <a:gd name="adj1" fmla="val -79250"/>
                <a:gd name="adj2" fmla="val 78505"/>
              </a:avLst>
            </a:prstGeom>
            <a:solidFill>
              <a:srgbClr val="DE006F"/>
            </a:solidFill>
            <a:ln w="28575">
              <a:solidFill>
                <a:srgbClr val="FF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sz="2400">
                <a:effectLst/>
                <a:latin typeface="Times New Roman" panose="02020603050405020304" pitchFamily="18" charset="0"/>
                <a:ea typeface="宋体" panose="02010600030101010101" pitchFamily="2" charset="-122"/>
              </a:endParaRPr>
            </a:p>
          </p:txBody>
        </p:sp>
        <p:sp>
          <p:nvSpPr>
            <p:cNvPr id="150577" name="Text Box 49"/>
            <p:cNvSpPr txBox="1">
              <a:spLocks noChangeArrowheads="1"/>
            </p:cNvSpPr>
            <p:nvPr/>
          </p:nvSpPr>
          <p:spPr bwMode="auto">
            <a:xfrm>
              <a:off x="4014" y="2728"/>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t</a:t>
              </a:r>
              <a:r>
                <a:rPr lang="en-US" altLang="zh-CN" sz="2400" baseline="-25000">
                  <a:solidFill>
                    <a:srgbClr val="FF0000"/>
                  </a:solidFill>
                  <a:effectLst/>
                  <a:latin typeface="Times New Roman" panose="02020603050405020304" pitchFamily="18" charset="0"/>
                  <a:ea typeface="宋体" panose="02010600030101010101" pitchFamily="2" charset="-122"/>
                </a:rPr>
                <a:t>1</a:t>
              </a:r>
              <a:endParaRPr lang="zh-CN" altLang="en-US" sz="2400">
                <a:solidFill>
                  <a:srgbClr val="FF0000"/>
                </a:solidFill>
                <a:effectLst/>
                <a:latin typeface="Times New Roman" panose="02020603050405020304" pitchFamily="18" charset="0"/>
                <a:ea typeface="宋体" panose="02010600030101010101" pitchFamily="2" charset="-122"/>
              </a:endParaRPr>
            </a:p>
          </p:txBody>
        </p:sp>
        <p:sp>
          <p:nvSpPr>
            <p:cNvPr id="150578" name="Text Box 50"/>
            <p:cNvSpPr txBox="1">
              <a:spLocks noChangeArrowheads="1"/>
            </p:cNvSpPr>
            <p:nvPr/>
          </p:nvSpPr>
          <p:spPr bwMode="auto">
            <a:xfrm>
              <a:off x="4875" y="2712"/>
              <a:ext cx="4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a:solidFill>
                    <a:srgbClr val="FF0000"/>
                  </a:solidFill>
                  <a:effectLst/>
                  <a:latin typeface="Times New Roman" panose="02020603050405020304" pitchFamily="18" charset="0"/>
                  <a:ea typeface="宋体" panose="02010600030101010101" pitchFamily="2" charset="-122"/>
                </a:rPr>
                <a:t>t</a:t>
              </a:r>
              <a:r>
                <a:rPr lang="en-US" altLang="zh-CN" sz="2400" baseline="-25000">
                  <a:solidFill>
                    <a:srgbClr val="FF0000"/>
                  </a:solidFill>
                  <a:effectLst/>
                  <a:latin typeface="Times New Roman" panose="02020603050405020304" pitchFamily="18" charset="0"/>
                  <a:ea typeface="宋体" panose="02010600030101010101" pitchFamily="2" charset="-122"/>
                </a:rPr>
                <a:t>2</a:t>
              </a:r>
              <a:endParaRPr lang="zh-CN" altLang="en-US" sz="2400">
                <a:solidFill>
                  <a:srgbClr val="FF0000"/>
                </a:solidFill>
                <a:effectLst/>
                <a:latin typeface="Times New Roman" panose="02020603050405020304" pitchFamily="18" charset="0"/>
                <a:ea typeface="宋体" panose="02010600030101010101" pitchFamily="2" charset="-122"/>
              </a:endParaRPr>
            </a:p>
          </p:txBody>
        </p:sp>
      </p:grpSp>
      <p:graphicFrame>
        <p:nvGraphicFramePr>
          <p:cNvPr id="150580" name="Object 52"/>
          <p:cNvGraphicFramePr>
            <a:graphicFrameLocks noChangeAspect="1"/>
          </p:cNvGraphicFramePr>
          <p:nvPr/>
        </p:nvGraphicFramePr>
        <p:xfrm>
          <a:off x="684213" y="820738"/>
          <a:ext cx="3802062" cy="1455737"/>
        </p:xfrm>
        <a:graphic>
          <a:graphicData uri="http://schemas.openxmlformats.org/presentationml/2006/ole">
            <mc:AlternateContent xmlns:mc="http://schemas.openxmlformats.org/markup-compatibility/2006">
              <mc:Choice xmlns:v="urn:schemas-microsoft-com:vml" Requires="v">
                <p:oleObj spid="_x0000_s44182" name="Equation" r:id="rId11" imgW="1930320" imgH="736560" progId="Equation.DSMT4">
                  <p:embed/>
                </p:oleObj>
              </mc:Choice>
              <mc:Fallback>
                <p:oleObj name="Equation" r:id="rId11" imgW="1930320" imgH="736560" progId="Equation.DSMT4">
                  <p:embed/>
                  <p:pic>
                    <p:nvPicPr>
                      <p:cNvPr id="150580" name="Object 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820738"/>
                        <a:ext cx="3802062" cy="1455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0594" name="Group 66"/>
          <p:cNvGrpSpPr>
            <a:grpSpLocks/>
          </p:cNvGrpSpPr>
          <p:nvPr/>
        </p:nvGrpSpPr>
        <p:grpSpPr bwMode="auto">
          <a:xfrm>
            <a:off x="611188" y="2565400"/>
            <a:ext cx="4032250" cy="1025525"/>
            <a:chOff x="431" y="1559"/>
            <a:chExt cx="2676" cy="737"/>
          </a:xfrm>
        </p:grpSpPr>
        <p:graphicFrame>
          <p:nvGraphicFramePr>
            <p:cNvPr id="150581" name="Object 53"/>
            <p:cNvGraphicFramePr>
              <a:graphicFrameLocks noChangeAspect="1"/>
            </p:cNvGraphicFramePr>
            <p:nvPr/>
          </p:nvGraphicFramePr>
          <p:xfrm>
            <a:off x="431" y="1559"/>
            <a:ext cx="2676" cy="426"/>
          </p:xfrm>
          <a:graphic>
            <a:graphicData uri="http://schemas.openxmlformats.org/presentationml/2006/ole">
              <mc:AlternateContent xmlns:mc="http://schemas.openxmlformats.org/markup-compatibility/2006">
                <mc:Choice xmlns:v="urn:schemas-microsoft-com:vml" Requires="v">
                  <p:oleObj spid="_x0000_s44183" name="文档" r:id="rId13" imgW="1868176" imgH="305876" progId="Word.Document.8">
                    <p:embed/>
                  </p:oleObj>
                </mc:Choice>
                <mc:Fallback>
                  <p:oleObj name="文档" r:id="rId13" imgW="1868176" imgH="305876" progId="Word.Document.8">
                    <p:embed/>
                    <p:pic>
                      <p:nvPicPr>
                        <p:cNvPr id="150581" name="Object 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1" y="1559"/>
                          <a:ext cx="2676" cy="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0582" name="Object 54"/>
            <p:cNvGraphicFramePr>
              <a:graphicFrameLocks noChangeAspect="1"/>
            </p:cNvGraphicFramePr>
            <p:nvPr/>
          </p:nvGraphicFramePr>
          <p:xfrm>
            <a:off x="975" y="1855"/>
            <a:ext cx="1179" cy="441"/>
          </p:xfrm>
          <a:graphic>
            <a:graphicData uri="http://schemas.openxmlformats.org/presentationml/2006/ole">
              <mc:AlternateContent xmlns:mc="http://schemas.openxmlformats.org/markup-compatibility/2006">
                <mc:Choice xmlns:v="urn:schemas-microsoft-com:vml" Requires="v">
                  <p:oleObj spid="_x0000_s44184" name="Equation" r:id="rId15" imgW="622030" imgH="241195" progId="Equation.DSMT4">
                    <p:embed/>
                  </p:oleObj>
                </mc:Choice>
                <mc:Fallback>
                  <p:oleObj name="Equation" r:id="rId15" imgW="622030" imgH="241195" progId="Equation.DSMT4">
                    <p:embed/>
                    <p:pic>
                      <p:nvPicPr>
                        <p:cNvPr id="150582" name="Object 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5" y="1855"/>
                          <a:ext cx="1179" cy="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50593" name="Group 65"/>
          <p:cNvGrpSpPr>
            <a:grpSpLocks/>
          </p:cNvGrpSpPr>
          <p:nvPr/>
        </p:nvGrpSpPr>
        <p:grpSpPr bwMode="auto">
          <a:xfrm>
            <a:off x="668338" y="4264025"/>
            <a:ext cx="4191000" cy="1757363"/>
            <a:chOff x="421" y="2551"/>
            <a:chExt cx="2898" cy="1242"/>
          </a:xfrm>
        </p:grpSpPr>
        <p:graphicFrame>
          <p:nvGraphicFramePr>
            <p:cNvPr id="150584" name="Object 56"/>
            <p:cNvGraphicFramePr>
              <a:graphicFrameLocks noChangeAspect="1"/>
            </p:cNvGraphicFramePr>
            <p:nvPr/>
          </p:nvGraphicFramePr>
          <p:xfrm>
            <a:off x="421" y="2551"/>
            <a:ext cx="2898" cy="1024"/>
          </p:xfrm>
          <a:graphic>
            <a:graphicData uri="http://schemas.openxmlformats.org/presentationml/2006/ole">
              <mc:AlternateContent xmlns:mc="http://schemas.openxmlformats.org/markup-compatibility/2006">
                <mc:Choice xmlns:v="urn:schemas-microsoft-com:vml" Requires="v">
                  <p:oleObj spid="_x0000_s44185" name="文档" r:id="rId17" imgW="2116594" imgH="745977" progId="Word.Document.8">
                    <p:embed/>
                  </p:oleObj>
                </mc:Choice>
                <mc:Fallback>
                  <p:oleObj name="文档" r:id="rId17" imgW="2116594" imgH="745977" progId="Word.Document.8">
                    <p:embed/>
                    <p:pic>
                      <p:nvPicPr>
                        <p:cNvPr id="150584" name="Object 5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1" y="2551"/>
                          <a:ext cx="2898"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0585" name="Object 57"/>
            <p:cNvGraphicFramePr>
              <a:graphicFrameLocks noChangeAspect="1"/>
            </p:cNvGraphicFramePr>
            <p:nvPr/>
          </p:nvGraphicFramePr>
          <p:xfrm>
            <a:off x="930" y="3378"/>
            <a:ext cx="1088" cy="415"/>
          </p:xfrm>
          <a:graphic>
            <a:graphicData uri="http://schemas.openxmlformats.org/presentationml/2006/ole">
              <mc:AlternateContent xmlns:mc="http://schemas.openxmlformats.org/markup-compatibility/2006">
                <mc:Choice xmlns:v="urn:schemas-microsoft-com:vml" Requires="v">
                  <p:oleObj spid="_x0000_s44186" name="Equation" r:id="rId19" imgW="622080" imgH="241200" progId="Equation.DSMT4">
                    <p:embed/>
                  </p:oleObj>
                </mc:Choice>
                <mc:Fallback>
                  <p:oleObj name="Equation" r:id="rId19" imgW="622080" imgH="241200" progId="Equation.DSMT4">
                    <p:embed/>
                    <p:pic>
                      <p:nvPicPr>
                        <p:cNvPr id="150585" name="Object 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30" y="3378"/>
                          <a:ext cx="1088" cy="4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50591" name="Text Box 63"/>
          <p:cNvSpPr txBox="1">
            <a:spLocks noChangeArrowheads="1"/>
          </p:cNvSpPr>
          <p:nvPr/>
        </p:nvSpPr>
        <p:spPr bwMode="auto">
          <a:xfrm>
            <a:off x="684213" y="3573463"/>
            <a:ext cx="49530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a:solidFill>
                  <a:srgbClr val="0000FF"/>
                </a:solidFill>
                <a:effectLst/>
                <a:latin typeface="Times New Roman" panose="02020603050405020304" pitchFamily="18" charset="0"/>
              </a:rPr>
              <a:t>——</a:t>
            </a:r>
            <a:r>
              <a:rPr kumimoji="1" lang="zh-CN" altLang="en-US" sz="2400" b="1">
                <a:solidFill>
                  <a:srgbClr val="0000FF"/>
                </a:solidFill>
                <a:effectLst/>
                <a:latin typeface="楷体_GB2312" pitchFamily="49" charset="-122"/>
              </a:rPr>
              <a:t>事件的先后顺序可能倒置</a:t>
            </a:r>
            <a:r>
              <a:rPr kumimoji="1" lang="en-US" altLang="zh-CN" sz="2400" b="1">
                <a:solidFill>
                  <a:srgbClr val="0000FF"/>
                </a:solidFill>
                <a:effectLst/>
                <a:latin typeface="楷体_GB2312" pitchFamily="49" charset="-122"/>
              </a:rPr>
              <a:t>!</a:t>
            </a:r>
          </a:p>
        </p:txBody>
      </p:sp>
      <p:sp>
        <p:nvSpPr>
          <p:cNvPr id="150592" name="Text Box 64"/>
          <p:cNvSpPr txBox="1">
            <a:spLocks noChangeArrowheads="1"/>
          </p:cNvSpPr>
          <p:nvPr/>
        </p:nvSpPr>
        <p:spPr bwMode="auto">
          <a:xfrm>
            <a:off x="684213" y="6092825"/>
            <a:ext cx="6192837"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dirty="0" smtClean="0">
                <a:solidFill>
                  <a:srgbClr val="0000FF"/>
                </a:solidFill>
                <a:effectLst/>
                <a:latin typeface="Times New Roman" panose="02020603050405020304" pitchFamily="18" charset="0"/>
              </a:rPr>
              <a:t>——</a:t>
            </a:r>
            <a:r>
              <a:rPr kumimoji="1" lang="zh-CN" altLang="en-US" sz="2400" b="1" dirty="0">
                <a:solidFill>
                  <a:srgbClr val="0000FF"/>
                </a:solidFill>
                <a:latin typeface="Times New Roman" panose="02020603050405020304" pitchFamily="18" charset="0"/>
              </a:rPr>
              <a:t>有</a:t>
            </a:r>
            <a:r>
              <a:rPr kumimoji="1" lang="zh-CN" altLang="en-US" sz="2400" b="1" dirty="0" smtClean="0">
                <a:solidFill>
                  <a:srgbClr val="0000FF"/>
                </a:solidFill>
                <a:effectLst/>
                <a:latin typeface="楷体_GB2312" pitchFamily="49" charset="-122"/>
              </a:rPr>
              <a:t>因果</a:t>
            </a:r>
            <a:r>
              <a:rPr kumimoji="1" lang="zh-CN" altLang="en-US" sz="2400" b="1" dirty="0">
                <a:solidFill>
                  <a:srgbClr val="0000FF"/>
                </a:solidFill>
                <a:effectLst/>
                <a:latin typeface="楷体_GB2312" pitchFamily="49" charset="-122"/>
              </a:rPr>
              <a:t>关系事件先后顺序不可能倒置！</a:t>
            </a:r>
          </a:p>
        </p:txBody>
      </p:sp>
    </p:spTree>
    <p:extLst>
      <p:ext uri="{BB962C8B-B14F-4D97-AF65-F5344CB8AC3E}">
        <p14:creationId xmlns:p14="http://schemas.microsoft.com/office/powerpoint/2010/main" val="36869766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50587"/>
                                        </p:tgtEl>
                                        <p:attrNameLst>
                                          <p:attrName>style.visibility</p:attrName>
                                        </p:attrNameLst>
                                      </p:cBhvr>
                                      <p:to>
                                        <p:strVal val="visible"/>
                                      </p:to>
                                    </p:set>
                                    <p:animEffect transition="in" filter="slide(fromBottom)">
                                      <p:cBhvr>
                                        <p:cTn id="7" dur="500"/>
                                        <p:tgtEl>
                                          <p:spTgt spid="150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50588"/>
                                        </p:tgtEl>
                                        <p:attrNameLst>
                                          <p:attrName>style.visibility</p:attrName>
                                        </p:attrNameLst>
                                      </p:cBhvr>
                                      <p:to>
                                        <p:strVal val="visible"/>
                                      </p:to>
                                    </p:set>
                                    <p:animEffect transition="in" filter="slide(fromBottom)">
                                      <p:cBhvr>
                                        <p:cTn id="12" dur="500"/>
                                        <p:tgtEl>
                                          <p:spTgt spid="1505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50580"/>
                                        </p:tgtEl>
                                        <p:attrNameLst>
                                          <p:attrName>style.visibility</p:attrName>
                                        </p:attrNameLst>
                                      </p:cBhvr>
                                      <p:to>
                                        <p:strVal val="visible"/>
                                      </p:to>
                                    </p:set>
                                    <p:anim calcmode="lin" valueType="num">
                                      <p:cBhvr additive="base">
                                        <p:cTn id="17" dur="500" fill="hold"/>
                                        <p:tgtEl>
                                          <p:spTgt spid="150580"/>
                                        </p:tgtEl>
                                        <p:attrNameLst>
                                          <p:attrName>ppt_x</p:attrName>
                                        </p:attrNameLst>
                                      </p:cBhvr>
                                      <p:tavLst>
                                        <p:tav tm="0">
                                          <p:val>
                                            <p:strVal val="#ppt_x"/>
                                          </p:val>
                                        </p:tav>
                                        <p:tav tm="100000">
                                          <p:val>
                                            <p:strVal val="#ppt_x"/>
                                          </p:val>
                                        </p:tav>
                                      </p:tavLst>
                                    </p:anim>
                                    <p:anim calcmode="lin" valueType="num">
                                      <p:cBhvr additive="base">
                                        <p:cTn id="18" dur="500" fill="hold"/>
                                        <p:tgtEl>
                                          <p:spTgt spid="150580"/>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ntr" presetSubtype="16" fill="hold" nodeType="clickEffect">
                                  <p:stCondLst>
                                    <p:cond delay="0"/>
                                  </p:stCondLst>
                                  <p:childTnLst>
                                    <p:set>
                                      <p:cBhvr>
                                        <p:cTn id="22" dur="1" fill="hold">
                                          <p:stCondLst>
                                            <p:cond delay="0"/>
                                          </p:stCondLst>
                                        </p:cTn>
                                        <p:tgtEl>
                                          <p:spTgt spid="150594"/>
                                        </p:tgtEl>
                                        <p:attrNameLst>
                                          <p:attrName>style.visibility</p:attrName>
                                        </p:attrNameLst>
                                      </p:cBhvr>
                                      <p:to>
                                        <p:strVal val="visible"/>
                                      </p:to>
                                    </p:set>
                                    <p:animEffect transition="in" filter="diamond(in)">
                                      <p:cBhvr>
                                        <p:cTn id="23" dur="1000"/>
                                        <p:tgtEl>
                                          <p:spTgt spid="15059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50591"/>
                                        </p:tgtEl>
                                        <p:attrNameLst>
                                          <p:attrName>style.visibility</p:attrName>
                                        </p:attrNameLst>
                                      </p:cBhvr>
                                      <p:to>
                                        <p:strVal val="visible"/>
                                      </p:to>
                                    </p:set>
                                    <p:anim calcmode="lin" valueType="num">
                                      <p:cBhvr>
                                        <p:cTn id="28" dur="500" fill="hold"/>
                                        <p:tgtEl>
                                          <p:spTgt spid="150591"/>
                                        </p:tgtEl>
                                        <p:attrNameLst>
                                          <p:attrName>ppt_w</p:attrName>
                                        </p:attrNameLst>
                                      </p:cBhvr>
                                      <p:tavLst>
                                        <p:tav tm="0">
                                          <p:val>
                                            <p:fltVal val="0"/>
                                          </p:val>
                                        </p:tav>
                                        <p:tav tm="100000">
                                          <p:val>
                                            <p:strVal val="#ppt_w"/>
                                          </p:val>
                                        </p:tav>
                                      </p:tavLst>
                                    </p:anim>
                                    <p:anim calcmode="lin" valueType="num">
                                      <p:cBhvr>
                                        <p:cTn id="29" dur="500" fill="hold"/>
                                        <p:tgtEl>
                                          <p:spTgt spid="150591"/>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150593"/>
                                        </p:tgtEl>
                                        <p:attrNameLst>
                                          <p:attrName>style.visibility</p:attrName>
                                        </p:attrNameLst>
                                      </p:cBhvr>
                                      <p:to>
                                        <p:strVal val="visible"/>
                                      </p:to>
                                    </p:set>
                                    <p:animEffect transition="in" filter="checkerboard(across)">
                                      <p:cBhvr>
                                        <p:cTn id="34" dur="500"/>
                                        <p:tgtEl>
                                          <p:spTgt spid="15059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150592"/>
                                        </p:tgtEl>
                                        <p:attrNameLst>
                                          <p:attrName>style.visibility</p:attrName>
                                        </p:attrNameLst>
                                      </p:cBhvr>
                                      <p:to>
                                        <p:strVal val="visible"/>
                                      </p:to>
                                    </p:set>
                                    <p:anim calcmode="lin" valueType="num">
                                      <p:cBhvr>
                                        <p:cTn id="39" dur="500" fill="hold"/>
                                        <p:tgtEl>
                                          <p:spTgt spid="150592"/>
                                        </p:tgtEl>
                                        <p:attrNameLst>
                                          <p:attrName>ppt_w</p:attrName>
                                        </p:attrNameLst>
                                      </p:cBhvr>
                                      <p:tavLst>
                                        <p:tav tm="0">
                                          <p:val>
                                            <p:fltVal val="0"/>
                                          </p:val>
                                        </p:tav>
                                        <p:tav tm="100000">
                                          <p:val>
                                            <p:strVal val="#ppt_w"/>
                                          </p:val>
                                        </p:tav>
                                      </p:tavLst>
                                    </p:anim>
                                    <p:anim calcmode="lin" valueType="num">
                                      <p:cBhvr>
                                        <p:cTn id="40" dur="500" fill="hold"/>
                                        <p:tgtEl>
                                          <p:spTgt spid="15059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91" grpId="0"/>
      <p:bldP spid="15059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5" name="Rectangle 11"/>
          <p:cNvSpPr>
            <a:spLocks noChangeArrowheads="1"/>
          </p:cNvSpPr>
          <p:nvPr/>
        </p:nvSpPr>
        <p:spPr bwMode="auto">
          <a:xfrm>
            <a:off x="539750" y="362099"/>
            <a:ext cx="23519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a:solidFill>
                  <a:srgbClr val="FF0000"/>
                </a:solidFill>
                <a:effectLst/>
                <a:latin typeface="黑体" panose="02010609060101010101" pitchFamily="49" charset="-122"/>
                <a:ea typeface="黑体" panose="02010609060101010101" pitchFamily="49" charset="-122"/>
              </a:rPr>
              <a:t>例</a:t>
            </a:r>
            <a:r>
              <a:rPr kumimoji="1" lang="en-US" altLang="zh-CN" sz="2400" b="1">
                <a:solidFill>
                  <a:srgbClr val="FF0000"/>
                </a:solidFill>
                <a:effectLst/>
                <a:latin typeface="黑体" panose="02010609060101010101" pitchFamily="49" charset="-122"/>
                <a:ea typeface="黑体" panose="02010609060101010101" pitchFamily="49" charset="-122"/>
              </a:rPr>
              <a:t> </a:t>
            </a:r>
            <a:r>
              <a:rPr kumimoji="1" lang="zh-CN" altLang="en-US" sz="2400" b="1">
                <a:solidFill>
                  <a:srgbClr val="FF0000"/>
                </a:solidFill>
                <a:effectLst/>
                <a:latin typeface="黑体" panose="02010609060101010101" pitchFamily="49" charset="-122"/>
                <a:ea typeface="黑体" panose="02010609060101010101" pitchFamily="49" charset="-122"/>
              </a:rPr>
              <a:t>谁先动手： </a:t>
            </a:r>
          </a:p>
        </p:txBody>
      </p:sp>
      <p:sp>
        <p:nvSpPr>
          <p:cNvPr id="47118" name="Text Box 14"/>
          <p:cNvSpPr txBox="1">
            <a:spLocks noChangeArrowheads="1"/>
          </p:cNvSpPr>
          <p:nvPr/>
        </p:nvSpPr>
        <p:spPr bwMode="auto">
          <a:xfrm>
            <a:off x="684213" y="1125538"/>
            <a:ext cx="7991475" cy="1903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lang="zh-CN" altLang="en-US" sz="2400" b="1">
                <a:solidFill>
                  <a:srgbClr val="000066"/>
                </a:solidFill>
                <a:effectLst/>
                <a:latin typeface="Times New Roman" panose="02020603050405020304" pitchFamily="18" charset="0"/>
              </a:rPr>
              <a:t>在一节长为</a:t>
            </a:r>
            <a:r>
              <a:rPr lang="en-US" altLang="zh-CN" sz="2400" b="1">
                <a:solidFill>
                  <a:srgbClr val="000066"/>
                </a:solidFill>
                <a:effectLst/>
                <a:latin typeface="Times New Roman" panose="02020603050405020304" pitchFamily="18" charset="0"/>
              </a:rPr>
              <a:t>100</a:t>
            </a:r>
            <a:r>
              <a:rPr lang="zh-CN" altLang="en-US" sz="2400" b="1">
                <a:solidFill>
                  <a:srgbClr val="000066"/>
                </a:solidFill>
                <a:effectLst/>
                <a:latin typeface="Times New Roman" panose="02020603050405020304" pitchFamily="18" charset="0"/>
              </a:rPr>
              <a:t>米的车厢里，</a:t>
            </a:r>
            <a:r>
              <a:rPr lang="en-US" altLang="zh-CN" sz="2400" b="1">
                <a:solidFill>
                  <a:srgbClr val="000066"/>
                </a:solidFill>
                <a:effectLst/>
                <a:latin typeface="Times New Roman" panose="02020603050405020304" pitchFamily="18" charset="0"/>
              </a:rPr>
              <a:t>A</a:t>
            </a:r>
            <a:r>
              <a:rPr lang="zh-CN" altLang="en-US" sz="2400" b="1">
                <a:solidFill>
                  <a:srgbClr val="000066"/>
                </a:solidFill>
                <a:effectLst/>
                <a:latin typeface="Times New Roman" panose="02020603050405020304" pitchFamily="18" charset="0"/>
              </a:rPr>
              <a:t>在车厢尾，</a:t>
            </a:r>
            <a:r>
              <a:rPr lang="en-US" altLang="zh-CN" sz="2400" b="1">
                <a:solidFill>
                  <a:srgbClr val="000066"/>
                </a:solidFill>
                <a:effectLst/>
                <a:latin typeface="Times New Roman" panose="02020603050405020304" pitchFamily="18" charset="0"/>
              </a:rPr>
              <a:t>B</a:t>
            </a:r>
            <a:r>
              <a:rPr lang="zh-CN" altLang="en-US" sz="2400" b="1">
                <a:solidFill>
                  <a:srgbClr val="000066"/>
                </a:solidFill>
                <a:effectLst/>
                <a:latin typeface="Times New Roman" panose="02020603050405020304" pitchFamily="18" charset="0"/>
              </a:rPr>
              <a:t>在车厢头。火车以</a:t>
            </a:r>
            <a:r>
              <a:rPr lang="en-US" altLang="zh-CN" sz="2400" b="1">
                <a:solidFill>
                  <a:srgbClr val="000066"/>
                </a:solidFill>
                <a:effectLst/>
                <a:latin typeface="Times New Roman" panose="02020603050405020304" pitchFamily="18" charset="0"/>
              </a:rPr>
              <a:t>0.6</a:t>
            </a:r>
            <a:r>
              <a:rPr lang="en-US" altLang="zh-CN" sz="2400" b="1" i="1">
                <a:solidFill>
                  <a:srgbClr val="000066"/>
                </a:solidFill>
                <a:effectLst/>
                <a:latin typeface="Times New Roman" panose="02020603050405020304" pitchFamily="18" charset="0"/>
              </a:rPr>
              <a:t>c</a:t>
            </a:r>
            <a:r>
              <a:rPr lang="zh-CN" altLang="en-US" sz="2400" b="1">
                <a:solidFill>
                  <a:srgbClr val="000066"/>
                </a:solidFill>
                <a:effectLst/>
                <a:latin typeface="Times New Roman" panose="02020603050405020304" pitchFamily="18" charset="0"/>
              </a:rPr>
              <a:t>的速度驶过一个站台时，站台上的人先看到</a:t>
            </a:r>
            <a:r>
              <a:rPr lang="en-US" altLang="zh-CN" sz="2400" b="1">
                <a:solidFill>
                  <a:srgbClr val="000066"/>
                </a:solidFill>
                <a:effectLst/>
                <a:latin typeface="Times New Roman" panose="02020603050405020304" pitchFamily="18" charset="0"/>
              </a:rPr>
              <a:t>A</a:t>
            </a:r>
            <a:r>
              <a:rPr lang="zh-CN" altLang="en-US" sz="2400" b="1">
                <a:solidFill>
                  <a:srgbClr val="000066"/>
                </a:solidFill>
                <a:effectLst/>
                <a:latin typeface="Times New Roman" panose="02020603050405020304" pitchFamily="18" charset="0"/>
              </a:rPr>
              <a:t>向</a:t>
            </a:r>
            <a:r>
              <a:rPr lang="en-US" altLang="zh-CN" sz="2400" b="1">
                <a:solidFill>
                  <a:srgbClr val="000066"/>
                </a:solidFill>
                <a:effectLst/>
                <a:latin typeface="Times New Roman" panose="02020603050405020304" pitchFamily="18" charset="0"/>
              </a:rPr>
              <a:t>B</a:t>
            </a:r>
            <a:r>
              <a:rPr lang="zh-CN" altLang="en-US" sz="2400" b="1">
                <a:solidFill>
                  <a:srgbClr val="000066"/>
                </a:solidFill>
                <a:effectLst/>
                <a:latin typeface="Times New Roman" panose="02020603050405020304" pitchFamily="18" charset="0"/>
              </a:rPr>
              <a:t>开枪，过了</a:t>
            </a:r>
            <a:r>
              <a:rPr lang="en-US" altLang="zh-CN" sz="2400" b="1">
                <a:solidFill>
                  <a:srgbClr val="000066"/>
                </a:solidFill>
                <a:effectLst/>
                <a:latin typeface="Times New Roman" panose="02020603050405020304" pitchFamily="18" charset="0"/>
              </a:rPr>
              <a:t>0.125</a:t>
            </a:r>
            <a:r>
              <a:rPr lang="zh-CN" altLang="en-US" sz="2400" b="1">
                <a:solidFill>
                  <a:srgbClr val="000066"/>
                </a:solidFill>
                <a:effectLst/>
                <a:latin typeface="Times New Roman" panose="02020603050405020304" pitchFamily="18" charset="0"/>
              </a:rPr>
              <a:t>微秒后，</a:t>
            </a:r>
            <a:r>
              <a:rPr lang="en-US" altLang="zh-CN" sz="2400" b="1">
                <a:solidFill>
                  <a:srgbClr val="000066"/>
                </a:solidFill>
                <a:effectLst/>
                <a:latin typeface="Times New Roman" panose="02020603050405020304" pitchFamily="18" charset="0"/>
              </a:rPr>
              <a:t>B</a:t>
            </a:r>
            <a:r>
              <a:rPr lang="zh-CN" altLang="en-US" sz="2400" b="1">
                <a:solidFill>
                  <a:srgbClr val="000066"/>
                </a:solidFill>
                <a:effectLst/>
                <a:latin typeface="Times New Roman" panose="02020603050405020304" pitchFamily="18" charset="0"/>
              </a:rPr>
              <a:t>向</a:t>
            </a:r>
            <a:r>
              <a:rPr lang="en-US" altLang="zh-CN" sz="2400" b="1">
                <a:solidFill>
                  <a:srgbClr val="000066"/>
                </a:solidFill>
                <a:effectLst/>
                <a:latin typeface="Times New Roman" panose="02020603050405020304" pitchFamily="18" charset="0"/>
              </a:rPr>
              <a:t>A</a:t>
            </a:r>
            <a:r>
              <a:rPr lang="zh-CN" altLang="en-US" sz="2400" b="1">
                <a:solidFill>
                  <a:srgbClr val="000066"/>
                </a:solidFill>
                <a:effectLst/>
                <a:latin typeface="Times New Roman" panose="02020603050405020304" pitchFamily="18" charset="0"/>
              </a:rPr>
              <a:t>开枪。问：在车上的乘客看来，是谁先开枪？两人开枪的时间差为多少？</a:t>
            </a:r>
          </a:p>
        </p:txBody>
      </p:sp>
      <p:grpSp>
        <p:nvGrpSpPr>
          <p:cNvPr id="47126" name="Group 22"/>
          <p:cNvGrpSpPr>
            <a:grpSpLocks/>
          </p:cNvGrpSpPr>
          <p:nvPr/>
        </p:nvGrpSpPr>
        <p:grpSpPr bwMode="auto">
          <a:xfrm>
            <a:off x="1979613" y="4149725"/>
            <a:ext cx="5976937" cy="2047875"/>
            <a:chOff x="1292" y="2684"/>
            <a:chExt cx="3765" cy="1290"/>
          </a:xfrm>
        </p:grpSpPr>
        <p:sp>
          <p:nvSpPr>
            <p:cNvPr id="47119" name="Rectangle 15"/>
            <p:cNvSpPr>
              <a:spLocks noChangeArrowheads="1"/>
            </p:cNvSpPr>
            <p:nvPr/>
          </p:nvSpPr>
          <p:spPr bwMode="auto">
            <a:xfrm>
              <a:off x="1292" y="3158"/>
              <a:ext cx="3765" cy="544"/>
            </a:xfrm>
            <a:prstGeom prst="rect">
              <a:avLst/>
            </a:prstGeom>
            <a:noFill/>
            <a:ln w="19050">
              <a:solidFill>
                <a:srgbClr val="000066"/>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7120" name="Oval 16"/>
            <p:cNvSpPr>
              <a:spLocks noChangeArrowheads="1"/>
            </p:cNvSpPr>
            <p:nvPr/>
          </p:nvSpPr>
          <p:spPr bwMode="auto">
            <a:xfrm>
              <a:off x="1882" y="3702"/>
              <a:ext cx="272" cy="272"/>
            </a:xfrm>
            <a:prstGeom prst="ellipse">
              <a:avLst/>
            </a:prstGeom>
            <a:noFill/>
            <a:ln w="19050">
              <a:solidFill>
                <a:srgbClr val="000066"/>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7121" name="Oval 17"/>
            <p:cNvSpPr>
              <a:spLocks noChangeArrowheads="1"/>
            </p:cNvSpPr>
            <p:nvPr/>
          </p:nvSpPr>
          <p:spPr bwMode="auto">
            <a:xfrm>
              <a:off x="4241" y="3702"/>
              <a:ext cx="272" cy="272"/>
            </a:xfrm>
            <a:prstGeom prst="ellipse">
              <a:avLst/>
            </a:prstGeom>
            <a:noFill/>
            <a:ln w="19050">
              <a:solidFill>
                <a:srgbClr val="000066"/>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47122" name="Text Box 18"/>
            <p:cNvSpPr txBox="1">
              <a:spLocks noChangeArrowheads="1"/>
            </p:cNvSpPr>
            <p:nvPr/>
          </p:nvSpPr>
          <p:spPr bwMode="auto">
            <a:xfrm>
              <a:off x="1326" y="3228"/>
              <a:ext cx="2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66"/>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ffectLst>
                    <a:outerShdw blurRad="38100" dist="38100" dir="2700000" algn="tl">
                      <a:srgbClr val="000000"/>
                    </a:outerShdw>
                  </a:effectLst>
                </a:rPr>
                <a:t>A</a:t>
              </a:r>
            </a:p>
          </p:txBody>
        </p:sp>
        <p:sp>
          <p:nvSpPr>
            <p:cNvPr id="47123" name="Text Box 19"/>
            <p:cNvSpPr txBox="1">
              <a:spLocks noChangeArrowheads="1"/>
            </p:cNvSpPr>
            <p:nvPr/>
          </p:nvSpPr>
          <p:spPr bwMode="auto">
            <a:xfrm>
              <a:off x="4785" y="3249"/>
              <a:ext cx="2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66"/>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ffectLst>
                    <a:outerShdw blurRad="38100" dist="38100" dir="2700000" algn="tl">
                      <a:srgbClr val="000000"/>
                    </a:outerShdw>
                  </a:effectLst>
                </a:rPr>
                <a:t>B</a:t>
              </a:r>
            </a:p>
          </p:txBody>
        </p:sp>
        <p:sp>
          <p:nvSpPr>
            <p:cNvPr id="47124" name="Line 20"/>
            <p:cNvSpPr>
              <a:spLocks noChangeShapeType="1"/>
            </p:cNvSpPr>
            <p:nvPr/>
          </p:nvSpPr>
          <p:spPr bwMode="auto">
            <a:xfrm>
              <a:off x="2200" y="2931"/>
              <a:ext cx="1859" cy="0"/>
            </a:xfrm>
            <a:prstGeom prst="line">
              <a:avLst/>
            </a:prstGeom>
            <a:noFill/>
            <a:ln w="19050">
              <a:solidFill>
                <a:srgbClr val="00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25" name="Text Box 21"/>
            <p:cNvSpPr txBox="1">
              <a:spLocks noChangeArrowheads="1"/>
            </p:cNvSpPr>
            <p:nvPr/>
          </p:nvSpPr>
          <p:spPr bwMode="auto">
            <a:xfrm>
              <a:off x="4093" y="2684"/>
              <a:ext cx="6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66"/>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ffectLst>
                    <a:outerShdw blurRad="38100" dist="38100" dir="2700000" algn="tl">
                      <a:srgbClr val="000000"/>
                    </a:outerShdw>
                  </a:effectLst>
                </a:rPr>
                <a:t>0.6 c</a:t>
              </a:r>
            </a:p>
          </p:txBody>
        </p:sp>
      </p:grpSp>
    </p:spTree>
    <p:extLst>
      <p:ext uri="{BB962C8B-B14F-4D97-AF65-F5344CB8AC3E}">
        <p14:creationId xmlns:p14="http://schemas.microsoft.com/office/powerpoint/2010/main" val="124195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7118"/>
                                        </p:tgtEl>
                                        <p:attrNameLst>
                                          <p:attrName>style.visibility</p:attrName>
                                        </p:attrNameLst>
                                      </p:cBhvr>
                                      <p:to>
                                        <p:strVal val="visible"/>
                                      </p:to>
                                    </p:set>
                                    <p:animEffect transition="in" filter="diamond(in)">
                                      <p:cBhvr>
                                        <p:cTn id="7" dur="500"/>
                                        <p:tgtEl>
                                          <p:spTgt spid="471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7126"/>
                                        </p:tgtEl>
                                        <p:attrNameLst>
                                          <p:attrName>style.visibility</p:attrName>
                                        </p:attrNameLst>
                                      </p:cBhvr>
                                      <p:to>
                                        <p:strVal val="visible"/>
                                      </p:to>
                                    </p:set>
                                    <p:anim calcmode="lin" valueType="num">
                                      <p:cBhvr additive="base">
                                        <p:cTn id="12" dur="500" fill="hold"/>
                                        <p:tgtEl>
                                          <p:spTgt spid="47126"/>
                                        </p:tgtEl>
                                        <p:attrNameLst>
                                          <p:attrName>ppt_x</p:attrName>
                                        </p:attrNameLst>
                                      </p:cBhvr>
                                      <p:tavLst>
                                        <p:tav tm="0">
                                          <p:val>
                                            <p:strVal val="#ppt_x"/>
                                          </p:val>
                                        </p:tav>
                                        <p:tav tm="100000">
                                          <p:val>
                                            <p:strVal val="#ppt_x"/>
                                          </p:val>
                                        </p:tav>
                                      </p:tavLst>
                                    </p:anim>
                                    <p:anim calcmode="lin" valueType="num">
                                      <p:cBhvr additive="base">
                                        <p:cTn id="13" dur="500" fill="hold"/>
                                        <p:tgtEl>
                                          <p:spTgt spid="471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6980" name="Object 4"/>
          <p:cNvGraphicFramePr>
            <a:graphicFrameLocks noChangeAspect="1"/>
          </p:cNvGraphicFramePr>
          <p:nvPr/>
        </p:nvGraphicFramePr>
        <p:xfrm>
          <a:off x="754063" y="1636713"/>
          <a:ext cx="8355012" cy="4672012"/>
        </p:xfrm>
        <a:graphic>
          <a:graphicData uri="http://schemas.openxmlformats.org/presentationml/2006/ole">
            <mc:AlternateContent xmlns:mc="http://schemas.openxmlformats.org/markup-compatibility/2006">
              <mc:Choice xmlns:v="urn:schemas-microsoft-com:vml" Requires="v">
                <p:oleObj spid="_x0000_s45073" name="文档" r:id="rId3" imgW="3903043" imgH="2168839" progId="Word.Document.8">
                  <p:embed/>
                </p:oleObj>
              </mc:Choice>
              <mc:Fallback>
                <p:oleObj name="文档" r:id="rId3" imgW="3903043" imgH="2168839" progId="Word.Document.8">
                  <p:embed/>
                  <p:pic>
                    <p:nvPicPr>
                      <p:cNvPr id="1269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063" y="1636713"/>
                        <a:ext cx="8355012" cy="467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6981" name="Rectangle 5"/>
          <p:cNvSpPr>
            <a:spLocks noChangeArrowheads="1"/>
          </p:cNvSpPr>
          <p:nvPr/>
        </p:nvSpPr>
        <p:spPr bwMode="auto">
          <a:xfrm>
            <a:off x="611188" y="840830"/>
            <a:ext cx="728757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000" b="1" dirty="0">
                <a:solidFill>
                  <a:srgbClr val="FF0000"/>
                </a:solidFill>
                <a:effectLst/>
                <a:latin typeface="Times New Roman" panose="02020603050405020304" pitchFamily="18" charset="0"/>
                <a:ea typeface="宋体" panose="02010600030101010101" pitchFamily="2" charset="-122"/>
              </a:rPr>
              <a:t>解：</a:t>
            </a:r>
            <a:r>
              <a:rPr kumimoji="1" lang="zh-CN" altLang="en-US" sz="2400" b="1" dirty="0">
                <a:effectLst/>
                <a:latin typeface="Times New Roman" panose="02020603050405020304" pitchFamily="18" charset="0"/>
                <a:ea typeface="宋体" panose="02010600030101010101" pitchFamily="2" charset="-122"/>
              </a:rPr>
              <a:t>设站台上的人看到</a:t>
            </a:r>
            <a:r>
              <a:rPr kumimoji="1" lang="en-US" altLang="zh-CN" sz="2400" b="1" dirty="0">
                <a:effectLst/>
                <a:latin typeface="Times New Roman" panose="02020603050405020304" pitchFamily="18" charset="0"/>
                <a:ea typeface="宋体" panose="02010600030101010101" pitchFamily="2" charset="-122"/>
              </a:rPr>
              <a:t>A</a:t>
            </a:r>
            <a:r>
              <a:rPr kumimoji="1" lang="zh-CN" altLang="en-US" sz="2400" b="1" dirty="0">
                <a:effectLst/>
                <a:latin typeface="Times New Roman" panose="02020603050405020304" pitchFamily="18" charset="0"/>
                <a:ea typeface="宋体" panose="02010600030101010101" pitchFamily="2" charset="-122"/>
              </a:rPr>
              <a:t>开枪时刻为</a:t>
            </a:r>
            <a:r>
              <a:rPr kumimoji="1" lang="en-US" altLang="zh-CN" sz="2400" b="1" dirty="0">
                <a:effectLst/>
                <a:latin typeface="Times New Roman" panose="02020603050405020304" pitchFamily="18" charset="0"/>
                <a:ea typeface="宋体" panose="02010600030101010101" pitchFamily="2" charset="-122"/>
              </a:rPr>
              <a:t>t1,B</a:t>
            </a:r>
            <a:r>
              <a:rPr kumimoji="1" lang="zh-CN" altLang="en-US" sz="2400" b="1" dirty="0">
                <a:effectLst/>
                <a:latin typeface="Times New Roman" panose="02020603050405020304" pitchFamily="18" charset="0"/>
                <a:ea typeface="宋体" panose="02010600030101010101" pitchFamily="2" charset="-122"/>
              </a:rPr>
              <a:t>开枪时刻为</a:t>
            </a:r>
            <a:r>
              <a:rPr kumimoji="1" lang="en-US" altLang="zh-CN" sz="2400" b="1" dirty="0">
                <a:effectLst/>
                <a:latin typeface="Times New Roman" panose="02020603050405020304" pitchFamily="18" charset="0"/>
                <a:ea typeface="宋体" panose="02010600030101010101" pitchFamily="2" charset="-122"/>
              </a:rPr>
              <a:t>t2</a:t>
            </a:r>
          </a:p>
          <a:p>
            <a:r>
              <a:rPr kumimoji="1" lang="en-US" altLang="zh-CN" sz="2000" b="1" dirty="0">
                <a:solidFill>
                  <a:srgbClr val="FF0000"/>
                </a:solidFill>
                <a:effectLst/>
                <a:latin typeface="Times New Roman" panose="02020603050405020304" pitchFamily="18" charset="0"/>
                <a:ea typeface="宋体" panose="02010600030101010101" pitchFamily="2" charset="-122"/>
              </a:rPr>
              <a:t> </a:t>
            </a:r>
            <a:endParaRPr kumimoji="1" lang="zh-CN" altLang="en-US" sz="2000" b="1" dirty="0">
              <a:solidFill>
                <a:srgbClr val="FF0000"/>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806973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a:spLocks noChangeArrowheads="1"/>
          </p:cNvSpPr>
          <p:nvPr/>
        </p:nvSpPr>
        <p:spPr bwMode="auto">
          <a:xfrm>
            <a:off x="677863" y="460375"/>
            <a:ext cx="403860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FF0000"/>
                </a:solidFill>
                <a:effectLst/>
                <a:latin typeface="黑体" panose="02010609060101010101" pitchFamily="49" charset="-122"/>
                <a:ea typeface="黑体" panose="02010609060101010101" pitchFamily="49" charset="-122"/>
              </a:rPr>
              <a:t>洛伦兹速度变换 </a:t>
            </a:r>
          </a:p>
        </p:txBody>
      </p:sp>
      <p:graphicFrame>
        <p:nvGraphicFramePr>
          <p:cNvPr id="152579" name="Object 3"/>
          <p:cNvGraphicFramePr>
            <a:graphicFrameLocks noChangeAspect="1"/>
          </p:cNvGraphicFramePr>
          <p:nvPr/>
        </p:nvGraphicFramePr>
        <p:xfrm>
          <a:off x="827088" y="2492375"/>
          <a:ext cx="5022850" cy="1147763"/>
        </p:xfrm>
        <a:graphic>
          <a:graphicData uri="http://schemas.openxmlformats.org/presentationml/2006/ole">
            <mc:AlternateContent xmlns:mc="http://schemas.openxmlformats.org/markup-compatibility/2006">
              <mc:Choice xmlns:v="urn:schemas-microsoft-com:vml" Requires="v">
                <p:oleObj spid="_x0000_s27730" name="Equation" r:id="rId3" imgW="1892160" imgH="431640" progId="Equation.DSMT4">
                  <p:embed/>
                </p:oleObj>
              </mc:Choice>
              <mc:Fallback>
                <p:oleObj name="Equation" r:id="rId3" imgW="1892160" imgH="431640" progId="Equation.DSMT4">
                  <p:embed/>
                  <p:pic>
                    <p:nvPicPr>
                      <p:cNvPr id="15257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492375"/>
                        <a:ext cx="5022850" cy="1147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580" name="Object 4"/>
          <p:cNvGraphicFramePr>
            <a:graphicFrameLocks noChangeAspect="1"/>
          </p:cNvGraphicFramePr>
          <p:nvPr/>
        </p:nvGraphicFramePr>
        <p:xfrm>
          <a:off x="811213" y="3778250"/>
          <a:ext cx="5370512" cy="1163638"/>
        </p:xfrm>
        <a:graphic>
          <a:graphicData uri="http://schemas.openxmlformats.org/presentationml/2006/ole">
            <mc:AlternateContent xmlns:mc="http://schemas.openxmlformats.org/markup-compatibility/2006">
              <mc:Choice xmlns:v="urn:schemas-microsoft-com:vml" Requires="v">
                <p:oleObj spid="_x0000_s27731" name="Equation" r:id="rId5" imgW="2095200" imgH="457200" progId="Equation.DSMT4">
                  <p:embed/>
                </p:oleObj>
              </mc:Choice>
              <mc:Fallback>
                <p:oleObj name="Equation" r:id="rId5" imgW="2095200" imgH="457200" progId="Equation.DSMT4">
                  <p:embed/>
                  <p:pic>
                    <p:nvPicPr>
                      <p:cNvPr id="15258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213" y="3778250"/>
                        <a:ext cx="5370512"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581" name="Object 5"/>
          <p:cNvGraphicFramePr>
            <a:graphicFrameLocks noChangeAspect="1"/>
          </p:cNvGraphicFramePr>
          <p:nvPr/>
        </p:nvGraphicFramePr>
        <p:xfrm>
          <a:off x="827088" y="5129213"/>
          <a:ext cx="5329237" cy="1108075"/>
        </p:xfrm>
        <a:graphic>
          <a:graphicData uri="http://schemas.openxmlformats.org/presentationml/2006/ole">
            <mc:AlternateContent xmlns:mc="http://schemas.openxmlformats.org/markup-compatibility/2006">
              <mc:Choice xmlns:v="urn:schemas-microsoft-com:vml" Requires="v">
                <p:oleObj spid="_x0000_s27732" name="Equation" r:id="rId7" imgW="2070000" imgH="431640" progId="Equation.DSMT4">
                  <p:embed/>
                </p:oleObj>
              </mc:Choice>
              <mc:Fallback>
                <p:oleObj name="Equation" r:id="rId7" imgW="2070000" imgH="431640" progId="Equation.DSMT4">
                  <p:embed/>
                  <p:pic>
                    <p:nvPicPr>
                      <p:cNvPr id="152581"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5129213"/>
                        <a:ext cx="5329237"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582" name="Object 6"/>
          <p:cNvGraphicFramePr>
            <a:graphicFrameLocks noChangeAspect="1"/>
          </p:cNvGraphicFramePr>
          <p:nvPr/>
        </p:nvGraphicFramePr>
        <p:xfrm>
          <a:off x="795338" y="1141413"/>
          <a:ext cx="2224087" cy="1206500"/>
        </p:xfrm>
        <a:graphic>
          <a:graphicData uri="http://schemas.openxmlformats.org/presentationml/2006/ole">
            <mc:AlternateContent xmlns:mc="http://schemas.openxmlformats.org/markup-compatibility/2006">
              <mc:Choice xmlns:v="urn:schemas-microsoft-com:vml" Requires="v">
                <p:oleObj spid="_x0000_s27733" name="Equation" r:id="rId9" imgW="888840" imgH="482400" progId="Equation.DSMT4">
                  <p:embed/>
                </p:oleObj>
              </mc:Choice>
              <mc:Fallback>
                <p:oleObj name="Equation" r:id="rId9" imgW="888840" imgH="482400" progId="Equation.DSMT4">
                  <p:embed/>
                  <p:pic>
                    <p:nvPicPr>
                      <p:cNvPr id="152582"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338" y="1141413"/>
                        <a:ext cx="2224087" cy="120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2" name="文本框 1"/>
              <p:cNvSpPr txBox="1"/>
              <p:nvPr/>
            </p:nvSpPr>
            <p:spPr>
              <a:xfrm>
                <a:off x="3981635" y="1413652"/>
                <a:ext cx="2757678" cy="44723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𝛾</m:t>
                      </m:r>
                      <m:r>
                        <a:rPr lang="en-US" altLang="zh-CN" sz="2400" b="0" i="1" smtClean="0">
                          <a:latin typeface="Cambria Math" panose="02040503050406030204" pitchFamily="18" charset="0"/>
                        </a:rPr>
                        <m:t>=1/</m:t>
                      </m:r>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𝑣</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e>
                      </m:rad>
                    </m:oMath>
                  </m:oMathPara>
                </a14:m>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3981635" y="1413652"/>
                <a:ext cx="2757678" cy="447238"/>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316897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2582"/>
                                        </p:tgtEl>
                                        <p:attrNameLst>
                                          <p:attrName>style.visibility</p:attrName>
                                        </p:attrNameLst>
                                      </p:cBhvr>
                                      <p:to>
                                        <p:strVal val="visible"/>
                                      </p:to>
                                    </p:set>
                                    <p:anim calcmode="lin" valueType="num">
                                      <p:cBhvr additive="base">
                                        <p:cTn id="7" dur="500" fill="hold"/>
                                        <p:tgtEl>
                                          <p:spTgt spid="152582"/>
                                        </p:tgtEl>
                                        <p:attrNameLst>
                                          <p:attrName>ppt_x</p:attrName>
                                        </p:attrNameLst>
                                      </p:cBhvr>
                                      <p:tavLst>
                                        <p:tav tm="0">
                                          <p:val>
                                            <p:strVal val="0-#ppt_w/2"/>
                                          </p:val>
                                        </p:tav>
                                        <p:tav tm="100000">
                                          <p:val>
                                            <p:strVal val="#ppt_x"/>
                                          </p:val>
                                        </p:tav>
                                      </p:tavLst>
                                    </p:anim>
                                    <p:anim calcmode="lin" valueType="num">
                                      <p:cBhvr additive="base">
                                        <p:cTn id="8" dur="500" fill="hold"/>
                                        <p:tgtEl>
                                          <p:spTgt spid="1525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152579"/>
                                        </p:tgtEl>
                                        <p:attrNameLst>
                                          <p:attrName>style.visibility</p:attrName>
                                        </p:attrNameLst>
                                      </p:cBhvr>
                                      <p:to>
                                        <p:strVal val="visible"/>
                                      </p:to>
                                    </p:set>
                                    <p:animEffect transition="in" filter="wipe(down)">
                                      <p:cBhvr>
                                        <p:cTn id="13" dur="500"/>
                                        <p:tgtEl>
                                          <p:spTgt spid="15257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152580"/>
                                        </p:tgtEl>
                                        <p:attrNameLst>
                                          <p:attrName>style.visibility</p:attrName>
                                        </p:attrNameLst>
                                      </p:cBhvr>
                                      <p:to>
                                        <p:strVal val="visible"/>
                                      </p:to>
                                    </p:set>
                                    <p:animEffect transition="in" filter="wipe(down)">
                                      <p:cBhvr>
                                        <p:cTn id="18" dur="500"/>
                                        <p:tgtEl>
                                          <p:spTgt spid="15258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152581"/>
                                        </p:tgtEl>
                                        <p:attrNameLst>
                                          <p:attrName>style.visibility</p:attrName>
                                        </p:attrNameLst>
                                      </p:cBhvr>
                                      <p:to>
                                        <p:strVal val="visible"/>
                                      </p:to>
                                    </p:set>
                                    <p:animEffect transition="in" filter="wipe(down)">
                                      <p:cBhvr>
                                        <p:cTn id="23" dur="500"/>
                                        <p:tgtEl>
                                          <p:spTgt spid="152581"/>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04" name="Object 4"/>
          <p:cNvGraphicFramePr>
            <a:graphicFrameLocks noChangeAspect="1"/>
          </p:cNvGraphicFramePr>
          <p:nvPr/>
        </p:nvGraphicFramePr>
        <p:xfrm>
          <a:off x="900113" y="1471613"/>
          <a:ext cx="3281362" cy="3671887"/>
        </p:xfrm>
        <a:graphic>
          <a:graphicData uri="http://schemas.openxmlformats.org/presentationml/2006/ole">
            <mc:AlternateContent xmlns:mc="http://schemas.openxmlformats.org/markup-compatibility/2006">
              <mc:Choice xmlns:v="urn:schemas-microsoft-com:vml" Requires="v">
                <p:oleObj spid="_x0000_s28731" name="Equation" r:id="rId3" imgW="1231560" imgH="1371600" progId="Equation.DSMT4">
                  <p:embed/>
                </p:oleObj>
              </mc:Choice>
              <mc:Fallback>
                <p:oleObj name="Equation" r:id="rId3" imgW="1231560" imgH="1371600" progId="Equation.DSMT4">
                  <p:embed/>
                  <p:pic>
                    <p:nvPicPr>
                      <p:cNvPr id="15360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471613"/>
                        <a:ext cx="3281362" cy="3671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06" name="Text Box 6"/>
          <p:cNvSpPr txBox="1">
            <a:spLocks noChangeArrowheads="1"/>
          </p:cNvSpPr>
          <p:nvPr/>
        </p:nvSpPr>
        <p:spPr bwMode="auto">
          <a:xfrm>
            <a:off x="900113" y="762000"/>
            <a:ext cx="4679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solidFill>
                  <a:srgbClr val="FF0000"/>
                </a:solidFill>
                <a:effectLst/>
                <a:ea typeface="黑体" panose="02010609060101010101" pitchFamily="49" charset="-122"/>
              </a:rPr>
              <a:t>结论：</a:t>
            </a:r>
          </a:p>
        </p:txBody>
      </p:sp>
      <p:grpSp>
        <p:nvGrpSpPr>
          <p:cNvPr id="153609" name="Group 9"/>
          <p:cNvGrpSpPr>
            <a:grpSpLocks/>
          </p:cNvGrpSpPr>
          <p:nvPr/>
        </p:nvGrpSpPr>
        <p:grpSpPr bwMode="auto">
          <a:xfrm>
            <a:off x="4284663" y="1557338"/>
            <a:ext cx="4176712" cy="3600450"/>
            <a:chOff x="2698" y="972"/>
            <a:chExt cx="2631" cy="2268"/>
          </a:xfrm>
        </p:grpSpPr>
        <p:graphicFrame>
          <p:nvGraphicFramePr>
            <p:cNvPr id="153605" name="Object 5"/>
            <p:cNvGraphicFramePr>
              <a:graphicFrameLocks noChangeAspect="1"/>
            </p:cNvGraphicFramePr>
            <p:nvPr/>
          </p:nvGraphicFramePr>
          <p:xfrm>
            <a:off x="3271" y="972"/>
            <a:ext cx="2058" cy="2268"/>
          </p:xfrm>
          <a:graphic>
            <a:graphicData uri="http://schemas.openxmlformats.org/presentationml/2006/ole">
              <mc:AlternateContent xmlns:mc="http://schemas.openxmlformats.org/markup-compatibility/2006">
                <mc:Choice xmlns:v="urn:schemas-microsoft-com:vml" Requires="v">
                  <p:oleObj spid="_x0000_s28732" name="Equation" r:id="rId5" imgW="1244520" imgH="1371600" progId="Equation.DSMT4">
                    <p:embed/>
                  </p:oleObj>
                </mc:Choice>
                <mc:Fallback>
                  <p:oleObj name="Equation" r:id="rId5" imgW="1244520" imgH="1371600" progId="Equation.DSMT4">
                    <p:embed/>
                    <p:pic>
                      <p:nvPicPr>
                        <p:cNvPr id="15360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1" y="972"/>
                          <a:ext cx="2058" cy="2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07" name="Object 7"/>
            <p:cNvGraphicFramePr>
              <a:graphicFrameLocks noChangeAspect="1"/>
            </p:cNvGraphicFramePr>
            <p:nvPr/>
          </p:nvGraphicFramePr>
          <p:xfrm>
            <a:off x="2698" y="1880"/>
            <a:ext cx="590" cy="381"/>
          </p:xfrm>
          <a:graphic>
            <a:graphicData uri="http://schemas.openxmlformats.org/presentationml/2006/ole">
              <mc:AlternateContent xmlns:mc="http://schemas.openxmlformats.org/markup-compatibility/2006">
                <mc:Choice xmlns:v="urn:schemas-microsoft-com:vml" Requires="v">
                  <p:oleObj spid="_x0000_s28733" name="Equation" r:id="rId7" imgW="393480" imgH="253800" progId="Equation.DSMT4">
                    <p:embed/>
                  </p:oleObj>
                </mc:Choice>
                <mc:Fallback>
                  <p:oleObj name="Equation" r:id="rId7" imgW="393480" imgH="253800" progId="Equation.DSMT4">
                    <p:embed/>
                    <p:pic>
                      <p:nvPicPr>
                        <p:cNvPr id="15360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8" y="1880"/>
                          <a:ext cx="590"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53608" name="Rectangle 8"/>
          <p:cNvSpPr>
            <a:spLocks noChangeArrowheads="1"/>
          </p:cNvSpPr>
          <p:nvPr/>
        </p:nvSpPr>
        <p:spPr bwMode="auto">
          <a:xfrm>
            <a:off x="684213" y="5430838"/>
            <a:ext cx="73437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Font typeface="Wingdings" panose="05000000000000000000" pitchFamily="2" charset="2"/>
              <a:buChar char="Ø"/>
            </a:pPr>
            <a:r>
              <a:rPr kumimoji="1" lang="en-US" altLang="zh-CN" sz="2400" b="1" dirty="0">
                <a:solidFill>
                  <a:srgbClr val="CC0066"/>
                </a:solidFill>
                <a:effectLst/>
                <a:latin typeface="Times New Roman" panose="02020603050405020304" pitchFamily="18" charset="0"/>
                <a:cs typeface="Times New Roman" panose="02020603050405020304" pitchFamily="18" charset="0"/>
              </a:rPr>
              <a:t>  </a:t>
            </a:r>
            <a:r>
              <a:rPr kumimoji="1" lang="zh-CN" altLang="en-US" sz="2400" b="1" dirty="0">
                <a:solidFill>
                  <a:srgbClr val="CC0066"/>
                </a:solidFill>
                <a:effectLst/>
                <a:latin typeface="楷体_GB2312" pitchFamily="49" charset="-122"/>
                <a:cs typeface="Times New Roman" panose="02020603050405020304" pitchFamily="18" charset="0"/>
              </a:rPr>
              <a:t>洛伦兹速度变换满足光速不变性的假设。</a:t>
            </a:r>
          </a:p>
        </p:txBody>
      </p:sp>
    </p:spTree>
    <p:extLst>
      <p:ext uri="{BB962C8B-B14F-4D97-AF65-F5344CB8AC3E}">
        <p14:creationId xmlns:p14="http://schemas.microsoft.com/office/powerpoint/2010/main" val="3423075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53604"/>
                                        </p:tgtEl>
                                        <p:attrNameLst>
                                          <p:attrName>style.visibility</p:attrName>
                                        </p:attrNameLst>
                                      </p:cBhvr>
                                      <p:to>
                                        <p:strVal val="visible"/>
                                      </p:to>
                                    </p:set>
                                    <p:anim calcmode="lin" valueType="num">
                                      <p:cBhvr>
                                        <p:cTn id="7" dur="500" fill="hold"/>
                                        <p:tgtEl>
                                          <p:spTgt spid="153604"/>
                                        </p:tgtEl>
                                        <p:attrNameLst>
                                          <p:attrName>ppt_w</p:attrName>
                                        </p:attrNameLst>
                                      </p:cBhvr>
                                      <p:tavLst>
                                        <p:tav tm="0">
                                          <p:val>
                                            <p:fltVal val="0"/>
                                          </p:val>
                                        </p:tav>
                                        <p:tav tm="100000">
                                          <p:val>
                                            <p:strVal val="#ppt_w"/>
                                          </p:val>
                                        </p:tav>
                                      </p:tavLst>
                                    </p:anim>
                                    <p:anim calcmode="lin" valueType="num">
                                      <p:cBhvr>
                                        <p:cTn id="8" dur="500" fill="hold"/>
                                        <p:tgtEl>
                                          <p:spTgt spid="15360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153609"/>
                                        </p:tgtEl>
                                        <p:attrNameLst>
                                          <p:attrName>style.visibility</p:attrName>
                                        </p:attrNameLst>
                                      </p:cBhvr>
                                      <p:to>
                                        <p:strVal val="visible"/>
                                      </p:to>
                                    </p:set>
                                    <p:anim calcmode="lin" valueType="num">
                                      <p:cBhvr>
                                        <p:cTn id="13" dur="500" fill="hold"/>
                                        <p:tgtEl>
                                          <p:spTgt spid="153609"/>
                                        </p:tgtEl>
                                        <p:attrNameLst>
                                          <p:attrName>ppt_w</p:attrName>
                                        </p:attrNameLst>
                                      </p:cBhvr>
                                      <p:tavLst>
                                        <p:tav tm="0">
                                          <p:val>
                                            <p:fltVal val="0"/>
                                          </p:val>
                                        </p:tav>
                                        <p:tav tm="100000">
                                          <p:val>
                                            <p:strVal val="#ppt_w"/>
                                          </p:val>
                                        </p:tav>
                                      </p:tavLst>
                                    </p:anim>
                                    <p:anim calcmode="lin" valueType="num">
                                      <p:cBhvr>
                                        <p:cTn id="14" dur="500" fill="hold"/>
                                        <p:tgtEl>
                                          <p:spTgt spid="153609"/>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53608"/>
                                        </p:tgtEl>
                                        <p:attrNameLst>
                                          <p:attrName>style.visibility</p:attrName>
                                        </p:attrNameLst>
                                      </p:cBhvr>
                                      <p:to>
                                        <p:strVal val="visible"/>
                                      </p:to>
                                    </p:set>
                                    <p:animEffect transition="in" filter="slide(fromBottom)">
                                      <p:cBhvr>
                                        <p:cTn id="19" dur="500"/>
                                        <p:tgtEl>
                                          <p:spTgt spid="153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nvGraphicFramePr>
        <p:xfrm>
          <a:off x="250825" y="765175"/>
          <a:ext cx="8567738" cy="995363"/>
        </p:xfrm>
        <a:graphic>
          <a:graphicData uri="http://schemas.openxmlformats.org/presentationml/2006/ole">
            <mc:AlternateContent xmlns:mc="http://schemas.openxmlformats.org/markup-compatibility/2006">
              <mc:Choice xmlns:v="urn:schemas-microsoft-com:vml" Requires="v">
                <p:oleObj spid="_x0000_s29788" name="文档" r:id="rId3" imgW="8566912" imgH="996467" progId="Word.Document.8">
                  <p:embed/>
                </p:oleObj>
              </mc:Choice>
              <mc:Fallback>
                <p:oleObj name="文档" r:id="rId3" imgW="8566912" imgH="996467" progId="Word.Document.8">
                  <p:embed/>
                  <p:pic>
                    <p:nvPicPr>
                      <p:cNvPr id="163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765175"/>
                        <a:ext cx="8567738" cy="995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3"/>
          <p:cNvGraphicFramePr>
            <a:graphicFrameLocks noChangeAspect="1"/>
          </p:cNvGraphicFramePr>
          <p:nvPr/>
        </p:nvGraphicFramePr>
        <p:xfrm>
          <a:off x="468313" y="1916113"/>
          <a:ext cx="6367462" cy="574675"/>
        </p:xfrm>
        <a:graphic>
          <a:graphicData uri="http://schemas.openxmlformats.org/presentationml/2006/ole">
            <mc:AlternateContent xmlns:mc="http://schemas.openxmlformats.org/markup-compatibility/2006">
              <mc:Choice xmlns:v="urn:schemas-microsoft-com:vml" Requires="v">
                <p:oleObj spid="_x0000_s29789" name="文档" r:id="rId5" imgW="6369005" imgH="574941" progId="Word.Document.8">
                  <p:embed/>
                </p:oleObj>
              </mc:Choice>
              <mc:Fallback>
                <p:oleObj name="文档" r:id="rId5" imgW="6369005" imgH="574941" progId="Word.Document.8">
                  <p:embed/>
                  <p:pic>
                    <p:nvPicPr>
                      <p:cNvPr id="1638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1916113"/>
                        <a:ext cx="6367462"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4"/>
          <p:cNvGraphicFramePr>
            <a:graphicFrameLocks noChangeAspect="1"/>
          </p:cNvGraphicFramePr>
          <p:nvPr/>
        </p:nvGraphicFramePr>
        <p:xfrm>
          <a:off x="917575" y="2633663"/>
          <a:ext cx="4518025" cy="1530350"/>
        </p:xfrm>
        <a:graphic>
          <a:graphicData uri="http://schemas.openxmlformats.org/presentationml/2006/ole">
            <mc:AlternateContent xmlns:mc="http://schemas.openxmlformats.org/markup-compatibility/2006">
              <mc:Choice xmlns:v="urn:schemas-microsoft-com:vml" Requires="v">
                <p:oleObj spid="_x0000_s29790" name="文档" r:id="rId7" imgW="4639806" imgH="1584777" progId="Word.Document.8">
                  <p:embed/>
                </p:oleObj>
              </mc:Choice>
              <mc:Fallback>
                <p:oleObj name="文档" r:id="rId7" imgW="4639806" imgH="1584777" progId="Word.Document.8">
                  <p:embed/>
                  <p:pic>
                    <p:nvPicPr>
                      <p:cNvPr id="1638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7575" y="2633663"/>
                        <a:ext cx="4518025" cy="153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938213" y="4365625"/>
          <a:ext cx="5794375" cy="1741488"/>
        </p:xfrm>
        <a:graphic>
          <a:graphicData uri="http://schemas.openxmlformats.org/presentationml/2006/ole">
            <mc:AlternateContent xmlns:mc="http://schemas.openxmlformats.org/markup-compatibility/2006">
              <mc:Choice xmlns:v="urn:schemas-microsoft-com:vml" Requires="v">
                <p:oleObj spid="_x0000_s29791" name="文档" r:id="rId9" imgW="5840116" imgH="1760103" progId="Word.Document.8">
                  <p:embed/>
                </p:oleObj>
              </mc:Choice>
              <mc:Fallback>
                <p:oleObj name="文档" r:id="rId9" imgW="5840116" imgH="1760103" progId="Word.Document.8">
                  <p:embed/>
                  <p:pic>
                    <p:nvPicPr>
                      <p:cNvPr id="16389"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8213" y="4365625"/>
                        <a:ext cx="5794375" cy="174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4514850" y="3968750"/>
          <a:ext cx="114300" cy="215900"/>
        </p:xfrm>
        <a:graphic>
          <a:graphicData uri="http://schemas.openxmlformats.org/presentationml/2006/ole">
            <mc:AlternateContent xmlns:mc="http://schemas.openxmlformats.org/markup-compatibility/2006">
              <mc:Choice xmlns:v="urn:schemas-microsoft-com:vml" Requires="v">
                <p:oleObj spid="_x0000_s29792" name="公式" r:id="rId11" imgW="114120" imgH="215640" progId="Equation.3">
                  <p:embed/>
                </p:oleObj>
              </mc:Choice>
              <mc:Fallback>
                <p:oleObj name="公式" r:id="rId11" imgW="114120" imgH="215640" progId="Equation.3">
                  <p:embed/>
                  <p:pic>
                    <p:nvPicPr>
                      <p:cNvPr id="16392"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4850" y="39687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729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par>
                                <p:cTn id="14" presetID="3" presetClass="entr" presetSubtype="1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par>
                                <p:cTn id="17" presetID="3" presetClass="entr" presetSubtype="1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linds(horizontal)">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4"/>
          <p:cNvSpPr>
            <a:spLocks noChangeArrowheads="1"/>
          </p:cNvSpPr>
          <p:nvPr/>
        </p:nvSpPr>
        <p:spPr bwMode="auto">
          <a:xfrm>
            <a:off x="2286000" y="688975"/>
            <a:ext cx="4572000" cy="547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endParaRPr lang="zh-CN" altLang="en-US" sz="2400">
              <a:solidFill>
                <a:schemeClr val="tx2"/>
              </a:solidFill>
              <a:effectLst/>
              <a:latin typeface="Times New Roman" panose="02020603050405020304" pitchFamily="18" charset="0"/>
              <a:ea typeface="宋体" panose="02010600030101010101" pitchFamily="2" charset="-122"/>
            </a:endParaRPr>
          </a:p>
          <a:p>
            <a:pPr>
              <a:spcBef>
                <a:spcPct val="50000"/>
              </a:spcBef>
            </a:pPr>
            <a:endParaRPr lang="zh-CN" altLang="en-US" sz="4400">
              <a:solidFill>
                <a:schemeClr val="tx2"/>
              </a:solidFill>
              <a:effectLst/>
              <a:latin typeface="Times New Roman" panose="02020603050405020304" pitchFamily="18" charset="0"/>
              <a:ea typeface="宋体" panose="02010600030101010101" pitchFamily="2" charset="-122"/>
            </a:endParaRPr>
          </a:p>
        </p:txBody>
      </p:sp>
      <p:sp>
        <p:nvSpPr>
          <p:cNvPr id="86025" name="WordArt 9"/>
          <p:cNvSpPr>
            <a:spLocks noChangeArrowheads="1" noChangeShapeType="1" noTextEdit="1"/>
          </p:cNvSpPr>
          <p:nvPr/>
        </p:nvSpPr>
        <p:spPr bwMode="auto">
          <a:xfrm>
            <a:off x="1476375" y="2914650"/>
            <a:ext cx="6481763" cy="801688"/>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b="1" kern="10" dirty="0">
                <a:gradFill rotWithShape="0">
                  <a:gsLst>
                    <a:gs pos="0">
                      <a:srgbClr val="993366"/>
                    </a:gs>
                    <a:gs pos="100000">
                      <a:srgbClr val="000066"/>
                    </a:gs>
                  </a:gsLst>
                  <a:lin ang="5400000" scaled="1"/>
                </a:gradFill>
                <a:effectLst>
                  <a:outerShdw dist="35921" dir="2700000" algn="ctr" rotWithShape="0">
                    <a:srgbClr val="C0C0C0">
                      <a:alpha val="80000"/>
                    </a:srgbClr>
                  </a:outerShdw>
                </a:effectLst>
                <a:latin typeface="黑体" panose="02010609060101010101" pitchFamily="49" charset="-122"/>
                <a:ea typeface="黑体" panose="02010609060101010101" pitchFamily="49" charset="-122"/>
              </a:rPr>
              <a:t>§3 </a:t>
            </a:r>
            <a:r>
              <a:rPr lang="zh-CN" altLang="en-US" sz="3600" b="1" kern="10" dirty="0">
                <a:gradFill rotWithShape="0">
                  <a:gsLst>
                    <a:gs pos="0">
                      <a:srgbClr val="993366"/>
                    </a:gs>
                    <a:gs pos="100000">
                      <a:srgbClr val="000066"/>
                    </a:gs>
                  </a:gsLst>
                  <a:lin ang="5400000" scaled="1"/>
                </a:gradFill>
                <a:effectLst>
                  <a:outerShdw dist="35921" dir="2700000" algn="ctr" rotWithShape="0">
                    <a:srgbClr val="C0C0C0">
                      <a:alpha val="80000"/>
                    </a:srgbClr>
                  </a:outerShdw>
                </a:effectLst>
                <a:latin typeface="黑体" panose="02010609060101010101" pitchFamily="49" charset="-122"/>
                <a:ea typeface="黑体" panose="02010609060101010101" pitchFamily="49" charset="-122"/>
              </a:rPr>
              <a:t>相对论的动力学</a:t>
            </a:r>
          </a:p>
        </p:txBody>
      </p:sp>
    </p:spTree>
    <p:extLst>
      <p:ext uri="{BB962C8B-B14F-4D97-AF65-F5344CB8AC3E}">
        <p14:creationId xmlns:p14="http://schemas.microsoft.com/office/powerpoint/2010/main" val="9228821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684213" y="820738"/>
            <a:ext cx="619283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FF0000"/>
                </a:solidFill>
                <a:effectLst/>
                <a:latin typeface="黑体" panose="02010609060101010101" pitchFamily="49" charset="-122"/>
                <a:ea typeface="黑体" panose="02010609060101010101" pitchFamily="49" charset="-122"/>
              </a:rPr>
              <a:t>1</a:t>
            </a:r>
            <a:r>
              <a:rPr kumimoji="1" lang="zh-CN" altLang="en-US" sz="2800" b="1" dirty="0">
                <a:solidFill>
                  <a:srgbClr val="FF0000"/>
                </a:solidFill>
                <a:effectLst/>
                <a:latin typeface="黑体" panose="02010609060101010101" pitchFamily="49" charset="-122"/>
                <a:ea typeface="黑体" panose="02010609060101010101" pitchFamily="49" charset="-122"/>
              </a:rPr>
              <a:t>．经典动力学及其局限性 </a:t>
            </a:r>
          </a:p>
        </p:txBody>
      </p:sp>
      <p:sp>
        <p:nvSpPr>
          <p:cNvPr id="87043" name="Rectangle 3"/>
          <p:cNvSpPr>
            <a:spLocks noChangeArrowheads="1"/>
          </p:cNvSpPr>
          <p:nvPr/>
        </p:nvSpPr>
        <p:spPr bwMode="auto">
          <a:xfrm>
            <a:off x="377190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7044" name="Rectangle 4"/>
          <p:cNvSpPr>
            <a:spLocks noChangeArrowheads="1"/>
          </p:cNvSpPr>
          <p:nvPr/>
        </p:nvSpPr>
        <p:spPr bwMode="auto">
          <a:xfrm>
            <a:off x="4195763"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7045" name="Rectangle 5"/>
          <p:cNvSpPr>
            <a:spLocks noChangeArrowheads="1"/>
          </p:cNvSpPr>
          <p:nvPr/>
        </p:nvSpPr>
        <p:spPr bwMode="auto">
          <a:xfrm>
            <a:off x="3548063"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7046" name="Rectangle 6"/>
          <p:cNvSpPr>
            <a:spLocks noChangeArrowheads="1"/>
          </p:cNvSpPr>
          <p:nvPr/>
        </p:nvSpPr>
        <p:spPr bwMode="auto">
          <a:xfrm>
            <a:off x="3481388"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7047" name="Rectangle 7"/>
          <p:cNvSpPr>
            <a:spLocks noChangeArrowheads="1"/>
          </p:cNvSpPr>
          <p:nvPr/>
        </p:nvSpPr>
        <p:spPr bwMode="auto">
          <a:xfrm>
            <a:off x="2216150" y="2592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5613">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ffectLst/>
            </a:endParaRPr>
          </a:p>
        </p:txBody>
      </p:sp>
      <p:sp>
        <p:nvSpPr>
          <p:cNvPr id="87049" name="Rectangle 9"/>
          <p:cNvSpPr>
            <a:spLocks noChangeArrowheads="1"/>
          </p:cNvSpPr>
          <p:nvPr/>
        </p:nvSpPr>
        <p:spPr bwMode="auto">
          <a:xfrm>
            <a:off x="4129088"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7050" name="Text Box 10"/>
          <p:cNvSpPr txBox="1">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kumimoji="1" lang="zh-CN" altLang="en-US" sz="2400">
              <a:effectLst/>
              <a:latin typeface="Times New Roman" panose="02020603050405020304" pitchFamily="18" charset="0"/>
              <a:ea typeface="宋体" panose="02010600030101010101" pitchFamily="2" charset="-122"/>
            </a:endParaRPr>
          </a:p>
        </p:txBody>
      </p:sp>
      <p:graphicFrame>
        <p:nvGraphicFramePr>
          <p:cNvPr id="87052" name="Object 12"/>
          <p:cNvGraphicFramePr>
            <a:graphicFrameLocks noChangeAspect="1"/>
          </p:cNvGraphicFramePr>
          <p:nvPr/>
        </p:nvGraphicFramePr>
        <p:xfrm>
          <a:off x="754063" y="1524000"/>
          <a:ext cx="5516562" cy="5108575"/>
        </p:xfrm>
        <a:graphic>
          <a:graphicData uri="http://schemas.openxmlformats.org/presentationml/2006/ole">
            <mc:AlternateContent xmlns:mc="http://schemas.openxmlformats.org/markup-compatibility/2006">
              <mc:Choice xmlns:v="urn:schemas-microsoft-com:vml" Requires="v">
                <p:oleObj spid="_x0000_s30740" name="文档" r:id="rId3" imgW="2060070" imgH="1908305" progId="Word.Document.8">
                  <p:embed/>
                </p:oleObj>
              </mc:Choice>
              <mc:Fallback>
                <p:oleObj name="文档" r:id="rId3" imgW="2060070" imgH="1908305" progId="Word.Document.8">
                  <p:embed/>
                  <p:pic>
                    <p:nvPicPr>
                      <p:cNvPr id="8705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063" y="1524000"/>
                        <a:ext cx="5516562"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9398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7052"/>
                                        </p:tgtEl>
                                        <p:attrNameLst>
                                          <p:attrName>style.visibility</p:attrName>
                                        </p:attrNameLst>
                                      </p:cBhvr>
                                      <p:to>
                                        <p:strVal val="visible"/>
                                      </p:to>
                                    </p:set>
                                    <p:anim calcmode="lin" valueType="num">
                                      <p:cBhvr additive="base">
                                        <p:cTn id="7" dur="500" fill="hold"/>
                                        <p:tgtEl>
                                          <p:spTgt spid="87052"/>
                                        </p:tgtEl>
                                        <p:attrNameLst>
                                          <p:attrName>ppt_x</p:attrName>
                                        </p:attrNameLst>
                                      </p:cBhvr>
                                      <p:tavLst>
                                        <p:tav tm="0">
                                          <p:val>
                                            <p:strVal val="0-#ppt_w/2"/>
                                          </p:val>
                                        </p:tav>
                                        <p:tav tm="100000">
                                          <p:val>
                                            <p:strVal val="#ppt_x"/>
                                          </p:val>
                                        </p:tav>
                                      </p:tavLst>
                                    </p:anim>
                                    <p:anim calcmode="lin" valueType="num">
                                      <p:cBhvr additive="base">
                                        <p:cTn id="8" dur="500" fill="hold"/>
                                        <p:tgtEl>
                                          <p:spTgt spid="870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004" name="Object 4"/>
          <p:cNvGraphicFramePr>
            <a:graphicFrameLocks noChangeAspect="1"/>
          </p:cNvGraphicFramePr>
          <p:nvPr/>
        </p:nvGraphicFramePr>
        <p:xfrm>
          <a:off x="827088" y="1916113"/>
          <a:ext cx="7258050" cy="3511550"/>
        </p:xfrm>
        <a:graphic>
          <a:graphicData uri="http://schemas.openxmlformats.org/presentationml/2006/ole">
            <mc:AlternateContent xmlns:mc="http://schemas.openxmlformats.org/markup-compatibility/2006">
              <mc:Choice xmlns:v="urn:schemas-microsoft-com:vml" Requires="v">
                <p:oleObj spid="_x0000_s31764" name="文档" r:id="rId3" imgW="2694436" imgH="1302311" progId="Word.Document.8">
                  <p:embed/>
                </p:oleObj>
              </mc:Choice>
              <mc:Fallback>
                <p:oleObj name="文档" r:id="rId3" imgW="2694436" imgH="1302311" progId="Word.Document.8">
                  <p:embed/>
                  <p:pic>
                    <p:nvPicPr>
                      <p:cNvPr id="12800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16113"/>
                        <a:ext cx="7258050" cy="351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39762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4" name="Text Box 4"/>
          <p:cNvSpPr txBox="1">
            <a:spLocks noChangeArrowheads="1"/>
          </p:cNvSpPr>
          <p:nvPr/>
        </p:nvSpPr>
        <p:spPr bwMode="auto">
          <a:xfrm>
            <a:off x="684213" y="1557338"/>
            <a:ext cx="61912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solidFill>
                  <a:srgbClr val="0000FF"/>
                </a:solidFill>
                <a:effectLst/>
                <a:latin typeface="黑体" panose="02010609060101010101" pitchFamily="49" charset="-122"/>
                <a:ea typeface="黑体" panose="02010609060101010101" pitchFamily="49" charset="-122"/>
              </a:rPr>
              <a:t>1.2 </a:t>
            </a:r>
            <a:r>
              <a:rPr lang="zh-CN" altLang="en-US" sz="2800" b="1">
                <a:solidFill>
                  <a:srgbClr val="0000FF"/>
                </a:solidFill>
                <a:effectLst/>
                <a:latin typeface="黑体" panose="02010609060101010101" pitchFamily="49" charset="-122"/>
                <a:ea typeface="黑体" panose="02010609060101010101" pitchFamily="49" charset="-122"/>
              </a:rPr>
              <a:t>经典动力学的局限性</a:t>
            </a:r>
          </a:p>
        </p:txBody>
      </p:sp>
      <p:sp>
        <p:nvSpPr>
          <p:cNvPr id="158725" name="Text Box 5"/>
          <p:cNvSpPr txBox="1">
            <a:spLocks noChangeArrowheads="1"/>
          </p:cNvSpPr>
          <p:nvPr/>
        </p:nvSpPr>
        <p:spPr bwMode="auto">
          <a:xfrm>
            <a:off x="698500" y="2132013"/>
            <a:ext cx="799306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lang="zh-CN" altLang="en-US" sz="2800" b="1">
                <a:solidFill>
                  <a:srgbClr val="CC0066"/>
                </a:solidFill>
                <a:effectLst/>
                <a:ea typeface="黑体" panose="02010609060101010101" pitchFamily="49" charset="-122"/>
              </a:rPr>
              <a:t>局限性：</a:t>
            </a:r>
            <a:r>
              <a:rPr lang="zh-CN" altLang="en-US" sz="2800" b="1">
                <a:solidFill>
                  <a:srgbClr val="000066"/>
                </a:solidFill>
                <a:effectLst/>
                <a:ea typeface="宋体" panose="02010600030101010101" pitchFamily="2" charset="-122"/>
              </a:rPr>
              <a:t>高速运动时不能适用，不满足相对性原理，即不满足洛仑兹变换下的不变性。</a:t>
            </a:r>
            <a:r>
              <a:rPr lang="zh-CN" altLang="en-US" sz="2800" b="1">
                <a:effectLst/>
                <a:ea typeface="宋体" panose="02010600030101010101" pitchFamily="2" charset="-122"/>
              </a:rPr>
              <a:t> </a:t>
            </a:r>
          </a:p>
        </p:txBody>
      </p:sp>
      <p:sp>
        <p:nvSpPr>
          <p:cNvPr id="158726" name="Rectangle 6"/>
          <p:cNvSpPr>
            <a:spLocks noChangeArrowheads="1"/>
          </p:cNvSpPr>
          <p:nvPr/>
        </p:nvSpPr>
        <p:spPr bwMode="auto">
          <a:xfrm>
            <a:off x="684213" y="3339635"/>
            <a:ext cx="3430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800" b="1">
                <a:solidFill>
                  <a:srgbClr val="CC0066"/>
                </a:solidFill>
                <a:effectLst/>
                <a:ea typeface="黑体" panose="02010609060101010101" pitchFamily="49" charset="-122"/>
              </a:rPr>
              <a:t>经典动力学的改造：</a:t>
            </a:r>
            <a:endParaRPr kumimoji="1" lang="en-US" altLang="zh-CN" sz="2800" b="1">
              <a:solidFill>
                <a:srgbClr val="CC0066"/>
              </a:solidFill>
              <a:effectLst/>
              <a:ea typeface="宋体" panose="02010600030101010101" pitchFamily="2" charset="-122"/>
            </a:endParaRPr>
          </a:p>
        </p:txBody>
      </p:sp>
      <p:sp>
        <p:nvSpPr>
          <p:cNvPr id="158727" name="Rectangle 7"/>
          <p:cNvSpPr>
            <a:spLocks noChangeArrowheads="1"/>
          </p:cNvSpPr>
          <p:nvPr/>
        </p:nvSpPr>
        <p:spPr bwMode="auto">
          <a:xfrm>
            <a:off x="755650" y="4603750"/>
            <a:ext cx="7669213" cy="584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lang="en-US" altLang="zh-CN" sz="2800" b="1" dirty="0">
                <a:solidFill>
                  <a:srgbClr val="000066"/>
                </a:solidFill>
                <a:effectLst/>
                <a:ea typeface="宋体" panose="02010600030101010101" pitchFamily="2" charset="-122"/>
              </a:rPr>
              <a:t>2</a:t>
            </a:r>
            <a:r>
              <a:rPr lang="zh-CN" altLang="en-US" sz="2800" b="1" dirty="0">
                <a:solidFill>
                  <a:srgbClr val="000066"/>
                </a:solidFill>
                <a:effectLst/>
                <a:ea typeface="宋体" panose="02010600030101010101" pitchFamily="2" charset="-122"/>
              </a:rPr>
              <a:t>）重</a:t>
            </a:r>
            <a:r>
              <a:rPr lang="zh-CN" altLang="en-US" sz="2800" b="1" dirty="0">
                <a:solidFill>
                  <a:srgbClr val="000066"/>
                </a:solidFill>
                <a:ea typeface="宋体" panose="02010600030101010101" pitchFamily="2" charset="-122"/>
              </a:rPr>
              <a:t>新</a:t>
            </a:r>
            <a:r>
              <a:rPr lang="zh-CN" altLang="en-US" sz="2800" b="1" dirty="0">
                <a:solidFill>
                  <a:srgbClr val="000066"/>
                </a:solidFill>
                <a:effectLst/>
                <a:ea typeface="宋体" panose="02010600030101010101" pitchFamily="2" charset="-122"/>
              </a:rPr>
              <a:t>定义相关物理量，物理定律不变。</a:t>
            </a:r>
          </a:p>
        </p:txBody>
      </p:sp>
      <p:sp>
        <p:nvSpPr>
          <p:cNvPr id="158728" name="Rectangle 8"/>
          <p:cNvSpPr>
            <a:spLocks noChangeArrowheads="1"/>
          </p:cNvSpPr>
          <p:nvPr/>
        </p:nvSpPr>
        <p:spPr bwMode="auto">
          <a:xfrm>
            <a:off x="755650" y="4005263"/>
            <a:ext cx="7310438" cy="584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lang="en-US" altLang="zh-CN" sz="2800" b="1">
                <a:solidFill>
                  <a:srgbClr val="000066"/>
                </a:solidFill>
                <a:effectLst/>
                <a:ea typeface="宋体" panose="02010600030101010101" pitchFamily="2" charset="-122"/>
              </a:rPr>
              <a:t>1</a:t>
            </a:r>
            <a:r>
              <a:rPr lang="zh-CN" altLang="en-US" sz="2800" b="1">
                <a:solidFill>
                  <a:srgbClr val="000066"/>
                </a:solidFill>
                <a:effectLst/>
                <a:ea typeface="宋体" panose="02010600030101010101" pitchFamily="2" charset="-122"/>
              </a:rPr>
              <a:t>）改造物理定律，物理量的定义不变；</a:t>
            </a:r>
          </a:p>
        </p:txBody>
      </p:sp>
      <p:grpSp>
        <p:nvGrpSpPr>
          <p:cNvPr id="158731" name="Group 11"/>
          <p:cNvGrpSpPr>
            <a:grpSpLocks/>
          </p:cNvGrpSpPr>
          <p:nvPr/>
        </p:nvGrpSpPr>
        <p:grpSpPr bwMode="auto">
          <a:xfrm>
            <a:off x="7308850" y="4579938"/>
            <a:ext cx="1008063" cy="504825"/>
            <a:chOff x="4604" y="2976"/>
            <a:chExt cx="635" cy="318"/>
          </a:xfrm>
        </p:grpSpPr>
        <p:sp>
          <p:nvSpPr>
            <p:cNvPr id="158729" name="Line 9"/>
            <p:cNvSpPr>
              <a:spLocks noChangeShapeType="1"/>
            </p:cNvSpPr>
            <p:nvPr/>
          </p:nvSpPr>
          <p:spPr bwMode="auto">
            <a:xfrm>
              <a:off x="4604" y="3067"/>
              <a:ext cx="90" cy="227"/>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sz="2800"/>
            </a:p>
          </p:txBody>
        </p:sp>
        <p:sp>
          <p:nvSpPr>
            <p:cNvPr id="158730" name="Line 10"/>
            <p:cNvSpPr>
              <a:spLocks noChangeShapeType="1"/>
            </p:cNvSpPr>
            <p:nvPr/>
          </p:nvSpPr>
          <p:spPr bwMode="auto">
            <a:xfrm flipV="1">
              <a:off x="4694" y="2976"/>
              <a:ext cx="545" cy="318"/>
            </a:xfrm>
            <a:prstGeom prst="line">
              <a:avLst/>
            </a:prstGeom>
            <a:noFill/>
            <a:ln w="28575">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sz="2800"/>
            </a:p>
          </p:txBody>
        </p:sp>
      </p:grpSp>
    </p:spTree>
    <p:extLst>
      <p:ext uri="{BB962C8B-B14F-4D97-AF65-F5344CB8AC3E}">
        <p14:creationId xmlns:p14="http://schemas.microsoft.com/office/powerpoint/2010/main" val="1843904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8725"/>
                                        </p:tgtEl>
                                        <p:attrNameLst>
                                          <p:attrName>style.visibility</p:attrName>
                                        </p:attrNameLst>
                                      </p:cBhvr>
                                      <p:to>
                                        <p:strVal val="visible"/>
                                      </p:to>
                                    </p:set>
                                    <p:animEffect transition="in" filter="box(in)">
                                      <p:cBhvr>
                                        <p:cTn id="7" dur="500"/>
                                        <p:tgtEl>
                                          <p:spTgt spid="1587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8726"/>
                                        </p:tgtEl>
                                        <p:attrNameLst>
                                          <p:attrName>style.visibility</p:attrName>
                                        </p:attrNameLst>
                                      </p:cBhvr>
                                      <p:to>
                                        <p:strVal val="visible"/>
                                      </p:to>
                                    </p:set>
                                    <p:animEffect transition="in" filter="slide(fromBottom)">
                                      <p:cBhvr>
                                        <p:cTn id="12" dur="500"/>
                                        <p:tgtEl>
                                          <p:spTgt spid="1587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8728"/>
                                        </p:tgtEl>
                                        <p:attrNameLst>
                                          <p:attrName>style.visibility</p:attrName>
                                        </p:attrNameLst>
                                      </p:cBhvr>
                                      <p:to>
                                        <p:strVal val="visible"/>
                                      </p:to>
                                    </p:set>
                                    <p:anim calcmode="lin" valueType="num">
                                      <p:cBhvr additive="base">
                                        <p:cTn id="17" dur="500" fill="hold"/>
                                        <p:tgtEl>
                                          <p:spTgt spid="158728"/>
                                        </p:tgtEl>
                                        <p:attrNameLst>
                                          <p:attrName>ppt_x</p:attrName>
                                        </p:attrNameLst>
                                      </p:cBhvr>
                                      <p:tavLst>
                                        <p:tav tm="0">
                                          <p:val>
                                            <p:strVal val="#ppt_x"/>
                                          </p:val>
                                        </p:tav>
                                        <p:tav tm="100000">
                                          <p:val>
                                            <p:strVal val="#ppt_x"/>
                                          </p:val>
                                        </p:tav>
                                      </p:tavLst>
                                    </p:anim>
                                    <p:anim calcmode="lin" valueType="num">
                                      <p:cBhvr additive="base">
                                        <p:cTn id="18" dur="500" fill="hold"/>
                                        <p:tgtEl>
                                          <p:spTgt spid="158728"/>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8727"/>
                                        </p:tgtEl>
                                        <p:attrNameLst>
                                          <p:attrName>style.visibility</p:attrName>
                                        </p:attrNameLst>
                                      </p:cBhvr>
                                      <p:to>
                                        <p:strVal val="visible"/>
                                      </p:to>
                                    </p:set>
                                    <p:anim calcmode="lin" valueType="num">
                                      <p:cBhvr additive="base">
                                        <p:cTn id="23" dur="500" fill="hold"/>
                                        <p:tgtEl>
                                          <p:spTgt spid="158727"/>
                                        </p:tgtEl>
                                        <p:attrNameLst>
                                          <p:attrName>ppt_x</p:attrName>
                                        </p:attrNameLst>
                                      </p:cBhvr>
                                      <p:tavLst>
                                        <p:tav tm="0">
                                          <p:val>
                                            <p:strVal val="#ppt_x"/>
                                          </p:val>
                                        </p:tav>
                                        <p:tav tm="100000">
                                          <p:val>
                                            <p:strVal val="#ppt_x"/>
                                          </p:val>
                                        </p:tav>
                                      </p:tavLst>
                                    </p:anim>
                                    <p:anim calcmode="lin" valueType="num">
                                      <p:cBhvr additive="base">
                                        <p:cTn id="24" dur="500" fill="hold"/>
                                        <p:tgtEl>
                                          <p:spTgt spid="158727"/>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158731"/>
                                        </p:tgtEl>
                                        <p:attrNameLst>
                                          <p:attrName>style.visibility</p:attrName>
                                        </p:attrNameLst>
                                      </p:cBhvr>
                                      <p:to>
                                        <p:strVal val="visible"/>
                                      </p:to>
                                    </p:set>
                                    <p:animEffect transition="in" filter="wipe(down)">
                                      <p:cBhvr>
                                        <p:cTn id="29" dur="500"/>
                                        <p:tgtEl>
                                          <p:spTgt spid="158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5" grpId="0"/>
      <p:bldP spid="158726" grpId="0"/>
      <p:bldP spid="158727" grpId="0"/>
      <p:bldP spid="15872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箭头连接符 2"/>
          <p:cNvCxnSpPr/>
          <p:nvPr/>
        </p:nvCxnSpPr>
        <p:spPr>
          <a:xfrm flipH="1" flipV="1">
            <a:off x="2078182" y="1876301"/>
            <a:ext cx="0" cy="2695699"/>
          </a:xfrm>
          <a:prstGeom prst="straightConnector1">
            <a:avLst/>
          </a:prstGeom>
          <a:ln w="25400">
            <a:headEnd type="none"/>
            <a:tailEnd type="triangle" w="lg" len="lg"/>
          </a:ln>
        </p:spPr>
        <p:style>
          <a:lnRef idx="1">
            <a:schemeClr val="dk1"/>
          </a:lnRef>
          <a:fillRef idx="0">
            <a:schemeClr val="dk1"/>
          </a:fillRef>
          <a:effectRef idx="0">
            <a:schemeClr val="dk1"/>
          </a:effectRef>
          <a:fontRef idx="minor">
            <a:schemeClr val="tx1"/>
          </a:fontRef>
        </p:style>
      </p:cxnSp>
      <p:cxnSp>
        <p:nvCxnSpPr>
          <p:cNvPr id="4" name="直接箭头连接符 3"/>
          <p:cNvCxnSpPr/>
          <p:nvPr/>
        </p:nvCxnSpPr>
        <p:spPr>
          <a:xfrm flipV="1">
            <a:off x="2078182" y="4583875"/>
            <a:ext cx="6070270" cy="0"/>
          </a:xfrm>
          <a:prstGeom prst="straightConnector1">
            <a:avLst/>
          </a:prstGeom>
          <a:ln w="25400">
            <a:headEnd type="none"/>
            <a:tailEnd type="triangle" w="lg" len="lg"/>
          </a:ln>
        </p:spPr>
        <p:style>
          <a:lnRef idx="1">
            <a:schemeClr val="dk1"/>
          </a:lnRef>
          <a:fillRef idx="0">
            <a:schemeClr val="dk1"/>
          </a:fillRef>
          <a:effectRef idx="0">
            <a:schemeClr val="dk1"/>
          </a:effectRef>
          <a:fontRef idx="minor">
            <a:schemeClr val="tx1"/>
          </a:fontRef>
        </p:style>
      </p:cxnSp>
      <p:cxnSp>
        <p:nvCxnSpPr>
          <p:cNvPr id="6" name="直接箭头连接符 5"/>
          <p:cNvCxnSpPr/>
          <p:nvPr/>
        </p:nvCxnSpPr>
        <p:spPr>
          <a:xfrm flipH="1" flipV="1">
            <a:off x="4914405" y="1888176"/>
            <a:ext cx="0" cy="2695699"/>
          </a:xfrm>
          <a:prstGeom prst="straightConnector1">
            <a:avLst/>
          </a:prstGeom>
          <a:ln w="25400">
            <a:headEnd type="none"/>
            <a:tailEnd type="triangle" w="lg" len="lg"/>
          </a:ln>
        </p:spPr>
        <p:style>
          <a:lnRef idx="1">
            <a:schemeClr val="dk1"/>
          </a:lnRef>
          <a:fillRef idx="0">
            <a:schemeClr val="dk1"/>
          </a:fillRef>
          <a:effectRef idx="0">
            <a:schemeClr val="dk1"/>
          </a:effectRef>
          <a:fontRef idx="minor">
            <a:schemeClr val="tx1"/>
          </a:fontRef>
        </p:style>
      </p:cxnSp>
      <p:sp>
        <p:nvSpPr>
          <p:cNvPr id="7" name="椭圆 6"/>
          <p:cNvSpPr/>
          <p:nvPr/>
        </p:nvSpPr>
        <p:spPr>
          <a:xfrm>
            <a:off x="4629396" y="4286992"/>
            <a:ext cx="285008" cy="285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914405" y="4286992"/>
            <a:ext cx="285008" cy="285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629396" y="1189741"/>
            <a:ext cx="629392"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S</a:t>
            </a:r>
            <a:r>
              <a:rPr lang="zh-CN" altLang="en-US" sz="2400" dirty="0">
                <a:latin typeface="黑体" panose="02010609060101010101" pitchFamily="49" charset="-122"/>
                <a:ea typeface="黑体" panose="02010609060101010101" pitchFamily="49" charset="-122"/>
                <a:cs typeface="Arial" panose="020B0604020202020204" pitchFamily="34" charset="0"/>
              </a:rPr>
              <a:t>’</a:t>
            </a:r>
          </a:p>
        </p:txBody>
      </p:sp>
      <p:sp>
        <p:nvSpPr>
          <p:cNvPr id="10" name="文本框 9"/>
          <p:cNvSpPr txBox="1"/>
          <p:nvPr/>
        </p:nvSpPr>
        <p:spPr>
          <a:xfrm>
            <a:off x="1860466" y="1189741"/>
            <a:ext cx="629392"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S</a:t>
            </a:r>
            <a:endParaRPr lang="zh-CN" altLang="en-US" sz="2400" dirty="0">
              <a:latin typeface="黑体" panose="02010609060101010101" pitchFamily="49" charset="-122"/>
              <a:ea typeface="黑体" panose="02010609060101010101" pitchFamily="49" charset="-122"/>
              <a:cs typeface="Arial" panose="020B0604020202020204" pitchFamily="34" charset="0"/>
            </a:endParaRPr>
          </a:p>
        </p:txBody>
      </p:sp>
      <p:sp>
        <p:nvSpPr>
          <p:cNvPr id="11" name="椭圆 10"/>
          <p:cNvSpPr/>
          <p:nvPr/>
        </p:nvSpPr>
        <p:spPr>
          <a:xfrm>
            <a:off x="2926277" y="4298867"/>
            <a:ext cx="285008" cy="285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907481" y="4298867"/>
            <a:ext cx="285008" cy="285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p:nvPr/>
        </p:nvCxnSpPr>
        <p:spPr>
          <a:xfrm flipH="1">
            <a:off x="1282535" y="2945081"/>
            <a:ext cx="79564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2175162" y="4023756"/>
            <a:ext cx="79564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V="1">
            <a:off x="7049985" y="4023756"/>
            <a:ext cx="83127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489858" y="3376482"/>
            <a:ext cx="484428" cy="523220"/>
          </a:xfrm>
          <a:prstGeom prst="rect">
            <a:avLst/>
          </a:prstGeom>
          <a:noFill/>
        </p:spPr>
        <p:txBody>
          <a:bodyPr wrap="none" rtlCol="0">
            <a:spAutoFit/>
          </a:bodyPr>
          <a:lstStyle/>
          <a:p>
            <a:r>
              <a:rPr lang="en-US" altLang="zh-CN" sz="2800" i="1" dirty="0">
                <a:latin typeface="Arial" panose="020B0604020202020204" pitchFamily="34" charset="0"/>
                <a:cs typeface="Arial" panose="020B0604020202020204" pitchFamily="34" charset="0"/>
              </a:rPr>
              <a:t>-v</a:t>
            </a:r>
            <a:endParaRPr lang="zh-CN" altLang="en-US" i="1" dirty="0">
              <a:latin typeface="Arial" panose="020B0604020202020204" pitchFamily="34" charset="0"/>
              <a:cs typeface="Arial" panose="020B0604020202020204" pitchFamily="34" charset="0"/>
            </a:endParaRPr>
          </a:p>
        </p:txBody>
      </p:sp>
      <p:sp>
        <p:nvSpPr>
          <p:cNvPr id="19" name="文本框 18"/>
          <p:cNvSpPr txBox="1"/>
          <p:nvPr/>
        </p:nvSpPr>
        <p:spPr>
          <a:xfrm>
            <a:off x="1400030" y="2421861"/>
            <a:ext cx="484428" cy="523220"/>
          </a:xfrm>
          <a:prstGeom prst="rect">
            <a:avLst/>
          </a:prstGeom>
          <a:noFill/>
        </p:spPr>
        <p:txBody>
          <a:bodyPr wrap="none" rtlCol="0">
            <a:spAutoFit/>
          </a:bodyPr>
          <a:lstStyle/>
          <a:p>
            <a:r>
              <a:rPr lang="en-US" altLang="zh-CN" sz="2800" i="1" dirty="0">
                <a:latin typeface="Arial" panose="020B0604020202020204" pitchFamily="34" charset="0"/>
                <a:cs typeface="Arial" panose="020B0604020202020204" pitchFamily="34" charset="0"/>
              </a:rPr>
              <a:t>-v</a:t>
            </a:r>
            <a:endParaRPr lang="zh-CN" altLang="en-US" i="1" dirty="0">
              <a:latin typeface="Arial" panose="020B0604020202020204" pitchFamily="34" charset="0"/>
              <a:cs typeface="Arial" panose="020B0604020202020204" pitchFamily="34" charset="0"/>
            </a:endParaRPr>
          </a:p>
        </p:txBody>
      </p:sp>
      <p:sp>
        <p:nvSpPr>
          <p:cNvPr id="20" name="文本框 19"/>
          <p:cNvSpPr txBox="1"/>
          <p:nvPr/>
        </p:nvSpPr>
        <p:spPr>
          <a:xfrm>
            <a:off x="7223407" y="3376482"/>
            <a:ext cx="364202" cy="523220"/>
          </a:xfrm>
          <a:prstGeom prst="rect">
            <a:avLst/>
          </a:prstGeom>
          <a:noFill/>
        </p:spPr>
        <p:txBody>
          <a:bodyPr wrap="none" rtlCol="0">
            <a:spAutoFit/>
          </a:bodyPr>
          <a:lstStyle/>
          <a:p>
            <a:r>
              <a:rPr lang="en-US" altLang="zh-CN" sz="2800" i="1" dirty="0">
                <a:latin typeface="Arial" panose="020B0604020202020204" pitchFamily="34" charset="0"/>
                <a:cs typeface="Arial" panose="020B0604020202020204" pitchFamily="34" charset="0"/>
              </a:rPr>
              <a:t>v</a:t>
            </a:r>
            <a:endParaRPr lang="zh-CN" altLang="en-US" i="1" dirty="0">
              <a:latin typeface="Arial" panose="020B0604020202020204" pitchFamily="34" charset="0"/>
              <a:cs typeface="Arial" panose="020B0604020202020204" pitchFamily="34" charset="0"/>
            </a:endParaRPr>
          </a:p>
        </p:txBody>
      </p:sp>
      <p:sp>
        <p:nvSpPr>
          <p:cNvPr id="21" name="文本框 20"/>
          <p:cNvSpPr txBox="1"/>
          <p:nvPr/>
        </p:nvSpPr>
        <p:spPr>
          <a:xfrm>
            <a:off x="1751648" y="4696054"/>
            <a:ext cx="423514" cy="461665"/>
          </a:xfrm>
          <a:prstGeom prst="rect">
            <a:avLst/>
          </a:prstGeom>
          <a:noFill/>
        </p:spPr>
        <p:txBody>
          <a:bodyPr wrap="none" rtlCol="0">
            <a:spAutoFit/>
          </a:bodyPr>
          <a:lstStyle/>
          <a:p>
            <a:r>
              <a:rPr lang="en-US" altLang="zh-CN" sz="2400" i="1" dirty="0">
                <a:latin typeface="Arial" panose="020B0604020202020204" pitchFamily="34" charset="0"/>
                <a:cs typeface="Arial" panose="020B0604020202020204" pitchFamily="34" charset="0"/>
              </a:rPr>
              <a:t>O</a:t>
            </a:r>
            <a:endParaRPr lang="zh-CN" altLang="en-US" i="1" dirty="0">
              <a:latin typeface="Arial" panose="020B0604020202020204" pitchFamily="34" charset="0"/>
              <a:cs typeface="Arial" panose="020B0604020202020204" pitchFamily="34" charset="0"/>
            </a:endParaRPr>
          </a:p>
        </p:txBody>
      </p:sp>
      <p:sp>
        <p:nvSpPr>
          <p:cNvPr id="22" name="文本框 21"/>
          <p:cNvSpPr txBox="1"/>
          <p:nvPr/>
        </p:nvSpPr>
        <p:spPr>
          <a:xfrm>
            <a:off x="4656155" y="4707930"/>
            <a:ext cx="731290" cy="461665"/>
          </a:xfrm>
          <a:prstGeom prst="rect">
            <a:avLst/>
          </a:prstGeom>
          <a:noFill/>
        </p:spPr>
        <p:txBody>
          <a:bodyPr wrap="none" rtlCol="0">
            <a:spAutoFit/>
          </a:bodyPr>
          <a:lstStyle/>
          <a:p>
            <a:r>
              <a:rPr lang="en-US" altLang="zh-CN" sz="2400" i="1" dirty="0">
                <a:latin typeface="Arial" panose="020B0604020202020204" pitchFamily="34" charset="0"/>
                <a:cs typeface="Arial" panose="020B0604020202020204" pitchFamily="34" charset="0"/>
              </a:rPr>
              <a:t>O</a:t>
            </a:r>
            <a:r>
              <a:rPr lang="zh-CN" altLang="en-US" sz="2400" dirty="0">
                <a:latin typeface="黑体" panose="02010609060101010101" pitchFamily="49" charset="-122"/>
                <a:ea typeface="黑体" panose="02010609060101010101" pitchFamily="49" charset="-122"/>
                <a:cs typeface="Arial" panose="020B0604020202020204" pitchFamily="34" charset="0"/>
              </a:rPr>
              <a:t>’</a:t>
            </a:r>
            <a:endParaRPr lang="zh-CN" altLang="en-US" sz="2400" i="1" dirty="0">
              <a:latin typeface="Arial" panose="020B0604020202020204" pitchFamily="34" charset="0"/>
              <a:cs typeface="Arial" panose="020B0604020202020204" pitchFamily="34" charset="0"/>
            </a:endParaRPr>
          </a:p>
        </p:txBody>
      </p:sp>
      <p:sp>
        <p:nvSpPr>
          <p:cNvPr id="23" name="文本框 22"/>
          <p:cNvSpPr txBox="1"/>
          <p:nvPr/>
        </p:nvSpPr>
        <p:spPr>
          <a:xfrm>
            <a:off x="3101243" y="3787976"/>
            <a:ext cx="577402" cy="461665"/>
          </a:xfrm>
          <a:prstGeom prst="rect">
            <a:avLst/>
          </a:prstGeom>
          <a:noFill/>
        </p:spPr>
        <p:txBody>
          <a:bodyPr wrap="none" rtlCol="0">
            <a:spAutoFit/>
          </a:bodyPr>
          <a:lstStyle/>
          <a:p>
            <a:r>
              <a:rPr lang="en-US" altLang="zh-CN" sz="2400" i="1" dirty="0">
                <a:latin typeface="Arial" panose="020B0604020202020204" pitchFamily="34" charset="0"/>
                <a:cs typeface="Arial" panose="020B0604020202020204" pitchFamily="34" charset="0"/>
              </a:rPr>
              <a:t>m</a:t>
            </a:r>
            <a:r>
              <a:rPr lang="en-US" altLang="zh-CN" sz="2400" i="1" baseline="-25000" dirty="0">
                <a:latin typeface="Arial" panose="020B0604020202020204" pitchFamily="34" charset="0"/>
                <a:cs typeface="Arial" panose="020B0604020202020204" pitchFamily="34" charset="0"/>
              </a:rPr>
              <a:t>A</a:t>
            </a:r>
            <a:endParaRPr lang="zh-CN" altLang="en-US" sz="2400" i="1" baseline="-25000" dirty="0">
              <a:latin typeface="Arial" panose="020B0604020202020204" pitchFamily="34" charset="0"/>
              <a:cs typeface="Arial" panose="020B0604020202020204" pitchFamily="34" charset="0"/>
            </a:endParaRPr>
          </a:p>
        </p:txBody>
      </p:sp>
      <p:sp>
        <p:nvSpPr>
          <p:cNvPr id="24" name="文本框 23"/>
          <p:cNvSpPr txBox="1"/>
          <p:nvPr/>
        </p:nvSpPr>
        <p:spPr>
          <a:xfrm>
            <a:off x="6472583" y="3801324"/>
            <a:ext cx="577402" cy="461665"/>
          </a:xfrm>
          <a:prstGeom prst="rect">
            <a:avLst/>
          </a:prstGeom>
          <a:noFill/>
        </p:spPr>
        <p:txBody>
          <a:bodyPr wrap="none" rtlCol="0">
            <a:spAutoFit/>
          </a:bodyPr>
          <a:lstStyle/>
          <a:p>
            <a:r>
              <a:rPr lang="en-US" altLang="zh-CN" sz="2400" i="1" dirty="0" err="1">
                <a:latin typeface="Arial" panose="020B0604020202020204" pitchFamily="34" charset="0"/>
                <a:cs typeface="Arial" panose="020B0604020202020204" pitchFamily="34" charset="0"/>
              </a:rPr>
              <a:t>m</a:t>
            </a:r>
            <a:r>
              <a:rPr lang="en-US" altLang="zh-CN" sz="2400" i="1" baseline="-25000" dirty="0" err="1">
                <a:latin typeface="Arial" panose="020B0604020202020204" pitchFamily="34" charset="0"/>
                <a:cs typeface="Arial" panose="020B0604020202020204" pitchFamily="34" charset="0"/>
              </a:rPr>
              <a:t>B</a:t>
            </a:r>
            <a:endParaRPr lang="zh-CN" altLang="en-US" sz="2400" i="1" baseline="-25000" dirty="0">
              <a:latin typeface="Arial" panose="020B0604020202020204" pitchFamily="34" charset="0"/>
              <a:cs typeface="Arial" panose="020B0604020202020204" pitchFamily="34" charset="0"/>
            </a:endParaRPr>
          </a:p>
        </p:txBody>
      </p:sp>
      <p:sp>
        <p:nvSpPr>
          <p:cNvPr id="25" name="Text Box 2"/>
          <p:cNvSpPr txBox="1">
            <a:spLocks noChangeArrowheads="1"/>
          </p:cNvSpPr>
          <p:nvPr/>
        </p:nvSpPr>
        <p:spPr bwMode="auto">
          <a:xfrm>
            <a:off x="382057" y="415283"/>
            <a:ext cx="5005388"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kumimoji="1" lang="en-US" altLang="zh-CN" sz="2800" b="1">
                <a:solidFill>
                  <a:srgbClr val="FF0000"/>
                </a:solidFill>
                <a:effectLst/>
                <a:latin typeface="黑体" panose="02010609060101010101" pitchFamily="49" charset="-122"/>
                <a:ea typeface="黑体" panose="02010609060101010101" pitchFamily="49" charset="-122"/>
              </a:rPr>
              <a:t>2</a:t>
            </a:r>
            <a:r>
              <a:rPr kumimoji="1" lang="zh-CN" altLang="en-US" sz="2800" b="1">
                <a:solidFill>
                  <a:srgbClr val="FF0000"/>
                </a:solidFill>
                <a:effectLst/>
                <a:latin typeface="黑体" panose="02010609060101010101" pitchFamily="49" charset="-122"/>
                <a:ea typeface="黑体" panose="02010609060101010101" pitchFamily="49" charset="-122"/>
              </a:rPr>
              <a:t>．相对论的质量与动量</a:t>
            </a:r>
          </a:p>
        </p:txBody>
      </p:sp>
      <p:sp>
        <p:nvSpPr>
          <p:cNvPr id="26" name="文本框 25"/>
          <p:cNvSpPr txBox="1"/>
          <p:nvPr/>
        </p:nvSpPr>
        <p:spPr>
          <a:xfrm>
            <a:off x="1328980" y="5400448"/>
            <a:ext cx="6950969" cy="1200329"/>
          </a:xfrm>
          <a:prstGeom prst="rect">
            <a:avLst/>
          </a:prstGeom>
          <a:noFill/>
        </p:spPr>
        <p:txBody>
          <a:bodyPr wrap="square" rtlCol="0">
            <a:spAutoFit/>
          </a:bodyPr>
          <a:lstStyle/>
          <a:p>
            <a:pPr>
              <a:lnSpc>
                <a:spcPct val="150000"/>
              </a:lnSpc>
            </a:pPr>
            <a:r>
              <a:rPr lang="zh-CN" altLang="en-US" sz="2400" dirty="0">
                <a:latin typeface="Arial" panose="020B0604020202020204" pitchFamily="34" charset="0"/>
                <a:ea typeface="黑体" panose="02010609060101010101" pitchFamily="49" charset="-122"/>
                <a:cs typeface="Arial" panose="020B0604020202020204" pitchFamily="34" charset="0"/>
              </a:rPr>
              <a:t>两个完全相同的粒子静止于</a:t>
            </a:r>
            <a:r>
              <a:rPr lang="en-US" altLang="zh-CN" sz="2400" dirty="0">
                <a:latin typeface="Arial" panose="020B0604020202020204" pitchFamily="34" charset="0"/>
                <a:ea typeface="黑体" panose="02010609060101010101" pitchFamily="49" charset="-122"/>
                <a:cs typeface="Arial" panose="020B0604020202020204" pitchFamily="34" charset="0"/>
              </a:rPr>
              <a:t>S</a:t>
            </a:r>
            <a:r>
              <a:rPr lang="zh-CN" altLang="en-US" sz="2400" dirty="0">
                <a:latin typeface="Arial" panose="020B0604020202020204" pitchFamily="34" charset="0"/>
                <a:ea typeface="黑体" panose="02010609060101010101" pitchFamily="49" charset="-122"/>
                <a:cs typeface="Arial" panose="020B0604020202020204" pitchFamily="34" charset="0"/>
              </a:rPr>
              <a:t>’系。某时刻，在</a:t>
            </a:r>
            <a:r>
              <a:rPr lang="en-US" altLang="zh-CN" sz="2400" dirty="0">
                <a:latin typeface="Arial" panose="020B0604020202020204" pitchFamily="34" charset="0"/>
                <a:ea typeface="黑体" panose="02010609060101010101" pitchFamily="49" charset="-122"/>
                <a:cs typeface="Arial" panose="020B0604020202020204" pitchFamily="34" charset="0"/>
              </a:rPr>
              <a:t>S</a:t>
            </a:r>
            <a:r>
              <a:rPr lang="zh-CN" altLang="en-US" sz="2400" dirty="0">
                <a:latin typeface="Arial" panose="020B0604020202020204" pitchFamily="34" charset="0"/>
                <a:ea typeface="黑体" panose="02010609060101010101" pitchFamily="49" charset="-122"/>
                <a:cs typeface="Arial" panose="020B0604020202020204" pitchFamily="34" charset="0"/>
              </a:rPr>
              <a:t>’系中以</a:t>
            </a:r>
            <a:r>
              <a:rPr lang="en-US" altLang="zh-CN" sz="2400" i="1" dirty="0">
                <a:latin typeface="Arial" panose="020B0604020202020204" pitchFamily="34" charset="0"/>
                <a:ea typeface="黑体" panose="02010609060101010101" pitchFamily="49" charset="-122"/>
                <a:cs typeface="Arial" panose="020B0604020202020204" pitchFamily="34" charset="0"/>
              </a:rPr>
              <a:t>v</a:t>
            </a:r>
            <a:r>
              <a:rPr lang="zh-CN" altLang="en-US" sz="2400" dirty="0">
                <a:latin typeface="Arial" panose="020B0604020202020204" pitchFamily="34" charset="0"/>
                <a:ea typeface="黑体" panose="02010609060101010101" pitchFamily="49" charset="-122"/>
                <a:cs typeface="Arial" panose="020B0604020202020204" pitchFamily="34" charset="0"/>
              </a:rPr>
              <a:t>和</a:t>
            </a:r>
            <a:r>
              <a:rPr lang="en-US" altLang="zh-CN" sz="2400" i="1" dirty="0">
                <a:latin typeface="Arial" panose="020B0604020202020204" pitchFamily="34" charset="0"/>
                <a:ea typeface="黑体" panose="02010609060101010101" pitchFamily="49" charset="-122"/>
                <a:cs typeface="Arial" panose="020B0604020202020204" pitchFamily="34" charset="0"/>
              </a:rPr>
              <a:t>-v</a:t>
            </a:r>
            <a:r>
              <a:rPr lang="zh-CN" altLang="en-US" sz="2400" dirty="0">
                <a:latin typeface="Arial" panose="020B0604020202020204" pitchFamily="34" charset="0"/>
                <a:ea typeface="黑体" panose="02010609060101010101" pitchFamily="49" charset="-122"/>
                <a:cs typeface="Arial" panose="020B0604020202020204" pitchFamily="34" charset="0"/>
              </a:rPr>
              <a:t>朝相反方向运动</a:t>
            </a:r>
          </a:p>
        </p:txBody>
      </p:sp>
    </p:spTree>
    <p:extLst>
      <p:ext uri="{BB962C8B-B14F-4D97-AF65-F5344CB8AC3E}">
        <p14:creationId xmlns:p14="http://schemas.microsoft.com/office/powerpoint/2010/main" val="21889174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723900"/>
            <a:ext cx="3775393" cy="461665"/>
          </a:xfrm>
          <a:prstGeom prst="rect">
            <a:avLst/>
          </a:prstGeom>
          <a:noFill/>
        </p:spPr>
        <p:txBody>
          <a:bodyPr wrap="none" rtlCol="0">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对于</a:t>
            </a:r>
            <a:r>
              <a:rPr lang="en-US" altLang="zh-CN" sz="2400" dirty="0">
                <a:latin typeface="Arial" panose="020B0604020202020204" pitchFamily="34" charset="0"/>
                <a:ea typeface="黑体" panose="02010609060101010101" pitchFamily="49" charset="-122"/>
                <a:cs typeface="Arial" panose="020B0604020202020204" pitchFamily="34" charset="0"/>
              </a:rPr>
              <a:t>S</a:t>
            </a:r>
            <a:r>
              <a:rPr lang="zh-CN" altLang="en-US" sz="2400" dirty="0">
                <a:latin typeface="Arial" panose="020B0604020202020204" pitchFamily="34" charset="0"/>
                <a:ea typeface="黑体" panose="02010609060101010101" pitchFamily="49" charset="-122"/>
                <a:cs typeface="Arial" panose="020B0604020202020204" pitchFamily="34" charset="0"/>
              </a:rPr>
              <a:t>系的动量守恒要求：</a:t>
            </a:r>
          </a:p>
        </p:txBody>
      </p:sp>
      <p:sp>
        <p:nvSpPr>
          <p:cNvPr id="3" name="文本框 2"/>
          <p:cNvSpPr txBox="1"/>
          <p:nvPr/>
        </p:nvSpPr>
        <p:spPr>
          <a:xfrm>
            <a:off x="1181099" y="1806298"/>
            <a:ext cx="4424609" cy="1200329"/>
          </a:xfrm>
          <a:prstGeom prst="rect">
            <a:avLst/>
          </a:prstGeom>
          <a:noFill/>
        </p:spPr>
        <p:txBody>
          <a:bodyPr wrap="none" rtlCol="0">
            <a:spAutoFit/>
          </a:bodyPr>
          <a:lstStyle/>
          <a:p>
            <a:pPr>
              <a:lnSpc>
                <a:spcPct val="150000"/>
              </a:lnSpc>
            </a:pPr>
            <a:r>
              <a:rPr lang="zh-CN" altLang="en-US" sz="2400" dirty="0">
                <a:latin typeface="Arial" panose="020B0604020202020204" pitchFamily="34" charset="0"/>
                <a:ea typeface="黑体" panose="02010609060101010101" pitchFamily="49" charset="-122"/>
                <a:cs typeface="Arial" panose="020B0604020202020204" pitchFamily="34" charset="0"/>
              </a:rPr>
              <a:t>碰撞后：</a:t>
            </a:r>
            <a:r>
              <a:rPr lang="en-US" altLang="zh-CN" sz="2400" i="1" dirty="0">
                <a:latin typeface="Arial" panose="020B0604020202020204" pitchFamily="34" charset="0"/>
                <a:ea typeface="黑体" panose="02010609060101010101" pitchFamily="49" charset="-122"/>
                <a:cs typeface="Arial" panose="020B0604020202020204" pitchFamily="34" charset="0"/>
              </a:rPr>
              <a:t>m</a:t>
            </a:r>
            <a:r>
              <a:rPr lang="en-US" altLang="zh-CN" sz="2400" i="1" baseline="-25000" dirty="0">
                <a:latin typeface="Arial" panose="020B0604020202020204" pitchFamily="34" charset="0"/>
                <a:ea typeface="黑体" panose="02010609060101010101" pitchFamily="49" charset="-122"/>
                <a:cs typeface="Arial" panose="020B0604020202020204" pitchFamily="34" charset="0"/>
              </a:rPr>
              <a:t>A</a:t>
            </a:r>
            <a:r>
              <a:rPr lang="en-US" altLang="zh-CN" sz="2400" dirty="0">
                <a:latin typeface="Arial" panose="020B0604020202020204" pitchFamily="34" charset="0"/>
                <a:ea typeface="黑体" panose="02010609060101010101" pitchFamily="49" charset="-122"/>
                <a:cs typeface="Arial" panose="020B0604020202020204" pitchFamily="34" charset="0"/>
              </a:rPr>
              <a:t> </a:t>
            </a:r>
            <a:r>
              <a:rPr lang="zh-CN" altLang="en-US" sz="2400" dirty="0">
                <a:latin typeface="Arial" panose="020B0604020202020204" pitchFamily="34" charset="0"/>
                <a:ea typeface="黑体" panose="02010609060101010101" pitchFamily="49" charset="-122"/>
                <a:cs typeface="Arial" panose="020B0604020202020204" pitchFamily="34" charset="0"/>
              </a:rPr>
              <a:t>在</a:t>
            </a:r>
            <a:r>
              <a:rPr lang="en-US" altLang="zh-CN" sz="2400" dirty="0">
                <a:latin typeface="Arial" panose="020B0604020202020204" pitchFamily="34" charset="0"/>
                <a:ea typeface="黑体" panose="02010609060101010101" pitchFamily="49" charset="-122"/>
                <a:cs typeface="Arial" panose="020B0604020202020204" pitchFamily="34" charset="0"/>
              </a:rPr>
              <a:t>S</a:t>
            </a:r>
            <a:r>
              <a:rPr lang="zh-CN" altLang="en-US" sz="2400" dirty="0">
                <a:latin typeface="Arial" panose="020B0604020202020204" pitchFamily="34" charset="0"/>
                <a:ea typeface="黑体" panose="02010609060101010101" pitchFamily="49" charset="-122"/>
                <a:cs typeface="Arial" panose="020B0604020202020204" pitchFamily="34" charset="0"/>
              </a:rPr>
              <a:t>系中速度为</a:t>
            </a:r>
            <a:r>
              <a:rPr lang="en-US" altLang="zh-CN" sz="2400" dirty="0">
                <a:latin typeface="Arial" panose="020B0604020202020204" pitchFamily="34" charset="0"/>
                <a:ea typeface="黑体" panose="02010609060101010101" pitchFamily="49" charset="-122"/>
                <a:cs typeface="Arial" panose="020B0604020202020204" pitchFamily="34" charset="0"/>
              </a:rPr>
              <a:t>0</a:t>
            </a:r>
            <a:r>
              <a:rPr lang="zh-CN" altLang="en-US" sz="2400" dirty="0">
                <a:latin typeface="Arial" panose="020B0604020202020204" pitchFamily="34" charset="0"/>
                <a:ea typeface="黑体" panose="02010609060101010101" pitchFamily="49" charset="-122"/>
                <a:cs typeface="Arial" panose="020B0604020202020204" pitchFamily="34" charset="0"/>
              </a:rPr>
              <a:t>；</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a:lnSpc>
                <a:spcPct val="150000"/>
              </a:lnSpc>
            </a:pPr>
            <a:r>
              <a:rPr lang="en-US" altLang="zh-CN" sz="2400" i="1" dirty="0" err="1">
                <a:latin typeface="Arial" panose="020B0604020202020204" pitchFamily="34" charset="0"/>
                <a:ea typeface="黑体" panose="02010609060101010101" pitchFamily="49" charset="-122"/>
                <a:cs typeface="Arial" panose="020B0604020202020204" pitchFamily="34" charset="0"/>
              </a:rPr>
              <a:t>m</a:t>
            </a:r>
            <a:r>
              <a:rPr lang="en-US" altLang="zh-CN" sz="2400" i="1" baseline="-25000" dirty="0" err="1">
                <a:latin typeface="Arial" panose="020B0604020202020204" pitchFamily="34" charset="0"/>
                <a:ea typeface="黑体" panose="02010609060101010101" pitchFamily="49" charset="-122"/>
                <a:cs typeface="Arial" panose="020B0604020202020204" pitchFamily="34" charset="0"/>
              </a:rPr>
              <a:t>B</a:t>
            </a:r>
            <a:r>
              <a:rPr lang="zh-CN" altLang="en-US" sz="2400" dirty="0">
                <a:latin typeface="Arial" panose="020B0604020202020204" pitchFamily="34" charset="0"/>
                <a:ea typeface="黑体" panose="02010609060101010101" pitchFamily="49" charset="-122"/>
                <a:cs typeface="Arial" panose="020B0604020202020204" pitchFamily="34" charset="0"/>
              </a:rPr>
              <a:t>相对于</a:t>
            </a:r>
            <a:r>
              <a:rPr lang="en-US" altLang="zh-CN" sz="2400" dirty="0">
                <a:latin typeface="Arial" panose="020B0604020202020204" pitchFamily="34" charset="0"/>
                <a:ea typeface="黑体" panose="02010609060101010101" pitchFamily="49" charset="-122"/>
                <a:cs typeface="Arial" panose="020B0604020202020204" pitchFamily="34" charset="0"/>
              </a:rPr>
              <a:t>S</a:t>
            </a:r>
            <a:r>
              <a:rPr lang="zh-CN" altLang="en-US" sz="2400" dirty="0">
                <a:latin typeface="Arial" panose="020B0604020202020204" pitchFamily="34" charset="0"/>
                <a:ea typeface="黑体" panose="02010609060101010101" pitchFamily="49" charset="-122"/>
                <a:cs typeface="Arial" panose="020B0604020202020204" pitchFamily="34" charset="0"/>
              </a:rPr>
              <a:t>的速度</a:t>
            </a:r>
          </a:p>
        </p:txBody>
      </p:sp>
      <p:sp>
        <p:nvSpPr>
          <p:cNvPr id="4" name="文本框 3"/>
          <p:cNvSpPr txBox="1"/>
          <p:nvPr/>
        </p:nvSpPr>
        <p:spPr>
          <a:xfrm>
            <a:off x="1181099" y="1333730"/>
            <a:ext cx="4243469" cy="461665"/>
          </a:xfrm>
          <a:prstGeom prst="rect">
            <a:avLst/>
          </a:prstGeom>
          <a:noFill/>
        </p:spPr>
        <p:txBody>
          <a:bodyPr wrap="none" rtlCol="0">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碰撞前：总动量（</a:t>
            </a:r>
            <a:r>
              <a:rPr lang="en-US" altLang="zh-CN" sz="2400" i="1" dirty="0">
                <a:latin typeface="Arial" panose="020B0604020202020204" pitchFamily="34" charset="0"/>
                <a:ea typeface="黑体" panose="02010609060101010101" pitchFamily="49" charset="-122"/>
                <a:cs typeface="Arial" panose="020B0604020202020204" pitchFamily="34" charset="0"/>
              </a:rPr>
              <a:t>m</a:t>
            </a:r>
            <a:r>
              <a:rPr lang="en-US" altLang="zh-CN" sz="2400" i="1" baseline="-25000" dirty="0">
                <a:latin typeface="Arial" panose="020B0604020202020204" pitchFamily="34" charset="0"/>
                <a:ea typeface="黑体" panose="02010609060101010101" pitchFamily="49" charset="-122"/>
                <a:cs typeface="Arial" panose="020B0604020202020204" pitchFamily="34" charset="0"/>
              </a:rPr>
              <a:t>A</a:t>
            </a:r>
            <a:r>
              <a:rPr lang="en-US" altLang="zh-CN" sz="2400" dirty="0">
                <a:latin typeface="Arial" panose="020B0604020202020204" pitchFamily="34" charset="0"/>
                <a:ea typeface="黑体" panose="02010609060101010101" pitchFamily="49" charset="-122"/>
                <a:cs typeface="Arial" panose="020B0604020202020204" pitchFamily="34" charset="0"/>
              </a:rPr>
              <a:t> + </a:t>
            </a:r>
            <a:r>
              <a:rPr lang="en-US" altLang="zh-CN" sz="2400" i="1" dirty="0" err="1">
                <a:latin typeface="Arial" panose="020B0604020202020204" pitchFamily="34" charset="0"/>
                <a:ea typeface="黑体" panose="02010609060101010101" pitchFamily="49" charset="-122"/>
                <a:cs typeface="Arial" panose="020B0604020202020204" pitchFamily="34" charset="0"/>
              </a:rPr>
              <a:t>m</a:t>
            </a:r>
            <a:r>
              <a:rPr lang="en-US" altLang="zh-CN" sz="2400" i="1" baseline="-25000" dirty="0" err="1">
                <a:latin typeface="Arial" panose="020B0604020202020204" pitchFamily="34" charset="0"/>
                <a:ea typeface="黑体" panose="02010609060101010101" pitchFamily="49" charset="-122"/>
                <a:cs typeface="Arial" panose="020B0604020202020204" pitchFamily="34" charset="0"/>
              </a:rPr>
              <a:t>B</a:t>
            </a:r>
            <a:r>
              <a:rPr lang="zh-CN" altLang="en-US" sz="2400" dirty="0">
                <a:latin typeface="Arial" panose="020B0604020202020204" pitchFamily="34" charset="0"/>
                <a:ea typeface="黑体" panose="02010609060101010101" pitchFamily="49" charset="-122"/>
                <a:cs typeface="Arial" panose="020B0604020202020204" pitchFamily="34" charset="0"/>
              </a:rPr>
              <a:t>）</a:t>
            </a:r>
            <a:r>
              <a:rPr lang="en-US" altLang="zh-CN" sz="2400" i="1" dirty="0">
                <a:latin typeface="Arial" panose="020B0604020202020204" pitchFamily="34" charset="0"/>
                <a:ea typeface="黑体" panose="02010609060101010101" pitchFamily="49" charset="-122"/>
                <a:cs typeface="Arial" panose="020B0604020202020204" pitchFamily="34" charset="0"/>
              </a:rPr>
              <a:t>v</a:t>
            </a:r>
            <a:endParaRPr lang="zh-CN" altLang="en-US" sz="2400" i="1" dirty="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5" name="文本框 4"/>
              <p:cNvSpPr txBox="1"/>
              <p:nvPr/>
            </p:nvSpPr>
            <p:spPr>
              <a:xfrm>
                <a:off x="2498886" y="3311970"/>
                <a:ext cx="4077014" cy="756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𝐵</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𝑣</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𝑣</m:t>
                          </m:r>
                        </m:num>
                        <m:den>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𝑣</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𝑣</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den>
                      </m:f>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𝑣</m:t>
                          </m:r>
                        </m:num>
                        <m:den>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𝑣</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den>
                      </m:f>
                    </m:oMath>
                  </m:oMathPara>
                </a14:m>
                <a:endParaRPr lang="zh-CN" altLang="en-US"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2498886" y="3311970"/>
                <a:ext cx="4077014" cy="756104"/>
              </a:xfrm>
              <a:prstGeom prst="rect">
                <a:avLst/>
              </a:prstGeom>
              <a:blipFill>
                <a:blip r:embed="rId2"/>
                <a:stretch>
                  <a:fillRect/>
                </a:stretch>
              </a:blipFill>
            </p:spPr>
            <p:txBody>
              <a:bodyPr/>
              <a:lstStyle/>
              <a:p>
                <a:r>
                  <a:rPr lang="zh-CN" altLang="en-US">
                    <a:noFill/>
                  </a:rPr>
                  <a:t> </a:t>
                </a:r>
              </a:p>
            </p:txBody>
          </p:sp>
        </mc:Fallback>
      </mc:AlternateContent>
      <p:sp>
        <p:nvSpPr>
          <p:cNvPr id="6" name="矩形 5"/>
          <p:cNvSpPr/>
          <p:nvPr/>
        </p:nvSpPr>
        <p:spPr>
          <a:xfrm>
            <a:off x="2905375" y="4447072"/>
            <a:ext cx="3264035" cy="461665"/>
          </a:xfrm>
          <a:prstGeom prst="rect">
            <a:avLst/>
          </a:prstGeom>
        </p:spPr>
        <p:txBody>
          <a:bodyPr wrap="none">
            <a:spAutoFit/>
          </a:bodyPr>
          <a:lstStyle/>
          <a:p>
            <a:r>
              <a:rPr lang="zh-CN" altLang="en-US" sz="2400" dirty="0">
                <a:latin typeface="Arial" panose="020B0604020202020204" pitchFamily="34" charset="0"/>
                <a:ea typeface="黑体" panose="02010609060101010101" pitchFamily="49" charset="-122"/>
                <a:cs typeface="Arial" panose="020B0604020202020204" pitchFamily="34" charset="0"/>
              </a:rPr>
              <a:t>（</a:t>
            </a:r>
            <a:r>
              <a:rPr lang="en-US" altLang="zh-CN" sz="2400" i="1" dirty="0">
                <a:latin typeface="Arial" panose="020B0604020202020204" pitchFamily="34" charset="0"/>
                <a:ea typeface="黑体" panose="02010609060101010101" pitchFamily="49" charset="-122"/>
                <a:cs typeface="Arial" panose="020B0604020202020204" pitchFamily="34" charset="0"/>
              </a:rPr>
              <a:t>m</a:t>
            </a:r>
            <a:r>
              <a:rPr lang="en-US" altLang="zh-CN" sz="2400" i="1" baseline="-25000" dirty="0">
                <a:latin typeface="Arial" panose="020B0604020202020204" pitchFamily="34" charset="0"/>
                <a:ea typeface="黑体" panose="02010609060101010101" pitchFamily="49" charset="-122"/>
                <a:cs typeface="Arial" panose="020B0604020202020204" pitchFamily="34" charset="0"/>
              </a:rPr>
              <a:t>A</a:t>
            </a:r>
            <a:r>
              <a:rPr lang="en-US" altLang="zh-CN" sz="2400" dirty="0">
                <a:latin typeface="Arial" panose="020B0604020202020204" pitchFamily="34" charset="0"/>
                <a:ea typeface="黑体" panose="02010609060101010101" pitchFamily="49" charset="-122"/>
                <a:cs typeface="Arial" panose="020B0604020202020204" pitchFamily="34" charset="0"/>
              </a:rPr>
              <a:t> + </a:t>
            </a:r>
            <a:r>
              <a:rPr lang="en-US" altLang="zh-CN" sz="2400" i="1" dirty="0" err="1">
                <a:latin typeface="Arial" panose="020B0604020202020204" pitchFamily="34" charset="0"/>
                <a:ea typeface="黑体" panose="02010609060101010101" pitchFamily="49" charset="-122"/>
                <a:cs typeface="Arial" panose="020B0604020202020204" pitchFamily="34" charset="0"/>
              </a:rPr>
              <a:t>m</a:t>
            </a:r>
            <a:r>
              <a:rPr lang="en-US" altLang="zh-CN" sz="2400" i="1" baseline="-25000" dirty="0" err="1">
                <a:latin typeface="Arial" panose="020B0604020202020204" pitchFamily="34" charset="0"/>
                <a:ea typeface="黑体" panose="02010609060101010101" pitchFamily="49" charset="-122"/>
                <a:cs typeface="Arial" panose="020B0604020202020204" pitchFamily="34" charset="0"/>
              </a:rPr>
              <a:t>B</a:t>
            </a:r>
            <a:r>
              <a:rPr lang="zh-CN" altLang="en-US" sz="2400" dirty="0">
                <a:latin typeface="Arial" panose="020B0604020202020204" pitchFamily="34" charset="0"/>
                <a:ea typeface="黑体" panose="02010609060101010101" pitchFamily="49" charset="-122"/>
                <a:cs typeface="Arial" panose="020B0604020202020204" pitchFamily="34" charset="0"/>
              </a:rPr>
              <a:t>）</a:t>
            </a:r>
            <a:r>
              <a:rPr lang="en-US" altLang="zh-CN" sz="2400" i="1" dirty="0">
                <a:latin typeface="Arial" panose="020B0604020202020204" pitchFamily="34" charset="0"/>
                <a:ea typeface="黑体" panose="02010609060101010101" pitchFamily="49" charset="-122"/>
                <a:cs typeface="Arial" panose="020B0604020202020204" pitchFamily="34" charset="0"/>
              </a:rPr>
              <a:t>v = </a:t>
            </a:r>
            <a:r>
              <a:rPr lang="en-US" altLang="zh-CN" sz="2400" i="1" dirty="0" err="1">
                <a:latin typeface="Arial" panose="020B0604020202020204" pitchFamily="34" charset="0"/>
                <a:ea typeface="黑体" panose="02010609060101010101" pitchFamily="49" charset="-122"/>
                <a:cs typeface="Arial" panose="020B0604020202020204" pitchFamily="34" charset="0"/>
              </a:rPr>
              <a:t>m</a:t>
            </a:r>
            <a:r>
              <a:rPr lang="en-US" altLang="zh-CN" sz="2400" i="1" baseline="-25000" dirty="0" err="1">
                <a:latin typeface="Arial" panose="020B0604020202020204" pitchFamily="34" charset="0"/>
                <a:ea typeface="黑体" panose="02010609060101010101" pitchFamily="49" charset="-122"/>
                <a:cs typeface="Arial" panose="020B0604020202020204" pitchFamily="34" charset="0"/>
              </a:rPr>
              <a:t>B</a:t>
            </a:r>
            <a:r>
              <a:rPr lang="en-US" altLang="zh-CN" sz="2400" i="1" baseline="-25000" dirty="0">
                <a:latin typeface="Arial" panose="020B0604020202020204" pitchFamily="34" charset="0"/>
                <a:ea typeface="黑体" panose="02010609060101010101" pitchFamily="49" charset="-122"/>
                <a:cs typeface="Arial" panose="020B0604020202020204" pitchFamily="34" charset="0"/>
              </a:rPr>
              <a:t> </a:t>
            </a:r>
            <a:r>
              <a:rPr lang="en-US" altLang="zh-CN" sz="2400" i="1" dirty="0" err="1">
                <a:latin typeface="Arial" panose="020B0604020202020204" pitchFamily="34" charset="0"/>
                <a:ea typeface="黑体" panose="02010609060101010101" pitchFamily="49" charset="-122"/>
                <a:cs typeface="Arial" panose="020B0604020202020204" pitchFamily="34" charset="0"/>
              </a:rPr>
              <a:t>v</a:t>
            </a:r>
            <a:r>
              <a:rPr lang="en-US" altLang="zh-CN" sz="2400" i="1" baseline="-25000" dirty="0" err="1">
                <a:latin typeface="Arial" panose="020B0604020202020204" pitchFamily="34" charset="0"/>
                <a:ea typeface="黑体" panose="02010609060101010101" pitchFamily="49" charset="-122"/>
                <a:cs typeface="Arial" panose="020B0604020202020204" pitchFamily="34" charset="0"/>
              </a:rPr>
              <a:t>B</a:t>
            </a:r>
            <a:r>
              <a:rPr lang="en-US" altLang="zh-CN" sz="2400" i="1" dirty="0">
                <a:latin typeface="Arial" panose="020B0604020202020204" pitchFamily="34" charset="0"/>
                <a:ea typeface="黑体" panose="02010609060101010101" pitchFamily="49" charset="-122"/>
                <a:cs typeface="Arial" panose="020B0604020202020204" pitchFamily="34" charset="0"/>
              </a:rPr>
              <a:t> </a:t>
            </a:r>
            <a:endParaRPr lang="zh-CN" altLang="en-US" sz="2400" i="1" dirty="0">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p:cNvSpPr txBox="1"/>
              <p:nvPr/>
            </p:nvSpPr>
            <p:spPr>
              <a:xfrm>
                <a:off x="3084879" y="5181600"/>
                <a:ext cx="2905026" cy="848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𝐵</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𝐴</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1−</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𝐵</m:t>
                                  </m:r>
                                </m:sub>
                                <m:sup>
                                  <m:r>
                                    <a:rPr lang="en-US" altLang="zh-CN" sz="2400" b="0" i="1" smtClean="0">
                                      <a:latin typeface="Cambria Math" panose="02040503050406030204" pitchFamily="18" charset="0"/>
                                    </a:rPr>
                                    <m:t>2</m:t>
                                  </m:r>
                                </m:sup>
                              </m:sSub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𝑐</m:t>
                                  </m:r>
                                </m:e>
                                <m:sup>
                                  <m:r>
                                    <a:rPr lang="en-US" altLang="zh-CN" sz="2400" b="0" i="1" smtClean="0">
                                      <a:latin typeface="Cambria Math" panose="02040503050406030204" pitchFamily="18" charset="0"/>
                                    </a:rPr>
                                    <m:t>2</m:t>
                                  </m:r>
                                </m:sup>
                              </m:sSup>
                            </m:e>
                          </m:rad>
                        </m:den>
                      </m:f>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3084879" y="5181600"/>
                <a:ext cx="2905026" cy="848887"/>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848558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ChangeArrowheads="1"/>
          </p:cNvSpPr>
          <p:nvPr/>
        </p:nvSpPr>
        <p:spPr bwMode="auto">
          <a:xfrm>
            <a:off x="390048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9096" name="Rectangle 8"/>
          <p:cNvSpPr>
            <a:spLocks noChangeArrowheads="1"/>
          </p:cNvSpPr>
          <p:nvPr/>
        </p:nvSpPr>
        <p:spPr bwMode="auto">
          <a:xfrm>
            <a:off x="661988" y="1266360"/>
            <a:ext cx="30732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800" b="1">
                <a:solidFill>
                  <a:srgbClr val="0000FF"/>
                </a:solidFill>
                <a:effectLst/>
                <a:latin typeface="黑体" panose="02010609060101010101" pitchFamily="49" charset="-122"/>
                <a:ea typeface="黑体" panose="02010609060101010101" pitchFamily="49" charset="-122"/>
              </a:rPr>
              <a:t>2.1 </a:t>
            </a:r>
            <a:r>
              <a:rPr kumimoji="1" lang="zh-CN" altLang="en-US" sz="2800" b="1">
                <a:solidFill>
                  <a:srgbClr val="0000FF"/>
                </a:solidFill>
                <a:effectLst/>
                <a:latin typeface="黑体" panose="02010609060101010101" pitchFamily="49" charset="-122"/>
                <a:ea typeface="黑体" panose="02010609060101010101" pitchFamily="49" charset="-122"/>
              </a:rPr>
              <a:t>相对论的质量</a:t>
            </a:r>
          </a:p>
        </p:txBody>
      </p:sp>
      <p:sp>
        <p:nvSpPr>
          <p:cNvPr id="89098" name="Rectangle 10"/>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89097" name="Object 9"/>
          <p:cNvGraphicFramePr>
            <a:graphicFrameLocks noChangeAspect="1"/>
          </p:cNvGraphicFramePr>
          <p:nvPr/>
        </p:nvGraphicFramePr>
        <p:xfrm>
          <a:off x="2103438" y="2052638"/>
          <a:ext cx="3240087" cy="1412875"/>
        </p:xfrm>
        <a:graphic>
          <a:graphicData uri="http://schemas.openxmlformats.org/presentationml/2006/ole">
            <mc:AlternateContent xmlns:mc="http://schemas.openxmlformats.org/markup-compatibility/2006">
              <mc:Choice xmlns:v="urn:schemas-microsoft-com:vml" Requires="v">
                <p:oleObj spid="_x0000_s43046" name="Equation" r:id="rId3" imgW="990360" imgH="431640" progId="Equation.DSMT4">
                  <p:embed/>
                </p:oleObj>
              </mc:Choice>
              <mc:Fallback>
                <p:oleObj name="Equation" r:id="rId3" imgW="990360" imgH="431640" progId="Equation.DSMT4">
                  <p:embed/>
                  <p:pic>
                    <p:nvPicPr>
                      <p:cNvPr id="89097"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3438" y="2052638"/>
                        <a:ext cx="3240087" cy="1412875"/>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099" name="Rectangle 11"/>
          <p:cNvSpPr>
            <a:spLocks noChangeArrowheads="1"/>
          </p:cNvSpPr>
          <p:nvPr/>
        </p:nvSpPr>
        <p:spPr bwMode="auto">
          <a:xfrm>
            <a:off x="735013" y="3765085"/>
            <a:ext cx="30732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800" b="1">
                <a:solidFill>
                  <a:srgbClr val="0000FF"/>
                </a:solidFill>
                <a:effectLst/>
                <a:latin typeface="黑体" panose="02010609060101010101" pitchFamily="49" charset="-122"/>
                <a:ea typeface="黑体" panose="02010609060101010101" pitchFamily="49" charset="-122"/>
              </a:rPr>
              <a:t>2.2 </a:t>
            </a:r>
            <a:r>
              <a:rPr kumimoji="1" lang="zh-CN" altLang="en-US" sz="2800" b="1">
                <a:solidFill>
                  <a:srgbClr val="0000FF"/>
                </a:solidFill>
                <a:effectLst/>
                <a:latin typeface="黑体" panose="02010609060101010101" pitchFamily="49" charset="-122"/>
                <a:ea typeface="黑体" panose="02010609060101010101" pitchFamily="49" charset="-122"/>
              </a:rPr>
              <a:t>相对论的动量</a:t>
            </a:r>
          </a:p>
        </p:txBody>
      </p:sp>
      <p:sp>
        <p:nvSpPr>
          <p:cNvPr id="89101" name="Rectangle 13"/>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89100" name="Object 12"/>
          <p:cNvGraphicFramePr>
            <a:graphicFrameLocks noChangeAspect="1"/>
          </p:cNvGraphicFramePr>
          <p:nvPr/>
        </p:nvGraphicFramePr>
        <p:xfrm>
          <a:off x="2011363" y="4503738"/>
          <a:ext cx="4289425" cy="1416050"/>
        </p:xfrm>
        <a:graphic>
          <a:graphicData uri="http://schemas.openxmlformats.org/presentationml/2006/ole">
            <mc:AlternateContent xmlns:mc="http://schemas.openxmlformats.org/markup-compatibility/2006">
              <mc:Choice xmlns:v="urn:schemas-microsoft-com:vml" Requires="v">
                <p:oleObj spid="_x0000_s43047" name="Equation" r:id="rId5" imgW="1307880" imgH="431640" progId="Equation.DSMT4">
                  <p:embed/>
                </p:oleObj>
              </mc:Choice>
              <mc:Fallback>
                <p:oleObj name="Equation" r:id="rId5" imgW="1307880" imgH="431640" progId="Equation.DSMT4">
                  <p:embed/>
                  <p:pic>
                    <p:nvPicPr>
                      <p:cNvPr id="8910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1363" y="4503738"/>
                        <a:ext cx="4289425" cy="1416050"/>
                      </a:xfrm>
                      <a:prstGeom prst="rect">
                        <a:avLst/>
                      </a:prstGeom>
                      <a:noFill/>
                      <a:ln w="19050" algn="ctr">
                        <a:solidFill>
                          <a:srgbClr val="008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527138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6"/>
                                        </p:tgtEl>
                                        <p:attrNameLst>
                                          <p:attrName>style.visibility</p:attrName>
                                        </p:attrNameLst>
                                      </p:cBhvr>
                                      <p:to>
                                        <p:strVal val="visible"/>
                                      </p:to>
                                    </p:set>
                                    <p:anim calcmode="lin" valueType="num">
                                      <p:cBhvr additive="base">
                                        <p:cTn id="7" dur="500" fill="hold"/>
                                        <p:tgtEl>
                                          <p:spTgt spid="89096"/>
                                        </p:tgtEl>
                                        <p:attrNameLst>
                                          <p:attrName>ppt_x</p:attrName>
                                        </p:attrNameLst>
                                      </p:cBhvr>
                                      <p:tavLst>
                                        <p:tav tm="0">
                                          <p:val>
                                            <p:strVal val="0-#ppt_w/2"/>
                                          </p:val>
                                        </p:tav>
                                        <p:tav tm="100000">
                                          <p:val>
                                            <p:strVal val="#ppt_x"/>
                                          </p:val>
                                        </p:tav>
                                      </p:tavLst>
                                    </p:anim>
                                    <p:anim calcmode="lin" valueType="num">
                                      <p:cBhvr additive="base">
                                        <p:cTn id="8" dur="500" fill="hold"/>
                                        <p:tgtEl>
                                          <p:spTgt spid="8909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9097"/>
                                        </p:tgtEl>
                                        <p:attrNameLst>
                                          <p:attrName>style.visibility</p:attrName>
                                        </p:attrNameLst>
                                      </p:cBhvr>
                                      <p:to>
                                        <p:strVal val="visible"/>
                                      </p:to>
                                    </p:set>
                                    <p:anim calcmode="lin" valueType="num">
                                      <p:cBhvr additive="base">
                                        <p:cTn id="13" dur="500" fill="hold"/>
                                        <p:tgtEl>
                                          <p:spTgt spid="89097"/>
                                        </p:tgtEl>
                                        <p:attrNameLst>
                                          <p:attrName>ppt_x</p:attrName>
                                        </p:attrNameLst>
                                      </p:cBhvr>
                                      <p:tavLst>
                                        <p:tav tm="0">
                                          <p:val>
                                            <p:strVal val="0-#ppt_w/2"/>
                                          </p:val>
                                        </p:tav>
                                        <p:tav tm="100000">
                                          <p:val>
                                            <p:strVal val="#ppt_x"/>
                                          </p:val>
                                        </p:tav>
                                      </p:tavLst>
                                    </p:anim>
                                    <p:anim calcmode="lin" valueType="num">
                                      <p:cBhvr additive="base">
                                        <p:cTn id="14" dur="500" fill="hold"/>
                                        <p:tgtEl>
                                          <p:spTgt spid="8909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099"/>
                                        </p:tgtEl>
                                        <p:attrNameLst>
                                          <p:attrName>style.visibility</p:attrName>
                                        </p:attrNameLst>
                                      </p:cBhvr>
                                      <p:to>
                                        <p:strVal val="visible"/>
                                      </p:to>
                                    </p:set>
                                    <p:anim calcmode="lin" valueType="num">
                                      <p:cBhvr additive="base">
                                        <p:cTn id="19" dur="500" fill="hold"/>
                                        <p:tgtEl>
                                          <p:spTgt spid="89099"/>
                                        </p:tgtEl>
                                        <p:attrNameLst>
                                          <p:attrName>ppt_x</p:attrName>
                                        </p:attrNameLst>
                                      </p:cBhvr>
                                      <p:tavLst>
                                        <p:tav tm="0">
                                          <p:val>
                                            <p:strVal val="0-#ppt_w/2"/>
                                          </p:val>
                                        </p:tav>
                                        <p:tav tm="100000">
                                          <p:val>
                                            <p:strVal val="#ppt_x"/>
                                          </p:val>
                                        </p:tav>
                                      </p:tavLst>
                                    </p:anim>
                                    <p:anim calcmode="lin" valueType="num">
                                      <p:cBhvr additive="base">
                                        <p:cTn id="20" dur="500" fill="hold"/>
                                        <p:tgtEl>
                                          <p:spTgt spid="8909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9100"/>
                                        </p:tgtEl>
                                        <p:attrNameLst>
                                          <p:attrName>style.visibility</p:attrName>
                                        </p:attrNameLst>
                                      </p:cBhvr>
                                      <p:to>
                                        <p:strVal val="visible"/>
                                      </p:to>
                                    </p:set>
                                    <p:anim calcmode="lin" valueType="num">
                                      <p:cBhvr additive="base">
                                        <p:cTn id="25" dur="500" fill="hold"/>
                                        <p:tgtEl>
                                          <p:spTgt spid="89100"/>
                                        </p:tgtEl>
                                        <p:attrNameLst>
                                          <p:attrName>ppt_x</p:attrName>
                                        </p:attrNameLst>
                                      </p:cBhvr>
                                      <p:tavLst>
                                        <p:tav tm="0">
                                          <p:val>
                                            <p:strVal val="0-#ppt_w/2"/>
                                          </p:val>
                                        </p:tav>
                                        <p:tav tm="100000">
                                          <p:val>
                                            <p:strVal val="#ppt_x"/>
                                          </p:val>
                                        </p:tav>
                                      </p:tavLst>
                                    </p:anim>
                                    <p:anim calcmode="lin" valueType="num">
                                      <p:cBhvr additive="base">
                                        <p:cTn id="26" dur="500" fill="hold"/>
                                        <p:tgtEl>
                                          <p:spTgt spid="89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6" grpId="0" autoUpdateAnimBg="0"/>
      <p:bldP spid="89099"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ChangeArrowheads="1"/>
          </p:cNvSpPr>
          <p:nvPr/>
        </p:nvSpPr>
        <p:spPr bwMode="auto">
          <a:xfrm>
            <a:off x="641350" y="1985963"/>
            <a:ext cx="4878388" cy="579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3200" b="1">
                <a:solidFill>
                  <a:srgbClr val="FF0000"/>
                </a:solidFill>
                <a:effectLst/>
                <a:latin typeface="黑体" panose="02010609060101010101" pitchFamily="49" charset="-122"/>
                <a:ea typeface="黑体" panose="02010609060101010101" pitchFamily="49" charset="-122"/>
              </a:rPr>
              <a:t>3.</a:t>
            </a:r>
            <a:r>
              <a:rPr kumimoji="1" lang="zh-CN" altLang="en-US" sz="3200" b="1">
                <a:solidFill>
                  <a:srgbClr val="FF0000"/>
                </a:solidFill>
                <a:effectLst/>
                <a:latin typeface="黑体" panose="02010609060101010101" pitchFamily="49" charset="-122"/>
                <a:ea typeface="黑体" panose="02010609060101010101" pitchFamily="49" charset="-122"/>
              </a:rPr>
              <a:t>相对论动力学基本方程 </a:t>
            </a:r>
          </a:p>
        </p:txBody>
      </p:sp>
      <p:sp>
        <p:nvSpPr>
          <p:cNvPr id="174084" name="Rectangle 4"/>
          <p:cNvSpPr>
            <a:spLocks noChangeArrowheads="1"/>
          </p:cNvSpPr>
          <p:nvPr/>
        </p:nvSpPr>
        <p:spPr bwMode="auto">
          <a:xfrm>
            <a:off x="0" y="3435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74085" name="Object 5"/>
          <p:cNvGraphicFramePr>
            <a:graphicFrameLocks noChangeAspect="1"/>
          </p:cNvGraphicFramePr>
          <p:nvPr/>
        </p:nvGraphicFramePr>
        <p:xfrm>
          <a:off x="1522413" y="2836863"/>
          <a:ext cx="5929312" cy="1600200"/>
        </p:xfrm>
        <a:graphic>
          <a:graphicData uri="http://schemas.openxmlformats.org/presentationml/2006/ole">
            <mc:AlternateContent xmlns:mc="http://schemas.openxmlformats.org/markup-compatibility/2006">
              <mc:Choice xmlns:v="urn:schemas-microsoft-com:vml" Requires="v">
                <p:oleObj spid="_x0000_s33812" name="Equation" r:id="rId3" imgW="1600200" imgH="431640" progId="Equation.DSMT4">
                  <p:embed/>
                </p:oleObj>
              </mc:Choice>
              <mc:Fallback>
                <p:oleObj name="Equation" r:id="rId3" imgW="1600200" imgH="431640" progId="Equation.DSMT4">
                  <p:embed/>
                  <p:pic>
                    <p:nvPicPr>
                      <p:cNvPr id="17408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2413" y="2836863"/>
                        <a:ext cx="5929312" cy="1600200"/>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9525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4085"/>
                                        </p:tgtEl>
                                        <p:attrNameLst>
                                          <p:attrName>style.visibility</p:attrName>
                                        </p:attrNameLst>
                                      </p:cBhvr>
                                      <p:to>
                                        <p:strVal val="visible"/>
                                      </p:to>
                                    </p:set>
                                    <p:anim calcmode="lin" valueType="num">
                                      <p:cBhvr additive="base">
                                        <p:cTn id="7" dur="500" fill="hold"/>
                                        <p:tgtEl>
                                          <p:spTgt spid="174085"/>
                                        </p:tgtEl>
                                        <p:attrNameLst>
                                          <p:attrName>ppt_x</p:attrName>
                                        </p:attrNameLst>
                                      </p:cBhvr>
                                      <p:tavLst>
                                        <p:tav tm="0">
                                          <p:val>
                                            <p:strVal val="0-#ppt_w/2"/>
                                          </p:val>
                                        </p:tav>
                                        <p:tav tm="100000">
                                          <p:val>
                                            <p:strVal val="#ppt_x"/>
                                          </p:val>
                                        </p:tav>
                                      </p:tavLst>
                                    </p:anim>
                                    <p:anim calcmode="lin" valueType="num">
                                      <p:cBhvr additive="base">
                                        <p:cTn id="8" dur="500" fill="hold"/>
                                        <p:tgtEl>
                                          <p:spTgt spid="1740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890963"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1140" name="Rectangle 4"/>
          <p:cNvSpPr>
            <a:spLocks noChangeArrowheads="1"/>
          </p:cNvSpPr>
          <p:nvPr/>
        </p:nvSpPr>
        <p:spPr bwMode="auto">
          <a:xfrm>
            <a:off x="3429000"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1145" name="Rectangle 9"/>
          <p:cNvSpPr>
            <a:spLocks noChangeArrowheads="1"/>
          </p:cNvSpPr>
          <p:nvPr/>
        </p:nvSpPr>
        <p:spPr bwMode="auto">
          <a:xfrm>
            <a:off x="736600" y="549275"/>
            <a:ext cx="3475038" cy="579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en-US" altLang="zh-CN" sz="3200" b="1">
                <a:solidFill>
                  <a:srgbClr val="FF0000"/>
                </a:solidFill>
                <a:effectLst/>
                <a:latin typeface="黑体" panose="02010609060101010101" pitchFamily="49" charset="-122"/>
                <a:ea typeface="黑体" panose="02010609060101010101" pitchFamily="49" charset="-122"/>
              </a:rPr>
              <a:t>4.</a:t>
            </a:r>
            <a:r>
              <a:rPr kumimoji="1" lang="zh-CN" altLang="en-US" sz="3200" b="1">
                <a:solidFill>
                  <a:srgbClr val="FF0000"/>
                </a:solidFill>
                <a:effectLst/>
                <a:latin typeface="黑体" panose="02010609060101010101" pitchFamily="49" charset="-122"/>
                <a:ea typeface="黑体" panose="02010609060101010101" pitchFamily="49" charset="-122"/>
              </a:rPr>
              <a:t>相对论的能量</a:t>
            </a:r>
          </a:p>
        </p:txBody>
      </p:sp>
      <p:sp>
        <p:nvSpPr>
          <p:cNvPr id="91149" name="Rectangle 13"/>
          <p:cNvSpPr>
            <a:spLocks noChangeArrowheads="1"/>
          </p:cNvSpPr>
          <p:nvPr/>
        </p:nvSpPr>
        <p:spPr bwMode="auto">
          <a:xfrm>
            <a:off x="684213" y="4287372"/>
            <a:ext cx="1266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800" b="1">
                <a:solidFill>
                  <a:srgbClr val="0000FF"/>
                </a:solidFill>
                <a:effectLst/>
                <a:latin typeface="Times New Roman" panose="02020603050405020304" pitchFamily="18" charset="0"/>
                <a:ea typeface="黑体" panose="02010609060101010101" pitchFamily="49" charset="-122"/>
              </a:rPr>
              <a:t>动能：</a:t>
            </a:r>
          </a:p>
        </p:txBody>
      </p:sp>
      <p:graphicFrame>
        <p:nvGraphicFramePr>
          <p:cNvPr id="91148" name="Object 12"/>
          <p:cNvGraphicFramePr>
            <a:graphicFrameLocks noChangeAspect="1"/>
          </p:cNvGraphicFramePr>
          <p:nvPr/>
        </p:nvGraphicFramePr>
        <p:xfrm>
          <a:off x="1908175" y="5038725"/>
          <a:ext cx="4032250" cy="884238"/>
        </p:xfrm>
        <a:graphic>
          <a:graphicData uri="http://schemas.openxmlformats.org/presentationml/2006/ole">
            <mc:AlternateContent xmlns:mc="http://schemas.openxmlformats.org/markup-compatibility/2006">
              <mc:Choice xmlns:v="urn:schemas-microsoft-com:vml" Requires="v">
                <p:oleObj spid="_x0000_s34872" name="公式" r:id="rId3" imgW="1002865" imgH="215806" progId="Equation.3">
                  <p:embed/>
                </p:oleObj>
              </mc:Choice>
              <mc:Fallback>
                <p:oleObj name="公式" r:id="rId3" imgW="1002865" imgH="215806" progId="Equation.3">
                  <p:embed/>
                  <p:pic>
                    <p:nvPicPr>
                      <p:cNvPr id="91148"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5038725"/>
                        <a:ext cx="4032250" cy="884238"/>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0" name="Rectangle 14"/>
          <p:cNvSpPr>
            <a:spLocks noChangeArrowheads="1"/>
          </p:cNvSpPr>
          <p:nvPr/>
        </p:nvSpPr>
        <p:spPr bwMode="auto">
          <a:xfrm>
            <a:off x="611188" y="1309222"/>
            <a:ext cx="13564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800" b="1">
                <a:solidFill>
                  <a:srgbClr val="0000FF"/>
                </a:solidFill>
                <a:effectLst/>
                <a:latin typeface="Times New Roman" panose="02020603050405020304" pitchFamily="18" charset="0"/>
                <a:ea typeface="宋体" panose="02010600030101010101" pitchFamily="2" charset="-122"/>
              </a:rPr>
              <a:t> </a:t>
            </a:r>
            <a:r>
              <a:rPr kumimoji="1" lang="zh-CN" altLang="en-US" sz="2800" b="1">
                <a:solidFill>
                  <a:srgbClr val="0000FF"/>
                </a:solidFill>
                <a:effectLst/>
                <a:latin typeface="Times New Roman" panose="02020603050405020304" pitchFamily="18" charset="0"/>
                <a:ea typeface="黑体" panose="02010609060101010101" pitchFamily="49" charset="-122"/>
              </a:rPr>
              <a:t>总能：</a:t>
            </a:r>
            <a:endParaRPr kumimoji="1" lang="zh-CN" altLang="en-US" sz="2800" b="1">
              <a:solidFill>
                <a:srgbClr val="0000FF"/>
              </a:solidFill>
              <a:effectLst/>
              <a:latin typeface="Times New Roman" panose="02020603050405020304" pitchFamily="18" charset="0"/>
              <a:ea typeface="宋体" panose="02010600030101010101" pitchFamily="2" charset="-122"/>
            </a:endParaRPr>
          </a:p>
        </p:txBody>
      </p:sp>
      <p:graphicFrame>
        <p:nvGraphicFramePr>
          <p:cNvPr id="91147" name="Object 11"/>
          <p:cNvGraphicFramePr>
            <a:graphicFrameLocks noChangeAspect="1"/>
          </p:cNvGraphicFramePr>
          <p:nvPr/>
        </p:nvGraphicFramePr>
        <p:xfrm>
          <a:off x="1979613" y="1870075"/>
          <a:ext cx="1800225" cy="646113"/>
        </p:xfrm>
        <a:graphic>
          <a:graphicData uri="http://schemas.openxmlformats.org/presentationml/2006/ole">
            <mc:AlternateContent xmlns:mc="http://schemas.openxmlformats.org/markup-compatibility/2006">
              <mc:Choice xmlns:v="urn:schemas-microsoft-com:vml" Requires="v">
                <p:oleObj spid="_x0000_s34873" name="公式" r:id="rId5" imgW="507780" imgH="177723" progId="Equation.3">
                  <p:embed/>
                </p:oleObj>
              </mc:Choice>
              <mc:Fallback>
                <p:oleObj name="公式" r:id="rId5" imgW="507780" imgH="177723" progId="Equation.3">
                  <p:embed/>
                  <p:pic>
                    <p:nvPicPr>
                      <p:cNvPr id="9114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1870075"/>
                        <a:ext cx="1800225" cy="646113"/>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1" name="Rectangle 15"/>
          <p:cNvSpPr>
            <a:spLocks noChangeArrowheads="1"/>
          </p:cNvSpPr>
          <p:nvPr/>
        </p:nvSpPr>
        <p:spPr bwMode="auto">
          <a:xfrm>
            <a:off x="684213" y="2677647"/>
            <a:ext cx="1266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800" b="1">
                <a:solidFill>
                  <a:srgbClr val="0000FF"/>
                </a:solidFill>
                <a:effectLst/>
                <a:latin typeface="Times New Roman" panose="02020603050405020304" pitchFamily="18" charset="0"/>
                <a:ea typeface="黑体" panose="02010609060101010101" pitchFamily="49" charset="-122"/>
              </a:rPr>
              <a:t>静能：</a:t>
            </a:r>
            <a:endParaRPr kumimoji="1" lang="zh-CN" altLang="en-US" sz="2800" b="1">
              <a:solidFill>
                <a:srgbClr val="0000FF"/>
              </a:solidFill>
              <a:effectLst/>
              <a:latin typeface="Times New Roman" panose="02020603050405020304" pitchFamily="18" charset="0"/>
              <a:ea typeface="宋体" panose="02010600030101010101" pitchFamily="2" charset="-122"/>
            </a:endParaRPr>
          </a:p>
        </p:txBody>
      </p:sp>
      <p:graphicFrame>
        <p:nvGraphicFramePr>
          <p:cNvPr id="91146" name="Object 10"/>
          <p:cNvGraphicFramePr>
            <a:graphicFrameLocks noChangeAspect="1"/>
          </p:cNvGraphicFramePr>
          <p:nvPr/>
        </p:nvGraphicFramePr>
        <p:xfrm>
          <a:off x="1979613" y="3332163"/>
          <a:ext cx="2232025" cy="790575"/>
        </p:xfrm>
        <a:graphic>
          <a:graphicData uri="http://schemas.openxmlformats.org/presentationml/2006/ole">
            <mc:AlternateContent xmlns:mc="http://schemas.openxmlformats.org/markup-compatibility/2006">
              <mc:Choice xmlns:v="urn:schemas-microsoft-com:vml" Requires="v">
                <p:oleObj spid="_x0000_s34874" name="公式" r:id="rId7" imgW="622030" imgH="215806" progId="Equation.3">
                  <p:embed/>
                </p:oleObj>
              </mc:Choice>
              <mc:Fallback>
                <p:oleObj name="公式" r:id="rId7" imgW="622030" imgH="215806" progId="Equation.3">
                  <p:embed/>
                  <p:pic>
                    <p:nvPicPr>
                      <p:cNvPr id="91146"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3332163"/>
                        <a:ext cx="2232025" cy="790575"/>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2" name="Text Box 16"/>
          <p:cNvSpPr txBox="1">
            <a:spLocks noChangeArrowheads="1"/>
          </p:cNvSpPr>
          <p:nvPr/>
        </p:nvSpPr>
        <p:spPr bwMode="auto">
          <a:xfrm>
            <a:off x="1187450" y="6165850"/>
            <a:ext cx="6264275"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66"/>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800">
                <a:effectLst>
                  <a:outerShdw blurRad="38100" dist="38100" dir="2700000" algn="tl">
                    <a:srgbClr val="000000"/>
                  </a:outerShdw>
                </a:effectLst>
              </a:rPr>
              <a:t>可由相对论动力学方程及动能定理导出</a:t>
            </a:r>
            <a:endParaRPr lang="en-US" altLang="zh-CN" sz="2800">
              <a:effectLst>
                <a:outerShdw blurRad="38100" dist="38100" dir="2700000" algn="tl">
                  <a:srgbClr val="000000"/>
                </a:outerShdw>
              </a:effectLst>
            </a:endParaRPr>
          </a:p>
        </p:txBody>
      </p:sp>
    </p:spTree>
    <p:extLst>
      <p:ext uri="{BB962C8B-B14F-4D97-AF65-F5344CB8AC3E}">
        <p14:creationId xmlns:p14="http://schemas.microsoft.com/office/powerpoint/2010/main" val="1804320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50"/>
                                        </p:tgtEl>
                                        <p:attrNameLst>
                                          <p:attrName>style.visibility</p:attrName>
                                        </p:attrNameLst>
                                      </p:cBhvr>
                                      <p:to>
                                        <p:strVal val="visible"/>
                                      </p:to>
                                    </p:set>
                                    <p:anim calcmode="lin" valueType="num">
                                      <p:cBhvr additive="base">
                                        <p:cTn id="7" dur="500" fill="hold"/>
                                        <p:tgtEl>
                                          <p:spTgt spid="91150"/>
                                        </p:tgtEl>
                                        <p:attrNameLst>
                                          <p:attrName>ppt_x</p:attrName>
                                        </p:attrNameLst>
                                      </p:cBhvr>
                                      <p:tavLst>
                                        <p:tav tm="0">
                                          <p:val>
                                            <p:strVal val="0-#ppt_w/2"/>
                                          </p:val>
                                        </p:tav>
                                        <p:tav tm="100000">
                                          <p:val>
                                            <p:strVal val="#ppt_x"/>
                                          </p:val>
                                        </p:tav>
                                      </p:tavLst>
                                    </p:anim>
                                    <p:anim calcmode="lin" valueType="num">
                                      <p:cBhvr additive="base">
                                        <p:cTn id="8" dur="500" fill="hold"/>
                                        <p:tgtEl>
                                          <p:spTgt spid="911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1147"/>
                                        </p:tgtEl>
                                        <p:attrNameLst>
                                          <p:attrName>style.visibility</p:attrName>
                                        </p:attrNameLst>
                                      </p:cBhvr>
                                      <p:to>
                                        <p:strVal val="visible"/>
                                      </p:to>
                                    </p:set>
                                    <p:anim calcmode="lin" valueType="num">
                                      <p:cBhvr additive="base">
                                        <p:cTn id="13" dur="500" fill="hold"/>
                                        <p:tgtEl>
                                          <p:spTgt spid="91147"/>
                                        </p:tgtEl>
                                        <p:attrNameLst>
                                          <p:attrName>ppt_x</p:attrName>
                                        </p:attrNameLst>
                                      </p:cBhvr>
                                      <p:tavLst>
                                        <p:tav tm="0">
                                          <p:val>
                                            <p:strVal val="0-#ppt_w/2"/>
                                          </p:val>
                                        </p:tav>
                                        <p:tav tm="100000">
                                          <p:val>
                                            <p:strVal val="#ppt_x"/>
                                          </p:val>
                                        </p:tav>
                                      </p:tavLst>
                                    </p:anim>
                                    <p:anim calcmode="lin" valueType="num">
                                      <p:cBhvr additive="base">
                                        <p:cTn id="14" dur="500" fill="hold"/>
                                        <p:tgtEl>
                                          <p:spTgt spid="911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1151"/>
                                        </p:tgtEl>
                                        <p:attrNameLst>
                                          <p:attrName>style.visibility</p:attrName>
                                        </p:attrNameLst>
                                      </p:cBhvr>
                                      <p:to>
                                        <p:strVal val="visible"/>
                                      </p:to>
                                    </p:set>
                                    <p:anim calcmode="lin" valueType="num">
                                      <p:cBhvr additive="base">
                                        <p:cTn id="19" dur="500" fill="hold"/>
                                        <p:tgtEl>
                                          <p:spTgt spid="91151"/>
                                        </p:tgtEl>
                                        <p:attrNameLst>
                                          <p:attrName>ppt_x</p:attrName>
                                        </p:attrNameLst>
                                      </p:cBhvr>
                                      <p:tavLst>
                                        <p:tav tm="0">
                                          <p:val>
                                            <p:strVal val="0-#ppt_w/2"/>
                                          </p:val>
                                        </p:tav>
                                        <p:tav tm="100000">
                                          <p:val>
                                            <p:strVal val="#ppt_x"/>
                                          </p:val>
                                        </p:tav>
                                      </p:tavLst>
                                    </p:anim>
                                    <p:anim calcmode="lin" valueType="num">
                                      <p:cBhvr additive="base">
                                        <p:cTn id="20" dur="500" fill="hold"/>
                                        <p:tgtEl>
                                          <p:spTgt spid="9115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91146"/>
                                        </p:tgtEl>
                                        <p:attrNameLst>
                                          <p:attrName>style.visibility</p:attrName>
                                        </p:attrNameLst>
                                      </p:cBhvr>
                                      <p:to>
                                        <p:strVal val="visible"/>
                                      </p:to>
                                    </p:set>
                                    <p:anim calcmode="lin" valueType="num">
                                      <p:cBhvr additive="base">
                                        <p:cTn id="25" dur="500" fill="hold"/>
                                        <p:tgtEl>
                                          <p:spTgt spid="91146"/>
                                        </p:tgtEl>
                                        <p:attrNameLst>
                                          <p:attrName>ppt_x</p:attrName>
                                        </p:attrNameLst>
                                      </p:cBhvr>
                                      <p:tavLst>
                                        <p:tav tm="0">
                                          <p:val>
                                            <p:strVal val="0-#ppt_w/2"/>
                                          </p:val>
                                        </p:tav>
                                        <p:tav tm="100000">
                                          <p:val>
                                            <p:strVal val="#ppt_x"/>
                                          </p:val>
                                        </p:tav>
                                      </p:tavLst>
                                    </p:anim>
                                    <p:anim calcmode="lin" valueType="num">
                                      <p:cBhvr additive="base">
                                        <p:cTn id="26" dur="500" fill="hold"/>
                                        <p:tgtEl>
                                          <p:spTgt spid="9114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1149"/>
                                        </p:tgtEl>
                                        <p:attrNameLst>
                                          <p:attrName>style.visibility</p:attrName>
                                        </p:attrNameLst>
                                      </p:cBhvr>
                                      <p:to>
                                        <p:strVal val="visible"/>
                                      </p:to>
                                    </p:set>
                                    <p:anim calcmode="lin" valueType="num">
                                      <p:cBhvr additive="base">
                                        <p:cTn id="31" dur="500" fill="hold"/>
                                        <p:tgtEl>
                                          <p:spTgt spid="91149"/>
                                        </p:tgtEl>
                                        <p:attrNameLst>
                                          <p:attrName>ppt_x</p:attrName>
                                        </p:attrNameLst>
                                      </p:cBhvr>
                                      <p:tavLst>
                                        <p:tav tm="0">
                                          <p:val>
                                            <p:strVal val="0-#ppt_w/2"/>
                                          </p:val>
                                        </p:tav>
                                        <p:tav tm="100000">
                                          <p:val>
                                            <p:strVal val="#ppt_x"/>
                                          </p:val>
                                        </p:tav>
                                      </p:tavLst>
                                    </p:anim>
                                    <p:anim calcmode="lin" valueType="num">
                                      <p:cBhvr additive="base">
                                        <p:cTn id="32" dur="500" fill="hold"/>
                                        <p:tgtEl>
                                          <p:spTgt spid="9114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91148"/>
                                        </p:tgtEl>
                                        <p:attrNameLst>
                                          <p:attrName>style.visibility</p:attrName>
                                        </p:attrNameLst>
                                      </p:cBhvr>
                                      <p:to>
                                        <p:strVal val="visible"/>
                                      </p:to>
                                    </p:set>
                                    <p:anim calcmode="lin" valueType="num">
                                      <p:cBhvr additive="base">
                                        <p:cTn id="37" dur="500" fill="hold"/>
                                        <p:tgtEl>
                                          <p:spTgt spid="91148"/>
                                        </p:tgtEl>
                                        <p:attrNameLst>
                                          <p:attrName>ppt_x</p:attrName>
                                        </p:attrNameLst>
                                      </p:cBhvr>
                                      <p:tavLst>
                                        <p:tav tm="0">
                                          <p:val>
                                            <p:strVal val="0-#ppt_w/2"/>
                                          </p:val>
                                        </p:tav>
                                        <p:tav tm="100000">
                                          <p:val>
                                            <p:strVal val="#ppt_x"/>
                                          </p:val>
                                        </p:tav>
                                      </p:tavLst>
                                    </p:anim>
                                    <p:anim calcmode="lin" valueType="num">
                                      <p:cBhvr additive="base">
                                        <p:cTn id="38" dur="500" fill="hold"/>
                                        <p:tgtEl>
                                          <p:spTgt spid="9114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1152"/>
                                        </p:tgtEl>
                                        <p:attrNameLst>
                                          <p:attrName>style.visibility</p:attrName>
                                        </p:attrNameLst>
                                      </p:cBhvr>
                                      <p:to>
                                        <p:strVal val="visible"/>
                                      </p:to>
                                    </p:set>
                                    <p:anim calcmode="lin" valueType="num">
                                      <p:cBhvr additive="base">
                                        <p:cTn id="43" dur="500" fill="hold"/>
                                        <p:tgtEl>
                                          <p:spTgt spid="91152"/>
                                        </p:tgtEl>
                                        <p:attrNameLst>
                                          <p:attrName>ppt_x</p:attrName>
                                        </p:attrNameLst>
                                      </p:cBhvr>
                                      <p:tavLst>
                                        <p:tav tm="0">
                                          <p:val>
                                            <p:strVal val="#ppt_x"/>
                                          </p:val>
                                        </p:tav>
                                        <p:tav tm="100000">
                                          <p:val>
                                            <p:strVal val="#ppt_x"/>
                                          </p:val>
                                        </p:tav>
                                      </p:tavLst>
                                    </p:anim>
                                    <p:anim calcmode="lin" valueType="num">
                                      <p:cBhvr additive="base">
                                        <p:cTn id="44" dur="500" fill="hold"/>
                                        <p:tgtEl>
                                          <p:spTgt spid="911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9" grpId="0" autoUpdateAnimBg="0"/>
      <p:bldP spid="91150" grpId="0" autoUpdateAnimBg="0"/>
      <p:bldP spid="91151" grpId="0" autoUpdateAnimBg="0"/>
      <p:bldP spid="9115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7" name="Rectangle 7"/>
          <p:cNvSpPr>
            <a:spLocks noChangeArrowheads="1"/>
          </p:cNvSpPr>
          <p:nvPr/>
        </p:nvSpPr>
        <p:spPr bwMode="auto">
          <a:xfrm>
            <a:off x="684213" y="331322"/>
            <a:ext cx="21691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800" b="1" dirty="0">
                <a:solidFill>
                  <a:srgbClr val="0000FF"/>
                </a:solidFill>
                <a:effectLst/>
                <a:latin typeface="黑体" panose="02010609060101010101" pitchFamily="49" charset="-122"/>
                <a:ea typeface="黑体" panose="02010609060101010101" pitchFamily="49" charset="-122"/>
              </a:rPr>
              <a:t>推导过程： </a:t>
            </a:r>
          </a:p>
        </p:txBody>
      </p:sp>
      <p:graphicFrame>
        <p:nvGraphicFramePr>
          <p:cNvPr id="92168" name="Object 8"/>
          <p:cNvGraphicFramePr>
            <a:graphicFrameLocks noChangeAspect="1"/>
          </p:cNvGraphicFramePr>
          <p:nvPr/>
        </p:nvGraphicFramePr>
        <p:xfrm>
          <a:off x="755650" y="4319588"/>
          <a:ext cx="5689600" cy="2422525"/>
        </p:xfrm>
        <a:graphic>
          <a:graphicData uri="http://schemas.openxmlformats.org/presentationml/2006/ole">
            <mc:AlternateContent xmlns:mc="http://schemas.openxmlformats.org/markup-compatibility/2006">
              <mc:Choice xmlns:v="urn:schemas-microsoft-com:vml" Requires="v">
                <p:oleObj spid="_x0000_s35878" name="文档" r:id="rId3" imgW="1886897" imgH="800315" progId="Word.Document.8">
                  <p:embed/>
                </p:oleObj>
              </mc:Choice>
              <mc:Fallback>
                <p:oleObj name="文档" r:id="rId3" imgW="1886897" imgH="800315" progId="Word.Document.8">
                  <p:embed/>
                  <p:pic>
                    <p:nvPicPr>
                      <p:cNvPr id="9216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4319588"/>
                        <a:ext cx="5689600" cy="242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170" name="Rectangle 10"/>
          <p:cNvSpPr>
            <a:spLocks noChangeArrowheads="1"/>
          </p:cNvSpPr>
          <p:nvPr/>
        </p:nvSpPr>
        <p:spPr bwMode="auto">
          <a:xfrm>
            <a:off x="0" y="2757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92171" name="Object 11"/>
          <p:cNvGraphicFramePr>
            <a:graphicFrameLocks noChangeAspect="1"/>
          </p:cNvGraphicFramePr>
          <p:nvPr/>
        </p:nvGraphicFramePr>
        <p:xfrm>
          <a:off x="1476375" y="476250"/>
          <a:ext cx="5616575" cy="3784600"/>
        </p:xfrm>
        <a:graphic>
          <a:graphicData uri="http://schemas.openxmlformats.org/presentationml/2006/ole">
            <mc:AlternateContent xmlns:mc="http://schemas.openxmlformats.org/markup-compatibility/2006">
              <mc:Choice xmlns:v="urn:schemas-microsoft-com:vml" Requires="v">
                <p:oleObj spid="_x0000_s35879" name="公式" r:id="rId5" imgW="2705040" imgH="2260440" progId="Equation.3">
                  <p:embed/>
                </p:oleObj>
              </mc:Choice>
              <mc:Fallback>
                <p:oleObj name="公式" r:id="rId5" imgW="2705040" imgH="2260440" progId="Equation.3">
                  <p:embed/>
                  <p:pic>
                    <p:nvPicPr>
                      <p:cNvPr id="9217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476250"/>
                        <a:ext cx="5616575" cy="378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25853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92168"/>
                                        </p:tgtEl>
                                        <p:attrNameLst>
                                          <p:attrName>style.visibility</p:attrName>
                                        </p:attrNameLst>
                                      </p:cBhvr>
                                      <p:to>
                                        <p:strVal val="visible"/>
                                      </p:to>
                                    </p:set>
                                    <p:animEffect transition="in" filter="slide(fromBottom)">
                                      <p:cBhvr>
                                        <p:cTn id="7" dur="500"/>
                                        <p:tgtEl>
                                          <p:spTgt spid="92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0052" name="Object 4"/>
          <p:cNvGraphicFramePr>
            <a:graphicFrameLocks noChangeAspect="1"/>
          </p:cNvGraphicFramePr>
          <p:nvPr/>
        </p:nvGraphicFramePr>
        <p:xfrm>
          <a:off x="754063" y="765175"/>
          <a:ext cx="7921625" cy="2914650"/>
        </p:xfrm>
        <a:graphic>
          <a:graphicData uri="http://schemas.openxmlformats.org/presentationml/2006/ole">
            <mc:AlternateContent xmlns:mc="http://schemas.openxmlformats.org/markup-compatibility/2006">
              <mc:Choice xmlns:v="urn:schemas-microsoft-com:vml" Requires="v">
                <p:oleObj spid="_x0000_s36902" name="文档" r:id="rId3" imgW="2794883" imgH="1023424" progId="Word.Document.8">
                  <p:embed/>
                </p:oleObj>
              </mc:Choice>
              <mc:Fallback>
                <p:oleObj name="文档" r:id="rId3" imgW="2794883" imgH="1023424" progId="Word.Document.8">
                  <p:embed/>
                  <p:pic>
                    <p:nvPicPr>
                      <p:cNvPr id="1300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063" y="765175"/>
                        <a:ext cx="7921625"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53" name="Object 5"/>
          <p:cNvGraphicFramePr>
            <a:graphicFrameLocks noChangeAspect="1"/>
          </p:cNvGraphicFramePr>
          <p:nvPr/>
        </p:nvGraphicFramePr>
        <p:xfrm>
          <a:off x="755650" y="3789363"/>
          <a:ext cx="7402513" cy="2409825"/>
        </p:xfrm>
        <a:graphic>
          <a:graphicData uri="http://schemas.openxmlformats.org/presentationml/2006/ole">
            <mc:AlternateContent xmlns:mc="http://schemas.openxmlformats.org/markup-compatibility/2006">
              <mc:Choice xmlns:v="urn:schemas-microsoft-com:vml" Requires="v">
                <p:oleObj spid="_x0000_s36903" name="文档" r:id="rId5" imgW="2556906" imgH="832342" progId="Word.Document.8">
                  <p:embed/>
                </p:oleObj>
              </mc:Choice>
              <mc:Fallback>
                <p:oleObj name="文档" r:id="rId5" imgW="2556906" imgH="832342" progId="Word.Document.8">
                  <p:embed/>
                  <p:pic>
                    <p:nvPicPr>
                      <p:cNvPr id="13005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789363"/>
                        <a:ext cx="7402513"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984691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0053"/>
                                        </p:tgtEl>
                                        <p:attrNameLst>
                                          <p:attrName>style.visibility</p:attrName>
                                        </p:attrNameLst>
                                      </p:cBhvr>
                                      <p:to>
                                        <p:strVal val="visible"/>
                                      </p:to>
                                    </p:set>
                                    <p:anim calcmode="lin" valueType="num">
                                      <p:cBhvr additive="base">
                                        <p:cTn id="7" dur="500" fill="hold"/>
                                        <p:tgtEl>
                                          <p:spTgt spid="130053"/>
                                        </p:tgtEl>
                                        <p:attrNameLst>
                                          <p:attrName>ppt_x</p:attrName>
                                        </p:attrNameLst>
                                      </p:cBhvr>
                                      <p:tavLst>
                                        <p:tav tm="0">
                                          <p:val>
                                            <p:strVal val="0-#ppt_w/2"/>
                                          </p:val>
                                        </p:tav>
                                        <p:tav tm="100000">
                                          <p:val>
                                            <p:strVal val="#ppt_x"/>
                                          </p:val>
                                        </p:tav>
                                      </p:tavLst>
                                    </p:anim>
                                    <p:anim calcmode="lin" valueType="num">
                                      <p:cBhvr additive="base">
                                        <p:cTn id="8" dur="500" fill="hold"/>
                                        <p:tgtEl>
                                          <p:spTgt spid="1300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701" name="Picture 13" descr="ls00300014">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75" y="1412875"/>
            <a:ext cx="2563813" cy="4033838"/>
          </a:xfrm>
          <a:prstGeom prst="rect">
            <a:avLst/>
          </a:prstGeom>
          <a:noFill/>
          <a:extLst>
            <a:ext uri="{909E8E84-426E-40DD-AFC4-6F175D3DCCD1}">
              <a14:hiddenFill xmlns:a14="http://schemas.microsoft.com/office/drawing/2010/main">
                <a:solidFill>
                  <a:srgbClr val="FFFFFF"/>
                </a:solidFill>
              </a14:hiddenFill>
            </a:ext>
          </a:extLst>
        </p:spPr>
      </p:pic>
    </p:spTree>
    <p:controls>
      <mc:AlternateContent xmlns:mc="http://schemas.openxmlformats.org/markup-compatibility/2006">
        <mc:Choice xmlns:v="urn:schemas-microsoft-com:vml" Requires="v">
          <p:control spid="37908" r:id="rId2" imgW="5328038" imgH="4033907"/>
        </mc:Choice>
        <mc:Fallback>
          <p:control r:id="rId2" imgW="5328038" imgH="4033907">
            <p:pic>
              <p:nvPicPr>
                <p:cNvPr id="114702" name="ShockwaveFlash1"/>
                <p:cNvPicPr preferRelativeResize="0">
                  <a:picLocks noChangeArrowheads="1" noChangeShapeType="1"/>
                </p:cNvPicPr>
                <p:nvPr/>
              </p:nvPicPr>
              <p:blipFill>
                <a:blip r:embed="rId6">
                  <a:extLst>
                    <a:ext uri="{28A0092B-C50C-407E-A947-70E740481C1C}">
                      <a14:useLocalDpi xmlns:a14="http://schemas.microsoft.com/office/drawing/2010/main" val="0"/>
                    </a:ext>
                  </a:extLst>
                </a:blip>
                <a:srcRect/>
                <a:stretch>
                  <a:fillRect/>
                </a:stretch>
              </p:blipFill>
              <p:spPr bwMode="auto">
                <a:xfrm>
                  <a:off x="711200" y="1412875"/>
                  <a:ext cx="5327650" cy="4033838"/>
                </a:xfrm>
                <a:prstGeom prst="rect">
                  <a:avLst/>
                </a:prstGeom>
                <a:noFill/>
                <a:ln>
                  <a:noFill/>
                </a:ln>
                <a:effectLst/>
                <a:extLst>
                  <a:ext uri="{91240B29-F687-4F45-9708-019B960494DF}">
                    <a14:hiddenLine xmlns:a14="http://schemas.microsoft.com/office/drawing/2010/main" w="19050">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432956110"/>
      </p:ext>
    </p:extLst>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7" name="Picture 5" descr="7303411620051013092550_1">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511175"/>
            <a:ext cx="7345362" cy="5510213"/>
          </a:xfrm>
          <a:prstGeom prst="rect">
            <a:avLst/>
          </a:prstGeom>
          <a:noFill/>
          <a:extLst>
            <a:ext uri="{909E8E84-426E-40DD-AFC4-6F175D3DCCD1}">
              <a14:hiddenFill xmlns:a14="http://schemas.microsoft.com/office/drawing/2010/main">
                <a:solidFill>
                  <a:srgbClr val="FFFFFF"/>
                </a:solidFill>
              </a14:hiddenFill>
            </a:ext>
          </a:extLst>
        </p:spPr>
      </p:pic>
      <p:sp>
        <p:nvSpPr>
          <p:cNvPr id="161798" name="Rectangle 6"/>
          <p:cNvSpPr>
            <a:spLocks noChangeArrowheads="1"/>
          </p:cNvSpPr>
          <p:nvPr/>
        </p:nvSpPr>
        <p:spPr bwMode="auto">
          <a:xfrm>
            <a:off x="3228975" y="6149975"/>
            <a:ext cx="2422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66"/>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kumimoji="1" lang="zh-CN" altLang="en-US" b="1">
                <a:solidFill>
                  <a:srgbClr val="0000FF"/>
                </a:solidFill>
                <a:effectLst/>
              </a:rPr>
              <a:t>大亚湾核电站</a:t>
            </a:r>
            <a:r>
              <a:rPr kumimoji="1" lang="en-US" altLang="zh-CN" b="1">
                <a:solidFill>
                  <a:srgbClr val="0000FF"/>
                </a:solidFill>
                <a:effectLst>
                  <a:outerShdw blurRad="38100" dist="38100" dir="2700000" algn="tl">
                    <a:srgbClr val="000000"/>
                  </a:outerShdw>
                </a:effectLst>
              </a:rPr>
              <a:t> </a:t>
            </a:r>
          </a:p>
        </p:txBody>
      </p:sp>
    </p:spTree>
    <p:extLst>
      <p:ext uri="{BB962C8B-B14F-4D97-AF65-F5344CB8AC3E}">
        <p14:creationId xmlns:p14="http://schemas.microsoft.com/office/powerpoint/2010/main" val="25076298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306" name="Object 2"/>
          <p:cNvGraphicFramePr>
            <a:graphicFrameLocks noChangeAspect="1"/>
          </p:cNvGraphicFramePr>
          <p:nvPr/>
        </p:nvGraphicFramePr>
        <p:xfrm>
          <a:off x="714375" y="1030288"/>
          <a:ext cx="7242175" cy="1873250"/>
        </p:xfrm>
        <a:graphic>
          <a:graphicData uri="http://schemas.openxmlformats.org/presentationml/2006/ole">
            <mc:AlternateContent xmlns:mc="http://schemas.openxmlformats.org/markup-compatibility/2006">
              <mc:Choice xmlns:v="urn:schemas-microsoft-com:vml" Requires="v">
                <p:oleObj spid="_x0000_s38950" name="文档" r:id="rId3" imgW="2540339" imgH="657335" progId="Word.Document.8">
                  <p:embed/>
                </p:oleObj>
              </mc:Choice>
              <mc:Fallback>
                <p:oleObj name="文档" r:id="rId3" imgW="2540339" imgH="657335" progId="Word.Document.8">
                  <p:embed/>
                  <p:pic>
                    <p:nvPicPr>
                      <p:cNvPr id="9830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1030288"/>
                        <a:ext cx="7242175" cy="187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07" name="Object 3"/>
          <p:cNvGraphicFramePr>
            <a:graphicFrameLocks noChangeAspect="1"/>
          </p:cNvGraphicFramePr>
          <p:nvPr/>
        </p:nvGraphicFramePr>
        <p:xfrm>
          <a:off x="755650" y="3481388"/>
          <a:ext cx="8496300" cy="2684462"/>
        </p:xfrm>
        <a:graphic>
          <a:graphicData uri="http://schemas.openxmlformats.org/presentationml/2006/ole">
            <mc:AlternateContent xmlns:mc="http://schemas.openxmlformats.org/markup-compatibility/2006">
              <mc:Choice xmlns:v="urn:schemas-microsoft-com:vml" Requires="v">
                <p:oleObj spid="_x0000_s38951" name="文档" r:id="rId5" imgW="3125712" imgH="992461" progId="Word.Document.8">
                  <p:embed/>
                </p:oleObj>
              </mc:Choice>
              <mc:Fallback>
                <p:oleObj name="文档" r:id="rId5" imgW="3125712" imgH="992461" progId="Word.Document.8">
                  <p:embed/>
                  <p:pic>
                    <p:nvPicPr>
                      <p:cNvPr id="9830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481388"/>
                        <a:ext cx="8496300" cy="268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27936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8307"/>
                                        </p:tgtEl>
                                        <p:attrNameLst>
                                          <p:attrName>style.visibility</p:attrName>
                                        </p:attrNameLst>
                                      </p:cBhvr>
                                      <p:to>
                                        <p:strVal val="visible"/>
                                      </p:to>
                                    </p:set>
                                    <p:animEffect transition="in" filter="box(in)">
                                      <p:cBhvr>
                                        <p:cTn id="7" dur="500"/>
                                        <p:tgtEl>
                                          <p:spTgt spid="98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4" name="Object 4"/>
          <p:cNvGraphicFramePr>
            <a:graphicFrameLocks noChangeAspect="1"/>
          </p:cNvGraphicFramePr>
          <p:nvPr/>
        </p:nvGraphicFramePr>
        <p:xfrm>
          <a:off x="741363" y="549275"/>
          <a:ext cx="7934325" cy="5822950"/>
        </p:xfrm>
        <a:graphic>
          <a:graphicData uri="http://schemas.openxmlformats.org/presentationml/2006/ole">
            <mc:AlternateContent xmlns:mc="http://schemas.openxmlformats.org/markup-compatibility/2006">
              <mc:Choice xmlns:v="urn:schemas-microsoft-com:vml" Requires="v">
                <p:oleObj spid="_x0000_s39956" name="文档" r:id="rId3" imgW="3126592" imgH="2301755" progId="Word.Document.8">
                  <p:embed/>
                </p:oleObj>
              </mc:Choice>
              <mc:Fallback>
                <p:oleObj name="文档" r:id="rId3" imgW="3126592" imgH="2301755" progId="Word.Document.8">
                  <p:embed/>
                  <p:pic>
                    <p:nvPicPr>
                      <p:cNvPr id="10240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363" y="549275"/>
                        <a:ext cx="7934325" cy="582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9793773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1076" name="Object 4"/>
          <p:cNvGraphicFramePr>
            <a:graphicFrameLocks noChangeAspect="1"/>
          </p:cNvGraphicFramePr>
          <p:nvPr/>
        </p:nvGraphicFramePr>
        <p:xfrm>
          <a:off x="720725" y="1844675"/>
          <a:ext cx="8172450" cy="3306763"/>
        </p:xfrm>
        <a:graphic>
          <a:graphicData uri="http://schemas.openxmlformats.org/presentationml/2006/ole">
            <mc:AlternateContent xmlns:mc="http://schemas.openxmlformats.org/markup-compatibility/2006">
              <mc:Choice xmlns:v="urn:schemas-microsoft-com:vml" Requires="v">
                <p:oleObj spid="_x0000_s40980" name="文档" r:id="rId3" imgW="3632048" imgH="1359795" progId="Word.Document.8">
                  <p:embed/>
                </p:oleObj>
              </mc:Choice>
              <mc:Fallback>
                <p:oleObj name="文档" r:id="rId3" imgW="3632048" imgH="1359795" progId="Word.Document.8">
                  <p:embed/>
                  <p:pic>
                    <p:nvPicPr>
                      <p:cNvPr id="1310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725" y="1844675"/>
                        <a:ext cx="8172450" cy="330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923702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body" idx="1"/>
          </p:nvPr>
        </p:nvSpPr>
        <p:spPr>
          <a:xfrm>
            <a:off x="152400" y="228600"/>
            <a:ext cx="8839200" cy="1219200"/>
          </a:xfrm>
        </p:spPr>
        <p:txBody>
          <a:bodyPr/>
          <a:lstStyle/>
          <a:p>
            <a:pPr>
              <a:buFontTx/>
              <a:buNone/>
            </a:pPr>
            <a:r>
              <a:rPr lang="zh-CN" altLang="en-US" sz="2400" b="1" dirty="0">
                <a:ea typeface="楷体_GB2312" pitchFamily="49" charset="-122"/>
              </a:rPr>
              <a:t>例</a:t>
            </a:r>
            <a:r>
              <a:rPr lang="zh-CN" altLang="en-US" sz="2400" dirty="0"/>
              <a:t> 质点</a:t>
            </a:r>
            <a:r>
              <a:rPr lang="en-US" altLang="zh-CN" sz="2400" i="1" dirty="0"/>
              <a:t>A</a:t>
            </a:r>
            <a:r>
              <a:rPr lang="zh-CN" altLang="en-US" sz="2400" dirty="0"/>
              <a:t>、</a:t>
            </a:r>
            <a:r>
              <a:rPr lang="en-US" altLang="zh-CN" sz="2400" i="1" dirty="0"/>
              <a:t>B</a:t>
            </a:r>
            <a:r>
              <a:rPr lang="zh-CN" altLang="en-US" sz="2400" dirty="0"/>
              <a:t>静质量同为</a:t>
            </a:r>
            <a:r>
              <a:rPr lang="en-US" altLang="zh-CN" sz="2400" i="1" dirty="0"/>
              <a:t>m</a:t>
            </a:r>
            <a:r>
              <a:rPr lang="en-US" altLang="zh-CN" sz="2400" baseline="-25000" dirty="0"/>
              <a:t>0</a:t>
            </a:r>
            <a:r>
              <a:rPr lang="zh-CN" altLang="en-US" sz="2400" dirty="0"/>
              <a:t>，今使</a:t>
            </a:r>
            <a:r>
              <a:rPr lang="en-US" altLang="zh-CN" sz="2400" i="1" dirty="0"/>
              <a:t>B</a:t>
            </a:r>
            <a:r>
              <a:rPr lang="zh-CN" altLang="en-US" sz="2400" dirty="0"/>
              <a:t>在惯性系</a:t>
            </a:r>
            <a:r>
              <a:rPr lang="en-US" altLang="zh-CN" sz="2400" i="1" dirty="0"/>
              <a:t>S</a:t>
            </a:r>
            <a:r>
              <a:rPr lang="zh-CN" altLang="en-US" sz="2400" dirty="0"/>
              <a:t>中静止，</a:t>
            </a:r>
            <a:r>
              <a:rPr lang="en-US" altLang="zh-CN" sz="2400" i="1" dirty="0"/>
              <a:t>A</a:t>
            </a:r>
            <a:r>
              <a:rPr lang="zh-CN" altLang="en-US" sz="2400" dirty="0"/>
              <a:t>则以</a:t>
            </a:r>
            <a:r>
              <a:rPr lang="en-US" altLang="zh-CN" sz="2400" dirty="0"/>
              <a:t>3</a:t>
            </a:r>
            <a:r>
              <a:rPr lang="en-US" altLang="zh-CN" sz="2400" i="1" dirty="0"/>
              <a:t>c</a:t>
            </a:r>
            <a:r>
              <a:rPr lang="en-US" altLang="zh-CN" sz="2400" dirty="0"/>
              <a:t>/5</a:t>
            </a:r>
            <a:r>
              <a:rPr lang="zh-CN" altLang="en-US" sz="2400" dirty="0"/>
              <a:t>的速度对准</a:t>
            </a:r>
            <a:r>
              <a:rPr lang="en-US" altLang="zh-CN" sz="2400" i="1" dirty="0"/>
              <a:t>B</a:t>
            </a:r>
            <a:r>
              <a:rPr lang="zh-CN" altLang="en-US" sz="2400" dirty="0"/>
              <a:t>运动。若</a:t>
            </a:r>
            <a:r>
              <a:rPr lang="en-US" altLang="zh-CN" sz="2400" i="1" dirty="0"/>
              <a:t>A</a:t>
            </a:r>
            <a:r>
              <a:rPr lang="zh-CN" altLang="en-US" sz="2400" dirty="0"/>
              <a:t>、</a:t>
            </a:r>
            <a:r>
              <a:rPr lang="en-US" altLang="zh-CN" sz="2400" i="1" dirty="0"/>
              <a:t>B</a:t>
            </a:r>
            <a:r>
              <a:rPr lang="zh-CN" altLang="en-US" sz="2400" dirty="0"/>
              <a:t>碰撞过程中无能量释放，且碰后粘连在一起，试求碰后相对</a:t>
            </a:r>
            <a:r>
              <a:rPr lang="en-US" altLang="zh-CN" sz="2400" i="1" dirty="0"/>
              <a:t>S</a:t>
            </a:r>
            <a:r>
              <a:rPr lang="zh-CN" altLang="en-US" sz="2400" dirty="0"/>
              <a:t>系的运动速度</a:t>
            </a:r>
            <a:r>
              <a:rPr lang="en-US" altLang="zh-CN" sz="2400" i="1" dirty="0"/>
              <a:t>v</a:t>
            </a:r>
            <a:r>
              <a:rPr lang="zh-CN" altLang="en-US" sz="2400" dirty="0"/>
              <a:t>及系统动能减少量。</a:t>
            </a:r>
            <a:endParaRPr lang="zh-CN" altLang="en-US" sz="2400" i="1" dirty="0"/>
          </a:p>
        </p:txBody>
      </p:sp>
      <p:sp>
        <p:nvSpPr>
          <p:cNvPr id="211971" name="Text Box 3"/>
          <p:cNvSpPr txBox="1">
            <a:spLocks noChangeArrowheads="1"/>
          </p:cNvSpPr>
          <p:nvPr/>
        </p:nvSpPr>
        <p:spPr bwMode="auto">
          <a:xfrm>
            <a:off x="288925" y="1793875"/>
            <a:ext cx="1893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effectLst/>
                <a:latin typeface="Times New Roman" panose="02020603050405020304" pitchFamily="18" charset="0"/>
                <a:ea typeface="宋体" panose="02010600030101010101" pitchFamily="2" charset="-122"/>
              </a:rPr>
              <a:t>碰前</a:t>
            </a:r>
            <a:r>
              <a:rPr lang="en-US" altLang="zh-CN" sz="2400" i="1">
                <a:effectLst/>
                <a:latin typeface="Times New Roman" panose="02020603050405020304" pitchFamily="18" charset="0"/>
                <a:ea typeface="宋体" panose="02010600030101010101" pitchFamily="2" charset="-122"/>
              </a:rPr>
              <a:t>A</a:t>
            </a:r>
            <a:r>
              <a:rPr lang="zh-CN" altLang="en-US" sz="2400">
                <a:effectLst/>
                <a:latin typeface="Times New Roman" panose="02020603050405020304" pitchFamily="18" charset="0"/>
                <a:ea typeface="宋体" panose="02010600030101010101" pitchFamily="2" charset="-122"/>
              </a:rPr>
              <a:t>的质量</a:t>
            </a:r>
          </a:p>
        </p:txBody>
      </p:sp>
      <p:graphicFrame>
        <p:nvGraphicFramePr>
          <p:cNvPr id="211972" name="Object 4"/>
          <p:cNvGraphicFramePr>
            <a:graphicFrameLocks noChangeAspect="1"/>
          </p:cNvGraphicFramePr>
          <p:nvPr/>
        </p:nvGraphicFramePr>
        <p:xfrm>
          <a:off x="2286000" y="1524000"/>
          <a:ext cx="2971800" cy="1066800"/>
        </p:xfrm>
        <a:graphic>
          <a:graphicData uri="http://schemas.openxmlformats.org/presentationml/2006/ole">
            <mc:AlternateContent xmlns:mc="http://schemas.openxmlformats.org/markup-compatibility/2006">
              <mc:Choice xmlns:v="urn:schemas-microsoft-com:vml" Requires="v">
                <p:oleObj spid="_x0000_s42094" name="公式" r:id="rId3" imgW="1307880" imgH="469800" progId="Equation.3">
                  <p:embed/>
                </p:oleObj>
              </mc:Choice>
              <mc:Fallback>
                <p:oleObj name="公式" r:id="rId3" imgW="1307880" imgH="469800" progId="Equation.3">
                  <p:embed/>
                  <p:pic>
                    <p:nvPicPr>
                      <p:cNvPr id="2119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524000"/>
                        <a:ext cx="29718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73" name="Text Box 5"/>
          <p:cNvSpPr txBox="1">
            <a:spLocks noChangeArrowheads="1"/>
          </p:cNvSpPr>
          <p:nvPr/>
        </p:nvSpPr>
        <p:spPr bwMode="auto">
          <a:xfrm>
            <a:off x="304800" y="2667000"/>
            <a:ext cx="506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effectLst/>
                <a:latin typeface="Times New Roman" panose="02020603050405020304" pitchFamily="18" charset="0"/>
                <a:ea typeface="宋体" panose="02010600030101010101" pitchFamily="2" charset="-122"/>
              </a:rPr>
              <a:t>无能量损失，质量守恒，碰后质量为</a:t>
            </a:r>
          </a:p>
        </p:txBody>
      </p:sp>
      <p:graphicFrame>
        <p:nvGraphicFramePr>
          <p:cNvPr id="211974" name="Object 6"/>
          <p:cNvGraphicFramePr>
            <a:graphicFrameLocks noChangeAspect="1"/>
          </p:cNvGraphicFramePr>
          <p:nvPr/>
        </p:nvGraphicFramePr>
        <p:xfrm>
          <a:off x="5486400" y="2514600"/>
          <a:ext cx="2895600" cy="881063"/>
        </p:xfrm>
        <a:graphic>
          <a:graphicData uri="http://schemas.openxmlformats.org/presentationml/2006/ole">
            <mc:AlternateContent xmlns:mc="http://schemas.openxmlformats.org/markup-compatibility/2006">
              <mc:Choice xmlns:v="urn:schemas-microsoft-com:vml" Requires="v">
                <p:oleObj spid="_x0000_s42095" name="公式" r:id="rId5" imgW="1295280" imgH="393480" progId="Equation.3">
                  <p:embed/>
                </p:oleObj>
              </mc:Choice>
              <mc:Fallback>
                <p:oleObj name="公式" r:id="rId5" imgW="1295280" imgH="393480" progId="Equation.3">
                  <p:embed/>
                  <p:pic>
                    <p:nvPicPr>
                      <p:cNvPr id="21197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2514600"/>
                        <a:ext cx="289560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75" name="Text Box 7"/>
          <p:cNvSpPr txBox="1">
            <a:spLocks noChangeArrowheads="1"/>
          </p:cNvSpPr>
          <p:nvPr/>
        </p:nvSpPr>
        <p:spPr bwMode="auto">
          <a:xfrm>
            <a:off x="288925" y="3525838"/>
            <a:ext cx="262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effectLst/>
                <a:latin typeface="Times New Roman" panose="02020603050405020304" pitchFamily="18" charset="0"/>
                <a:ea typeface="宋体" panose="02010600030101010101" pitchFamily="2" charset="-122"/>
              </a:rPr>
              <a:t>碰撞过程动量守恒</a:t>
            </a:r>
          </a:p>
        </p:txBody>
      </p:sp>
      <p:graphicFrame>
        <p:nvGraphicFramePr>
          <p:cNvPr id="211976" name="Object 8"/>
          <p:cNvGraphicFramePr>
            <a:graphicFrameLocks noChangeAspect="1"/>
          </p:cNvGraphicFramePr>
          <p:nvPr/>
        </p:nvGraphicFramePr>
        <p:xfrm>
          <a:off x="3048000" y="3276600"/>
          <a:ext cx="1752600" cy="904875"/>
        </p:xfrm>
        <a:graphic>
          <a:graphicData uri="http://schemas.openxmlformats.org/presentationml/2006/ole">
            <mc:AlternateContent xmlns:mc="http://schemas.openxmlformats.org/markup-compatibility/2006">
              <mc:Choice xmlns:v="urn:schemas-microsoft-com:vml" Requires="v">
                <p:oleObj spid="_x0000_s42096" name="公式" r:id="rId7" imgW="761760" imgH="393480" progId="Equation.3">
                  <p:embed/>
                </p:oleObj>
              </mc:Choice>
              <mc:Fallback>
                <p:oleObj name="公式" r:id="rId7" imgW="761760" imgH="393480" progId="Equation.3">
                  <p:embed/>
                  <p:pic>
                    <p:nvPicPr>
                      <p:cNvPr id="21197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3276600"/>
                        <a:ext cx="1752600"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77" name="AutoShape 9"/>
          <p:cNvSpPr>
            <a:spLocks noChangeArrowheads="1"/>
          </p:cNvSpPr>
          <p:nvPr/>
        </p:nvSpPr>
        <p:spPr bwMode="auto">
          <a:xfrm>
            <a:off x="5410200" y="3581400"/>
            <a:ext cx="685800" cy="381000"/>
          </a:xfrm>
          <a:prstGeom prst="rightArrow">
            <a:avLst>
              <a:gd name="adj1" fmla="val 50000"/>
              <a:gd name="adj2" fmla="val 4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1978" name="Object 10"/>
          <p:cNvGraphicFramePr>
            <a:graphicFrameLocks noChangeAspect="1"/>
          </p:cNvGraphicFramePr>
          <p:nvPr/>
        </p:nvGraphicFramePr>
        <p:xfrm>
          <a:off x="6324600" y="3352800"/>
          <a:ext cx="990600" cy="877888"/>
        </p:xfrm>
        <a:graphic>
          <a:graphicData uri="http://schemas.openxmlformats.org/presentationml/2006/ole">
            <mc:AlternateContent xmlns:mc="http://schemas.openxmlformats.org/markup-compatibility/2006">
              <mc:Choice xmlns:v="urn:schemas-microsoft-com:vml" Requires="v">
                <p:oleObj spid="_x0000_s42097" name="公式" r:id="rId9" imgW="444240" imgH="393480" progId="Equation.3">
                  <p:embed/>
                </p:oleObj>
              </mc:Choice>
              <mc:Fallback>
                <p:oleObj name="公式" r:id="rId9" imgW="444240" imgH="393480" progId="Equation.3">
                  <p:embed/>
                  <p:pic>
                    <p:nvPicPr>
                      <p:cNvPr id="211978"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4600" y="3352800"/>
                        <a:ext cx="990600" cy="877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79" name="Text Box 11"/>
          <p:cNvSpPr txBox="1">
            <a:spLocks noChangeArrowheads="1"/>
          </p:cNvSpPr>
          <p:nvPr/>
        </p:nvSpPr>
        <p:spPr bwMode="auto">
          <a:xfrm>
            <a:off x="304800" y="4343400"/>
            <a:ext cx="292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effectLst/>
                <a:latin typeface="Times New Roman" panose="02020603050405020304" pitchFamily="18" charset="0"/>
                <a:ea typeface="宋体" panose="02010600030101010101" pitchFamily="2" charset="-122"/>
              </a:rPr>
              <a:t>碰后粘连体的静质量</a:t>
            </a:r>
          </a:p>
        </p:txBody>
      </p:sp>
      <p:graphicFrame>
        <p:nvGraphicFramePr>
          <p:cNvPr id="211980" name="Object 12"/>
          <p:cNvGraphicFramePr>
            <a:graphicFrameLocks noChangeAspect="1"/>
          </p:cNvGraphicFramePr>
          <p:nvPr/>
        </p:nvGraphicFramePr>
        <p:xfrm>
          <a:off x="3200400" y="4038600"/>
          <a:ext cx="3505200" cy="985838"/>
        </p:xfrm>
        <a:graphic>
          <a:graphicData uri="http://schemas.openxmlformats.org/presentationml/2006/ole">
            <mc:AlternateContent xmlns:mc="http://schemas.openxmlformats.org/markup-compatibility/2006">
              <mc:Choice xmlns:v="urn:schemas-microsoft-com:vml" Requires="v">
                <p:oleObj spid="_x0000_s42098" name="公式" r:id="rId11" imgW="1625400" imgH="457200" progId="Equation.3">
                  <p:embed/>
                </p:oleObj>
              </mc:Choice>
              <mc:Fallback>
                <p:oleObj name="公式" r:id="rId11" imgW="1625400" imgH="457200" progId="Equation.3">
                  <p:embed/>
                  <p:pic>
                    <p:nvPicPr>
                      <p:cNvPr id="21198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0400" y="4038600"/>
                        <a:ext cx="3505200"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81" name="Text Box 13"/>
          <p:cNvSpPr txBox="1">
            <a:spLocks noChangeArrowheads="1"/>
          </p:cNvSpPr>
          <p:nvPr/>
        </p:nvSpPr>
        <p:spPr bwMode="auto">
          <a:xfrm>
            <a:off x="304800" y="5181600"/>
            <a:ext cx="506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effectLst/>
                <a:latin typeface="Times New Roman" panose="02020603050405020304" pitchFamily="18" charset="0"/>
                <a:ea typeface="宋体" panose="02010600030101010101" pitchFamily="2" charset="-122"/>
              </a:rPr>
              <a:t>系统动能减少量等于系统静能增加量</a:t>
            </a:r>
          </a:p>
        </p:txBody>
      </p:sp>
      <p:graphicFrame>
        <p:nvGraphicFramePr>
          <p:cNvPr id="211982" name="Object 14"/>
          <p:cNvGraphicFramePr>
            <a:graphicFrameLocks noChangeAspect="1"/>
          </p:cNvGraphicFramePr>
          <p:nvPr/>
        </p:nvGraphicFramePr>
        <p:xfrm>
          <a:off x="2438400" y="5638800"/>
          <a:ext cx="4572000" cy="938213"/>
        </p:xfrm>
        <a:graphic>
          <a:graphicData uri="http://schemas.openxmlformats.org/presentationml/2006/ole">
            <mc:AlternateContent xmlns:mc="http://schemas.openxmlformats.org/markup-compatibility/2006">
              <mc:Choice xmlns:v="urn:schemas-microsoft-com:vml" Requires="v">
                <p:oleObj spid="_x0000_s42099" name="公式" r:id="rId13" imgW="2476440" imgH="507960" progId="Equation.3">
                  <p:embed/>
                </p:oleObj>
              </mc:Choice>
              <mc:Fallback>
                <p:oleObj name="公式" r:id="rId13" imgW="2476440" imgH="507960" progId="Equation.3">
                  <p:embed/>
                  <p:pic>
                    <p:nvPicPr>
                      <p:cNvPr id="211982"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38400" y="5638800"/>
                        <a:ext cx="4572000"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22549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1971"/>
                                        </p:tgtEl>
                                        <p:attrNameLst>
                                          <p:attrName>style.visibility</p:attrName>
                                        </p:attrNameLst>
                                      </p:cBhvr>
                                      <p:to>
                                        <p:strVal val="visible"/>
                                      </p:to>
                                    </p:set>
                                    <p:animEffect transition="in" filter="wipe(left)">
                                      <p:cBhvr>
                                        <p:cTn id="7" dur="500"/>
                                        <p:tgtEl>
                                          <p:spTgt spid="2119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1972"/>
                                        </p:tgtEl>
                                        <p:attrNameLst>
                                          <p:attrName>style.visibility</p:attrName>
                                        </p:attrNameLst>
                                      </p:cBhvr>
                                      <p:to>
                                        <p:strVal val="visible"/>
                                      </p:to>
                                    </p:set>
                                    <p:animEffect transition="in" filter="wipe(left)">
                                      <p:cBhvr>
                                        <p:cTn id="12" dur="500"/>
                                        <p:tgtEl>
                                          <p:spTgt spid="2119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1973"/>
                                        </p:tgtEl>
                                        <p:attrNameLst>
                                          <p:attrName>style.visibility</p:attrName>
                                        </p:attrNameLst>
                                      </p:cBhvr>
                                      <p:to>
                                        <p:strVal val="visible"/>
                                      </p:to>
                                    </p:set>
                                    <p:animEffect transition="in" filter="wipe(left)">
                                      <p:cBhvr>
                                        <p:cTn id="17" dur="500"/>
                                        <p:tgtEl>
                                          <p:spTgt spid="2119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11974"/>
                                        </p:tgtEl>
                                        <p:attrNameLst>
                                          <p:attrName>style.visibility</p:attrName>
                                        </p:attrNameLst>
                                      </p:cBhvr>
                                      <p:to>
                                        <p:strVal val="visible"/>
                                      </p:to>
                                    </p:set>
                                    <p:animEffect transition="in" filter="wipe(left)">
                                      <p:cBhvr>
                                        <p:cTn id="22" dur="500"/>
                                        <p:tgtEl>
                                          <p:spTgt spid="2119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1975"/>
                                        </p:tgtEl>
                                        <p:attrNameLst>
                                          <p:attrName>style.visibility</p:attrName>
                                        </p:attrNameLst>
                                      </p:cBhvr>
                                      <p:to>
                                        <p:strVal val="visible"/>
                                      </p:to>
                                    </p:set>
                                    <p:animEffect transition="in" filter="wipe(left)">
                                      <p:cBhvr>
                                        <p:cTn id="27" dur="500"/>
                                        <p:tgtEl>
                                          <p:spTgt spid="2119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11976"/>
                                        </p:tgtEl>
                                        <p:attrNameLst>
                                          <p:attrName>style.visibility</p:attrName>
                                        </p:attrNameLst>
                                      </p:cBhvr>
                                      <p:to>
                                        <p:strVal val="visible"/>
                                      </p:to>
                                    </p:set>
                                    <p:animEffect transition="in" filter="wipe(left)">
                                      <p:cBhvr>
                                        <p:cTn id="32" dur="500"/>
                                        <p:tgtEl>
                                          <p:spTgt spid="2119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1977"/>
                                        </p:tgtEl>
                                        <p:attrNameLst>
                                          <p:attrName>style.visibility</p:attrName>
                                        </p:attrNameLst>
                                      </p:cBhvr>
                                      <p:to>
                                        <p:strVal val="visible"/>
                                      </p:to>
                                    </p:set>
                                    <p:animEffect transition="in" filter="wipe(left)">
                                      <p:cBhvr>
                                        <p:cTn id="37" dur="500"/>
                                        <p:tgtEl>
                                          <p:spTgt spid="2119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nodeType="clickEffect">
                                  <p:stCondLst>
                                    <p:cond delay="0"/>
                                  </p:stCondLst>
                                  <p:childTnLst>
                                    <p:set>
                                      <p:cBhvr>
                                        <p:cTn id="41" dur="1" fill="hold">
                                          <p:stCondLst>
                                            <p:cond delay="0"/>
                                          </p:stCondLst>
                                        </p:cTn>
                                        <p:tgtEl>
                                          <p:spTgt spid="211978"/>
                                        </p:tgtEl>
                                        <p:attrNameLst>
                                          <p:attrName>style.visibility</p:attrName>
                                        </p:attrNameLst>
                                      </p:cBhvr>
                                      <p:to>
                                        <p:strVal val="visible"/>
                                      </p:to>
                                    </p:set>
                                    <p:anim calcmode="lin" valueType="num">
                                      <p:cBhvr additive="base">
                                        <p:cTn id="42" dur="500" fill="hold"/>
                                        <p:tgtEl>
                                          <p:spTgt spid="211978"/>
                                        </p:tgtEl>
                                        <p:attrNameLst>
                                          <p:attrName>ppt_x</p:attrName>
                                        </p:attrNameLst>
                                      </p:cBhvr>
                                      <p:tavLst>
                                        <p:tav tm="0">
                                          <p:val>
                                            <p:strVal val="1+#ppt_w/2"/>
                                          </p:val>
                                        </p:tav>
                                        <p:tav tm="100000">
                                          <p:val>
                                            <p:strVal val="#ppt_x"/>
                                          </p:val>
                                        </p:tav>
                                      </p:tavLst>
                                    </p:anim>
                                    <p:anim calcmode="lin" valueType="num">
                                      <p:cBhvr additive="base">
                                        <p:cTn id="43" dur="500" fill="hold"/>
                                        <p:tgtEl>
                                          <p:spTgt spid="211978"/>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11979"/>
                                        </p:tgtEl>
                                        <p:attrNameLst>
                                          <p:attrName>style.visibility</p:attrName>
                                        </p:attrNameLst>
                                      </p:cBhvr>
                                      <p:to>
                                        <p:strVal val="visible"/>
                                      </p:to>
                                    </p:set>
                                    <p:animEffect transition="in" filter="wipe(left)">
                                      <p:cBhvr>
                                        <p:cTn id="48" dur="500"/>
                                        <p:tgtEl>
                                          <p:spTgt spid="21197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11980"/>
                                        </p:tgtEl>
                                        <p:attrNameLst>
                                          <p:attrName>style.visibility</p:attrName>
                                        </p:attrNameLst>
                                      </p:cBhvr>
                                      <p:to>
                                        <p:strVal val="visible"/>
                                      </p:to>
                                    </p:set>
                                    <p:animEffect transition="in" filter="wipe(left)">
                                      <p:cBhvr>
                                        <p:cTn id="53" dur="500"/>
                                        <p:tgtEl>
                                          <p:spTgt spid="21198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11981"/>
                                        </p:tgtEl>
                                        <p:attrNameLst>
                                          <p:attrName>style.visibility</p:attrName>
                                        </p:attrNameLst>
                                      </p:cBhvr>
                                      <p:to>
                                        <p:strVal val="visible"/>
                                      </p:to>
                                    </p:set>
                                    <p:anim calcmode="lin" valueType="num">
                                      <p:cBhvr additive="base">
                                        <p:cTn id="58" dur="500" fill="hold"/>
                                        <p:tgtEl>
                                          <p:spTgt spid="211981"/>
                                        </p:tgtEl>
                                        <p:attrNameLst>
                                          <p:attrName>ppt_x</p:attrName>
                                        </p:attrNameLst>
                                      </p:cBhvr>
                                      <p:tavLst>
                                        <p:tav tm="0">
                                          <p:val>
                                            <p:strVal val="#ppt_x"/>
                                          </p:val>
                                        </p:tav>
                                        <p:tav tm="100000">
                                          <p:val>
                                            <p:strVal val="#ppt_x"/>
                                          </p:val>
                                        </p:tav>
                                      </p:tavLst>
                                    </p:anim>
                                    <p:anim calcmode="lin" valueType="num">
                                      <p:cBhvr additive="base">
                                        <p:cTn id="59" dur="500" fill="hold"/>
                                        <p:tgtEl>
                                          <p:spTgt spid="211981"/>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211982"/>
                                        </p:tgtEl>
                                        <p:attrNameLst>
                                          <p:attrName>style.visibility</p:attrName>
                                        </p:attrNameLst>
                                      </p:cBhvr>
                                      <p:to>
                                        <p:strVal val="visible"/>
                                      </p:to>
                                    </p:set>
                                    <p:anim calcmode="lin" valueType="num">
                                      <p:cBhvr additive="base">
                                        <p:cTn id="64" dur="500" fill="hold"/>
                                        <p:tgtEl>
                                          <p:spTgt spid="211982"/>
                                        </p:tgtEl>
                                        <p:attrNameLst>
                                          <p:attrName>ppt_x</p:attrName>
                                        </p:attrNameLst>
                                      </p:cBhvr>
                                      <p:tavLst>
                                        <p:tav tm="0">
                                          <p:val>
                                            <p:strVal val="#ppt_x"/>
                                          </p:val>
                                        </p:tav>
                                        <p:tav tm="100000">
                                          <p:val>
                                            <p:strVal val="#ppt_x"/>
                                          </p:val>
                                        </p:tav>
                                      </p:tavLst>
                                    </p:anim>
                                    <p:anim calcmode="lin" valueType="num">
                                      <p:cBhvr additive="base">
                                        <p:cTn id="65" dur="500" fill="hold"/>
                                        <p:tgtEl>
                                          <p:spTgt spid="2119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p:bldP spid="211973" grpId="0"/>
      <p:bldP spid="211975" grpId="0"/>
      <p:bldP spid="211979" grpId="0"/>
      <p:bldP spid="21198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059113" y="523875"/>
            <a:ext cx="3024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4000500" algn="r"/>
              </a:tabLst>
              <a:defRPr>
                <a:solidFill>
                  <a:schemeClr val="tx1"/>
                </a:solidFill>
                <a:latin typeface="Arial" panose="020B0604020202020204" pitchFamily="34" charset="0"/>
                <a:ea typeface="宋体" panose="02010600030101010101" pitchFamily="2" charset="-122"/>
              </a:defRPr>
            </a:lvl1pPr>
            <a:lvl2pPr>
              <a:tabLst>
                <a:tab pos="4000500" algn="r"/>
              </a:tabLst>
              <a:defRPr>
                <a:solidFill>
                  <a:schemeClr val="tx1"/>
                </a:solidFill>
                <a:latin typeface="Arial" panose="020B0604020202020204" pitchFamily="34" charset="0"/>
                <a:ea typeface="宋体" panose="02010600030101010101" pitchFamily="2" charset="-122"/>
              </a:defRPr>
            </a:lvl2pPr>
            <a:lvl3pPr>
              <a:tabLst>
                <a:tab pos="4000500" algn="r"/>
              </a:tabLst>
              <a:defRPr>
                <a:solidFill>
                  <a:schemeClr val="tx1"/>
                </a:solidFill>
                <a:latin typeface="Arial" panose="020B0604020202020204" pitchFamily="34" charset="0"/>
                <a:ea typeface="宋体" panose="02010600030101010101" pitchFamily="2" charset="-122"/>
              </a:defRPr>
            </a:lvl3pPr>
            <a:lvl4pPr>
              <a:tabLst>
                <a:tab pos="4000500" algn="r"/>
              </a:tabLst>
              <a:defRPr>
                <a:solidFill>
                  <a:schemeClr val="tx1"/>
                </a:solidFill>
                <a:latin typeface="Arial" panose="020B0604020202020204" pitchFamily="34" charset="0"/>
                <a:ea typeface="宋体" panose="02010600030101010101" pitchFamily="2" charset="-122"/>
              </a:defRPr>
            </a:lvl4pPr>
            <a:lvl5pPr>
              <a:tabLst>
                <a:tab pos="4000500" algn="r"/>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FF0000"/>
                </a:solidFill>
              </a:rPr>
              <a:t>孪生子佯谬</a:t>
            </a:r>
          </a:p>
        </p:txBody>
      </p:sp>
      <p:sp>
        <p:nvSpPr>
          <p:cNvPr id="46083" name="Rectangle 3"/>
          <p:cNvSpPr>
            <a:spLocks noChangeArrowheads="1"/>
          </p:cNvSpPr>
          <p:nvPr/>
        </p:nvSpPr>
        <p:spPr bwMode="auto">
          <a:xfrm>
            <a:off x="684213" y="2817813"/>
            <a:ext cx="79930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4000500" algn="r"/>
              </a:tabLst>
              <a:defRPr>
                <a:solidFill>
                  <a:schemeClr val="tx1"/>
                </a:solidFill>
                <a:latin typeface="Arial" panose="020B0604020202020204" pitchFamily="34" charset="0"/>
                <a:ea typeface="宋体" panose="02010600030101010101" pitchFamily="2" charset="-122"/>
              </a:defRPr>
            </a:lvl1pPr>
            <a:lvl2pPr>
              <a:tabLst>
                <a:tab pos="4000500" algn="r"/>
              </a:tabLst>
              <a:defRPr>
                <a:solidFill>
                  <a:schemeClr val="tx1"/>
                </a:solidFill>
                <a:latin typeface="Arial" panose="020B0604020202020204" pitchFamily="34" charset="0"/>
                <a:ea typeface="宋体" panose="02010600030101010101" pitchFamily="2" charset="-122"/>
              </a:defRPr>
            </a:lvl2pPr>
            <a:lvl3pPr>
              <a:tabLst>
                <a:tab pos="4000500" algn="r"/>
              </a:tabLst>
              <a:defRPr>
                <a:solidFill>
                  <a:schemeClr val="tx1"/>
                </a:solidFill>
                <a:latin typeface="Arial" panose="020B0604020202020204" pitchFamily="34" charset="0"/>
                <a:ea typeface="宋体" panose="02010600030101010101" pitchFamily="2" charset="-122"/>
              </a:defRPr>
            </a:lvl3pPr>
            <a:lvl4pPr>
              <a:tabLst>
                <a:tab pos="4000500" algn="r"/>
              </a:tabLst>
              <a:defRPr>
                <a:solidFill>
                  <a:schemeClr val="tx1"/>
                </a:solidFill>
                <a:latin typeface="Arial" panose="020B0604020202020204" pitchFamily="34" charset="0"/>
                <a:ea typeface="宋体" panose="02010600030101010101" pitchFamily="2" charset="-122"/>
              </a:defRPr>
            </a:lvl4pPr>
            <a:lvl5pPr>
              <a:tabLst>
                <a:tab pos="4000500" algn="r"/>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000500" algn="r"/>
              </a:tabLst>
              <a:defRPr>
                <a:solidFill>
                  <a:schemeClr val="tx1"/>
                </a:solidFill>
                <a:latin typeface="Arial" panose="020B0604020202020204" pitchFamily="34" charset="0"/>
                <a:ea typeface="宋体" panose="02010600030101010101" pitchFamily="2" charset="-122"/>
              </a:defRPr>
            </a:lvl9pPr>
          </a:lstStyle>
          <a:p>
            <a:endParaRPr lang="zh-CN" altLang="zh-CN" sz="2000"/>
          </a:p>
        </p:txBody>
      </p:sp>
      <p:graphicFrame>
        <p:nvGraphicFramePr>
          <p:cNvPr id="46084" name="Object 4"/>
          <p:cNvGraphicFramePr>
            <a:graphicFrameLocks noChangeAspect="1"/>
          </p:cNvGraphicFramePr>
          <p:nvPr/>
        </p:nvGraphicFramePr>
        <p:xfrm>
          <a:off x="179388" y="1196975"/>
          <a:ext cx="8482012" cy="5233988"/>
        </p:xfrm>
        <a:graphic>
          <a:graphicData uri="http://schemas.openxmlformats.org/presentationml/2006/ole">
            <mc:AlternateContent xmlns:mc="http://schemas.openxmlformats.org/markup-compatibility/2006">
              <mc:Choice xmlns:v="urn:schemas-microsoft-com:vml" Requires="v">
                <p:oleObj spid="_x0000_s46092" name="文档" r:id="rId3" imgW="8583464" imgH="5319415" progId="Word.Document.8">
                  <p:embed/>
                </p:oleObj>
              </mc:Choice>
              <mc:Fallback>
                <p:oleObj name="文档" r:id="rId3" imgW="8583464" imgH="5319415" progId="Word.Document.8">
                  <p:embed/>
                  <p:pic>
                    <p:nvPicPr>
                      <p:cNvPr id="460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196975"/>
                        <a:ext cx="8482012" cy="5233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07903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blinds(horizontal)">
                                      <p:cBhvr>
                                        <p:cTn id="7" dur="500"/>
                                        <p:tgtEl>
                                          <p:spTgt spid="46082"/>
                                        </p:tgtEl>
                                      </p:cBhvr>
                                    </p:animEffect>
                                  </p:childTnLst>
                                </p:cTn>
                              </p:par>
                              <p:par>
                                <p:cTn id="8" presetID="3" presetClass="entr" presetSubtype="10" fill="hold" grpId="0" nodeType="withEffect" nodePh="1">
                                  <p:stCondLst>
                                    <p:cond delay="0"/>
                                  </p:stCondLst>
                                  <p:endCondLst>
                                    <p:cond evt="begin" delay="0">
                                      <p:tn val="8"/>
                                    </p:cond>
                                  </p:endCondLst>
                                  <p:childTnLst>
                                    <p:set>
                                      <p:cBhvr>
                                        <p:cTn id="9" dur="1" fill="hold">
                                          <p:stCondLst>
                                            <p:cond delay="0"/>
                                          </p:stCondLst>
                                        </p:cTn>
                                        <p:tgtEl>
                                          <p:spTgt spid="46083"/>
                                        </p:tgtEl>
                                        <p:attrNameLst>
                                          <p:attrName>style.visibility</p:attrName>
                                        </p:attrNameLst>
                                      </p:cBhvr>
                                      <p:to>
                                        <p:strVal val="visible"/>
                                      </p:to>
                                    </p:set>
                                    <p:animEffect transition="in" filter="blinds(horizontal)">
                                      <p:cBhvr>
                                        <p:cTn id="10" dur="500"/>
                                        <p:tgtEl>
                                          <p:spTgt spid="46083"/>
                                        </p:tgtEl>
                                      </p:cBhvr>
                                    </p:animEffect>
                                  </p:childTnLst>
                                </p:cTn>
                              </p:par>
                              <p:par>
                                <p:cTn id="11" presetID="3" presetClass="entr" presetSubtype="10" fill="hold" nodeType="withEffect">
                                  <p:stCondLst>
                                    <p:cond delay="0"/>
                                  </p:stCondLst>
                                  <p:childTnLst>
                                    <p:set>
                                      <p:cBhvr>
                                        <p:cTn id="12" dur="1" fill="hold">
                                          <p:stCondLst>
                                            <p:cond delay="0"/>
                                          </p:stCondLst>
                                        </p:cTn>
                                        <p:tgtEl>
                                          <p:spTgt spid="46084"/>
                                        </p:tgtEl>
                                        <p:attrNameLst>
                                          <p:attrName>style.visibility</p:attrName>
                                        </p:attrNameLst>
                                      </p:cBhvr>
                                      <p:to>
                                        <p:strVal val="visible"/>
                                      </p:to>
                                    </p:set>
                                    <p:animEffect transition="in" filter="blinds(horizontal)">
                                      <p:cBhvr>
                                        <p:cTn id="13" dur="500"/>
                                        <p:tgtEl>
                                          <p:spTgt spid="46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08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nvGraphicFramePr>
        <p:xfrm>
          <a:off x="395288" y="549275"/>
          <a:ext cx="8269287" cy="5699125"/>
        </p:xfrm>
        <a:graphic>
          <a:graphicData uri="http://schemas.openxmlformats.org/presentationml/2006/ole">
            <mc:AlternateContent xmlns:mc="http://schemas.openxmlformats.org/markup-compatibility/2006">
              <mc:Choice xmlns:v="urn:schemas-microsoft-com:vml" Requires="v">
                <p:oleObj spid="_x0000_s47116" name="文档" r:id="rId3" imgW="8621607" imgH="5951761" progId="Word.Document.8">
                  <p:embed/>
                </p:oleObj>
              </mc:Choice>
              <mc:Fallback>
                <p:oleObj name="文档" r:id="rId3" imgW="8621607" imgH="5951761" progId="Word.Document.8">
                  <p:embed/>
                  <p:pic>
                    <p:nvPicPr>
                      <p:cNvPr id="4710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549275"/>
                        <a:ext cx="8269287" cy="569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71063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blinds(horizontal)">
                                      <p:cBhvr>
                                        <p:cTn id="7" dur="500"/>
                                        <p:tgtEl>
                                          <p:spTgt spid="47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nvGraphicFramePr>
        <p:xfrm>
          <a:off x="277813" y="436563"/>
          <a:ext cx="8442325" cy="2093912"/>
        </p:xfrm>
        <a:graphic>
          <a:graphicData uri="http://schemas.openxmlformats.org/presentationml/2006/ole">
            <mc:AlternateContent xmlns:mc="http://schemas.openxmlformats.org/markup-compatibility/2006">
              <mc:Choice xmlns:v="urn:schemas-microsoft-com:vml" Requires="v">
                <p:oleObj spid="_x0000_s48150" name="文档" r:id="rId3" imgW="8551498" imgH="2128372" progId="Word.Document.8">
                  <p:embed/>
                </p:oleObj>
              </mc:Choice>
              <mc:Fallback>
                <p:oleObj name="文档" r:id="rId3" imgW="8551498" imgH="2128372" progId="Word.Document.8">
                  <p:embed/>
                  <p:pic>
                    <p:nvPicPr>
                      <p:cNvPr id="4813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3" y="436563"/>
                        <a:ext cx="8442325" cy="209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8132" name="Picture 4" descr="例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8038" y="3500438"/>
            <a:ext cx="3168650"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8133" name="Object 5"/>
          <p:cNvGraphicFramePr>
            <a:graphicFrameLocks noChangeAspect="1"/>
          </p:cNvGraphicFramePr>
          <p:nvPr/>
        </p:nvGraphicFramePr>
        <p:xfrm>
          <a:off x="317500" y="2490788"/>
          <a:ext cx="8680450" cy="1843087"/>
        </p:xfrm>
        <a:graphic>
          <a:graphicData uri="http://schemas.openxmlformats.org/presentationml/2006/ole">
            <mc:AlternateContent xmlns:mc="http://schemas.openxmlformats.org/markup-compatibility/2006">
              <mc:Choice xmlns:v="urn:schemas-microsoft-com:vml" Requires="v">
                <p:oleObj spid="_x0000_s48151" name="文档" r:id="rId6" imgW="8938260" imgH="1893070" progId="Word.Document.8">
                  <p:embed/>
                </p:oleObj>
              </mc:Choice>
              <mc:Fallback>
                <p:oleObj name="文档" r:id="rId6" imgW="8938260" imgH="1893070" progId="Word.Document.8">
                  <p:embed/>
                  <p:pic>
                    <p:nvPicPr>
                      <p:cNvPr id="4813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500" y="2490788"/>
                        <a:ext cx="8680450" cy="184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16027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blinds(horizontal)">
                                      <p:cBhvr>
                                        <p:cTn id="7" dur="500"/>
                                        <p:tgtEl>
                                          <p:spTgt spid="48130"/>
                                        </p:tgtEl>
                                      </p:cBhvr>
                                    </p:animEffect>
                                  </p:childTnLst>
                                </p:cTn>
                              </p:par>
                              <p:par>
                                <p:cTn id="8" presetID="3" presetClass="entr" presetSubtype="10" fill="hold" nodeType="withEffect">
                                  <p:stCondLst>
                                    <p:cond delay="0"/>
                                  </p:stCondLst>
                                  <p:childTnLst>
                                    <p:set>
                                      <p:cBhvr>
                                        <p:cTn id="9" dur="1" fill="hold">
                                          <p:stCondLst>
                                            <p:cond delay="0"/>
                                          </p:stCondLst>
                                        </p:cTn>
                                        <p:tgtEl>
                                          <p:spTgt spid="48132"/>
                                        </p:tgtEl>
                                        <p:attrNameLst>
                                          <p:attrName>style.visibility</p:attrName>
                                        </p:attrNameLst>
                                      </p:cBhvr>
                                      <p:to>
                                        <p:strVal val="visible"/>
                                      </p:to>
                                    </p:set>
                                    <p:animEffect transition="in" filter="blinds(horizontal)">
                                      <p:cBhvr>
                                        <p:cTn id="10" dur="500"/>
                                        <p:tgtEl>
                                          <p:spTgt spid="48132"/>
                                        </p:tgtEl>
                                      </p:cBhvr>
                                    </p:animEffect>
                                  </p:childTnLst>
                                </p:cTn>
                              </p:par>
                              <p:par>
                                <p:cTn id="11" presetID="3" presetClass="entr" presetSubtype="10" fill="hold" nodeType="withEffect">
                                  <p:stCondLst>
                                    <p:cond delay="0"/>
                                  </p:stCondLst>
                                  <p:childTnLst>
                                    <p:set>
                                      <p:cBhvr>
                                        <p:cTn id="12" dur="1" fill="hold">
                                          <p:stCondLst>
                                            <p:cond delay="0"/>
                                          </p:stCondLst>
                                        </p:cTn>
                                        <p:tgtEl>
                                          <p:spTgt spid="48133"/>
                                        </p:tgtEl>
                                        <p:attrNameLst>
                                          <p:attrName>style.visibility</p:attrName>
                                        </p:attrNameLst>
                                      </p:cBhvr>
                                      <p:to>
                                        <p:strVal val="visible"/>
                                      </p:to>
                                    </p:set>
                                    <p:animEffect transition="in" filter="blinds(horizontal)">
                                      <p:cBhvr>
                                        <p:cTn id="13"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250825" y="404813"/>
            <a:ext cx="3867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b="1">
                <a:solidFill>
                  <a:srgbClr val="0000FF"/>
                </a:solidFill>
              </a:rPr>
              <a:t>（一）、飞船到达该星体的时间计算</a:t>
            </a:r>
          </a:p>
        </p:txBody>
      </p:sp>
      <p:graphicFrame>
        <p:nvGraphicFramePr>
          <p:cNvPr id="49155" name="Object 3"/>
          <p:cNvGraphicFramePr>
            <a:graphicFrameLocks noChangeAspect="1"/>
          </p:cNvGraphicFramePr>
          <p:nvPr/>
        </p:nvGraphicFramePr>
        <p:xfrm>
          <a:off x="463550" y="835025"/>
          <a:ext cx="8031163" cy="3127375"/>
        </p:xfrm>
        <a:graphic>
          <a:graphicData uri="http://schemas.openxmlformats.org/presentationml/2006/ole">
            <mc:AlternateContent xmlns:mc="http://schemas.openxmlformats.org/markup-compatibility/2006">
              <mc:Choice xmlns:v="urn:schemas-microsoft-com:vml" Requires="v">
                <p:oleObj spid="_x0000_s49174" name="文档" r:id="rId3" imgW="8137512" imgH="3169877" progId="Word.Document.8">
                  <p:embed/>
                </p:oleObj>
              </mc:Choice>
              <mc:Fallback>
                <p:oleObj name="文档" r:id="rId3" imgW="8137512" imgH="3169877" progId="Word.Document.8">
                  <p:embed/>
                  <p:pic>
                    <p:nvPicPr>
                      <p:cNvPr id="4915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550" y="835025"/>
                        <a:ext cx="8031163" cy="312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6" name="Object 4"/>
          <p:cNvGraphicFramePr>
            <a:graphicFrameLocks noChangeAspect="1"/>
          </p:cNvGraphicFramePr>
          <p:nvPr/>
        </p:nvGraphicFramePr>
        <p:xfrm>
          <a:off x="539750" y="3789363"/>
          <a:ext cx="7988300" cy="2886075"/>
        </p:xfrm>
        <a:graphic>
          <a:graphicData uri="http://schemas.openxmlformats.org/presentationml/2006/ole">
            <mc:AlternateContent xmlns:mc="http://schemas.openxmlformats.org/markup-compatibility/2006">
              <mc:Choice xmlns:v="urn:schemas-microsoft-com:vml" Requires="v">
                <p:oleObj spid="_x0000_s49175" name="文档" r:id="rId5" imgW="8023396" imgH="2906350" progId="Word.Document.8">
                  <p:embed/>
                </p:oleObj>
              </mc:Choice>
              <mc:Fallback>
                <p:oleObj name="文档" r:id="rId5" imgW="8023396" imgH="2906350" progId="Word.Document.8">
                  <p:embed/>
                  <p:pic>
                    <p:nvPicPr>
                      <p:cNvPr id="4915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3789363"/>
                        <a:ext cx="7988300" cy="288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459375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blinds(horizontal)">
                                      <p:cBhvr>
                                        <p:cTn id="7" dur="500"/>
                                        <p:tgtEl>
                                          <p:spTgt spid="49154"/>
                                        </p:tgtEl>
                                      </p:cBhvr>
                                    </p:animEffect>
                                  </p:childTnLst>
                                </p:cTn>
                              </p:par>
                              <p:par>
                                <p:cTn id="8" presetID="3" presetClass="entr" presetSubtype="10" fill="hold" nodeType="withEffect">
                                  <p:stCondLst>
                                    <p:cond delay="0"/>
                                  </p:stCondLst>
                                  <p:childTnLst>
                                    <p:set>
                                      <p:cBhvr>
                                        <p:cTn id="9" dur="1" fill="hold">
                                          <p:stCondLst>
                                            <p:cond delay="0"/>
                                          </p:stCondLst>
                                        </p:cTn>
                                        <p:tgtEl>
                                          <p:spTgt spid="49155"/>
                                        </p:tgtEl>
                                        <p:attrNameLst>
                                          <p:attrName>style.visibility</p:attrName>
                                        </p:attrNameLst>
                                      </p:cBhvr>
                                      <p:to>
                                        <p:strVal val="visible"/>
                                      </p:to>
                                    </p:set>
                                    <p:animEffect transition="in" filter="blinds(horizontal)">
                                      <p:cBhvr>
                                        <p:cTn id="10" dur="500"/>
                                        <p:tgtEl>
                                          <p:spTgt spid="49155"/>
                                        </p:tgtEl>
                                      </p:cBhvr>
                                    </p:animEffect>
                                  </p:childTnLst>
                                </p:cTn>
                              </p:par>
                              <p:par>
                                <p:cTn id="11" presetID="3" presetClass="entr" presetSubtype="10" fill="hold" nodeType="withEffect">
                                  <p:stCondLst>
                                    <p:cond delay="0"/>
                                  </p:stCondLst>
                                  <p:childTnLst>
                                    <p:set>
                                      <p:cBhvr>
                                        <p:cTn id="12" dur="1" fill="hold">
                                          <p:stCondLst>
                                            <p:cond delay="0"/>
                                          </p:stCondLst>
                                        </p:cTn>
                                        <p:tgtEl>
                                          <p:spTgt spid="49156"/>
                                        </p:tgtEl>
                                        <p:attrNameLst>
                                          <p:attrName>style.visibility</p:attrName>
                                        </p:attrNameLst>
                                      </p:cBhvr>
                                      <p:to>
                                        <p:strVal val="visible"/>
                                      </p:to>
                                    </p:set>
                                    <p:animEffect transition="in" filter="blinds(horizontal)">
                                      <p:cBhvr>
                                        <p:cTn id="13" dur="500"/>
                                        <p:tgtEl>
                                          <p:spTgt spid="4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2"/>
          <p:cNvGraphicFramePr>
            <a:graphicFrameLocks noChangeAspect="1"/>
          </p:cNvGraphicFramePr>
          <p:nvPr/>
        </p:nvGraphicFramePr>
        <p:xfrm>
          <a:off x="554038" y="620713"/>
          <a:ext cx="8410575" cy="3465512"/>
        </p:xfrm>
        <a:graphic>
          <a:graphicData uri="http://schemas.openxmlformats.org/presentationml/2006/ole">
            <mc:AlternateContent xmlns:mc="http://schemas.openxmlformats.org/markup-compatibility/2006">
              <mc:Choice xmlns:v="urn:schemas-microsoft-com:vml" Requires="v">
                <p:oleObj spid="_x0000_s50198" name="文档" r:id="rId3" imgW="8410383" imgH="3466884" progId="Word.Document.8">
                  <p:embed/>
                </p:oleObj>
              </mc:Choice>
              <mc:Fallback>
                <p:oleObj name="文档" r:id="rId3" imgW="8410383" imgH="3466884" progId="Word.Document.8">
                  <p:embed/>
                  <p:pic>
                    <p:nvPicPr>
                      <p:cNvPr id="501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038" y="620713"/>
                        <a:ext cx="8410575" cy="3465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79" name="Object 3"/>
          <p:cNvGraphicFramePr>
            <a:graphicFrameLocks noChangeAspect="1"/>
          </p:cNvGraphicFramePr>
          <p:nvPr/>
        </p:nvGraphicFramePr>
        <p:xfrm>
          <a:off x="233363" y="4219575"/>
          <a:ext cx="8659812" cy="2181225"/>
        </p:xfrm>
        <a:graphic>
          <a:graphicData uri="http://schemas.openxmlformats.org/presentationml/2006/ole">
            <mc:AlternateContent xmlns:mc="http://schemas.openxmlformats.org/markup-compatibility/2006">
              <mc:Choice xmlns:v="urn:schemas-microsoft-com:vml" Requires="v">
                <p:oleObj spid="_x0000_s50199" name="文档" r:id="rId5" imgW="8673271" imgH="2192119" progId="Word.Document.8">
                  <p:embed/>
                </p:oleObj>
              </mc:Choice>
              <mc:Fallback>
                <p:oleObj name="文档" r:id="rId5" imgW="8673271" imgH="2192119" progId="Word.Document.8">
                  <p:embed/>
                  <p:pic>
                    <p:nvPicPr>
                      <p:cNvPr id="5017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363" y="4219575"/>
                        <a:ext cx="8659812" cy="218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1569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blinds(horizontal)">
                                      <p:cBhvr>
                                        <p:cTn id="7" dur="500"/>
                                        <p:tgtEl>
                                          <p:spTgt spid="50178"/>
                                        </p:tgtEl>
                                      </p:cBhvr>
                                    </p:animEffect>
                                  </p:childTnLst>
                                </p:cTn>
                              </p:par>
                              <p:par>
                                <p:cTn id="8" presetID="3" presetClass="entr" presetSubtype="10" fill="hold" nodeType="withEffect">
                                  <p:stCondLst>
                                    <p:cond delay="0"/>
                                  </p:stCondLst>
                                  <p:childTnLst>
                                    <p:set>
                                      <p:cBhvr>
                                        <p:cTn id="9" dur="1" fill="hold">
                                          <p:stCondLst>
                                            <p:cond delay="0"/>
                                          </p:stCondLst>
                                        </p:cTn>
                                        <p:tgtEl>
                                          <p:spTgt spid="50179"/>
                                        </p:tgtEl>
                                        <p:attrNameLst>
                                          <p:attrName>style.visibility</p:attrName>
                                        </p:attrNameLst>
                                      </p:cBhvr>
                                      <p:to>
                                        <p:strVal val="visible"/>
                                      </p:to>
                                    </p:set>
                                    <p:animEffect transition="in" filter="blinds(horizontal)">
                                      <p:cBhvr>
                                        <p:cTn id="10" dur="500"/>
                                        <p:tgtEl>
                                          <p:spTgt spid="5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2" name="Object 2"/>
          <p:cNvGraphicFramePr>
            <a:graphicFrameLocks noChangeAspect="1"/>
          </p:cNvGraphicFramePr>
          <p:nvPr/>
        </p:nvGraphicFramePr>
        <p:xfrm>
          <a:off x="395288" y="525463"/>
          <a:ext cx="8305800" cy="3119437"/>
        </p:xfrm>
        <a:graphic>
          <a:graphicData uri="http://schemas.openxmlformats.org/presentationml/2006/ole">
            <mc:AlternateContent xmlns:mc="http://schemas.openxmlformats.org/markup-compatibility/2006">
              <mc:Choice xmlns:v="urn:schemas-microsoft-com:vml" Requires="v">
                <p:oleObj spid="_x0000_s51222" name="文档" r:id="rId3" imgW="8461842" imgH="3181434" progId="Word.Document.8">
                  <p:embed/>
                </p:oleObj>
              </mc:Choice>
              <mc:Fallback>
                <p:oleObj name="文档" r:id="rId3" imgW="8461842" imgH="3181434" progId="Word.Document.8">
                  <p:embed/>
                  <p:pic>
                    <p:nvPicPr>
                      <p:cNvPr id="5120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525463"/>
                        <a:ext cx="8305800" cy="311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3" name="Object 3"/>
          <p:cNvGraphicFramePr>
            <a:graphicFrameLocks noChangeAspect="1"/>
          </p:cNvGraphicFramePr>
          <p:nvPr/>
        </p:nvGraphicFramePr>
        <p:xfrm>
          <a:off x="468313" y="3549650"/>
          <a:ext cx="8274050" cy="2832100"/>
        </p:xfrm>
        <a:graphic>
          <a:graphicData uri="http://schemas.openxmlformats.org/presentationml/2006/ole">
            <mc:AlternateContent xmlns:mc="http://schemas.openxmlformats.org/markup-compatibility/2006">
              <mc:Choice xmlns:v="urn:schemas-microsoft-com:vml" Requires="v">
                <p:oleObj spid="_x0000_s51223" name="文档" r:id="rId5" imgW="8281577" imgH="2845542" progId="Word.Document.8">
                  <p:embed/>
                </p:oleObj>
              </mc:Choice>
              <mc:Fallback>
                <p:oleObj name="文档" r:id="rId5" imgW="8281577" imgH="2845542" progId="Word.Document.8">
                  <p:embed/>
                  <p:pic>
                    <p:nvPicPr>
                      <p:cNvPr id="5120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3549650"/>
                        <a:ext cx="8274050" cy="283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00333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blinds(horizontal)">
                                      <p:cBhvr>
                                        <p:cTn id="7" dur="500"/>
                                        <p:tgtEl>
                                          <p:spTgt spid="51202"/>
                                        </p:tgtEl>
                                      </p:cBhvr>
                                    </p:animEffect>
                                  </p:childTnLst>
                                </p:cTn>
                              </p:par>
                              <p:par>
                                <p:cTn id="8" presetID="3" presetClass="entr" presetSubtype="10" fill="hold" nodeType="withEffect">
                                  <p:stCondLst>
                                    <p:cond delay="0"/>
                                  </p:stCondLst>
                                  <p:childTnLst>
                                    <p:set>
                                      <p:cBhvr>
                                        <p:cTn id="9" dur="1" fill="hold">
                                          <p:stCondLst>
                                            <p:cond delay="0"/>
                                          </p:stCondLst>
                                        </p:cTn>
                                        <p:tgtEl>
                                          <p:spTgt spid="51203"/>
                                        </p:tgtEl>
                                        <p:attrNameLst>
                                          <p:attrName>style.visibility</p:attrName>
                                        </p:attrNameLst>
                                      </p:cBhvr>
                                      <p:to>
                                        <p:strVal val="visible"/>
                                      </p:to>
                                    </p:set>
                                    <p:animEffect transition="in" filter="blinds(horizontal)">
                                      <p:cBhvr>
                                        <p:cTn id="10"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Object 2"/>
          <p:cNvGraphicFramePr>
            <a:graphicFrameLocks noChangeAspect="1"/>
          </p:cNvGraphicFramePr>
          <p:nvPr/>
        </p:nvGraphicFramePr>
        <p:xfrm>
          <a:off x="541338" y="717550"/>
          <a:ext cx="7702550" cy="1774825"/>
        </p:xfrm>
        <a:graphic>
          <a:graphicData uri="http://schemas.openxmlformats.org/presentationml/2006/ole">
            <mc:AlternateContent xmlns:mc="http://schemas.openxmlformats.org/markup-compatibility/2006">
              <mc:Choice xmlns:v="urn:schemas-microsoft-com:vml" Requires="v">
                <p:oleObj spid="_x0000_s52246" name="文档" r:id="rId3" imgW="7759151" imgH="1790344" progId="Word.Document.8">
                  <p:embed/>
                </p:oleObj>
              </mc:Choice>
              <mc:Fallback>
                <p:oleObj name="文档" r:id="rId3" imgW="7759151" imgH="1790344" progId="Word.Document.8">
                  <p:embed/>
                  <p:pic>
                    <p:nvPicPr>
                      <p:cNvPr id="522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338" y="717550"/>
                        <a:ext cx="7702550" cy="177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7" name="Object 3"/>
          <p:cNvGraphicFramePr>
            <a:graphicFrameLocks noChangeAspect="1"/>
          </p:cNvGraphicFramePr>
          <p:nvPr/>
        </p:nvGraphicFramePr>
        <p:xfrm>
          <a:off x="323850" y="2133600"/>
          <a:ext cx="8628063" cy="4373563"/>
        </p:xfrm>
        <a:graphic>
          <a:graphicData uri="http://schemas.openxmlformats.org/presentationml/2006/ole">
            <mc:AlternateContent xmlns:mc="http://schemas.openxmlformats.org/markup-compatibility/2006">
              <mc:Choice xmlns:v="urn:schemas-microsoft-com:vml" Requires="v">
                <p:oleObj spid="_x0000_s52247" name="文档" r:id="rId5" imgW="8741431" imgH="4445885" progId="Word.Document.8">
                  <p:embed/>
                </p:oleObj>
              </mc:Choice>
              <mc:Fallback>
                <p:oleObj name="文档" r:id="rId5" imgW="8741431" imgH="4445885" progId="Word.Document.8">
                  <p:embed/>
                  <p:pic>
                    <p:nvPicPr>
                      <p:cNvPr id="5222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2133600"/>
                        <a:ext cx="8628063" cy="437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73970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blinds(horizontal)">
                                      <p:cBhvr>
                                        <p:cTn id="7" dur="500"/>
                                        <p:tgtEl>
                                          <p:spTgt spid="52226"/>
                                        </p:tgtEl>
                                      </p:cBhvr>
                                    </p:animEffect>
                                  </p:childTnLst>
                                </p:cTn>
                              </p:par>
                              <p:par>
                                <p:cTn id="8" presetID="3" presetClass="entr" presetSubtype="10" fill="hold" nodeType="withEffect">
                                  <p:stCondLst>
                                    <p:cond delay="0"/>
                                  </p:stCondLst>
                                  <p:childTnLst>
                                    <p:set>
                                      <p:cBhvr>
                                        <p:cTn id="9" dur="1" fill="hold">
                                          <p:stCondLst>
                                            <p:cond delay="0"/>
                                          </p:stCondLst>
                                        </p:cTn>
                                        <p:tgtEl>
                                          <p:spTgt spid="52227"/>
                                        </p:tgtEl>
                                        <p:attrNameLst>
                                          <p:attrName>style.visibility</p:attrName>
                                        </p:attrNameLst>
                                      </p:cBhvr>
                                      <p:to>
                                        <p:strVal val="visible"/>
                                      </p:to>
                                    </p:set>
                                    <p:animEffect transition="in" filter="blinds(horizontal)">
                                      <p:cBhvr>
                                        <p:cTn id="10"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323850" y="685800"/>
            <a:ext cx="64817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b="1">
                <a:solidFill>
                  <a:srgbClr val="0000FF"/>
                </a:solidFill>
              </a:rPr>
              <a:t>（二）、飞船到从星体返回地球的时间计算</a:t>
            </a:r>
          </a:p>
        </p:txBody>
      </p:sp>
      <p:graphicFrame>
        <p:nvGraphicFramePr>
          <p:cNvPr id="53251" name="Object 3"/>
          <p:cNvGraphicFramePr>
            <a:graphicFrameLocks noChangeAspect="1"/>
          </p:cNvGraphicFramePr>
          <p:nvPr/>
        </p:nvGraphicFramePr>
        <p:xfrm>
          <a:off x="539750" y="1193800"/>
          <a:ext cx="8013700" cy="1016000"/>
        </p:xfrm>
        <a:graphic>
          <a:graphicData uri="http://schemas.openxmlformats.org/presentationml/2006/ole">
            <mc:AlternateContent xmlns:mc="http://schemas.openxmlformats.org/markup-compatibility/2006">
              <mc:Choice xmlns:v="urn:schemas-microsoft-com:vml" Requires="v">
                <p:oleObj spid="_x0000_s53270" name="文档" r:id="rId3" imgW="8016865" imgH="1017037" progId="Word.Document.8">
                  <p:embed/>
                </p:oleObj>
              </mc:Choice>
              <mc:Fallback>
                <p:oleObj name="文档" r:id="rId3" imgW="8016865" imgH="1017037" progId="Word.Document.8">
                  <p:embed/>
                  <p:pic>
                    <p:nvPicPr>
                      <p:cNvPr id="5325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193800"/>
                        <a:ext cx="80137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2" name="Object 4"/>
          <p:cNvGraphicFramePr>
            <a:graphicFrameLocks noChangeAspect="1"/>
          </p:cNvGraphicFramePr>
          <p:nvPr/>
        </p:nvGraphicFramePr>
        <p:xfrm>
          <a:off x="539750" y="2446338"/>
          <a:ext cx="7959725" cy="3646487"/>
        </p:xfrm>
        <a:graphic>
          <a:graphicData uri="http://schemas.openxmlformats.org/presentationml/2006/ole">
            <mc:AlternateContent xmlns:mc="http://schemas.openxmlformats.org/markup-compatibility/2006">
              <mc:Choice xmlns:v="urn:schemas-microsoft-com:vml" Requires="v">
                <p:oleObj spid="_x0000_s53271" name="文档" r:id="rId5" imgW="7957159" imgH="3647968" progId="Word.Document.8">
                  <p:embed/>
                </p:oleObj>
              </mc:Choice>
              <mc:Fallback>
                <p:oleObj name="文档" r:id="rId5" imgW="7957159" imgH="3647968" progId="Word.Document.8">
                  <p:embed/>
                  <p:pic>
                    <p:nvPicPr>
                      <p:cNvPr id="5325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2446338"/>
                        <a:ext cx="7959725" cy="364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87768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linds(horizontal)">
                                      <p:cBhvr>
                                        <p:cTn id="7" dur="500"/>
                                        <p:tgtEl>
                                          <p:spTgt spid="53250"/>
                                        </p:tgtEl>
                                      </p:cBhvr>
                                    </p:animEffect>
                                  </p:childTnLst>
                                </p:cTn>
                              </p:par>
                              <p:par>
                                <p:cTn id="8" presetID="3" presetClass="entr" presetSubtype="10" fill="hold" nodeType="withEffect">
                                  <p:stCondLst>
                                    <p:cond delay="0"/>
                                  </p:stCondLst>
                                  <p:childTnLst>
                                    <p:set>
                                      <p:cBhvr>
                                        <p:cTn id="9" dur="1" fill="hold">
                                          <p:stCondLst>
                                            <p:cond delay="0"/>
                                          </p:stCondLst>
                                        </p:cTn>
                                        <p:tgtEl>
                                          <p:spTgt spid="53251"/>
                                        </p:tgtEl>
                                        <p:attrNameLst>
                                          <p:attrName>style.visibility</p:attrName>
                                        </p:attrNameLst>
                                      </p:cBhvr>
                                      <p:to>
                                        <p:strVal val="visible"/>
                                      </p:to>
                                    </p:set>
                                    <p:animEffect transition="in" filter="blinds(horizontal)">
                                      <p:cBhvr>
                                        <p:cTn id="10" dur="500"/>
                                        <p:tgtEl>
                                          <p:spTgt spid="53251"/>
                                        </p:tgtEl>
                                      </p:cBhvr>
                                    </p:animEffect>
                                  </p:childTnLst>
                                </p:cTn>
                              </p:par>
                              <p:par>
                                <p:cTn id="11" presetID="3" presetClass="entr" presetSubtype="10" fill="hold" nodeType="withEffect">
                                  <p:stCondLst>
                                    <p:cond delay="0"/>
                                  </p:stCondLst>
                                  <p:childTnLst>
                                    <p:set>
                                      <p:cBhvr>
                                        <p:cTn id="12" dur="1" fill="hold">
                                          <p:stCondLst>
                                            <p:cond delay="0"/>
                                          </p:stCondLst>
                                        </p:cTn>
                                        <p:tgtEl>
                                          <p:spTgt spid="53252"/>
                                        </p:tgtEl>
                                        <p:attrNameLst>
                                          <p:attrName>style.visibility</p:attrName>
                                        </p:attrNameLst>
                                      </p:cBhvr>
                                      <p:to>
                                        <p:strVal val="visible"/>
                                      </p:to>
                                    </p:set>
                                    <p:animEffect transition="in" filter="blinds(horizontal)">
                                      <p:cBhvr>
                                        <p:cTn id="13" dur="500"/>
                                        <p:tgtEl>
                                          <p:spTgt spid="5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4" name="Object 2"/>
          <p:cNvGraphicFramePr>
            <a:graphicFrameLocks noChangeAspect="1"/>
          </p:cNvGraphicFramePr>
          <p:nvPr/>
        </p:nvGraphicFramePr>
        <p:xfrm>
          <a:off x="542925" y="688975"/>
          <a:ext cx="7964488" cy="5830888"/>
        </p:xfrm>
        <a:graphic>
          <a:graphicData uri="http://schemas.openxmlformats.org/presentationml/2006/ole">
            <mc:AlternateContent xmlns:mc="http://schemas.openxmlformats.org/markup-compatibility/2006">
              <mc:Choice xmlns:v="urn:schemas-microsoft-com:vml" Requires="v">
                <p:oleObj spid="_x0000_s54284" name="文档" r:id="rId3" imgW="8071995" imgH="5911703" progId="Word.Document.8">
                  <p:embed/>
                </p:oleObj>
              </mc:Choice>
              <mc:Fallback>
                <p:oleObj name="文档" r:id="rId3" imgW="8071995" imgH="5911703" progId="Word.Document.8">
                  <p:embed/>
                  <p:pic>
                    <p:nvPicPr>
                      <p:cNvPr id="542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925" y="688975"/>
                        <a:ext cx="7964488" cy="5830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48461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blinds(horizontal)">
                                      <p:cBhvr>
                                        <p:cTn id="7" dur="500"/>
                                        <p:tgtEl>
                                          <p:spTgt spid="54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8" name="Object 2"/>
          <p:cNvGraphicFramePr>
            <a:graphicFrameLocks noChangeAspect="1"/>
          </p:cNvGraphicFramePr>
          <p:nvPr/>
        </p:nvGraphicFramePr>
        <p:xfrm>
          <a:off x="541338" y="534988"/>
          <a:ext cx="8207375" cy="3757612"/>
        </p:xfrm>
        <a:graphic>
          <a:graphicData uri="http://schemas.openxmlformats.org/presentationml/2006/ole">
            <mc:AlternateContent xmlns:mc="http://schemas.openxmlformats.org/markup-compatibility/2006">
              <mc:Choice xmlns:v="urn:schemas-microsoft-com:vml" Requires="v">
                <p:oleObj spid="_x0000_s55318" name="文档" r:id="rId3" imgW="8242905" imgH="3786976" progId="Word.Document.8">
                  <p:embed/>
                </p:oleObj>
              </mc:Choice>
              <mc:Fallback>
                <p:oleObj name="文档" r:id="rId3" imgW="8242905" imgH="3786976" progId="Word.Document.8">
                  <p:embed/>
                  <p:pic>
                    <p:nvPicPr>
                      <p:cNvPr id="552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338" y="534988"/>
                        <a:ext cx="8207375" cy="3757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299" name="Object 3"/>
          <p:cNvGraphicFramePr>
            <a:graphicFrameLocks noChangeAspect="1"/>
          </p:cNvGraphicFramePr>
          <p:nvPr/>
        </p:nvGraphicFramePr>
        <p:xfrm>
          <a:off x="423863" y="3644900"/>
          <a:ext cx="7991475" cy="2968625"/>
        </p:xfrm>
        <a:graphic>
          <a:graphicData uri="http://schemas.openxmlformats.org/presentationml/2006/ole">
            <mc:AlternateContent xmlns:mc="http://schemas.openxmlformats.org/markup-compatibility/2006">
              <mc:Choice xmlns:v="urn:schemas-microsoft-com:vml" Requires="v">
                <p:oleObj spid="_x0000_s55319" name="文档" r:id="rId5" imgW="8333705" imgH="3095355" progId="Word.Document.8">
                  <p:embed/>
                </p:oleObj>
              </mc:Choice>
              <mc:Fallback>
                <p:oleObj name="文档" r:id="rId5" imgW="8333705" imgH="3095355" progId="Word.Document.8">
                  <p:embed/>
                  <p:pic>
                    <p:nvPicPr>
                      <p:cNvPr id="5529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863" y="3644900"/>
                        <a:ext cx="7991475" cy="296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256125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blinds(horizontal)">
                                      <p:cBhvr>
                                        <p:cTn id="7" dur="500"/>
                                        <p:tgtEl>
                                          <p:spTgt spid="55298"/>
                                        </p:tgtEl>
                                      </p:cBhvr>
                                    </p:animEffect>
                                  </p:childTnLst>
                                </p:cTn>
                              </p:par>
                              <p:par>
                                <p:cTn id="8" presetID="3" presetClass="entr" presetSubtype="10" fill="hold" nodeType="withEffect">
                                  <p:stCondLst>
                                    <p:cond delay="0"/>
                                  </p:stCondLst>
                                  <p:childTnLst>
                                    <p:set>
                                      <p:cBhvr>
                                        <p:cTn id="9" dur="1" fill="hold">
                                          <p:stCondLst>
                                            <p:cond delay="0"/>
                                          </p:stCondLst>
                                        </p:cTn>
                                        <p:tgtEl>
                                          <p:spTgt spid="55299"/>
                                        </p:tgtEl>
                                        <p:attrNameLst>
                                          <p:attrName>style.visibility</p:attrName>
                                        </p:attrNameLst>
                                      </p:cBhvr>
                                      <p:to>
                                        <p:strVal val="visible"/>
                                      </p:to>
                                    </p:set>
                                    <p:animEffect transition="in" filter="blinds(horizontal)">
                                      <p:cBhvr>
                                        <p:cTn id="10" dur="500"/>
                                        <p:tgtEl>
                                          <p:spTgt spid="55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Object 2"/>
          <p:cNvGraphicFramePr>
            <a:graphicFrameLocks noChangeAspect="1"/>
          </p:cNvGraphicFramePr>
          <p:nvPr/>
        </p:nvGraphicFramePr>
        <p:xfrm>
          <a:off x="609600" y="582613"/>
          <a:ext cx="7659688" cy="2690812"/>
        </p:xfrm>
        <a:graphic>
          <a:graphicData uri="http://schemas.openxmlformats.org/presentationml/2006/ole">
            <mc:AlternateContent xmlns:mc="http://schemas.openxmlformats.org/markup-compatibility/2006">
              <mc:Choice xmlns:v="urn:schemas-microsoft-com:vml" Requires="v">
                <p:oleObj spid="_x0000_s56332" name="文档" r:id="rId3" imgW="7868242" imgH="2773507" progId="Word.Document.8">
                  <p:embed/>
                </p:oleObj>
              </mc:Choice>
              <mc:Fallback>
                <p:oleObj name="文档" r:id="rId3" imgW="7868242" imgH="2773507" progId="Word.Document.8">
                  <p:embed/>
                  <p:pic>
                    <p:nvPicPr>
                      <p:cNvPr id="563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82613"/>
                        <a:ext cx="7659688" cy="2690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813403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blinds(horizontal)">
                                      <p:cBhvr>
                                        <p:cTn id="7"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3029</TotalTime>
  <Words>3419</Words>
  <Application>Microsoft Office PowerPoint</Application>
  <PresentationFormat>全屏显示(4:3)</PresentationFormat>
  <Paragraphs>401</Paragraphs>
  <Slides>88</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88</vt:i4>
      </vt:variant>
    </vt:vector>
  </HeadingPairs>
  <TitlesOfParts>
    <vt:vector size="110" baseType="lpstr">
      <vt:lpstr>Math1</vt:lpstr>
      <vt:lpstr>等线</vt:lpstr>
      <vt:lpstr>等线 Light</vt:lpstr>
      <vt:lpstr>黑体</vt:lpstr>
      <vt:lpstr>华文行楷</vt:lpstr>
      <vt:lpstr>楷体_GB2312</vt:lpstr>
      <vt:lpstr>宋体</vt:lpstr>
      <vt:lpstr>Arial</vt:lpstr>
      <vt:lpstr>Calibri</vt:lpstr>
      <vt:lpstr>Calibri Light</vt:lpstr>
      <vt:lpstr>Cambria Math</vt:lpstr>
      <vt:lpstr>Symbol</vt:lpstr>
      <vt:lpstr>Times New Roman</vt:lpstr>
      <vt:lpstr>Verdana</vt:lpstr>
      <vt:lpstr>Wingdings</vt:lpstr>
      <vt:lpstr>Wingdings 2</vt:lpstr>
      <vt:lpstr>Office 主题​​</vt:lpstr>
      <vt:lpstr>Equation</vt:lpstr>
      <vt:lpstr>公式</vt:lpstr>
      <vt:lpstr>Image</vt:lpstr>
      <vt:lpstr>Document</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黑体辐射的“紫外灾难”及能量量子化</vt:lpstr>
      <vt:lpstr>photoelectric effect</vt:lpstr>
      <vt:lpstr>discovery of X-rays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SHENG HU</dc:creator>
  <cp:lastModifiedBy>Windows 用户</cp:lastModifiedBy>
  <cp:revision>49</cp:revision>
  <dcterms:created xsi:type="dcterms:W3CDTF">2022-04-11T01:26:52Z</dcterms:created>
  <dcterms:modified xsi:type="dcterms:W3CDTF">2025-04-08T01:40:57Z</dcterms:modified>
</cp:coreProperties>
</file>