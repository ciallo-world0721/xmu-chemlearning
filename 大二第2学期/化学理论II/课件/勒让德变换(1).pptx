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 id="276" r:id="rId15"/>
    <p:sldId id="277" r:id="rId16"/>
    <p:sldId id="278" r:id="rId17"/>
    <p:sldId id="279" r:id="rId18"/>
    <p:sldId id="280" r:id="rId19"/>
    <p:sldId id="281" r:id="rId20"/>
    <p:sldId id="282" r:id="rId21"/>
    <p:sldId id="283" r:id="rId22"/>
    <p:sldId id="285" r:id="rId23"/>
    <p:sldId id="286" r:id="rId24"/>
    <p:sldId id="287" r:id="rId25"/>
    <p:sldId id="288" r:id="rId26"/>
    <p:sldId id="289" r:id="rId27"/>
    <p:sldId id="290" r:id="rId28"/>
    <p:sldId id="291"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51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p:cViewPr varScale="1">
        <p:scale>
          <a:sx n="107" d="100"/>
          <a:sy n="107" d="100"/>
        </p:scale>
        <p:origin x="84" y="4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1F7CE7-2F76-4229-9BCA-602C404EAA46}" type="datetimeFigureOut">
              <a:rPr lang="zh-CN" altLang="en-US" smtClean="0"/>
              <a:t>2026/3/20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51C8D9-9BE9-4850-A10C-669CD66EBEC7}" type="slidenum">
              <a:rPr lang="zh-CN" altLang="en-US" smtClean="0"/>
              <a:t>‹#›</a:t>
            </a:fld>
            <a:endParaRPr lang="zh-CN" altLang="en-US"/>
          </a:p>
        </p:txBody>
      </p:sp>
    </p:spTree>
    <p:extLst>
      <p:ext uri="{BB962C8B-B14F-4D97-AF65-F5344CB8AC3E}">
        <p14:creationId xmlns:p14="http://schemas.microsoft.com/office/powerpoint/2010/main" val="2137667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F9FAFB"/>
                </a:solidFill>
                <a:effectLst/>
                <a:latin typeface="quote-cjk-patch"/>
              </a:rPr>
              <a:t>Let's start with the most fundamental potential: </a:t>
            </a:r>
            <a:r>
              <a:rPr lang="en-US" altLang="zh-CN" b="1" i="0" dirty="0">
                <a:solidFill>
                  <a:srgbClr val="F9FAFB"/>
                </a:solidFill>
                <a:effectLst/>
                <a:latin typeface="quote-cjk-patch"/>
              </a:rPr>
              <a:t>Internal Energy</a:t>
            </a:r>
            <a:r>
              <a:rPr lang="en-US" altLang="zh-CN" b="0" i="0" dirty="0">
                <a:solidFill>
                  <a:srgbClr val="F9FAFB"/>
                </a:solidFill>
                <a:effectLst/>
                <a:latin typeface="quote-cjk-patch"/>
              </a:rPr>
              <a:t>, denoted by </a:t>
            </a:r>
            <a:r>
              <a:rPr lang="en-US" altLang="zh-CN" b="0" i="1" dirty="0">
                <a:solidFill>
                  <a:srgbClr val="F9FAFB"/>
                </a:solidFill>
                <a:effectLst/>
                <a:latin typeface="KaTeX_Math"/>
              </a:rPr>
              <a:t>U</a:t>
            </a:r>
            <a:r>
              <a:rPr lang="en-US" altLang="zh-CN" b="0" i="0" dirty="0">
                <a:solidFill>
                  <a:srgbClr val="F9FAFB"/>
                </a:solidFill>
                <a:effectLst/>
                <a:latin typeface="quote-cjk-patch"/>
              </a:rPr>
              <a:t>. Its natural variables are entropy </a:t>
            </a:r>
            <a:r>
              <a:rPr lang="en-US" altLang="zh-CN" b="0" i="1" dirty="0">
                <a:solidFill>
                  <a:srgbClr val="F9FAFB"/>
                </a:solidFill>
                <a:effectLst/>
                <a:latin typeface="KaTeX_Math"/>
              </a:rPr>
              <a:t>S</a:t>
            </a:r>
            <a:r>
              <a:rPr lang="en-US" altLang="zh-CN" b="0" i="0" dirty="0">
                <a:solidFill>
                  <a:srgbClr val="F9FAFB"/>
                </a:solidFill>
                <a:effectLst/>
                <a:latin typeface="quote-cjk-patch"/>
              </a:rPr>
              <a:t>, volume </a:t>
            </a:r>
            <a:r>
              <a:rPr lang="en-US" altLang="zh-CN" b="0" i="1" dirty="0">
                <a:solidFill>
                  <a:srgbClr val="F9FAFB"/>
                </a:solidFill>
                <a:effectLst/>
                <a:latin typeface="KaTeX_Math"/>
              </a:rPr>
              <a:t>V</a:t>
            </a:r>
            <a:r>
              <a:rPr lang="en-US" altLang="zh-CN" b="0" i="0" dirty="0">
                <a:solidFill>
                  <a:srgbClr val="F9FAFB"/>
                </a:solidFill>
                <a:effectLst/>
                <a:latin typeface="quote-cjk-patch"/>
              </a:rPr>
              <a:t>, and particle number </a:t>
            </a:r>
            <a:r>
              <a:rPr lang="en-US" altLang="zh-CN" b="0" i="1" dirty="0">
                <a:solidFill>
                  <a:srgbClr val="F9FAFB"/>
                </a:solidFill>
                <a:effectLst/>
                <a:latin typeface="KaTeX_Math"/>
              </a:rPr>
              <a:t>N</a:t>
            </a:r>
            <a:r>
              <a:rPr lang="en-US" altLang="zh-CN" b="0" i="0" dirty="0">
                <a:solidFill>
                  <a:srgbClr val="F9FAFB"/>
                </a:solidFill>
                <a:effectLst/>
                <a:latin typeface="quote-cjk-patch"/>
              </a:rPr>
              <a:t>. The total differential of </a:t>
            </a:r>
            <a:r>
              <a:rPr lang="en-US" altLang="zh-CN" b="0" i="1" dirty="0">
                <a:solidFill>
                  <a:srgbClr val="F9FAFB"/>
                </a:solidFill>
                <a:effectLst/>
                <a:latin typeface="KaTeX_Math"/>
              </a:rPr>
              <a:t>U</a:t>
            </a:r>
            <a:r>
              <a:rPr lang="en-US" altLang="zh-CN" b="0" i="0" dirty="0">
                <a:solidFill>
                  <a:srgbClr val="F9FAFB"/>
                </a:solidFill>
                <a:effectLst/>
                <a:latin typeface="quote-cjk-patch"/>
              </a:rPr>
              <a:t> is given by:</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dee U equals T dee S minus P dee V plus mu dee 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In this equation, </a:t>
            </a:r>
            <a:r>
              <a:rPr lang="en-US" altLang="zh-CN" b="0" i="1" dirty="0">
                <a:solidFill>
                  <a:srgbClr val="F9FAFB"/>
                </a:solidFill>
                <a:effectLst/>
                <a:latin typeface="KaTeX_Math"/>
              </a:rPr>
              <a:t>T</a:t>
            </a:r>
            <a:r>
              <a:rPr lang="en-US" altLang="zh-CN" b="0" i="0" dirty="0">
                <a:solidFill>
                  <a:srgbClr val="F9FAFB"/>
                </a:solidFill>
                <a:effectLst/>
                <a:latin typeface="quote-cjk-patch"/>
              </a:rPr>
              <a:t> is the temperature, </a:t>
            </a:r>
            <a:r>
              <a:rPr lang="en-US" altLang="zh-CN" b="0" i="1" dirty="0">
                <a:solidFill>
                  <a:srgbClr val="F9FAFB"/>
                </a:solidFill>
                <a:effectLst/>
                <a:latin typeface="KaTeX_Math"/>
              </a:rPr>
              <a:t>P</a:t>
            </a:r>
            <a:r>
              <a:rPr lang="en-US" altLang="zh-CN" b="0" i="0" dirty="0">
                <a:solidFill>
                  <a:srgbClr val="F9FAFB"/>
                </a:solidFill>
                <a:effectLst/>
                <a:latin typeface="quote-cjk-patch"/>
              </a:rPr>
              <a:t> the pressure, and </a:t>
            </a:r>
            <a:r>
              <a:rPr lang="en-US" altLang="zh-CN" b="0" i="1" dirty="0">
                <a:solidFill>
                  <a:srgbClr val="F9FAFB"/>
                </a:solidFill>
                <a:effectLst/>
                <a:latin typeface="KaTeX_Math"/>
              </a:rPr>
              <a:t>μ</a:t>
            </a:r>
            <a:r>
              <a:rPr lang="en-US" altLang="zh-CN" b="0" i="0" dirty="0">
                <a:solidFill>
                  <a:srgbClr val="F9FAFB"/>
                </a:solidFill>
                <a:effectLst/>
                <a:latin typeface="quote-cjk-patch"/>
              </a:rPr>
              <a:t> the chemical potential. They are the partial derivatives of </a:t>
            </a:r>
            <a:r>
              <a:rPr lang="en-US" altLang="zh-CN" b="0" i="1" dirty="0">
                <a:solidFill>
                  <a:srgbClr val="F9FAFB"/>
                </a:solidFill>
                <a:effectLst/>
                <a:latin typeface="KaTeX_Math"/>
              </a:rPr>
              <a:t>U</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partial derivative of U with respect to S equals T</a:t>
            </a:r>
            <a:r>
              <a:rPr lang="en-US" altLang="zh-CN" b="0" i="0" dirty="0">
                <a:solidFill>
                  <a:srgbClr val="F9FAFB"/>
                </a:solidFill>
                <a:effectLst/>
                <a:latin typeface="quote-cjk-patch"/>
              </a:rPr>
              <a:t>', '</a:t>
            </a:r>
            <a:r>
              <a:rPr lang="en-US" altLang="zh-CN" b="1" i="0" dirty="0">
                <a:solidFill>
                  <a:srgbClr val="F9FAFB"/>
                </a:solidFill>
                <a:effectLst/>
                <a:latin typeface="quote-cjk-patch"/>
              </a:rPr>
              <a:t>partial derivative of U with respect to V equals minus P</a:t>
            </a:r>
            <a:r>
              <a:rPr lang="en-US" altLang="zh-CN" b="0" i="0" dirty="0">
                <a:solidFill>
                  <a:srgbClr val="F9FAFB"/>
                </a:solidFill>
                <a:effectLst/>
                <a:latin typeface="quote-cjk-patch"/>
              </a:rPr>
              <a:t>', and '</a:t>
            </a:r>
            <a:r>
              <a:rPr lang="en-US" altLang="zh-CN" b="1" i="0" dirty="0">
                <a:solidFill>
                  <a:srgbClr val="F9FAFB"/>
                </a:solidFill>
                <a:effectLst/>
                <a:latin typeface="quote-cjk-patch"/>
              </a:rPr>
              <a:t>partial derivative of U with respect to N equals mu</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Notice that the natural variables </a:t>
            </a:r>
            <a:r>
              <a:rPr lang="en-US" altLang="zh-CN" b="0" i="1" dirty="0">
                <a:solidFill>
                  <a:srgbClr val="F9FAFB"/>
                </a:solidFill>
                <a:effectLst/>
                <a:latin typeface="KaTeX_Math"/>
              </a:rPr>
              <a:t>S</a:t>
            </a:r>
            <a:r>
              <a:rPr lang="en-US" altLang="zh-CN" b="0" i="0" dirty="0">
                <a:solidFill>
                  <a:srgbClr val="F9FAFB"/>
                </a:solidFill>
                <a:effectLst/>
                <a:latin typeface="KaTeX_Main"/>
              </a:rPr>
              <a:t>,</a:t>
            </a:r>
            <a:r>
              <a:rPr lang="en-US" altLang="zh-CN" b="0" i="1" dirty="0">
                <a:solidFill>
                  <a:srgbClr val="F9FAFB"/>
                </a:solidFill>
                <a:effectLst/>
                <a:latin typeface="KaTeX_Math"/>
              </a:rPr>
              <a:t>V</a:t>
            </a:r>
            <a:r>
              <a:rPr lang="en-US" altLang="zh-CN" b="0" i="0" dirty="0">
                <a:solidFill>
                  <a:srgbClr val="F9FAFB"/>
                </a:solidFill>
                <a:effectLst/>
                <a:latin typeface="KaTeX_Main"/>
              </a:rPr>
              <a:t>,</a:t>
            </a:r>
            <a:r>
              <a:rPr lang="en-US" altLang="zh-CN" b="0" i="1" dirty="0">
                <a:solidFill>
                  <a:srgbClr val="F9FAFB"/>
                </a:solidFill>
                <a:effectLst/>
                <a:latin typeface="KaTeX_Math"/>
              </a:rPr>
              <a:t>N</a:t>
            </a:r>
            <a:r>
              <a:rPr lang="en-US" altLang="zh-CN" b="0" i="0" dirty="0">
                <a:solidFill>
                  <a:srgbClr val="F9FAFB"/>
                </a:solidFill>
                <a:effectLst/>
                <a:latin typeface="quote-cjk-patch"/>
              </a:rPr>
              <a:t> are all </a:t>
            </a:r>
            <a:r>
              <a:rPr lang="en-US" altLang="zh-CN" b="1" i="0" dirty="0">
                <a:solidFill>
                  <a:srgbClr val="F9FAFB"/>
                </a:solidFill>
                <a:effectLst/>
                <a:latin typeface="quote-cjk-patch"/>
              </a:rPr>
              <a:t>extensive</a:t>
            </a:r>
            <a:r>
              <a:rPr lang="en-US" altLang="zh-CN" b="0" i="0" dirty="0">
                <a:solidFill>
                  <a:srgbClr val="F9FAFB"/>
                </a:solidFill>
                <a:effectLst/>
                <a:latin typeface="quote-cjk-patch"/>
              </a:rPr>
              <a:t> quantities – they depend on the size of the system. However, in a laboratory, it is usually much easier to control </a:t>
            </a:r>
            <a:r>
              <a:rPr lang="en-US" altLang="zh-CN" b="1" i="0" dirty="0">
                <a:solidFill>
                  <a:srgbClr val="F9FAFB"/>
                </a:solidFill>
                <a:effectLst/>
                <a:latin typeface="quote-cjk-patch"/>
              </a:rPr>
              <a:t>intensive</a:t>
            </a:r>
            <a:r>
              <a:rPr lang="en-US" altLang="zh-CN" b="0" i="0" dirty="0">
                <a:solidFill>
                  <a:srgbClr val="F9FAFB"/>
                </a:solidFill>
                <a:effectLst/>
                <a:latin typeface="quote-cjk-patch"/>
              </a:rPr>
              <a:t> quantities like temperature </a:t>
            </a:r>
            <a:r>
              <a:rPr lang="en-US" altLang="zh-CN" b="0" i="1" dirty="0">
                <a:solidFill>
                  <a:srgbClr val="F9FAFB"/>
                </a:solidFill>
                <a:effectLst/>
                <a:latin typeface="KaTeX_Math"/>
              </a:rPr>
              <a:t>T</a:t>
            </a:r>
            <a:r>
              <a:rPr lang="en-US" altLang="zh-CN" b="0" i="0" dirty="0">
                <a:solidFill>
                  <a:srgbClr val="F9FAFB"/>
                </a:solidFill>
                <a:effectLst/>
                <a:latin typeface="quote-cjk-patch"/>
              </a:rPr>
              <a:t> (by using a heat bath) or pressure </a:t>
            </a:r>
            <a:r>
              <a:rPr lang="en-US" altLang="zh-CN" b="0" i="1" dirty="0">
                <a:solidFill>
                  <a:srgbClr val="F9FAFB"/>
                </a:solidFill>
                <a:effectLst/>
                <a:latin typeface="KaTeX_Math"/>
              </a:rPr>
              <a:t>P</a:t>
            </a:r>
            <a:r>
              <a:rPr lang="en-US" altLang="zh-CN" b="0" i="0" dirty="0">
                <a:solidFill>
                  <a:srgbClr val="F9FAFB"/>
                </a:solidFill>
                <a:effectLst/>
                <a:latin typeface="quote-cjk-patch"/>
              </a:rPr>
              <a:t> (by working in an open container). So we face a mismatch: our fundamental energy function </a:t>
            </a:r>
            <a:r>
              <a:rPr lang="en-US" altLang="zh-CN" b="0" i="1" dirty="0">
                <a:solidFill>
                  <a:srgbClr val="F9FAFB"/>
                </a:solidFill>
                <a:effectLst/>
                <a:latin typeface="KaTeX_Math"/>
              </a:rPr>
              <a:t>U</a:t>
            </a:r>
            <a:r>
              <a:rPr lang="en-US" altLang="zh-CN" b="0" i="0" dirty="0">
                <a:solidFill>
                  <a:srgbClr val="F9FAFB"/>
                </a:solidFill>
                <a:effectLst/>
                <a:latin typeface="KaTeX_Main"/>
              </a:rPr>
              <a:t>(</a:t>
            </a:r>
            <a:r>
              <a:rPr lang="en-US" altLang="zh-CN" b="0" i="1" dirty="0">
                <a:solidFill>
                  <a:srgbClr val="F9FAFB"/>
                </a:solidFill>
                <a:effectLst/>
                <a:latin typeface="KaTeX_Math"/>
              </a:rPr>
              <a:t>S</a:t>
            </a:r>
            <a:r>
              <a:rPr lang="en-US" altLang="zh-CN" b="0" i="0" dirty="0">
                <a:solidFill>
                  <a:srgbClr val="F9FAFB"/>
                </a:solidFill>
                <a:effectLst/>
                <a:latin typeface="KaTeX_Main"/>
              </a:rPr>
              <a:t>,</a:t>
            </a:r>
            <a:r>
              <a:rPr lang="en-US" altLang="zh-CN" b="0" i="1" dirty="0">
                <a:solidFill>
                  <a:srgbClr val="F9FAFB"/>
                </a:solidFill>
                <a:effectLst/>
                <a:latin typeface="KaTeX_Math"/>
              </a:rPr>
              <a:t>V</a:t>
            </a:r>
            <a:r>
              <a:rPr lang="en-US" altLang="zh-CN" b="0" i="0" dirty="0">
                <a:solidFill>
                  <a:srgbClr val="F9FAFB"/>
                </a:solidFill>
                <a:effectLst/>
                <a:latin typeface="KaTeX_Main"/>
              </a:rPr>
              <a:t>,</a:t>
            </a:r>
            <a:r>
              <a:rPr lang="en-US" altLang="zh-CN" b="0" i="1" dirty="0">
                <a:solidFill>
                  <a:srgbClr val="F9FAFB"/>
                </a:solidFill>
                <a:effectLst/>
                <a:latin typeface="KaTeX_Math"/>
              </a:rPr>
              <a:t>N</a:t>
            </a:r>
            <a:r>
              <a:rPr lang="en-US" altLang="zh-CN" b="0" i="0" dirty="0">
                <a:solidFill>
                  <a:srgbClr val="F9FAFB"/>
                </a:solidFill>
                <a:effectLst/>
                <a:latin typeface="KaTeX_Main"/>
              </a:rPr>
              <a:t>)</a:t>
            </a:r>
            <a:r>
              <a:rPr lang="en-US" altLang="zh-CN" b="0" i="0" dirty="0">
                <a:solidFill>
                  <a:srgbClr val="F9FAFB"/>
                </a:solidFill>
                <a:effectLst/>
                <a:latin typeface="quote-cjk-patch"/>
              </a:rPr>
              <a:t> uses variables that are not the ones we naturally control. We need new functions whose independent variables are these intensive quantities. This is exactly where the Legendre transform comes to the rescue."</a:t>
            </a:r>
          </a:p>
          <a:p>
            <a:br>
              <a:rPr lang="en-US" altLang="zh-CN" dirty="0"/>
            </a:br>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15</a:t>
            </a:fld>
            <a:endParaRPr lang="zh-CN" altLang="en-US"/>
          </a:p>
        </p:txBody>
      </p:sp>
    </p:spTree>
    <p:extLst>
      <p:ext uri="{BB962C8B-B14F-4D97-AF65-F5344CB8AC3E}">
        <p14:creationId xmlns:p14="http://schemas.microsoft.com/office/powerpoint/2010/main" val="41767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F9FAFB"/>
                </a:solidFill>
                <a:effectLst/>
                <a:latin typeface="quote-cjk-patch"/>
              </a:rPr>
              <a:t>"Let's begin with the case of a system kept at constant temperature – a </a:t>
            </a:r>
            <a:r>
              <a:rPr lang="en-US" altLang="zh-CN" b="1" i="0" dirty="0">
                <a:solidFill>
                  <a:srgbClr val="F9FAFB"/>
                </a:solidFill>
                <a:effectLst/>
                <a:latin typeface="quote-cjk-patch"/>
              </a:rPr>
              <a:t>thermostatic system</a:t>
            </a:r>
            <a:r>
              <a:rPr lang="en-US" altLang="zh-CN" b="0" i="0" dirty="0">
                <a:solidFill>
                  <a:srgbClr val="F9FAFB"/>
                </a:solidFill>
                <a:effectLst/>
                <a:latin typeface="quote-cjk-patch"/>
              </a:rPr>
              <a:t>. Here we want to replace the entropy </a:t>
            </a:r>
            <a:r>
              <a:rPr lang="en-US" altLang="zh-CN" b="0" i="1" dirty="0">
                <a:solidFill>
                  <a:srgbClr val="F9FAFB"/>
                </a:solidFill>
                <a:effectLst/>
                <a:latin typeface="KaTeX_Math"/>
              </a:rPr>
              <a:t>S</a:t>
            </a:r>
            <a:r>
              <a:rPr lang="en-US" altLang="zh-CN" b="0" i="0" dirty="0">
                <a:solidFill>
                  <a:srgbClr val="F9FAFB"/>
                </a:solidFill>
                <a:effectLst/>
                <a:latin typeface="quote-cjk-patch"/>
              </a:rPr>
              <a:t> with its conjugate intensive variable, temperature </a:t>
            </a:r>
            <a:r>
              <a:rPr lang="en-US" altLang="zh-CN" b="0" i="1" dirty="0">
                <a:solidFill>
                  <a:srgbClr val="F9FAFB"/>
                </a:solidFill>
                <a:effectLst/>
                <a:latin typeface="KaTeX_Math"/>
              </a:rPr>
              <a:t>T</a:t>
            </a:r>
            <a:r>
              <a:rPr lang="en-US" altLang="zh-CN" b="0" i="0" dirty="0">
                <a:solidFill>
                  <a:srgbClr val="F9FAFB"/>
                </a:solidFill>
                <a:effectLst/>
                <a:latin typeface="quote-cjk-patch"/>
              </a:rPr>
              <a:t>,</a:t>
            </a:r>
          </a:p>
          <a:p>
            <a:r>
              <a:rPr lang="en-US" altLang="zh-CN" b="0" i="0" dirty="0">
                <a:solidFill>
                  <a:srgbClr val="F9FAFB"/>
                </a:solidFill>
                <a:effectLst/>
                <a:latin typeface="quote-cjk-patch"/>
              </a:rPr>
              <a:t>The Legendre transform of </a:t>
            </a:r>
            <a:r>
              <a:rPr lang="en-US" altLang="zh-CN" b="0" i="1" dirty="0">
                <a:solidFill>
                  <a:srgbClr val="F9FAFB"/>
                </a:solidFill>
                <a:effectLst/>
                <a:latin typeface="KaTeX_Math"/>
              </a:rPr>
              <a:t>U</a:t>
            </a:r>
            <a:r>
              <a:rPr lang="en-US" altLang="zh-CN" b="0" i="0" dirty="0">
                <a:solidFill>
                  <a:srgbClr val="F9FAFB"/>
                </a:solidFill>
                <a:effectLst/>
                <a:latin typeface="quote-cjk-patch"/>
              </a:rPr>
              <a:t> with respect to </a:t>
            </a:r>
            <a:r>
              <a:rPr lang="en-US" altLang="zh-CN" b="0" i="1" dirty="0">
                <a:solidFill>
                  <a:srgbClr val="F9FAFB"/>
                </a:solidFill>
                <a:effectLst/>
                <a:latin typeface="KaTeX_Math"/>
              </a:rPr>
              <a:t>S</a:t>
            </a:r>
            <a:r>
              <a:rPr lang="en-US" altLang="zh-CN" b="0" i="0" dirty="0">
                <a:solidFill>
                  <a:srgbClr val="F9FAFB"/>
                </a:solidFill>
                <a:effectLst/>
                <a:latin typeface="quote-cjk-patch"/>
              </a:rPr>
              <a:t> is defined as:</a:t>
            </a:r>
          </a:p>
          <a:p>
            <a:r>
              <a:rPr lang="en-US" altLang="zh-CN" b="0" i="0" dirty="0">
                <a:solidFill>
                  <a:srgbClr val="F9FAFB"/>
                </a:solidFill>
                <a:effectLst/>
                <a:latin typeface="quote-cjk-patch"/>
              </a:rPr>
              <a:t>'</a:t>
            </a:r>
            <a:r>
              <a:rPr lang="en-US" altLang="zh-CN" b="1" i="0" dirty="0">
                <a:solidFill>
                  <a:srgbClr val="F9FAFB"/>
                </a:solidFill>
                <a:effectLst/>
                <a:latin typeface="quote-cjk-patch"/>
              </a:rPr>
              <a:t>A equals U minus T S</a:t>
            </a:r>
            <a:r>
              <a:rPr lang="en-US" altLang="zh-CN" b="0" i="0" dirty="0">
                <a:solidFill>
                  <a:srgbClr val="F9FAFB"/>
                </a:solidFill>
                <a:effectLst/>
                <a:latin typeface="quote-cjk-patch"/>
              </a:rPr>
              <a:t>'. This new function is called the </a:t>
            </a:r>
            <a:r>
              <a:rPr lang="en-US" altLang="zh-CN" b="1" i="0" dirty="0">
                <a:solidFill>
                  <a:srgbClr val="F9FAFB"/>
                </a:solidFill>
                <a:effectLst/>
                <a:latin typeface="quote-cjk-patch"/>
              </a:rPr>
              <a:t>Helmholtz free energy</a:t>
            </a:r>
            <a:r>
              <a:rPr lang="en-US" altLang="zh-CN" b="0" i="0" dirty="0">
                <a:solidFill>
                  <a:srgbClr val="F9FAFB"/>
                </a:solidFill>
                <a:effectLst/>
                <a:latin typeface="quote-cjk-patch"/>
              </a:rPr>
              <a:t>, and its natural variables become </a:t>
            </a:r>
            <a:r>
              <a:rPr lang="en-US" altLang="zh-CN" b="0" i="1" dirty="0">
                <a:solidFill>
                  <a:srgbClr val="F9FAFB"/>
                </a:solidFill>
                <a:effectLst/>
                <a:latin typeface="KaTeX_Math"/>
              </a:rPr>
              <a:t>T</a:t>
            </a:r>
            <a:r>
              <a:rPr lang="en-US" altLang="zh-CN" b="0" dirty="0">
                <a:solidFill>
                  <a:srgbClr val="F9FAFB"/>
                </a:solidFill>
                <a:effectLst/>
                <a:latin typeface="KaTeX_Main"/>
              </a:rPr>
              <a:t>,</a:t>
            </a:r>
            <a:r>
              <a:rPr lang="en-US" altLang="zh-CN" b="0" i="1" dirty="0">
                <a:solidFill>
                  <a:srgbClr val="F9FAFB"/>
                </a:solidFill>
                <a:effectLst/>
                <a:latin typeface="KaTeX_Math"/>
              </a:rPr>
              <a:t>V</a:t>
            </a:r>
            <a:r>
              <a:rPr lang="en-US" altLang="zh-CN" b="0" dirty="0">
                <a:solidFill>
                  <a:srgbClr val="F9FAFB"/>
                </a:solidFill>
                <a:effectLst/>
                <a:latin typeface="KaTeX_Main"/>
              </a:rPr>
              <a:t>,</a:t>
            </a:r>
            <a:r>
              <a:rPr lang="en-US" altLang="zh-CN" b="0" i="1" dirty="0">
                <a:solidFill>
                  <a:srgbClr val="F9FAFB"/>
                </a:solidFill>
                <a:effectLst/>
                <a:latin typeface="KaTeX_Math"/>
              </a:rPr>
              <a:t>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For a closed system (</a:t>
            </a:r>
            <a:r>
              <a:rPr lang="en-US" altLang="zh-CN" b="0" i="1" dirty="0" err="1">
                <a:solidFill>
                  <a:srgbClr val="F9FAFB"/>
                </a:solidFill>
                <a:effectLst/>
                <a:latin typeface="KaTeX_Math"/>
              </a:rPr>
              <a:t>dN</a:t>
            </a:r>
            <a:r>
              <a:rPr lang="en-US" altLang="zh-CN" b="0" i="0" dirty="0">
                <a:solidFill>
                  <a:srgbClr val="F9FAFB"/>
                </a:solidFill>
                <a:effectLst/>
                <a:latin typeface="KaTeX_Main"/>
              </a:rPr>
              <a:t>=0</a:t>
            </a:r>
            <a:r>
              <a:rPr lang="en-US" altLang="zh-CN" b="0" i="0" dirty="0">
                <a:solidFill>
                  <a:srgbClr val="F9FAFB"/>
                </a:solidFill>
                <a:effectLst/>
                <a:latin typeface="quote-cjk-patch"/>
              </a:rPr>
              <a:t>) at constant temperature (</a:t>
            </a:r>
            <a:r>
              <a:rPr lang="en-US" altLang="zh-CN" b="0" i="1" dirty="0">
                <a:solidFill>
                  <a:srgbClr val="F9FAFB"/>
                </a:solidFill>
                <a:effectLst/>
                <a:latin typeface="KaTeX_Math"/>
              </a:rPr>
              <a:t>dT</a:t>
            </a:r>
            <a:r>
              <a:rPr lang="en-US" altLang="zh-CN" b="0" i="0" dirty="0">
                <a:solidFill>
                  <a:srgbClr val="F9FAFB"/>
                </a:solidFill>
                <a:effectLst/>
                <a:latin typeface="KaTeX_Main"/>
              </a:rPr>
              <a:t>=0</a:t>
            </a:r>
            <a:r>
              <a:rPr lang="en-US" altLang="zh-CN" b="0" i="0" dirty="0">
                <a:solidFill>
                  <a:srgbClr val="F9FAFB"/>
                </a:solidFill>
                <a:effectLst/>
                <a:latin typeface="quote-cjk-patch"/>
              </a:rPr>
              <a:t>), this simplifies to </a:t>
            </a:r>
            <a:r>
              <a:rPr lang="en-US" altLang="zh-CN" b="0" i="1" dirty="0" err="1">
                <a:solidFill>
                  <a:srgbClr val="F9FAFB"/>
                </a:solidFill>
                <a:effectLst/>
                <a:latin typeface="KaTeX_Math"/>
              </a:rPr>
              <a:t>dA</a:t>
            </a:r>
            <a:r>
              <a:rPr lang="en-US" altLang="zh-CN" b="0" i="0" dirty="0">
                <a:solidFill>
                  <a:srgbClr val="F9FAFB"/>
                </a:solidFill>
                <a:effectLst/>
                <a:latin typeface="KaTeX_Main"/>
              </a:rPr>
              <a:t>=−</a:t>
            </a:r>
            <a:r>
              <a:rPr lang="en-US" altLang="zh-CN" b="0" i="1" dirty="0">
                <a:solidFill>
                  <a:srgbClr val="F9FAFB"/>
                </a:solidFill>
                <a:effectLst/>
                <a:latin typeface="KaTeX_Math"/>
              </a:rPr>
              <a:t>P </a:t>
            </a:r>
            <a:r>
              <a:rPr lang="en-US" altLang="zh-CN" b="0" i="1" dirty="0" err="1">
                <a:solidFill>
                  <a:srgbClr val="F9FAFB"/>
                </a:solidFill>
                <a:effectLst/>
                <a:latin typeface="KaTeX_Math"/>
              </a:rPr>
              <a:t>dV</a:t>
            </a:r>
            <a:r>
              <a:rPr lang="en-US" altLang="zh-CN" b="0" i="0" dirty="0">
                <a:solidFill>
                  <a:srgbClr val="F9FAFB"/>
                </a:solidFill>
                <a:effectLst/>
                <a:latin typeface="quote-cjk-patch"/>
              </a:rPr>
              <a:t>. At equilibrium with fixed volume (</a:t>
            </a:r>
            <a:r>
              <a:rPr lang="en-US" altLang="zh-CN" b="0" i="1" dirty="0" err="1">
                <a:solidFill>
                  <a:srgbClr val="F9FAFB"/>
                </a:solidFill>
                <a:effectLst/>
                <a:latin typeface="KaTeX_Math"/>
              </a:rPr>
              <a:t>dV</a:t>
            </a:r>
            <a:r>
              <a:rPr lang="en-US" altLang="zh-CN" b="0" i="0" dirty="0">
                <a:solidFill>
                  <a:srgbClr val="F9FAFB"/>
                </a:solidFill>
                <a:effectLst/>
                <a:latin typeface="KaTeX_Main"/>
              </a:rPr>
              <a:t>=0</a:t>
            </a:r>
            <a:r>
              <a:rPr lang="en-US" altLang="zh-CN" b="0" i="0" dirty="0">
                <a:solidFill>
                  <a:srgbClr val="F9FAFB"/>
                </a:solidFill>
                <a:effectLst/>
                <a:latin typeface="quote-cjk-patch"/>
              </a:rPr>
              <a:t>), we have </a:t>
            </a:r>
            <a:r>
              <a:rPr lang="en-US" altLang="zh-CN" b="0" i="1" dirty="0" err="1">
                <a:solidFill>
                  <a:srgbClr val="F9FAFB"/>
                </a:solidFill>
                <a:effectLst/>
                <a:latin typeface="KaTeX_Math"/>
              </a:rPr>
              <a:t>dA</a:t>
            </a:r>
            <a:r>
              <a:rPr lang="en-US" altLang="zh-CN" b="0" i="0" dirty="0">
                <a:solidFill>
                  <a:srgbClr val="F9FAFB"/>
                </a:solidFill>
                <a:effectLst/>
                <a:latin typeface="KaTeX_Main"/>
              </a:rPr>
              <a:t>=0</a:t>
            </a:r>
            <a:r>
              <a:rPr lang="en-US" altLang="zh-CN" b="0" i="0" dirty="0">
                <a:solidFill>
                  <a:srgbClr val="F9FAFB"/>
                </a:solidFill>
                <a:effectLst/>
                <a:latin typeface="quote-cjk-patch"/>
              </a:rPr>
              <a:t>, meaning </a:t>
            </a:r>
            <a:r>
              <a:rPr lang="en-US" altLang="zh-CN" b="0" i="1" dirty="0">
                <a:solidFill>
                  <a:srgbClr val="F9FAFB"/>
                </a:solidFill>
                <a:effectLst/>
                <a:latin typeface="KaTeX_Math"/>
              </a:rPr>
              <a:t>A</a:t>
            </a:r>
            <a:r>
              <a:rPr lang="en-US" altLang="zh-CN" b="0" i="0" dirty="0">
                <a:solidFill>
                  <a:srgbClr val="F9FAFB"/>
                </a:solidFill>
                <a:effectLst/>
                <a:latin typeface="quote-cjk-patch"/>
              </a:rPr>
              <a:t> reaches an extreme value – a minimum, as we know from the second law.</a:t>
            </a:r>
          </a:p>
          <a:p>
            <a:pPr algn="l"/>
            <a:r>
              <a:rPr lang="en-US" altLang="zh-CN" b="0" i="0" dirty="0">
                <a:solidFill>
                  <a:srgbClr val="F9FAFB"/>
                </a:solidFill>
                <a:effectLst/>
                <a:latin typeface="quote-cjk-patch"/>
              </a:rPr>
              <a:t>In fact, from the second law we can derive the inequality:</a:t>
            </a:r>
          </a:p>
          <a:p>
            <a:r>
              <a:rPr lang="en-US" altLang="zh-CN" b="0" i="0" dirty="0">
                <a:solidFill>
                  <a:srgbClr val="F9FAFB"/>
                </a:solidFill>
                <a:effectLst/>
                <a:latin typeface="quote-cjk-patch"/>
              </a:rPr>
              <a:t> '</a:t>
            </a:r>
            <a:r>
              <a:rPr lang="en-US" altLang="zh-CN" b="1" i="0" dirty="0">
                <a:solidFill>
                  <a:srgbClr val="F9FAFB"/>
                </a:solidFill>
                <a:effectLst/>
                <a:latin typeface="quote-cjk-patch"/>
              </a:rPr>
              <a:t>Delta A is less than or equal to W</a:t>
            </a:r>
            <a:r>
              <a:rPr lang="en-US" altLang="zh-CN" b="0" i="0" dirty="0">
                <a:solidFill>
                  <a:srgbClr val="F9FAFB"/>
                </a:solidFill>
                <a:effectLst/>
                <a:latin typeface="quote-cjk-patch"/>
              </a:rPr>
              <a:t>', where </a:t>
            </a:r>
            <a:r>
              <a:rPr lang="en-US" altLang="zh-CN" b="0" i="1" dirty="0">
                <a:solidFill>
                  <a:srgbClr val="F9FAFB"/>
                </a:solidFill>
                <a:effectLst/>
                <a:latin typeface="KaTeX_Math"/>
              </a:rPr>
              <a:t>W</a:t>
            </a:r>
            <a:r>
              <a:rPr lang="en-US" altLang="zh-CN" b="0" i="0" dirty="0">
                <a:solidFill>
                  <a:srgbClr val="F9FAFB"/>
                </a:solidFill>
                <a:effectLst/>
                <a:latin typeface="quote-cjk-patch"/>
              </a:rPr>
              <a:t> is the work done by the system. In an isothermal process, the change in Helmholtz free energy is exactly equal to the </a:t>
            </a:r>
            <a:r>
              <a:rPr lang="en-US" altLang="zh-CN" b="1" i="0" dirty="0">
                <a:solidFill>
                  <a:srgbClr val="F9FAFB"/>
                </a:solidFill>
                <a:effectLst/>
                <a:latin typeface="quote-cjk-patch"/>
              </a:rPr>
              <a:t>maximum work</a:t>
            </a:r>
            <a:r>
              <a:rPr lang="en-US" altLang="zh-CN" b="0" i="0" dirty="0">
                <a:solidFill>
                  <a:srgbClr val="F9FAFB"/>
                </a:solidFill>
                <a:effectLst/>
                <a:latin typeface="quote-cjk-patch"/>
              </a:rPr>
              <a:t> the system can perform. This is a key physical interpretation of </a:t>
            </a:r>
            <a:r>
              <a:rPr lang="en-US" altLang="zh-CN" b="0" i="1" dirty="0">
                <a:solidFill>
                  <a:srgbClr val="F9FAFB"/>
                </a:solidFill>
                <a:effectLst/>
                <a:latin typeface="KaTeX_Math"/>
              </a:rPr>
              <a:t>A</a:t>
            </a:r>
            <a:r>
              <a:rPr lang="en-US" altLang="zh-CN" b="0" i="0" dirty="0">
                <a:solidFill>
                  <a:srgbClr val="F9FAFB"/>
                </a:solidFill>
                <a:effectLst/>
                <a:latin typeface="quote-cjk-patch"/>
              </a:rPr>
              <a:t>."</a:t>
            </a:r>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16</a:t>
            </a:fld>
            <a:endParaRPr lang="zh-CN" altLang="en-US"/>
          </a:p>
        </p:txBody>
      </p:sp>
    </p:spTree>
    <p:extLst>
      <p:ext uri="{BB962C8B-B14F-4D97-AF65-F5344CB8AC3E}">
        <p14:creationId xmlns:p14="http://schemas.microsoft.com/office/powerpoint/2010/main" val="1827276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F9FAFB"/>
                </a:solidFill>
                <a:effectLst/>
                <a:latin typeface="quote-cjk-patch"/>
              </a:rPr>
              <a:t>"Next, consider a system under constant external pressure – an </a:t>
            </a:r>
            <a:r>
              <a:rPr lang="en-US" altLang="zh-CN" b="1" i="0" dirty="0">
                <a:solidFill>
                  <a:srgbClr val="F9FAFB"/>
                </a:solidFill>
                <a:effectLst/>
                <a:latin typeface="quote-cjk-patch"/>
              </a:rPr>
              <a:t>isobaric system</a:t>
            </a:r>
            <a:r>
              <a:rPr lang="en-US" altLang="zh-CN" b="0" i="0" dirty="0">
                <a:solidFill>
                  <a:srgbClr val="F9FAFB"/>
                </a:solidFill>
                <a:effectLst/>
                <a:latin typeface="quote-cjk-patch"/>
              </a:rPr>
              <a:t>. This is common when a reaction is open to the atmosphere.</a:t>
            </a:r>
          </a:p>
          <a:p>
            <a:pPr algn="l"/>
            <a:r>
              <a:rPr lang="en-US" altLang="zh-CN" b="0" i="0" dirty="0">
                <a:solidFill>
                  <a:srgbClr val="F9FAFB"/>
                </a:solidFill>
                <a:effectLst/>
                <a:latin typeface="quote-cjk-patch"/>
              </a:rPr>
              <a:t>Here we want to replace the volume </a:t>
            </a:r>
            <a:r>
              <a:rPr lang="en-US" altLang="zh-CN" b="0" i="1" dirty="0">
                <a:solidFill>
                  <a:srgbClr val="F9FAFB"/>
                </a:solidFill>
                <a:effectLst/>
                <a:latin typeface="KaTeX_Math"/>
              </a:rPr>
              <a:t>V</a:t>
            </a:r>
            <a:r>
              <a:rPr lang="en-US" altLang="zh-CN" b="0" i="0" dirty="0">
                <a:solidFill>
                  <a:srgbClr val="F9FAFB"/>
                </a:solidFill>
                <a:effectLst/>
                <a:latin typeface="quote-cjk-patch"/>
              </a:rPr>
              <a:t> with its conjugate variable, pressure </a:t>
            </a:r>
            <a:r>
              <a:rPr lang="en-US" altLang="zh-CN" b="0" i="1" dirty="0">
                <a:solidFill>
                  <a:srgbClr val="F9FAFB"/>
                </a:solidFill>
                <a:effectLst/>
                <a:latin typeface="KaTeX_Math"/>
              </a:rPr>
              <a:t>P</a:t>
            </a:r>
            <a:endParaRPr lang="en-US" altLang="zh-CN" b="0" i="0" dirty="0">
              <a:solidFill>
                <a:srgbClr val="F9FAFB"/>
              </a:solidFill>
              <a:effectLst/>
              <a:latin typeface="quote-cjk-patch"/>
            </a:endParaRP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H equals U plus P V</a:t>
            </a:r>
            <a:r>
              <a:rPr lang="en-US" altLang="zh-CN" b="0" i="0" dirty="0">
                <a:solidFill>
                  <a:srgbClr val="F9FAFB"/>
                </a:solidFill>
                <a:effectLst/>
                <a:latin typeface="quote-cjk-patch"/>
              </a:rPr>
              <a:t>'. This new function is the </a:t>
            </a:r>
            <a:r>
              <a:rPr lang="en-US" altLang="zh-CN" b="1" i="0" dirty="0">
                <a:solidFill>
                  <a:srgbClr val="F9FAFB"/>
                </a:solidFill>
                <a:effectLst/>
                <a:latin typeface="quote-cjk-patch"/>
              </a:rPr>
              <a:t>enthalpy</a:t>
            </a:r>
            <a:r>
              <a:rPr lang="en-US" altLang="zh-CN" b="0" i="0" dirty="0">
                <a:solidFill>
                  <a:srgbClr val="F9FAFB"/>
                </a:solidFill>
                <a:effectLst/>
                <a:latin typeface="quote-cjk-patch"/>
              </a:rPr>
              <a:t>, with natural variables S</a:t>
            </a:r>
            <a:r>
              <a:rPr lang="en-US" altLang="zh-CN" b="0" i="0" dirty="0">
                <a:solidFill>
                  <a:srgbClr val="F9FAFB"/>
                </a:solidFill>
                <a:effectLst/>
                <a:latin typeface="KaTeX_Main"/>
              </a:rPr>
              <a:t>,</a:t>
            </a:r>
            <a:r>
              <a:rPr lang="en-US" altLang="zh-CN" b="0" i="1" dirty="0">
                <a:solidFill>
                  <a:srgbClr val="F9FAFB"/>
                </a:solidFill>
                <a:effectLst/>
                <a:latin typeface="KaTeX_Math"/>
              </a:rPr>
              <a:t>P</a:t>
            </a:r>
            <a:r>
              <a:rPr lang="en-US" altLang="zh-CN" b="0" i="0" dirty="0">
                <a:solidFill>
                  <a:srgbClr val="F9FAFB"/>
                </a:solidFill>
                <a:effectLst/>
                <a:latin typeface="KaTeX_Main"/>
              </a:rPr>
              <a:t>,</a:t>
            </a:r>
            <a:r>
              <a:rPr lang="en-US" altLang="zh-CN" b="0" i="1" dirty="0">
                <a:solidFill>
                  <a:srgbClr val="F9FAFB"/>
                </a:solidFill>
                <a:effectLst/>
                <a:latin typeface="KaTeX_Math"/>
              </a:rPr>
              <a:t>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Its total differential is:</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dee H equals T dee S plus V dee P plus mu dee 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For a closed system (</a:t>
            </a:r>
            <a:r>
              <a:rPr lang="en-US" altLang="zh-CN" b="0" i="1" dirty="0" err="1">
                <a:solidFill>
                  <a:srgbClr val="F9FAFB"/>
                </a:solidFill>
                <a:effectLst/>
                <a:latin typeface="KaTeX_Math"/>
              </a:rPr>
              <a:t>dN</a:t>
            </a:r>
            <a:r>
              <a:rPr lang="en-US" altLang="zh-CN" b="0" i="0" dirty="0">
                <a:solidFill>
                  <a:srgbClr val="F9FAFB"/>
                </a:solidFill>
                <a:effectLst/>
                <a:latin typeface="KaTeX_Main"/>
              </a:rPr>
              <a:t>=0</a:t>
            </a:r>
            <a:r>
              <a:rPr lang="en-US" altLang="zh-CN" b="0" i="0" dirty="0">
                <a:solidFill>
                  <a:srgbClr val="F9FAFB"/>
                </a:solidFill>
                <a:effectLst/>
                <a:latin typeface="quote-cjk-patch"/>
              </a:rPr>
              <a:t>) at constant pressure (</a:t>
            </a:r>
            <a:r>
              <a:rPr lang="en-US" altLang="zh-CN" b="0" i="1" dirty="0" err="1">
                <a:solidFill>
                  <a:srgbClr val="F9FAFB"/>
                </a:solidFill>
                <a:effectLst/>
                <a:latin typeface="KaTeX_Math"/>
              </a:rPr>
              <a:t>dP</a:t>
            </a:r>
            <a:r>
              <a:rPr lang="en-US" altLang="zh-CN" b="0" i="0" dirty="0">
                <a:solidFill>
                  <a:srgbClr val="F9FAFB"/>
                </a:solidFill>
                <a:effectLst/>
                <a:latin typeface="KaTeX_Main"/>
              </a:rPr>
              <a:t>=0</a:t>
            </a:r>
            <a:r>
              <a:rPr lang="en-US" altLang="zh-CN" b="0" i="0" dirty="0">
                <a:solidFill>
                  <a:srgbClr val="F9FAFB"/>
                </a:solidFill>
                <a:effectLst/>
                <a:latin typeface="quote-cjk-patch"/>
              </a:rPr>
              <a:t>), we get </a:t>
            </a:r>
            <a:r>
              <a:rPr lang="en-US" altLang="zh-CN" b="0" i="1" dirty="0" err="1">
                <a:solidFill>
                  <a:srgbClr val="F9FAFB"/>
                </a:solidFill>
                <a:effectLst/>
                <a:latin typeface="KaTeX_Math"/>
              </a:rPr>
              <a:t>dH</a:t>
            </a:r>
            <a:r>
              <a:rPr lang="en-US" altLang="zh-CN" b="0" i="1" dirty="0">
                <a:solidFill>
                  <a:srgbClr val="F9FAFB"/>
                </a:solidFill>
                <a:effectLst/>
                <a:latin typeface="KaTeX_Math"/>
              </a:rPr>
              <a:t> </a:t>
            </a:r>
            <a:r>
              <a:rPr lang="en-US" altLang="zh-CN" b="0" i="0" dirty="0">
                <a:solidFill>
                  <a:srgbClr val="F9FAFB"/>
                </a:solidFill>
                <a:effectLst/>
                <a:latin typeface="KaTeX_Main"/>
              </a:rPr>
              <a:t>=</a:t>
            </a:r>
            <a:r>
              <a:rPr lang="en-US" altLang="zh-CN" b="0" i="1" dirty="0" err="1">
                <a:solidFill>
                  <a:srgbClr val="F9FAFB"/>
                </a:solidFill>
                <a:effectLst/>
                <a:latin typeface="KaTeX_Math"/>
              </a:rPr>
              <a:t>TdS</a:t>
            </a:r>
            <a:r>
              <a:rPr lang="en-US" altLang="zh-CN" b="0" i="0" dirty="0">
                <a:solidFill>
                  <a:srgbClr val="F9FAFB"/>
                </a:solidFill>
                <a:effectLst/>
                <a:latin typeface="quote-cjk-patch"/>
              </a:rPr>
              <a:t>. In a reversible process, </a:t>
            </a:r>
            <a:r>
              <a:rPr lang="en-US" altLang="zh-CN" b="0" i="1" dirty="0" err="1">
                <a:solidFill>
                  <a:srgbClr val="F9FAFB"/>
                </a:solidFill>
                <a:effectLst/>
                <a:latin typeface="KaTeX_Math"/>
              </a:rPr>
              <a:t>TdS</a:t>
            </a:r>
            <a:r>
              <a:rPr lang="en-US" altLang="zh-CN" b="0" i="0" dirty="0">
                <a:solidFill>
                  <a:srgbClr val="F9FAFB"/>
                </a:solidFill>
                <a:effectLst/>
                <a:latin typeface="quote-cjk-patch"/>
              </a:rPr>
              <a:t> is the heat exchanged. Therefore, </a:t>
            </a:r>
            <a:r>
              <a:rPr lang="en-US" altLang="zh-CN" b="1" i="0" dirty="0">
                <a:solidFill>
                  <a:srgbClr val="F9FAFB"/>
                </a:solidFill>
                <a:effectLst/>
                <a:latin typeface="quote-cjk-patch"/>
              </a:rPr>
              <a:t>the change in enthalpy equals the heat absorbed or released at constant pressure</a:t>
            </a:r>
            <a:r>
              <a:rPr lang="en-US" altLang="zh-CN" b="0" i="0" dirty="0">
                <a:solidFill>
                  <a:srgbClr val="F9FAFB"/>
                </a:solidFill>
                <a:effectLst/>
                <a:latin typeface="quote-cjk-patch"/>
              </a:rPr>
              <a:t>. This is why enthalpy is so useful in chemistry – most reactions are run under constant atmospheric pressure."</a:t>
            </a:r>
          </a:p>
          <a:p>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17</a:t>
            </a:fld>
            <a:endParaRPr lang="zh-CN" altLang="en-US"/>
          </a:p>
        </p:txBody>
      </p:sp>
    </p:spTree>
    <p:extLst>
      <p:ext uri="{BB962C8B-B14F-4D97-AF65-F5344CB8AC3E}">
        <p14:creationId xmlns:p14="http://schemas.microsoft.com/office/powerpoint/2010/main" val="30155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F9FAFB"/>
                </a:solidFill>
                <a:effectLst/>
                <a:latin typeface="quote-cjk-patch"/>
              </a:rPr>
              <a:t>"Now we combine both conditions: constant temperature </a:t>
            </a:r>
            <a:r>
              <a:rPr lang="en-US" altLang="zh-CN" b="1" i="0" dirty="0">
                <a:solidFill>
                  <a:srgbClr val="F9FAFB"/>
                </a:solidFill>
                <a:effectLst/>
                <a:latin typeface="quote-cjk-patch"/>
              </a:rPr>
              <a:t>and</a:t>
            </a:r>
            <a:r>
              <a:rPr lang="en-US" altLang="zh-CN" b="0" i="0" dirty="0">
                <a:solidFill>
                  <a:srgbClr val="F9FAFB"/>
                </a:solidFill>
                <a:effectLst/>
                <a:latin typeface="quote-cjk-patch"/>
              </a:rPr>
              <a:t> constant pressure – the most common situation for chemical reactions.</a:t>
            </a:r>
          </a:p>
          <a:p>
            <a:pPr algn="l"/>
            <a:r>
              <a:rPr lang="en-US" altLang="zh-CN" b="0" i="0" dirty="0">
                <a:solidFill>
                  <a:srgbClr val="F9FAFB"/>
                </a:solidFill>
                <a:effectLst/>
                <a:latin typeface="quote-cjk-patch"/>
              </a:rPr>
              <a:t>We perform a Legendre transform with respect to both </a:t>
            </a:r>
            <a:r>
              <a:rPr lang="en-US" altLang="zh-CN" b="0" i="1" dirty="0">
                <a:solidFill>
                  <a:srgbClr val="F9FAFB"/>
                </a:solidFill>
                <a:effectLst/>
                <a:latin typeface="KaTeX_Math"/>
              </a:rPr>
              <a:t>S</a:t>
            </a:r>
            <a:r>
              <a:rPr lang="en-US" altLang="zh-CN" b="0" i="0" dirty="0">
                <a:solidFill>
                  <a:srgbClr val="F9FAFB"/>
                </a:solidFill>
                <a:effectLst/>
                <a:latin typeface="quote-cjk-patch"/>
              </a:rPr>
              <a:t> and </a:t>
            </a:r>
            <a:r>
              <a:rPr lang="en-US" altLang="zh-CN" b="0" i="1" dirty="0">
                <a:solidFill>
                  <a:srgbClr val="F9FAFB"/>
                </a:solidFill>
                <a:effectLst/>
                <a:latin typeface="KaTeX_Math"/>
              </a:rPr>
              <a:t>V</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G equals U minus T S plus P V</a:t>
            </a:r>
            <a:r>
              <a:rPr lang="en-US" altLang="zh-CN" b="0" i="0" dirty="0">
                <a:solidFill>
                  <a:srgbClr val="F9FAFB"/>
                </a:solidFill>
                <a:effectLst/>
                <a:latin typeface="quote-cjk-patch"/>
              </a:rPr>
              <a:t>'. This is the </a:t>
            </a:r>
            <a:r>
              <a:rPr lang="en-US" altLang="zh-CN" b="1" i="0" dirty="0">
                <a:solidFill>
                  <a:srgbClr val="F9FAFB"/>
                </a:solidFill>
                <a:effectLst/>
                <a:latin typeface="quote-cjk-patch"/>
              </a:rPr>
              <a:t>Gibbs free energy</a:t>
            </a:r>
            <a:r>
              <a:rPr lang="en-US" altLang="zh-CN" b="0" i="0" dirty="0">
                <a:solidFill>
                  <a:srgbClr val="F9FAFB"/>
                </a:solidFill>
                <a:effectLst/>
                <a:latin typeface="quote-cjk-patch"/>
              </a:rPr>
              <a:t>, and its natural variables are </a:t>
            </a:r>
            <a:r>
              <a:rPr lang="en-US" altLang="zh-CN" b="0" i="1" dirty="0">
                <a:solidFill>
                  <a:srgbClr val="F9FAFB"/>
                </a:solidFill>
                <a:effectLst/>
                <a:latin typeface="KaTeX_Math"/>
              </a:rPr>
              <a:t>T</a:t>
            </a:r>
            <a:r>
              <a:rPr lang="en-US" altLang="zh-CN" b="0" i="0" dirty="0">
                <a:solidFill>
                  <a:srgbClr val="F9FAFB"/>
                </a:solidFill>
                <a:effectLst/>
                <a:latin typeface="KaTeX_Main"/>
              </a:rPr>
              <a:t>,</a:t>
            </a:r>
            <a:r>
              <a:rPr lang="en-US" altLang="zh-CN" b="0" i="1" dirty="0">
                <a:solidFill>
                  <a:srgbClr val="F9FAFB"/>
                </a:solidFill>
                <a:effectLst/>
                <a:latin typeface="KaTeX_Math"/>
              </a:rPr>
              <a:t>P</a:t>
            </a:r>
            <a:r>
              <a:rPr lang="en-US" altLang="zh-CN" b="0" i="0" dirty="0">
                <a:solidFill>
                  <a:srgbClr val="F9FAFB"/>
                </a:solidFill>
                <a:effectLst/>
                <a:latin typeface="KaTeX_Main"/>
              </a:rPr>
              <a:t>,</a:t>
            </a:r>
            <a:r>
              <a:rPr lang="en-US" altLang="zh-CN" b="0" i="1" dirty="0">
                <a:solidFill>
                  <a:srgbClr val="F9FAFB"/>
                </a:solidFill>
                <a:effectLst/>
                <a:latin typeface="KaTeX_Math"/>
              </a:rPr>
              <a:t>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Its differential is: '</a:t>
            </a:r>
            <a:r>
              <a:rPr lang="en-US" altLang="zh-CN" b="1" i="0" dirty="0">
                <a:solidFill>
                  <a:srgbClr val="F9FAFB"/>
                </a:solidFill>
                <a:effectLst/>
                <a:latin typeface="quote-cjk-patch"/>
              </a:rPr>
              <a:t>dee G equals minus S dee T plus V dee P plus mu dee 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At constant </a:t>
            </a:r>
            <a:r>
              <a:rPr lang="en-US" altLang="zh-CN" b="0" i="1" dirty="0">
                <a:solidFill>
                  <a:srgbClr val="F9FAFB"/>
                </a:solidFill>
                <a:effectLst/>
                <a:latin typeface="KaTeX_Math"/>
              </a:rPr>
              <a:t>T</a:t>
            </a:r>
            <a:r>
              <a:rPr lang="en-US" altLang="zh-CN" b="0" i="0" dirty="0">
                <a:solidFill>
                  <a:srgbClr val="F9FAFB"/>
                </a:solidFill>
                <a:effectLst/>
                <a:latin typeface="quote-cjk-patch"/>
              </a:rPr>
              <a:t> and </a:t>
            </a:r>
            <a:r>
              <a:rPr lang="en-US" altLang="zh-CN" b="0" i="1" dirty="0">
                <a:solidFill>
                  <a:srgbClr val="F9FAFB"/>
                </a:solidFill>
                <a:effectLst/>
                <a:latin typeface="KaTeX_Math"/>
              </a:rPr>
              <a:t>P</a:t>
            </a:r>
            <a:r>
              <a:rPr lang="en-US" altLang="zh-CN" b="0" i="0" dirty="0">
                <a:solidFill>
                  <a:srgbClr val="F9FAFB"/>
                </a:solidFill>
                <a:effectLst/>
                <a:latin typeface="quote-cjk-patch"/>
              </a:rPr>
              <a:t>, </a:t>
            </a:r>
            <a:r>
              <a:rPr lang="en-US" altLang="zh-CN" b="0" i="1" dirty="0" err="1">
                <a:solidFill>
                  <a:srgbClr val="F9FAFB"/>
                </a:solidFill>
                <a:effectLst/>
                <a:latin typeface="KaTeX_Math"/>
              </a:rPr>
              <a:t>dG</a:t>
            </a:r>
            <a:r>
              <a:rPr lang="en-US" altLang="zh-CN" b="0" i="1" dirty="0">
                <a:solidFill>
                  <a:srgbClr val="F9FAFB"/>
                </a:solidFill>
                <a:effectLst/>
                <a:latin typeface="KaTeX_Math"/>
              </a:rPr>
              <a:t> </a:t>
            </a:r>
            <a:r>
              <a:rPr lang="en-US" altLang="zh-CN" b="0" i="0" dirty="0">
                <a:solidFill>
                  <a:srgbClr val="F9FAFB"/>
                </a:solidFill>
                <a:effectLst/>
                <a:latin typeface="KaTeX_Main"/>
              </a:rPr>
              <a:t>=</a:t>
            </a:r>
            <a:r>
              <a:rPr lang="el-GR" altLang="zh-CN" b="0" i="1" dirty="0">
                <a:solidFill>
                  <a:srgbClr val="F9FAFB"/>
                </a:solidFill>
                <a:effectLst/>
                <a:latin typeface="KaTeX_Math"/>
              </a:rPr>
              <a:t>μ</a:t>
            </a:r>
            <a:r>
              <a:rPr lang="en-US" altLang="zh-CN" b="0" i="1" dirty="0" err="1">
                <a:solidFill>
                  <a:srgbClr val="F9FAFB"/>
                </a:solidFill>
                <a:effectLst/>
                <a:latin typeface="KaTeX_Math"/>
              </a:rPr>
              <a:t>dN</a:t>
            </a:r>
            <a:r>
              <a:rPr lang="en-US" altLang="zh-CN" b="0" i="0" dirty="0">
                <a:solidFill>
                  <a:srgbClr val="F9FAFB"/>
                </a:solidFill>
                <a:effectLst/>
                <a:latin typeface="quote-cjk-patch"/>
              </a:rPr>
              <a:t>, and for a system with multiple components, </a:t>
            </a:r>
            <a:r>
              <a:rPr lang="en-US" altLang="zh-CN" b="0" i="0" dirty="0" err="1">
                <a:solidFill>
                  <a:srgbClr val="F9FAFB"/>
                </a:solidFill>
                <a:effectLst/>
                <a:latin typeface="KaTeX_Main"/>
              </a:rPr>
              <a:t>dG</a:t>
            </a:r>
            <a:r>
              <a:rPr lang="en-US" altLang="zh-CN" b="0" i="0" dirty="0">
                <a:solidFill>
                  <a:srgbClr val="F9FAFB"/>
                </a:solidFill>
                <a:effectLst/>
                <a:latin typeface="KaTeX_Main"/>
              </a:rPr>
              <a:t>=∑</a:t>
            </a:r>
            <a:r>
              <a:rPr lang="en-US" altLang="zh-CN" b="0" i="0" dirty="0" err="1">
                <a:solidFill>
                  <a:srgbClr val="F9FAFB"/>
                </a:solidFill>
                <a:effectLst/>
                <a:latin typeface="KaTeX_Main"/>
              </a:rPr>
              <a:t>i</a:t>
            </a:r>
            <a:r>
              <a:rPr lang="el-GR" altLang="zh-CN" b="0" i="0" dirty="0">
                <a:solidFill>
                  <a:srgbClr val="F9FAFB"/>
                </a:solidFill>
                <a:effectLst/>
                <a:latin typeface="KaTeX_Main"/>
              </a:rPr>
              <a:t>μ</a:t>
            </a:r>
            <a:r>
              <a:rPr lang="en-US" altLang="zh-CN" b="0" i="0" dirty="0" err="1">
                <a:solidFill>
                  <a:srgbClr val="F9FAFB"/>
                </a:solidFill>
                <a:effectLst/>
                <a:latin typeface="KaTeX_Main"/>
              </a:rPr>
              <a:t>idNi</a:t>
            </a:r>
            <a:r>
              <a:rPr lang="en-US" altLang="zh-CN" b="0" i="1" dirty="0" err="1">
                <a:solidFill>
                  <a:srgbClr val="F9FAFB"/>
                </a:solidFill>
                <a:effectLst/>
                <a:latin typeface="KaTeX_Math"/>
              </a:rPr>
              <a:t>dG</a:t>
            </a:r>
            <a:r>
              <a:rPr lang="en-US" altLang="zh-CN" b="0" i="0" dirty="0">
                <a:solidFill>
                  <a:srgbClr val="F9FAFB"/>
                </a:solidFill>
                <a:effectLst/>
                <a:latin typeface="KaTeX_Main"/>
              </a:rPr>
              <a:t>=</a:t>
            </a:r>
            <a:r>
              <a:rPr lang="en-US" altLang="zh-CN" b="0" i="0" dirty="0">
                <a:solidFill>
                  <a:srgbClr val="F9FAFB"/>
                </a:solidFill>
                <a:effectLst/>
                <a:latin typeface="KaTeX_Size1"/>
              </a:rPr>
              <a:t>∑</a:t>
            </a:r>
            <a:r>
              <a:rPr lang="en-US" altLang="zh-CN" b="0" i="1" dirty="0" err="1">
                <a:solidFill>
                  <a:srgbClr val="F9FAFB"/>
                </a:solidFill>
                <a:effectLst/>
                <a:latin typeface="KaTeX_Math"/>
              </a:rPr>
              <a:t>i</a:t>
            </a:r>
            <a:r>
              <a:rPr lang="en-US" altLang="zh-CN" b="0" i="0" dirty="0">
                <a:solidFill>
                  <a:srgbClr val="F9FAFB"/>
                </a:solidFill>
                <a:effectLst/>
                <a:latin typeface="KaTeX_Main"/>
              </a:rPr>
              <a:t>​</a:t>
            </a:r>
            <a:r>
              <a:rPr lang="el-GR" altLang="zh-CN" b="0" i="1" dirty="0">
                <a:solidFill>
                  <a:srgbClr val="F9FAFB"/>
                </a:solidFill>
                <a:effectLst/>
                <a:latin typeface="KaTeX_Math"/>
              </a:rPr>
              <a:t>μ</a:t>
            </a:r>
            <a:r>
              <a:rPr lang="en-US" altLang="zh-CN" b="0" i="1" dirty="0" err="1">
                <a:solidFill>
                  <a:srgbClr val="F9FAFB"/>
                </a:solidFill>
                <a:effectLst/>
                <a:latin typeface="KaTeX_Math"/>
              </a:rPr>
              <a:t>i</a:t>
            </a:r>
            <a:r>
              <a:rPr lang="en-US" altLang="zh-CN" b="0" i="0" dirty="0">
                <a:solidFill>
                  <a:srgbClr val="F9FAFB"/>
                </a:solidFill>
                <a:effectLst/>
                <a:latin typeface="KaTeX_Main"/>
              </a:rPr>
              <a:t>​</a:t>
            </a:r>
            <a:r>
              <a:rPr lang="en-US" altLang="zh-CN" b="0" i="1" dirty="0" err="1">
                <a:solidFill>
                  <a:srgbClr val="F9FAFB"/>
                </a:solidFill>
                <a:effectLst/>
                <a:latin typeface="KaTeX_Math"/>
              </a:rPr>
              <a:t>dNi</a:t>
            </a:r>
            <a:r>
              <a:rPr lang="en-US" altLang="zh-CN" b="0" i="0" dirty="0">
                <a:solidFill>
                  <a:srgbClr val="F9FAFB"/>
                </a:solidFill>
                <a:effectLst/>
                <a:latin typeface="KaTeX_Main"/>
              </a:rPr>
              <a:t>​</a:t>
            </a:r>
            <a:r>
              <a:rPr lang="en-US" altLang="zh-CN" b="0" i="0" dirty="0">
                <a:solidFill>
                  <a:srgbClr val="F9FAFB"/>
                </a:solidFill>
                <a:effectLst/>
                <a:latin typeface="quote-cjk-patch"/>
              </a:rPr>
              <a:t>. At equilibrium, </a:t>
            </a:r>
            <a:r>
              <a:rPr lang="en-US" altLang="zh-CN" b="0" i="1" dirty="0" err="1">
                <a:solidFill>
                  <a:srgbClr val="F9FAFB"/>
                </a:solidFill>
                <a:effectLst/>
                <a:latin typeface="KaTeX_Math"/>
              </a:rPr>
              <a:t>dG</a:t>
            </a:r>
            <a:r>
              <a:rPr lang="en-US" altLang="zh-CN" b="0" i="0" dirty="0">
                <a:solidFill>
                  <a:srgbClr val="F9FAFB"/>
                </a:solidFill>
                <a:effectLst/>
                <a:latin typeface="KaTeX_Main"/>
              </a:rPr>
              <a:t>=0</a:t>
            </a:r>
            <a:r>
              <a:rPr lang="en-US" altLang="zh-CN" b="0" i="0" dirty="0">
                <a:solidFill>
                  <a:srgbClr val="F9FAFB"/>
                </a:solidFill>
                <a:effectLst/>
                <a:latin typeface="quote-cjk-patch"/>
              </a:rPr>
              <a:t>. This gives us the fundamental condition for chemical equilibrium and phase equilibria. Moreover, in spontaneous processes at constant </a:t>
            </a:r>
            <a:r>
              <a:rPr lang="en-US" altLang="zh-CN" b="0" i="1" dirty="0">
                <a:solidFill>
                  <a:srgbClr val="F9FAFB"/>
                </a:solidFill>
                <a:effectLst/>
                <a:latin typeface="KaTeX_Math"/>
              </a:rPr>
              <a:t>T</a:t>
            </a:r>
            <a:r>
              <a:rPr lang="en-US" altLang="zh-CN" b="0" i="0" dirty="0">
                <a:solidFill>
                  <a:srgbClr val="F9FAFB"/>
                </a:solidFill>
                <a:effectLst/>
                <a:latin typeface="quote-cjk-patch"/>
              </a:rPr>
              <a:t> and </a:t>
            </a:r>
            <a:r>
              <a:rPr lang="en-US" altLang="zh-CN" b="0" i="1" dirty="0">
                <a:solidFill>
                  <a:srgbClr val="F9FAFB"/>
                </a:solidFill>
                <a:effectLst/>
                <a:latin typeface="KaTeX_Math"/>
              </a:rPr>
              <a:t>P</a:t>
            </a:r>
            <a:r>
              <a:rPr lang="en-US" altLang="zh-CN" b="0" i="0" dirty="0">
                <a:solidFill>
                  <a:srgbClr val="F9FAFB"/>
                </a:solidFill>
                <a:effectLst/>
                <a:latin typeface="quote-cjk-patch"/>
              </a:rPr>
              <a:t>, </a:t>
            </a:r>
            <a:r>
              <a:rPr lang="en-US" altLang="zh-CN" b="0" i="1" dirty="0">
                <a:solidFill>
                  <a:srgbClr val="F9FAFB"/>
                </a:solidFill>
                <a:effectLst/>
                <a:latin typeface="KaTeX_Math"/>
              </a:rPr>
              <a:t>G</a:t>
            </a:r>
            <a:r>
              <a:rPr lang="en-US" altLang="zh-CN" b="0" i="0" dirty="0">
                <a:solidFill>
                  <a:srgbClr val="F9FAFB"/>
                </a:solidFill>
                <a:effectLst/>
                <a:latin typeface="quote-cjk-patch"/>
              </a:rPr>
              <a:t> always decreases, reaching a minimum at equilibrium. This makes </a:t>
            </a:r>
            <a:r>
              <a:rPr lang="en-US" altLang="zh-CN" b="0" i="1" dirty="0">
                <a:solidFill>
                  <a:srgbClr val="F9FAFB"/>
                </a:solidFill>
                <a:effectLst/>
                <a:latin typeface="KaTeX_Math"/>
              </a:rPr>
              <a:t>G</a:t>
            </a:r>
            <a:r>
              <a:rPr lang="en-US" altLang="zh-CN" b="0" i="0" dirty="0">
                <a:solidFill>
                  <a:srgbClr val="F9FAFB"/>
                </a:solidFill>
                <a:effectLst/>
                <a:latin typeface="quote-cjk-patch"/>
              </a:rPr>
              <a:t> the key potential for predicting reaction spontaneity."</a:t>
            </a:r>
          </a:p>
          <a:p>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18</a:t>
            </a:fld>
            <a:endParaRPr lang="zh-CN" altLang="en-US"/>
          </a:p>
        </p:txBody>
      </p:sp>
    </p:spTree>
    <p:extLst>
      <p:ext uri="{BB962C8B-B14F-4D97-AF65-F5344CB8AC3E}">
        <p14:creationId xmlns:p14="http://schemas.microsoft.com/office/powerpoint/2010/main" val="1343026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F9FAFB"/>
                </a:solidFill>
                <a:effectLst/>
                <a:latin typeface="quote-cjk-patch"/>
              </a:rPr>
              <a:t>"Finally, we consider an </a:t>
            </a:r>
            <a:r>
              <a:rPr lang="en-US" altLang="zh-CN" b="1" i="0" dirty="0">
                <a:solidFill>
                  <a:srgbClr val="F9FAFB"/>
                </a:solidFill>
                <a:effectLst/>
                <a:latin typeface="quote-cjk-patch"/>
              </a:rPr>
              <a:t>open system</a:t>
            </a:r>
            <a:r>
              <a:rPr lang="en-US" altLang="zh-CN" b="0" i="0" dirty="0">
                <a:solidFill>
                  <a:srgbClr val="F9FAFB"/>
                </a:solidFill>
                <a:effectLst/>
                <a:latin typeface="quote-cjk-patch"/>
              </a:rPr>
              <a:t> that can exchange particles with a reservoir. Here the chemical potential </a:t>
            </a:r>
            <a:r>
              <a:rPr lang="el-GR" altLang="zh-CN" b="0" i="1" dirty="0">
                <a:solidFill>
                  <a:srgbClr val="F9FAFB"/>
                </a:solidFill>
                <a:effectLst/>
                <a:latin typeface="KaTeX_Math"/>
              </a:rPr>
              <a:t>μ</a:t>
            </a:r>
            <a:r>
              <a:rPr lang="el-GR" altLang="zh-CN" b="0" i="0" dirty="0">
                <a:solidFill>
                  <a:srgbClr val="F9FAFB"/>
                </a:solidFill>
                <a:effectLst/>
                <a:latin typeface="quote-cjk-patch"/>
              </a:rPr>
              <a:t> </a:t>
            </a:r>
            <a:r>
              <a:rPr lang="en-US" altLang="zh-CN" b="0" i="0" dirty="0">
                <a:solidFill>
                  <a:srgbClr val="F9FAFB"/>
                </a:solidFill>
                <a:effectLst/>
                <a:latin typeface="quote-cjk-patch"/>
              </a:rPr>
              <a:t>is held constant, just as temperature was held constant by a heat bath.</a:t>
            </a:r>
          </a:p>
          <a:p>
            <a:pPr algn="l"/>
            <a:r>
              <a:rPr lang="en-US" altLang="zh-CN" b="0" i="0" dirty="0">
                <a:solidFill>
                  <a:srgbClr val="F9FAFB"/>
                </a:solidFill>
                <a:effectLst/>
                <a:latin typeface="quote-cjk-patch"/>
              </a:rPr>
              <a:t>We now perform a Legendre transform that replaces both </a:t>
            </a:r>
            <a:r>
              <a:rPr lang="en-US" altLang="zh-CN" b="0" i="1" dirty="0">
                <a:solidFill>
                  <a:srgbClr val="F9FAFB"/>
                </a:solidFill>
                <a:effectLst/>
                <a:latin typeface="KaTeX_Math"/>
              </a:rPr>
              <a:t>S</a:t>
            </a:r>
            <a:r>
              <a:rPr lang="en-US" altLang="zh-CN" b="0" i="0" dirty="0">
                <a:solidFill>
                  <a:srgbClr val="F9FAFB"/>
                </a:solidFill>
                <a:effectLst/>
                <a:latin typeface="quote-cjk-patch"/>
              </a:rPr>
              <a:t> and </a:t>
            </a:r>
            <a:r>
              <a:rPr lang="en-US" altLang="zh-CN" b="0" i="1" dirty="0">
                <a:solidFill>
                  <a:srgbClr val="F9FAFB"/>
                </a:solidFill>
                <a:effectLst/>
                <a:latin typeface="KaTeX_Math"/>
              </a:rPr>
              <a:t>N</a:t>
            </a:r>
            <a:r>
              <a:rPr lang="en-US" altLang="zh-CN" b="0" i="0" dirty="0">
                <a:solidFill>
                  <a:srgbClr val="F9FAFB"/>
                </a:solidFill>
                <a:effectLst/>
                <a:latin typeface="quote-cjk-patch"/>
              </a:rPr>
              <a:t> with their conjugates </a:t>
            </a:r>
            <a:r>
              <a:rPr lang="en-US" altLang="zh-CN" b="0" i="1" dirty="0">
                <a:solidFill>
                  <a:srgbClr val="F9FAFB"/>
                </a:solidFill>
                <a:effectLst/>
                <a:latin typeface="KaTeX_Math"/>
              </a:rPr>
              <a:t>T</a:t>
            </a:r>
            <a:r>
              <a:rPr lang="en-US" altLang="zh-CN" b="0" i="0" dirty="0">
                <a:solidFill>
                  <a:srgbClr val="F9FAFB"/>
                </a:solidFill>
                <a:effectLst/>
                <a:latin typeface="quote-cjk-patch"/>
              </a:rPr>
              <a:t> and </a:t>
            </a:r>
            <a:r>
              <a:rPr lang="el-GR" altLang="zh-CN" b="0" i="1" dirty="0">
                <a:solidFill>
                  <a:srgbClr val="F9FAFB"/>
                </a:solidFill>
                <a:effectLst/>
                <a:latin typeface="KaTeX_Math"/>
              </a:rPr>
              <a:t>μ</a:t>
            </a:r>
            <a:r>
              <a:rPr lang="el-GR" altLang="zh-CN" b="0" i="0" dirty="0">
                <a:solidFill>
                  <a:srgbClr val="F9FAFB"/>
                </a:solidFill>
                <a:effectLst/>
                <a:latin typeface="quote-cjk-patch"/>
              </a:rPr>
              <a:t>:</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J equals U minus T S minus mu N</a:t>
            </a:r>
            <a:r>
              <a:rPr lang="en-US" altLang="zh-CN" b="0" i="0" dirty="0">
                <a:solidFill>
                  <a:srgbClr val="F9FAFB"/>
                </a:solidFill>
                <a:effectLst/>
                <a:latin typeface="quote-cjk-patch"/>
              </a:rPr>
              <a:t>'. This is the </a:t>
            </a:r>
            <a:r>
              <a:rPr lang="en-US" altLang="zh-CN" b="1" i="0" dirty="0">
                <a:solidFill>
                  <a:srgbClr val="F9FAFB"/>
                </a:solidFill>
                <a:effectLst/>
                <a:latin typeface="quote-cjk-patch"/>
              </a:rPr>
              <a:t>grand potential</a:t>
            </a:r>
            <a:r>
              <a:rPr lang="el-GR" altLang="zh-CN" b="0" i="0" dirty="0">
                <a:solidFill>
                  <a:srgbClr val="F9FAFB"/>
                </a:solidFill>
                <a:effectLst/>
                <a:latin typeface="quote-cjk-patch"/>
              </a:rPr>
              <a:t>. </a:t>
            </a:r>
            <a:r>
              <a:rPr lang="en-US" altLang="zh-CN" b="0" i="0" dirty="0">
                <a:solidFill>
                  <a:srgbClr val="F9FAFB"/>
                </a:solidFill>
                <a:effectLst/>
                <a:latin typeface="quote-cjk-patch"/>
              </a:rPr>
              <a:t>Its natural variables are </a:t>
            </a:r>
            <a:r>
              <a:rPr lang="en-US" altLang="zh-CN" b="0" i="1" dirty="0">
                <a:solidFill>
                  <a:srgbClr val="F9FAFB"/>
                </a:solidFill>
                <a:effectLst/>
                <a:latin typeface="KaTeX_Math"/>
              </a:rPr>
              <a:t>T</a:t>
            </a:r>
            <a:r>
              <a:rPr lang="en-US" altLang="zh-CN" b="0" i="0" dirty="0">
                <a:solidFill>
                  <a:srgbClr val="F9FAFB"/>
                </a:solidFill>
                <a:effectLst/>
                <a:latin typeface="KaTeX_Main"/>
              </a:rPr>
              <a:t>,</a:t>
            </a:r>
            <a:r>
              <a:rPr lang="en-US" altLang="zh-CN" b="0" i="1" dirty="0">
                <a:solidFill>
                  <a:srgbClr val="F9FAFB"/>
                </a:solidFill>
                <a:effectLst/>
                <a:latin typeface="KaTeX_Math"/>
              </a:rPr>
              <a:t>V</a:t>
            </a:r>
            <a:r>
              <a:rPr lang="en-US" altLang="zh-CN" b="0" i="0" dirty="0">
                <a:solidFill>
                  <a:srgbClr val="F9FAFB"/>
                </a:solidFill>
                <a:effectLst/>
                <a:latin typeface="KaTeX_Main"/>
              </a:rPr>
              <a:t>,</a:t>
            </a:r>
            <a:r>
              <a:rPr lang="el-GR" altLang="zh-CN" b="0" i="1" dirty="0">
                <a:solidFill>
                  <a:srgbClr val="F9FAFB"/>
                </a:solidFill>
                <a:effectLst/>
                <a:latin typeface="KaTeX_Math"/>
              </a:rPr>
              <a:t>μ</a:t>
            </a:r>
            <a:r>
              <a:rPr lang="el-GR" altLang="zh-CN" b="0" i="0" dirty="0">
                <a:solidFill>
                  <a:srgbClr val="F9FAFB"/>
                </a:solidFill>
                <a:effectLst/>
                <a:latin typeface="quote-cjk-patch"/>
              </a:rPr>
              <a:t>.</a:t>
            </a:r>
          </a:p>
          <a:p>
            <a:pPr algn="l"/>
            <a:r>
              <a:rPr lang="en-US" altLang="zh-CN" b="0" i="0" dirty="0">
                <a:solidFill>
                  <a:srgbClr val="F9FAFB"/>
                </a:solidFill>
                <a:effectLst/>
                <a:latin typeface="quote-cjk-patch"/>
              </a:rPr>
              <a:t>If we take the total differential and substitute </a:t>
            </a:r>
            <a:r>
              <a:rPr lang="en-US" altLang="zh-CN" b="0" i="1" dirty="0" err="1">
                <a:solidFill>
                  <a:srgbClr val="F9FAFB"/>
                </a:solidFill>
                <a:effectLst/>
                <a:latin typeface="KaTeX_Math"/>
              </a:rPr>
              <a:t>dU</a:t>
            </a:r>
            <a:r>
              <a:rPr lang="en-US" altLang="zh-CN" b="0" i="0" dirty="0">
                <a:solidFill>
                  <a:srgbClr val="F9FAFB"/>
                </a:solidFill>
                <a:effectLst/>
                <a:latin typeface="quote-cjk-patch"/>
              </a:rPr>
              <a:t>, we find:</a:t>
            </a:r>
          </a:p>
          <a:p>
            <a:pPr algn="l"/>
            <a:r>
              <a:rPr lang="el-GR" altLang="zh-CN" b="0" i="0" dirty="0">
                <a:solidFill>
                  <a:srgbClr val="F9FAFB"/>
                </a:solidFill>
                <a:effectLst/>
                <a:latin typeface="quote-cjk-patch"/>
              </a:rPr>
              <a:t>'</a:t>
            </a:r>
            <a:r>
              <a:rPr lang="en-US" altLang="zh-CN" b="1" i="0" dirty="0">
                <a:solidFill>
                  <a:srgbClr val="F9FAFB"/>
                </a:solidFill>
                <a:effectLst/>
                <a:latin typeface="quote-cjk-patch"/>
              </a:rPr>
              <a:t>dee J equals minus S dee T minus P dee V minus N dee mu</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Now, there is an important simplification for a </a:t>
            </a:r>
            <a:r>
              <a:rPr lang="en-US" altLang="zh-CN" b="1" i="0" dirty="0">
                <a:solidFill>
                  <a:srgbClr val="F9FAFB"/>
                </a:solidFill>
                <a:effectLst/>
                <a:latin typeface="quote-cjk-patch"/>
              </a:rPr>
              <a:t>homogeneous system</a:t>
            </a:r>
            <a:r>
              <a:rPr lang="en-US" altLang="zh-CN" b="0" i="0" dirty="0">
                <a:solidFill>
                  <a:srgbClr val="F9FAFB"/>
                </a:solidFill>
                <a:effectLst/>
                <a:latin typeface="quote-cjk-patch"/>
              </a:rPr>
              <a:t>. Because </a:t>
            </a:r>
            <a:r>
              <a:rPr lang="en-US" altLang="zh-CN" b="0" i="1" dirty="0">
                <a:solidFill>
                  <a:srgbClr val="F9FAFB"/>
                </a:solidFill>
                <a:effectLst/>
                <a:latin typeface="KaTeX_Math"/>
              </a:rPr>
              <a:t>U</a:t>
            </a:r>
            <a:r>
              <a:rPr lang="en-US" altLang="zh-CN" b="0" i="0" dirty="0">
                <a:solidFill>
                  <a:srgbClr val="F9FAFB"/>
                </a:solidFill>
                <a:effectLst/>
                <a:latin typeface="quote-cjk-patch"/>
              </a:rPr>
              <a:t> is a homogeneous function of first order in its extensive variables, Euler's theorem gives:</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U equals T S minus P V plus mu N</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Substituting this into the definition of </a:t>
            </a:r>
            <a:r>
              <a:rPr lang="en-US" altLang="zh-CN" b="0" i="1" dirty="0">
                <a:solidFill>
                  <a:srgbClr val="F9FAFB"/>
                </a:solidFill>
                <a:effectLst/>
                <a:latin typeface="KaTeX_Math"/>
              </a:rPr>
              <a:t>J</a:t>
            </a:r>
            <a:r>
              <a:rPr lang="en-US" altLang="zh-CN" b="0" i="0" dirty="0">
                <a:solidFill>
                  <a:srgbClr val="F9FAFB"/>
                </a:solidFill>
                <a:effectLst/>
                <a:latin typeface="quote-cjk-patch"/>
              </a:rPr>
              <a:t>, we obtain:</a:t>
            </a:r>
          </a:p>
          <a:p>
            <a:pPr algn="l"/>
            <a:r>
              <a:rPr lang="en-US" altLang="zh-CN" b="0" i="1" dirty="0">
                <a:solidFill>
                  <a:srgbClr val="F9FAFB"/>
                </a:solidFill>
                <a:effectLst/>
                <a:latin typeface="KaTeX_Math"/>
              </a:rPr>
              <a:t>J</a:t>
            </a:r>
            <a:r>
              <a:rPr lang="en-US" altLang="zh-CN" b="0" i="0" dirty="0">
                <a:solidFill>
                  <a:srgbClr val="F9FAFB"/>
                </a:solidFill>
                <a:effectLst/>
                <a:latin typeface="KaTeX_Main"/>
              </a:rPr>
              <a:t>=−</a:t>
            </a:r>
            <a:r>
              <a:rPr lang="en-US" altLang="zh-CN" b="0" i="1" dirty="0">
                <a:solidFill>
                  <a:srgbClr val="F9FAFB"/>
                </a:solidFill>
                <a:effectLst/>
                <a:latin typeface="KaTeX_Math"/>
              </a:rPr>
              <a:t>PV.</a:t>
            </a:r>
            <a:r>
              <a:rPr lang="zh-CN" altLang="en-US" b="0" i="1" dirty="0">
                <a:solidFill>
                  <a:srgbClr val="F9FAFB"/>
                </a:solidFill>
                <a:effectLst/>
                <a:latin typeface="KaTeX_Math"/>
              </a:rPr>
              <a:t> </a:t>
            </a:r>
            <a:r>
              <a:rPr lang="en-US" altLang="zh-CN" b="0" i="0" dirty="0">
                <a:solidFill>
                  <a:srgbClr val="F9FAFB"/>
                </a:solidFill>
                <a:effectLst/>
                <a:latin typeface="quote-cjk-patch"/>
              </a:rPr>
              <a:t>So for a uniform system, the grand potential is simply </a:t>
            </a:r>
            <a:r>
              <a:rPr lang="en-US" altLang="zh-CN" b="1" i="1" dirty="0">
                <a:solidFill>
                  <a:srgbClr val="F9FAFB"/>
                </a:solidFill>
                <a:effectLst/>
                <a:latin typeface="KaTeX_Math"/>
              </a:rPr>
              <a:t>J</a:t>
            </a:r>
            <a:r>
              <a:rPr lang="en-US" altLang="zh-CN" b="1" i="0" dirty="0">
                <a:solidFill>
                  <a:srgbClr val="F9FAFB"/>
                </a:solidFill>
                <a:effectLst/>
                <a:latin typeface="KaTeX_Main"/>
              </a:rPr>
              <a:t>=−</a:t>
            </a:r>
            <a:r>
              <a:rPr lang="en-US" altLang="zh-CN" b="1" i="1" dirty="0">
                <a:solidFill>
                  <a:srgbClr val="F9FAFB"/>
                </a:solidFill>
                <a:effectLst/>
                <a:latin typeface="KaTeX_Math"/>
              </a:rPr>
              <a:t>PV</a:t>
            </a:r>
            <a:r>
              <a:rPr lang="en-US" altLang="zh-CN" b="0" i="0" dirty="0">
                <a:solidFill>
                  <a:srgbClr val="F9FAFB"/>
                </a:solidFill>
                <a:effectLst/>
                <a:latin typeface="quote-cjk-patch"/>
              </a:rPr>
              <a:t>. This is a very neat result.</a:t>
            </a:r>
          </a:p>
          <a:p>
            <a:pPr algn="l"/>
            <a:r>
              <a:rPr lang="en-US" altLang="zh-CN" b="0" i="0" dirty="0">
                <a:solidFill>
                  <a:srgbClr val="F9FAFB"/>
                </a:solidFill>
                <a:effectLst/>
                <a:latin typeface="quote-cjk-patch"/>
              </a:rPr>
              <a:t>Moreover, in statistical mechanics, the grand potential is directly linked to the </a:t>
            </a:r>
            <a:r>
              <a:rPr lang="en-US" altLang="zh-CN" b="1" i="0" dirty="0">
                <a:solidFill>
                  <a:srgbClr val="F9FAFB"/>
                </a:solidFill>
                <a:effectLst/>
                <a:latin typeface="quote-cjk-patch"/>
              </a:rPr>
              <a:t>grand canonical partition function</a:t>
            </a:r>
            <a:r>
              <a:rPr lang="en-US" altLang="zh-CN" b="0" i="0" dirty="0">
                <a:solidFill>
                  <a:srgbClr val="F9FAFB"/>
                </a:solidFill>
                <a:effectLst/>
                <a:latin typeface="quote-cjk-patch"/>
              </a:rPr>
              <a:t> </a:t>
            </a:r>
            <a:r>
              <a:rPr lang="en-US" altLang="zh-CN" b="0" i="0" dirty="0">
                <a:solidFill>
                  <a:srgbClr val="F9FAFB"/>
                </a:solidFill>
                <a:effectLst/>
                <a:latin typeface="KaTeX_Caligraphic"/>
              </a:rPr>
              <a:t>E</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J equals minus k T ln Xi</a:t>
            </a:r>
            <a:r>
              <a:rPr lang="en-US" altLang="zh-CN" b="0" i="0" dirty="0">
                <a:solidFill>
                  <a:srgbClr val="F9FAFB"/>
                </a:solidFill>
                <a:effectLst/>
                <a:latin typeface="quote-cjk-patch"/>
              </a:rPr>
              <a:t>'. This connection makes the grand potential an indispensable tool for studying systems in contact with a particle reservoir."</a:t>
            </a:r>
          </a:p>
          <a:p>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19</a:t>
            </a:fld>
            <a:endParaRPr lang="zh-CN" altLang="en-US"/>
          </a:p>
        </p:txBody>
      </p:sp>
    </p:spTree>
    <p:extLst>
      <p:ext uri="{BB962C8B-B14F-4D97-AF65-F5344CB8AC3E}">
        <p14:creationId xmlns:p14="http://schemas.microsoft.com/office/powerpoint/2010/main" val="3001473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F9FAFB"/>
                </a:solidFill>
                <a:effectLst/>
                <a:latin typeface="quote-cjk-patch"/>
              </a:rPr>
              <a:t>"The idea of the Legendre transform extends far beyond the standard thermodynamic potentials. We can apply it to any system where an extensive quantity </a:t>
            </a:r>
            <a:r>
              <a:rPr lang="en-US" altLang="zh-CN" b="1" i="1" dirty="0">
                <a:solidFill>
                  <a:srgbClr val="F9FAFB"/>
                </a:solidFill>
                <a:effectLst/>
                <a:latin typeface="KaTeX_Math"/>
              </a:rPr>
              <a:t>X</a:t>
            </a:r>
            <a:r>
              <a:rPr lang="en-US" altLang="zh-CN" b="0" i="0" dirty="0">
                <a:solidFill>
                  <a:srgbClr val="F9FAFB"/>
                </a:solidFill>
                <a:effectLst/>
                <a:latin typeface="quote-cjk-patch"/>
              </a:rPr>
              <a:t> has a conjugate intensive variable </a:t>
            </a:r>
            <a:r>
              <a:rPr lang="el-GR" altLang="zh-CN" b="1" i="1" dirty="0">
                <a:solidFill>
                  <a:srgbClr val="F9FAFB"/>
                </a:solidFill>
                <a:effectLst/>
                <a:latin typeface="KaTeX_Math"/>
              </a:rPr>
              <a:t>ξ</a:t>
            </a:r>
            <a:r>
              <a:rPr lang="el-GR" altLang="zh-CN" b="0" i="0" dirty="0">
                <a:solidFill>
                  <a:srgbClr val="F9FAFB"/>
                </a:solidFill>
                <a:effectLst/>
                <a:latin typeface="quote-cjk-patch"/>
              </a:rPr>
              <a:t>.</a:t>
            </a:r>
          </a:p>
          <a:p>
            <a:pPr algn="l"/>
            <a:r>
              <a:rPr lang="en-US" altLang="zh-CN" b="0" i="0" dirty="0">
                <a:solidFill>
                  <a:srgbClr val="F9FAFB"/>
                </a:solidFill>
                <a:effectLst/>
                <a:latin typeface="quote-cjk-patch"/>
              </a:rPr>
              <a:t>In a generalized formulation, we often write:</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k inverse dee S equals beta dee E plus xi dot dee X</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Here </a:t>
            </a:r>
            <a:r>
              <a:rPr lang="en-US" altLang="zh-CN" b="1" i="1" dirty="0">
                <a:solidFill>
                  <a:srgbClr val="F9FAFB"/>
                </a:solidFill>
                <a:effectLst/>
                <a:latin typeface="KaTeX_Math"/>
              </a:rPr>
              <a:t>X</a:t>
            </a:r>
            <a:r>
              <a:rPr lang="en-US" altLang="zh-CN" b="0" i="0" dirty="0">
                <a:solidFill>
                  <a:srgbClr val="F9FAFB"/>
                </a:solidFill>
                <a:effectLst/>
                <a:latin typeface="quote-cjk-patch"/>
              </a:rPr>
              <a:t> could be volume, particle numbers, or even electric dipole moment </a:t>
            </a:r>
            <a:r>
              <a:rPr lang="en-US" altLang="zh-CN" b="1" i="1" dirty="0">
                <a:solidFill>
                  <a:srgbClr val="F9FAFB"/>
                </a:solidFill>
                <a:effectLst/>
                <a:latin typeface="KaTeX_Math"/>
              </a:rPr>
              <a:t>p</a:t>
            </a:r>
            <a:r>
              <a:rPr lang="en-US" altLang="zh-CN" b="0" i="0" dirty="0">
                <a:solidFill>
                  <a:srgbClr val="F9FAFB"/>
                </a:solidFill>
                <a:effectLst/>
                <a:latin typeface="quote-cjk-patch"/>
              </a:rPr>
              <a:t> with its conjugate </a:t>
            </a:r>
            <a:r>
              <a:rPr lang="el-GR" altLang="zh-CN" b="0" i="1" dirty="0">
                <a:solidFill>
                  <a:srgbClr val="F9FAFB"/>
                </a:solidFill>
                <a:effectLst/>
                <a:latin typeface="KaTeX_Math"/>
              </a:rPr>
              <a:t>β</a:t>
            </a:r>
            <a:r>
              <a:rPr lang="en-US" altLang="zh-CN" b="1" i="1" dirty="0">
                <a:solidFill>
                  <a:srgbClr val="F9FAFB"/>
                </a:solidFill>
                <a:effectLst/>
                <a:latin typeface="KaTeX_Math"/>
              </a:rPr>
              <a:t>E</a:t>
            </a:r>
            <a:r>
              <a:rPr lang="en-US" altLang="zh-CN" b="0" i="0" dirty="0">
                <a:solidFill>
                  <a:srgbClr val="F9FAFB"/>
                </a:solidFill>
                <a:effectLst/>
                <a:latin typeface="quote-cjk-patch"/>
              </a:rPr>
              <a:t>, or magnetic moment </a:t>
            </a:r>
            <a:r>
              <a:rPr lang="el-GR" altLang="zh-CN" b="1" i="1" dirty="0">
                <a:solidFill>
                  <a:srgbClr val="F9FAFB"/>
                </a:solidFill>
                <a:effectLst/>
                <a:latin typeface="KaTeX_Math"/>
              </a:rPr>
              <a:t>μ</a:t>
            </a:r>
            <a:r>
              <a:rPr lang="el-GR" altLang="zh-CN" b="0" i="0" dirty="0">
                <a:solidFill>
                  <a:srgbClr val="F9FAFB"/>
                </a:solidFill>
                <a:effectLst/>
                <a:latin typeface="quote-cjk-patch"/>
              </a:rPr>
              <a:t> </a:t>
            </a:r>
            <a:r>
              <a:rPr lang="en-US" altLang="zh-CN" b="0" i="0" dirty="0">
                <a:solidFill>
                  <a:srgbClr val="F9FAFB"/>
                </a:solidFill>
                <a:effectLst/>
                <a:latin typeface="quote-cjk-patch"/>
              </a:rPr>
              <a:t>with conjugate </a:t>
            </a:r>
            <a:r>
              <a:rPr lang="el-GR" altLang="zh-CN" b="0" i="1" dirty="0">
                <a:solidFill>
                  <a:srgbClr val="F9FAFB"/>
                </a:solidFill>
                <a:effectLst/>
                <a:latin typeface="KaTeX_Math"/>
              </a:rPr>
              <a:t>β</a:t>
            </a:r>
            <a:r>
              <a:rPr lang="en-US" altLang="zh-CN" b="1" i="1" dirty="0">
                <a:solidFill>
                  <a:srgbClr val="F9FAFB"/>
                </a:solidFill>
                <a:effectLst/>
                <a:latin typeface="KaTeX_Math"/>
              </a:rPr>
              <a:t>H</a:t>
            </a:r>
            <a:r>
              <a:rPr lang="en-US" altLang="zh-CN" b="0" i="0" dirty="0">
                <a:solidFill>
                  <a:srgbClr val="F9FAFB"/>
                </a:solidFill>
                <a:effectLst/>
                <a:latin typeface="quote-cjk-patch"/>
              </a:rPr>
              <a:t>. The symbol </a:t>
            </a:r>
            <a:r>
              <a:rPr lang="el-GR" altLang="zh-CN" b="0" i="1" dirty="0">
                <a:solidFill>
                  <a:srgbClr val="F9FAFB"/>
                </a:solidFill>
                <a:effectLst/>
                <a:latin typeface="KaTeX_Math"/>
              </a:rPr>
              <a:t>β</a:t>
            </a:r>
            <a:r>
              <a:rPr lang="el-GR" altLang="zh-CN" b="0" i="0" dirty="0">
                <a:solidFill>
                  <a:srgbClr val="F9FAFB"/>
                </a:solidFill>
                <a:effectLst/>
                <a:latin typeface="quote-cjk-patch"/>
              </a:rPr>
              <a:t> </a:t>
            </a:r>
            <a:r>
              <a:rPr lang="en-US" altLang="zh-CN" b="0" i="0" dirty="0">
                <a:solidFill>
                  <a:srgbClr val="F9FAFB"/>
                </a:solidFill>
                <a:effectLst/>
                <a:latin typeface="quote-cjk-patch"/>
              </a:rPr>
              <a:t>is </a:t>
            </a:r>
            <a:r>
              <a:rPr lang="en-US" altLang="zh-CN" b="0" i="0" dirty="0">
                <a:solidFill>
                  <a:srgbClr val="F9FAFB"/>
                </a:solidFill>
                <a:effectLst/>
                <a:latin typeface="KaTeX_Main"/>
              </a:rPr>
              <a:t>1/(</a:t>
            </a:r>
            <a:r>
              <a:rPr lang="en-US" altLang="zh-CN" b="0" i="1" dirty="0">
                <a:solidFill>
                  <a:srgbClr val="F9FAFB"/>
                </a:solidFill>
                <a:effectLst/>
                <a:latin typeface="KaTeX_Math"/>
              </a:rPr>
              <a:t>kB</a:t>
            </a:r>
            <a:r>
              <a:rPr lang="en-US" altLang="zh-CN" b="0" i="0" dirty="0">
                <a:solidFill>
                  <a:srgbClr val="F9FAFB"/>
                </a:solidFill>
                <a:effectLst/>
                <a:latin typeface="KaTeX_Main"/>
              </a:rPr>
              <a:t>​</a:t>
            </a:r>
            <a:r>
              <a:rPr lang="en-US" altLang="zh-CN" b="0" i="1" dirty="0">
                <a:solidFill>
                  <a:srgbClr val="F9FAFB"/>
                </a:solidFill>
                <a:effectLst/>
                <a:latin typeface="KaTeX_Math"/>
              </a:rPr>
              <a:t>T</a:t>
            </a:r>
            <a:r>
              <a:rPr lang="en-US" altLang="zh-CN" b="0" i="0" dirty="0">
                <a:solidFill>
                  <a:srgbClr val="F9FAFB"/>
                </a:solidFill>
                <a:effectLst/>
                <a:latin typeface="KaTeX_Main"/>
              </a:rPr>
              <a:t>)</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The Legendre transform of the thermodynamic energy with respect to these quantities gives us new potentials suitable for studying ensembles under constant external fields. The resulting </a:t>
            </a:r>
            <a:r>
              <a:rPr lang="en-US" altLang="zh-CN" b="1" i="0" dirty="0">
                <a:solidFill>
                  <a:srgbClr val="F9FAFB"/>
                </a:solidFill>
                <a:effectLst/>
                <a:latin typeface="quote-cjk-patch"/>
              </a:rPr>
              <a:t>generalized Boltzmann distribution</a:t>
            </a:r>
            <a:r>
              <a:rPr lang="en-US" altLang="zh-CN" b="0" i="0" dirty="0">
                <a:solidFill>
                  <a:srgbClr val="F9FAFB"/>
                </a:solidFill>
                <a:effectLst/>
                <a:latin typeface="quote-cjk-patch"/>
              </a:rPr>
              <a:t> takes the form:</a:t>
            </a:r>
          </a:p>
          <a:p>
            <a:pPr algn="l"/>
            <a:r>
              <a:rPr lang="en-US" altLang="zh-CN" b="0" i="0" dirty="0">
                <a:solidFill>
                  <a:srgbClr val="F9FAFB"/>
                </a:solidFill>
                <a:effectLst/>
                <a:latin typeface="quote-cjk-patch"/>
              </a:rPr>
              <a:t>'</a:t>
            </a:r>
            <a:r>
              <a:rPr lang="en-US" altLang="zh-CN" b="1" i="0" dirty="0">
                <a:solidFill>
                  <a:srgbClr val="F9FAFB"/>
                </a:solidFill>
                <a:effectLst/>
                <a:latin typeface="quote-cjk-patch"/>
              </a:rPr>
              <a:t>Xi equals sum over nu of exp of minus beta E nu minus xi dot X nu</a:t>
            </a:r>
            <a:r>
              <a:rPr lang="en-US" altLang="zh-CN" b="0" i="0" dirty="0">
                <a:solidFill>
                  <a:srgbClr val="F9FAFB"/>
                </a:solidFill>
                <a:effectLst/>
                <a:latin typeface="quote-cjk-patch"/>
              </a:rPr>
              <a:t>’. </a:t>
            </a:r>
          </a:p>
          <a:p>
            <a:pPr algn="l"/>
            <a:r>
              <a:rPr lang="en-US" altLang="zh-CN" b="0" i="0" dirty="0">
                <a:solidFill>
                  <a:srgbClr val="F9FAFB"/>
                </a:solidFill>
                <a:effectLst/>
                <a:latin typeface="quote-cjk-patch"/>
              </a:rPr>
              <a:t>And the second: '</a:t>
            </a:r>
            <a:r>
              <a:rPr lang="en-US" altLang="zh-CN" b="1" i="0" dirty="0">
                <a:solidFill>
                  <a:srgbClr val="F9FAFB"/>
                </a:solidFill>
                <a:effectLst/>
                <a:latin typeface="quote-cjk-patch"/>
              </a:rPr>
              <a:t>P nu equals one over Xi times exp of minus beta E nu minus xi dot X nu</a:t>
            </a:r>
            <a:r>
              <a:rPr lang="en-US" altLang="zh-CN" b="0" i="0" dirty="0">
                <a:solidFill>
                  <a:srgbClr val="F9FAFB"/>
                </a:solidFill>
                <a:effectLst/>
                <a:latin typeface="quote-cjk-patch"/>
              </a:rPr>
              <a:t>'.</a:t>
            </a:r>
          </a:p>
          <a:p>
            <a:pPr algn="l"/>
            <a:r>
              <a:rPr lang="en-US" altLang="zh-CN" b="0" i="0" dirty="0">
                <a:solidFill>
                  <a:srgbClr val="F9FAFB"/>
                </a:solidFill>
                <a:effectLst/>
                <a:latin typeface="quote-cjk-patch"/>
              </a:rPr>
              <a:t>This powerful formulation shows that the Legendre transform is a universal tool for switching between different ensembles, always adapting the energy function to the constraints we wish to impose.</a:t>
            </a:r>
          </a:p>
          <a:p>
            <a:pPr algn="l"/>
            <a:r>
              <a:rPr lang="en-US" altLang="zh-CN" b="0" i="0" dirty="0">
                <a:solidFill>
                  <a:srgbClr val="F9FAFB"/>
                </a:solidFill>
                <a:effectLst/>
                <a:latin typeface="quote-cjk-patch"/>
              </a:rPr>
              <a:t>To summarize, the Legendre transform allows us to move seamlessly between the internal energy, enthalpy, Helmholtz free energy, Gibbs free energy, grand potential, and many other potentials – each perfectly suited for a particular experimental condition, yet all containing exactly the same thermodynamic information.</a:t>
            </a:r>
          </a:p>
          <a:p>
            <a:pPr algn="l"/>
            <a:r>
              <a:rPr lang="en-US" altLang="zh-CN" b="0" i="0" dirty="0">
                <a:solidFill>
                  <a:srgbClr val="F9FAFB"/>
                </a:solidFill>
                <a:effectLst/>
                <a:latin typeface="quote-cjk-patch"/>
              </a:rPr>
              <a:t>Thank you."</a:t>
            </a:r>
          </a:p>
          <a:p>
            <a:endParaRPr lang="zh-CN" altLang="en-US" dirty="0"/>
          </a:p>
        </p:txBody>
      </p:sp>
      <p:sp>
        <p:nvSpPr>
          <p:cNvPr id="4" name="灯片编号占位符 3"/>
          <p:cNvSpPr>
            <a:spLocks noGrp="1"/>
          </p:cNvSpPr>
          <p:nvPr>
            <p:ph type="sldNum" sz="quarter" idx="5"/>
          </p:nvPr>
        </p:nvSpPr>
        <p:spPr/>
        <p:txBody>
          <a:bodyPr/>
          <a:lstStyle/>
          <a:p>
            <a:fld id="{E1625C91-46EA-4907-81A6-2E753772B04D}" type="slidenum">
              <a:rPr lang="zh-CN" altLang="en-US" smtClean="0"/>
              <a:t>20</a:t>
            </a:fld>
            <a:endParaRPr lang="zh-CN" altLang="en-US"/>
          </a:p>
        </p:txBody>
      </p:sp>
    </p:spTree>
    <p:extLst>
      <p:ext uri="{BB962C8B-B14F-4D97-AF65-F5344CB8AC3E}">
        <p14:creationId xmlns:p14="http://schemas.microsoft.com/office/powerpoint/2010/main" val="85177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BA3898-9FB3-5E49-0272-0CB71019D4D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0DBDFA-756C-4D0F-8E69-2A8616FD81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AFFE089-72DF-CD03-426B-BF150D972DB6}"/>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06C63194-DD00-3A15-DEAE-CC117EF8CB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679635-37D5-FAC2-5EBE-9FC834010355}"/>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2637271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ECCFA8-B319-338E-7D48-669D041B3D6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6E5FF7-EA26-1C48-9CBD-0CD83CE194A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CF04128-A5A8-9413-5130-C9537F39760D}"/>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24943CB2-49BA-AE23-7C89-65B6F7C405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CB8FAA-48F3-6B96-A037-E9CCE87FD2DD}"/>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2846262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658F2-9DAD-6D9A-5290-3C6E30D262A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2292E19-4400-EAA9-CD3C-BF171D979E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815CCF8-5BA9-8926-E078-CA4705E1DC2F}"/>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AC33EFCE-F419-1E4F-8501-0FBDF81F93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DF6A1B-D03F-C161-6FD5-663D03C07C6D}"/>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256274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7E4A6F-9076-2812-31A2-F11D15A163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953E9D0-FB73-7413-C4F7-6977F48135E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43F41B2-6A43-0986-5AB7-98731874552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889C18E-0BEE-FFC0-EA24-AE4CCDC01F97}"/>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6" name="页脚占位符 5">
            <a:extLst>
              <a:ext uri="{FF2B5EF4-FFF2-40B4-BE49-F238E27FC236}">
                <a16:creationId xmlns:a16="http://schemas.microsoft.com/office/drawing/2014/main" id="{D8546110-CD36-4A04-F69D-D24718821A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3AF93D1-1B2A-7423-9AF7-C1C7C8062510}"/>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2821111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6C646-EDD4-2E31-28E6-1EE238573E4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519AE94-084F-3814-17ED-73EDCB4AAC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7D7C4C-A271-A31F-A23F-CB5602302C3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110AE81-7A81-6675-2A5E-255760F46A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33635CA-F2F5-57B7-5C08-7FE93D5EE8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6966C37-E7E2-05D9-F756-EB333526A80B}"/>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8" name="页脚占位符 7">
            <a:extLst>
              <a:ext uri="{FF2B5EF4-FFF2-40B4-BE49-F238E27FC236}">
                <a16:creationId xmlns:a16="http://schemas.microsoft.com/office/drawing/2014/main" id="{3EC1B398-0E9C-21D5-38F4-0314EE6687C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5E79353-908F-E0A2-8690-90F246CDAFB9}"/>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1199497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5FD13-A110-0CAD-843B-C3845AA8AB2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9F3B2F7-D627-076E-15F8-6A6BA0F0A4F4}"/>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4" name="页脚占位符 3">
            <a:extLst>
              <a:ext uri="{FF2B5EF4-FFF2-40B4-BE49-F238E27FC236}">
                <a16:creationId xmlns:a16="http://schemas.microsoft.com/office/drawing/2014/main" id="{4984472A-AC92-FE7F-0159-A2A40D4D53E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E314085-B6A9-0050-494A-9FF65BD0A361}"/>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3066416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1097F20-E359-798D-76C1-4516462D517C}"/>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3" name="页脚占位符 2">
            <a:extLst>
              <a:ext uri="{FF2B5EF4-FFF2-40B4-BE49-F238E27FC236}">
                <a16:creationId xmlns:a16="http://schemas.microsoft.com/office/drawing/2014/main" id="{E7E9BE62-25BB-DD6E-DCA3-D2DC8698BBF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F68B91-BD8F-3C7A-4DD4-1C3753E3F767}"/>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3904404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76314D-6CCB-4BBA-00BC-3FB909F13B4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59CECEA-47CC-B826-77EB-6353BFC84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B698A0-A2A6-C668-2944-31421A243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D16503-9FF2-B1F7-7C4E-AD54EAE13C57}"/>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6" name="页脚占位符 5">
            <a:extLst>
              <a:ext uri="{FF2B5EF4-FFF2-40B4-BE49-F238E27FC236}">
                <a16:creationId xmlns:a16="http://schemas.microsoft.com/office/drawing/2014/main" id="{B6AE9DF7-7694-DE51-415C-BAAE9B84382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C84BAE-19CE-B602-8173-7BF98941BFAC}"/>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1476948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8F703E-65E8-8237-2833-D71914B066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296D079-EE99-A5C3-A2E1-4553F721F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17CEE1C-ABB4-0B0F-EE08-CD4D2B5601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9321FA-9F75-FB86-4EF0-7BD47863D3DE}"/>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6" name="页脚占位符 5">
            <a:extLst>
              <a:ext uri="{FF2B5EF4-FFF2-40B4-BE49-F238E27FC236}">
                <a16:creationId xmlns:a16="http://schemas.microsoft.com/office/drawing/2014/main" id="{D03EBDF3-26FB-8A50-1BE2-AF358C3F8C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399171-6C7D-B243-C10E-2EB2C1B0E304}"/>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3926541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60B21-EB22-FD54-603E-93FA2E639A1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6665F50-EC08-025B-8734-AEDD02B8485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5E63C9-A562-8830-BD64-6699E28036F6}"/>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E9EC442D-232A-CDF6-3562-E9B78C1D63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1FF8FA-7CEC-6BC6-B3A6-7A86F7B7C250}"/>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2531905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136792F-F3D8-33DB-5D0D-0E1CC7876F8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1493DE-3CA5-FF7E-5ED7-6E394618E9B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B5631A-5B30-B79B-7C92-72F978DB3622}"/>
              </a:ext>
            </a:extLst>
          </p:cNvPr>
          <p:cNvSpPr>
            <a:spLocks noGrp="1"/>
          </p:cNvSpPr>
          <p:nvPr>
            <p:ph type="dt" sz="half" idx="10"/>
          </p:nvPr>
        </p:nvSpPr>
        <p:spPr/>
        <p:txBody>
          <a:body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A56AE3C8-D3D9-F121-BCBC-AB08BC5992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40AEF2-B9C0-65FE-F1D1-D54679486544}"/>
              </a:ext>
            </a:extLst>
          </p:cNvPr>
          <p:cNvSpPr>
            <a:spLocks noGrp="1"/>
          </p:cNvSpPr>
          <p:nvPr>
            <p:ph type="sldNum" sz="quarter" idx="12"/>
          </p:nvPr>
        </p:nvSpPr>
        <p:spPr/>
        <p:txBody>
          <a:body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716686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DC6675-119A-90CC-EB66-2D4CDDDC61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D19225-C4FD-F3BB-1971-267D74656E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AADCE7-436D-D29B-CFB6-5EC68439B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A5D678-8189-4AC4-8CE7-ABF23D8FC607}" type="datetimeFigureOut">
              <a:rPr lang="zh-CN" altLang="en-US" smtClean="0"/>
              <a:t>2026/3/20</a:t>
            </a:fld>
            <a:endParaRPr lang="zh-CN" altLang="en-US"/>
          </a:p>
        </p:txBody>
      </p:sp>
      <p:sp>
        <p:nvSpPr>
          <p:cNvPr id="5" name="页脚占位符 4">
            <a:extLst>
              <a:ext uri="{FF2B5EF4-FFF2-40B4-BE49-F238E27FC236}">
                <a16:creationId xmlns:a16="http://schemas.microsoft.com/office/drawing/2014/main" id="{58C4A7E4-A0CE-46E2-65C1-8D56AD8741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CCCEC20-821C-4FF1-CB5F-8DD0800F5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6BB21E-3E1D-4AB4-82EF-376490A1A9FF}" type="slidenum">
              <a:rPr lang="zh-CN" altLang="en-US" smtClean="0"/>
              <a:t>‹#›</a:t>
            </a:fld>
            <a:endParaRPr lang="zh-CN" altLang="en-US"/>
          </a:p>
        </p:txBody>
      </p:sp>
    </p:spTree>
    <p:extLst>
      <p:ext uri="{BB962C8B-B14F-4D97-AF65-F5344CB8AC3E}">
        <p14:creationId xmlns:p14="http://schemas.microsoft.com/office/powerpoint/2010/main" val="3980233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9ECF3-2D7D-6F0D-EE4F-D6535360A199}"/>
              </a:ext>
            </a:extLst>
          </p:cNvPr>
          <p:cNvSpPr>
            <a:spLocks noGrp="1"/>
          </p:cNvSpPr>
          <p:nvPr>
            <p:ph type="ctrTitle"/>
          </p:nvPr>
        </p:nvSpPr>
        <p:spPr/>
        <p:txBody>
          <a:bodyPr>
            <a:normAutofit/>
          </a:bodyPr>
          <a:lstStyle/>
          <a:p>
            <a:r>
              <a:rPr lang="en-US" altLang="zh-CN" sz="4800" b="1" dirty="0">
                <a:solidFill>
                  <a:srgbClr val="3C51B4"/>
                </a:solidFill>
                <a:latin typeface="Arial" panose="020B0604020202020204" pitchFamily="34" charset="0"/>
              </a:rPr>
              <a:t>Legendre transformation</a:t>
            </a:r>
            <a:endParaRPr lang="zh-CN" altLang="en-US" sz="4800" b="1" dirty="0">
              <a:solidFill>
                <a:srgbClr val="3C51B4"/>
              </a:solidFill>
              <a:latin typeface="Arial" panose="020B0604020202020204" pitchFamily="34" charset="0"/>
            </a:endParaRPr>
          </a:p>
        </p:txBody>
      </p:sp>
      <p:sp>
        <p:nvSpPr>
          <p:cNvPr id="3" name="副标题 2">
            <a:extLst>
              <a:ext uri="{FF2B5EF4-FFF2-40B4-BE49-F238E27FC236}">
                <a16:creationId xmlns:a16="http://schemas.microsoft.com/office/drawing/2014/main" id="{B98755F1-0443-B7AD-FFA7-779564EA618D}"/>
              </a:ext>
            </a:extLst>
          </p:cNvPr>
          <p:cNvSpPr>
            <a:spLocks noGrp="1"/>
          </p:cNvSpPr>
          <p:nvPr>
            <p:ph type="subTitle" idx="1"/>
          </p:nvPr>
        </p:nvSpPr>
        <p:spPr/>
        <p:txBody>
          <a:bodyPr/>
          <a:lstStyle/>
          <a:p>
            <a:r>
              <a:rPr lang="en-US" altLang="zh-CN" dirty="0">
                <a:latin typeface="Times New Roman" panose="02020603050405020304" pitchFamily="18" charset="0"/>
                <a:cs typeface="Times New Roman" panose="02020603050405020304" pitchFamily="18" charset="0"/>
              </a:rPr>
              <a:t>Part 1</a:t>
            </a:r>
          </a:p>
          <a:p>
            <a:endParaRPr lang="zh-CN" altLang="en-US" dirty="0"/>
          </a:p>
        </p:txBody>
      </p:sp>
    </p:spTree>
    <p:extLst>
      <p:ext uri="{BB962C8B-B14F-4D97-AF65-F5344CB8AC3E}">
        <p14:creationId xmlns:p14="http://schemas.microsoft.com/office/powerpoint/2010/main" val="1422095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E48E0-E65F-5648-FAF8-895B684DE1DB}"/>
              </a:ext>
            </a:extLst>
          </p:cNvPr>
          <p:cNvSpPr>
            <a:spLocks noGrp="1"/>
          </p:cNvSpPr>
          <p:nvPr>
            <p:ph type="title"/>
          </p:nvPr>
        </p:nvSpPr>
        <p:spPr>
          <a:xfrm>
            <a:off x="4619836" y="332656"/>
            <a:ext cx="2952328" cy="1325563"/>
          </a:xfrm>
        </p:spPr>
        <p:txBody>
          <a:bodyPr/>
          <a:lstStyle/>
          <a:p>
            <a:r>
              <a:rPr lang="en-US" altLang="zh-CN" dirty="0">
                <a:latin typeface="Times New Roman" panose="02020603050405020304" pitchFamily="18" charset="0"/>
                <a:cs typeface="Times New Roman" panose="02020603050405020304" pitchFamily="18" charset="0"/>
              </a:rPr>
              <a:t>Introduction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26807BD9-B177-8C17-083C-6289FE7726F4}"/>
              </a:ext>
            </a:extLst>
          </p:cNvPr>
          <p:cNvSpPr>
            <a:spLocks noGrp="1"/>
          </p:cNvSpPr>
          <p:nvPr>
            <p:ph idx="1"/>
          </p:nvPr>
        </p:nvSpPr>
        <p:spPr/>
        <p:txBody>
          <a:bodyPr/>
          <a:lstStyle/>
          <a:p>
            <a:pPr marL="0" indent="0">
              <a:buNone/>
            </a:pPr>
            <a:r>
              <a:rPr lang="en-US" altLang="zh-CN" b="0" i="0" u="none" strike="noStrike" dirty="0">
                <a:effectLst/>
                <a:latin typeface="Times New Roman" panose="02020603050405020304" pitchFamily="18" charset="0"/>
                <a:cs typeface="Times New Roman" panose="02020603050405020304" pitchFamily="18" charset="0"/>
              </a:rPr>
              <a:t>The Legendre transformation is a mathematical transformation from one set of independent variables to another.</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719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7637FA32-D78B-DD63-A084-F86087E07026}"/>
              </a:ext>
            </a:extLst>
          </p:cNvPr>
          <p:cNvPicPr>
            <a:picLocks noGrp="1" noChangeAspect="1"/>
          </p:cNvPicPr>
          <p:nvPr>
            <p:ph idx="1"/>
          </p:nvPr>
        </p:nvPicPr>
        <p:blipFill>
          <a:blip r:embed="rId2"/>
          <a:stretch>
            <a:fillRect/>
          </a:stretch>
        </p:blipFill>
        <p:spPr>
          <a:xfrm>
            <a:off x="335360" y="1196752"/>
            <a:ext cx="6026645" cy="3982011"/>
          </a:xfrm>
        </p:spPr>
      </p:pic>
      <p:sp>
        <p:nvSpPr>
          <p:cNvPr id="11" name="文本框 10">
            <a:extLst>
              <a:ext uri="{FF2B5EF4-FFF2-40B4-BE49-F238E27FC236}">
                <a16:creationId xmlns:a16="http://schemas.microsoft.com/office/drawing/2014/main" id="{541B8D3F-48D9-001F-8AB6-2A6454D3AD2A}"/>
              </a:ext>
            </a:extLst>
          </p:cNvPr>
          <p:cNvSpPr txBox="1"/>
          <p:nvPr/>
        </p:nvSpPr>
        <p:spPr>
          <a:xfrm>
            <a:off x="6744072" y="1700808"/>
            <a:ext cx="4536504" cy="1200329"/>
          </a:xfrm>
          <a:prstGeom prst="rect">
            <a:avLst/>
          </a:prstGeom>
          <a:noFill/>
        </p:spPr>
        <p:txBody>
          <a:bodyPr wrap="square" rtlCol="0">
            <a:spAutoFit/>
          </a:bodyPr>
          <a:lstStyle/>
          <a:p>
            <a:pPr algn="l"/>
            <a:r>
              <a:rPr lang="en-US" altLang="zh-CN" b="0" i="0" dirty="0">
                <a:solidFill>
                  <a:srgbClr val="0F1115"/>
                </a:solidFill>
                <a:effectLst/>
                <a:latin typeface="Times New Roman" panose="02020603050405020304" pitchFamily="18" charset="0"/>
                <a:cs typeface="Times New Roman" panose="02020603050405020304" pitchFamily="18" charset="0"/>
              </a:rPr>
              <a:t>Legendre transformation is a mathematical technique used to transform the independent variable of a function while retaining all the information of the function</a:t>
            </a:r>
            <a:endParaRPr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47884C6A-DBDC-9CF8-3E49-4F641281D44A}"/>
              </a:ext>
            </a:extLst>
          </p:cNvPr>
          <p:cNvSpPr txBox="1"/>
          <p:nvPr/>
        </p:nvSpPr>
        <p:spPr>
          <a:xfrm>
            <a:off x="6456040" y="3429000"/>
            <a:ext cx="5256584" cy="1477328"/>
          </a:xfrm>
          <a:prstGeom prst="rect">
            <a:avLst/>
          </a:prstGeom>
          <a:noFill/>
        </p:spPr>
        <p:txBody>
          <a:bodyPr wrap="square" rtlCol="0">
            <a:spAutoFit/>
          </a:bodyPr>
          <a:lstStyle/>
          <a:p>
            <a:r>
              <a:rPr lang="en-US" altLang="zh-CN" b="0" i="0" dirty="0">
                <a:solidFill>
                  <a:srgbClr val="0F1115"/>
                </a:solidFill>
                <a:effectLst/>
                <a:latin typeface="Times New Roman" panose="02020603050405020304" pitchFamily="18" charset="0"/>
                <a:cs typeface="Times New Roman" panose="02020603050405020304" pitchFamily="18" charset="0"/>
              </a:rPr>
              <a:t>For a curve, the Legendre transformation redescribes the curve using its tangents at various points. The original curve is composed of points (x, y), while the new description is composed of the slope and intercept of the tangent (u, c), which are equivalent.</a:t>
            </a:r>
            <a:endParaRPr lang="zh-CN" altLang="en-US"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492F4E70-D32F-A453-72A6-8D12AC8D136B}"/>
              </a:ext>
            </a:extLst>
          </p:cNvPr>
          <p:cNvSpPr txBox="1"/>
          <p:nvPr/>
        </p:nvSpPr>
        <p:spPr>
          <a:xfrm>
            <a:off x="2279576" y="5165654"/>
            <a:ext cx="2376264" cy="369332"/>
          </a:xfrm>
          <a:prstGeom prst="rect">
            <a:avLst/>
          </a:prstGeom>
          <a:noFill/>
        </p:spPr>
        <p:txBody>
          <a:bodyPr wrap="square" rtlCol="0">
            <a:spAutoFit/>
          </a:bodyPr>
          <a:lstStyle/>
          <a:p>
            <a:r>
              <a:rPr lang="zh-CN" altLang="en-US" dirty="0"/>
              <a:t>二阶导大于</a:t>
            </a:r>
            <a:r>
              <a:rPr lang="en-US" altLang="zh-CN" dirty="0"/>
              <a:t>0</a:t>
            </a:r>
            <a:r>
              <a:rPr lang="zh-CN" altLang="en-US" dirty="0"/>
              <a:t>的凸函数</a:t>
            </a:r>
          </a:p>
        </p:txBody>
      </p:sp>
    </p:spTree>
    <p:extLst>
      <p:ext uri="{BB962C8B-B14F-4D97-AF65-F5344CB8AC3E}">
        <p14:creationId xmlns:p14="http://schemas.microsoft.com/office/powerpoint/2010/main" val="2353387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69798-F1B7-F770-6975-6C4E22266A0E}"/>
              </a:ext>
            </a:extLst>
          </p:cNvPr>
          <p:cNvSpPr>
            <a:spLocks noGrp="1"/>
          </p:cNvSpPr>
          <p:nvPr>
            <p:ph type="title"/>
          </p:nvPr>
        </p:nvSpPr>
        <p:spPr/>
        <p:txBody>
          <a:bodyPr>
            <a:normAutofit fontScale="90000"/>
          </a:bodyPr>
          <a:lstStyle/>
          <a:p>
            <a:pPr algn="ctr"/>
            <a:r>
              <a:rPr lang="en-US" altLang="zh-CN" sz="4800" b="1" dirty="0">
                <a:solidFill>
                  <a:srgbClr val="3C51B4"/>
                </a:solidFill>
                <a:latin typeface="Arial" panose="020B0604020202020204" pitchFamily="34" charset="0"/>
              </a:rPr>
              <a:t>The role of Legendre transformation </a:t>
            </a:r>
            <a:br>
              <a:rPr lang="en-US" altLang="zh-CN" sz="4800" b="1" dirty="0">
                <a:solidFill>
                  <a:srgbClr val="3C51B4"/>
                </a:solidFill>
                <a:latin typeface="Arial" panose="020B0604020202020204" pitchFamily="34" charset="0"/>
              </a:rPr>
            </a:br>
            <a:r>
              <a:rPr lang="en-US" altLang="zh-CN" sz="4800" b="1" dirty="0">
                <a:solidFill>
                  <a:srgbClr val="3C51B4"/>
                </a:solidFill>
                <a:latin typeface="Arial" panose="020B0604020202020204" pitchFamily="34" charset="0"/>
              </a:rPr>
              <a:t>in thermodynamics</a:t>
            </a:r>
            <a:endParaRPr lang="zh-CN" altLang="en-US" sz="48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88F62D6-37C0-EA97-3983-FB73B337A328}"/>
                  </a:ext>
                </a:extLst>
              </p:cNvPr>
              <p:cNvSpPr>
                <a:spLocks noGrp="1"/>
              </p:cNvSpPr>
              <p:nvPr>
                <p:ph idx="1"/>
              </p:nvPr>
            </p:nvSpPr>
            <p:spPr/>
            <p:txBody>
              <a:bodyPr/>
              <a:lstStyle/>
              <a:p>
                <a:pPr algn="l"/>
                <a:r>
                  <a:rPr lang="en-US" altLang="zh-CN" sz="2400" b="1" i="0" dirty="0">
                    <a:solidFill>
                      <a:srgbClr val="0F1115"/>
                    </a:solidFill>
                    <a:effectLst/>
                    <a:latin typeface="Times New Roman" panose="02020603050405020304" pitchFamily="18" charset="0"/>
                    <a:cs typeface="Times New Roman" panose="02020603050405020304" pitchFamily="18" charset="0"/>
                  </a:rPr>
                  <a:t>Switching natural variables: </a:t>
                </a:r>
              </a:p>
              <a:p>
                <a:pPr marL="0" indent="0" algn="l">
                  <a:buNone/>
                </a:pPr>
                <a:r>
                  <a:rPr lang="en-US" altLang="zh-CN" sz="2400" i="0" dirty="0">
                    <a:solidFill>
                      <a:srgbClr val="0F1115"/>
                    </a:solidFill>
                    <a:effectLst/>
                    <a:latin typeface="Times New Roman" panose="02020603050405020304" pitchFamily="18" charset="0"/>
                    <a:cs typeface="Times New Roman" panose="02020603050405020304" pitchFamily="18" charset="0"/>
                  </a:rPr>
                  <a:t>Changing the independent variables of thermodynamic potentials from difficult-to-measure extensive quantities (such as entropy </a:t>
                </a:r>
                <a14:m>
                  <m:oMath xmlns:m="http://schemas.openxmlformats.org/officeDocument/2006/math">
                    <m:r>
                      <a:rPr lang="en-US" altLang="zh-CN" sz="2400" i="1" dirty="0" smtClean="0">
                        <a:solidFill>
                          <a:srgbClr val="3C51B4"/>
                        </a:solidFill>
                        <a:latin typeface="Cambria Math" panose="02040503050406030204" pitchFamily="18" charset="0"/>
                      </a:rPr>
                      <m:t>𝑆</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and volume </a:t>
                </a:r>
                <a14:m>
                  <m:oMath xmlns:m="http://schemas.openxmlformats.org/officeDocument/2006/math">
                    <m:r>
                      <a:rPr lang="en-US" altLang="zh-CN" sz="2400" i="1" dirty="0" smtClean="0">
                        <a:solidFill>
                          <a:srgbClr val="3C51B4"/>
                        </a:solidFill>
                        <a:effectLst/>
                        <a:latin typeface="Cambria Math" panose="02040503050406030204" pitchFamily="18" charset="0"/>
                        <a:cs typeface="Times New Roman" panose="02020603050405020304" pitchFamily="18" charset="0"/>
                      </a:rPr>
                      <m:t>𝑉</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to easily controllable intensive quantities (such as temperature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𝑇</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and pressure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𝑝</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thereby matching different experimental conditions (such as constant temperature or constant pressure).</a:t>
                </a:r>
                <a:endParaRPr lang="en-US" altLang="zh-CN" sz="2400" dirty="0">
                  <a:solidFill>
                    <a:srgbClr val="0F1115"/>
                  </a:solidFill>
                  <a:latin typeface="Times New Roman" panose="02020603050405020304" pitchFamily="18" charset="0"/>
                  <a:cs typeface="Times New Roman" panose="02020603050405020304" pitchFamily="18" charset="0"/>
                </a:endParaRPr>
              </a:p>
              <a:p>
                <a:pPr algn="l"/>
                <a:endParaRPr lang="zh-CN" altLang="en-US" b="0" i="0" dirty="0">
                  <a:solidFill>
                    <a:srgbClr val="0F1115"/>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altLang="zh-CN" sz="2400" b="1" i="0" dirty="0">
                    <a:solidFill>
                      <a:srgbClr val="0F1115"/>
                    </a:solidFill>
                    <a:effectLst/>
                    <a:latin typeface="Times New Roman" panose="02020603050405020304" pitchFamily="18" charset="0"/>
                    <a:cs typeface="Times New Roman" panose="02020603050405020304" pitchFamily="18" charset="0"/>
                  </a:rPr>
                  <a:t>Generate a new potential function: </a:t>
                </a:r>
              </a:p>
              <a:p>
                <a:pPr marL="0" indent="0" algn="l">
                  <a:buNone/>
                </a:pPr>
                <a:r>
                  <a:rPr lang="en-US" altLang="zh-CN" sz="2400" i="0" dirty="0">
                    <a:solidFill>
                      <a:srgbClr val="0F1115"/>
                    </a:solidFill>
                    <a:effectLst/>
                    <a:latin typeface="Times New Roman" panose="02020603050405020304" pitchFamily="18" charset="0"/>
                    <a:cs typeface="Times New Roman" panose="02020603050405020304" pitchFamily="18" charset="0"/>
                  </a:rPr>
                  <a:t>Starting from the internal energy, the enthalpy, Helmholtz free energy, and Gibbs free energy are obtained in turn through Legendre transformation.</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E88F62D6-37C0-EA97-3983-FB73B337A328}"/>
                  </a:ext>
                </a:extLst>
              </p:cNvPr>
              <p:cNvSpPr>
                <a:spLocks noGrp="1" noRot="1" noChangeAspect="1" noMove="1" noResize="1" noEditPoints="1" noAdjustHandles="1" noChangeArrowheads="1" noChangeShapeType="1" noTextEdit="1"/>
              </p:cNvSpPr>
              <p:nvPr>
                <p:ph idx="1"/>
              </p:nvPr>
            </p:nvSpPr>
            <p:spPr>
              <a:blipFill>
                <a:blip r:embed="rId2"/>
                <a:stretch>
                  <a:fillRect l="-928" t="-1961" r="-15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36523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2EFCC0-9E03-016A-5846-39C23AB70510}"/>
              </a:ext>
            </a:extLst>
          </p:cNvPr>
          <p:cNvSpPr>
            <a:spLocks noGrp="1"/>
          </p:cNvSpPr>
          <p:nvPr>
            <p:ph type="title"/>
          </p:nvPr>
        </p:nvSpPr>
        <p:spPr/>
        <p:txBody>
          <a:bodyPr/>
          <a:lstStyle/>
          <a:p>
            <a:r>
              <a:rPr lang="en-US" altLang="zh-CN" sz="4300" b="1" dirty="0">
                <a:solidFill>
                  <a:srgbClr val="3C51B4"/>
                </a:solidFill>
                <a:latin typeface="Arial" panose="020B0604020202020204" pitchFamily="34" charset="0"/>
              </a:rPr>
              <a:t>conjugate variables</a:t>
            </a:r>
            <a:endParaRPr lang="zh-CN" altLang="en-US" sz="43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DB8AF1-5195-DAF5-8BF8-392EC0060ABD}"/>
                  </a:ext>
                </a:extLst>
              </p:cNvPr>
              <p:cNvSpPr>
                <a:spLocks noGrp="1"/>
              </p:cNvSpPr>
              <p:nvPr>
                <p:ph idx="1"/>
              </p:nvPr>
            </p:nvSpPr>
            <p:spPr/>
            <p:txBody>
              <a:bodyPr>
                <a:normAutofit/>
              </a:bodyPr>
              <a:lstStyle/>
              <a:p>
                <a:pPr algn="l">
                  <a:buFont typeface="+mj-lt"/>
                  <a:buAutoNum type="arabicPeriod"/>
                </a:pPr>
                <a:r>
                  <a:rPr lang="en-US" altLang="zh-CN" sz="2400" i="0" dirty="0">
                    <a:solidFill>
                      <a:srgbClr val="0F1115"/>
                    </a:solidFill>
                    <a:effectLst/>
                    <a:latin typeface="Times New Roman" panose="02020603050405020304" pitchFamily="18" charset="0"/>
                    <a:cs typeface="Times New Roman" panose="02020603050405020304" pitchFamily="18" charset="0"/>
                  </a:rPr>
                  <a:t>The product has the dimension of energy:</a:t>
                </a:r>
              </a:p>
              <a:p>
                <a:pPr marL="0" indent="0" algn="l">
                  <a:buNone/>
                </a:pPr>
                <a:r>
                  <a:rPr lang="en-US" altLang="zh-CN" sz="2400" i="0" dirty="0">
                    <a:solidFill>
                      <a:srgbClr val="0F1115"/>
                    </a:solidFill>
                    <a:effectLst/>
                    <a:latin typeface="Times New Roman" panose="02020603050405020304" pitchFamily="18" charset="0"/>
                    <a:cs typeface="Times New Roman" panose="02020603050405020304" pitchFamily="18" charset="0"/>
                  </a:rPr>
                  <a:t>for example, the units of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𝑇</m:t>
                    </m:r>
                    <m:r>
                      <a:rPr lang="en-US" altLang="zh-CN" sz="2400" i="1" dirty="0" smtClean="0">
                        <a:solidFill>
                          <a:srgbClr val="3C51B4"/>
                        </a:solidFill>
                        <a:latin typeface="Cambria Math" panose="02040503050406030204" pitchFamily="18" charset="0"/>
                        <a:cs typeface="Times New Roman" panose="02020603050405020304" pitchFamily="18" charset="0"/>
                      </a:rPr>
                      <m:t>⋅</m:t>
                    </m:r>
                    <m:r>
                      <a:rPr lang="en-US" altLang="zh-CN" sz="2400" i="1" dirty="0" smtClean="0">
                        <a:solidFill>
                          <a:srgbClr val="3C51B4"/>
                        </a:solidFill>
                        <a:latin typeface="Cambria Math" panose="02040503050406030204" pitchFamily="18" charset="0"/>
                        <a:cs typeface="Times New Roman" panose="02020603050405020304" pitchFamily="18" charset="0"/>
                      </a:rPr>
                      <m:t>𝑆</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𝑃</m:t>
                    </m:r>
                    <m:r>
                      <a:rPr lang="en-US" altLang="zh-CN" sz="2400" i="1" dirty="0" smtClean="0">
                        <a:solidFill>
                          <a:srgbClr val="3C51B4"/>
                        </a:solidFill>
                        <a:latin typeface="Cambria Math" panose="02040503050406030204" pitchFamily="18" charset="0"/>
                        <a:cs typeface="Times New Roman" panose="02020603050405020304" pitchFamily="18" charset="0"/>
                      </a:rPr>
                      <m:t>⋅</m:t>
                    </m:r>
                    <m:r>
                      <a:rPr lang="en-US" altLang="zh-CN" sz="2400" i="1" dirty="0" smtClean="0">
                        <a:solidFill>
                          <a:srgbClr val="3C51B4"/>
                        </a:solidFill>
                        <a:latin typeface="Cambria Math" panose="02040503050406030204" pitchFamily="18" charset="0"/>
                        <a:cs typeface="Times New Roman" panose="02020603050405020304" pitchFamily="18" charset="0"/>
                      </a:rPr>
                      <m:t>𝑉</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and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𝜇</m:t>
                    </m:r>
                    <m:r>
                      <a:rPr lang="en-US" altLang="zh-CN" sz="2400" i="1" dirty="0" smtClean="0">
                        <a:solidFill>
                          <a:srgbClr val="3C51B4"/>
                        </a:solidFill>
                        <a:latin typeface="Cambria Math" panose="02040503050406030204" pitchFamily="18" charset="0"/>
                        <a:cs typeface="Times New Roman" panose="02020603050405020304" pitchFamily="18" charset="0"/>
                      </a:rPr>
                      <m:t>⋅</m:t>
                    </m:r>
                    <m:r>
                      <a:rPr lang="en-US" altLang="zh-CN" sz="2400" i="1" dirty="0" smtClean="0">
                        <a:solidFill>
                          <a:srgbClr val="3C51B4"/>
                        </a:solidFill>
                        <a:latin typeface="Cambria Math" panose="02040503050406030204" pitchFamily="18" charset="0"/>
                        <a:cs typeface="Times New Roman" panose="02020603050405020304" pitchFamily="18" charset="0"/>
                      </a:rPr>
                      <m:t>𝑁</m:t>
                    </m:r>
                  </m:oMath>
                </a14:m>
                <a:r>
                  <a:rPr lang="en-US" altLang="zh-CN" sz="2400" i="0" dirty="0">
                    <a:solidFill>
                      <a:srgbClr val="0F1115"/>
                    </a:solidFill>
                    <a:effectLst/>
                    <a:latin typeface="Times New Roman" panose="02020603050405020304" pitchFamily="18" charset="0"/>
                    <a:cs typeface="Times New Roman" panose="02020603050405020304" pitchFamily="18" charset="0"/>
                  </a:rPr>
                  <a:t> are all energy.</a:t>
                </a:r>
                <a:endParaRPr lang="zh-CN" altLang="en-US" sz="2400" i="0" dirty="0">
                  <a:solidFill>
                    <a:srgbClr val="0F1115"/>
                  </a:solidFill>
                  <a:effectLst/>
                  <a:latin typeface="Times New Roman" panose="02020603050405020304" pitchFamily="18" charset="0"/>
                  <a:cs typeface="Times New Roman" panose="02020603050405020304" pitchFamily="18" charset="0"/>
                </a:endParaRPr>
              </a:p>
              <a:p>
                <a:pPr marL="0" indent="0" algn="l">
                  <a:buNone/>
                </a:pPr>
                <a:endParaRPr lang="en-US" altLang="zh-CN" sz="2400" b="1" i="0" dirty="0">
                  <a:solidFill>
                    <a:srgbClr val="0F1115"/>
                  </a:solidFill>
                  <a:effectLst/>
                  <a:latin typeface="Times New Roman" panose="02020603050405020304" pitchFamily="18" charset="0"/>
                  <a:cs typeface="Times New Roman" panose="02020603050405020304" pitchFamily="18" charset="0"/>
                </a:endParaRPr>
              </a:p>
              <a:p>
                <a:pPr marL="0" indent="0" algn="l">
                  <a:buNone/>
                </a:pPr>
                <a:r>
                  <a:rPr lang="en-US" altLang="zh-CN" sz="2400" i="0" dirty="0">
                    <a:solidFill>
                      <a:srgbClr val="0F1115"/>
                    </a:solidFill>
                    <a:effectLst/>
                    <a:latin typeface="Times New Roman" panose="02020603050405020304" pitchFamily="18" charset="0"/>
                    <a:cs typeface="Times New Roman" panose="02020603050405020304" pitchFamily="18" charset="0"/>
                  </a:rPr>
                  <a:t>2. Mutual partial derivative relationship:</a:t>
                </a:r>
              </a:p>
              <a:p>
                <a:pPr marL="0" indent="0" algn="l">
                  <a:buNone/>
                </a:pPr>
                <a:r>
                  <a:rPr lang="en-US" altLang="zh-CN" sz="2400" i="0" dirty="0">
                    <a:solidFill>
                      <a:srgbClr val="0F1115"/>
                    </a:solidFill>
                    <a:effectLst/>
                    <a:latin typeface="Times New Roman" panose="02020603050405020304" pitchFamily="18" charset="0"/>
                    <a:cs typeface="Times New Roman" panose="02020603050405020304" pitchFamily="18" charset="0"/>
                  </a:rPr>
                  <a:t> One of the quantities can be expressed as the partial derivative of a certain thermodynamic potential with respect to another quantity.</a:t>
                </a: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e.g. The total differential of internal energy </a:t>
                </a:r>
                <a14:m>
                  <m:oMath xmlns:m="http://schemas.openxmlformats.org/officeDocument/2006/math">
                    <m:r>
                      <a:rPr lang="en-US" altLang="zh-CN" sz="2400" i="1" dirty="0" smtClean="0">
                        <a:solidFill>
                          <a:srgbClr val="3C51B4"/>
                        </a:solidFill>
                        <a:latin typeface="Cambria Math" panose="02040503050406030204" pitchFamily="18" charset="0"/>
                        <a:cs typeface="Times New Roman" panose="02020603050405020304" pitchFamily="18" charset="0"/>
                      </a:rPr>
                      <m:t>𝑈</m:t>
                    </m:r>
                  </m:oMath>
                </a14:m>
                <a:r>
                  <a:rPr lang="en-US" altLang="zh-CN" sz="2400" dirty="0">
                    <a:latin typeface="Times New Roman" panose="02020603050405020304" pitchFamily="18" charset="0"/>
                    <a:cs typeface="Times New Roman" panose="02020603050405020304" pitchFamily="18" charset="0"/>
                  </a:rPr>
                  <a:t> and its conjugate variables</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内容占位符 2">
                <a:extLst>
                  <a:ext uri="{FF2B5EF4-FFF2-40B4-BE49-F238E27FC236}">
                    <a16:creationId xmlns:a16="http://schemas.microsoft.com/office/drawing/2014/main" id="{63DB8AF1-5195-DAF5-8BF8-392EC0060ABD}"/>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3958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2A6D5-B2F1-7694-6B88-5B48252EBCDA}"/>
              </a:ext>
            </a:extLst>
          </p:cNvPr>
          <p:cNvSpPr>
            <a:spLocks noGrp="1"/>
          </p:cNvSpPr>
          <p:nvPr>
            <p:ph type="title"/>
          </p:nvPr>
        </p:nvSpPr>
        <p:spPr/>
        <p:txBody>
          <a:bodyPr/>
          <a:lstStyle/>
          <a:p>
            <a:r>
              <a:rPr lang="en-US" altLang="zh-CN" sz="4300" b="1" dirty="0">
                <a:solidFill>
                  <a:srgbClr val="3C51B4"/>
                </a:solidFill>
                <a:latin typeface="Arial" panose="020B0604020202020204" pitchFamily="34" charset="0"/>
              </a:rPr>
              <a:t>Why is it called conjugate</a:t>
            </a:r>
            <a:endParaRPr lang="zh-CN" altLang="en-US" sz="4300" b="1" dirty="0">
              <a:solidFill>
                <a:srgbClr val="3C51B4"/>
              </a:solidFill>
              <a:latin typeface="Arial" panose="020B0604020202020204" pitchFamily="34" charset="0"/>
            </a:endParaRPr>
          </a:p>
        </p:txBody>
      </p:sp>
      <p:sp>
        <p:nvSpPr>
          <p:cNvPr id="3" name="内容占位符 2">
            <a:extLst>
              <a:ext uri="{FF2B5EF4-FFF2-40B4-BE49-F238E27FC236}">
                <a16:creationId xmlns:a16="http://schemas.microsoft.com/office/drawing/2014/main" id="{B1801C9A-9358-C9C5-D543-8079B36D8BE6}"/>
              </a:ext>
            </a:extLst>
          </p:cNvPr>
          <p:cNvSpPr>
            <a:spLocks noGrp="1"/>
          </p:cNvSpPr>
          <p:nvPr>
            <p:ph idx="1"/>
          </p:nvPr>
        </p:nvSpPr>
        <p:spPr/>
        <p:txBody>
          <a:bodyPr/>
          <a:lstStyle/>
          <a:p>
            <a:pPr marL="0" indent="0">
              <a:buNone/>
            </a:pPr>
            <a:r>
              <a:rPr lang="en-US" altLang="zh-CN" b="0" i="0" dirty="0">
                <a:solidFill>
                  <a:srgbClr val="333333"/>
                </a:solidFill>
                <a:effectLst/>
                <a:latin typeface="Times New Roman" panose="02020603050405020304" pitchFamily="18" charset="0"/>
                <a:cs typeface="Times New Roman" panose="02020603050405020304" pitchFamily="18" charset="0"/>
              </a:rPr>
              <a:t>The frame on the backs of two oxen is called a yoke(</a:t>
            </a:r>
            <a:r>
              <a:rPr lang="zh-CN" altLang="en-US" b="0" i="0" dirty="0">
                <a:solidFill>
                  <a:srgbClr val="333333"/>
                </a:solidFill>
                <a:effectLst/>
                <a:latin typeface="Times New Roman" panose="02020603050405020304" pitchFamily="18" charset="0"/>
                <a:cs typeface="Times New Roman" panose="02020603050405020304" pitchFamily="18" charset="0"/>
              </a:rPr>
              <a:t>轭</a:t>
            </a:r>
            <a:r>
              <a:rPr lang="en-US" altLang="zh-CN" b="0" i="0" dirty="0">
                <a:solidFill>
                  <a:srgbClr val="333333"/>
                </a:solidFill>
                <a:effectLst/>
                <a:latin typeface="Times New Roman" panose="02020603050405020304" pitchFamily="18" charset="0"/>
                <a:cs typeface="Times New Roman" panose="02020603050405020304" pitchFamily="18" charset="0"/>
              </a:rPr>
              <a:t>), which enables the two oxen to walk synchronously. Conjugation refers to a pair that matches according to a certain pattern</a:t>
            </a:r>
          </a:p>
          <a:p>
            <a:pPr marL="0" indent="0">
              <a:buNone/>
            </a:pPr>
            <a:endParaRPr lang="en-US" altLang="zh-CN" dirty="0">
              <a:solidFill>
                <a:srgbClr val="333333"/>
              </a:solidFill>
              <a:latin typeface="Times New Roman" panose="02020603050405020304" pitchFamily="18" charset="0"/>
              <a:cs typeface="Times New Roman" panose="02020603050405020304" pitchFamily="18" charset="0"/>
            </a:endParaRPr>
          </a:p>
          <a:p>
            <a:pPr marL="0" indent="0">
              <a:buNone/>
            </a:pPr>
            <a:endParaRPr lang="en-US" altLang="zh-CN" b="0" i="0" dirty="0">
              <a:solidFill>
                <a:srgbClr val="333333"/>
              </a:solidFill>
              <a:effectLst/>
              <a:latin typeface="Times New Roman" panose="02020603050405020304" pitchFamily="18" charset="0"/>
              <a:cs typeface="Times New Roman" panose="02020603050405020304" pitchFamily="18" charset="0"/>
            </a:endParaRPr>
          </a:p>
          <a:p>
            <a:pPr marL="0" indent="0">
              <a:buNone/>
            </a:pPr>
            <a:r>
              <a:rPr lang="en-US" altLang="zh-CN" b="0" i="0" dirty="0">
                <a:solidFill>
                  <a:srgbClr val="333333"/>
                </a:solidFill>
                <a:effectLst/>
                <a:latin typeface="Times New Roman" panose="02020603050405020304" pitchFamily="18" charset="0"/>
                <a:cs typeface="Times New Roman" panose="02020603050405020304" pitchFamily="18" charset="0"/>
              </a:rPr>
              <a:t>Appear in pairs, mutually defining each other</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12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29C96-688F-302A-AA2B-0EC651E39CAD}"/>
              </a:ext>
            </a:extLst>
          </p:cNvPr>
          <p:cNvSpPr>
            <a:spLocks noGrp="1"/>
          </p:cNvSpPr>
          <p:nvPr>
            <p:ph type="ctrTitle"/>
          </p:nvPr>
        </p:nvSpPr>
        <p:spPr/>
        <p:txBody>
          <a:bodyPr>
            <a:normAutofit/>
          </a:bodyPr>
          <a:lstStyle/>
          <a:p>
            <a:r>
              <a:rPr lang="zh-CN" altLang="en-US" dirty="0"/>
              <a:t> </a:t>
            </a:r>
            <a:r>
              <a:rPr lang="en-US" altLang="zh-CN" sz="4300" b="1" dirty="0">
                <a:solidFill>
                  <a:srgbClr val="3C51B4"/>
                </a:solidFill>
                <a:latin typeface="Arial" panose="020B0604020202020204" pitchFamily="34" charset="0"/>
              </a:rPr>
              <a:t>Legendre Transform</a:t>
            </a:r>
            <a:endParaRPr lang="zh-CN" altLang="en-US" sz="4300" b="1" dirty="0">
              <a:solidFill>
                <a:srgbClr val="3C51B4"/>
              </a:solidFill>
              <a:latin typeface="Arial" panose="020B0604020202020204" pitchFamily="34" charset="0"/>
            </a:endParaRPr>
          </a:p>
        </p:txBody>
      </p:sp>
      <p:sp>
        <p:nvSpPr>
          <p:cNvPr id="3" name="副标题 2">
            <a:extLst>
              <a:ext uri="{FF2B5EF4-FFF2-40B4-BE49-F238E27FC236}">
                <a16:creationId xmlns:a16="http://schemas.microsoft.com/office/drawing/2014/main" id="{56AA6D20-3105-1D45-6C27-3E0A8C98BEAB}"/>
              </a:ext>
            </a:extLst>
          </p:cNvPr>
          <p:cNvSpPr>
            <a:spLocks noGrp="1"/>
          </p:cNvSpPr>
          <p:nvPr>
            <p:ph type="subTitle" idx="1"/>
          </p:nvPr>
        </p:nvSpPr>
        <p:spPr/>
        <p:txBody>
          <a:bodyPr/>
          <a:lstStyle/>
          <a:p>
            <a:r>
              <a:rPr lang="en-US" altLang="zh-CN" dirty="0"/>
              <a:t>Part 2</a:t>
            </a:r>
            <a:endParaRPr lang="zh-CN" altLang="en-US" dirty="0"/>
          </a:p>
        </p:txBody>
      </p:sp>
    </p:spTree>
    <p:extLst>
      <p:ext uri="{BB962C8B-B14F-4D97-AF65-F5344CB8AC3E}">
        <p14:creationId xmlns:p14="http://schemas.microsoft.com/office/powerpoint/2010/main" val="353573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515A3E-6986-ECBF-8376-06996A97B5F6}"/>
              </a:ext>
            </a:extLst>
          </p:cNvPr>
          <p:cNvSpPr>
            <a:spLocks noGrp="1"/>
          </p:cNvSpPr>
          <p:nvPr>
            <p:ph type="title"/>
          </p:nvPr>
        </p:nvSpPr>
        <p:spPr/>
        <p:txBody>
          <a:bodyPr>
            <a:normAutofit/>
          </a:bodyPr>
          <a:lstStyle/>
          <a:p>
            <a:r>
              <a:rPr lang="en-US" altLang="zh-CN" sz="4300" b="1" dirty="0">
                <a:solidFill>
                  <a:srgbClr val="3C51B4"/>
                </a:solidFill>
                <a:latin typeface="Arial" panose="020B0604020202020204" pitchFamily="34" charset="0"/>
              </a:rPr>
              <a:t>Mathematical Definition</a:t>
            </a:r>
            <a:endParaRPr lang="zh-CN" altLang="en-US" sz="43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0DF2FE4-67B8-3006-496D-F98311C922DF}"/>
                  </a:ext>
                </a:extLst>
              </p:cNvPr>
              <p:cNvSpPr>
                <a:spLocks noGrp="1"/>
              </p:cNvSpPr>
              <p:nvPr>
                <p:ph idx="1"/>
              </p:nvPr>
            </p:nvSpPr>
            <p:spPr/>
            <p:txBody>
              <a:bodyPr>
                <a:normAutofit/>
              </a:bodyPr>
              <a:lstStyle/>
              <a:p>
                <a:r>
                  <a:rPr lang="en-US" altLang="zh-CN" sz="2400" dirty="0">
                    <a:latin typeface="Cambria Math" panose="02040503050406030204" pitchFamily="18" charset="0"/>
                  </a:rPr>
                  <a:t>Standard Definition:</a:t>
                </a:r>
                <a:br>
                  <a:rPr lang="en-US" altLang="zh-CN" sz="2400" dirty="0">
                    <a:latin typeface="Cambria Math" panose="02040503050406030204" pitchFamily="18" charset="0"/>
                  </a:rPr>
                </a:br>
                <a:r>
                  <a:rPr lang="en-US" altLang="zh-CN" sz="2400" dirty="0">
                    <a:latin typeface="Cambria Math" panose="02040503050406030204" pitchFamily="18" charset="0"/>
                  </a:rPr>
                  <a:t>For a convex (or concave) differentiable function </a:t>
                </a:r>
                <a14:m>
                  <m:oMath xmlns:m="http://schemas.openxmlformats.org/officeDocument/2006/math">
                    <m:r>
                      <a:rPr lang="zh-CN" altLang="en-US" sz="2400" smtClean="0">
                        <a:solidFill>
                          <a:srgbClr val="3C51B4"/>
                        </a:solidFill>
                        <a:latin typeface="Cambria Math" panose="02040503050406030204" pitchFamily="18" charset="0"/>
                      </a:rPr>
                      <m:t>𝑓</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𝑥</m:t>
                        </m:r>
                      </m:e>
                    </m:d>
                  </m:oMath>
                </a14:m>
                <a:r>
                  <a:rPr lang="ar-AE" altLang="zh-CN" sz="2400" dirty="0">
                    <a:latin typeface="Cambria Math" panose="02040503050406030204" pitchFamily="18" charset="0"/>
                  </a:rPr>
                  <a:t>, </a:t>
                </a:r>
                <a:r>
                  <a:rPr lang="en-US" altLang="zh-CN" sz="2400" dirty="0">
                    <a:latin typeface="Cambria Math" panose="02040503050406030204" pitchFamily="18" charset="0"/>
                  </a:rPr>
                  <a:t>its Legendre transform </a:t>
                </a:r>
                <a14:m>
                  <m:oMath xmlns:m="http://schemas.openxmlformats.org/officeDocument/2006/math">
                    <m:r>
                      <a:rPr lang="zh-CN" altLang="en-US" sz="2400" smtClean="0">
                        <a:solidFill>
                          <a:srgbClr val="3C51B4"/>
                        </a:solidFill>
                        <a:latin typeface="Cambria Math" panose="02040503050406030204" pitchFamily="18" charset="0"/>
                      </a:rPr>
                      <m:t>𝑔</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oMath>
                </a14:m>
                <a:r>
                  <a:rPr lang="ar-AE" altLang="zh-CN" sz="2400" dirty="0">
                    <a:latin typeface="Cambria Math" panose="02040503050406030204" pitchFamily="18" charset="0"/>
                  </a:rPr>
                  <a:t> </a:t>
                </a:r>
                <a:r>
                  <a:rPr lang="en-US" altLang="zh-CN" sz="2400" dirty="0">
                    <a:latin typeface="Cambria Math" panose="02040503050406030204" pitchFamily="18" charset="0"/>
                  </a:rPr>
                  <a:t>is defined as:</a:t>
                </a:r>
              </a:p>
              <a:p>
                <a:pPr marL="0" indent="0">
                  <a:buNone/>
                </a:pPr>
                <a:endParaRPr lang="en-US" altLang="zh-CN"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sz="2400" smtClean="0">
                          <a:solidFill>
                            <a:srgbClr val="3C51B4"/>
                          </a:solidFill>
                          <a:latin typeface="Cambria Math" panose="02040503050406030204" pitchFamily="18" charset="0"/>
                        </a:rPr>
                        <m:t>𝑔</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rPr>
                        <m:t>=</m:t>
                      </m:r>
                      <m:limLow>
                        <m:limLowPr>
                          <m:ctrlPr>
                            <a:rPr lang="ar-AE" altLang="zh-CN" sz="2400">
                              <a:solidFill>
                                <a:srgbClr val="3C51B4"/>
                              </a:solidFill>
                              <a:latin typeface="Cambria Math" panose="02040503050406030204" pitchFamily="18" charset="0"/>
                            </a:rPr>
                          </m:ctrlPr>
                        </m:limLowPr>
                        <m:e>
                          <m:r>
                            <m:rPr>
                              <m:sty m:val="p"/>
                            </m:rPr>
                            <a:rPr lang="en-US" altLang="zh-CN" sz="2400">
                              <a:solidFill>
                                <a:srgbClr val="3C51B4"/>
                              </a:solidFill>
                              <a:latin typeface="Cambria Math" panose="02040503050406030204" pitchFamily="18" charset="0"/>
                            </a:rPr>
                            <m:t>max</m:t>
                          </m:r>
                        </m:e>
                        <m:lim>
                          <m:r>
                            <a:rPr lang="zh-CN" altLang="ar-AE" sz="2400">
                              <a:solidFill>
                                <a:srgbClr val="3C51B4"/>
                              </a:solidFill>
                              <a:latin typeface="Cambria Math" panose="02040503050406030204" pitchFamily="18" charset="0"/>
                            </a:rPr>
                            <m:t>𝑥</m:t>
                          </m:r>
                        </m:lim>
                      </m:limLow>
                      <m:r>
                        <a:rPr lang="ar-AE" altLang="zh-CN" sz="2400">
                          <a:solidFill>
                            <a:srgbClr val="3C51B4"/>
                          </a:solidFill>
                          <a:latin typeface="Cambria Math" panose="02040503050406030204" pitchFamily="18" charset="0"/>
                        </a:rPr>
                        <m:t>(</m:t>
                      </m:r>
                      <m:r>
                        <a:rPr lang="zh-CN" altLang="ar-AE" sz="2400">
                          <a:solidFill>
                            <a:srgbClr val="3C51B4"/>
                          </a:solidFill>
                          <a:latin typeface="Cambria Math" panose="02040503050406030204" pitchFamily="18" charset="0"/>
                        </a:rPr>
                        <m:t>𝑝𝑥</m:t>
                      </m:r>
                      <m:r>
                        <a:rPr lang="ar-AE" altLang="zh-CN" sz="2400">
                          <a:solidFill>
                            <a:srgbClr val="3C51B4"/>
                          </a:solidFill>
                          <a:latin typeface="Cambria Math" panose="02040503050406030204" pitchFamily="18" charset="0"/>
                        </a:rPr>
                        <m:t>−</m:t>
                      </m:r>
                      <m:r>
                        <a:rPr lang="zh-CN" altLang="ar-AE" sz="2400">
                          <a:solidFill>
                            <a:srgbClr val="3C51B4"/>
                          </a:solidFill>
                          <a:latin typeface="Cambria Math" panose="02040503050406030204" pitchFamily="18" charset="0"/>
                        </a:rPr>
                        <m:t>𝑓</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𝑥</m:t>
                          </m:r>
                        </m:e>
                      </m:d>
                      <m:r>
                        <a:rPr lang="ar-AE" altLang="zh-CN" sz="2400">
                          <a:latin typeface="Cambria Math" panose="02040503050406030204" pitchFamily="18" charset="0"/>
                        </a:rPr>
                        <m:t>)</m:t>
                      </m:r>
                    </m:oMath>
                  </m:oMathPara>
                </a14:m>
                <a:endParaRPr lang="ar-AE"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or equivalently:</a:t>
                </a:r>
              </a:p>
              <a:p>
                <a:pPr marL="0" indent="0">
                  <a:buNone/>
                </a:pPr>
                <a:endParaRPr lang="en-US" altLang="zh-CN"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sz="2400" smtClean="0">
                          <a:solidFill>
                            <a:srgbClr val="3C51B4"/>
                          </a:solidFill>
                          <a:latin typeface="Cambria Math" panose="02040503050406030204" pitchFamily="18" charset="0"/>
                        </a:rPr>
                        <m:t>𝑔</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rPr>
                        <m:t>=</m:t>
                      </m:r>
                      <m:r>
                        <a:rPr lang="zh-CN" altLang="ar-AE" sz="2400">
                          <a:solidFill>
                            <a:srgbClr val="3C51B4"/>
                          </a:solidFill>
                          <a:latin typeface="Cambria Math" panose="02040503050406030204" pitchFamily="18" charset="0"/>
                        </a:rPr>
                        <m:t>𝑝</m:t>
                      </m:r>
                      <m:r>
                        <m:rPr>
                          <m:nor/>
                        </m:rPr>
                        <a:rPr lang="ar-AE" altLang="zh-CN" sz="2400">
                          <a:solidFill>
                            <a:srgbClr val="3C51B4"/>
                          </a:solidFill>
                          <a:latin typeface="Cambria Math" panose="02040503050406030204" pitchFamily="18" charset="0"/>
                        </a:rPr>
                        <m:t> </m:t>
                      </m:r>
                      <m:r>
                        <a:rPr lang="zh-CN" altLang="ar-AE" sz="2400">
                          <a:solidFill>
                            <a:srgbClr val="3C51B4"/>
                          </a:solidFill>
                          <a:latin typeface="Cambria Math" panose="02040503050406030204" pitchFamily="18" charset="0"/>
                        </a:rPr>
                        <m:t>𝑥</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rPr>
                        <m:t>−</m:t>
                      </m:r>
                      <m:r>
                        <a:rPr lang="zh-CN" altLang="ar-AE" sz="2400">
                          <a:solidFill>
                            <a:srgbClr val="3C51B4"/>
                          </a:solidFill>
                          <a:latin typeface="Cambria Math" panose="02040503050406030204" pitchFamily="18" charset="0"/>
                        </a:rPr>
                        <m:t>𝑓</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𝑥</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e>
                      </m:d>
                    </m:oMath>
                  </m:oMathPara>
                </a14:m>
                <a:endParaRPr lang="ar-AE"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where </a:t>
                </a:r>
                <a14:m>
                  <m:oMath xmlns:m="http://schemas.openxmlformats.org/officeDocument/2006/math">
                    <m:r>
                      <a:rPr lang="zh-CN" altLang="en-US" sz="2400" smtClean="0">
                        <a:solidFill>
                          <a:srgbClr val="3C51B4"/>
                        </a:solidFill>
                        <a:latin typeface="Cambria Math" panose="02040503050406030204" pitchFamily="18" charset="0"/>
                      </a:rPr>
                      <m:t>𝑝</m:t>
                    </m:r>
                    <m:r>
                      <a:rPr lang="en-US" altLang="zh-CN" sz="2400">
                        <a:solidFill>
                          <a:srgbClr val="3C51B4"/>
                        </a:solidFill>
                        <a:latin typeface="Cambria Math" panose="02040503050406030204" pitchFamily="18" charset="0"/>
                      </a:rPr>
                      <m:t>=</m:t>
                    </m:r>
                    <m:sSup>
                      <m:sSupPr>
                        <m:ctrlPr>
                          <a:rPr lang="ar-AE" altLang="zh-CN" sz="2400">
                            <a:solidFill>
                              <a:srgbClr val="3C51B4"/>
                            </a:solidFill>
                            <a:latin typeface="Cambria Math" panose="02040503050406030204" pitchFamily="18" charset="0"/>
                          </a:rPr>
                        </m:ctrlPr>
                      </m:sSupPr>
                      <m:e>
                        <m:r>
                          <a:rPr lang="zh-CN" altLang="ar-AE" sz="2400">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rPr>
                          <m:t>′</m:t>
                        </m:r>
                      </m:sup>
                    </m:sSup>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𝑥</m:t>
                        </m:r>
                      </m:e>
                    </m:d>
                  </m:oMath>
                </a14:m>
                <a:r>
                  <a:rPr lang="ar-AE" altLang="zh-CN" sz="2400" dirty="0">
                    <a:solidFill>
                      <a:srgbClr val="3C51B4"/>
                    </a:solidFill>
                    <a:latin typeface="Cambria Math" panose="02040503050406030204" pitchFamily="18" charset="0"/>
                  </a:rPr>
                  <a:t> </a:t>
                </a:r>
                <a:r>
                  <a:rPr lang="en-US" altLang="zh-CN" sz="2400" dirty="0">
                    <a:latin typeface="Cambria Math" panose="02040503050406030204" pitchFamily="18" charset="0"/>
                  </a:rPr>
                  <a:t>is the slope at </a:t>
                </a:r>
                <a14:m>
                  <m:oMath xmlns:m="http://schemas.openxmlformats.org/officeDocument/2006/math">
                    <m:r>
                      <a:rPr lang="zh-CN" altLang="en-US" sz="2400" smtClean="0">
                        <a:solidFill>
                          <a:srgbClr val="3C51B4"/>
                        </a:solidFill>
                        <a:latin typeface="Cambria Math" panose="02040503050406030204" pitchFamily="18" charset="0"/>
                      </a:rPr>
                      <m:t>𝑥</m:t>
                    </m:r>
                  </m:oMath>
                </a14:m>
                <a:r>
                  <a:rPr lang="en-US" altLang="zh-CN" sz="2400" dirty="0">
                    <a:latin typeface="Cambria Math" panose="02040503050406030204" pitchFamily="18" charset="0"/>
                  </a:rPr>
                  <a:t>, and </a:t>
                </a:r>
                <a14:m>
                  <m:oMath xmlns:m="http://schemas.openxmlformats.org/officeDocument/2006/math">
                    <m:r>
                      <a:rPr lang="zh-CN" altLang="en-US" sz="2400" smtClean="0">
                        <a:solidFill>
                          <a:srgbClr val="3C51B4"/>
                        </a:solidFill>
                        <a:latin typeface="Cambria Math" panose="02040503050406030204" pitchFamily="18" charset="0"/>
                      </a:rPr>
                      <m:t>𝑥</m:t>
                    </m:r>
                    <m:d>
                      <m:dPr>
                        <m:ctrlPr>
                          <a:rPr lang="ar-AE" altLang="zh-CN" sz="2400">
                            <a:solidFill>
                              <a:srgbClr val="3C51B4"/>
                            </a:solidFill>
                            <a:latin typeface="Cambria Math" panose="02040503050406030204" pitchFamily="18" charset="0"/>
                          </a:rPr>
                        </m:ctrlPr>
                      </m:dPr>
                      <m:e>
                        <m:r>
                          <a:rPr lang="zh-CN" altLang="ar-AE" sz="2400">
                            <a:solidFill>
                              <a:srgbClr val="3C51B4"/>
                            </a:solidFill>
                            <a:latin typeface="Cambria Math" panose="02040503050406030204" pitchFamily="18" charset="0"/>
                          </a:rPr>
                          <m:t>𝑝</m:t>
                        </m:r>
                      </m:e>
                    </m:d>
                  </m:oMath>
                </a14:m>
                <a:r>
                  <a:rPr lang="ar-AE" altLang="zh-CN" sz="2400" dirty="0">
                    <a:latin typeface="Cambria Math" panose="02040503050406030204" pitchFamily="18" charset="0"/>
                  </a:rPr>
                  <a:t> </a:t>
                </a:r>
                <a:r>
                  <a:rPr lang="en-US" altLang="zh-CN" sz="2400" dirty="0">
                    <a:latin typeface="Cambria Math" panose="02040503050406030204" pitchFamily="18" charset="0"/>
                  </a:rPr>
                  <a:t>is the inverse relation.</a:t>
                </a:r>
              </a:p>
              <a:p>
                <a:endParaRPr lang="en-US" altLang="zh-CN" dirty="0"/>
              </a:p>
              <a:p>
                <a:endParaRPr lang="en-US" altLang="zh-CN" dirty="0"/>
              </a:p>
            </p:txBody>
          </p:sp>
        </mc:Choice>
        <mc:Fallback>
          <p:sp>
            <p:nvSpPr>
              <p:cNvPr id="3" name="内容占位符 2">
                <a:extLst>
                  <a:ext uri="{FF2B5EF4-FFF2-40B4-BE49-F238E27FC236}">
                    <a16:creationId xmlns:a16="http://schemas.microsoft.com/office/drawing/2014/main" id="{A0DF2FE4-67B8-3006-496D-F98311C922DF}"/>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9927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5E53-20A9-C791-6404-1D95929C2108}"/>
              </a:ext>
            </a:extLst>
          </p:cNvPr>
          <p:cNvSpPr>
            <a:spLocks noGrp="1"/>
          </p:cNvSpPr>
          <p:nvPr>
            <p:ph type="title"/>
          </p:nvPr>
        </p:nvSpPr>
        <p:spPr/>
        <p:txBody>
          <a:bodyPr>
            <a:normAutofit/>
          </a:bodyPr>
          <a:lstStyle/>
          <a:p>
            <a:r>
              <a:rPr lang="en-US" altLang="zh-CN" sz="4300" b="1" dirty="0">
                <a:solidFill>
                  <a:srgbClr val="3C51B4"/>
                </a:solidFill>
                <a:latin typeface="Arial" panose="020B0604020202020204" pitchFamily="34" charset="0"/>
              </a:rPr>
              <a:t>Mathematical Derivation</a:t>
            </a:r>
            <a:endParaRPr lang="zh-CN" altLang="en-US" sz="43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DCF39F3-93E2-8B26-79B7-E630B0A9FA00}"/>
                  </a:ext>
                </a:extLst>
              </p:cNvPr>
              <p:cNvSpPr>
                <a:spLocks noGrp="1"/>
              </p:cNvSpPr>
              <p:nvPr>
                <p:ph idx="1"/>
              </p:nvPr>
            </p:nvSpPr>
            <p:spPr/>
            <p:txBody>
              <a:bodyPr>
                <a:normAutofit/>
              </a:bodyPr>
              <a:lstStyle/>
              <a:p>
                <a:r>
                  <a:rPr lang="en-US" altLang="zh-CN" sz="2400" b="1" dirty="0">
                    <a:latin typeface="Cambria Math" panose="02040503050406030204" pitchFamily="18" charset="0"/>
                    <a:ea typeface="Cambria Math" panose="02040503050406030204" pitchFamily="18" charset="0"/>
                  </a:rPr>
                  <a:t>Step 1:</a:t>
                </a:r>
                <a:r>
                  <a:rPr lang="en-US" altLang="zh-CN" sz="2400" dirty="0">
                    <a:latin typeface="Cambria Math" panose="02040503050406030204" pitchFamily="18" charset="0"/>
                    <a:ea typeface="Cambria Math" panose="02040503050406030204" pitchFamily="18" charset="0"/>
                  </a:rPr>
                  <a:t> Start with a convex function </a:t>
                </a:r>
                <a14:m>
                  <m:oMath xmlns:m="http://schemas.openxmlformats.org/officeDocument/2006/math">
                    <m:r>
                      <a:rPr lang="zh-CN" altLang="en-US" sz="2400" i="1" smtClean="0">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a:t>
                </a:r>
              </a:p>
              <a:p>
                <a:r>
                  <a:rPr lang="en-US" altLang="zh-CN" sz="2400" b="1" dirty="0">
                    <a:latin typeface="Cambria Math" panose="02040503050406030204" pitchFamily="18" charset="0"/>
                    <a:ea typeface="Cambria Math" panose="02040503050406030204" pitchFamily="18" charset="0"/>
                  </a:rPr>
                  <a:t>Step 2:</a:t>
                </a:r>
                <a:r>
                  <a:rPr lang="en-US" altLang="zh-CN" sz="2400" dirty="0">
                    <a:latin typeface="Cambria Math" panose="02040503050406030204" pitchFamily="18" charset="0"/>
                    <a:ea typeface="Cambria Math" panose="02040503050406030204" pitchFamily="18" charset="0"/>
                  </a:rPr>
                  <a:t> Define a new variable </a:t>
                </a:r>
                <a14:m>
                  <m:oMath xmlns:m="http://schemas.openxmlformats.org/officeDocument/2006/math">
                    <m:r>
                      <a:rPr lang="zh-CN" altLang="en-US" sz="2400" i="1" smtClean="0">
                        <a:solidFill>
                          <a:srgbClr val="3C51B4"/>
                        </a:solidFill>
                        <a:latin typeface="Cambria Math" panose="02040503050406030204" pitchFamily="18" charset="0"/>
                      </a:rPr>
                      <m:t>𝑝</m:t>
                    </m:r>
                    <m:r>
                      <a:rPr lang="en-US" altLang="zh-CN" sz="2400">
                        <a:solidFill>
                          <a:srgbClr val="3C51B4"/>
                        </a:solidFill>
                        <a:latin typeface="Cambria Math" panose="02040503050406030204" pitchFamily="18" charset="0"/>
                        <a:ea typeface="Cambria Math" panose="02040503050406030204" pitchFamily="18" charset="0"/>
                      </a:rPr>
                      <m:t>=</m:t>
                    </m:r>
                    <m:sSup>
                      <m:sSupPr>
                        <m:ctrlPr>
                          <a:rPr lang="ar-AE" altLang="zh-CN" sz="2400" i="1">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ea typeface="Cambria Math" panose="02040503050406030204" pitchFamily="18" charset="0"/>
                          </a:rPr>
                          <m:t>′</m:t>
                        </m:r>
                      </m:sup>
                    </m:sSup>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Since </a:t>
                </a:r>
                <a14:m>
                  <m:oMath xmlns:m="http://schemas.openxmlformats.org/officeDocument/2006/math">
                    <m:r>
                      <a:rPr lang="zh-CN" altLang="en-US" sz="2400" i="1" smtClean="0">
                        <a:solidFill>
                          <a:srgbClr val="3C51B4"/>
                        </a:solidFill>
                        <a:latin typeface="Cambria Math" panose="02040503050406030204" pitchFamily="18" charset="0"/>
                      </a:rPr>
                      <m:t>𝑓</m:t>
                    </m:r>
                  </m:oMath>
                </a14:m>
                <a:r>
                  <a:rPr lang="en-US" altLang="zh-CN" sz="2400" dirty="0">
                    <a:latin typeface="Cambria Math" panose="02040503050406030204" pitchFamily="18" charset="0"/>
                    <a:ea typeface="Cambria Math" panose="02040503050406030204" pitchFamily="18" charset="0"/>
                  </a:rPr>
                  <a:t> is convex, </a:t>
                </a:r>
                <a14:m>
                  <m:oMath xmlns:m="http://schemas.openxmlformats.org/officeDocument/2006/math">
                    <m:sSup>
                      <m:sSupPr>
                        <m:ctrlPr>
                          <a:rPr lang="ar-AE" altLang="zh-CN" sz="2400" i="1" smtClean="0">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ea typeface="Cambria Math" panose="02040503050406030204" pitchFamily="18" charset="0"/>
                          </a:rPr>
                          <m:t>′</m:t>
                        </m:r>
                      </m:sup>
                    </m:sSup>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is monotonic, so we can invert to get </a:t>
                </a:r>
                <a14:m>
                  <m:oMath xmlns:m="http://schemas.openxmlformats.org/officeDocument/2006/math">
                    <m:r>
                      <a:rPr lang="zh-CN" altLang="en-US" sz="2400" i="1" smtClean="0">
                        <a:solidFill>
                          <a:srgbClr val="3C51B4"/>
                        </a:solidFill>
                        <a:latin typeface="Cambria Math" panose="02040503050406030204" pitchFamily="18" charset="0"/>
                      </a:rPr>
                      <m:t>𝑥</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𝑥</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oMath>
                </a14:m>
                <a:r>
                  <a:rPr lang="ar-AE" altLang="zh-CN" sz="2400" dirty="0">
                    <a:solidFill>
                      <a:srgbClr val="3C51B4"/>
                    </a:solidFill>
                    <a:latin typeface="Cambria Math" panose="02040503050406030204" pitchFamily="18" charset="0"/>
                    <a:ea typeface="Cambria Math" panose="02040503050406030204" pitchFamily="18" charset="0"/>
                  </a:rPr>
                  <a:t>.</a:t>
                </a:r>
                <a:endParaRPr lang="ar-AE" altLang="zh-CN" sz="2400" dirty="0">
                  <a:latin typeface="Cambria Math" panose="02040503050406030204" pitchFamily="18" charset="0"/>
                  <a:ea typeface="Cambria Math" panose="02040503050406030204" pitchFamily="18" charset="0"/>
                </a:endParaRPr>
              </a:p>
              <a:p>
                <a:r>
                  <a:rPr lang="en-US" altLang="zh-CN" sz="2400" b="1" dirty="0">
                    <a:latin typeface="Cambria Math" panose="02040503050406030204" pitchFamily="18" charset="0"/>
                    <a:ea typeface="Cambria Math" panose="02040503050406030204" pitchFamily="18" charset="0"/>
                  </a:rPr>
                  <a:t>Step 3:</a:t>
                </a:r>
                <a:r>
                  <a:rPr lang="en-US" altLang="zh-CN" sz="2400" dirty="0">
                    <a:latin typeface="Cambria Math" panose="02040503050406030204" pitchFamily="18" charset="0"/>
                    <a:ea typeface="Cambria Math" panose="02040503050406030204" pitchFamily="18" charset="0"/>
                  </a:rPr>
                  <a:t> Define the Legendre transform:</a:t>
                </a:r>
              </a:p>
              <a:p>
                <a:pPr marL="0" indent="0">
                  <a:buNone/>
                </a:pPr>
                <a14:m>
                  <m:oMathPara xmlns:m="http://schemas.openxmlformats.org/officeDocument/2006/math">
                    <m:oMathParaPr>
                      <m:jc m:val="centerGroup"/>
                    </m:oMathParaPr>
                    <m:oMath xmlns:m="http://schemas.openxmlformats.org/officeDocument/2006/math">
                      <m:r>
                        <a:rPr lang="zh-CN" altLang="en-US" sz="2400" i="1" smtClean="0">
                          <a:solidFill>
                            <a:srgbClr val="3C51B4"/>
                          </a:solidFill>
                          <a:latin typeface="Cambria Math" panose="02040503050406030204" pitchFamily="18" charset="0"/>
                        </a:rPr>
                        <m:t>𝑔</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smtClean="0">
                          <a:solidFill>
                            <a:srgbClr val="3C51B4"/>
                          </a:solidFill>
                          <a:latin typeface="Cambria Math" panose="02040503050406030204" pitchFamily="18" charset="0"/>
                        </a:rPr>
                        <m:t>𝑝</m:t>
                      </m:r>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𝑥</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e>
                      </m:d>
                    </m:oMath>
                  </m:oMathPara>
                </a14:m>
                <a:endParaRPr lang="ar-AE" altLang="zh-CN" sz="2400" dirty="0">
                  <a:latin typeface="Cambria Math" panose="02040503050406030204" pitchFamily="18" charset="0"/>
                  <a:ea typeface="Cambria Math" panose="02040503050406030204" pitchFamily="18" charset="0"/>
                </a:endParaRPr>
              </a:p>
              <a:p>
                <a:r>
                  <a:rPr lang="en-US" altLang="zh-CN" sz="2400" b="1" dirty="0">
                    <a:latin typeface="Cambria Math" panose="02040503050406030204" pitchFamily="18" charset="0"/>
                    <a:ea typeface="Cambria Math" panose="02040503050406030204" pitchFamily="18" charset="0"/>
                  </a:rPr>
                  <a:t>Step 4:</a:t>
                </a:r>
                <a:r>
                  <a:rPr lang="en-US" altLang="zh-CN" sz="2400" dirty="0">
                    <a:latin typeface="Cambria Math" panose="02040503050406030204" pitchFamily="18" charset="0"/>
                    <a:ea typeface="Cambria Math" panose="02040503050406030204" pitchFamily="18" charset="0"/>
                  </a:rPr>
                  <a:t> Check the differential:</a:t>
                </a:r>
              </a:p>
              <a:p>
                <a:pPr marL="0" indent="0">
                  <a:buNone/>
                </a:pPr>
                <a14:m>
                  <m:oMathPara xmlns:m="http://schemas.openxmlformats.org/officeDocument/2006/math">
                    <m:oMathParaPr>
                      <m:jc m:val="centerGroup"/>
                    </m:oMathParaPr>
                    <m:oMath xmlns:m="http://schemas.openxmlformats.org/officeDocument/2006/math">
                      <m:r>
                        <a:rPr lang="zh-CN" altLang="en-US" sz="2400" i="1" smtClean="0">
                          <a:solidFill>
                            <a:srgbClr val="3C51B4"/>
                          </a:solidFill>
                          <a:latin typeface="Cambria Math" panose="02040503050406030204" pitchFamily="18" charset="0"/>
                        </a:rPr>
                        <m:t>𝑑𝑔</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𝑥</m:t>
                      </m:r>
                      <m:r>
                        <m:rPr>
                          <m:nor/>
                        </m:rPr>
                        <a:rPr lang="en-US" altLang="zh-CN" sz="2400" i="1">
                          <a:solidFill>
                            <a:srgbClr val="3C51B4"/>
                          </a:solidFill>
                          <a:latin typeface="Cambria Math" panose="02040503050406030204" pitchFamily="18" charset="0"/>
                          <a:ea typeface="Cambria Math" panose="02040503050406030204" pitchFamily="18" charset="0"/>
                        </a:rPr>
                        <m:t> </m:t>
                      </m:r>
                      <m:r>
                        <a:rPr lang="zh-CN" altLang="en-US" sz="2400" i="1">
                          <a:solidFill>
                            <a:srgbClr val="3C51B4"/>
                          </a:solidFill>
                          <a:latin typeface="Cambria Math" panose="02040503050406030204" pitchFamily="18" charset="0"/>
                        </a:rPr>
                        <m:t>𝑑𝑝</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𝑝</m:t>
                      </m:r>
                      <m:r>
                        <m:rPr>
                          <m:nor/>
                        </m:rPr>
                        <a:rPr lang="en-US" altLang="zh-CN" sz="2400" i="1">
                          <a:solidFill>
                            <a:srgbClr val="3C51B4"/>
                          </a:solidFill>
                          <a:latin typeface="Cambria Math" panose="02040503050406030204" pitchFamily="18" charset="0"/>
                          <a:ea typeface="Cambria Math" panose="02040503050406030204" pitchFamily="18" charset="0"/>
                        </a:rPr>
                        <m:t> </m:t>
                      </m:r>
                      <m:r>
                        <a:rPr lang="zh-CN" altLang="en-US" sz="2400" i="1">
                          <a:solidFill>
                            <a:srgbClr val="3C51B4"/>
                          </a:solidFill>
                          <a:latin typeface="Cambria Math" panose="02040503050406030204" pitchFamily="18" charset="0"/>
                        </a:rPr>
                        <m:t>𝑑𝑥</m:t>
                      </m:r>
                      <m:r>
                        <a:rPr lang="en-US" altLang="zh-CN" sz="2400">
                          <a:solidFill>
                            <a:srgbClr val="3C51B4"/>
                          </a:solidFill>
                          <a:latin typeface="Cambria Math" panose="02040503050406030204" pitchFamily="18" charset="0"/>
                          <a:ea typeface="Cambria Math" panose="02040503050406030204" pitchFamily="18" charset="0"/>
                        </a:rPr>
                        <m:t>−</m:t>
                      </m:r>
                      <m:sSup>
                        <m:sSupPr>
                          <m:ctrlPr>
                            <a:rPr lang="ar-AE" altLang="zh-CN" sz="2400" i="1">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ea typeface="Cambria Math" panose="02040503050406030204" pitchFamily="18" charset="0"/>
                            </a:rPr>
                            <m:t>′</m:t>
                          </m:r>
                        </m:sup>
                      </m:sSup>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𝑑𝑥</m:t>
                      </m:r>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𝑥</m:t>
                      </m:r>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𝑑𝑝</m:t>
                      </m:r>
                      <m:r>
                        <a:rPr lang="ar-AE" altLang="zh-CN" sz="2400">
                          <a:solidFill>
                            <a:srgbClr val="3C51B4"/>
                          </a:solidFill>
                          <a:latin typeface="Cambria Math" panose="02040503050406030204" pitchFamily="18" charset="0"/>
                          <a:ea typeface="Cambria Math" panose="02040503050406030204" pitchFamily="18" charset="0"/>
                        </a:rPr>
                        <m:t>+</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r>
                            <a:rPr lang="ar-AE" altLang="zh-CN" sz="2400">
                              <a:solidFill>
                                <a:srgbClr val="3C51B4"/>
                              </a:solidFill>
                              <a:latin typeface="Cambria Math" panose="02040503050406030204" pitchFamily="18" charset="0"/>
                              <a:ea typeface="Cambria Math" panose="02040503050406030204" pitchFamily="18" charset="0"/>
                            </a:rPr>
                            <m:t>−</m:t>
                          </m:r>
                          <m:sSup>
                            <m:sSupPr>
                              <m:ctrlPr>
                                <a:rPr lang="ar-AE" altLang="zh-CN" sz="2400" i="1">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ea typeface="Cambria Math" panose="02040503050406030204" pitchFamily="18" charset="0"/>
                                </a:rPr>
                                <m:t>′</m:t>
                              </m:r>
                            </m:sup>
                          </m:sSup>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e>
                      </m:d>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𝑑𝑥</m:t>
                      </m:r>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𝑥</m:t>
                      </m:r>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𝑑𝑝</m:t>
                      </m:r>
                    </m:oMath>
                  </m:oMathPara>
                </a14:m>
                <a:endParaRPr lang="ar-AE" altLang="zh-CN" sz="2400" b="0" dirty="0">
                  <a:solidFill>
                    <a:srgbClr val="3C51B4"/>
                  </a:solidFill>
                  <a:latin typeface="Cambria Math" panose="02040503050406030204" pitchFamily="18" charset="0"/>
                  <a:ea typeface="Cambria Math" panose="02040503050406030204" pitchFamily="18" charset="0"/>
                </a:endParaRPr>
              </a:p>
              <a:p>
                <a:r>
                  <a:rPr lang="en-US" altLang="zh-CN" sz="2400" dirty="0">
                    <a:latin typeface="Cambria Math" panose="02040503050406030204" pitchFamily="18" charset="0"/>
                    <a:ea typeface="Cambria Math" panose="02040503050406030204" pitchFamily="18" charset="0"/>
                  </a:rPr>
                  <a:t>Thus </a:t>
                </a:r>
                <a14:m>
                  <m:oMath xmlns:m="http://schemas.openxmlformats.org/officeDocument/2006/math">
                    <m:r>
                      <a:rPr lang="zh-CN" altLang="en-US" sz="2400" i="1" smtClean="0">
                        <a:solidFill>
                          <a:srgbClr val="3C51B4"/>
                        </a:solidFill>
                        <a:latin typeface="Cambria Math" panose="02040503050406030204" pitchFamily="18" charset="0"/>
                      </a:rPr>
                      <m:t>𝑑𝑔</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𝑑𝑝</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𝑥</m:t>
                    </m:r>
                  </m:oMath>
                </a14:m>
                <a:r>
                  <a:rPr lang="en-US" altLang="zh-CN" sz="2400" dirty="0">
                    <a:latin typeface="Cambria Math" panose="02040503050406030204" pitchFamily="18" charset="0"/>
                    <a:ea typeface="Cambria Math" panose="02040503050406030204" pitchFamily="18" charset="0"/>
                  </a:rPr>
                  <a:t>, confirming that </a:t>
                </a:r>
                <a14:m>
                  <m:oMath xmlns:m="http://schemas.openxmlformats.org/officeDocument/2006/math">
                    <m:r>
                      <a:rPr lang="zh-CN" altLang="en-US" sz="2400" i="1" smtClean="0">
                        <a:solidFill>
                          <a:srgbClr val="3C51B4"/>
                        </a:solidFill>
                        <a:latin typeface="Cambria Math" panose="02040503050406030204" pitchFamily="18" charset="0"/>
                      </a:rPr>
                      <m:t>𝑥</m:t>
                    </m:r>
                  </m:oMath>
                </a14:m>
                <a:r>
                  <a:rPr lang="en-US" altLang="zh-CN" sz="2400" dirty="0">
                    <a:latin typeface="Cambria Math" panose="02040503050406030204" pitchFamily="18" charset="0"/>
                    <a:ea typeface="Cambria Math" panose="02040503050406030204" pitchFamily="18" charset="0"/>
                  </a:rPr>
                  <a:t> and </a:t>
                </a:r>
                <a14:m>
                  <m:oMath xmlns:m="http://schemas.openxmlformats.org/officeDocument/2006/math">
                    <m:r>
                      <a:rPr lang="zh-CN" altLang="en-US" sz="2400" i="1" smtClean="0">
                        <a:solidFill>
                          <a:srgbClr val="3C51B4"/>
                        </a:solidFill>
                        <a:latin typeface="Cambria Math" panose="02040503050406030204" pitchFamily="18" charset="0"/>
                      </a:rPr>
                      <m:t>𝑝</m:t>
                    </m:r>
                  </m:oMath>
                </a14:m>
                <a:r>
                  <a:rPr lang="en-US" altLang="zh-CN" sz="2400" dirty="0">
                    <a:latin typeface="Cambria Math" panose="02040503050406030204" pitchFamily="18" charset="0"/>
                    <a:ea typeface="Cambria Math" panose="02040503050406030204" pitchFamily="18" charset="0"/>
                  </a:rPr>
                  <a:t> are conjugate variables.</a:t>
                </a:r>
              </a:p>
              <a:p>
                <a:r>
                  <a:rPr lang="en-US" altLang="zh-CN" sz="2400" b="1" dirty="0">
                    <a:latin typeface="Cambria Math" panose="02040503050406030204" pitchFamily="18" charset="0"/>
                    <a:ea typeface="Cambria Math" panose="02040503050406030204" pitchFamily="18" charset="0"/>
                  </a:rPr>
                  <a:t>Step 5:</a:t>
                </a:r>
                <a:r>
                  <a:rPr lang="en-US" altLang="zh-CN" sz="2400" dirty="0">
                    <a:latin typeface="Cambria Math" panose="02040503050406030204" pitchFamily="18" charset="0"/>
                    <a:ea typeface="Cambria Math" panose="02040503050406030204" pitchFamily="18" charset="0"/>
                  </a:rPr>
                  <a:t> The transform is </a:t>
                </a:r>
                <a:r>
                  <a:rPr lang="en-US" altLang="zh-CN" sz="2400" b="1" dirty="0" err="1">
                    <a:latin typeface="Cambria Math" panose="02040503050406030204" pitchFamily="18" charset="0"/>
                    <a:ea typeface="Cambria Math" panose="02040503050406030204" pitchFamily="18" charset="0"/>
                  </a:rPr>
                  <a:t>involutive</a:t>
                </a:r>
                <a:r>
                  <a:rPr lang="en-US" altLang="zh-CN" sz="2400" dirty="0">
                    <a:latin typeface="Cambria Math" panose="02040503050406030204" pitchFamily="18" charset="0"/>
                    <a:ea typeface="Cambria Math" panose="02040503050406030204" pitchFamily="18" charset="0"/>
                  </a:rPr>
                  <a:t> (self-inverse): applying the Legendre transform to </a:t>
                </a:r>
                <a14:m>
                  <m:oMath xmlns:m="http://schemas.openxmlformats.org/officeDocument/2006/math">
                    <m:r>
                      <a:rPr lang="zh-CN" altLang="en-US" sz="2400" i="1" smtClean="0">
                        <a:solidFill>
                          <a:srgbClr val="3C51B4"/>
                        </a:solidFill>
                        <a:latin typeface="Cambria Math" panose="02040503050406030204" pitchFamily="18" charset="0"/>
                      </a:rPr>
                      <m:t>𝑔</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oMath>
                </a14:m>
                <a:r>
                  <a:rPr lang="ar-AE" altLang="zh-CN" sz="2400" dirty="0">
                    <a:solidFill>
                      <a:srgbClr val="3C51B4"/>
                    </a:solidFill>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returns to </a:t>
                </a:r>
                <a14:m>
                  <m:oMath xmlns:m="http://schemas.openxmlformats.org/officeDocument/2006/math">
                    <m:r>
                      <a:rPr lang="zh-CN" altLang="en-US" sz="2400" i="1" smtClean="0">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a:t>
                </a:r>
              </a:p>
            </p:txBody>
          </p:sp>
        </mc:Choice>
        <mc:Fallback>
          <p:sp>
            <p:nvSpPr>
              <p:cNvPr id="3" name="内容占位符 2">
                <a:extLst>
                  <a:ext uri="{FF2B5EF4-FFF2-40B4-BE49-F238E27FC236}">
                    <a16:creationId xmlns:a16="http://schemas.microsoft.com/office/drawing/2014/main" id="{DDCF39F3-93E2-8B26-79B7-E630B0A9FA00}"/>
                  </a:ext>
                </a:extLst>
              </p:cNvPr>
              <p:cNvSpPr>
                <a:spLocks noGrp="1" noRot="1" noChangeAspect="1" noMove="1" noResize="1" noEditPoints="1" noAdjustHandles="1" noChangeArrowheads="1" noChangeShapeType="1" noTextEdit="1"/>
              </p:cNvSpPr>
              <p:nvPr>
                <p:ph idx="1"/>
              </p:nvPr>
            </p:nvSpPr>
            <p:spPr>
              <a:blipFill>
                <a:blip r:embed="rId2"/>
                <a:stretch>
                  <a:fillRect l="-812" t="-1961" r="-1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6662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6289F-DF35-DD09-B05F-D2F16D15CFD0}"/>
              </a:ext>
            </a:extLst>
          </p:cNvPr>
          <p:cNvSpPr>
            <a:spLocks noGrp="1"/>
          </p:cNvSpPr>
          <p:nvPr>
            <p:ph type="title"/>
          </p:nvPr>
        </p:nvSpPr>
        <p:spPr/>
        <p:txBody>
          <a:bodyPr>
            <a:normAutofit/>
          </a:bodyPr>
          <a:lstStyle/>
          <a:p>
            <a:r>
              <a:rPr lang="en-US" altLang="zh-CN" sz="4300" b="1" dirty="0">
                <a:solidFill>
                  <a:srgbClr val="3C51B4"/>
                </a:solidFill>
                <a:latin typeface="Arial" panose="020B0604020202020204" pitchFamily="34" charset="0"/>
              </a:rPr>
              <a:t>Geometric Interpretation</a:t>
            </a:r>
            <a:endParaRPr lang="zh-CN" altLang="en-US" sz="43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67FDB80-F289-FEB6-BA87-9DACDCCFA4BA}"/>
                  </a:ext>
                </a:extLst>
              </p:cNvPr>
              <p:cNvSpPr>
                <a:spLocks noGrp="1"/>
              </p:cNvSpPr>
              <p:nvPr>
                <p:ph idx="1"/>
              </p:nvPr>
            </p:nvSpPr>
            <p:spPr>
              <a:xfrm>
                <a:off x="838200" y="1480294"/>
                <a:ext cx="6985992" cy="4351338"/>
              </a:xfrm>
            </p:spPr>
            <p:txBody>
              <a:bodyPr>
                <a:normAutofit/>
              </a:bodyPr>
              <a:lstStyle/>
              <a:p>
                <a:r>
                  <a:rPr lang="en-US" altLang="zh-CN" sz="2400" dirty="0">
                    <a:latin typeface="Cambria Math" panose="02040503050406030204" pitchFamily="18" charset="0"/>
                    <a:ea typeface="Cambria Math" panose="02040503050406030204" pitchFamily="18" charset="0"/>
                  </a:rPr>
                  <a:t>For a given function </a:t>
                </a:r>
                <a14:m>
                  <m:oMath xmlns:m="http://schemas.openxmlformats.org/officeDocument/2006/math">
                    <m:r>
                      <a:rPr lang="zh-CN" altLang="en-US" sz="2400" i="1" smtClean="0">
                        <a:solidFill>
                          <a:srgbClr val="3C51B4"/>
                        </a:solidFill>
                        <a:latin typeface="Cambria Math" panose="02040503050406030204" pitchFamily="18" charset="0"/>
                      </a:rPr>
                      <m:t>𝑦</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a:t>
                </a:r>
              </a:p>
              <a:p>
                <a:r>
                  <a:rPr lang="en-US" altLang="zh-CN" sz="2400" dirty="0">
                    <a:latin typeface="Cambria Math" panose="02040503050406030204" pitchFamily="18" charset="0"/>
                    <a:ea typeface="Cambria Math" panose="02040503050406030204" pitchFamily="18" charset="0"/>
                  </a:rPr>
                  <a:t>At each point </a:t>
                </a:r>
                <a14:m>
                  <m:oMath xmlns:m="http://schemas.openxmlformats.org/officeDocument/2006/math">
                    <m:r>
                      <a:rPr lang="zh-CN" altLang="en-US" sz="2400" i="1">
                        <a:latin typeface="Cambria Math" panose="02040503050406030204" pitchFamily="18" charset="0"/>
                      </a:rPr>
                      <m:t>𝑥</m:t>
                    </m:r>
                  </m:oMath>
                </a14:m>
                <a:r>
                  <a:rPr lang="en-US" altLang="zh-CN" sz="2400" dirty="0">
                    <a:latin typeface="Cambria Math" panose="02040503050406030204" pitchFamily="18" charset="0"/>
                    <a:ea typeface="Cambria Math" panose="02040503050406030204" pitchFamily="18" charset="0"/>
                  </a:rPr>
                  <a:t>, draw the tangent line with slope</a:t>
                </a:r>
              </a:p>
              <a:p>
                <a:pPr marL="0" indent="0">
                  <a:buNone/>
                </a:pPr>
                <a14:m>
                  <m:oMath xmlns:m="http://schemas.openxmlformats.org/officeDocument/2006/math">
                    <m:r>
                      <a:rPr lang="zh-CN" altLang="en-US" sz="2400" i="1" smtClean="0">
                        <a:solidFill>
                          <a:srgbClr val="3C51B4"/>
                        </a:solidFill>
                        <a:latin typeface="Cambria Math" panose="02040503050406030204" pitchFamily="18" charset="0"/>
                      </a:rPr>
                      <m:t>𝑝</m:t>
                    </m:r>
                    <m:r>
                      <a:rPr lang="en-US" altLang="zh-CN" sz="2400">
                        <a:solidFill>
                          <a:srgbClr val="3C51B4"/>
                        </a:solidFill>
                        <a:latin typeface="Cambria Math" panose="02040503050406030204" pitchFamily="18" charset="0"/>
                        <a:ea typeface="Cambria Math" panose="02040503050406030204" pitchFamily="18" charset="0"/>
                      </a:rPr>
                      <m:t>=</m:t>
                    </m:r>
                    <m:sSup>
                      <m:sSupPr>
                        <m:ctrlPr>
                          <a:rPr lang="ar-AE" altLang="zh-CN" sz="2400" i="1">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𝑓</m:t>
                        </m:r>
                      </m:e>
                      <m:sup>
                        <m:r>
                          <a:rPr lang="ar-AE" altLang="zh-CN" sz="2400">
                            <a:solidFill>
                              <a:srgbClr val="3C51B4"/>
                            </a:solidFill>
                            <a:latin typeface="Cambria Math" panose="02040503050406030204" pitchFamily="18" charset="0"/>
                            <a:ea typeface="Cambria Math" panose="02040503050406030204" pitchFamily="18" charset="0"/>
                          </a:rPr>
                          <m:t>′</m:t>
                        </m:r>
                      </m:sup>
                    </m:sSup>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a14:m>
                <a:r>
                  <a:rPr lang="ar-AE" altLang="zh-CN" sz="2400" dirty="0">
                    <a:latin typeface="Cambria Math" panose="02040503050406030204" pitchFamily="18" charset="0"/>
                    <a:ea typeface="Cambria Math" panose="02040503050406030204" pitchFamily="18" charset="0"/>
                  </a:rPr>
                  <a:t>.</a:t>
                </a:r>
              </a:p>
              <a:p>
                <a:r>
                  <a:rPr lang="en-US" altLang="zh-CN" sz="2400" dirty="0">
                    <a:latin typeface="Cambria Math" panose="02040503050406030204" pitchFamily="18" charset="0"/>
                    <a:ea typeface="Cambria Math" panose="02040503050406030204" pitchFamily="18" charset="0"/>
                  </a:rPr>
                  <a:t>The tangent line equation is </a:t>
                </a:r>
                <a14:m>
                  <m:oMath xmlns:m="http://schemas.openxmlformats.org/officeDocument/2006/math">
                    <m:r>
                      <a:rPr lang="zh-CN" altLang="en-US" sz="2400" i="1" smtClean="0">
                        <a:solidFill>
                          <a:srgbClr val="3C51B4"/>
                        </a:solidFill>
                        <a:latin typeface="Cambria Math" panose="02040503050406030204" pitchFamily="18" charset="0"/>
                      </a:rPr>
                      <m:t>𝑦</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𝑝𝑥</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𝑏</m:t>
                    </m:r>
                  </m:oMath>
                </a14:m>
                <a:r>
                  <a:rPr lang="en-US" altLang="zh-CN" sz="2400" dirty="0">
                    <a:latin typeface="Cambria Math" panose="02040503050406030204" pitchFamily="18" charset="0"/>
                    <a:ea typeface="Cambria Math" panose="02040503050406030204" pitchFamily="18" charset="0"/>
                  </a:rPr>
                  <a:t>, where </a:t>
                </a:r>
                <a:endParaRPr lang="en-US" altLang="zh-CN" sz="2400" i="1" dirty="0">
                  <a:solidFill>
                    <a:srgbClr val="3C51B4"/>
                  </a:solidFill>
                  <a:latin typeface="Cambria Math" panose="02040503050406030204" pitchFamily="18" charset="0"/>
                </a:endParaRPr>
              </a:p>
              <a:p>
                <a:pPr marL="0" indent="0">
                  <a:buNone/>
                </a:pPr>
                <a14:m>
                  <m:oMath xmlns:m="http://schemas.openxmlformats.org/officeDocument/2006/math">
                    <m:r>
                      <a:rPr lang="zh-CN" altLang="en-US" sz="2400" i="1" smtClean="0">
                        <a:solidFill>
                          <a:srgbClr val="3C51B4"/>
                        </a:solidFill>
                        <a:latin typeface="Cambria Math" panose="02040503050406030204" pitchFamily="18" charset="0"/>
                      </a:rPr>
                      <m:t>𝑏</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i="1">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𝑝𝑥</m:t>
                    </m:r>
                  </m:oMath>
                </a14:m>
                <a:r>
                  <a:rPr lang="ar-AE" altLang="zh-CN" sz="2400" dirty="0">
                    <a:solidFill>
                      <a:srgbClr val="3C51B4"/>
                    </a:solidFill>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is the intercept.</a:t>
                </a:r>
              </a:p>
              <a:p>
                <a:r>
                  <a:rPr lang="en-US" altLang="zh-CN" sz="2400" dirty="0">
                    <a:latin typeface="Cambria Math" panose="02040503050406030204" pitchFamily="18" charset="0"/>
                    <a:ea typeface="Cambria Math" panose="02040503050406030204" pitchFamily="18" charset="0"/>
                  </a:rPr>
                  <a:t>The Legendre transform </a:t>
                </a:r>
                <a14:m>
                  <m:oMath xmlns:m="http://schemas.openxmlformats.org/officeDocument/2006/math">
                    <m:r>
                      <a:rPr lang="zh-CN" altLang="en-US" sz="2400" i="1" smtClean="0">
                        <a:solidFill>
                          <a:srgbClr val="3C51B4"/>
                        </a:solidFill>
                        <a:latin typeface="Cambria Math" panose="02040503050406030204" pitchFamily="18" charset="0"/>
                      </a:rPr>
                      <m:t>𝑔</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oMath>
                </a14:m>
                <a:r>
                  <a:rPr lang="ar-AE" altLang="zh-CN" sz="2400" dirty="0">
                    <a:solidFill>
                      <a:srgbClr val="3C51B4"/>
                    </a:solidFill>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is the negative of the intercept:</a:t>
                </a:r>
              </a:p>
              <a:p>
                <a:pPr marL="0" indent="0">
                  <a:buNone/>
                </a:pPr>
                <a14:m>
                  <m:oMathPara xmlns:m="http://schemas.openxmlformats.org/officeDocument/2006/math">
                    <m:oMathParaPr>
                      <m:jc m:val="centerGroup"/>
                    </m:oMathParaPr>
                    <m:oMath xmlns:m="http://schemas.openxmlformats.org/officeDocument/2006/math">
                      <m:r>
                        <a:rPr lang="zh-CN" altLang="en-US" sz="2400" i="1" smtClean="0">
                          <a:solidFill>
                            <a:srgbClr val="3C51B4"/>
                          </a:solidFill>
                          <a:latin typeface="Cambria Math" panose="02040503050406030204" pitchFamily="18" charset="0"/>
                        </a:rPr>
                        <m:t>𝑔</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d>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𝑏</m:t>
                      </m:r>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𝑝𝑥</m:t>
                      </m:r>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oMath>
                  </m:oMathPara>
                </a14:m>
                <a:endParaRPr lang="en-US" altLang="zh-CN" sz="2400" dirty="0">
                  <a:solidFill>
                    <a:srgbClr val="3C51B4"/>
                  </a:solidFill>
                  <a:latin typeface="Cambria Math" panose="02040503050406030204" pitchFamily="18" charset="0"/>
                  <a:ea typeface="Cambria Math" panose="02040503050406030204" pitchFamily="18" charset="0"/>
                </a:endParaRPr>
              </a:p>
            </p:txBody>
          </p:sp>
        </mc:Choice>
        <mc:Fallback>
          <p:sp>
            <p:nvSpPr>
              <p:cNvPr id="3" name="内容占位符 2">
                <a:extLst>
                  <a:ext uri="{FF2B5EF4-FFF2-40B4-BE49-F238E27FC236}">
                    <a16:creationId xmlns:a16="http://schemas.microsoft.com/office/drawing/2014/main" id="{767FDB80-F289-FEB6-BA87-9DACDCCFA4BA}"/>
                  </a:ext>
                </a:extLst>
              </p:cNvPr>
              <p:cNvSpPr>
                <a:spLocks noGrp="1" noRot="1" noChangeAspect="1" noMove="1" noResize="1" noEditPoints="1" noAdjustHandles="1" noChangeArrowheads="1" noChangeShapeType="1" noTextEdit="1"/>
              </p:cNvSpPr>
              <p:nvPr>
                <p:ph idx="1"/>
              </p:nvPr>
            </p:nvSpPr>
            <p:spPr>
              <a:xfrm>
                <a:off x="838200" y="1480294"/>
                <a:ext cx="6985992" cy="4351338"/>
              </a:xfrm>
              <a:blipFill>
                <a:blip r:embed="rId2"/>
                <a:stretch>
                  <a:fillRect l="-1223" t="-196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EFD7759-4C45-3C11-C689-9B763E705BE6}"/>
              </a:ext>
            </a:extLst>
          </p:cNvPr>
          <p:cNvPicPr>
            <a:picLocks noChangeAspect="1"/>
          </p:cNvPicPr>
          <p:nvPr/>
        </p:nvPicPr>
        <p:blipFill>
          <a:blip r:embed="rId3"/>
          <a:stretch>
            <a:fillRect/>
          </a:stretch>
        </p:blipFill>
        <p:spPr>
          <a:xfrm>
            <a:off x="8112224" y="2204864"/>
            <a:ext cx="3179691" cy="2971057"/>
          </a:xfrm>
          <a:prstGeom prst="rect">
            <a:avLst/>
          </a:prstGeom>
        </p:spPr>
      </p:pic>
    </p:spTree>
    <p:extLst>
      <p:ext uri="{BB962C8B-B14F-4D97-AF65-F5344CB8AC3E}">
        <p14:creationId xmlns:p14="http://schemas.microsoft.com/office/powerpoint/2010/main" val="2561775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8B0DB-D379-425F-6F3F-0C9A75C51EB1}"/>
              </a:ext>
            </a:extLst>
          </p:cNvPr>
          <p:cNvSpPr>
            <a:spLocks noGrp="1"/>
          </p:cNvSpPr>
          <p:nvPr>
            <p:ph type="title"/>
          </p:nvPr>
        </p:nvSpPr>
        <p:spPr/>
        <p:txBody>
          <a:bodyPr/>
          <a:lstStyle/>
          <a:p>
            <a:r>
              <a:rPr lang="en-US" altLang="zh-CN" sz="4300" b="1" dirty="0">
                <a:solidFill>
                  <a:srgbClr val="3C51B4"/>
                </a:solidFill>
                <a:latin typeface="Arial" panose="020B0604020202020204" pitchFamily="34" charset="0"/>
              </a:rPr>
              <a:t>Geometric Meaning</a:t>
            </a:r>
            <a:endParaRPr lang="zh-CN" altLang="en-US" sz="43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884095-EE6C-8C13-E676-65BF1DD41F12}"/>
                  </a:ext>
                </a:extLst>
              </p:cNvPr>
              <p:cNvSpPr>
                <a:spLocks noGrp="1"/>
              </p:cNvSpPr>
              <p:nvPr>
                <p:ph idx="1"/>
              </p:nvPr>
            </p:nvSpPr>
            <p:spPr/>
            <p:txBody>
              <a:bodyPr>
                <a:normAutofit/>
              </a:bodyPr>
              <a:lstStyle/>
              <a:p>
                <a:pPr>
                  <a:lnSpc>
                    <a:spcPct val="150000"/>
                  </a:lnSpc>
                </a:pPr>
                <a:r>
                  <a:rPr lang="en-US" altLang="zh-CN" sz="2400" dirty="0">
                    <a:latin typeface="Cambria Math" panose="02040503050406030204" pitchFamily="18" charset="0"/>
                    <a:ea typeface="Cambria Math" panose="02040503050406030204" pitchFamily="18" charset="0"/>
                  </a:rPr>
                  <a:t>The Legendre transform maps the function from a set of points </a:t>
                </a:r>
                <a14:m>
                  <m:oMath xmlns:m="http://schemas.openxmlformats.org/officeDocument/2006/math">
                    <m:d>
                      <m:dPr>
                        <m:sepChr m:val=","/>
                        <m:ctrlPr>
                          <a:rPr lang="ar-AE" altLang="zh-CN" sz="2400" i="1" smtClean="0">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e>
                        <m:r>
                          <a:rPr lang="zh-CN" altLang="ar-AE" sz="2400" i="1">
                            <a:solidFill>
                              <a:srgbClr val="3C51B4"/>
                            </a:solidFill>
                            <a:latin typeface="Cambria Math" panose="02040503050406030204" pitchFamily="18" charset="0"/>
                          </a:rPr>
                          <m:t>𝑓</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𝑥</m:t>
                            </m:r>
                          </m:e>
                        </m:d>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to a set of tangent lines described by </a:t>
                </a:r>
                <a14:m>
                  <m:oMath xmlns:m="http://schemas.openxmlformats.org/officeDocument/2006/math">
                    <m:d>
                      <m:dPr>
                        <m:sepChr m:val=","/>
                        <m:ctrlPr>
                          <a:rPr lang="ar-AE" altLang="zh-CN" sz="2400" i="1" smtClean="0">
                            <a:solidFill>
                              <a:srgbClr val="3C51B4"/>
                            </a:solidFill>
                            <a:latin typeface="Cambria Math" panose="02040503050406030204" pitchFamily="18" charset="0"/>
                            <a:ea typeface="Cambria Math" panose="02040503050406030204" pitchFamily="18" charset="0"/>
                          </a:rPr>
                        </m:ctrlPr>
                      </m:dPr>
                      <m:e>
                        <m:r>
                          <a:rPr lang="zh-CN" altLang="ar-AE" sz="2400" i="1">
                            <a:solidFill>
                              <a:srgbClr val="3C51B4"/>
                            </a:solidFill>
                            <a:latin typeface="Cambria Math" panose="02040503050406030204" pitchFamily="18" charset="0"/>
                          </a:rPr>
                          <m:t>𝑝</m:t>
                        </m:r>
                      </m:e>
                      <m:e>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𝑏</m:t>
                        </m:r>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The original curve is the </a:t>
                </a:r>
                <a:r>
                  <a:rPr lang="en-US" altLang="zh-CN" sz="2400" b="1" dirty="0">
                    <a:latin typeface="Cambria Math" panose="02040503050406030204" pitchFamily="18" charset="0"/>
                    <a:ea typeface="Cambria Math" panose="02040503050406030204" pitchFamily="18" charset="0"/>
                  </a:rPr>
                  <a:t>envelope</a:t>
                </a:r>
                <a:r>
                  <a:rPr lang="en-US" altLang="zh-CN" sz="2400" dirty="0">
                    <a:latin typeface="Cambria Math" panose="02040503050406030204" pitchFamily="18" charset="0"/>
                    <a:ea typeface="Cambria Math" panose="02040503050406030204" pitchFamily="18" charset="0"/>
                  </a:rPr>
                  <a:t> of these tangent lines.</a:t>
                </a:r>
              </a:p>
              <a:p>
                <a:pPr>
                  <a:lnSpc>
                    <a:spcPct val="150000"/>
                  </a:lnSpc>
                </a:pPr>
                <a:r>
                  <a:rPr lang="en-US" altLang="zh-CN" sz="2400" dirty="0">
                    <a:latin typeface="Cambria Math" panose="02040503050406030204" pitchFamily="18" charset="0"/>
                    <a:ea typeface="Cambria Math" panose="02040503050406030204" pitchFamily="18" charset="0"/>
                  </a:rPr>
                  <a:t>Original description: points on a curve.</a:t>
                </a:r>
              </a:p>
              <a:p>
                <a:pPr>
                  <a:lnSpc>
                    <a:spcPct val="150000"/>
                  </a:lnSpc>
                </a:pPr>
                <a:r>
                  <a:rPr lang="en-US" altLang="zh-CN" sz="2400" dirty="0">
                    <a:latin typeface="Cambria Math" panose="02040503050406030204" pitchFamily="18" charset="0"/>
                    <a:ea typeface="Cambria Math" panose="02040503050406030204" pitchFamily="18" charset="0"/>
                  </a:rPr>
                  <a:t>Legendre description: slopes and intercepts of all tangents.</a:t>
                </a:r>
              </a:p>
              <a:p>
                <a:pPr>
                  <a:lnSpc>
                    <a:spcPct val="150000"/>
                  </a:lnSpc>
                </a:pPr>
                <a:endParaRPr lang="zh-CN" altLang="en-US" sz="2400" dirty="0">
                  <a:latin typeface="Cambria Math" panose="02040503050406030204" pitchFamily="18" charset="0"/>
                </a:endParaRPr>
              </a:p>
            </p:txBody>
          </p:sp>
        </mc:Choice>
        <mc:Fallback>
          <p:sp>
            <p:nvSpPr>
              <p:cNvPr id="3" name="内容占位符 2">
                <a:extLst>
                  <a:ext uri="{FF2B5EF4-FFF2-40B4-BE49-F238E27FC236}">
                    <a16:creationId xmlns:a16="http://schemas.microsoft.com/office/drawing/2014/main" id="{36884095-EE6C-8C13-E676-65BF1DD41F12}"/>
                  </a:ext>
                </a:extLst>
              </p:cNvPr>
              <p:cNvSpPr>
                <a:spLocks noGrp="1" noRot="1" noChangeAspect="1" noMove="1" noResize="1" noEditPoints="1" noAdjustHandles="1" noChangeArrowheads="1" noChangeShapeType="1" noTextEdit="1"/>
              </p:cNvSpPr>
              <p:nvPr>
                <p:ph idx="1"/>
              </p:nvPr>
            </p:nvSpPr>
            <p:spPr>
              <a:blipFill>
                <a:blip r:embed="rId2"/>
                <a:stretch>
                  <a:fillRect l="-812" r="-8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7554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DD243-A04D-3065-AD11-17420B636940}"/>
              </a:ext>
            </a:extLst>
          </p:cNvPr>
          <p:cNvSpPr>
            <a:spLocks noGrp="1"/>
          </p:cNvSpPr>
          <p:nvPr>
            <p:ph type="title"/>
          </p:nvPr>
        </p:nvSpPr>
        <p:spPr/>
        <p:txBody>
          <a:bodyPr/>
          <a:lstStyle/>
          <a:p>
            <a:r>
              <a:rPr lang="en-US" altLang="zh-CN" sz="4000" b="1" dirty="0">
                <a:solidFill>
                  <a:srgbClr val="3C51B4"/>
                </a:solidFill>
                <a:latin typeface="Arial" panose="020B0604020202020204" pitchFamily="34" charset="0"/>
              </a:rPr>
              <a:t>Extension to Multiple Variables</a:t>
            </a:r>
            <a:endParaRPr lang="zh-CN" altLang="en-US" sz="40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6A5A6AD-DB0A-1AE3-A05F-BE139205CECA}"/>
                  </a:ext>
                </a:extLst>
              </p:cNvPr>
              <p:cNvSpPr>
                <a:spLocks noGrp="1"/>
              </p:cNvSpPr>
              <p:nvPr>
                <p:ph idx="1"/>
              </p:nvPr>
            </p:nvSpPr>
            <p:spPr/>
            <p:txBody>
              <a:bodyPr>
                <a:normAutofit fontScale="92500" lnSpcReduction="20000"/>
              </a:bodyPr>
              <a:lstStyle/>
              <a:p>
                <a:r>
                  <a:rPr lang="en-US" altLang="zh-CN" dirty="0">
                    <a:latin typeface="Cambria Math" panose="02040503050406030204" pitchFamily="18" charset="0"/>
                    <a:ea typeface="Cambria Math" panose="02040503050406030204" pitchFamily="18" charset="0"/>
                  </a:rPr>
                  <a:t>For a convex function </a:t>
                </a:r>
                <a14:m>
                  <m:oMath xmlns:m="http://schemas.openxmlformats.org/officeDocument/2006/math">
                    <m:r>
                      <a:rPr lang="zh-CN" altLang="en-US" i="1" smtClean="0">
                        <a:solidFill>
                          <a:srgbClr val="3C51B4"/>
                        </a:solidFill>
                        <a:latin typeface="Cambria Math" panose="02040503050406030204" pitchFamily="18" charset="0"/>
                      </a:rPr>
                      <m:t>𝑓</m:t>
                    </m:r>
                    <m:d>
                      <m:dPr>
                        <m:ctrlPr>
                          <a:rPr lang="ar-AE" altLang="zh-CN"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𝐱</m:t>
                        </m:r>
                      </m:e>
                    </m:d>
                  </m:oMath>
                </a14:m>
                <a:r>
                  <a:rPr lang="ar-AE" altLang="zh-CN" dirty="0">
                    <a:solidFill>
                      <a:srgbClr val="3C51B4"/>
                    </a:solidFill>
                    <a:latin typeface="Cambria Math" panose="02040503050406030204" pitchFamily="18" charset="0"/>
                    <a:ea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of several variables </a:t>
                </a:r>
                <a14:m>
                  <m:oMath xmlns:m="http://schemas.openxmlformats.org/officeDocument/2006/math">
                    <m:r>
                      <a:rPr lang="zh-CN" altLang="en-US" b="1" smtClean="0">
                        <a:solidFill>
                          <a:srgbClr val="3C51B4"/>
                        </a:solidFill>
                        <a:latin typeface="Cambria Math" panose="02040503050406030204" pitchFamily="18" charset="0"/>
                      </a:rPr>
                      <m:t>𝐱</m:t>
                    </m:r>
                    <m:r>
                      <a:rPr lang="en-US" altLang="zh-CN">
                        <a:solidFill>
                          <a:srgbClr val="3C51B4"/>
                        </a:solidFill>
                        <a:latin typeface="Cambria Math" panose="02040503050406030204" pitchFamily="18" charset="0"/>
                        <a:ea typeface="Cambria Math" panose="02040503050406030204" pitchFamily="18" charset="0"/>
                      </a:rPr>
                      <m:t>=</m:t>
                    </m:r>
                    <m:d>
                      <m:dPr>
                        <m:sepChr m:val=","/>
                        <m:ctrlPr>
                          <a:rPr lang="ar-AE" altLang="zh-CN" i="1">
                            <a:solidFill>
                              <a:srgbClr val="3C51B4"/>
                            </a:solidFill>
                            <a:latin typeface="Cambria Math" panose="02040503050406030204" pitchFamily="18" charset="0"/>
                            <a:ea typeface="Cambria Math" panose="02040503050406030204" pitchFamily="18" charset="0"/>
                          </a:rPr>
                        </m:ctrlPr>
                      </m:dPr>
                      <m:e>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ar-AE" altLang="zh-CN">
                                <a:solidFill>
                                  <a:srgbClr val="3C51B4"/>
                                </a:solidFill>
                                <a:latin typeface="Cambria Math" panose="02040503050406030204" pitchFamily="18" charset="0"/>
                                <a:ea typeface="Cambria Math" panose="02040503050406030204" pitchFamily="18" charset="0"/>
                              </a:rPr>
                              <m:t>1</m:t>
                            </m:r>
                          </m:sub>
                        </m:sSub>
                      </m:e>
                      <m:e>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ar-AE" altLang="zh-CN">
                                <a:solidFill>
                                  <a:srgbClr val="3C51B4"/>
                                </a:solidFill>
                                <a:latin typeface="Cambria Math" panose="02040503050406030204" pitchFamily="18" charset="0"/>
                                <a:ea typeface="Cambria Math" panose="02040503050406030204" pitchFamily="18" charset="0"/>
                              </a:rPr>
                              <m:t>2</m:t>
                            </m:r>
                          </m:sub>
                        </m:sSub>
                      </m:e>
                      <m:e>
                        <m:r>
                          <a:rPr lang="ar-AE" altLang="zh-CN">
                            <a:solidFill>
                              <a:srgbClr val="3C51B4"/>
                            </a:solidFill>
                            <a:latin typeface="Cambria Math" panose="02040503050406030204" pitchFamily="18" charset="0"/>
                            <a:ea typeface="Cambria Math" panose="02040503050406030204" pitchFamily="18" charset="0"/>
                          </a:rPr>
                          <m:t>…</m:t>
                        </m:r>
                      </m:e>
                      <m:e>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zh-CN" altLang="ar-AE" i="1">
                                <a:solidFill>
                                  <a:srgbClr val="3C51B4"/>
                                </a:solidFill>
                                <a:latin typeface="Cambria Math" panose="02040503050406030204" pitchFamily="18" charset="0"/>
                              </a:rPr>
                              <m:t>𝑛</m:t>
                            </m:r>
                          </m:sub>
                        </m:sSub>
                      </m:e>
                    </m:d>
                  </m:oMath>
                </a14:m>
                <a:r>
                  <a:rPr lang="ar-AE" altLang="zh-CN" dirty="0">
                    <a:latin typeface="Cambria Math" panose="02040503050406030204" pitchFamily="18" charset="0"/>
                    <a:ea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its Legendre transform introduces a set of conjugate variables</a:t>
                </a:r>
              </a:p>
              <a:p>
                <a:pPr marL="0" indent="0">
                  <a:buNone/>
                </a:pPr>
                <a14:m>
                  <m:oMathPara xmlns:m="http://schemas.openxmlformats.org/officeDocument/2006/math">
                    <m:oMathParaPr>
                      <m:jc m:val="centerGroup"/>
                    </m:oMathParaPr>
                    <m:oMath xmlns:m="http://schemas.openxmlformats.org/officeDocument/2006/math">
                      <m:sSub>
                        <m:sSubPr>
                          <m:ctrlPr>
                            <a:rPr lang="ar-AE" altLang="zh-CN" i="1" smtClean="0">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𝑝</m:t>
                          </m:r>
                        </m:e>
                        <m:sub>
                          <m:r>
                            <a:rPr lang="zh-CN" altLang="ar-AE" i="1">
                              <a:solidFill>
                                <a:srgbClr val="3C51B4"/>
                              </a:solidFill>
                              <a:latin typeface="Cambria Math" panose="02040503050406030204" pitchFamily="18" charset="0"/>
                            </a:rPr>
                            <m:t>𝑖</m:t>
                          </m:r>
                        </m:sub>
                      </m:sSub>
                      <m:r>
                        <a:rPr lang="ar-AE" altLang="zh-CN">
                          <a:solidFill>
                            <a:srgbClr val="3C51B4"/>
                          </a:solidFill>
                          <a:latin typeface="Cambria Math" panose="02040503050406030204" pitchFamily="18" charset="0"/>
                          <a:ea typeface="Cambria Math" panose="02040503050406030204" pitchFamily="18" charset="0"/>
                        </a:rPr>
                        <m:t>=</m:t>
                      </m:r>
                      <m:f>
                        <m:fPr>
                          <m:ctrlPr>
                            <a:rPr lang="ar-AE" altLang="zh-CN" i="1">
                              <a:solidFill>
                                <a:srgbClr val="3C51B4"/>
                              </a:solidFill>
                              <a:latin typeface="Cambria Math" panose="02040503050406030204" pitchFamily="18" charset="0"/>
                              <a:ea typeface="Cambria Math" panose="02040503050406030204" pitchFamily="18" charset="0"/>
                            </a:rPr>
                          </m:ctrlPr>
                        </m:fPr>
                        <m:num>
                          <m:r>
                            <a:rPr lang="ar-AE" altLang="zh-CN">
                              <a:solidFill>
                                <a:srgbClr val="3C51B4"/>
                              </a:solidFill>
                              <a:latin typeface="Cambria Math" panose="02040503050406030204" pitchFamily="18" charset="0"/>
                              <a:ea typeface="Cambria Math" panose="02040503050406030204" pitchFamily="18" charset="0"/>
                            </a:rPr>
                            <m:t>𝜕</m:t>
                          </m:r>
                          <m:r>
                            <a:rPr lang="zh-CN" altLang="ar-AE" i="1">
                              <a:solidFill>
                                <a:srgbClr val="3C51B4"/>
                              </a:solidFill>
                              <a:latin typeface="Cambria Math" panose="02040503050406030204" pitchFamily="18" charset="0"/>
                            </a:rPr>
                            <m:t>𝑓</m:t>
                          </m:r>
                        </m:num>
                        <m:den>
                          <m:r>
                            <a:rPr lang="ar-AE" altLang="zh-CN">
                              <a:solidFill>
                                <a:srgbClr val="3C51B4"/>
                              </a:solidFill>
                              <a:latin typeface="Cambria Math" panose="02040503050406030204" pitchFamily="18" charset="0"/>
                              <a:ea typeface="Cambria Math" panose="02040503050406030204" pitchFamily="18" charset="0"/>
                            </a:rPr>
                            <m:t>𝜕</m:t>
                          </m:r>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zh-CN" altLang="ar-AE" i="1">
                                  <a:solidFill>
                                    <a:srgbClr val="3C51B4"/>
                                  </a:solidFill>
                                  <a:latin typeface="Cambria Math" panose="02040503050406030204" pitchFamily="18" charset="0"/>
                                </a:rPr>
                                <m:t>𝑖</m:t>
                              </m:r>
                            </m:sub>
                          </m:sSub>
                        </m:den>
                      </m:f>
                      <m:r>
                        <a:rPr lang="ar-AE" altLang="zh-CN">
                          <a:solidFill>
                            <a:srgbClr val="3C51B4"/>
                          </a:solidFill>
                          <a:latin typeface="Cambria Math" panose="02040503050406030204" pitchFamily="18" charset="0"/>
                          <a:ea typeface="Cambria Math" panose="02040503050406030204" pitchFamily="18" charset="0"/>
                        </a:rPr>
                        <m:t>, </m:t>
                      </m:r>
                      <m:r>
                        <a:rPr lang="zh-CN" altLang="ar-AE" i="1">
                          <a:solidFill>
                            <a:srgbClr val="3C51B4"/>
                          </a:solidFill>
                          <a:latin typeface="Cambria Math" panose="02040503050406030204" pitchFamily="18" charset="0"/>
                        </a:rPr>
                        <m:t>𝑖</m:t>
                      </m:r>
                      <m:r>
                        <a:rPr lang="ar-AE" altLang="zh-CN">
                          <a:solidFill>
                            <a:srgbClr val="3C51B4"/>
                          </a:solidFill>
                          <a:latin typeface="Cambria Math" panose="02040503050406030204" pitchFamily="18" charset="0"/>
                          <a:ea typeface="Cambria Math" panose="02040503050406030204" pitchFamily="18" charset="0"/>
                        </a:rPr>
                        <m:t>=</m:t>
                      </m:r>
                      <m:r>
                        <a:rPr lang="ar-AE" altLang="zh-CN">
                          <a:solidFill>
                            <a:srgbClr val="3C51B4"/>
                          </a:solidFill>
                          <a:latin typeface="Cambria Math" panose="02040503050406030204" pitchFamily="18" charset="0"/>
                          <a:ea typeface="Cambria Math" panose="02040503050406030204" pitchFamily="18" charset="0"/>
                        </a:rPr>
                        <m:t>1</m:t>
                      </m:r>
                      <m:r>
                        <a:rPr lang="ar-AE" altLang="zh-CN">
                          <a:solidFill>
                            <a:srgbClr val="3C51B4"/>
                          </a:solidFill>
                          <a:latin typeface="Cambria Math" panose="02040503050406030204" pitchFamily="18" charset="0"/>
                          <a:ea typeface="Cambria Math" panose="02040503050406030204" pitchFamily="18" charset="0"/>
                        </a:rPr>
                        <m:t>,…,</m:t>
                      </m:r>
                      <m:r>
                        <a:rPr lang="zh-CN" altLang="ar-AE" i="1">
                          <a:solidFill>
                            <a:srgbClr val="3C51B4"/>
                          </a:solidFill>
                          <a:latin typeface="Cambria Math" panose="02040503050406030204" pitchFamily="18" charset="0"/>
                        </a:rPr>
                        <m:t>𝑛</m:t>
                      </m:r>
                      <m:r>
                        <a:rPr lang="ar-AE" altLang="zh-CN">
                          <a:solidFill>
                            <a:srgbClr val="3C51B4"/>
                          </a:solidFill>
                          <a:latin typeface="Cambria Math" panose="02040503050406030204" pitchFamily="18" charset="0"/>
                          <a:ea typeface="Cambria Math" panose="02040503050406030204" pitchFamily="18" charset="0"/>
                        </a:rPr>
                        <m:t>.</m:t>
                      </m:r>
                    </m:oMath>
                  </m:oMathPara>
                </a14:m>
                <a:endParaRPr lang="ar-AE" altLang="zh-CN" dirty="0">
                  <a:solidFill>
                    <a:srgbClr val="3C51B4"/>
                  </a:solidFill>
                  <a:latin typeface="Cambria Math" panose="02040503050406030204" pitchFamily="18" charset="0"/>
                  <a:ea typeface="Cambria Math" panose="02040503050406030204" pitchFamily="18" charset="0"/>
                </a:endParaRPr>
              </a:p>
              <a:p>
                <a:r>
                  <a:rPr lang="en-US" altLang="zh-CN" dirty="0">
                    <a:latin typeface="Cambria Math" panose="02040503050406030204" pitchFamily="18" charset="0"/>
                    <a:ea typeface="Cambria Math" panose="02040503050406030204" pitchFamily="18" charset="0"/>
                  </a:rPr>
                  <a:t>The transform is defined as</a:t>
                </a:r>
              </a:p>
              <a:p>
                <a:pPr marL="0" indent="0">
                  <a:buNone/>
                </a:pPr>
                <a14:m>
                  <m:oMathPara xmlns:m="http://schemas.openxmlformats.org/officeDocument/2006/math">
                    <m:oMathParaPr>
                      <m:jc m:val="centerGroup"/>
                    </m:oMathParaPr>
                    <m:oMath xmlns:m="http://schemas.openxmlformats.org/officeDocument/2006/math">
                      <m:r>
                        <a:rPr lang="zh-CN" altLang="en-US" i="1" smtClean="0">
                          <a:solidFill>
                            <a:srgbClr val="3C51B4"/>
                          </a:solidFill>
                          <a:latin typeface="Cambria Math" panose="02040503050406030204" pitchFamily="18" charset="0"/>
                        </a:rPr>
                        <m:t>𝑔</m:t>
                      </m:r>
                      <m:d>
                        <m:dPr>
                          <m:ctrlPr>
                            <a:rPr lang="ar-AE" altLang="zh-CN"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𝐩</m:t>
                          </m:r>
                        </m:e>
                      </m:d>
                      <m:r>
                        <a:rPr lang="ar-AE" altLang="zh-CN">
                          <a:solidFill>
                            <a:srgbClr val="3C51B4"/>
                          </a:solidFill>
                          <a:latin typeface="Cambria Math" panose="02040503050406030204" pitchFamily="18" charset="0"/>
                          <a:ea typeface="Cambria Math" panose="02040503050406030204" pitchFamily="18" charset="0"/>
                        </a:rPr>
                        <m:t>=</m:t>
                      </m:r>
                      <m:nary>
                        <m:naryPr>
                          <m:chr m:val="∑"/>
                          <m:grow m:val="on"/>
                          <m:ctrlPr>
                            <a:rPr lang="ar-AE" altLang="zh-CN" i="1">
                              <a:solidFill>
                                <a:srgbClr val="3C51B4"/>
                              </a:solidFill>
                              <a:latin typeface="Cambria Math" panose="02040503050406030204" pitchFamily="18" charset="0"/>
                              <a:ea typeface="Cambria Math" panose="02040503050406030204" pitchFamily="18" charset="0"/>
                            </a:rPr>
                          </m:ctrlPr>
                        </m:naryPr>
                        <m:sub>
                          <m:r>
                            <a:rPr lang="zh-CN" altLang="ar-AE" i="1">
                              <a:solidFill>
                                <a:srgbClr val="3C51B4"/>
                              </a:solidFill>
                              <a:latin typeface="Cambria Math" panose="02040503050406030204" pitchFamily="18" charset="0"/>
                            </a:rPr>
                            <m:t>𝑖</m:t>
                          </m:r>
                          <m:r>
                            <a:rPr lang="ar-AE" altLang="zh-CN">
                              <a:solidFill>
                                <a:srgbClr val="3C51B4"/>
                              </a:solidFill>
                              <a:latin typeface="Cambria Math" panose="02040503050406030204" pitchFamily="18" charset="0"/>
                              <a:ea typeface="Cambria Math" panose="02040503050406030204" pitchFamily="18" charset="0"/>
                            </a:rPr>
                            <m:t>=</m:t>
                          </m:r>
                          <m:r>
                            <a:rPr lang="ar-AE" altLang="zh-CN">
                              <a:solidFill>
                                <a:srgbClr val="3C51B4"/>
                              </a:solidFill>
                              <a:latin typeface="Cambria Math" panose="02040503050406030204" pitchFamily="18" charset="0"/>
                              <a:ea typeface="Cambria Math" panose="02040503050406030204" pitchFamily="18" charset="0"/>
                            </a:rPr>
                            <m:t>1</m:t>
                          </m:r>
                        </m:sub>
                        <m:sup>
                          <m:r>
                            <a:rPr lang="zh-CN" altLang="ar-AE" i="1">
                              <a:solidFill>
                                <a:srgbClr val="3C51B4"/>
                              </a:solidFill>
                              <a:latin typeface="Cambria Math" panose="02040503050406030204" pitchFamily="18" charset="0"/>
                            </a:rPr>
                            <m:t>𝑛</m:t>
                          </m:r>
                        </m:sup>
                        <m:e>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𝑝</m:t>
                              </m:r>
                            </m:e>
                            <m:sub>
                              <m:r>
                                <a:rPr lang="zh-CN" altLang="ar-AE" i="1">
                                  <a:solidFill>
                                    <a:srgbClr val="3C51B4"/>
                                  </a:solidFill>
                                  <a:latin typeface="Cambria Math" panose="02040503050406030204" pitchFamily="18" charset="0"/>
                                </a:rPr>
                                <m:t>𝑖</m:t>
                              </m:r>
                            </m:sub>
                          </m:sSub>
                        </m:e>
                      </m:nary>
                      <m:r>
                        <m:rPr>
                          <m:nor/>
                        </m:rPr>
                        <a:rPr lang="ar-AE" altLang="zh-CN" i="1">
                          <a:solidFill>
                            <a:srgbClr val="3C51B4"/>
                          </a:solidFill>
                          <a:latin typeface="Cambria Math" panose="02040503050406030204" pitchFamily="18" charset="0"/>
                          <a:ea typeface="Cambria Math" panose="02040503050406030204" pitchFamily="18" charset="0"/>
                        </a:rPr>
                        <m:t> </m:t>
                      </m:r>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zh-CN" altLang="ar-AE" i="1">
                              <a:solidFill>
                                <a:srgbClr val="3C51B4"/>
                              </a:solidFill>
                              <a:latin typeface="Cambria Math" panose="02040503050406030204" pitchFamily="18" charset="0"/>
                            </a:rPr>
                            <m:t>𝑖</m:t>
                          </m:r>
                        </m:sub>
                      </m:sSub>
                      <m:d>
                        <m:dPr>
                          <m:ctrlPr>
                            <a:rPr lang="ar-AE" altLang="zh-CN"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𝐩</m:t>
                          </m:r>
                        </m:e>
                      </m:d>
                      <m:r>
                        <a:rPr lang="ar-AE" altLang="zh-CN">
                          <a:solidFill>
                            <a:srgbClr val="3C51B4"/>
                          </a:solidFill>
                          <a:latin typeface="Cambria Math" panose="02040503050406030204" pitchFamily="18" charset="0"/>
                          <a:ea typeface="Cambria Math" panose="02040503050406030204" pitchFamily="18" charset="0"/>
                        </a:rPr>
                        <m:t>−</m:t>
                      </m:r>
                      <m:r>
                        <a:rPr lang="zh-CN" altLang="ar-AE" i="1">
                          <a:solidFill>
                            <a:srgbClr val="3C51B4"/>
                          </a:solidFill>
                          <a:latin typeface="Cambria Math" panose="02040503050406030204" pitchFamily="18" charset="0"/>
                        </a:rPr>
                        <m:t>𝑓</m:t>
                      </m:r>
                      <m:r>
                        <a:rPr lang="ar-AE" altLang="zh-CN">
                          <a:solidFill>
                            <a:srgbClr val="3C51B4"/>
                          </a:solidFill>
                          <a:latin typeface="Cambria Math" panose="02040503050406030204" pitchFamily="18" charset="0"/>
                          <a:ea typeface="Cambria Math" panose="02040503050406030204" pitchFamily="18" charset="0"/>
                        </a:rPr>
                        <m:t>(</m:t>
                      </m:r>
                      <m:r>
                        <a:rPr lang="zh-CN" altLang="ar-AE" b="1">
                          <a:solidFill>
                            <a:srgbClr val="3C51B4"/>
                          </a:solidFill>
                          <a:latin typeface="Cambria Math" panose="02040503050406030204" pitchFamily="18" charset="0"/>
                        </a:rPr>
                        <m:t>𝐱</m:t>
                      </m:r>
                      <m:d>
                        <m:dPr>
                          <m:ctrlPr>
                            <a:rPr lang="ar-AE" altLang="zh-CN" b="1"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𝐩</m:t>
                          </m:r>
                        </m:e>
                      </m:d>
                      <m:r>
                        <a:rPr lang="ar-AE" altLang="zh-CN">
                          <a:solidFill>
                            <a:srgbClr val="3C51B4"/>
                          </a:solidFill>
                          <a:latin typeface="Cambria Math" panose="02040503050406030204" pitchFamily="18" charset="0"/>
                          <a:ea typeface="Cambria Math" panose="02040503050406030204" pitchFamily="18" charset="0"/>
                        </a:rPr>
                        <m:t>)</m:t>
                      </m:r>
                      <m:r>
                        <a:rPr lang="ar-AE" altLang="zh-CN">
                          <a:latin typeface="Cambria Math" panose="02040503050406030204" pitchFamily="18" charset="0"/>
                          <a:ea typeface="Cambria Math" panose="02040503050406030204" pitchFamily="18" charset="0"/>
                        </a:rPr>
                        <m:t>,</m:t>
                      </m:r>
                    </m:oMath>
                  </m:oMathPara>
                </a14:m>
                <a:endParaRPr lang="ar-AE" altLang="zh-CN" b="0" dirty="0">
                  <a:latin typeface="Cambria Math" panose="02040503050406030204" pitchFamily="18" charset="0"/>
                  <a:ea typeface="Cambria Math" panose="02040503050406030204" pitchFamily="18" charset="0"/>
                </a:endParaRPr>
              </a:p>
              <a:p>
                <a:r>
                  <a:rPr lang="en-US" altLang="zh-CN" dirty="0">
                    <a:latin typeface="Cambria Math" panose="02040503050406030204" pitchFamily="18" charset="0"/>
                    <a:ea typeface="Cambria Math" panose="02040503050406030204" pitchFamily="18" charset="0"/>
                  </a:rPr>
                  <a:t>where </a:t>
                </a:r>
                <a14:m>
                  <m:oMath xmlns:m="http://schemas.openxmlformats.org/officeDocument/2006/math">
                    <m:r>
                      <a:rPr lang="zh-CN" altLang="en-US" b="1" smtClean="0">
                        <a:solidFill>
                          <a:srgbClr val="3C51B4"/>
                        </a:solidFill>
                        <a:latin typeface="Cambria Math" panose="02040503050406030204" pitchFamily="18" charset="0"/>
                      </a:rPr>
                      <m:t>𝐱</m:t>
                    </m:r>
                    <m:d>
                      <m:dPr>
                        <m:ctrlPr>
                          <a:rPr lang="ar-AE" altLang="zh-CN" b="1"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𝐩</m:t>
                        </m:r>
                      </m:e>
                    </m:d>
                  </m:oMath>
                </a14:m>
                <a:r>
                  <a:rPr lang="ar-AE" altLang="zh-CN" dirty="0">
                    <a:latin typeface="Cambria Math" panose="02040503050406030204" pitchFamily="18" charset="0"/>
                    <a:ea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is obtained by inverting the system </a:t>
                </a:r>
                <a14:m>
                  <m:oMath xmlns:m="http://schemas.openxmlformats.org/officeDocument/2006/math">
                    <m:sSub>
                      <m:sSubPr>
                        <m:ctrlPr>
                          <a:rPr lang="ar-AE" altLang="zh-CN" i="1" smtClean="0">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𝑝</m:t>
                        </m:r>
                      </m:e>
                      <m:sub>
                        <m:r>
                          <a:rPr lang="zh-CN" altLang="ar-AE" i="1">
                            <a:solidFill>
                              <a:srgbClr val="3C51B4"/>
                            </a:solidFill>
                            <a:latin typeface="Cambria Math" panose="02040503050406030204" pitchFamily="18" charset="0"/>
                          </a:rPr>
                          <m:t>𝑖</m:t>
                        </m:r>
                      </m:sub>
                    </m:sSub>
                    <m:r>
                      <a:rPr lang="ar-AE" altLang="zh-CN">
                        <a:solidFill>
                          <a:srgbClr val="3C51B4"/>
                        </a:solidFill>
                        <a:latin typeface="Cambria Math" panose="02040503050406030204" pitchFamily="18" charset="0"/>
                        <a:ea typeface="Cambria Math" panose="02040503050406030204" pitchFamily="18" charset="0"/>
                      </a:rPr>
                      <m:t>=</m:t>
                    </m:r>
                    <m:r>
                      <a:rPr lang="ar-AE" altLang="zh-CN">
                        <a:solidFill>
                          <a:srgbClr val="3C51B4"/>
                        </a:solidFill>
                        <a:latin typeface="Cambria Math" panose="02040503050406030204" pitchFamily="18" charset="0"/>
                        <a:ea typeface="Cambria Math" panose="02040503050406030204" pitchFamily="18" charset="0"/>
                      </a:rPr>
                      <m:t>𝜕</m:t>
                    </m:r>
                    <m:r>
                      <a:rPr lang="zh-CN" altLang="ar-AE" i="1">
                        <a:solidFill>
                          <a:srgbClr val="3C51B4"/>
                        </a:solidFill>
                        <a:latin typeface="Cambria Math" panose="02040503050406030204" pitchFamily="18" charset="0"/>
                      </a:rPr>
                      <m:t>𝑓</m:t>
                    </m:r>
                    <m:r>
                      <a:rPr lang="ar-AE" altLang="zh-CN">
                        <a:solidFill>
                          <a:srgbClr val="3C51B4"/>
                        </a:solidFill>
                        <a:latin typeface="Cambria Math" panose="02040503050406030204" pitchFamily="18" charset="0"/>
                        <a:ea typeface="Cambria Math" panose="02040503050406030204" pitchFamily="18" charset="0"/>
                      </a:rPr>
                      <m:t>/</m:t>
                    </m:r>
                    <m:r>
                      <a:rPr lang="ar-AE" altLang="zh-CN">
                        <a:solidFill>
                          <a:srgbClr val="3C51B4"/>
                        </a:solidFill>
                        <a:latin typeface="Cambria Math" panose="02040503050406030204" pitchFamily="18" charset="0"/>
                        <a:ea typeface="Cambria Math" panose="02040503050406030204" pitchFamily="18" charset="0"/>
                      </a:rPr>
                      <m:t>𝜕</m:t>
                    </m:r>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zh-CN" altLang="ar-AE" i="1">
                            <a:solidFill>
                              <a:srgbClr val="3C51B4"/>
                            </a:solidFill>
                            <a:latin typeface="Cambria Math" panose="02040503050406030204" pitchFamily="18" charset="0"/>
                          </a:rPr>
                          <m:t>𝑖</m:t>
                        </m:r>
                      </m:sub>
                    </m:sSub>
                  </m:oMath>
                </a14:m>
                <a:r>
                  <a:rPr lang="ar-AE" altLang="zh-CN" dirty="0">
                    <a:latin typeface="Cambria Math" panose="02040503050406030204" pitchFamily="18" charset="0"/>
                    <a:ea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Equivalently,</a:t>
                </a:r>
              </a:p>
              <a:p>
                <a:pPr marL="0" indent="0">
                  <a:buNone/>
                </a:pPr>
                <a14:m>
                  <m:oMathPara xmlns:m="http://schemas.openxmlformats.org/officeDocument/2006/math">
                    <m:oMathParaPr>
                      <m:jc m:val="centerGroup"/>
                    </m:oMathParaPr>
                    <m:oMath xmlns:m="http://schemas.openxmlformats.org/officeDocument/2006/math">
                      <m:r>
                        <a:rPr lang="zh-CN" altLang="en-US" i="1" smtClean="0">
                          <a:solidFill>
                            <a:srgbClr val="3C51B4"/>
                          </a:solidFill>
                          <a:latin typeface="Cambria Math" panose="02040503050406030204" pitchFamily="18" charset="0"/>
                        </a:rPr>
                        <m:t>𝑔</m:t>
                      </m:r>
                      <m:d>
                        <m:dPr>
                          <m:ctrlPr>
                            <a:rPr lang="ar-AE" altLang="zh-CN"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𝐩</m:t>
                          </m:r>
                        </m:e>
                      </m:d>
                      <m:r>
                        <a:rPr lang="ar-AE" altLang="zh-CN">
                          <a:solidFill>
                            <a:srgbClr val="3C51B4"/>
                          </a:solidFill>
                          <a:latin typeface="Cambria Math" panose="02040503050406030204" pitchFamily="18" charset="0"/>
                          <a:ea typeface="Cambria Math" panose="02040503050406030204" pitchFamily="18" charset="0"/>
                        </a:rPr>
                        <m:t>=</m:t>
                      </m:r>
                      <m:limLow>
                        <m:limLowPr>
                          <m:ctrlPr>
                            <a:rPr lang="ar-AE" altLang="zh-CN" i="1">
                              <a:solidFill>
                                <a:srgbClr val="3C51B4"/>
                              </a:solidFill>
                              <a:latin typeface="Cambria Math" panose="02040503050406030204" pitchFamily="18" charset="0"/>
                              <a:ea typeface="Cambria Math" panose="02040503050406030204" pitchFamily="18" charset="0"/>
                            </a:rPr>
                          </m:ctrlPr>
                        </m:limLowPr>
                        <m:e>
                          <m:r>
                            <a:rPr lang="en-US" altLang="zh-CN" b="0" i="1" smtClean="0">
                              <a:solidFill>
                                <a:srgbClr val="3C51B4"/>
                              </a:solidFill>
                              <a:latin typeface="Cambria Math" panose="02040503050406030204" pitchFamily="18" charset="0"/>
                              <a:ea typeface="Cambria Math" panose="02040503050406030204" pitchFamily="18" charset="0"/>
                            </a:rPr>
                            <m:t>𝑚𝑎𝑥</m:t>
                          </m:r>
                        </m:e>
                        <m:lim>
                          <m:r>
                            <a:rPr lang="zh-CN" altLang="ar-AE" b="1">
                              <a:solidFill>
                                <a:srgbClr val="3C51B4"/>
                              </a:solidFill>
                              <a:latin typeface="Cambria Math" panose="02040503050406030204" pitchFamily="18" charset="0"/>
                            </a:rPr>
                            <m:t>𝐱</m:t>
                          </m:r>
                        </m:lim>
                      </m:limLow>
                      <m:r>
                        <a:rPr lang="ar-AE" altLang="zh-CN">
                          <a:solidFill>
                            <a:srgbClr val="3C51B4"/>
                          </a:solidFill>
                          <a:latin typeface="Cambria Math" panose="02040503050406030204" pitchFamily="18" charset="0"/>
                          <a:ea typeface="Cambria Math" panose="02040503050406030204" pitchFamily="18" charset="0"/>
                        </a:rPr>
                        <m:t>(</m:t>
                      </m:r>
                      <m:r>
                        <a:rPr lang="zh-CN" altLang="ar-AE" b="1">
                          <a:solidFill>
                            <a:srgbClr val="3C51B4"/>
                          </a:solidFill>
                          <a:latin typeface="Cambria Math" panose="02040503050406030204" pitchFamily="18" charset="0"/>
                        </a:rPr>
                        <m:t>𝐩</m:t>
                      </m:r>
                      <m:r>
                        <a:rPr lang="ar-AE" altLang="zh-CN">
                          <a:solidFill>
                            <a:srgbClr val="3C51B4"/>
                          </a:solidFill>
                          <a:latin typeface="Cambria Math" panose="02040503050406030204" pitchFamily="18" charset="0"/>
                          <a:ea typeface="Cambria Math" panose="02040503050406030204" pitchFamily="18" charset="0"/>
                        </a:rPr>
                        <m:t>⋅</m:t>
                      </m:r>
                      <m:r>
                        <a:rPr lang="zh-CN" altLang="ar-AE" b="1">
                          <a:solidFill>
                            <a:srgbClr val="3C51B4"/>
                          </a:solidFill>
                          <a:latin typeface="Cambria Math" panose="02040503050406030204" pitchFamily="18" charset="0"/>
                        </a:rPr>
                        <m:t>𝐱</m:t>
                      </m:r>
                      <m:r>
                        <a:rPr lang="ar-AE" altLang="zh-CN">
                          <a:solidFill>
                            <a:srgbClr val="3C51B4"/>
                          </a:solidFill>
                          <a:latin typeface="Cambria Math" panose="02040503050406030204" pitchFamily="18" charset="0"/>
                          <a:ea typeface="Cambria Math" panose="02040503050406030204" pitchFamily="18" charset="0"/>
                        </a:rPr>
                        <m:t>−</m:t>
                      </m:r>
                      <m:r>
                        <a:rPr lang="zh-CN" altLang="ar-AE" i="1">
                          <a:solidFill>
                            <a:srgbClr val="3C51B4"/>
                          </a:solidFill>
                          <a:latin typeface="Cambria Math" panose="02040503050406030204" pitchFamily="18" charset="0"/>
                        </a:rPr>
                        <m:t>𝑓</m:t>
                      </m:r>
                      <m:d>
                        <m:dPr>
                          <m:ctrlPr>
                            <a:rPr lang="ar-AE" altLang="zh-CN" i="1">
                              <a:solidFill>
                                <a:srgbClr val="3C51B4"/>
                              </a:solidFill>
                              <a:latin typeface="Cambria Math" panose="02040503050406030204" pitchFamily="18" charset="0"/>
                              <a:ea typeface="Cambria Math" panose="02040503050406030204" pitchFamily="18" charset="0"/>
                            </a:rPr>
                          </m:ctrlPr>
                        </m:dPr>
                        <m:e>
                          <m:r>
                            <a:rPr lang="zh-CN" altLang="ar-AE" b="1">
                              <a:solidFill>
                                <a:srgbClr val="3C51B4"/>
                              </a:solidFill>
                              <a:latin typeface="Cambria Math" panose="02040503050406030204" pitchFamily="18" charset="0"/>
                            </a:rPr>
                            <m:t>𝐱</m:t>
                          </m:r>
                        </m:e>
                      </m:d>
                      <m:r>
                        <a:rPr lang="ar-AE" altLang="zh-CN">
                          <a:solidFill>
                            <a:srgbClr val="3C51B4"/>
                          </a:solidFill>
                          <a:latin typeface="Cambria Math" panose="02040503050406030204" pitchFamily="18" charset="0"/>
                          <a:ea typeface="Cambria Math" panose="02040503050406030204" pitchFamily="18" charset="0"/>
                        </a:rPr>
                        <m:t>)</m:t>
                      </m:r>
                      <m:r>
                        <a:rPr lang="ar-AE" altLang="zh-CN">
                          <a:latin typeface="Cambria Math" panose="02040503050406030204" pitchFamily="18" charset="0"/>
                          <a:ea typeface="Cambria Math" panose="02040503050406030204" pitchFamily="18" charset="0"/>
                        </a:rPr>
                        <m:t>,</m:t>
                      </m:r>
                    </m:oMath>
                  </m:oMathPara>
                </a14:m>
                <a:endParaRPr lang="ar-AE" altLang="zh-CN" b="0" dirty="0">
                  <a:latin typeface="Cambria Math" panose="02040503050406030204" pitchFamily="18" charset="0"/>
                  <a:ea typeface="Cambria Math" panose="02040503050406030204" pitchFamily="18" charset="0"/>
                </a:endParaRPr>
              </a:p>
              <a:p>
                <a:r>
                  <a:rPr lang="en-US" altLang="zh-CN" dirty="0">
                    <a:latin typeface="Cambria Math" panose="02040503050406030204" pitchFamily="18" charset="0"/>
                    <a:ea typeface="Cambria Math" panose="02040503050406030204" pitchFamily="18" charset="0"/>
                  </a:rPr>
                  <a:t>with </a:t>
                </a:r>
                <a14:m>
                  <m:oMath xmlns:m="http://schemas.openxmlformats.org/officeDocument/2006/math">
                    <m:r>
                      <a:rPr lang="zh-CN" altLang="en-US" b="1" smtClean="0">
                        <a:solidFill>
                          <a:srgbClr val="3C51B4"/>
                        </a:solidFill>
                        <a:latin typeface="Cambria Math" panose="02040503050406030204" pitchFamily="18" charset="0"/>
                      </a:rPr>
                      <m:t>𝐩</m:t>
                    </m:r>
                    <m:r>
                      <a:rPr lang="en-US" altLang="zh-CN">
                        <a:solidFill>
                          <a:srgbClr val="3C51B4"/>
                        </a:solidFill>
                        <a:latin typeface="Cambria Math" panose="02040503050406030204" pitchFamily="18" charset="0"/>
                        <a:ea typeface="Cambria Math" panose="02040503050406030204" pitchFamily="18" charset="0"/>
                      </a:rPr>
                      <m:t>⋅</m:t>
                    </m:r>
                    <m:r>
                      <a:rPr lang="zh-CN" altLang="en-US" b="1">
                        <a:solidFill>
                          <a:srgbClr val="3C51B4"/>
                        </a:solidFill>
                        <a:latin typeface="Cambria Math" panose="02040503050406030204" pitchFamily="18" charset="0"/>
                      </a:rPr>
                      <m:t>𝐱</m:t>
                    </m:r>
                    <m:r>
                      <a:rPr lang="en-US" altLang="zh-CN">
                        <a:solidFill>
                          <a:srgbClr val="3C51B4"/>
                        </a:solidFill>
                        <a:latin typeface="Cambria Math" panose="02040503050406030204" pitchFamily="18" charset="0"/>
                        <a:ea typeface="Cambria Math" panose="02040503050406030204" pitchFamily="18" charset="0"/>
                      </a:rPr>
                      <m:t>=</m:t>
                    </m:r>
                    <m:nary>
                      <m:naryPr>
                        <m:chr m:val="∑"/>
                        <m:limLoc m:val="subSup"/>
                        <m:grow m:val="on"/>
                        <m:supHide m:val="on"/>
                        <m:ctrlPr>
                          <a:rPr lang="ar-AE" altLang="zh-CN" i="1">
                            <a:solidFill>
                              <a:srgbClr val="3C51B4"/>
                            </a:solidFill>
                            <a:latin typeface="Cambria Math" panose="02040503050406030204" pitchFamily="18" charset="0"/>
                            <a:ea typeface="Cambria Math" panose="02040503050406030204" pitchFamily="18" charset="0"/>
                          </a:rPr>
                        </m:ctrlPr>
                      </m:naryPr>
                      <m:sub>
                        <m:r>
                          <a:rPr lang="zh-CN" altLang="ar-AE" i="1">
                            <a:solidFill>
                              <a:srgbClr val="3C51B4"/>
                            </a:solidFill>
                            <a:latin typeface="Cambria Math" panose="02040503050406030204" pitchFamily="18" charset="0"/>
                          </a:rPr>
                          <m:t>𝑖</m:t>
                        </m:r>
                      </m:sub>
                      <m:sup/>
                      <m:e>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𝑝</m:t>
                            </m:r>
                          </m:e>
                          <m:sub>
                            <m:r>
                              <a:rPr lang="zh-CN" altLang="ar-AE" i="1">
                                <a:solidFill>
                                  <a:srgbClr val="3C51B4"/>
                                </a:solidFill>
                                <a:latin typeface="Cambria Math" panose="02040503050406030204" pitchFamily="18" charset="0"/>
                              </a:rPr>
                              <m:t>𝑖</m:t>
                            </m:r>
                          </m:sub>
                        </m:sSub>
                      </m:e>
                    </m:nary>
                    <m:sSub>
                      <m:sSubPr>
                        <m:ctrlPr>
                          <a:rPr lang="ar-AE" altLang="zh-CN" i="1">
                            <a:solidFill>
                              <a:srgbClr val="3C51B4"/>
                            </a:solidFill>
                            <a:latin typeface="Cambria Math" panose="02040503050406030204" pitchFamily="18" charset="0"/>
                            <a:ea typeface="Cambria Math" panose="02040503050406030204" pitchFamily="18" charset="0"/>
                          </a:rPr>
                        </m:ctrlPr>
                      </m:sSubPr>
                      <m:e>
                        <m:r>
                          <a:rPr lang="zh-CN" altLang="ar-AE" i="1">
                            <a:solidFill>
                              <a:srgbClr val="3C51B4"/>
                            </a:solidFill>
                            <a:latin typeface="Cambria Math" panose="02040503050406030204" pitchFamily="18" charset="0"/>
                          </a:rPr>
                          <m:t>𝑥</m:t>
                        </m:r>
                      </m:e>
                      <m:sub>
                        <m:r>
                          <a:rPr lang="zh-CN" altLang="ar-AE" i="1">
                            <a:solidFill>
                              <a:srgbClr val="3C51B4"/>
                            </a:solidFill>
                            <a:latin typeface="Cambria Math" panose="02040503050406030204" pitchFamily="18" charset="0"/>
                          </a:rPr>
                          <m:t>𝑖</m:t>
                        </m:r>
                      </m:sub>
                    </m:sSub>
                  </m:oMath>
                </a14:m>
                <a:r>
                  <a:rPr lang="ar-AE" altLang="zh-CN" dirty="0">
                    <a:latin typeface="Cambria Math" panose="02040503050406030204" pitchFamily="18" charset="0"/>
                    <a:ea typeface="Cambria Math" panose="02040503050406030204" pitchFamily="18" charset="0"/>
                  </a:rPr>
                  <a:t>.</a:t>
                </a:r>
              </a:p>
              <a:p>
                <a:endParaRPr lang="zh-CN" altLang="en-US" dirty="0">
                  <a:latin typeface="Cambria Math" panose="02040503050406030204" pitchFamily="18" charset="0"/>
                </a:endParaRPr>
              </a:p>
            </p:txBody>
          </p:sp>
        </mc:Choice>
        <mc:Fallback>
          <p:sp>
            <p:nvSpPr>
              <p:cNvPr id="3" name="内容占位符 2">
                <a:extLst>
                  <a:ext uri="{FF2B5EF4-FFF2-40B4-BE49-F238E27FC236}">
                    <a16:creationId xmlns:a16="http://schemas.microsoft.com/office/drawing/2014/main" id="{D6A5A6AD-DB0A-1AE3-A05F-BE139205CECA}"/>
                  </a:ext>
                </a:extLst>
              </p:cNvPr>
              <p:cNvSpPr>
                <a:spLocks noGrp="1" noRot="1" noChangeAspect="1" noMove="1" noResize="1" noEditPoints="1" noAdjustHandles="1" noChangeArrowheads="1" noChangeShapeType="1" noTextEdit="1"/>
              </p:cNvSpPr>
              <p:nvPr>
                <p:ph idx="1"/>
              </p:nvPr>
            </p:nvSpPr>
            <p:spPr>
              <a:blipFill>
                <a:blip r:embed="rId2"/>
                <a:stretch>
                  <a:fillRect l="-928" t="-3922" b="-2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1042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6B60B3-DB3B-DA93-BE95-33ECEDA343F2}"/>
              </a:ext>
            </a:extLst>
          </p:cNvPr>
          <p:cNvSpPr>
            <a:spLocks noGrp="1"/>
          </p:cNvSpPr>
          <p:nvPr>
            <p:ph type="title"/>
          </p:nvPr>
        </p:nvSpPr>
        <p:spPr/>
        <p:txBody>
          <a:bodyPr>
            <a:normAutofit/>
          </a:bodyPr>
          <a:lstStyle/>
          <a:p>
            <a:r>
              <a:rPr lang="en-US" altLang="zh-CN" sz="4000" b="1" dirty="0">
                <a:solidFill>
                  <a:srgbClr val="3C51B4"/>
                </a:solidFill>
                <a:latin typeface="Arial" panose="020B0604020202020204" pitchFamily="34" charset="0"/>
              </a:rPr>
              <a:t>Conjugate Variables and Differentials</a:t>
            </a:r>
            <a:endParaRPr lang="zh-CN" altLang="en-US" sz="40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E5B6527-8976-B779-BDFD-E021D6CE0D04}"/>
                  </a:ext>
                </a:extLst>
              </p:cNvPr>
              <p:cNvSpPr>
                <a:spLocks noGrp="1"/>
              </p:cNvSpPr>
              <p:nvPr>
                <p:ph idx="1"/>
              </p:nvPr>
            </p:nvSpPr>
            <p:spPr/>
            <p:txBody>
              <a:bodyPr>
                <a:normAutofit/>
              </a:bodyPr>
              <a:lstStyle/>
              <a:p>
                <a:r>
                  <a:rPr lang="en-US" altLang="zh-CN" sz="2400" dirty="0">
                    <a:latin typeface="Cambria Math" panose="02040503050406030204" pitchFamily="18" charset="0"/>
                    <a:ea typeface="Cambria Math" panose="02040503050406030204" pitchFamily="18" charset="0"/>
                  </a:rPr>
                  <a:t>Taking the differential of </a:t>
                </a:r>
                <a14:m>
                  <m:oMath xmlns:m="http://schemas.openxmlformats.org/officeDocument/2006/math">
                    <m:r>
                      <a:rPr lang="zh-CN" altLang="en-US" sz="2400" i="1">
                        <a:latin typeface="Cambria Math" panose="02040503050406030204" pitchFamily="18" charset="0"/>
                      </a:rPr>
                      <m:t>𝑔</m:t>
                    </m:r>
                  </m:oMath>
                </a14:m>
                <a:r>
                  <a:rPr lang="en-US" altLang="zh-CN" sz="2400" dirty="0">
                    <a:latin typeface="Cambria Math" panose="02040503050406030204" pitchFamily="18" charset="0"/>
                    <a:ea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r>
                        <a:rPr lang="zh-CN" altLang="en-US" sz="2400" i="1" smtClean="0">
                          <a:solidFill>
                            <a:srgbClr val="3C51B4"/>
                          </a:solidFill>
                          <a:latin typeface="Cambria Math" panose="02040503050406030204" pitchFamily="18" charset="0"/>
                        </a:rPr>
                        <m:t>𝑑𝑔</m:t>
                      </m:r>
                      <m:r>
                        <a:rPr lang="en-US" altLang="zh-CN" sz="2400">
                          <a:solidFill>
                            <a:srgbClr val="3C51B4"/>
                          </a:solidFill>
                          <a:latin typeface="Cambria Math" panose="02040503050406030204" pitchFamily="18" charset="0"/>
                          <a:ea typeface="Cambria Math" panose="02040503050406030204" pitchFamily="18" charset="0"/>
                        </a:rPr>
                        <m:t>=</m:t>
                      </m:r>
                      <m:nary>
                        <m:naryPr>
                          <m:chr m:val="∑"/>
                          <m:grow m:val="on"/>
                          <m:supHide m:val="on"/>
                          <m:ctrlPr>
                            <a:rPr lang="ar-AE" altLang="zh-CN" sz="2400" i="1">
                              <a:solidFill>
                                <a:srgbClr val="3C51B4"/>
                              </a:solidFill>
                              <a:latin typeface="Cambria Math" panose="02040503050406030204" pitchFamily="18" charset="0"/>
                              <a:ea typeface="Cambria Math" panose="02040503050406030204" pitchFamily="18" charset="0"/>
                            </a:rPr>
                          </m:ctrlPr>
                        </m:naryPr>
                        <m:sub>
                          <m:r>
                            <a:rPr lang="zh-CN" altLang="ar-AE" sz="2400" i="1">
                              <a:solidFill>
                                <a:srgbClr val="3C51B4"/>
                              </a:solidFill>
                              <a:latin typeface="Cambria Math" panose="02040503050406030204" pitchFamily="18" charset="0"/>
                            </a:rPr>
                            <m:t>𝑖</m:t>
                          </m:r>
                        </m:sub>
                        <m:sup/>
                        <m:e>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e>
                      </m:nary>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𝑝</m:t>
                          </m:r>
                        </m:e>
                        <m:sub>
                          <m:r>
                            <a:rPr lang="zh-CN" altLang="ar-AE" sz="2400" i="1">
                              <a:solidFill>
                                <a:srgbClr val="3C51B4"/>
                              </a:solidFill>
                              <a:latin typeface="Cambria Math" panose="02040503050406030204" pitchFamily="18" charset="0"/>
                            </a:rPr>
                            <m:t>𝑖</m:t>
                          </m:r>
                        </m:sub>
                      </m:sSub>
                      <m:r>
                        <a:rPr lang="ar-AE" altLang="zh-CN" sz="2400">
                          <a:solidFill>
                            <a:srgbClr val="3C51B4"/>
                          </a:solidFill>
                          <a:latin typeface="Cambria Math" panose="02040503050406030204" pitchFamily="18" charset="0"/>
                          <a:ea typeface="Cambria Math" panose="02040503050406030204" pitchFamily="18" charset="0"/>
                        </a:rPr>
                        <m:t>+</m:t>
                      </m:r>
                      <m:nary>
                        <m:naryPr>
                          <m:chr m:val="∑"/>
                          <m:grow m:val="on"/>
                          <m:supHide m:val="on"/>
                          <m:ctrlPr>
                            <a:rPr lang="ar-AE" altLang="zh-CN" sz="2400" i="1">
                              <a:solidFill>
                                <a:srgbClr val="3C51B4"/>
                              </a:solidFill>
                              <a:latin typeface="Cambria Math" panose="02040503050406030204" pitchFamily="18" charset="0"/>
                              <a:ea typeface="Cambria Math" panose="02040503050406030204" pitchFamily="18" charset="0"/>
                            </a:rPr>
                          </m:ctrlPr>
                        </m:naryPr>
                        <m:sub>
                          <m:r>
                            <a:rPr lang="zh-CN" altLang="ar-AE" sz="2400" i="1">
                              <a:solidFill>
                                <a:srgbClr val="3C51B4"/>
                              </a:solidFill>
                              <a:latin typeface="Cambria Math" panose="02040503050406030204" pitchFamily="18" charset="0"/>
                            </a:rPr>
                            <m:t>𝑖</m:t>
                          </m:r>
                        </m:sub>
                        <m:sup/>
                        <m:e>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𝑝</m:t>
                              </m:r>
                            </m:e>
                            <m:sub>
                              <m:r>
                                <a:rPr lang="zh-CN" altLang="ar-AE" sz="2400" i="1">
                                  <a:solidFill>
                                    <a:srgbClr val="3C51B4"/>
                                  </a:solidFill>
                                  <a:latin typeface="Cambria Math" panose="02040503050406030204" pitchFamily="18" charset="0"/>
                                </a:rPr>
                                <m:t>𝑖</m:t>
                              </m:r>
                            </m:sub>
                          </m:sSub>
                        </m:e>
                      </m:nary>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r>
                        <a:rPr lang="ar-AE" altLang="zh-CN" sz="2400">
                          <a:solidFill>
                            <a:srgbClr val="3C51B4"/>
                          </a:solidFill>
                          <a:latin typeface="Cambria Math" panose="02040503050406030204" pitchFamily="18" charset="0"/>
                          <a:ea typeface="Cambria Math" panose="02040503050406030204" pitchFamily="18" charset="0"/>
                        </a:rPr>
                        <m:t>−</m:t>
                      </m:r>
                      <m:nary>
                        <m:naryPr>
                          <m:chr m:val="∑"/>
                          <m:grow m:val="on"/>
                          <m:supHide m:val="on"/>
                          <m:ctrlPr>
                            <a:rPr lang="ar-AE" altLang="zh-CN" sz="2400" i="1">
                              <a:solidFill>
                                <a:srgbClr val="3C51B4"/>
                              </a:solidFill>
                              <a:latin typeface="Cambria Math" panose="02040503050406030204" pitchFamily="18" charset="0"/>
                              <a:ea typeface="Cambria Math" panose="02040503050406030204" pitchFamily="18" charset="0"/>
                            </a:rPr>
                          </m:ctrlPr>
                        </m:naryPr>
                        <m:sub>
                          <m:r>
                            <a:rPr lang="zh-CN" altLang="ar-AE" sz="2400" i="1">
                              <a:solidFill>
                                <a:srgbClr val="3C51B4"/>
                              </a:solidFill>
                              <a:latin typeface="Cambria Math" panose="02040503050406030204" pitchFamily="18" charset="0"/>
                            </a:rPr>
                            <m:t>𝑖</m:t>
                          </m:r>
                        </m:sub>
                        <m:sup/>
                        <m:e>
                          <m:f>
                            <m:fPr>
                              <m:ctrlPr>
                                <a:rPr lang="ar-AE" altLang="zh-CN" sz="2400" i="1">
                                  <a:solidFill>
                                    <a:srgbClr val="3C51B4"/>
                                  </a:solidFill>
                                  <a:latin typeface="Cambria Math" panose="02040503050406030204" pitchFamily="18" charset="0"/>
                                  <a:ea typeface="Cambria Math" panose="02040503050406030204" pitchFamily="18" charset="0"/>
                                </a:rPr>
                              </m:ctrlPr>
                            </m:fPr>
                            <m:num>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𝑓</m:t>
                              </m:r>
                            </m:num>
                            <m:den>
                              <m:r>
                                <a:rPr lang="ar-AE" altLang="zh-CN" sz="2400">
                                  <a:solidFill>
                                    <a:srgbClr val="3C51B4"/>
                                  </a:solidFill>
                                  <a:latin typeface="Cambria Math" panose="02040503050406030204" pitchFamily="18" charset="0"/>
                                  <a:ea typeface="Cambria Math" panose="02040503050406030204" pitchFamily="18" charset="0"/>
                                </a:rPr>
                                <m:t>𝜕</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den>
                          </m:f>
                        </m:e>
                      </m:nary>
                      <m:r>
                        <a:rPr lang="zh-CN" altLang="ar-AE" sz="2400" i="1">
                          <a:solidFill>
                            <a:srgbClr val="3C51B4"/>
                          </a:solidFill>
                          <a:latin typeface="Cambria Math" panose="02040503050406030204" pitchFamily="18" charset="0"/>
                        </a:rPr>
                        <m:t>𝑑</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r>
                        <a:rPr lang="ar-AE" altLang="zh-CN" sz="2400">
                          <a:solidFill>
                            <a:srgbClr val="3C51B4"/>
                          </a:solidFill>
                          <a:latin typeface="Cambria Math" panose="02040503050406030204" pitchFamily="18" charset="0"/>
                          <a:ea typeface="Cambria Math" panose="02040503050406030204" pitchFamily="18" charset="0"/>
                        </a:rPr>
                        <m:t>=</m:t>
                      </m:r>
                      <m:nary>
                        <m:naryPr>
                          <m:chr m:val="∑"/>
                          <m:grow m:val="on"/>
                          <m:supHide m:val="on"/>
                          <m:ctrlPr>
                            <a:rPr lang="ar-AE" altLang="zh-CN" sz="2400" i="1">
                              <a:solidFill>
                                <a:srgbClr val="3C51B4"/>
                              </a:solidFill>
                              <a:latin typeface="Cambria Math" panose="02040503050406030204" pitchFamily="18" charset="0"/>
                              <a:ea typeface="Cambria Math" panose="02040503050406030204" pitchFamily="18" charset="0"/>
                            </a:rPr>
                          </m:ctrlPr>
                        </m:naryPr>
                        <m:sub>
                          <m:r>
                            <a:rPr lang="zh-CN" altLang="ar-AE" sz="2400" i="1">
                              <a:solidFill>
                                <a:srgbClr val="3C51B4"/>
                              </a:solidFill>
                              <a:latin typeface="Cambria Math" panose="02040503050406030204" pitchFamily="18" charset="0"/>
                            </a:rPr>
                            <m:t>𝑖</m:t>
                          </m:r>
                        </m:sub>
                        <m:sup/>
                        <m:e>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e>
                      </m:nary>
                      <m:r>
                        <m:rPr>
                          <m:nor/>
                        </m:rPr>
                        <a:rPr lang="ar-AE" altLang="zh-CN" sz="2400" i="1">
                          <a:solidFill>
                            <a:srgbClr val="3C51B4"/>
                          </a:solidFill>
                          <a:latin typeface="Cambria Math" panose="02040503050406030204" pitchFamily="18" charset="0"/>
                          <a:ea typeface="Cambria Math" panose="02040503050406030204" pitchFamily="18" charset="0"/>
                        </a:rPr>
                        <m:t> </m:t>
                      </m:r>
                      <m:r>
                        <a:rPr lang="zh-CN" altLang="ar-AE" sz="2400" i="1">
                          <a:solidFill>
                            <a:srgbClr val="3C51B4"/>
                          </a:solidFill>
                          <a:latin typeface="Cambria Math" panose="02040503050406030204" pitchFamily="18" charset="0"/>
                        </a:rPr>
                        <m:t>𝑑</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𝑝</m:t>
                          </m:r>
                        </m:e>
                        <m:sub>
                          <m:r>
                            <a:rPr lang="zh-CN" altLang="ar-AE" sz="2400" i="1">
                              <a:solidFill>
                                <a:srgbClr val="3C51B4"/>
                              </a:solidFill>
                              <a:latin typeface="Cambria Math" panose="02040503050406030204" pitchFamily="18" charset="0"/>
                            </a:rPr>
                            <m:t>𝑖</m:t>
                          </m:r>
                        </m:sub>
                      </m:sSub>
                      <m:r>
                        <a:rPr lang="ar-AE" altLang="zh-CN" sz="2400">
                          <a:latin typeface="Cambria Math" panose="02040503050406030204" pitchFamily="18" charset="0"/>
                          <a:ea typeface="Cambria Math" panose="02040503050406030204" pitchFamily="18" charset="0"/>
                        </a:rPr>
                        <m:t>,</m:t>
                      </m:r>
                    </m:oMath>
                  </m:oMathPara>
                </a14:m>
                <a:endParaRPr lang="ar-AE" altLang="zh-CN" sz="2400" b="0" dirty="0">
                  <a:latin typeface="Cambria Math" panose="02040503050406030204" pitchFamily="18" charset="0"/>
                  <a:ea typeface="Cambria Math" panose="02040503050406030204" pitchFamily="18" charset="0"/>
                </a:endParaRPr>
              </a:p>
              <a:p>
                <a:r>
                  <a:rPr lang="en-US" altLang="zh-CN" sz="2400" dirty="0">
                    <a:latin typeface="Cambria Math" panose="02040503050406030204" pitchFamily="18" charset="0"/>
                    <a:ea typeface="Cambria Math" panose="02040503050406030204" pitchFamily="18" charset="0"/>
                  </a:rPr>
                  <a:t>so that</a:t>
                </a:r>
              </a:p>
              <a:p>
                <a:pPr marL="0" indent="0">
                  <a:buNone/>
                </a:pPr>
                <a14:m>
                  <m:oMathPara xmlns:m="http://schemas.openxmlformats.org/officeDocument/2006/math">
                    <m:oMathParaPr>
                      <m:jc m:val="centerGroup"/>
                    </m:oMathParaPr>
                    <m:oMath xmlns:m="http://schemas.openxmlformats.org/officeDocument/2006/math">
                      <m:f>
                        <m:fPr>
                          <m:ctrlPr>
                            <a:rPr lang="ar-AE" altLang="zh-CN" sz="2400" i="1" smtClean="0">
                              <a:solidFill>
                                <a:srgbClr val="3C51B4"/>
                              </a:solidFill>
                              <a:latin typeface="Cambria Math" panose="02040503050406030204" pitchFamily="18" charset="0"/>
                              <a:ea typeface="Cambria Math" panose="02040503050406030204" pitchFamily="18" charset="0"/>
                            </a:rPr>
                          </m:ctrlPr>
                        </m:fPr>
                        <m:num>
                          <m:r>
                            <a:rPr lang="ar-AE" altLang="zh-CN" sz="2400">
                              <a:solidFill>
                                <a:srgbClr val="3C51B4"/>
                              </a:solidFill>
                              <a:latin typeface="Cambria Math" panose="02040503050406030204" pitchFamily="18" charset="0"/>
                              <a:ea typeface="Cambria Math" panose="02040503050406030204" pitchFamily="18" charset="0"/>
                            </a:rPr>
                            <m:t>𝜕</m:t>
                          </m:r>
                          <m:r>
                            <a:rPr lang="zh-CN" altLang="ar-AE" sz="2400" i="1">
                              <a:solidFill>
                                <a:srgbClr val="3C51B4"/>
                              </a:solidFill>
                              <a:latin typeface="Cambria Math" panose="02040503050406030204" pitchFamily="18" charset="0"/>
                            </a:rPr>
                            <m:t>𝑔</m:t>
                          </m:r>
                        </m:num>
                        <m:den>
                          <m:r>
                            <a:rPr lang="ar-AE" altLang="zh-CN" sz="2400">
                              <a:solidFill>
                                <a:srgbClr val="3C51B4"/>
                              </a:solidFill>
                              <a:latin typeface="Cambria Math" panose="02040503050406030204" pitchFamily="18" charset="0"/>
                              <a:ea typeface="Cambria Math" panose="02040503050406030204" pitchFamily="18" charset="0"/>
                            </a:rPr>
                            <m:t>𝜕</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𝑝</m:t>
                              </m:r>
                            </m:e>
                            <m:sub>
                              <m:r>
                                <a:rPr lang="zh-CN" altLang="ar-AE" sz="2400" i="1">
                                  <a:solidFill>
                                    <a:srgbClr val="3C51B4"/>
                                  </a:solidFill>
                                  <a:latin typeface="Cambria Math" panose="02040503050406030204" pitchFamily="18" charset="0"/>
                                </a:rPr>
                                <m:t>𝑖</m:t>
                              </m:r>
                            </m:sub>
                          </m:sSub>
                        </m:den>
                      </m:f>
                      <m:r>
                        <a:rPr lang="ar-AE" altLang="zh-CN" sz="2400">
                          <a:solidFill>
                            <a:srgbClr val="3C51B4"/>
                          </a:solidFill>
                          <a:latin typeface="Cambria Math" panose="02040503050406030204" pitchFamily="18" charset="0"/>
                          <a:ea typeface="Cambria Math" panose="02040503050406030204" pitchFamily="18" charset="0"/>
                        </a:rPr>
                        <m:t>=</m:t>
                      </m:r>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r>
                        <a:rPr lang="ar-AE" altLang="zh-CN" sz="2400">
                          <a:latin typeface="Cambria Math" panose="02040503050406030204" pitchFamily="18" charset="0"/>
                          <a:ea typeface="Cambria Math" panose="02040503050406030204" pitchFamily="18" charset="0"/>
                        </a:rPr>
                        <m:t>.</m:t>
                      </m:r>
                    </m:oMath>
                  </m:oMathPara>
                </a14:m>
                <a:endParaRPr lang="ar-AE" altLang="zh-CN" sz="2400" dirty="0">
                  <a:latin typeface="Cambria Math" panose="02040503050406030204" pitchFamily="18" charset="0"/>
                  <a:ea typeface="Cambria Math" panose="02040503050406030204" pitchFamily="18" charset="0"/>
                </a:endParaRPr>
              </a:p>
              <a:p>
                <a:r>
                  <a:rPr lang="en-US" altLang="zh-CN" sz="2400" dirty="0">
                    <a:latin typeface="Cambria Math" panose="02040503050406030204" pitchFamily="18" charset="0"/>
                    <a:ea typeface="Cambria Math" panose="02040503050406030204" pitchFamily="18" charset="0"/>
                  </a:rPr>
                  <a:t>Thus each pair </a:t>
                </a:r>
                <a14:m>
                  <m:oMath xmlns:m="http://schemas.openxmlformats.org/officeDocument/2006/math">
                    <m:d>
                      <m:dPr>
                        <m:sepChr m:val=","/>
                        <m:ctrlPr>
                          <a:rPr lang="ar-AE" altLang="zh-CN" sz="2400" i="1" smtClean="0">
                            <a:solidFill>
                              <a:srgbClr val="3C51B4"/>
                            </a:solidFill>
                            <a:latin typeface="Cambria Math" panose="02040503050406030204" pitchFamily="18" charset="0"/>
                            <a:ea typeface="Cambria Math" panose="02040503050406030204" pitchFamily="18" charset="0"/>
                          </a:rPr>
                        </m:ctrlPr>
                      </m:dPr>
                      <m:e>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𝑥</m:t>
                            </m:r>
                          </m:e>
                          <m:sub>
                            <m:r>
                              <a:rPr lang="zh-CN" altLang="ar-AE" sz="2400" i="1">
                                <a:solidFill>
                                  <a:srgbClr val="3C51B4"/>
                                </a:solidFill>
                                <a:latin typeface="Cambria Math" panose="02040503050406030204" pitchFamily="18" charset="0"/>
                              </a:rPr>
                              <m:t>𝑖</m:t>
                            </m:r>
                          </m:sub>
                        </m:sSub>
                      </m:e>
                      <m:e>
                        <m:sSub>
                          <m:sSubPr>
                            <m:ctrlPr>
                              <a:rPr lang="ar-AE" altLang="zh-CN" sz="2400" i="1">
                                <a:solidFill>
                                  <a:srgbClr val="3C51B4"/>
                                </a:solidFill>
                                <a:latin typeface="Cambria Math" panose="02040503050406030204" pitchFamily="18" charset="0"/>
                                <a:ea typeface="Cambria Math" panose="02040503050406030204" pitchFamily="18" charset="0"/>
                              </a:rPr>
                            </m:ctrlPr>
                          </m:sSubPr>
                          <m:e>
                            <m:r>
                              <a:rPr lang="zh-CN" altLang="ar-AE" sz="2400" i="1">
                                <a:solidFill>
                                  <a:srgbClr val="3C51B4"/>
                                </a:solidFill>
                                <a:latin typeface="Cambria Math" panose="02040503050406030204" pitchFamily="18" charset="0"/>
                              </a:rPr>
                              <m:t>𝑝</m:t>
                            </m:r>
                          </m:e>
                          <m:sub>
                            <m:r>
                              <a:rPr lang="zh-CN" altLang="ar-AE" sz="2400" i="1">
                                <a:solidFill>
                                  <a:srgbClr val="3C51B4"/>
                                </a:solidFill>
                                <a:latin typeface="Cambria Math" panose="02040503050406030204" pitchFamily="18" charset="0"/>
                              </a:rPr>
                              <m:t>𝑖</m:t>
                            </m:r>
                          </m:sub>
                        </m:sSub>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forms a conjugate pair.</a:t>
                </a:r>
              </a:p>
              <a:p>
                <a:endParaRPr lang="zh-CN" altLang="en-US" sz="2400" dirty="0">
                  <a:latin typeface="Cambria Math" panose="02040503050406030204" pitchFamily="18" charset="0"/>
                </a:endParaRPr>
              </a:p>
            </p:txBody>
          </p:sp>
        </mc:Choice>
        <mc:Fallback>
          <p:sp>
            <p:nvSpPr>
              <p:cNvPr id="3" name="内容占位符 2">
                <a:extLst>
                  <a:ext uri="{FF2B5EF4-FFF2-40B4-BE49-F238E27FC236}">
                    <a16:creationId xmlns:a16="http://schemas.microsoft.com/office/drawing/2014/main" id="{0E5B6527-8976-B779-BDFD-E021D6CE0D04}"/>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4042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3EC1A9-EB87-7472-0AD5-3C706AB77772}"/>
              </a:ext>
            </a:extLst>
          </p:cNvPr>
          <p:cNvSpPr>
            <a:spLocks noGrp="1"/>
          </p:cNvSpPr>
          <p:nvPr>
            <p:ph type="title"/>
          </p:nvPr>
        </p:nvSpPr>
        <p:spPr/>
        <p:txBody>
          <a:bodyPr>
            <a:normAutofit/>
          </a:bodyPr>
          <a:lstStyle/>
          <a:p>
            <a:r>
              <a:rPr lang="en-US" altLang="zh-CN" sz="4000" b="1" dirty="0">
                <a:solidFill>
                  <a:srgbClr val="3C51B4"/>
                </a:solidFill>
                <a:latin typeface="Arial" panose="020B0604020202020204" pitchFamily="34" charset="0"/>
              </a:rPr>
              <a:t>Properties in the Multivariate Setting</a:t>
            </a:r>
            <a:endParaRPr lang="zh-CN" altLang="en-US" sz="4000" b="1" dirty="0">
              <a:solidFill>
                <a:srgbClr val="3C51B4"/>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0467CFB-6057-00C5-616E-8449840C048D}"/>
                  </a:ext>
                </a:extLst>
              </p:cNvPr>
              <p:cNvSpPr>
                <a:spLocks noGrp="1"/>
              </p:cNvSpPr>
              <p:nvPr>
                <p:ph idx="1"/>
              </p:nvPr>
            </p:nvSpPr>
            <p:spPr/>
            <p:txBody>
              <a:bodyPr>
                <a:normAutofit/>
              </a:bodyPr>
              <a:lstStyle/>
              <a:p>
                <a:r>
                  <a:rPr lang="en-US" altLang="zh-CN" sz="2400" b="1" dirty="0">
                    <a:latin typeface="Cambria Math" panose="02040503050406030204" pitchFamily="18" charset="0"/>
                    <a:ea typeface="Cambria Math" panose="02040503050406030204" pitchFamily="18" charset="0"/>
                  </a:rPr>
                  <a:t>Involution</a:t>
                </a:r>
                <a:r>
                  <a:rPr lang="en-US" altLang="zh-CN" sz="2400" dirty="0">
                    <a:latin typeface="Cambria Math" panose="02040503050406030204" pitchFamily="18" charset="0"/>
                    <a:ea typeface="Cambria Math" panose="02040503050406030204" pitchFamily="18" charset="0"/>
                  </a:rPr>
                  <a:t>: Applying the Legendre transform again (with respect to all variables) returns the original function </a:t>
                </a:r>
                <a14:m>
                  <m:oMath xmlns:m="http://schemas.openxmlformats.org/officeDocument/2006/math">
                    <m:r>
                      <a:rPr lang="zh-CN" altLang="en-US" sz="2400" i="1" smtClean="0">
                        <a:solidFill>
                          <a:srgbClr val="3C51B4"/>
                        </a:solidFill>
                        <a:latin typeface="Cambria Math" panose="02040503050406030204" pitchFamily="18" charset="0"/>
                      </a:rPr>
                      <m:t>𝑓</m:t>
                    </m:r>
                  </m:oMath>
                </a14:m>
                <a:r>
                  <a:rPr lang="en-US" altLang="zh-CN" sz="2400" dirty="0">
                    <a:latin typeface="Cambria Math" panose="02040503050406030204" pitchFamily="18" charset="0"/>
                    <a:ea typeface="Cambria Math" panose="02040503050406030204" pitchFamily="18" charset="0"/>
                  </a:rPr>
                  <a:t>.</a:t>
                </a:r>
              </a:p>
              <a:p>
                <a:r>
                  <a:rPr lang="en-US" altLang="zh-CN" sz="2400" b="1" dirty="0">
                    <a:latin typeface="Cambria Math" panose="02040503050406030204" pitchFamily="18" charset="0"/>
                    <a:ea typeface="Cambria Math" panose="02040503050406030204" pitchFamily="18" charset="0"/>
                  </a:rPr>
                  <a:t>Geometric Interpretation</a:t>
                </a:r>
                <a:r>
                  <a:rPr lang="en-US" altLang="zh-CN" sz="2400" dirty="0">
                    <a:latin typeface="Cambria Math" panose="02040503050406030204" pitchFamily="18" charset="0"/>
                    <a:ea typeface="Cambria Math" panose="02040503050406030204" pitchFamily="18" charset="0"/>
                  </a:rPr>
                  <a:t>: The transform replaces the description of a surface by its tangent hyperplanes. The vector </a:t>
                </a:r>
                <a14:m>
                  <m:oMath xmlns:m="http://schemas.openxmlformats.org/officeDocument/2006/math">
                    <m:r>
                      <a:rPr lang="zh-CN" altLang="en-US" sz="2400" b="1" smtClean="0">
                        <a:solidFill>
                          <a:srgbClr val="3C51B4"/>
                        </a:solidFill>
                        <a:latin typeface="Cambria Math" panose="02040503050406030204" pitchFamily="18" charset="0"/>
                      </a:rPr>
                      <m:t>𝐩</m:t>
                    </m:r>
                  </m:oMath>
                </a14:m>
                <a:r>
                  <a:rPr lang="en-US" altLang="zh-CN" sz="2400" dirty="0">
                    <a:latin typeface="Cambria Math" panose="02040503050406030204" pitchFamily="18" charset="0"/>
                    <a:ea typeface="Cambria Math" panose="02040503050406030204" pitchFamily="18" charset="0"/>
                  </a:rPr>
                  <a:t> is the gradient (normal) of the tangent hyperplane, and </a:t>
                </a:r>
                <a14:m>
                  <m:oMath xmlns:m="http://schemas.openxmlformats.org/officeDocument/2006/math">
                    <m:r>
                      <a:rPr lang="zh-CN" altLang="en-US" sz="2400" i="1" smtClean="0">
                        <a:solidFill>
                          <a:srgbClr val="3C51B4"/>
                        </a:solidFill>
                        <a:latin typeface="Cambria Math" panose="02040503050406030204" pitchFamily="18" charset="0"/>
                      </a:rPr>
                      <m:t>𝑔</m:t>
                    </m:r>
                    <m:d>
                      <m:dPr>
                        <m:ctrlPr>
                          <a:rPr lang="ar-AE" altLang="zh-CN" sz="2400" i="1">
                            <a:solidFill>
                              <a:srgbClr val="3C51B4"/>
                            </a:solidFill>
                            <a:latin typeface="Cambria Math" panose="02040503050406030204" pitchFamily="18" charset="0"/>
                            <a:ea typeface="Cambria Math" panose="02040503050406030204" pitchFamily="18" charset="0"/>
                          </a:rPr>
                        </m:ctrlPr>
                      </m:dPr>
                      <m:e>
                        <m:r>
                          <a:rPr lang="zh-CN" altLang="ar-AE" sz="2400" b="1">
                            <a:solidFill>
                              <a:srgbClr val="3C51B4"/>
                            </a:solidFill>
                            <a:latin typeface="Cambria Math" panose="02040503050406030204" pitchFamily="18" charset="0"/>
                          </a:rPr>
                          <m:t>𝐩</m:t>
                        </m:r>
                      </m:e>
                    </m:d>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is (the negative of) its intercept.</a:t>
                </a:r>
              </a:p>
              <a:p>
                <a:r>
                  <a:rPr lang="en-US" altLang="zh-CN" sz="2400" b="1" dirty="0">
                    <a:latin typeface="Cambria Math" panose="02040503050406030204" pitchFamily="18" charset="0"/>
                    <a:ea typeface="Cambria Math" panose="02040503050406030204" pitchFamily="18" charset="0"/>
                  </a:rPr>
                  <a:t>Connection to Dual Spaces</a:t>
                </a:r>
                <a:r>
                  <a:rPr lang="en-US" altLang="zh-CN" sz="2400" dirty="0">
                    <a:latin typeface="Cambria Math" panose="02040503050406030204" pitchFamily="18" charset="0"/>
                    <a:ea typeface="Cambria Math" panose="02040503050406030204" pitchFamily="18" charset="0"/>
                  </a:rPr>
                  <a:t>: The variables </a:t>
                </a:r>
                <a14:m>
                  <m:oMath xmlns:m="http://schemas.openxmlformats.org/officeDocument/2006/math">
                    <m:r>
                      <a:rPr lang="zh-CN" altLang="en-US" sz="2400" b="1" smtClean="0">
                        <a:solidFill>
                          <a:srgbClr val="3C51B4"/>
                        </a:solidFill>
                        <a:latin typeface="Cambria Math" panose="02040503050406030204" pitchFamily="18" charset="0"/>
                      </a:rPr>
                      <m:t>𝐱</m:t>
                    </m:r>
                  </m:oMath>
                </a14:m>
                <a:r>
                  <a:rPr lang="en-US" altLang="zh-CN" sz="2400" dirty="0">
                    <a:latin typeface="Cambria Math" panose="02040503050406030204" pitchFamily="18" charset="0"/>
                    <a:ea typeface="Cambria Math" panose="02040503050406030204" pitchFamily="18" charset="0"/>
                  </a:rPr>
                  <a:t> belong to an </a:t>
                </a:r>
                <a14:m>
                  <m:oMath xmlns:m="http://schemas.openxmlformats.org/officeDocument/2006/math">
                    <m:r>
                      <a:rPr lang="zh-CN" altLang="en-US" sz="2400" i="1">
                        <a:latin typeface="Cambria Math" panose="02040503050406030204" pitchFamily="18" charset="0"/>
                      </a:rPr>
                      <m:t>𝑛</m:t>
                    </m:r>
                  </m:oMath>
                </a14:m>
                <a:r>
                  <a:rPr lang="en-US" altLang="zh-CN" sz="2400" dirty="0">
                    <a:latin typeface="Cambria Math" panose="02040503050406030204" pitchFamily="18" charset="0"/>
                    <a:ea typeface="Cambria Math" panose="02040503050406030204" pitchFamily="18" charset="0"/>
                  </a:rPr>
                  <a:t>-dimensional vector space </a:t>
                </a:r>
                <a14:m>
                  <m:oMath xmlns:m="http://schemas.openxmlformats.org/officeDocument/2006/math">
                    <m:r>
                      <a:rPr lang="zh-CN" altLang="en-US" sz="2400" i="1" smtClean="0">
                        <a:solidFill>
                          <a:srgbClr val="3C51B4"/>
                        </a:solidFill>
                        <a:latin typeface="Cambria Math" panose="02040503050406030204" pitchFamily="18" charset="0"/>
                      </a:rPr>
                      <m:t>𝑉</m:t>
                    </m:r>
                  </m:oMath>
                </a14:m>
                <a:r>
                  <a:rPr lang="en-US" altLang="zh-CN" sz="2400" dirty="0">
                    <a:latin typeface="Cambria Math" panose="02040503050406030204" pitchFamily="18" charset="0"/>
                    <a:ea typeface="Cambria Math" panose="02040503050406030204" pitchFamily="18" charset="0"/>
                  </a:rPr>
                  <a:t>, while the conjugate variables </a:t>
                </a:r>
                <a14:m>
                  <m:oMath xmlns:m="http://schemas.openxmlformats.org/officeDocument/2006/math">
                    <m:r>
                      <a:rPr lang="zh-CN" altLang="en-US" sz="2400" b="1" smtClean="0">
                        <a:solidFill>
                          <a:srgbClr val="3C51B4"/>
                        </a:solidFill>
                        <a:latin typeface="Cambria Math" panose="02040503050406030204" pitchFamily="18" charset="0"/>
                      </a:rPr>
                      <m:t>𝐩</m:t>
                    </m:r>
                  </m:oMath>
                </a14:m>
                <a:r>
                  <a:rPr lang="en-US" altLang="zh-CN" sz="2400" dirty="0">
                    <a:latin typeface="Cambria Math" panose="02040503050406030204" pitchFamily="18" charset="0"/>
                    <a:ea typeface="Cambria Math" panose="02040503050406030204" pitchFamily="18" charset="0"/>
                  </a:rPr>
                  <a:t> belong to its dual space </a:t>
                </a:r>
                <a14:m>
                  <m:oMath xmlns:m="http://schemas.openxmlformats.org/officeDocument/2006/math">
                    <m:sSup>
                      <m:sSupPr>
                        <m:ctrlPr>
                          <a:rPr lang="ar-AE" altLang="zh-CN" sz="2400" i="1" smtClean="0">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𝑉</m:t>
                        </m:r>
                      </m:e>
                      <m:sup>
                        <m:r>
                          <a:rPr lang="ar-AE" altLang="zh-CN" sz="2400">
                            <a:solidFill>
                              <a:srgbClr val="3C51B4"/>
                            </a:solidFill>
                            <a:latin typeface="Cambria Math" panose="02040503050406030204" pitchFamily="18" charset="0"/>
                            <a:ea typeface="Cambria Math" panose="02040503050406030204" pitchFamily="18" charset="0"/>
                          </a:rPr>
                          <m:t>∗</m:t>
                        </m:r>
                      </m:sup>
                    </m:sSup>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The dot product </a:t>
                </a:r>
                <a14:m>
                  <m:oMath xmlns:m="http://schemas.openxmlformats.org/officeDocument/2006/math">
                    <m:r>
                      <a:rPr lang="zh-CN" altLang="en-US" sz="2400" b="1" smtClean="0">
                        <a:solidFill>
                          <a:srgbClr val="3C51B4"/>
                        </a:solidFill>
                        <a:latin typeface="Cambria Math" panose="02040503050406030204" pitchFamily="18" charset="0"/>
                      </a:rPr>
                      <m:t>𝐩</m:t>
                    </m:r>
                    <m:r>
                      <a:rPr lang="en-US" altLang="zh-CN" sz="2400">
                        <a:solidFill>
                          <a:srgbClr val="3C51B4"/>
                        </a:solidFill>
                        <a:latin typeface="Cambria Math" panose="02040503050406030204" pitchFamily="18" charset="0"/>
                        <a:ea typeface="Cambria Math" panose="02040503050406030204" pitchFamily="18" charset="0"/>
                      </a:rPr>
                      <m:t>⋅</m:t>
                    </m:r>
                    <m:r>
                      <a:rPr lang="zh-CN" altLang="en-US" sz="2400" b="1">
                        <a:solidFill>
                          <a:srgbClr val="3C51B4"/>
                        </a:solidFill>
                        <a:latin typeface="Cambria Math" panose="02040503050406030204" pitchFamily="18" charset="0"/>
                      </a:rPr>
                      <m:t>𝐱</m:t>
                    </m:r>
                  </m:oMath>
                </a14:m>
                <a:r>
                  <a:rPr lang="en-US" altLang="zh-CN" sz="2400" dirty="0">
                    <a:solidFill>
                      <a:srgbClr val="3C51B4"/>
                    </a:solidFill>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is the natural pairing between </a:t>
                </a:r>
                <a14:m>
                  <m:oMath xmlns:m="http://schemas.openxmlformats.org/officeDocument/2006/math">
                    <m:r>
                      <a:rPr lang="zh-CN" altLang="en-US" sz="2400" i="1" smtClean="0">
                        <a:solidFill>
                          <a:srgbClr val="3C51B4"/>
                        </a:solidFill>
                        <a:latin typeface="Cambria Math" panose="02040503050406030204" pitchFamily="18" charset="0"/>
                      </a:rPr>
                      <m:t>𝑉</m:t>
                    </m:r>
                  </m:oMath>
                </a14:m>
                <a:r>
                  <a:rPr lang="en-US" altLang="zh-CN" sz="2400" dirty="0">
                    <a:latin typeface="Cambria Math" panose="02040503050406030204" pitchFamily="18" charset="0"/>
                    <a:ea typeface="Cambria Math" panose="02040503050406030204" pitchFamily="18" charset="0"/>
                  </a:rPr>
                  <a:t> and </a:t>
                </a:r>
                <a14:m>
                  <m:oMath xmlns:m="http://schemas.openxmlformats.org/officeDocument/2006/math">
                    <m:sSup>
                      <m:sSupPr>
                        <m:ctrlPr>
                          <a:rPr lang="ar-AE" altLang="zh-CN" sz="2400" i="1" smtClean="0">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𝑉</m:t>
                        </m:r>
                      </m:e>
                      <m:sup>
                        <m:r>
                          <a:rPr lang="ar-AE" altLang="zh-CN" sz="2400">
                            <a:solidFill>
                              <a:srgbClr val="3C51B4"/>
                            </a:solidFill>
                            <a:latin typeface="Cambria Math" panose="02040503050406030204" pitchFamily="18" charset="0"/>
                            <a:ea typeface="Cambria Math" panose="02040503050406030204" pitchFamily="18" charset="0"/>
                          </a:rPr>
                          <m:t>∗</m:t>
                        </m:r>
                      </m:sup>
                    </m:sSup>
                  </m:oMath>
                </a14:m>
                <a:r>
                  <a:rPr lang="ar-AE" altLang="zh-CN" sz="2400" dirty="0">
                    <a:latin typeface="Cambria Math" panose="02040503050406030204" pitchFamily="18" charset="0"/>
                    <a:ea typeface="Cambria Math" panose="02040503050406030204" pitchFamily="18" charset="0"/>
                  </a:rPr>
                  <a:t>. </a:t>
                </a:r>
                <a:r>
                  <a:rPr lang="en-US" altLang="zh-CN" sz="2400" dirty="0">
                    <a:latin typeface="Cambria Math" panose="02040503050406030204" pitchFamily="18" charset="0"/>
                    <a:ea typeface="Cambria Math" panose="02040503050406030204" pitchFamily="18" charset="0"/>
                  </a:rPr>
                  <a:t>The Legendre transform thus provides a symmetric correspondence between a function on </a:t>
                </a:r>
                <a14:m>
                  <m:oMath xmlns:m="http://schemas.openxmlformats.org/officeDocument/2006/math">
                    <m:r>
                      <a:rPr lang="zh-CN" altLang="en-US" sz="2400" i="1">
                        <a:latin typeface="Cambria Math" panose="02040503050406030204" pitchFamily="18" charset="0"/>
                      </a:rPr>
                      <m:t>𝑉</m:t>
                    </m:r>
                  </m:oMath>
                </a14:m>
                <a:r>
                  <a:rPr lang="en-US" altLang="zh-CN" sz="2400" dirty="0">
                    <a:latin typeface="Cambria Math" panose="02040503050406030204" pitchFamily="18" charset="0"/>
                    <a:ea typeface="Cambria Math" panose="02040503050406030204" pitchFamily="18" charset="0"/>
                  </a:rPr>
                  <a:t> and a function on </a:t>
                </a:r>
                <a14:m>
                  <m:oMath xmlns:m="http://schemas.openxmlformats.org/officeDocument/2006/math">
                    <m:sSup>
                      <m:sSupPr>
                        <m:ctrlPr>
                          <a:rPr lang="ar-AE" altLang="zh-CN" sz="2400" i="1" smtClean="0">
                            <a:solidFill>
                              <a:srgbClr val="3C51B4"/>
                            </a:solidFill>
                            <a:latin typeface="Cambria Math" panose="02040503050406030204" pitchFamily="18" charset="0"/>
                            <a:ea typeface="Cambria Math" panose="02040503050406030204" pitchFamily="18" charset="0"/>
                          </a:rPr>
                        </m:ctrlPr>
                      </m:sSupPr>
                      <m:e>
                        <m:r>
                          <a:rPr lang="zh-CN" altLang="ar-AE" sz="2400" i="1">
                            <a:solidFill>
                              <a:srgbClr val="3C51B4"/>
                            </a:solidFill>
                            <a:latin typeface="Cambria Math" panose="02040503050406030204" pitchFamily="18" charset="0"/>
                          </a:rPr>
                          <m:t>𝑉</m:t>
                        </m:r>
                      </m:e>
                      <m:sup>
                        <m:r>
                          <a:rPr lang="ar-AE" altLang="zh-CN" sz="2400">
                            <a:solidFill>
                              <a:srgbClr val="3C51B4"/>
                            </a:solidFill>
                            <a:latin typeface="Cambria Math" panose="02040503050406030204" pitchFamily="18" charset="0"/>
                            <a:ea typeface="Cambria Math" panose="02040503050406030204" pitchFamily="18" charset="0"/>
                          </a:rPr>
                          <m:t>∗</m:t>
                        </m:r>
                      </m:sup>
                    </m:sSup>
                  </m:oMath>
                </a14:m>
                <a:r>
                  <a:rPr lang="ar-AE" altLang="zh-CN" sz="2400" dirty="0">
                    <a:latin typeface="Cambria Math" panose="02040503050406030204" pitchFamily="18" charset="0"/>
                    <a:ea typeface="Cambria Math" panose="02040503050406030204" pitchFamily="18" charset="0"/>
                  </a:rPr>
                  <a:t>.</a:t>
                </a:r>
                <a:endParaRPr lang="en-US" altLang="zh-CN" sz="2400" dirty="0">
                  <a:latin typeface="Cambria Math" panose="02040503050406030204" pitchFamily="18" charset="0"/>
                  <a:ea typeface="Cambria Math" panose="02040503050406030204" pitchFamily="18" charset="0"/>
                </a:endParaRPr>
              </a:p>
            </p:txBody>
          </p:sp>
        </mc:Choice>
        <mc:Fallback>
          <p:sp>
            <p:nvSpPr>
              <p:cNvPr id="3" name="内容占位符 2">
                <a:extLst>
                  <a:ext uri="{FF2B5EF4-FFF2-40B4-BE49-F238E27FC236}">
                    <a16:creationId xmlns:a16="http://schemas.microsoft.com/office/drawing/2014/main" id="{C0467CFB-6057-00C5-616E-8449840C048D}"/>
                  </a:ext>
                </a:extLst>
              </p:cNvPr>
              <p:cNvSpPr>
                <a:spLocks noGrp="1" noRot="1" noChangeAspect="1" noMove="1" noResize="1" noEditPoints="1" noAdjustHandles="1" noChangeArrowheads="1" noChangeShapeType="1" noTextEdit="1"/>
              </p:cNvSpPr>
              <p:nvPr>
                <p:ph idx="1"/>
              </p:nvPr>
            </p:nvSpPr>
            <p:spPr>
              <a:blipFill>
                <a:blip r:embed="rId2"/>
                <a:stretch>
                  <a:fillRect l="-812" t="-1961" r="-4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2311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F8769-9018-8DD8-ABF8-4FD73DD17967}"/>
              </a:ext>
            </a:extLst>
          </p:cNvPr>
          <p:cNvSpPr>
            <a:spLocks noGrp="1"/>
          </p:cNvSpPr>
          <p:nvPr>
            <p:ph type="title"/>
          </p:nvPr>
        </p:nvSpPr>
        <p:spPr>
          <a:xfrm>
            <a:off x="838199" y="365125"/>
            <a:ext cx="10732477" cy="1325563"/>
          </a:xfrm>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2881D7E-89ED-BB7A-CA0B-3C48901F8CFF}"/>
                  </a:ext>
                </a:extLst>
              </p:cNvPr>
              <p:cNvSpPr>
                <a:spLocks noGrp="1"/>
              </p:cNvSpPr>
              <p:nvPr>
                <p:ph idx="1"/>
              </p:nvPr>
            </p:nvSpPr>
            <p:spPr>
              <a:xfrm>
                <a:off x="838200" y="1825625"/>
                <a:ext cx="11072446" cy="4351338"/>
              </a:xfrm>
            </p:spPr>
            <p:txBody>
              <a:bodyPr>
                <a:normAutofit/>
              </a:bodyPr>
              <a:lstStyle/>
              <a:p>
                <a:r>
                  <a:rPr lang="en-US" altLang="zh-CN" sz="2400" dirty="0">
                    <a:latin typeface="Cambria Math" panose="02040503050406030204" pitchFamily="18" charset="0"/>
                  </a:rPr>
                  <a:t>Internal Energy </a:t>
                </a:r>
                <a14:m>
                  <m:oMath xmlns:m="http://schemas.openxmlformats.org/officeDocument/2006/math">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𝑉</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𝑁</m:t>
                    </m:r>
                    <m:r>
                      <a:rPr lang="en-US" altLang="zh-CN" sz="2400" smtClean="0">
                        <a:solidFill>
                          <a:srgbClr val="3C51B4"/>
                        </a:solidFill>
                        <a:latin typeface="Cambria Math" panose="02040503050406030204" pitchFamily="18" charset="0"/>
                      </a:rPr>
                      <m:t>)</m:t>
                    </m:r>
                  </m:oMath>
                </a14:m>
                <a:r>
                  <a:rPr lang="en-US" altLang="zh-CN" sz="2400" dirty="0">
                    <a:solidFill>
                      <a:srgbClr val="3C51B4"/>
                    </a:solidFill>
                    <a:latin typeface="Cambria Math" panose="02040503050406030204" pitchFamily="18" charset="0"/>
                  </a:rPr>
                  <a:t> </a:t>
                </a:r>
                <a:r>
                  <a:rPr lang="en-US" altLang="zh-CN" sz="2400" dirty="0">
                    <a:latin typeface="Cambria Math" panose="02040503050406030204" pitchFamily="18" charset="0"/>
                  </a:rPr>
                  <a:t>&amp; Natural Variables</a:t>
                </a:r>
              </a:p>
              <a:p>
                <a:pPr marL="0" indent="0">
                  <a:buNone/>
                </a:pPr>
                <a:r>
                  <a:rPr lang="en-US" altLang="zh-CN" sz="2400" b="0" i="0" dirty="0">
                    <a:latin typeface="Cambria Math" panose="02040503050406030204" pitchFamily="18" charset="0"/>
                  </a:rPr>
                  <a:t>Total Derivatives of </a:t>
                </a:r>
                <a:r>
                  <a:rPr lang="en-US" altLang="zh-CN" sz="2400" b="0" i="1" dirty="0">
                    <a:solidFill>
                      <a:srgbClr val="3C51B4"/>
                    </a:solidFill>
                    <a:latin typeface="Cambria Math" panose="02040503050406030204" pitchFamily="18" charset="0"/>
                  </a:rPr>
                  <a:t>U</a:t>
                </a:r>
                <a:r>
                  <a:rPr lang="zh-CN" altLang="en-US" sz="2400" b="0" i="0" dirty="0">
                    <a:latin typeface="Cambria Math" panose="02040503050406030204" pitchFamily="18" charset="0"/>
                  </a:rPr>
                  <a:t>：</a:t>
                </a:r>
                <a:endParaRPr lang="en-US" altLang="zh-CN" sz="2400" b="0" i="0"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𝑈</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𝑇</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𝑆</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𝑃</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𝑉</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𝜇</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𝑁</m:t>
                      </m:r>
                    </m:oMath>
                  </m:oMathPara>
                </a14:m>
                <a:endParaRPr lang="en-US" altLang="zh-CN" sz="2400" dirty="0">
                  <a:solidFill>
                    <a:srgbClr val="3C51B4"/>
                  </a:solidFill>
                </a:endParaRPr>
              </a:p>
              <a:p>
                <a:pPr marL="0" indent="0">
                  <a:buNone/>
                </a:pPr>
                <a:r>
                  <a:rPr lang="en-US" altLang="zh-CN" sz="2400" dirty="0">
                    <a:latin typeface="Cambria Math" panose="02040503050406030204" pitchFamily="18" charset="0"/>
                  </a:rPr>
                  <a:t>Where</a:t>
                </a:r>
                <a:r>
                  <a:rPr lang="en-US" altLang="zh-CN" sz="2400" dirty="0"/>
                  <a:t> </a:t>
                </a:r>
                <a14:m>
                  <m:oMath xmlns:m="http://schemas.openxmlformats.org/officeDocument/2006/math">
                    <m:f>
                      <m:fPr>
                        <m:ctrlPr>
                          <a:rPr lang="en-US" altLang="zh-CN" sz="2400" b="0" i="1" smtClean="0">
                            <a:solidFill>
                              <a:srgbClr val="3C51B4"/>
                            </a:solidFill>
                            <a:latin typeface="Cambria Math" panose="02040503050406030204" pitchFamily="18" charset="0"/>
                          </a:rPr>
                        </m:ctrlPr>
                      </m:fPr>
                      <m:num>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𝑈</m:t>
                        </m:r>
                      </m:num>
                      <m:den>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𝑆</m:t>
                        </m:r>
                      </m:den>
                    </m:f>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𝑇</m:t>
                    </m:r>
                    <m:r>
                      <a:rPr lang="en-US" altLang="zh-CN" sz="2400" b="0" i="1" smtClean="0">
                        <a:solidFill>
                          <a:srgbClr val="3C51B4"/>
                        </a:solidFill>
                        <a:latin typeface="Cambria Math" panose="02040503050406030204" pitchFamily="18" charset="0"/>
                      </a:rPr>
                      <m:t>,</m:t>
                    </m:r>
                    <m:f>
                      <m:fPr>
                        <m:ctrlPr>
                          <a:rPr lang="en-US" altLang="zh-CN" sz="2400" b="0" i="1" smtClean="0">
                            <a:solidFill>
                              <a:srgbClr val="3C51B4"/>
                            </a:solidFill>
                            <a:latin typeface="Cambria Math" panose="02040503050406030204" pitchFamily="18" charset="0"/>
                          </a:rPr>
                        </m:ctrlPr>
                      </m:fPr>
                      <m:num>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𝑈</m:t>
                        </m:r>
                      </m:num>
                      <m:den>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𝑉</m:t>
                        </m:r>
                      </m:den>
                    </m:f>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𝑃</m:t>
                    </m:r>
                    <m:r>
                      <a:rPr lang="en-US" altLang="zh-CN" sz="2400" b="0" i="1" smtClean="0">
                        <a:solidFill>
                          <a:srgbClr val="3C51B4"/>
                        </a:solidFill>
                        <a:latin typeface="Cambria Math" panose="02040503050406030204" pitchFamily="18" charset="0"/>
                      </a:rPr>
                      <m:t>,</m:t>
                    </m:r>
                    <m:f>
                      <m:fPr>
                        <m:ctrlPr>
                          <a:rPr lang="en-US" altLang="zh-CN" sz="2400" b="0" i="1" smtClean="0">
                            <a:solidFill>
                              <a:srgbClr val="3C51B4"/>
                            </a:solidFill>
                            <a:latin typeface="Cambria Math" panose="02040503050406030204" pitchFamily="18" charset="0"/>
                          </a:rPr>
                        </m:ctrlPr>
                      </m:fPr>
                      <m:num>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𝑈</m:t>
                        </m:r>
                      </m:num>
                      <m:den>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𝑁</m:t>
                        </m:r>
                      </m:den>
                    </m:f>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𝜇</m:t>
                    </m:r>
                  </m:oMath>
                </a14:m>
                <a:r>
                  <a:rPr lang="en-US" altLang="zh-CN" sz="2400" dirty="0"/>
                  <a:t>.</a:t>
                </a:r>
              </a:p>
              <a:p>
                <a:pPr marL="0" indent="0">
                  <a:buNone/>
                </a:pPr>
                <a:endParaRPr lang="en-US" altLang="zh-CN" sz="2400" dirty="0"/>
              </a:p>
              <a:p>
                <a:pPr marL="0" indent="0">
                  <a:buNone/>
                </a:pPr>
                <a:r>
                  <a:rPr lang="en-US" altLang="zh-CN" sz="2400" dirty="0">
                    <a:latin typeface="Cambria Math" panose="02040503050406030204" pitchFamily="18" charset="0"/>
                  </a:rPr>
                  <a:t>Its  N.V.s,  </a:t>
                </a:r>
                <a14:m>
                  <m:oMath xmlns:m="http://schemas.openxmlformats.org/officeDocument/2006/math">
                    <m:r>
                      <a:rPr lang="en-US" altLang="zh-CN" sz="2400" dirty="0" smtClean="0">
                        <a:solidFill>
                          <a:srgbClr val="3C51B4"/>
                        </a:solidFill>
                        <a:latin typeface="Cambria Math" panose="02040503050406030204" pitchFamily="18" charset="0"/>
                      </a:rPr>
                      <m:t>𝑆</m:t>
                    </m:r>
                    <m:r>
                      <a:rPr lang="en-US" altLang="zh-CN" sz="2400" dirty="0" smtClean="0">
                        <a:solidFill>
                          <a:srgbClr val="3C51B4"/>
                        </a:solidFill>
                        <a:latin typeface="Cambria Math" panose="02040503050406030204" pitchFamily="18" charset="0"/>
                      </a:rPr>
                      <m:t>,</m:t>
                    </m:r>
                    <m:r>
                      <a:rPr lang="en-US" altLang="zh-CN" sz="2400" dirty="0" smtClean="0">
                        <a:solidFill>
                          <a:srgbClr val="3C51B4"/>
                        </a:solidFill>
                        <a:latin typeface="Cambria Math" panose="02040503050406030204" pitchFamily="18" charset="0"/>
                      </a:rPr>
                      <m:t>𝑉</m:t>
                    </m:r>
                    <m:r>
                      <a:rPr lang="en-US" altLang="zh-CN" sz="2400" dirty="0" smtClean="0">
                        <a:solidFill>
                          <a:srgbClr val="3C51B4"/>
                        </a:solidFill>
                        <a:latin typeface="Cambria Math" panose="02040503050406030204" pitchFamily="18" charset="0"/>
                      </a:rPr>
                      <m:t>,</m:t>
                    </m:r>
                    <m:r>
                      <a:rPr lang="en-US" altLang="zh-CN" sz="2400" dirty="0" smtClean="0">
                        <a:solidFill>
                          <a:srgbClr val="3C51B4"/>
                        </a:solidFill>
                        <a:latin typeface="Cambria Math" panose="02040503050406030204" pitchFamily="18" charset="0"/>
                      </a:rPr>
                      <m:t>𝑁</m:t>
                    </m:r>
                  </m:oMath>
                </a14:m>
                <a:r>
                  <a:rPr lang="en-US" altLang="zh-CN" sz="2400" dirty="0">
                    <a:latin typeface="Cambria Math" panose="02040503050406030204" pitchFamily="18" charset="0"/>
                  </a:rPr>
                  <a:t>, all of them are Extensive Quantities</a:t>
                </a:r>
                <a:r>
                  <a:rPr lang="en-US" altLang="zh-CN" sz="2400" dirty="0"/>
                  <a:t>. </a:t>
                </a: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In experiments, easier to control and measure temperature </a:t>
                </a:r>
                <a:r>
                  <a:rPr lang="zh-CN" altLang="en-US" sz="2400" dirty="0">
                    <a:solidFill>
                      <a:srgbClr val="3C51B4"/>
                    </a:solidFill>
                    <a:latin typeface="Cambria Math" panose="02040503050406030204" pitchFamily="18" charset="0"/>
                  </a:rPr>
                  <a:t>𝑇</a:t>
                </a:r>
                <a:r>
                  <a:rPr lang="zh-CN" altLang="en-US" sz="2400" dirty="0">
                    <a:latin typeface="Cambria Math" panose="02040503050406030204" pitchFamily="18" charset="0"/>
                  </a:rPr>
                  <a:t> </a:t>
                </a:r>
                <a:r>
                  <a:rPr lang="en-US" altLang="zh-CN" sz="2400" dirty="0">
                    <a:latin typeface="Cambria Math" panose="02040503050406030204" pitchFamily="18" charset="0"/>
                  </a:rPr>
                  <a:t>or pressure </a:t>
                </a:r>
                <a:r>
                  <a:rPr lang="zh-CN" altLang="en-US" sz="2400" dirty="0">
                    <a:solidFill>
                      <a:srgbClr val="3C51B4"/>
                    </a:solidFill>
                    <a:latin typeface="Cambria Math" panose="02040503050406030204" pitchFamily="18" charset="0"/>
                  </a:rPr>
                  <a:t>𝑃</a:t>
                </a: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New functions needed, whose independent variables are replaced by these intensive quantities.</a:t>
                </a:r>
              </a:p>
            </p:txBody>
          </p:sp>
        </mc:Choice>
        <mc:Fallback xmlns="">
          <p:sp>
            <p:nvSpPr>
              <p:cNvPr id="3" name="内容占位符 2">
                <a:extLst>
                  <a:ext uri="{FF2B5EF4-FFF2-40B4-BE49-F238E27FC236}">
                    <a16:creationId xmlns:a16="http://schemas.microsoft.com/office/drawing/2014/main" id="{B2881D7E-89ED-BB7A-CA0B-3C48901F8CFF}"/>
                  </a:ext>
                </a:extLst>
              </p:cNvPr>
              <p:cNvSpPr>
                <a:spLocks noGrp="1" noRot="1" noChangeAspect="1" noMove="1" noResize="1" noEditPoints="1" noAdjustHandles="1" noChangeArrowheads="1" noChangeShapeType="1" noTextEdit="1"/>
              </p:cNvSpPr>
              <p:nvPr>
                <p:ph idx="1"/>
              </p:nvPr>
            </p:nvSpPr>
            <p:spPr>
              <a:xfrm>
                <a:off x="838200" y="1825625"/>
                <a:ext cx="11072446" cy="4351338"/>
              </a:xfrm>
              <a:blipFill>
                <a:blip r:embed="rId3"/>
                <a:stretch>
                  <a:fillRect l="-881"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6322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DE8F0-C023-B69C-EB6D-0F4EF89DBA72}"/>
              </a:ext>
            </a:extLst>
          </p:cNvPr>
          <p:cNvSpPr>
            <a:spLocks noGrp="1"/>
          </p:cNvSpPr>
          <p:nvPr>
            <p:ph type="title"/>
          </p:nvPr>
        </p:nvSpPr>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EA465C-5FE7-BE20-1551-6004F46CFA33}"/>
                  </a:ext>
                </a:extLst>
              </p:cNvPr>
              <p:cNvSpPr>
                <a:spLocks noGrp="1"/>
              </p:cNvSpPr>
              <p:nvPr>
                <p:ph idx="1"/>
              </p:nvPr>
            </p:nvSpPr>
            <p:spPr>
              <a:xfrm>
                <a:off x="838200" y="1825625"/>
                <a:ext cx="10603523" cy="4821360"/>
              </a:xfrm>
            </p:spPr>
            <p:txBody>
              <a:bodyPr>
                <a:noAutofit/>
              </a:bodyPr>
              <a:lstStyle/>
              <a:p>
                <a:r>
                  <a:rPr lang="en-US" altLang="zh-CN" sz="2400" dirty="0">
                    <a:latin typeface="Cambria Math" panose="02040503050406030204" pitchFamily="18" charset="0"/>
                  </a:rPr>
                  <a:t>Thermostatic system---Helmholtz Free Energy </a:t>
                </a:r>
                <a14:m>
                  <m:oMath xmlns:m="http://schemas.openxmlformats.org/officeDocument/2006/math">
                    <m:r>
                      <a:rPr lang="en-US" altLang="zh-CN" sz="2400" smtClean="0">
                        <a:solidFill>
                          <a:srgbClr val="3C51B4"/>
                        </a:solidFill>
                        <a:latin typeface="Cambria Math" panose="02040503050406030204" pitchFamily="18" charset="0"/>
                      </a:rPr>
                      <m:t>𝐴</m:t>
                    </m:r>
                    <m:d>
                      <m:dPr>
                        <m:ctrlPr>
                          <a:rPr lang="en-US" altLang="zh-CN" sz="2400" i="1">
                            <a:solidFill>
                              <a:srgbClr val="3C51B4"/>
                            </a:solidFill>
                            <a:latin typeface="Cambria Math" panose="02040503050406030204" pitchFamily="18" charset="0"/>
                          </a:rPr>
                        </m:ctrlPr>
                      </m:dPr>
                      <m:e>
                        <m:r>
                          <a:rPr lang="en-US" altLang="zh-CN" sz="2400">
                            <a:solidFill>
                              <a:srgbClr val="3C51B4"/>
                            </a:solidFill>
                            <a:latin typeface="Cambria Math" panose="02040503050406030204" pitchFamily="18" charset="0"/>
                          </a:rPr>
                          <m:t>𝑇</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𝑉</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𝑁</m:t>
                        </m:r>
                      </m:e>
                    </m:d>
                  </m:oMath>
                </a14:m>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Replace </a:t>
                </a:r>
                <a14:m>
                  <m:oMath xmlns:m="http://schemas.openxmlformats.org/officeDocument/2006/math">
                    <m:r>
                      <a:rPr lang="en-US" altLang="zh-CN" sz="2400" smtClean="0">
                        <a:solidFill>
                          <a:srgbClr val="3C51B4"/>
                        </a:solidFill>
                        <a:latin typeface="Cambria Math" panose="02040503050406030204" pitchFamily="18" charset="0"/>
                      </a:rPr>
                      <m:t>𝑆</m:t>
                    </m:r>
                  </m:oMath>
                </a14:m>
                <a:r>
                  <a:rPr lang="en-US" altLang="zh-CN" sz="2400" dirty="0">
                    <a:latin typeface="Cambria Math" panose="02040503050406030204" pitchFamily="18" charset="0"/>
                  </a:rPr>
                  <a:t> with </a:t>
                </a:r>
                <a14:m>
                  <m:oMath xmlns:m="http://schemas.openxmlformats.org/officeDocument/2006/math">
                    <m:r>
                      <a:rPr lang="en-US" altLang="zh-CN" sz="2400" smtClean="0">
                        <a:solidFill>
                          <a:srgbClr val="3C51B4"/>
                        </a:solidFill>
                        <a:latin typeface="Cambria Math" panose="02040503050406030204" pitchFamily="18" charset="0"/>
                      </a:rPr>
                      <m:t>𝑇</m:t>
                    </m:r>
                    <m:r>
                      <a:rPr lang="en-US" altLang="zh-CN" sz="2400" smtClean="0">
                        <a:solidFill>
                          <a:srgbClr val="3C51B4"/>
                        </a:solidFill>
                        <a:latin typeface="Cambria Math" panose="02040503050406030204" pitchFamily="18" charset="0"/>
                      </a:rPr>
                      <m:t>=</m:t>
                    </m:r>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num>
                      <m:den>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𝑆</m:t>
                        </m:r>
                      </m:den>
                    </m:f>
                  </m:oMath>
                </a14:m>
                <a:r>
                  <a:rPr lang="zh-CN" altLang="en-US" sz="2400" dirty="0">
                    <a:latin typeface="Cambria Math" panose="02040503050406030204" pitchFamily="18" charset="0"/>
                  </a:rPr>
                  <a:t>，</a:t>
                </a:r>
                <a:r>
                  <a:rPr lang="en-US" altLang="zh-CN" sz="2400" dirty="0">
                    <a:latin typeface="Cambria Math" panose="02040503050406030204" pitchFamily="18" charset="0"/>
                  </a:rPr>
                  <a:t>Legendre transformation of </a:t>
                </a:r>
                <a:r>
                  <a:rPr lang="zh-CN" altLang="en-US" sz="2400" dirty="0">
                    <a:solidFill>
                      <a:srgbClr val="3C51B4"/>
                    </a:solidFill>
                    <a:latin typeface="Cambria Math" panose="02040503050406030204" pitchFamily="18" charset="0"/>
                  </a:rPr>
                  <a:t>𝑈</a:t>
                </a:r>
                <a:r>
                  <a:rPr lang="zh-CN" altLang="en-US" sz="2400" dirty="0">
                    <a:latin typeface="Cambria Math" panose="02040503050406030204" pitchFamily="18" charset="0"/>
                  </a:rPr>
                  <a:t> </a:t>
                </a:r>
                <a:r>
                  <a:rPr lang="en-US" altLang="zh-CN" sz="2400" dirty="0">
                    <a:latin typeface="Cambria Math" panose="02040503050406030204" pitchFamily="18" charset="0"/>
                  </a:rPr>
                  <a:t>with respect to </a:t>
                </a:r>
                <a:r>
                  <a:rPr lang="zh-CN" altLang="en-US" sz="2400" dirty="0">
                    <a:solidFill>
                      <a:srgbClr val="3C51B4"/>
                    </a:solidFill>
                    <a:latin typeface="Cambria Math" panose="02040503050406030204" pitchFamily="18" charset="0"/>
                  </a:rPr>
                  <a:t>𝑆</a:t>
                </a:r>
                <a:r>
                  <a:rPr lang="zh-CN" altLang="en-US" sz="2400" dirty="0">
                    <a:latin typeface="Cambria Math" panose="02040503050406030204" pitchFamily="18" charset="0"/>
                  </a:rPr>
                  <a:t>：</a:t>
                </a:r>
                <a:endParaRPr lang="en-US" altLang="zh-CN" sz="2400"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altLang="zh-CN" sz="2400" smtClean="0">
                          <a:solidFill>
                            <a:srgbClr val="3C51B4"/>
                          </a:solidFill>
                          <a:latin typeface="Cambria Math" panose="02040503050406030204" pitchFamily="18" charset="0"/>
                        </a:rPr>
                        <m:t>𝐴</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d>
                        <m:dPr>
                          <m:ctrlPr>
                            <a:rPr lang="en-US" altLang="zh-CN" sz="2400" i="1">
                              <a:solidFill>
                                <a:srgbClr val="3C51B4"/>
                              </a:solidFill>
                              <a:latin typeface="Cambria Math" panose="02040503050406030204" pitchFamily="18" charset="0"/>
                            </a:rPr>
                          </m:ctrlPr>
                        </m:dPr>
                        <m:e>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num>
                            <m:den>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𝑆</m:t>
                              </m:r>
                            </m:den>
                          </m:f>
                        </m:e>
                      </m:d>
                      <m:r>
                        <a:rPr lang="en-US" altLang="zh-CN" sz="2400">
                          <a:solidFill>
                            <a:srgbClr val="3C51B4"/>
                          </a:solidFill>
                          <a:latin typeface="Cambria Math" panose="02040503050406030204" pitchFamily="18" charset="0"/>
                        </a:rPr>
                        <m:t>𝑆</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𝑇𝑆</m:t>
                      </m:r>
                    </m:oMath>
                  </m:oMathPara>
                </a14:m>
                <a:endParaRPr lang="en-US" altLang="zh-CN" sz="2400" dirty="0">
                  <a:solidFill>
                    <a:srgbClr val="3C51B4"/>
                  </a:solidFill>
                  <a:latin typeface="Cambria Math" panose="02040503050406030204" pitchFamily="18" charset="0"/>
                </a:endParaRPr>
              </a:p>
              <a:p>
                <a:pPr marL="0" indent="0" algn="just">
                  <a:buNone/>
                </a:pPr>
                <a:r>
                  <a:rPr lang="en-US" altLang="zh-CN" sz="2400" dirty="0">
                    <a:latin typeface="Cambria Math" panose="02040503050406030204" pitchFamily="18" charset="0"/>
                  </a:rPr>
                  <a:t>Total Derivatives </a:t>
                </a:r>
                <a:r>
                  <a:rPr lang="zh-CN" altLang="en-US" sz="2400" dirty="0">
                    <a:latin typeface="Cambria Math" panose="02040503050406030204" pitchFamily="18" charset="0"/>
                  </a:rPr>
                  <a:t>：</a:t>
                </a:r>
                <a14:m>
                  <m:oMath xmlns:m="http://schemas.openxmlformats.org/officeDocument/2006/math">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𝐴</m:t>
                    </m:r>
                    <m:r>
                      <a:rPr lang="en-US" altLang="zh-CN" sz="2400" smtClean="0">
                        <a:solidFill>
                          <a:srgbClr val="3C51B4"/>
                        </a:solidFill>
                        <a:latin typeface="Cambria Math" panose="02040503050406030204" pitchFamily="18" charset="0"/>
                      </a:rPr>
                      <m:t>=</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𝑆</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𝑇</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𝑆</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𝑇</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𝑉</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𝑁</m:t>
                    </m:r>
                  </m:oMath>
                </a14:m>
                <a:endParaRPr lang="en-US" altLang="zh-CN" sz="2400" dirty="0">
                  <a:solidFill>
                    <a:srgbClr val="3C51B4"/>
                  </a:solidFill>
                  <a:latin typeface="Cambria Math" panose="02040503050406030204" pitchFamily="18" charset="0"/>
                </a:endParaRPr>
              </a:p>
              <a:p>
                <a:pPr marL="0" indent="0" algn="just">
                  <a:buNone/>
                </a:pPr>
                <a:endParaRPr lang="en-US" altLang="zh-CN" sz="2400" dirty="0">
                  <a:latin typeface="Cambria Math" panose="02040503050406030204" pitchFamily="18" charset="0"/>
                </a:endParaRPr>
              </a:p>
              <a:p>
                <a:pPr marL="0" indent="0" algn="just">
                  <a:buNone/>
                </a:pPr>
                <a:r>
                  <a:rPr lang="en-US" altLang="zh-CN" sz="2400" dirty="0">
                    <a:latin typeface="Cambria Math" panose="02040503050406030204" pitchFamily="18" charset="0"/>
                  </a:rPr>
                  <a:t>Closed system </a:t>
                </a:r>
                <a14:m>
                  <m:oMath xmlns:m="http://schemas.openxmlformats.org/officeDocument/2006/math">
                    <m:d>
                      <m:dPr>
                        <m:ctrlPr>
                          <a:rPr lang="en-US" altLang="zh-CN" sz="2400" i="1" smtClean="0">
                            <a:solidFill>
                              <a:srgbClr val="3C51B4"/>
                            </a:solidFill>
                            <a:latin typeface="Cambria Math" panose="02040503050406030204" pitchFamily="18" charset="0"/>
                          </a:rPr>
                        </m:ctrlPr>
                      </m:dPr>
                      <m:e>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𝑁</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r>
                          <a:rPr lang="en-US" altLang="zh-CN" sz="2400">
                            <a:solidFill>
                              <a:srgbClr val="3C51B4"/>
                            </a:solidFill>
                            <a:latin typeface="Cambria Math" panose="02040503050406030204" pitchFamily="18" charset="0"/>
                          </a:rPr>
                          <m:t>, </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𝑉</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e>
                    </m:d>
                  </m:oMath>
                </a14:m>
                <a:r>
                  <a:rPr lang="zh-CN" altLang="en-US" sz="2400" dirty="0">
                    <a:solidFill>
                      <a:srgbClr val="3C51B4"/>
                    </a:solidFill>
                    <a:latin typeface="Cambria Math" panose="02040503050406030204" pitchFamily="18" charset="0"/>
                  </a:rPr>
                  <a:t> </a:t>
                </a:r>
                <a:r>
                  <a:rPr lang="en-US" altLang="zh-CN" sz="2400" dirty="0">
                    <a:latin typeface="Cambria Math" panose="02040503050406030204" pitchFamily="18" charset="0"/>
                  </a:rPr>
                  <a:t>under constant </a:t>
                </a:r>
                <a:r>
                  <a:rPr lang="en-US" altLang="zh-CN" sz="2400" i="1" dirty="0">
                    <a:latin typeface="Cambria Math" panose="02040503050406030204" pitchFamily="18" charset="0"/>
                  </a:rPr>
                  <a:t>T</a:t>
                </a:r>
                <a:r>
                  <a:rPr lang="zh-CN" altLang="en-US" sz="2400" dirty="0">
                    <a:latin typeface="Cambria Math" panose="02040503050406030204" pitchFamily="18" charset="0"/>
                  </a:rPr>
                  <a:t> </a:t>
                </a:r>
                <a14:m>
                  <m:oMath xmlns:m="http://schemas.openxmlformats.org/officeDocument/2006/math">
                    <m:d>
                      <m:dPr>
                        <m:ctrlPr>
                          <a:rPr lang="en-US" altLang="zh-CN" sz="2400" i="1" smtClean="0">
                            <a:solidFill>
                              <a:srgbClr val="3C51B4"/>
                            </a:solidFill>
                            <a:latin typeface="Cambria Math" panose="02040503050406030204" pitchFamily="18" charset="0"/>
                          </a:rPr>
                        </m:ctrlPr>
                      </m:dPr>
                      <m:e>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𝑇</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e>
                    </m:d>
                  </m:oMath>
                </a14:m>
                <a:r>
                  <a:rPr lang="en-US" altLang="zh-CN" sz="2400" dirty="0">
                    <a:latin typeface="Cambria Math" panose="02040503050406030204" pitchFamily="18" charset="0"/>
                  </a:rPr>
                  <a:t>, case of equilibrium</a:t>
                </a:r>
                <a:r>
                  <a:rPr lang="zh-CN" altLang="en-US" sz="2400" dirty="0">
                    <a:latin typeface="Cambria Math" panose="02040503050406030204" pitchFamily="18" charset="0"/>
                  </a:rPr>
                  <a:t>，</a:t>
                </a:r>
                <a:r>
                  <a:rPr lang="en-US" altLang="zh-CN" sz="2400" i="1" dirty="0">
                    <a:latin typeface="Cambria Math" panose="02040503050406030204" pitchFamily="18" charset="0"/>
                  </a:rPr>
                  <a:t>A </a:t>
                </a:r>
                <a:r>
                  <a:rPr lang="en-US" altLang="zh-CN" sz="2400" dirty="0">
                    <a:latin typeface="Cambria Math" panose="02040503050406030204" pitchFamily="18" charset="0"/>
                  </a:rPr>
                  <a:t>reaches its extreme value. </a:t>
                </a:r>
                <a14:m>
                  <m:oMath xmlns:m="http://schemas.openxmlformats.org/officeDocument/2006/math">
                    <m:r>
                      <a:rPr lang="en-US" altLang="zh-CN" sz="2400">
                        <a:latin typeface="Cambria Math" panose="02040503050406030204" pitchFamily="18" charset="0"/>
                      </a:rPr>
                      <m:t>(</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𝐴</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0</m:t>
                    </m:r>
                    <m:r>
                      <a:rPr lang="en-US" altLang="zh-CN" sz="2400" smtClean="0">
                        <a:solidFill>
                          <a:srgbClr val="3C51B4"/>
                        </a:solidFill>
                        <a:latin typeface="Cambria Math" panose="02040503050406030204" pitchFamily="18" charset="0"/>
                      </a:rPr>
                      <m:t>)</m:t>
                    </m:r>
                  </m:oMath>
                </a14:m>
                <a:r>
                  <a:rPr lang="en-US" altLang="zh-CN" sz="2400" dirty="0">
                    <a:latin typeface="Cambria Math" panose="02040503050406030204" pitchFamily="18" charset="0"/>
                  </a:rPr>
                  <a:t> ;</a:t>
                </a:r>
              </a:p>
              <a:p>
                <a:pPr marL="0" indent="0" algn="just">
                  <a:buNone/>
                </a:pPr>
                <a14:m>
                  <m:oMath xmlns:m="http://schemas.openxmlformats.org/officeDocument/2006/math">
                    <m:r>
                      <m:rPr>
                        <m:sty m:val="p"/>
                      </m:rPr>
                      <a:rPr lang="en-US" altLang="zh-CN" sz="2400" smtClean="0">
                        <a:solidFill>
                          <a:srgbClr val="3C51B4"/>
                        </a:solidFill>
                        <a:latin typeface="Cambria Math" panose="02040503050406030204" pitchFamily="18" charset="0"/>
                      </a:rPr>
                      <m:t>d</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𝑆</m:t>
                        </m:r>
                      </m:e>
                      <m:sub>
                        <m:r>
                          <a:rPr lang="en-US" altLang="zh-CN" sz="2400">
                            <a:solidFill>
                              <a:srgbClr val="3C51B4"/>
                            </a:solidFill>
                            <a:latin typeface="Cambria Math" panose="02040503050406030204" pitchFamily="18" charset="0"/>
                          </a:rPr>
                          <m:t>𝑢𝑛𝑖</m:t>
                        </m:r>
                      </m:sub>
                    </m:sSub>
                    <m:r>
                      <a:rPr lang="en-US" altLang="zh-CN" sz="2400">
                        <a:solidFill>
                          <a:srgbClr val="3C51B4"/>
                        </a:solidFill>
                        <a:latin typeface="Cambria Math" panose="02040503050406030204" pitchFamily="18" charset="0"/>
                      </a:rPr>
                      <m:t>=</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𝑆</m:t>
                    </m:r>
                    <m:r>
                      <a:rPr lang="en-US" altLang="zh-CN" sz="2400">
                        <a:solidFill>
                          <a:srgbClr val="3C51B4"/>
                        </a:solidFill>
                        <a:latin typeface="Cambria Math" panose="02040503050406030204" pitchFamily="18" charset="0"/>
                      </a:rPr>
                      <m:t>−</m:t>
                    </m:r>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𝛿</m:t>
                        </m:r>
                        <m:r>
                          <a:rPr lang="en-US" altLang="zh-CN" sz="2400">
                            <a:solidFill>
                              <a:srgbClr val="3C51B4"/>
                            </a:solidFill>
                            <a:latin typeface="Cambria Math" panose="02040503050406030204" pitchFamily="18" charset="0"/>
                          </a:rPr>
                          <m:t>𝑄</m:t>
                        </m:r>
                      </m:num>
                      <m:den>
                        <m:r>
                          <a:rPr lang="en-US" altLang="zh-CN" sz="2400">
                            <a:solidFill>
                              <a:srgbClr val="3C51B4"/>
                            </a:solidFill>
                            <a:latin typeface="Cambria Math" panose="02040503050406030204" pitchFamily="18" charset="0"/>
                          </a:rPr>
                          <m:t>𝑇</m:t>
                        </m:r>
                      </m:den>
                    </m:f>
                    <m:r>
                      <a:rPr lang="en-US" altLang="zh-CN" sz="2400">
                        <a:solidFill>
                          <a:srgbClr val="3C51B4"/>
                        </a:solidFill>
                        <a:latin typeface="Cambria Math" panose="02040503050406030204" pitchFamily="18" charset="0"/>
                      </a:rPr>
                      <m:t>=</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𝑆</m:t>
                    </m:r>
                    <m:r>
                      <a:rPr lang="en-US" altLang="zh-CN" sz="2400">
                        <a:solidFill>
                          <a:srgbClr val="3C51B4"/>
                        </a:solidFill>
                        <a:latin typeface="Cambria Math" panose="02040503050406030204" pitchFamily="18" charset="0"/>
                      </a:rPr>
                      <m:t>−</m:t>
                    </m:r>
                    <m:f>
                      <m:fPr>
                        <m:ctrlPr>
                          <a:rPr lang="en-US" altLang="zh-CN" sz="2400" i="1">
                            <a:solidFill>
                              <a:srgbClr val="3C51B4"/>
                            </a:solidFill>
                            <a:latin typeface="Cambria Math" panose="02040503050406030204" pitchFamily="18" charset="0"/>
                          </a:rPr>
                        </m:ctrlPr>
                      </m:fPr>
                      <m:num>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𝑈</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𝛿</m:t>
                        </m:r>
                        <m:r>
                          <a:rPr lang="en-US" altLang="zh-CN" sz="2400">
                            <a:solidFill>
                              <a:srgbClr val="3C51B4"/>
                            </a:solidFill>
                            <a:latin typeface="Cambria Math" panose="02040503050406030204" pitchFamily="18" charset="0"/>
                          </a:rPr>
                          <m:t>𝑊</m:t>
                        </m:r>
                      </m:num>
                      <m:den>
                        <m:r>
                          <m:rPr>
                            <m:sty m:val="p"/>
                          </m:rPr>
                          <a:rPr lang="en-US" altLang="zh-CN" sz="2400">
                            <a:solidFill>
                              <a:srgbClr val="3C51B4"/>
                            </a:solidFill>
                            <a:latin typeface="Cambria Math" panose="02040503050406030204" pitchFamily="18" charset="0"/>
                          </a:rPr>
                          <m:t>T</m:t>
                        </m:r>
                      </m:den>
                    </m:f>
                    <m:r>
                      <a:rPr lang="en-US" altLang="zh-CN" sz="2400">
                        <a:solidFill>
                          <a:srgbClr val="3C51B4"/>
                        </a:solidFill>
                        <a:latin typeface="Cambria Math" panose="02040503050406030204" pitchFamily="18" charset="0"/>
                      </a:rPr>
                      <m:t>=</m:t>
                    </m:r>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m:t>
                        </m:r>
                        <m:r>
                          <m:rPr>
                            <m:sty m:val="p"/>
                          </m:rPr>
                          <a:rPr lang="en-US" altLang="zh-CN" sz="2400">
                            <a:solidFill>
                              <a:srgbClr val="3C51B4"/>
                            </a:solidFill>
                            <a:latin typeface="Cambria Math" panose="02040503050406030204" pitchFamily="18" charset="0"/>
                          </a:rPr>
                          <m:t>dA</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𝛿</m:t>
                        </m:r>
                        <m:r>
                          <a:rPr lang="en-US" altLang="zh-CN" sz="2400">
                            <a:solidFill>
                              <a:srgbClr val="3C51B4"/>
                            </a:solidFill>
                            <a:latin typeface="Cambria Math" panose="02040503050406030204" pitchFamily="18" charset="0"/>
                          </a:rPr>
                          <m:t>𝑊</m:t>
                        </m:r>
                      </m:num>
                      <m:den>
                        <m:r>
                          <m:rPr>
                            <m:sty m:val="p"/>
                          </m:rPr>
                          <a:rPr lang="en-US" altLang="zh-CN" sz="2400">
                            <a:solidFill>
                              <a:srgbClr val="3C51B4"/>
                            </a:solidFill>
                            <a:latin typeface="Cambria Math" panose="02040503050406030204" pitchFamily="18" charset="0"/>
                          </a:rPr>
                          <m:t>T</m:t>
                        </m:r>
                      </m:den>
                    </m:f>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r>
                      <a:rPr lang="en-US" altLang="zh-CN" sz="2400">
                        <a:latin typeface="Cambria Math" panose="02040503050406030204" pitchFamily="18" charset="0"/>
                      </a:rPr>
                      <m:t> </m:t>
                    </m:r>
                  </m:oMath>
                </a14:m>
                <a:r>
                  <a:rPr lang="en-US" altLang="zh-CN" sz="2400" dirty="0">
                    <a:latin typeface="Cambria Math" panose="02040503050406030204" pitchFamily="18" charset="0"/>
                  </a:rPr>
                  <a:t> gives </a:t>
                </a:r>
                <a14:m>
                  <m:oMath xmlns:m="http://schemas.openxmlformats.org/officeDocument/2006/math">
                    <m:r>
                      <m:rPr>
                        <m:sty m:val="p"/>
                      </m:rPr>
                      <a:rPr lang="en-US" altLang="zh-CN" sz="2400" dirty="0" smtClean="0">
                        <a:solidFill>
                          <a:srgbClr val="3C51B4"/>
                        </a:solidFill>
                        <a:latin typeface="Cambria Math" panose="02040503050406030204" pitchFamily="18" charset="0"/>
                      </a:rPr>
                      <m:t>Δ</m:t>
                    </m:r>
                    <m:r>
                      <a:rPr lang="en-US" altLang="zh-CN" sz="2400" dirty="0" smtClean="0">
                        <a:solidFill>
                          <a:srgbClr val="3C51B4"/>
                        </a:solidFill>
                        <a:latin typeface="Cambria Math" panose="02040503050406030204" pitchFamily="18" charset="0"/>
                      </a:rPr>
                      <m:t>𝐴</m:t>
                    </m:r>
                    <m:r>
                      <a:rPr lang="en-US" altLang="zh-CN" sz="2400" dirty="0" smtClean="0">
                        <a:solidFill>
                          <a:srgbClr val="3C51B4"/>
                        </a:solidFill>
                        <a:latin typeface="Cambria Math" panose="02040503050406030204" pitchFamily="18" charset="0"/>
                      </a:rPr>
                      <m:t>≤</m:t>
                    </m:r>
                    <m:r>
                      <a:rPr lang="en-US" altLang="zh-CN" sz="2400" dirty="0" smtClean="0">
                        <a:solidFill>
                          <a:srgbClr val="3C51B4"/>
                        </a:solidFill>
                        <a:latin typeface="Cambria Math" panose="02040503050406030204" pitchFamily="18" charset="0"/>
                      </a:rPr>
                      <m:t>𝑊</m:t>
                    </m:r>
                  </m:oMath>
                </a14:m>
                <a:endParaRPr lang="en-US" altLang="zh-CN" sz="2400" dirty="0">
                  <a:solidFill>
                    <a:srgbClr val="3C51B4"/>
                  </a:solidFill>
                  <a:latin typeface="Cambria Math" panose="02040503050406030204" pitchFamily="18" charset="0"/>
                </a:endParaRPr>
              </a:p>
              <a:p>
                <a:pPr marL="0" indent="0" algn="just">
                  <a:buNone/>
                </a:pPr>
                <a:r>
                  <a:rPr lang="en-US" altLang="zh-CN" sz="2400" dirty="0">
                    <a:latin typeface="Cambria Math" panose="02040503050406030204" pitchFamily="18" charset="0"/>
                  </a:rPr>
                  <a:t>That is, </a:t>
                </a:r>
                <a:r>
                  <a:rPr lang="en-US" altLang="zh-CN" sz="2400" dirty="0">
                    <a:solidFill>
                      <a:srgbClr val="3C51B4"/>
                    </a:solidFill>
                    <a:latin typeface="Cambria Math" panose="02040503050406030204" pitchFamily="18" charset="0"/>
                  </a:rPr>
                  <a:t>Δ</a:t>
                </a:r>
                <a:r>
                  <a:rPr lang="zh-CN" altLang="en-US" sz="2400" dirty="0">
                    <a:solidFill>
                      <a:srgbClr val="3C51B4"/>
                    </a:solidFill>
                    <a:latin typeface="Cambria Math" panose="02040503050406030204" pitchFamily="18" charset="0"/>
                  </a:rPr>
                  <a:t>𝐴 </a:t>
                </a:r>
                <a:r>
                  <a:rPr lang="en-US" altLang="zh-CN" sz="2400" dirty="0">
                    <a:latin typeface="Cambria Math" panose="02040503050406030204" pitchFamily="18" charset="0"/>
                  </a:rPr>
                  <a:t>equals the maximum work done by the system in an isothermal process.</a:t>
                </a:r>
              </a:p>
            </p:txBody>
          </p:sp>
        </mc:Choice>
        <mc:Fallback xmlns="">
          <p:sp>
            <p:nvSpPr>
              <p:cNvPr id="3" name="内容占位符 2">
                <a:extLst>
                  <a:ext uri="{FF2B5EF4-FFF2-40B4-BE49-F238E27FC236}">
                    <a16:creationId xmlns:a16="http://schemas.microsoft.com/office/drawing/2014/main" id="{37EA465C-5FE7-BE20-1551-6004F46CFA33}"/>
                  </a:ext>
                </a:extLst>
              </p:cNvPr>
              <p:cNvSpPr>
                <a:spLocks noGrp="1" noRot="1" noChangeAspect="1" noMove="1" noResize="1" noEditPoints="1" noAdjustHandles="1" noChangeArrowheads="1" noChangeShapeType="1" noTextEdit="1"/>
              </p:cNvSpPr>
              <p:nvPr>
                <p:ph idx="1"/>
              </p:nvPr>
            </p:nvSpPr>
            <p:spPr>
              <a:xfrm>
                <a:off x="838200" y="1825625"/>
                <a:ext cx="10603523" cy="4821360"/>
              </a:xfrm>
              <a:blipFill>
                <a:blip r:embed="rId3"/>
                <a:stretch>
                  <a:fillRect l="-920" t="-1770" r="-3680" b="-37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5380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1349D5-C9CA-9B18-5ABA-CA71D41C2379}"/>
              </a:ext>
            </a:extLst>
          </p:cNvPr>
          <p:cNvSpPr>
            <a:spLocks noGrp="1"/>
          </p:cNvSpPr>
          <p:nvPr>
            <p:ph type="title"/>
          </p:nvPr>
        </p:nvSpPr>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D6CFF71-1384-FF66-748F-5B9027A43327}"/>
                  </a:ext>
                </a:extLst>
              </p:cNvPr>
              <p:cNvSpPr>
                <a:spLocks noGrp="1"/>
              </p:cNvSpPr>
              <p:nvPr>
                <p:ph idx="1"/>
              </p:nvPr>
            </p:nvSpPr>
            <p:spPr>
              <a:xfrm>
                <a:off x="838200" y="1843210"/>
                <a:ext cx="10515600" cy="4732094"/>
              </a:xfrm>
            </p:spPr>
            <p:txBody>
              <a:bodyPr>
                <a:normAutofit/>
              </a:bodyPr>
              <a:lstStyle/>
              <a:p>
                <a:r>
                  <a:rPr lang="en-US" altLang="zh-CN" sz="2400" dirty="0">
                    <a:latin typeface="Cambria Math" panose="02040503050406030204" pitchFamily="18" charset="0"/>
                  </a:rPr>
                  <a:t>Isobaric System---Enthapy </a:t>
                </a:r>
                <a14:m>
                  <m:oMath xmlns:m="http://schemas.openxmlformats.org/officeDocument/2006/math">
                    <m:r>
                      <a:rPr lang="en-US" altLang="zh-CN" sz="2400" smtClean="0">
                        <a:solidFill>
                          <a:srgbClr val="3C51B4"/>
                        </a:solidFill>
                        <a:latin typeface="Cambria Math" panose="02040503050406030204" pitchFamily="18" charset="0"/>
                      </a:rPr>
                      <m:t>𝐻</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𝑁</m:t>
                    </m:r>
                    <m:r>
                      <a:rPr lang="en-US" altLang="zh-CN" sz="2400" smtClean="0">
                        <a:solidFill>
                          <a:srgbClr val="3C51B4"/>
                        </a:solidFill>
                        <a:latin typeface="Cambria Math" panose="02040503050406030204" pitchFamily="18" charset="0"/>
                      </a:rPr>
                      <m:t>)</m:t>
                    </m:r>
                  </m:oMath>
                </a14:m>
                <a:endParaRPr lang="en-US" altLang="zh-CN" sz="2400"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Replace </a:t>
                </a:r>
                <a14:m>
                  <m:oMath xmlns:m="http://schemas.openxmlformats.org/officeDocument/2006/math">
                    <m:r>
                      <a:rPr lang="en-US" altLang="zh-CN" sz="2400" smtClean="0">
                        <a:solidFill>
                          <a:srgbClr val="3C51B4"/>
                        </a:solidFill>
                        <a:latin typeface="Cambria Math" panose="02040503050406030204" pitchFamily="18" charset="0"/>
                      </a:rPr>
                      <m:t>𝑉</m:t>
                    </m:r>
                  </m:oMath>
                </a14:m>
                <a:r>
                  <a:rPr lang="zh-CN" altLang="en-US" sz="2400" dirty="0">
                    <a:latin typeface="Cambria Math" panose="02040503050406030204" pitchFamily="18" charset="0"/>
                  </a:rPr>
                  <a:t> </a:t>
                </a:r>
                <a:r>
                  <a:rPr lang="en-US" altLang="zh-CN" sz="2400" dirty="0">
                    <a:latin typeface="Cambria Math" panose="02040503050406030204" pitchFamily="18" charset="0"/>
                  </a:rPr>
                  <a:t>with </a:t>
                </a:r>
                <a14:m>
                  <m:oMath xmlns:m="http://schemas.openxmlformats.org/officeDocument/2006/math">
                    <m:r>
                      <a:rPr lang="en-US" altLang="zh-CN" sz="2400" smtClean="0">
                        <a:solidFill>
                          <a:srgbClr val="3C51B4"/>
                        </a:solidFill>
                        <a:latin typeface="Cambria Math" panose="02040503050406030204" pitchFamily="18" charset="0"/>
                      </a:rPr>
                      <m:t>𝑃</m:t>
                    </m:r>
                    <m:r>
                      <a:rPr lang="en-US" altLang="zh-CN" sz="2400" smtClean="0">
                        <a:solidFill>
                          <a:srgbClr val="3C51B4"/>
                        </a:solidFill>
                        <a:latin typeface="Cambria Math" panose="02040503050406030204" pitchFamily="18" charset="0"/>
                      </a:rPr>
                      <m:t>=−</m:t>
                    </m:r>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num>
                      <m:den>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𝑉</m:t>
                        </m:r>
                      </m:den>
                    </m:f>
                  </m:oMath>
                </a14:m>
                <a:r>
                  <a:rPr lang="en-US" altLang="zh-CN" sz="2400" dirty="0">
                    <a:latin typeface="Cambria Math" panose="02040503050406030204" pitchFamily="18" charset="0"/>
                  </a:rPr>
                  <a:t>, Legendre transformation of </a:t>
                </a:r>
                <a:r>
                  <a:rPr lang="zh-CN" altLang="en-US" sz="2400" dirty="0">
                    <a:solidFill>
                      <a:srgbClr val="3C51B4"/>
                    </a:solidFill>
                    <a:latin typeface="Cambria Math" panose="02040503050406030204" pitchFamily="18" charset="0"/>
                  </a:rPr>
                  <a:t>𝑈</a:t>
                </a:r>
                <a:r>
                  <a:rPr lang="zh-CN" altLang="en-US" sz="2400" dirty="0">
                    <a:latin typeface="Cambria Math" panose="02040503050406030204" pitchFamily="18" charset="0"/>
                  </a:rPr>
                  <a:t> </a:t>
                </a:r>
                <a:r>
                  <a:rPr lang="en-US" altLang="zh-CN" sz="2400" dirty="0">
                    <a:latin typeface="Cambria Math" panose="02040503050406030204" pitchFamily="18" charset="0"/>
                  </a:rPr>
                  <a:t>with respect to </a:t>
                </a:r>
                <a14:m>
                  <m:oMath xmlns:m="http://schemas.openxmlformats.org/officeDocument/2006/math">
                    <m:r>
                      <a:rPr lang="en-US" altLang="zh-CN" sz="2400" smtClean="0">
                        <a:solidFill>
                          <a:srgbClr val="3C51B4"/>
                        </a:solidFill>
                        <a:latin typeface="Cambria Math" panose="02040503050406030204" pitchFamily="18" charset="0"/>
                      </a:rPr>
                      <m:t>𝑉</m:t>
                    </m:r>
                  </m:oMath>
                </a14:m>
                <a:r>
                  <a:rPr lang="en-US" altLang="zh-CN" sz="2400" dirty="0">
                    <a:latin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r>
                        <a:rPr lang="en-US" altLang="zh-CN" sz="2400" smtClean="0">
                          <a:solidFill>
                            <a:srgbClr val="3C51B4"/>
                          </a:solidFill>
                          <a:latin typeface="Cambria Math" panose="02040503050406030204" pitchFamily="18" charset="0"/>
                        </a:rPr>
                        <m:t>𝐻</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d>
                        <m:dPr>
                          <m:ctrlPr>
                            <a:rPr lang="en-US" altLang="zh-CN" sz="2400" i="1">
                              <a:solidFill>
                                <a:srgbClr val="3C51B4"/>
                              </a:solidFill>
                              <a:latin typeface="Cambria Math" panose="02040503050406030204" pitchFamily="18" charset="0"/>
                            </a:rPr>
                          </m:ctrlPr>
                        </m:dPr>
                        <m:e>
                          <m:f>
                            <m:fPr>
                              <m:ctrlPr>
                                <a:rPr lang="en-US" altLang="zh-CN" sz="2400" i="1">
                                  <a:solidFill>
                                    <a:srgbClr val="3C51B4"/>
                                  </a:solidFill>
                                  <a:latin typeface="Cambria Math" panose="02040503050406030204" pitchFamily="18" charset="0"/>
                                </a:rPr>
                              </m:ctrlPr>
                            </m:fPr>
                            <m:num>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num>
                            <m:den>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𝑉</m:t>
                              </m:r>
                            </m:den>
                          </m:f>
                        </m:e>
                      </m:d>
                      <m:r>
                        <a:rPr lang="en-US" altLang="zh-CN" sz="2400">
                          <a:solidFill>
                            <a:srgbClr val="3C51B4"/>
                          </a:solidFill>
                          <a:latin typeface="Cambria Math" panose="02040503050406030204" pitchFamily="18" charset="0"/>
                        </a:rPr>
                        <m:t>𝑉</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𝑈</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𝑃𝑉</m:t>
                      </m:r>
                    </m:oMath>
                  </m:oMathPara>
                </a14:m>
                <a:endParaRPr lang="en-US" altLang="zh-CN" sz="2400"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Total Derivatives</a:t>
                </a:r>
                <a:r>
                  <a:rPr lang="zh-CN" altLang="en-US" sz="2400" dirty="0">
                    <a:latin typeface="Cambria Math" panose="02040503050406030204" pitchFamily="18" charset="0"/>
                  </a:rPr>
                  <a:t>：</a:t>
                </a:r>
                <a14:m>
                  <m:oMath xmlns:m="http://schemas.openxmlformats.org/officeDocument/2006/math">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𝐻</m:t>
                    </m:r>
                    <m:r>
                      <a:rPr lang="en-US" altLang="zh-CN" sz="2400" smtClean="0">
                        <a:solidFill>
                          <a:srgbClr val="3C51B4"/>
                        </a:solidFill>
                        <a:latin typeface="Cambria Math" panose="02040503050406030204" pitchFamily="18" charset="0"/>
                      </a:rPr>
                      <m:t>=</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𝑉</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𝑉</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𝑃</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𝑉</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𝑃</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𝑁</m:t>
                    </m:r>
                  </m:oMath>
                </a14:m>
                <a:endParaRPr lang="en-US" altLang="zh-CN" sz="2400" dirty="0">
                  <a:solidFill>
                    <a:srgbClr val="3C51B4"/>
                  </a:solidFill>
                  <a:latin typeface="Cambria Math" panose="02040503050406030204" pitchFamily="18" charset="0"/>
                </a:endParaRPr>
              </a:p>
              <a:p>
                <a:pPr marL="0" indent="0">
                  <a:buNone/>
                </a:pP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Closed system </a:t>
                </a:r>
                <a14:m>
                  <m:oMath xmlns:m="http://schemas.openxmlformats.org/officeDocument/2006/math">
                    <m:r>
                      <a:rPr lang="en-US" altLang="zh-CN" sz="2400" smtClean="0">
                        <a:solidFill>
                          <a:srgbClr val="3C51B4"/>
                        </a:solidFill>
                        <a:latin typeface="Cambria Math" panose="02040503050406030204" pitchFamily="18" charset="0"/>
                      </a:rPr>
                      <m:t>(</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𝑁</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0</m:t>
                    </m:r>
                    <m:r>
                      <a:rPr lang="en-US" altLang="zh-CN" sz="2400" smtClean="0">
                        <a:solidFill>
                          <a:srgbClr val="3C51B4"/>
                        </a:solidFill>
                        <a:latin typeface="Cambria Math" panose="02040503050406030204" pitchFamily="18" charset="0"/>
                      </a:rPr>
                      <m:t>)</m:t>
                    </m:r>
                  </m:oMath>
                </a14:m>
                <a:r>
                  <a:rPr lang="en-US" altLang="zh-CN" sz="2400" dirty="0">
                    <a:latin typeface="Cambria Math" panose="02040503050406030204" pitchFamily="18" charset="0"/>
                  </a:rPr>
                  <a:t> under constant external pressure </a:t>
                </a:r>
                <a14:m>
                  <m:oMath xmlns:m="http://schemas.openxmlformats.org/officeDocument/2006/math">
                    <m:d>
                      <m:dPr>
                        <m:ctrlPr>
                          <a:rPr lang="en-US" altLang="zh-CN" sz="2400" i="1" smtClean="0">
                            <a:solidFill>
                              <a:srgbClr val="3C51B4"/>
                            </a:solidFill>
                            <a:latin typeface="Cambria Math" panose="02040503050406030204" pitchFamily="18" charset="0"/>
                          </a:rPr>
                        </m:ctrlPr>
                      </m:dPr>
                      <m:e>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𝑃</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e>
                    </m:d>
                    <m:r>
                      <a:rPr lang="en-US" altLang="zh-CN" sz="2400">
                        <a:solidFill>
                          <a:srgbClr val="3C51B4"/>
                        </a:solidFill>
                        <a:latin typeface="Cambria Math" panose="02040503050406030204" pitchFamily="18" charset="0"/>
                      </a:rPr>
                      <m:t>, </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𝐻</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𝑇</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𝑆</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𝛿</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𝑄</m:t>
                        </m:r>
                      </m:e>
                      <m:sub>
                        <m:r>
                          <a:rPr lang="en-US" altLang="zh-CN" sz="2400">
                            <a:solidFill>
                              <a:srgbClr val="3C51B4"/>
                            </a:solidFill>
                            <a:latin typeface="Cambria Math" panose="02040503050406030204" pitchFamily="18" charset="0"/>
                          </a:rPr>
                          <m:t>𝑟𝑒𝑣</m:t>
                        </m:r>
                      </m:sub>
                    </m:sSub>
                  </m:oMath>
                </a14:m>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That is, the change of enthalpy is the heat under constant </a:t>
                </a:r>
                <a14:m>
                  <m:oMath xmlns:m="http://schemas.openxmlformats.org/officeDocument/2006/math">
                    <m:r>
                      <a:rPr lang="en-US" altLang="zh-CN" sz="2400" smtClean="0">
                        <a:solidFill>
                          <a:srgbClr val="3C51B4"/>
                        </a:solidFill>
                        <a:latin typeface="Cambria Math" panose="02040503050406030204" pitchFamily="18" charset="0"/>
                      </a:rPr>
                      <m:t>𝑃</m:t>
                    </m:r>
                  </m:oMath>
                </a14:m>
                <a:endParaRPr lang="zh-CN" altLang="en-US" sz="2400" dirty="0">
                  <a:latin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CD6CFF71-1384-FF66-748F-5B9027A43327}"/>
                  </a:ext>
                </a:extLst>
              </p:cNvPr>
              <p:cNvSpPr>
                <a:spLocks noGrp="1" noRot="1" noChangeAspect="1" noMove="1" noResize="1" noEditPoints="1" noAdjustHandles="1" noChangeArrowheads="1" noChangeShapeType="1" noTextEdit="1"/>
              </p:cNvSpPr>
              <p:nvPr>
                <p:ph idx="1"/>
              </p:nvPr>
            </p:nvSpPr>
            <p:spPr>
              <a:xfrm>
                <a:off x="838200" y="1843210"/>
                <a:ext cx="10515600" cy="4732094"/>
              </a:xfrm>
              <a:blipFill>
                <a:blip r:embed="rId3"/>
                <a:stretch>
                  <a:fillRect l="-928" t="-18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5675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58071-0464-3377-C3A9-840C6FE7A965}"/>
              </a:ext>
            </a:extLst>
          </p:cNvPr>
          <p:cNvSpPr>
            <a:spLocks noGrp="1"/>
          </p:cNvSpPr>
          <p:nvPr>
            <p:ph type="title"/>
          </p:nvPr>
        </p:nvSpPr>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93176D9-5883-8EC0-6382-74174E988665}"/>
                  </a:ext>
                </a:extLst>
              </p:cNvPr>
              <p:cNvSpPr>
                <a:spLocks noGrp="1"/>
              </p:cNvSpPr>
              <p:nvPr>
                <p:ph idx="1"/>
              </p:nvPr>
            </p:nvSpPr>
            <p:spPr>
              <a:xfrm>
                <a:off x="838200" y="1825625"/>
                <a:ext cx="9876692" cy="4351338"/>
              </a:xfrm>
            </p:spPr>
            <p:txBody>
              <a:bodyPr>
                <a:normAutofit/>
              </a:bodyPr>
              <a:lstStyle/>
              <a:p>
                <a:r>
                  <a:rPr lang="en-US" altLang="zh-CN" sz="2400" dirty="0">
                    <a:latin typeface="Cambria Math" panose="02040503050406030204" pitchFamily="18" charset="0"/>
                  </a:rPr>
                  <a:t>Constant temperature &amp; pressure——Gibbs Free Energy </a:t>
                </a:r>
                <a14:m>
                  <m:oMath xmlns:m="http://schemas.openxmlformats.org/officeDocument/2006/math">
                    <m:r>
                      <a:rPr lang="en-US" altLang="zh-CN" sz="2400" smtClean="0">
                        <a:solidFill>
                          <a:srgbClr val="3C51B4"/>
                        </a:solidFill>
                        <a:latin typeface="Cambria Math" panose="02040503050406030204" pitchFamily="18" charset="0"/>
                      </a:rPr>
                      <m:t>𝐺</m:t>
                    </m:r>
                    <m:d>
                      <m:dPr>
                        <m:ctrlPr>
                          <a:rPr lang="en-US" altLang="zh-CN" sz="2400" i="1">
                            <a:solidFill>
                              <a:srgbClr val="3C51B4"/>
                            </a:solidFill>
                            <a:latin typeface="Cambria Math" panose="02040503050406030204" pitchFamily="18" charset="0"/>
                          </a:rPr>
                        </m:ctrlPr>
                      </m:dPr>
                      <m:e>
                        <m:r>
                          <a:rPr lang="en-US" altLang="zh-CN" sz="2400">
                            <a:solidFill>
                              <a:srgbClr val="3C51B4"/>
                            </a:solidFill>
                            <a:latin typeface="Cambria Math" panose="02040503050406030204" pitchFamily="18" charset="0"/>
                          </a:rPr>
                          <m:t>𝑇</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𝑃</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𝑁</m:t>
                        </m:r>
                      </m:e>
                    </m:d>
                  </m:oMath>
                </a14:m>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Legendre Transform of </a:t>
                </a:r>
                <a:r>
                  <a:rPr lang="en-US" altLang="zh-CN" sz="2400" i="1" dirty="0">
                    <a:solidFill>
                      <a:srgbClr val="3C51B4"/>
                    </a:solidFill>
                    <a:latin typeface="Cambria Math" panose="02040503050406030204" pitchFamily="18" charset="0"/>
                  </a:rPr>
                  <a:t>S</a:t>
                </a:r>
                <a:r>
                  <a:rPr lang="en-US" altLang="zh-CN" sz="2400" dirty="0">
                    <a:latin typeface="Cambria Math" panose="02040503050406030204" pitchFamily="18" charset="0"/>
                  </a:rPr>
                  <a:t> &amp; </a:t>
                </a:r>
                <a:r>
                  <a:rPr lang="en-US" altLang="zh-CN" sz="2400" i="1" dirty="0">
                    <a:solidFill>
                      <a:srgbClr val="3C51B4"/>
                    </a:solidFill>
                    <a:latin typeface="Cambria Math" panose="02040503050406030204" pitchFamily="18" charset="0"/>
                  </a:rPr>
                  <a:t>V</a:t>
                </a:r>
                <a:r>
                  <a:rPr lang="en-US" altLang="zh-CN" sz="2400" dirty="0">
                    <a:latin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r>
                        <a:rPr lang="en-US" altLang="zh-CN" sz="2400" smtClean="0">
                          <a:solidFill>
                            <a:srgbClr val="3C51B4"/>
                          </a:solidFill>
                          <a:latin typeface="Cambria Math" panose="02040503050406030204" pitchFamily="18" charset="0"/>
                        </a:rPr>
                        <m:t>𝐺</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𝑃𝑉</m:t>
                      </m:r>
                    </m:oMath>
                  </m:oMathPara>
                </a14:m>
                <a:endParaRPr lang="en-US" altLang="zh-CN" sz="2400"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Total Derivatives : </a:t>
                </a:r>
                <a14:m>
                  <m:oMath xmlns:m="http://schemas.openxmlformats.org/officeDocument/2006/math">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𝐺</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𝑆</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𝑇</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𝑉</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𝑃</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m:rPr>
                        <m:sty m:val="p"/>
                      </m:rPr>
                      <a:rPr lang="en-US" altLang="zh-CN" sz="2400" smtClean="0">
                        <a:solidFill>
                          <a:srgbClr val="3C51B4"/>
                        </a:solidFill>
                        <a:latin typeface="Cambria Math" panose="02040503050406030204" pitchFamily="18" charset="0"/>
                      </a:rPr>
                      <m:t>d</m:t>
                    </m:r>
                    <m:r>
                      <a:rPr lang="en-US" altLang="zh-CN" sz="2400" smtClean="0">
                        <a:solidFill>
                          <a:srgbClr val="3C51B4"/>
                        </a:solidFill>
                        <a:latin typeface="Cambria Math" panose="02040503050406030204" pitchFamily="18" charset="0"/>
                      </a:rPr>
                      <m:t>𝑁</m:t>
                    </m:r>
                  </m:oMath>
                </a14:m>
                <a:endParaRPr lang="en-US" altLang="zh-CN" sz="2400" dirty="0">
                  <a:solidFill>
                    <a:srgbClr val="3C51B4"/>
                  </a:solidFill>
                  <a:latin typeface="Cambria Math" panose="02040503050406030204" pitchFamily="18" charset="0"/>
                </a:endParaRPr>
              </a:p>
              <a:p>
                <a:pPr marL="0" indent="0">
                  <a:buNone/>
                </a:pP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Chemical reactions reach its equilibrium when</a:t>
                </a:r>
                <a:r>
                  <a:rPr lang="zh-CN" altLang="en-US" sz="2400" dirty="0">
                    <a:latin typeface="Cambria Math" panose="02040503050406030204" pitchFamily="18" charset="0"/>
                  </a:rPr>
                  <a:t> </a:t>
                </a:r>
                <a14:m>
                  <m:oMath xmlns:m="http://schemas.openxmlformats.org/officeDocument/2006/math">
                    <m:r>
                      <m:rPr>
                        <m:sty m:val="p"/>
                      </m:rPr>
                      <a:rPr lang="en-US" altLang="zh-CN" sz="2400" smtClean="0">
                        <a:solidFill>
                          <a:srgbClr val="3C51B4"/>
                        </a:solidFill>
                        <a:latin typeface="Cambria Math" panose="02040503050406030204" pitchFamily="18" charset="0"/>
                      </a:rPr>
                      <m:t>dG</m:t>
                    </m:r>
                    <m:r>
                      <a:rPr lang="en-US" altLang="zh-CN" sz="2400" smtClean="0">
                        <a:solidFill>
                          <a:srgbClr val="3C51B4"/>
                        </a:solidFill>
                        <a:latin typeface="Cambria Math" panose="02040503050406030204" pitchFamily="18" charset="0"/>
                      </a:rPr>
                      <m:t>=</m:t>
                    </m:r>
                    <m:nary>
                      <m:naryPr>
                        <m:chr m:val="∑"/>
                        <m:supHide m:val="on"/>
                        <m:ctrlPr>
                          <a:rPr lang="en-US" altLang="zh-CN" sz="2400" i="1">
                            <a:solidFill>
                              <a:srgbClr val="3C51B4"/>
                            </a:solidFill>
                            <a:latin typeface="Cambria Math" panose="02040503050406030204" pitchFamily="18" charset="0"/>
                          </a:rPr>
                        </m:ctrlPr>
                      </m:naryPr>
                      <m:sub>
                        <m:r>
                          <a:rPr lang="en-US" altLang="zh-CN" sz="2400">
                            <a:solidFill>
                              <a:srgbClr val="3C51B4"/>
                            </a:solidFill>
                            <a:latin typeface="Cambria Math" panose="02040503050406030204" pitchFamily="18" charset="0"/>
                          </a:rPr>
                          <m:t>𝑖</m:t>
                        </m:r>
                      </m:sub>
                      <m:sup/>
                      <m:e>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𝜇</m:t>
                            </m:r>
                          </m:e>
                          <m:sub>
                            <m:r>
                              <a:rPr lang="en-US" altLang="zh-CN" sz="2400">
                                <a:solidFill>
                                  <a:srgbClr val="3C51B4"/>
                                </a:solidFill>
                                <a:latin typeface="Cambria Math" panose="02040503050406030204" pitchFamily="18" charset="0"/>
                              </a:rPr>
                              <m:t>𝑖</m:t>
                            </m:r>
                          </m:sub>
                        </m:sSub>
                        <m:r>
                          <m:rPr>
                            <m:sty m:val="p"/>
                          </m:rPr>
                          <a:rPr lang="en-US" altLang="zh-CN" sz="2400">
                            <a:solidFill>
                              <a:srgbClr val="3C51B4"/>
                            </a:solidFill>
                            <a:latin typeface="Cambria Math" panose="02040503050406030204" pitchFamily="18" charset="0"/>
                          </a:rPr>
                          <m:t>d</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𝑁</m:t>
                            </m:r>
                          </m:e>
                          <m:sub>
                            <m:r>
                              <a:rPr lang="en-US" altLang="zh-CN" sz="2400">
                                <a:solidFill>
                                  <a:srgbClr val="3C51B4"/>
                                </a:solidFill>
                                <a:latin typeface="Cambria Math" panose="02040503050406030204" pitchFamily="18" charset="0"/>
                              </a:rPr>
                              <m:t>𝑖</m:t>
                            </m:r>
                          </m:sub>
                        </m:sSub>
                      </m:e>
                    </m:nary>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0</m:t>
                    </m:r>
                  </m:oMath>
                </a14:m>
                <a:r>
                  <a:rPr lang="zh-CN" altLang="en-US" sz="2400" dirty="0">
                    <a:solidFill>
                      <a:srgbClr val="3C51B4"/>
                    </a:solidFill>
                    <a:latin typeface="Cambria Math" panose="02040503050406030204" pitchFamily="18" charset="0"/>
                  </a:rPr>
                  <a:t> </a:t>
                </a:r>
                <a:r>
                  <a:rPr lang="en-US" altLang="zh-CN" sz="2400" dirty="0">
                    <a:latin typeface="Cambria Math" panose="02040503050406030204" pitchFamily="18" charset="0"/>
                  </a:rPr>
                  <a:t>under constant </a:t>
                </a:r>
                <a:r>
                  <a:rPr lang="en-US" altLang="zh-CN" sz="2400" i="1" dirty="0">
                    <a:solidFill>
                      <a:srgbClr val="3C51B4"/>
                    </a:solidFill>
                    <a:latin typeface="Cambria Math" panose="02040503050406030204" pitchFamily="18" charset="0"/>
                  </a:rPr>
                  <a:t>P</a:t>
                </a:r>
                <a:r>
                  <a:rPr lang="en-US" altLang="zh-CN" sz="2400" dirty="0">
                    <a:latin typeface="Cambria Math" panose="02040503050406030204" pitchFamily="18" charset="0"/>
                  </a:rPr>
                  <a:t> and </a:t>
                </a:r>
                <a:r>
                  <a:rPr lang="en-US" altLang="zh-CN" sz="2400" i="1" dirty="0">
                    <a:solidFill>
                      <a:srgbClr val="3C51B4"/>
                    </a:solidFill>
                    <a:latin typeface="Cambria Math" panose="02040503050406030204" pitchFamily="18" charset="0"/>
                  </a:rPr>
                  <a:t>T</a:t>
                </a:r>
                <a:r>
                  <a:rPr lang="en-US" altLang="zh-CN" sz="2400" dirty="0">
                    <a:latin typeface="Cambria Math" panose="02040503050406030204" pitchFamily="18" charset="0"/>
                  </a:rPr>
                  <a:t>, </a:t>
                </a:r>
              </a:p>
              <a:p>
                <a:pPr marL="0" indent="0">
                  <a:buNone/>
                </a:pPr>
                <a:r>
                  <a:rPr lang="en-US" altLang="zh-CN" sz="2400" dirty="0">
                    <a:latin typeface="Cambria Math" panose="02040503050406030204" pitchFamily="18" charset="0"/>
                  </a:rPr>
                  <a:t>which is the basis for determining the direction of a reaction and phase equilibrium.</a:t>
                </a:r>
                <a:endParaRPr lang="zh-CN" altLang="en-US" sz="2400" dirty="0">
                  <a:latin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E93176D9-5883-8EC0-6382-74174E988665}"/>
                  </a:ext>
                </a:extLst>
              </p:cNvPr>
              <p:cNvSpPr>
                <a:spLocks noGrp="1" noRot="1" noChangeAspect="1" noMove="1" noResize="1" noEditPoints="1" noAdjustHandles="1" noChangeArrowheads="1" noChangeShapeType="1" noTextEdit="1"/>
              </p:cNvSpPr>
              <p:nvPr>
                <p:ph idx="1"/>
              </p:nvPr>
            </p:nvSpPr>
            <p:spPr>
              <a:xfrm>
                <a:off x="838200" y="1825625"/>
                <a:ext cx="9876692" cy="4351338"/>
              </a:xfrm>
              <a:blipFill>
                <a:blip r:embed="rId3"/>
                <a:stretch>
                  <a:fillRect l="-988"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2827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825199C-301B-D83F-09FC-13E373B03685}"/>
                  </a:ext>
                </a:extLst>
              </p:cNvPr>
              <p:cNvSpPr>
                <a:spLocks noGrp="1"/>
              </p:cNvSpPr>
              <p:nvPr>
                <p:ph idx="1"/>
              </p:nvPr>
            </p:nvSpPr>
            <p:spPr>
              <a:xfrm>
                <a:off x="838200" y="1825624"/>
                <a:ext cx="10433538" cy="4756883"/>
              </a:xfrm>
            </p:spPr>
            <p:txBody>
              <a:bodyPr>
                <a:normAutofit/>
              </a:bodyPr>
              <a:lstStyle/>
              <a:p>
                <a:r>
                  <a:rPr lang="en-US" altLang="zh-CN" sz="2400" dirty="0">
                    <a:latin typeface="Cambria Math" panose="02040503050406030204" pitchFamily="18" charset="0"/>
                  </a:rPr>
                  <a:t>Open System——Grand Potential </a:t>
                </a:r>
                <a14:m>
                  <m:oMath xmlns:m="http://schemas.openxmlformats.org/officeDocument/2006/math">
                    <m:r>
                      <a:rPr lang="en-US" altLang="zh-CN" sz="2400" smtClean="0">
                        <a:solidFill>
                          <a:srgbClr val="3C51B4"/>
                        </a:solidFill>
                        <a:latin typeface="Cambria Math" panose="02040503050406030204" pitchFamily="18" charset="0"/>
                      </a:rPr>
                      <m:t>𝐽</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𝑉</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a:rPr lang="en-US" altLang="zh-CN" sz="2400" smtClean="0">
                        <a:solidFill>
                          <a:srgbClr val="3C51B4"/>
                        </a:solidFill>
                        <a:latin typeface="Cambria Math" panose="02040503050406030204" pitchFamily="18" charset="0"/>
                      </a:rPr>
                      <m:t>)</m:t>
                    </m:r>
                  </m:oMath>
                </a14:m>
                <a:endParaRPr lang="en-US" altLang="zh-CN" sz="2400"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Taking the last Intensity variable into account---potential </a:t>
                </a:r>
                <a14:m>
                  <m:oMath xmlns:m="http://schemas.openxmlformats.org/officeDocument/2006/math">
                    <m:r>
                      <a:rPr lang="en-US" altLang="zh-CN" sz="2400" smtClean="0">
                        <a:solidFill>
                          <a:srgbClr val="3C51B4"/>
                        </a:solidFill>
                        <a:latin typeface="Cambria Math" panose="02040503050406030204" pitchFamily="18" charset="0"/>
                      </a:rPr>
                      <m:t>𝜇</m:t>
                    </m:r>
                  </m:oMath>
                </a14:m>
                <a:r>
                  <a:rPr lang="zh-CN" altLang="en-US" sz="2400" dirty="0">
                    <a:latin typeface="Cambria Math" panose="02040503050406030204" pitchFamily="18" charset="0"/>
                  </a:rPr>
                  <a:t>：</a:t>
                </a: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The system, in contact with a large particle reservoir of constant chemical potential </a:t>
                </a:r>
                <a14:m>
                  <m:oMath xmlns:m="http://schemas.openxmlformats.org/officeDocument/2006/math">
                    <m:r>
                      <a:rPr lang="en-US" altLang="zh-CN" sz="2400" smtClean="0">
                        <a:solidFill>
                          <a:srgbClr val="3C51B4"/>
                        </a:solidFill>
                        <a:latin typeface="Cambria Math" panose="02040503050406030204" pitchFamily="18" charset="0"/>
                      </a:rPr>
                      <m:t>𝜇</m:t>
                    </m:r>
                  </m:oMath>
                </a14:m>
                <a:r>
                  <a:rPr lang="en-US" altLang="zh-CN" sz="2400" dirty="0">
                    <a:latin typeface="Cambria Math" panose="02040503050406030204" pitchFamily="18" charset="0"/>
                  </a:rPr>
                  <a:t>. The Legendre transform gives:</a:t>
                </a:r>
              </a:p>
              <a:p>
                <a:pPr marL="0" indent="0">
                  <a:buNone/>
                </a:pPr>
                <a14:m>
                  <m:oMathPara xmlns:m="http://schemas.openxmlformats.org/officeDocument/2006/math">
                    <m:oMathParaPr>
                      <m:jc m:val="centerGroup"/>
                    </m:oMathParaPr>
                    <m:oMath xmlns:m="http://schemas.openxmlformats.org/officeDocument/2006/math">
                      <m:r>
                        <a:rPr lang="en-US" altLang="zh-CN" sz="2400" smtClean="0">
                          <a:solidFill>
                            <a:srgbClr val="3C51B4"/>
                          </a:solidFill>
                          <a:latin typeface="Cambria Math" panose="02040503050406030204" pitchFamily="18" charset="0"/>
                        </a:rPr>
                        <m:t>𝐽</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a:rPr lang="en-US" altLang="zh-CN" sz="2400" smtClean="0">
                          <a:solidFill>
                            <a:srgbClr val="3C51B4"/>
                          </a:solidFill>
                          <a:latin typeface="Cambria Math" panose="02040503050406030204" pitchFamily="18" charset="0"/>
                        </a:rPr>
                        <m:t>𝑁</m:t>
                      </m:r>
                      <m:r>
                        <a:rPr lang="en-US" altLang="zh-CN" sz="2400" b="0" i="0" smtClean="0">
                          <a:solidFill>
                            <a:srgbClr val="3C51B4"/>
                          </a:solidFill>
                          <a:latin typeface="Cambria Math" panose="02040503050406030204" pitchFamily="18" charset="0"/>
                        </a:rPr>
                        <m:t>,</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𝐽</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𝑆</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𝑇</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𝑃</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𝑉</m:t>
                      </m:r>
                      <m:r>
                        <a:rPr lang="en-US" altLang="zh-CN" sz="2400" b="0" i="1" smtClean="0">
                          <a:solidFill>
                            <a:srgbClr val="3C51B4"/>
                          </a:solidFill>
                          <a:latin typeface="Cambria Math" panose="02040503050406030204" pitchFamily="18" charset="0"/>
                        </a:rPr>
                        <m:t>−</m:t>
                      </m:r>
                      <m:r>
                        <a:rPr lang="en-US" altLang="zh-CN" sz="2400" b="0" i="1" smtClean="0">
                          <a:solidFill>
                            <a:srgbClr val="3C51B4"/>
                          </a:solidFill>
                          <a:latin typeface="Cambria Math" panose="02040503050406030204" pitchFamily="18" charset="0"/>
                        </a:rPr>
                        <m:t>𝑁</m:t>
                      </m:r>
                      <m:r>
                        <m:rPr>
                          <m:sty m:val="p"/>
                        </m:rPr>
                        <a:rPr lang="en-US" altLang="zh-CN" sz="2400" b="0" i="0" smtClean="0">
                          <a:solidFill>
                            <a:srgbClr val="3C51B4"/>
                          </a:solidFill>
                          <a:latin typeface="Cambria Math" panose="02040503050406030204" pitchFamily="18" charset="0"/>
                        </a:rPr>
                        <m:t>d</m:t>
                      </m:r>
                      <m:r>
                        <a:rPr lang="en-US" altLang="zh-CN" sz="2400" b="0" i="1" smtClean="0">
                          <a:solidFill>
                            <a:srgbClr val="3C51B4"/>
                          </a:solidFill>
                          <a:latin typeface="Cambria Math" panose="02040503050406030204" pitchFamily="18" charset="0"/>
                        </a:rPr>
                        <m:t>𝜇</m:t>
                      </m:r>
                    </m:oMath>
                  </m:oMathPara>
                </a14:m>
                <a:endParaRPr lang="en-US" altLang="zh-CN" sz="2400" i="1"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For a homogeneous system, Euler's homogeneous function theorem gives</a:t>
                </a:r>
              </a:p>
              <a:p>
                <a:pPr marL="0" indent="0" algn="ctr">
                  <a:buNone/>
                </a:pPr>
                <a14:m>
                  <m:oMathPara xmlns:m="http://schemas.openxmlformats.org/officeDocument/2006/math">
                    <m:oMathParaPr>
                      <m:jc m:val="centerGroup"/>
                    </m:oMathParaPr>
                    <m:oMath xmlns:m="http://schemas.openxmlformats.org/officeDocument/2006/math">
                      <m:r>
                        <a:rPr lang="en-US" altLang="zh-CN" sz="2400" smtClean="0">
                          <a:solidFill>
                            <a:srgbClr val="3C51B4"/>
                          </a:solidFill>
                          <a:latin typeface="Cambria Math" panose="02040503050406030204" pitchFamily="18" charset="0"/>
                        </a:rPr>
                        <m:t>𝑈</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𝑇𝑆</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𝑃𝑉</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𝜇</m:t>
                      </m:r>
                      <m:r>
                        <a:rPr lang="en-US" altLang="zh-CN" sz="2400" smtClean="0">
                          <a:solidFill>
                            <a:srgbClr val="3C51B4"/>
                          </a:solidFill>
                          <a:latin typeface="Cambria Math" panose="02040503050406030204" pitchFamily="18" charset="0"/>
                        </a:rPr>
                        <m:t>𝑁</m:t>
                      </m:r>
                    </m:oMath>
                  </m:oMathPara>
                </a14:m>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Therefore, the Grand Potential can also be expressed as </a:t>
                </a:r>
                <a14:m>
                  <m:oMath xmlns:m="http://schemas.openxmlformats.org/officeDocument/2006/math">
                    <m:r>
                      <a:rPr lang="en-US" altLang="zh-CN" sz="2400" smtClean="0">
                        <a:solidFill>
                          <a:srgbClr val="3C51B4"/>
                        </a:solidFill>
                        <a:latin typeface="Cambria Math" panose="02040503050406030204" pitchFamily="18" charset="0"/>
                      </a:rPr>
                      <m:t>𝐽</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𝑃𝑉</m:t>
                    </m:r>
                  </m:oMath>
                </a14:m>
                <a:endParaRPr lang="en-US" altLang="zh-CN" sz="2400" dirty="0">
                  <a:latin typeface="Cambria Math" panose="02040503050406030204" pitchFamily="18" charset="0"/>
                </a:endParaRPr>
              </a:p>
              <a:p>
                <a:pPr marL="0" indent="0">
                  <a:buNone/>
                </a:pPr>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In statistical mechanics, </a:t>
                </a:r>
                <a:r>
                  <a:rPr lang="zh-CN" altLang="en-US" sz="2400" dirty="0">
                    <a:solidFill>
                      <a:srgbClr val="3C51B4"/>
                    </a:solidFill>
                    <a:latin typeface="Cambria Math" panose="02040503050406030204" pitchFamily="18" charset="0"/>
                  </a:rPr>
                  <a:t>𝐽</a:t>
                </a:r>
                <a:r>
                  <a:rPr lang="zh-CN" altLang="en-US" sz="2400" dirty="0">
                    <a:latin typeface="Cambria Math" panose="02040503050406030204" pitchFamily="18" charset="0"/>
                  </a:rPr>
                  <a:t> </a:t>
                </a:r>
                <a:r>
                  <a:rPr lang="en-US" altLang="zh-CN" sz="2400" dirty="0">
                    <a:latin typeface="Cambria Math" panose="02040503050406030204" pitchFamily="18" charset="0"/>
                  </a:rPr>
                  <a:t>is related to the grand canonical partition function </a:t>
                </a:r>
                <a:r>
                  <a:rPr lang="zh-CN" altLang="en-US" sz="2400" dirty="0">
                    <a:solidFill>
                      <a:srgbClr val="3C51B4"/>
                    </a:solidFill>
                    <a:latin typeface="Cambria Math" panose="02040503050406030204" pitchFamily="18" charset="0"/>
                  </a:rPr>
                  <a:t>𝛯</a:t>
                </a:r>
                <a:r>
                  <a:rPr lang="en-US" altLang="zh-CN" sz="2400" dirty="0">
                    <a:latin typeface="Cambria Math" panose="02040503050406030204" pitchFamily="18" charset="0"/>
                  </a:rPr>
                  <a:t>,</a:t>
                </a:r>
                <a:r>
                  <a:rPr lang="zh-CN" altLang="en-US" sz="2400" dirty="0">
                    <a:latin typeface="Cambria Math" panose="02040503050406030204" pitchFamily="18" charset="0"/>
                  </a:rPr>
                  <a:t> </a:t>
                </a:r>
                <a:r>
                  <a:rPr lang="en-US" altLang="zh-CN" sz="2400" dirty="0">
                    <a:latin typeface="Cambria Math" panose="02040503050406030204" pitchFamily="18" charset="0"/>
                  </a:rPr>
                  <a:t>a powerful tool for studying the grand canonical ensemble: </a:t>
                </a:r>
                <a14:m>
                  <m:oMath xmlns:m="http://schemas.openxmlformats.org/officeDocument/2006/math">
                    <m:r>
                      <a:rPr lang="en-US" altLang="zh-CN" sz="2400" smtClean="0">
                        <a:solidFill>
                          <a:srgbClr val="3C51B4"/>
                        </a:solidFill>
                        <a:latin typeface="Cambria Math" panose="02040503050406030204" pitchFamily="18" charset="0"/>
                      </a:rPr>
                      <m:t>𝐽</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𝑘𝑇</m:t>
                    </m:r>
                    <m:func>
                      <m:funcPr>
                        <m:ctrlPr>
                          <a:rPr lang="en-US" altLang="zh-CN" sz="2400" i="1">
                            <a:solidFill>
                              <a:srgbClr val="3C51B4"/>
                            </a:solidFill>
                            <a:latin typeface="Cambria Math" panose="02040503050406030204" pitchFamily="18" charset="0"/>
                          </a:rPr>
                        </m:ctrlPr>
                      </m:funcPr>
                      <m:fName>
                        <m:r>
                          <m:rPr>
                            <m:sty m:val="p"/>
                          </m:rPr>
                          <a:rPr lang="en-US" altLang="zh-CN" sz="2400">
                            <a:solidFill>
                              <a:srgbClr val="3C51B4"/>
                            </a:solidFill>
                            <a:latin typeface="Cambria Math" panose="02040503050406030204" pitchFamily="18" charset="0"/>
                          </a:rPr>
                          <m:t>ln</m:t>
                        </m:r>
                      </m:fName>
                      <m:e>
                        <m:r>
                          <a:rPr lang="el-GR" altLang="zh-CN" sz="2400" dirty="0">
                            <a:solidFill>
                              <a:srgbClr val="3C51B4"/>
                            </a:solidFill>
                            <a:latin typeface="Cambria Math" panose="02040503050406030204" pitchFamily="18" charset="0"/>
                          </a:rPr>
                          <m:t>𝛯</m:t>
                        </m:r>
                      </m:e>
                    </m:func>
                  </m:oMath>
                </a14:m>
                <a:endParaRPr lang="zh-CN" altLang="en-US" sz="2400" dirty="0">
                  <a:latin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C825199C-301B-D83F-09FC-13E373B03685}"/>
                  </a:ext>
                </a:extLst>
              </p:cNvPr>
              <p:cNvSpPr>
                <a:spLocks noGrp="1" noRot="1" noChangeAspect="1" noMove="1" noResize="1" noEditPoints="1" noAdjustHandles="1" noChangeArrowheads="1" noChangeShapeType="1" noTextEdit="1"/>
              </p:cNvSpPr>
              <p:nvPr>
                <p:ph idx="1"/>
              </p:nvPr>
            </p:nvSpPr>
            <p:spPr>
              <a:xfrm>
                <a:off x="838200" y="1825624"/>
                <a:ext cx="10433538" cy="4756883"/>
              </a:xfrm>
              <a:blipFill>
                <a:blip r:embed="rId3"/>
                <a:stretch>
                  <a:fillRect l="-935" t="-1793" r="-175"/>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14B441E0-9673-63B8-E734-D2CB0CD71109}"/>
              </a:ext>
            </a:extLst>
          </p:cNvPr>
          <p:cNvSpPr>
            <a:spLocks noGrp="1"/>
          </p:cNvSpPr>
          <p:nvPr>
            <p:ph type="title"/>
          </p:nvPr>
        </p:nvSpPr>
        <p:spPr>
          <a:xfrm>
            <a:off x="838200" y="365125"/>
            <a:ext cx="10515600" cy="1325563"/>
          </a:xfrm>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p:spTree>
    <p:extLst>
      <p:ext uri="{BB962C8B-B14F-4D97-AF65-F5344CB8AC3E}">
        <p14:creationId xmlns:p14="http://schemas.microsoft.com/office/powerpoint/2010/main" val="2832167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19B978A-DFAE-1B04-8757-0F8FFF655265}"/>
                  </a:ext>
                </a:extLst>
              </p:cNvPr>
              <p:cNvSpPr>
                <a:spLocks noGrp="1"/>
              </p:cNvSpPr>
              <p:nvPr>
                <p:ph idx="1"/>
              </p:nvPr>
            </p:nvSpPr>
            <p:spPr>
              <a:xfrm>
                <a:off x="838200" y="1825624"/>
                <a:ext cx="10849708" cy="5032375"/>
              </a:xfrm>
            </p:spPr>
            <p:txBody>
              <a:bodyPr>
                <a:normAutofit/>
              </a:bodyPr>
              <a:lstStyle/>
              <a:p>
                <a:r>
                  <a:rPr lang="en-US" altLang="zh-CN" sz="2400" dirty="0">
                    <a:latin typeface="Cambria Math" panose="02040503050406030204" pitchFamily="18" charset="0"/>
                  </a:rPr>
                  <a:t>Generalized Legendre Transform</a:t>
                </a:r>
              </a:p>
              <a:p>
                <a:pPr marL="0" indent="0">
                  <a:buNone/>
                </a:pPr>
                <a:r>
                  <a:rPr lang="en-US" altLang="zh-CN" sz="2400" dirty="0">
                    <a:latin typeface="Cambria Math" panose="02040503050406030204" pitchFamily="18" charset="0"/>
                  </a:rPr>
                  <a:t>a system whose mechanical extensive quantity </a:t>
                </a:r>
                <a:r>
                  <a:rPr lang="zh-CN" altLang="en-US" sz="2400" dirty="0">
                    <a:solidFill>
                      <a:srgbClr val="3C51B4"/>
                    </a:solidFill>
                    <a:latin typeface="Cambria Math" panose="02040503050406030204" pitchFamily="18" charset="0"/>
                  </a:rPr>
                  <a:t>𝑿</a:t>
                </a:r>
                <a:r>
                  <a:rPr lang="zh-CN" altLang="en-US" sz="2400" dirty="0">
                    <a:latin typeface="Cambria Math" panose="02040503050406030204" pitchFamily="18" charset="0"/>
                  </a:rPr>
                  <a:t> </a:t>
                </a:r>
                <a:r>
                  <a:rPr lang="en-US" altLang="zh-CN" sz="2400" dirty="0">
                    <a:latin typeface="Cambria Math" panose="02040503050406030204" pitchFamily="18" charset="0"/>
                  </a:rPr>
                  <a:t>satisfies</a:t>
                </a:r>
                <a:r>
                  <a:rPr lang="zh-CN" altLang="en-US" sz="2400" dirty="0">
                    <a:latin typeface="Cambria Math" panose="02040503050406030204" pitchFamily="18" charset="0"/>
                  </a:rPr>
                  <a:t>：</a:t>
                </a:r>
                <a:endParaRPr lang="en-US" altLang="zh-CN"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sz="2400" i="1" smtClean="0">
                              <a:solidFill>
                                <a:srgbClr val="3C51B4"/>
                              </a:solidFill>
                              <a:latin typeface="Cambria Math" panose="02040503050406030204" pitchFamily="18" charset="0"/>
                            </a:rPr>
                          </m:ctrlPr>
                        </m:sSupPr>
                        <m:e>
                          <m:r>
                            <a:rPr lang="en-US" altLang="zh-CN" sz="2400">
                              <a:solidFill>
                                <a:srgbClr val="3C51B4"/>
                              </a:solidFill>
                              <a:latin typeface="Cambria Math" panose="02040503050406030204" pitchFamily="18" charset="0"/>
                            </a:rPr>
                            <m:t>𝑘</m:t>
                          </m:r>
                        </m:e>
                        <m:sup>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1</m:t>
                          </m:r>
                        </m:sup>
                      </m:sSup>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𝑆</m:t>
                      </m:r>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𝛽</m:t>
                      </m:r>
                      <m:r>
                        <m:rPr>
                          <m:sty m:val="p"/>
                        </m:rPr>
                        <a:rPr lang="en-US" altLang="zh-CN" sz="2400">
                          <a:solidFill>
                            <a:srgbClr val="3C51B4"/>
                          </a:solidFill>
                          <a:latin typeface="Cambria Math" panose="02040503050406030204" pitchFamily="18" charset="0"/>
                        </a:rPr>
                        <m:t>d</m:t>
                      </m:r>
                      <m:r>
                        <a:rPr lang="en-US" altLang="zh-CN" sz="2400">
                          <a:solidFill>
                            <a:srgbClr val="3C51B4"/>
                          </a:solidFill>
                          <a:latin typeface="Cambria Math" panose="02040503050406030204" pitchFamily="18" charset="0"/>
                        </a:rPr>
                        <m:t>𝐸</m:t>
                      </m:r>
                      <m:r>
                        <a:rPr lang="en-US" altLang="zh-CN" sz="2400">
                          <a:solidFill>
                            <a:srgbClr val="3C51B4"/>
                          </a:solidFill>
                          <a:latin typeface="Cambria Math" panose="02040503050406030204" pitchFamily="18" charset="0"/>
                        </a:rPr>
                        <m:t>+</m:t>
                      </m:r>
                      <m:r>
                        <a:rPr lang="el-GR" altLang="zh-CN" sz="2400" dirty="0">
                          <a:solidFill>
                            <a:srgbClr val="3C51B4"/>
                          </a:solidFill>
                          <a:latin typeface="Cambria Math" panose="02040503050406030204" pitchFamily="18" charset="0"/>
                        </a:rPr>
                        <m:t>𝝃</m:t>
                      </m:r>
                      <m:r>
                        <a:rPr lang="en-US" altLang="zh-CN" sz="2400" dirty="0">
                          <a:solidFill>
                            <a:srgbClr val="3C51B4"/>
                          </a:solidFill>
                          <a:latin typeface="Cambria Math" panose="02040503050406030204" pitchFamily="18" charset="0"/>
                        </a:rPr>
                        <m:t>∙</m:t>
                      </m:r>
                      <m:r>
                        <m:rPr>
                          <m:sty m:val="p"/>
                        </m:rPr>
                        <a:rPr lang="en-US" altLang="zh-CN" sz="2400" dirty="0">
                          <a:solidFill>
                            <a:srgbClr val="3C51B4"/>
                          </a:solidFill>
                          <a:latin typeface="Cambria Math" panose="02040503050406030204" pitchFamily="18" charset="0"/>
                        </a:rPr>
                        <m:t>d</m:t>
                      </m:r>
                      <m:r>
                        <a:rPr lang="en-US" altLang="zh-CN" sz="2400" dirty="0">
                          <a:solidFill>
                            <a:srgbClr val="3C51B4"/>
                          </a:solidFill>
                          <a:latin typeface="Cambria Math" panose="02040503050406030204" pitchFamily="18" charset="0"/>
                        </a:rPr>
                        <m:t>𝑿</m:t>
                      </m:r>
                    </m:oMath>
                  </m:oMathPara>
                </a14:m>
                <a:endParaRPr lang="en-US" altLang="zh-CN" sz="2400" dirty="0">
                  <a:solidFill>
                    <a:srgbClr val="3C51B4"/>
                  </a:solidFill>
                  <a:latin typeface="Cambria Math" panose="02040503050406030204" pitchFamily="18" charset="0"/>
                </a:endParaRPr>
              </a:p>
              <a:p>
                <a:pPr marL="0" indent="0">
                  <a:buNone/>
                </a:pPr>
                <a:r>
                  <a:rPr lang="en-US" altLang="zh-CN" sz="2400" dirty="0">
                    <a:latin typeface="Cambria Math" panose="02040503050406030204" pitchFamily="18" charset="0"/>
                  </a:rPr>
                  <a:t>E.g.</a:t>
                </a:r>
                <a:r>
                  <a:rPr lang="zh-CN" altLang="en-US" sz="2400" dirty="0">
                    <a:latin typeface="Cambria Math" panose="02040503050406030204" pitchFamily="18" charset="0"/>
                  </a:rPr>
                  <a:t> </a:t>
                </a:r>
                <a14:m>
                  <m:oMath xmlns:m="http://schemas.openxmlformats.org/officeDocument/2006/math">
                    <m:r>
                      <a:rPr lang="en-US" altLang="zh-CN" sz="2400" smtClean="0">
                        <a:solidFill>
                          <a:srgbClr val="3C51B4"/>
                        </a:solidFill>
                        <a:latin typeface="Cambria Math" panose="02040503050406030204" pitchFamily="18" charset="0"/>
                      </a:rPr>
                      <m:t>𝑿</m:t>
                    </m:r>
                    <m:r>
                      <a:rPr lang="en-US" altLang="zh-CN" sz="2400" smtClean="0">
                        <a:solidFill>
                          <a:srgbClr val="3C51B4"/>
                        </a:solidFill>
                        <a:latin typeface="Cambria Math" panose="02040503050406030204" pitchFamily="18" charset="0"/>
                      </a:rPr>
                      <m:t>=</m:t>
                    </m:r>
                    <m:d>
                      <m:dPr>
                        <m:ctrlPr>
                          <a:rPr lang="en-US" altLang="zh-CN" sz="2400" i="1">
                            <a:solidFill>
                              <a:srgbClr val="3C51B4"/>
                            </a:solidFill>
                            <a:latin typeface="Cambria Math" panose="02040503050406030204" pitchFamily="18" charset="0"/>
                          </a:rPr>
                        </m:ctrlPr>
                      </m:dPr>
                      <m:e>
                        <m:r>
                          <a:rPr lang="en-US" altLang="zh-CN" sz="2400">
                            <a:solidFill>
                              <a:srgbClr val="3C51B4"/>
                            </a:solidFill>
                            <a:latin typeface="Cambria Math" panose="02040503050406030204" pitchFamily="18" charset="0"/>
                          </a:rPr>
                          <m:t>𝑉</m:t>
                        </m:r>
                        <m:r>
                          <a:rPr lang="en-US" altLang="zh-CN" sz="2400">
                            <a:solidFill>
                              <a:srgbClr val="3C51B4"/>
                            </a:solidFill>
                            <a:latin typeface="Cambria Math" panose="02040503050406030204" pitchFamily="18" charset="0"/>
                          </a:rPr>
                          <m:t>,</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𝑁</m:t>
                            </m:r>
                          </m:e>
                          <m:sub>
                            <m:r>
                              <a:rPr lang="en-US" altLang="zh-CN" sz="2400">
                                <a:solidFill>
                                  <a:srgbClr val="3C51B4"/>
                                </a:solidFill>
                                <a:latin typeface="Cambria Math" panose="02040503050406030204" pitchFamily="18" charset="0"/>
                              </a:rPr>
                              <m:t>1</m:t>
                            </m:r>
                          </m:sub>
                        </m:sSub>
                        <m:r>
                          <a:rPr lang="en-US" altLang="zh-CN" sz="2400">
                            <a:solidFill>
                              <a:srgbClr val="3C51B4"/>
                            </a:solidFill>
                            <a:latin typeface="Cambria Math" panose="02040503050406030204" pitchFamily="18" charset="0"/>
                          </a:rPr>
                          <m:t>,</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𝑁</m:t>
                            </m:r>
                          </m:e>
                          <m:sub>
                            <m:r>
                              <a:rPr lang="en-US" altLang="zh-CN" sz="2400">
                                <a:solidFill>
                                  <a:srgbClr val="3C51B4"/>
                                </a:solidFill>
                                <a:latin typeface="Cambria Math" panose="02040503050406030204" pitchFamily="18" charset="0"/>
                              </a:rPr>
                              <m:t>2</m:t>
                            </m:r>
                          </m:sub>
                        </m:sSub>
                        <m:r>
                          <a:rPr lang="en-US" altLang="zh-CN" sz="2400">
                            <a:solidFill>
                              <a:srgbClr val="3C51B4"/>
                            </a:solidFill>
                            <a:latin typeface="Cambria Math" panose="02040503050406030204" pitchFamily="18" charset="0"/>
                          </a:rPr>
                          <m:t>,…</m:t>
                        </m:r>
                      </m:e>
                    </m:d>
                  </m:oMath>
                </a14:m>
                <a:r>
                  <a:rPr lang="en-US" altLang="zh-CN" sz="2400" dirty="0">
                    <a:latin typeface="Cambria Math" panose="02040503050406030204" pitchFamily="18" charset="0"/>
                  </a:rPr>
                  <a:t>, </a:t>
                </a:r>
                <a14:m>
                  <m:oMath xmlns:m="http://schemas.openxmlformats.org/officeDocument/2006/math">
                    <m:r>
                      <a:rPr lang="el-GR" altLang="zh-CN" sz="2400" dirty="0" smtClean="0">
                        <a:solidFill>
                          <a:srgbClr val="3C51B4"/>
                        </a:solidFill>
                        <a:latin typeface="Cambria Math" panose="02040503050406030204" pitchFamily="18" charset="0"/>
                      </a:rPr>
                      <m:t>𝝃</m:t>
                    </m:r>
                  </m:oMath>
                </a14:m>
                <a:r>
                  <a:rPr lang="en-US" altLang="zh-CN" sz="2400" dirty="0">
                    <a:latin typeface="Cambria Math" panose="02040503050406030204" pitchFamily="18" charset="0"/>
                  </a:rPr>
                  <a:t> the set of its conjugate variables  </a:t>
                </a:r>
                <a14:m>
                  <m:oMath xmlns:m="http://schemas.openxmlformats.org/officeDocument/2006/math">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𝛽</m:t>
                    </m:r>
                    <m:r>
                      <a:rPr lang="en-US" altLang="zh-CN" sz="2400" smtClean="0">
                        <a:solidFill>
                          <a:srgbClr val="3C51B4"/>
                        </a:solidFill>
                        <a:latin typeface="Cambria Math" panose="02040503050406030204" pitchFamily="18" charset="0"/>
                      </a:rPr>
                      <m:t>𝑝</m:t>
                    </m:r>
                    <m:r>
                      <a:rPr lang="en-US" altLang="zh-CN" sz="2400" smtClean="0">
                        <a:solidFill>
                          <a:srgbClr val="3C51B4"/>
                        </a:solidFill>
                        <a:latin typeface="Cambria Math" panose="02040503050406030204" pitchFamily="18" charset="0"/>
                      </a:rPr>
                      <m:t>,−</m:t>
                    </m:r>
                    <m:r>
                      <a:rPr lang="en-US" altLang="zh-CN" sz="2400" smtClean="0">
                        <a:solidFill>
                          <a:srgbClr val="3C51B4"/>
                        </a:solidFill>
                        <a:latin typeface="Cambria Math" panose="02040503050406030204" pitchFamily="18" charset="0"/>
                      </a:rPr>
                      <m:t>𝛽</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𝜇</m:t>
                        </m:r>
                      </m:e>
                      <m:sub>
                        <m:r>
                          <a:rPr lang="en-US" altLang="zh-CN" sz="2400">
                            <a:solidFill>
                              <a:srgbClr val="3C51B4"/>
                            </a:solidFill>
                            <a:latin typeface="Cambria Math" panose="02040503050406030204" pitchFamily="18" charset="0"/>
                          </a:rPr>
                          <m:t>1</m:t>
                        </m:r>
                      </m:sub>
                    </m:sSub>
                    <m:r>
                      <a:rPr lang="en-US" altLang="zh-CN" sz="2400">
                        <a:solidFill>
                          <a:srgbClr val="3C51B4"/>
                        </a:solidFill>
                        <a:latin typeface="Cambria Math" panose="02040503050406030204" pitchFamily="18" charset="0"/>
                      </a:rPr>
                      <m:t>,−</m:t>
                    </m:r>
                    <m:r>
                      <a:rPr lang="en-US" altLang="zh-CN" sz="2400">
                        <a:solidFill>
                          <a:srgbClr val="3C51B4"/>
                        </a:solidFill>
                        <a:latin typeface="Cambria Math" panose="02040503050406030204" pitchFamily="18" charset="0"/>
                      </a:rPr>
                      <m:t>𝛽</m:t>
                    </m:r>
                    <m:sSub>
                      <m:sSubPr>
                        <m:ctrlPr>
                          <a:rPr lang="en-US" altLang="zh-CN" sz="2400" i="1">
                            <a:solidFill>
                              <a:srgbClr val="3C51B4"/>
                            </a:solidFill>
                            <a:latin typeface="Cambria Math" panose="02040503050406030204" pitchFamily="18" charset="0"/>
                          </a:rPr>
                        </m:ctrlPr>
                      </m:sSubPr>
                      <m:e>
                        <m:r>
                          <a:rPr lang="en-US" altLang="zh-CN" sz="2400">
                            <a:solidFill>
                              <a:srgbClr val="3C51B4"/>
                            </a:solidFill>
                            <a:latin typeface="Cambria Math" panose="02040503050406030204" pitchFamily="18" charset="0"/>
                          </a:rPr>
                          <m:t>𝜇</m:t>
                        </m:r>
                      </m:e>
                      <m:sub>
                        <m:r>
                          <a:rPr lang="en-US" altLang="zh-CN" sz="2400">
                            <a:solidFill>
                              <a:srgbClr val="3C51B4"/>
                            </a:solidFill>
                            <a:latin typeface="Cambria Math" panose="02040503050406030204" pitchFamily="18" charset="0"/>
                          </a:rPr>
                          <m:t>2</m:t>
                        </m:r>
                      </m:sub>
                    </m:sSub>
                    <m:r>
                      <a:rPr lang="en-US" altLang="zh-CN" sz="2400">
                        <a:solidFill>
                          <a:srgbClr val="3C51B4"/>
                        </a:solidFill>
                        <a:latin typeface="Cambria Math" panose="02040503050406030204" pitchFamily="18" charset="0"/>
                      </a:rPr>
                      <m:t>,…)</m:t>
                    </m:r>
                  </m:oMath>
                </a14:m>
                <a:endParaRPr lang="en-US" altLang="zh-CN" sz="2400" dirty="0">
                  <a:latin typeface="Cambria Math" panose="02040503050406030204" pitchFamily="18" charset="0"/>
                </a:endParaRPr>
              </a:p>
              <a:p>
                <a:pPr marL="0" indent="0">
                  <a:buNone/>
                </a:pPr>
                <a:r>
                  <a:rPr lang="en-US" altLang="zh-CN" sz="2400" dirty="0">
                    <a:latin typeface="Cambria Math" panose="02040503050406030204" pitchFamily="18" charset="0"/>
                  </a:rPr>
                  <a:t>Also the electric dipole moment </a:t>
                </a:r>
                <a:r>
                  <a:rPr lang="zh-CN" altLang="en-US" sz="2400" dirty="0">
                    <a:solidFill>
                      <a:srgbClr val="3C51B4"/>
                    </a:solidFill>
                    <a:latin typeface="Cambria Math" panose="02040503050406030204" pitchFamily="18" charset="0"/>
                  </a:rPr>
                  <a:t>𝒑</a:t>
                </a:r>
                <a:r>
                  <a:rPr lang="zh-CN" altLang="en-US" sz="2400" dirty="0">
                    <a:latin typeface="Cambria Math" panose="02040503050406030204" pitchFamily="18" charset="0"/>
                  </a:rPr>
                  <a:t> </a:t>
                </a:r>
                <a:r>
                  <a:rPr lang="en-US" altLang="zh-CN" sz="2400" dirty="0">
                    <a:latin typeface="Cambria Math" panose="02040503050406030204" pitchFamily="18" charset="0"/>
                  </a:rPr>
                  <a:t>with the electric field </a:t>
                </a:r>
                <a:r>
                  <a:rPr lang="zh-CN" altLang="en-US" sz="2400" dirty="0">
                    <a:solidFill>
                      <a:srgbClr val="3C51B4"/>
                    </a:solidFill>
                    <a:latin typeface="Cambria Math" panose="02040503050406030204" pitchFamily="18" charset="0"/>
                  </a:rPr>
                  <a:t>𝛽𝑬</a:t>
                </a:r>
                <a:r>
                  <a:rPr lang="en-US" altLang="zh-CN" sz="2400" dirty="0">
                    <a:latin typeface="Cambria Math" panose="02040503050406030204" pitchFamily="18" charset="0"/>
                  </a:rPr>
                  <a:t>,</a:t>
                </a:r>
              </a:p>
              <a:p>
                <a:pPr marL="0" indent="0">
                  <a:buNone/>
                </a:pPr>
                <a:r>
                  <a:rPr lang="en-US" altLang="zh-CN" sz="2400" dirty="0">
                    <a:latin typeface="Cambria Math" panose="02040503050406030204" pitchFamily="18" charset="0"/>
                  </a:rPr>
                  <a:t>the magnetic moment </a:t>
                </a:r>
                <a:r>
                  <a:rPr lang="zh-CN" altLang="en-US" sz="2400" dirty="0">
                    <a:solidFill>
                      <a:srgbClr val="3C51B4"/>
                    </a:solidFill>
                    <a:latin typeface="Cambria Math" panose="02040503050406030204" pitchFamily="18" charset="0"/>
                  </a:rPr>
                  <a:t>𝝁</a:t>
                </a:r>
                <a:r>
                  <a:rPr lang="zh-CN" altLang="en-US" sz="2400" dirty="0">
                    <a:latin typeface="Cambria Math" panose="02040503050406030204" pitchFamily="18" charset="0"/>
                  </a:rPr>
                  <a:t> </a:t>
                </a:r>
                <a:r>
                  <a:rPr lang="en-US" altLang="zh-CN" sz="2400" dirty="0">
                    <a:latin typeface="Cambria Math" panose="02040503050406030204" pitchFamily="18" charset="0"/>
                  </a:rPr>
                  <a:t>with the magnetic field </a:t>
                </a:r>
                <a:r>
                  <a:rPr lang="zh-CN" altLang="en-US" sz="2400" dirty="0">
                    <a:solidFill>
                      <a:srgbClr val="3C51B4"/>
                    </a:solidFill>
                    <a:latin typeface="Cambria Math" panose="02040503050406030204" pitchFamily="18" charset="0"/>
                  </a:rPr>
                  <a:t>𝛽𝑯</a:t>
                </a:r>
                <a:r>
                  <a:rPr lang="en-US" altLang="zh-CN" sz="2400" dirty="0">
                    <a:latin typeface="Cambria Math" panose="02040503050406030204" pitchFamily="18" charset="0"/>
                  </a:rPr>
                  <a:t>…</a:t>
                </a:r>
              </a:p>
              <a:p>
                <a:pPr marL="0" indent="0">
                  <a:buNone/>
                </a:pPr>
                <a:r>
                  <a:rPr lang="en-US" altLang="zh-CN" sz="2400" dirty="0">
                    <a:latin typeface="Cambria Math" panose="02040503050406030204" pitchFamily="18" charset="0"/>
                  </a:rPr>
                  <a:t>a useful tool for studying such constant-external-field ensembles:</a:t>
                </a:r>
              </a:p>
              <a:p>
                <a:pPr marL="0" indent="0">
                  <a:buNone/>
                </a:pPr>
                <a:r>
                  <a:rPr lang="en-US" altLang="zh-CN" sz="2400" dirty="0">
                    <a:latin typeface="Cambria Math" panose="02040503050406030204" pitchFamily="18" charset="0"/>
                  </a:rPr>
                  <a:t>Generalized Boltzmann</a:t>
                </a:r>
                <a:r>
                  <a:rPr lang="zh-CN" altLang="en-US" sz="2400" dirty="0">
                    <a:latin typeface="Cambria Math" panose="02040503050406030204" pitchFamily="18" charset="0"/>
                  </a:rPr>
                  <a:t> </a:t>
                </a:r>
                <a:r>
                  <a:rPr lang="en-US" altLang="zh-CN" sz="2400" dirty="0">
                    <a:latin typeface="Cambria Math" panose="02040503050406030204" pitchFamily="18" charset="0"/>
                  </a:rPr>
                  <a:t>Distribution</a:t>
                </a:r>
                <a:r>
                  <a:rPr lang="zh-CN" altLang="en-US" sz="2400" dirty="0">
                    <a:latin typeface="Cambria Math" panose="02040503050406030204" pitchFamily="18" charset="0"/>
                  </a:rPr>
                  <a:t>：</a:t>
                </a:r>
                <a:endParaRPr lang="en-US" altLang="zh-CN"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l-GR" altLang="zh-CN" sz="2400" dirty="0" smtClean="0">
                          <a:solidFill>
                            <a:srgbClr val="3C51B4"/>
                          </a:solidFill>
                          <a:latin typeface="Cambria Math" panose="02040503050406030204" pitchFamily="18" charset="0"/>
                        </a:rPr>
                        <m:t>𝛯</m:t>
                      </m:r>
                      <m:r>
                        <a:rPr lang="en-US" altLang="zh-CN" sz="2400" dirty="0">
                          <a:solidFill>
                            <a:srgbClr val="3C51B4"/>
                          </a:solidFill>
                          <a:latin typeface="Cambria Math" panose="02040503050406030204" pitchFamily="18" charset="0"/>
                        </a:rPr>
                        <m:t>=</m:t>
                      </m:r>
                      <m:nary>
                        <m:naryPr>
                          <m:chr m:val="∑"/>
                          <m:supHide m:val="on"/>
                          <m:ctrlPr>
                            <a:rPr lang="en-US" altLang="zh-CN" sz="2400" i="1" dirty="0">
                              <a:solidFill>
                                <a:srgbClr val="3C51B4"/>
                              </a:solidFill>
                              <a:latin typeface="Cambria Math" panose="02040503050406030204" pitchFamily="18" charset="0"/>
                            </a:rPr>
                          </m:ctrlPr>
                        </m:naryPr>
                        <m:sub>
                          <m:r>
                            <a:rPr lang="en-US" altLang="zh-CN" sz="2400" dirty="0">
                              <a:solidFill>
                                <a:srgbClr val="3C51B4"/>
                              </a:solidFill>
                              <a:latin typeface="Cambria Math" panose="02040503050406030204" pitchFamily="18" charset="0"/>
                            </a:rPr>
                            <m:t>𝜈</m:t>
                          </m:r>
                        </m:sub>
                        <m:sup/>
                        <m:e>
                          <m:func>
                            <m:funcPr>
                              <m:ctrlPr>
                                <a:rPr lang="en-US" altLang="zh-CN" sz="2400" i="1" dirty="0">
                                  <a:solidFill>
                                    <a:srgbClr val="3C51B4"/>
                                  </a:solidFill>
                                  <a:latin typeface="Cambria Math" panose="02040503050406030204" pitchFamily="18" charset="0"/>
                                </a:rPr>
                              </m:ctrlPr>
                            </m:funcPr>
                            <m:fName>
                              <m:r>
                                <m:rPr>
                                  <m:sty m:val="p"/>
                                </m:rPr>
                                <a:rPr lang="en-US" altLang="zh-CN" sz="2400" dirty="0">
                                  <a:solidFill>
                                    <a:srgbClr val="3C51B4"/>
                                  </a:solidFill>
                                  <a:latin typeface="Cambria Math" panose="02040503050406030204" pitchFamily="18" charset="0"/>
                                </a:rPr>
                                <m:t>exp</m:t>
                              </m:r>
                            </m:fName>
                            <m:e>
                              <m:d>
                                <m:dPr>
                                  <m:ctrlPr>
                                    <a:rPr lang="en-US" altLang="zh-CN" sz="2400" i="1" dirty="0">
                                      <a:solidFill>
                                        <a:srgbClr val="3C51B4"/>
                                      </a:solidFill>
                                      <a:latin typeface="Cambria Math" panose="02040503050406030204" pitchFamily="18" charset="0"/>
                                    </a:rPr>
                                  </m:ctrlPr>
                                </m:dPr>
                                <m:e>
                                  <m:r>
                                    <a:rPr lang="en-US" altLang="zh-CN" sz="2400" dirty="0">
                                      <a:solidFill>
                                        <a:srgbClr val="3C51B4"/>
                                      </a:solidFill>
                                      <a:latin typeface="Cambria Math" panose="02040503050406030204" pitchFamily="18" charset="0"/>
                                    </a:rPr>
                                    <m:t>−</m:t>
                                  </m:r>
                                  <m:r>
                                    <a:rPr lang="en-US" altLang="zh-CN" sz="2400" dirty="0">
                                      <a:solidFill>
                                        <a:srgbClr val="3C51B4"/>
                                      </a:solidFill>
                                      <a:latin typeface="Cambria Math" panose="02040503050406030204" pitchFamily="18" charset="0"/>
                                    </a:rPr>
                                    <m:t>𝛽</m:t>
                                  </m:r>
                                  <m:sSub>
                                    <m:sSubPr>
                                      <m:ctrlPr>
                                        <a:rPr lang="en-US" altLang="zh-CN" sz="2400" i="1" dirty="0">
                                          <a:solidFill>
                                            <a:srgbClr val="3C51B4"/>
                                          </a:solidFill>
                                          <a:latin typeface="Cambria Math" panose="02040503050406030204" pitchFamily="18" charset="0"/>
                                        </a:rPr>
                                      </m:ctrlPr>
                                    </m:sSubPr>
                                    <m:e>
                                      <m:r>
                                        <a:rPr lang="en-US" altLang="zh-CN" sz="2400" dirty="0">
                                          <a:solidFill>
                                            <a:srgbClr val="3C51B4"/>
                                          </a:solidFill>
                                          <a:latin typeface="Cambria Math" panose="02040503050406030204" pitchFamily="18" charset="0"/>
                                        </a:rPr>
                                        <m:t>𝐸</m:t>
                                      </m:r>
                                    </m:e>
                                    <m:sub>
                                      <m:r>
                                        <a:rPr lang="en-US" altLang="zh-CN" sz="2400" dirty="0">
                                          <a:solidFill>
                                            <a:srgbClr val="3C51B4"/>
                                          </a:solidFill>
                                          <a:latin typeface="Cambria Math" panose="02040503050406030204" pitchFamily="18" charset="0"/>
                                        </a:rPr>
                                        <m:t>𝜈</m:t>
                                      </m:r>
                                    </m:sub>
                                  </m:sSub>
                                  <m:r>
                                    <a:rPr lang="en-US" altLang="zh-CN" sz="2400" dirty="0">
                                      <a:solidFill>
                                        <a:srgbClr val="3C51B4"/>
                                      </a:solidFill>
                                      <a:latin typeface="Cambria Math" panose="02040503050406030204" pitchFamily="18" charset="0"/>
                                    </a:rPr>
                                    <m:t>−</m:t>
                                  </m:r>
                                  <m:r>
                                    <a:rPr lang="el-GR" altLang="zh-CN" sz="2400" dirty="0">
                                      <a:solidFill>
                                        <a:srgbClr val="3C51B4"/>
                                      </a:solidFill>
                                      <a:latin typeface="Cambria Math" panose="02040503050406030204" pitchFamily="18" charset="0"/>
                                    </a:rPr>
                                    <m:t>𝝃</m:t>
                                  </m:r>
                                  <m:r>
                                    <a:rPr lang="en-US" altLang="zh-CN" sz="2400" dirty="0">
                                      <a:solidFill>
                                        <a:srgbClr val="3C51B4"/>
                                      </a:solidFill>
                                      <a:latin typeface="Cambria Math" panose="02040503050406030204" pitchFamily="18" charset="0"/>
                                    </a:rPr>
                                    <m:t>∙</m:t>
                                  </m:r>
                                  <m:sSub>
                                    <m:sSubPr>
                                      <m:ctrlPr>
                                        <a:rPr lang="en-US" altLang="zh-CN" sz="2400" i="1" dirty="0">
                                          <a:solidFill>
                                            <a:srgbClr val="3C51B4"/>
                                          </a:solidFill>
                                          <a:latin typeface="Cambria Math" panose="02040503050406030204" pitchFamily="18" charset="0"/>
                                        </a:rPr>
                                      </m:ctrlPr>
                                    </m:sSubPr>
                                    <m:e>
                                      <m:r>
                                        <a:rPr lang="en-US" altLang="zh-CN" sz="2400" dirty="0">
                                          <a:solidFill>
                                            <a:srgbClr val="3C51B4"/>
                                          </a:solidFill>
                                          <a:latin typeface="Cambria Math" panose="02040503050406030204" pitchFamily="18" charset="0"/>
                                        </a:rPr>
                                        <m:t>𝑿</m:t>
                                      </m:r>
                                    </m:e>
                                    <m:sub>
                                      <m:r>
                                        <a:rPr lang="en-US" altLang="zh-CN" sz="2400" dirty="0">
                                          <a:solidFill>
                                            <a:srgbClr val="3C51B4"/>
                                          </a:solidFill>
                                          <a:latin typeface="Cambria Math" panose="02040503050406030204" pitchFamily="18" charset="0"/>
                                        </a:rPr>
                                        <m:t>𝜈</m:t>
                                      </m:r>
                                    </m:sub>
                                  </m:sSub>
                                </m:e>
                              </m:d>
                            </m:e>
                          </m:func>
                        </m:e>
                      </m:nary>
                      <m:r>
                        <a:rPr lang="en-US" altLang="zh-CN" sz="2400" dirty="0">
                          <a:solidFill>
                            <a:srgbClr val="3C51B4"/>
                          </a:solidFill>
                          <a:latin typeface="Cambria Math" panose="02040503050406030204" pitchFamily="18" charset="0"/>
                        </a:rPr>
                        <m:t>,</m:t>
                      </m:r>
                      <m:sSub>
                        <m:sSubPr>
                          <m:ctrlPr>
                            <a:rPr lang="en-US" altLang="zh-CN" sz="2400" i="1" dirty="0">
                              <a:solidFill>
                                <a:srgbClr val="3C51B4"/>
                              </a:solidFill>
                              <a:latin typeface="Cambria Math" panose="02040503050406030204" pitchFamily="18" charset="0"/>
                            </a:rPr>
                          </m:ctrlPr>
                        </m:sSubPr>
                        <m:e>
                          <m:r>
                            <a:rPr lang="en-US" altLang="zh-CN" sz="2400" dirty="0">
                              <a:solidFill>
                                <a:srgbClr val="3C51B4"/>
                              </a:solidFill>
                              <a:latin typeface="Cambria Math" panose="02040503050406030204" pitchFamily="18" charset="0"/>
                            </a:rPr>
                            <m:t>𝑃</m:t>
                          </m:r>
                        </m:e>
                        <m:sub>
                          <m:r>
                            <a:rPr lang="en-US" altLang="zh-CN" sz="2400" dirty="0">
                              <a:solidFill>
                                <a:srgbClr val="3C51B4"/>
                              </a:solidFill>
                              <a:latin typeface="Cambria Math" panose="02040503050406030204" pitchFamily="18" charset="0"/>
                            </a:rPr>
                            <m:t>𝜈</m:t>
                          </m:r>
                        </m:sub>
                      </m:sSub>
                      <m:r>
                        <a:rPr lang="en-US" altLang="zh-CN" sz="2400" dirty="0">
                          <a:solidFill>
                            <a:srgbClr val="3C51B4"/>
                          </a:solidFill>
                          <a:latin typeface="Cambria Math" panose="02040503050406030204" pitchFamily="18" charset="0"/>
                        </a:rPr>
                        <m:t>=</m:t>
                      </m:r>
                      <m:f>
                        <m:fPr>
                          <m:ctrlPr>
                            <a:rPr lang="en-US" altLang="zh-CN" sz="2400" i="1" dirty="0">
                              <a:solidFill>
                                <a:srgbClr val="3C51B4"/>
                              </a:solidFill>
                              <a:latin typeface="Cambria Math" panose="02040503050406030204" pitchFamily="18" charset="0"/>
                            </a:rPr>
                          </m:ctrlPr>
                        </m:fPr>
                        <m:num>
                          <m:r>
                            <a:rPr lang="en-US" altLang="zh-CN" sz="2400" dirty="0">
                              <a:solidFill>
                                <a:srgbClr val="3C51B4"/>
                              </a:solidFill>
                              <a:latin typeface="Cambria Math" panose="02040503050406030204" pitchFamily="18" charset="0"/>
                            </a:rPr>
                            <m:t>1</m:t>
                          </m:r>
                        </m:num>
                        <m:den>
                          <m:r>
                            <a:rPr lang="el-GR" altLang="zh-CN" sz="2400" dirty="0">
                              <a:solidFill>
                                <a:srgbClr val="3C51B4"/>
                              </a:solidFill>
                              <a:latin typeface="Cambria Math" panose="02040503050406030204" pitchFamily="18" charset="0"/>
                            </a:rPr>
                            <m:t>𝛯</m:t>
                          </m:r>
                        </m:den>
                      </m:f>
                      <m:func>
                        <m:funcPr>
                          <m:ctrlPr>
                            <a:rPr lang="en-US" altLang="zh-CN" sz="2400" i="1" dirty="0">
                              <a:solidFill>
                                <a:srgbClr val="3C51B4"/>
                              </a:solidFill>
                              <a:latin typeface="Cambria Math" panose="02040503050406030204" pitchFamily="18" charset="0"/>
                            </a:rPr>
                          </m:ctrlPr>
                        </m:funcPr>
                        <m:fName>
                          <m:r>
                            <m:rPr>
                              <m:sty m:val="p"/>
                            </m:rPr>
                            <a:rPr lang="en-US" altLang="zh-CN" sz="2400" dirty="0">
                              <a:solidFill>
                                <a:srgbClr val="3C51B4"/>
                              </a:solidFill>
                              <a:latin typeface="Cambria Math" panose="02040503050406030204" pitchFamily="18" charset="0"/>
                            </a:rPr>
                            <m:t>exp</m:t>
                          </m:r>
                        </m:fName>
                        <m:e>
                          <m:r>
                            <a:rPr lang="en-US" altLang="zh-CN" sz="2400" dirty="0">
                              <a:solidFill>
                                <a:srgbClr val="3C51B4"/>
                              </a:solidFill>
                              <a:latin typeface="Cambria Math" panose="02040503050406030204" pitchFamily="18" charset="0"/>
                            </a:rPr>
                            <m:t>(−</m:t>
                          </m:r>
                          <m:r>
                            <a:rPr lang="en-US" altLang="zh-CN" sz="2400" dirty="0">
                              <a:solidFill>
                                <a:srgbClr val="3C51B4"/>
                              </a:solidFill>
                              <a:latin typeface="Cambria Math" panose="02040503050406030204" pitchFamily="18" charset="0"/>
                            </a:rPr>
                            <m:t>𝛽</m:t>
                          </m:r>
                          <m:sSub>
                            <m:sSubPr>
                              <m:ctrlPr>
                                <a:rPr lang="en-US" altLang="zh-CN" sz="2400" i="1" dirty="0">
                                  <a:solidFill>
                                    <a:srgbClr val="3C51B4"/>
                                  </a:solidFill>
                                  <a:latin typeface="Cambria Math" panose="02040503050406030204" pitchFamily="18" charset="0"/>
                                </a:rPr>
                              </m:ctrlPr>
                            </m:sSubPr>
                            <m:e>
                              <m:r>
                                <a:rPr lang="en-US" altLang="zh-CN" sz="2400" dirty="0">
                                  <a:solidFill>
                                    <a:srgbClr val="3C51B4"/>
                                  </a:solidFill>
                                  <a:latin typeface="Cambria Math" panose="02040503050406030204" pitchFamily="18" charset="0"/>
                                </a:rPr>
                                <m:t>𝐸</m:t>
                              </m:r>
                            </m:e>
                            <m:sub>
                              <m:r>
                                <a:rPr lang="en-US" altLang="zh-CN" sz="2400" dirty="0">
                                  <a:solidFill>
                                    <a:srgbClr val="3C51B4"/>
                                  </a:solidFill>
                                  <a:latin typeface="Cambria Math" panose="02040503050406030204" pitchFamily="18" charset="0"/>
                                </a:rPr>
                                <m:t>𝜈</m:t>
                              </m:r>
                            </m:sub>
                          </m:sSub>
                          <m:r>
                            <a:rPr lang="en-US" altLang="zh-CN" sz="2400" dirty="0">
                              <a:solidFill>
                                <a:srgbClr val="3C51B4"/>
                              </a:solidFill>
                              <a:latin typeface="Cambria Math" panose="02040503050406030204" pitchFamily="18" charset="0"/>
                            </a:rPr>
                            <m:t>−</m:t>
                          </m:r>
                          <m:r>
                            <a:rPr lang="el-GR" altLang="zh-CN" sz="2400" dirty="0">
                              <a:solidFill>
                                <a:srgbClr val="3C51B4"/>
                              </a:solidFill>
                              <a:latin typeface="Cambria Math" panose="02040503050406030204" pitchFamily="18" charset="0"/>
                            </a:rPr>
                            <m:t>𝝃</m:t>
                          </m:r>
                          <m:r>
                            <a:rPr lang="en-US" altLang="zh-CN" sz="2400" dirty="0">
                              <a:solidFill>
                                <a:srgbClr val="3C51B4"/>
                              </a:solidFill>
                              <a:latin typeface="Cambria Math" panose="02040503050406030204" pitchFamily="18" charset="0"/>
                            </a:rPr>
                            <m:t>∙</m:t>
                          </m:r>
                          <m:sSub>
                            <m:sSubPr>
                              <m:ctrlPr>
                                <a:rPr lang="en-US" altLang="zh-CN" sz="2400" i="1" dirty="0">
                                  <a:solidFill>
                                    <a:srgbClr val="3C51B4"/>
                                  </a:solidFill>
                                  <a:latin typeface="Cambria Math" panose="02040503050406030204" pitchFamily="18" charset="0"/>
                                </a:rPr>
                              </m:ctrlPr>
                            </m:sSubPr>
                            <m:e>
                              <m:r>
                                <a:rPr lang="en-US" altLang="zh-CN" sz="2400" dirty="0">
                                  <a:solidFill>
                                    <a:srgbClr val="3C51B4"/>
                                  </a:solidFill>
                                  <a:latin typeface="Cambria Math" panose="02040503050406030204" pitchFamily="18" charset="0"/>
                                </a:rPr>
                                <m:t>𝑿</m:t>
                              </m:r>
                            </m:e>
                            <m:sub>
                              <m:r>
                                <a:rPr lang="en-US" altLang="zh-CN" sz="2400" dirty="0">
                                  <a:solidFill>
                                    <a:srgbClr val="3C51B4"/>
                                  </a:solidFill>
                                  <a:latin typeface="Cambria Math" panose="02040503050406030204" pitchFamily="18" charset="0"/>
                                </a:rPr>
                                <m:t>𝜈</m:t>
                              </m:r>
                            </m:sub>
                          </m:sSub>
                          <m:r>
                            <a:rPr lang="en-US" altLang="zh-CN" sz="2400" dirty="0">
                              <a:solidFill>
                                <a:srgbClr val="3C51B4"/>
                              </a:solidFill>
                              <a:latin typeface="Cambria Math" panose="02040503050406030204" pitchFamily="18" charset="0"/>
                            </a:rPr>
                            <m:t>)</m:t>
                          </m:r>
                        </m:e>
                      </m:func>
                    </m:oMath>
                  </m:oMathPara>
                </a14:m>
                <a:endParaRPr lang="zh-CN" altLang="en-US" sz="2400" dirty="0">
                  <a:latin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E19B978A-DFAE-1B04-8757-0F8FFF655265}"/>
                  </a:ext>
                </a:extLst>
              </p:cNvPr>
              <p:cNvSpPr>
                <a:spLocks noGrp="1" noRot="1" noChangeAspect="1" noMove="1" noResize="1" noEditPoints="1" noAdjustHandles="1" noChangeArrowheads="1" noChangeShapeType="1" noTextEdit="1"/>
              </p:cNvSpPr>
              <p:nvPr>
                <p:ph idx="1"/>
              </p:nvPr>
            </p:nvSpPr>
            <p:spPr>
              <a:xfrm>
                <a:off x="838200" y="1825624"/>
                <a:ext cx="10849708" cy="5032375"/>
              </a:xfrm>
              <a:blipFill>
                <a:blip r:embed="rId3"/>
                <a:stretch>
                  <a:fillRect l="-899" t="-1695"/>
                </a:stretch>
              </a:blipFill>
            </p:spPr>
            <p:txBody>
              <a:bodyPr/>
              <a:lstStyle/>
              <a:p>
                <a:r>
                  <a:rPr lang="zh-CN" altLang="en-US">
                    <a:noFill/>
                  </a:rPr>
                  <a:t> </a:t>
                </a:r>
              </a:p>
            </p:txBody>
          </p:sp>
        </mc:Fallback>
      </mc:AlternateContent>
      <p:sp>
        <p:nvSpPr>
          <p:cNvPr id="6" name="标题 1">
            <a:extLst>
              <a:ext uri="{FF2B5EF4-FFF2-40B4-BE49-F238E27FC236}">
                <a16:creationId xmlns:a16="http://schemas.microsoft.com/office/drawing/2014/main" id="{C3343EE0-5946-13F6-8D03-F52A5D925119}"/>
              </a:ext>
            </a:extLst>
          </p:cNvPr>
          <p:cNvSpPr>
            <a:spLocks noGrp="1"/>
          </p:cNvSpPr>
          <p:nvPr>
            <p:ph type="title"/>
          </p:nvPr>
        </p:nvSpPr>
        <p:spPr>
          <a:xfrm>
            <a:off x="838200" y="365125"/>
            <a:ext cx="10515600" cy="1325563"/>
          </a:xfrm>
        </p:spPr>
        <p:txBody>
          <a:bodyPr>
            <a:normAutofit/>
          </a:bodyPr>
          <a:lstStyle/>
          <a:p>
            <a:r>
              <a:rPr lang="en-US" altLang="zh-CN" sz="4000" b="1" i="0" dirty="0">
                <a:solidFill>
                  <a:srgbClr val="3C51B4"/>
                </a:solidFill>
                <a:effectLst/>
                <a:latin typeface="Arial" panose="020B0604020202020204" pitchFamily="34" charset="0"/>
              </a:rPr>
              <a:t>Legendre Transform in Thermodynamics</a:t>
            </a:r>
            <a:endParaRPr lang="zh-CN" altLang="en-US" sz="4000" dirty="0"/>
          </a:p>
        </p:txBody>
      </p:sp>
    </p:spTree>
    <p:extLst>
      <p:ext uri="{BB962C8B-B14F-4D97-AF65-F5344CB8AC3E}">
        <p14:creationId xmlns:p14="http://schemas.microsoft.com/office/powerpoint/2010/main" val="3131032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B80439-5A7E-1A2C-D2F9-5BFE8B52DAB3}"/>
              </a:ext>
            </a:extLst>
          </p:cNvPr>
          <p:cNvSpPr>
            <a:spLocks noGrp="1"/>
          </p:cNvSpPr>
          <p:nvPr>
            <p:ph type="title"/>
          </p:nvPr>
        </p:nvSpPr>
        <p:spPr>
          <a:xfrm>
            <a:off x="838200" y="2766218"/>
            <a:ext cx="10515600" cy="1325563"/>
          </a:xfrm>
        </p:spPr>
        <p:txBody>
          <a:bodyPr/>
          <a:lstStyle/>
          <a:p>
            <a:pPr algn="ctr"/>
            <a:r>
              <a:rPr lang="en-US" altLang="zh-CN" sz="4400" b="1" i="0" dirty="0">
                <a:solidFill>
                  <a:srgbClr val="3C51B4"/>
                </a:solidFill>
                <a:effectLst/>
                <a:latin typeface="Arial" panose="020B0604020202020204" pitchFamily="34" charset="0"/>
              </a:rPr>
              <a:t>Supplementary Information</a:t>
            </a:r>
            <a:endParaRPr lang="zh-CN" altLang="en-US" dirty="0"/>
          </a:p>
        </p:txBody>
      </p:sp>
    </p:spTree>
    <p:extLst>
      <p:ext uri="{BB962C8B-B14F-4D97-AF65-F5344CB8AC3E}">
        <p14:creationId xmlns:p14="http://schemas.microsoft.com/office/powerpoint/2010/main" val="3466134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01BCC-3923-A072-CF01-0C420E487D9F}"/>
              </a:ext>
            </a:extLst>
          </p:cNvPr>
          <p:cNvSpPr>
            <a:spLocks noGrp="1"/>
          </p:cNvSpPr>
          <p:nvPr>
            <p:ph type="title"/>
          </p:nvPr>
        </p:nvSpPr>
        <p:spPr/>
        <p:txBody>
          <a:bodyPr>
            <a:normAutofit/>
          </a:bodyPr>
          <a:lstStyle/>
          <a:p>
            <a:r>
              <a:rPr lang="en-US" altLang="zh-CN" b="1" dirty="0"/>
              <a:t>Properties of the Legendre Transform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437794F-81E5-5BDC-AB47-72EF108ECB60}"/>
                  </a:ext>
                </a:extLst>
              </p:cNvPr>
              <p:cNvSpPr>
                <a:spLocks noGrp="1"/>
              </p:cNvSpPr>
              <p:nvPr>
                <p:ph idx="1"/>
              </p:nvPr>
            </p:nvSpPr>
            <p:spPr/>
            <p:txBody>
              <a:bodyPr/>
              <a:lstStyle/>
              <a:p>
                <a:r>
                  <a:rPr lang="en-US" altLang="zh-CN" b="1" dirty="0"/>
                  <a:t>1. Involution (Self-inverse)</a:t>
                </a:r>
              </a:p>
              <a:p>
                <a:r>
                  <a:rPr lang="en-US" altLang="zh-CN" dirty="0"/>
                  <a:t>Applying the Legendre transform twice returns the original function (for convex functions):</a:t>
                </a:r>
              </a:p>
              <a:p>
                <a:pPr marL="0" indent="0">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limLow>
                        <m:limLowPr>
                          <m:ctrlPr>
                            <a:rPr lang="ar-AE" altLang="zh-CN" i="1">
                              <a:latin typeface="Cambria Math" panose="02040503050406030204" pitchFamily="18" charset="0"/>
                            </a:rPr>
                          </m:ctrlPr>
                        </m:limLowPr>
                        <m:e>
                          <m:r>
                            <m:rPr>
                              <m:sty m:val="p"/>
                            </m:rPr>
                            <a:rPr lang="en-US" altLang="zh-CN" i="1">
                              <a:latin typeface="Cambria Math" panose="02040503050406030204" pitchFamily="18" charset="0"/>
                            </a:rPr>
                            <m:t>max</m:t>
                          </m:r>
                        </m:e>
                        <m:lim>
                          <m:r>
                            <a:rPr lang="zh-CN" altLang="ar-AE" i="1">
                              <a:latin typeface="Cambria Math" panose="02040503050406030204" pitchFamily="18" charset="0"/>
                            </a:rPr>
                            <m:t>𝑝</m:t>
                          </m:r>
                        </m:lim>
                      </m:limLow>
                      <m:r>
                        <a:rPr lang="ar-AE" altLang="zh-CN">
                          <a:latin typeface="Cambria Math" panose="02040503050406030204" pitchFamily="18" charset="0"/>
                        </a:rPr>
                        <m:t>(</m:t>
                      </m:r>
                      <m:r>
                        <a:rPr lang="zh-CN" altLang="ar-AE" i="1">
                          <a:latin typeface="Cambria Math" panose="02040503050406030204" pitchFamily="18" charset="0"/>
                        </a:rPr>
                        <m:t>𝑥𝑝</m:t>
                      </m:r>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oMath>
                  </m:oMathPara>
                </a14:m>
                <a:endParaRPr lang="ar-AE" altLang="zh-CN" dirty="0"/>
              </a:p>
              <a:p>
                <a:r>
                  <a:rPr lang="en-US" altLang="zh-CN" dirty="0"/>
                  <a:t>This means </a:t>
                </a:r>
                <a:r>
                  <a:rPr lang="en-US" altLang="zh-CN" b="1" dirty="0"/>
                  <a:t>no information is lost</a:t>
                </a:r>
                <a:r>
                  <a:rPr lang="en-US" altLang="zh-CN" dirty="0"/>
                  <a:t> – it's just a different representation.</a:t>
                </a:r>
                <a:r>
                  <a:rPr lang="en-US" altLang="zh-CN" b="1" dirty="0"/>
                  <a:t> </a:t>
                </a:r>
              </a:p>
              <a:p>
                <a:r>
                  <a:rPr lang="en-US" altLang="zh-CN" b="1" dirty="0"/>
                  <a:t>2. Conjugate Variables</a:t>
                </a:r>
              </a:p>
              <a:p>
                <a:r>
                  <a:rPr lang="en-US" altLang="zh-CN" dirty="0"/>
                  <a:t>If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then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The pair </a:t>
                </a:r>
                <a14:m>
                  <m:oMath xmlns:m="http://schemas.openxmlformats.org/officeDocument/2006/math">
                    <m:d>
                      <m:dPr>
                        <m:sepChr m:val=","/>
                        <m:ctrlPr>
                          <a:rPr lang="ar-AE" altLang="zh-CN" i="1">
                            <a:latin typeface="Cambria Math" panose="02040503050406030204" pitchFamily="18" charset="0"/>
                          </a:rPr>
                        </m:ctrlPr>
                      </m:dPr>
                      <m:e>
                        <m:r>
                          <a:rPr lang="zh-CN" altLang="ar-AE" i="1">
                            <a:latin typeface="Cambria Math" panose="02040503050406030204" pitchFamily="18" charset="0"/>
                          </a:rPr>
                          <m:t>𝑥</m:t>
                        </m:r>
                      </m:e>
                      <m:e>
                        <m:r>
                          <a:rPr lang="zh-CN" altLang="ar-AE" i="1">
                            <a:latin typeface="Cambria Math" panose="02040503050406030204" pitchFamily="18" charset="0"/>
                          </a:rPr>
                          <m:t>𝑝</m:t>
                        </m:r>
                      </m:e>
                    </m:d>
                  </m:oMath>
                </a14:m>
                <a:r>
                  <a:rPr lang="ar-AE" altLang="zh-CN" dirty="0"/>
                  <a:t> </a:t>
                </a:r>
                <a:r>
                  <a:rPr lang="en-US" altLang="zh-CN" dirty="0"/>
                  <a:t>are conjugate variables.</a:t>
                </a:r>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0437794F-81E5-5BDC-AB47-72EF108ECB60}"/>
                  </a:ext>
                </a:extLst>
              </p:cNvPr>
              <p:cNvSpPr>
                <a:spLocks noGrp="1" noRot="1" noChangeAspect="1" noMove="1" noResize="1" noEditPoints="1" noAdjustHandles="1" noChangeArrowheads="1" noChangeShapeType="1" noTextEdit="1"/>
              </p:cNvSpPr>
              <p:nvPr>
                <p:ph idx="1"/>
              </p:nvPr>
            </p:nvSpPr>
            <p:spPr>
              <a:blipFill>
                <a:blip r:embed="rId2"/>
                <a:stretch>
                  <a:fillRect l="-1043" t="-2521" b="-11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9689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F5BC4-4C75-FD8E-953B-9A2ACE97DA26}"/>
              </a:ext>
            </a:extLst>
          </p:cNvPr>
          <p:cNvSpPr>
            <a:spLocks noGrp="1"/>
          </p:cNvSpPr>
          <p:nvPr>
            <p:ph type="title"/>
          </p:nvPr>
        </p:nvSpPr>
        <p:spPr/>
        <p:txBody>
          <a:bodyPr/>
          <a:lstStyle/>
          <a:p>
            <a:r>
              <a:rPr lang="en-US" altLang="zh-CN" b="1" dirty="0"/>
              <a:t>Properties of the Legendre Transform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AD4632B-6E60-0A7F-CFBD-C34CA5D2EF6B}"/>
                  </a:ext>
                </a:extLst>
              </p:cNvPr>
              <p:cNvSpPr>
                <a:spLocks noGrp="1"/>
              </p:cNvSpPr>
              <p:nvPr>
                <p:ph idx="1"/>
              </p:nvPr>
            </p:nvSpPr>
            <p:spPr/>
            <p:txBody>
              <a:bodyPr>
                <a:normAutofit fontScale="77500" lnSpcReduction="20000"/>
              </a:bodyPr>
              <a:lstStyle/>
              <a:p>
                <a:r>
                  <a:rPr lang="en-US" altLang="zh-CN" b="1" dirty="0"/>
                  <a:t>3. Inequality (Young's Inequality)</a:t>
                </a:r>
              </a:p>
              <a:p>
                <a:r>
                  <a:rPr lang="en-US" altLang="zh-CN" dirty="0"/>
                  <a:t>For any </a:t>
                </a:r>
                <a14:m>
                  <m:oMath xmlns:m="http://schemas.openxmlformats.org/officeDocument/2006/math">
                    <m:r>
                      <a:rPr lang="zh-CN" altLang="en-US" i="1">
                        <a:latin typeface="Cambria Math" panose="02040503050406030204" pitchFamily="18" charset="0"/>
                      </a:rPr>
                      <m:t>𝑥</m:t>
                    </m:r>
                  </m:oMath>
                </a14:m>
                <a:r>
                  <a:rPr lang="en-US" altLang="zh-CN" dirty="0"/>
                  <a:t> and </a:t>
                </a:r>
                <a14:m>
                  <m:oMath xmlns:m="http://schemas.openxmlformats.org/officeDocument/2006/math">
                    <m:r>
                      <a:rPr lang="zh-CN" altLang="en-US" i="1">
                        <a:latin typeface="Cambria Math" panose="02040503050406030204" pitchFamily="18" charset="0"/>
                      </a:rPr>
                      <m:t>𝑝</m:t>
                    </m:r>
                  </m:oMath>
                </a14:m>
                <a:r>
                  <a:rPr lang="en-US" altLang="zh-CN" dirty="0"/>
                  <a:t>:</a:t>
                </a:r>
              </a:p>
              <a:p>
                <a:pPr marL="0" indent="0">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𝑝𝑥</m:t>
                      </m:r>
                      <m:r>
                        <a:rPr lang="en-US" altLang="zh-CN">
                          <a:latin typeface="Cambria Math" panose="02040503050406030204" pitchFamily="18" charset="0"/>
                        </a:rPr>
                        <m:t>≤</m:t>
                      </m:r>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m:oMathPara>
                </a14:m>
                <a:endParaRPr lang="ar-AE" altLang="zh-CN" dirty="0"/>
              </a:p>
              <a:p>
                <a:r>
                  <a:rPr lang="en-US" altLang="zh-CN" dirty="0"/>
                  <a:t>Equality holds when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en-US" altLang="zh-CN" dirty="0"/>
                  <a:t> or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endParaRPr lang="ar-AE" altLang="zh-CN" dirty="0"/>
              </a:p>
              <a:p>
                <a:r>
                  <a:rPr lang="en-US" altLang="zh-CN" b="1" dirty="0"/>
                  <a:t>4.</a:t>
                </a:r>
                <a:r>
                  <a:rPr lang="ar-AE" altLang="zh-CN" b="1" dirty="0"/>
                  <a:t> </a:t>
                </a:r>
                <a:r>
                  <a:rPr lang="en-US" altLang="zh-CN" b="1" dirty="0"/>
                  <a:t>Convexity Preserved</a:t>
                </a:r>
              </a:p>
              <a:p>
                <a:r>
                  <a:rPr lang="en-US" altLang="zh-CN" dirty="0"/>
                  <a:t>If </a:t>
                </a:r>
                <a14:m>
                  <m:oMath xmlns:m="http://schemas.openxmlformats.org/officeDocument/2006/math">
                    <m:r>
                      <a:rPr lang="zh-CN" altLang="en-US" i="1">
                        <a:latin typeface="Cambria Math" panose="02040503050406030204" pitchFamily="18" charset="0"/>
                      </a:rPr>
                      <m:t>𝑓</m:t>
                    </m:r>
                  </m:oMath>
                </a14:m>
                <a:r>
                  <a:rPr lang="en-US" altLang="zh-CN" dirty="0"/>
                  <a:t> is convex, then </a:t>
                </a:r>
                <a14:m>
                  <m:oMath xmlns:m="http://schemas.openxmlformats.org/officeDocument/2006/math">
                    <m:r>
                      <a:rPr lang="zh-CN" altLang="en-US" i="1">
                        <a:latin typeface="Cambria Math" panose="02040503050406030204" pitchFamily="18" charset="0"/>
                      </a:rPr>
                      <m:t>𝑔</m:t>
                    </m:r>
                  </m:oMath>
                </a14:m>
                <a:r>
                  <a:rPr lang="en-US" altLang="zh-CN" dirty="0"/>
                  <a:t> is also convex.</a:t>
                </a:r>
              </a:p>
              <a:p>
                <a:r>
                  <a:rPr lang="en-US" altLang="zh-CN" b="1" dirty="0"/>
                  <a:t>5. Duality</a:t>
                </a:r>
              </a:p>
              <a:p>
                <a:r>
                  <a:rPr lang="en-US" altLang="zh-CN" dirty="0"/>
                  <a:t>The Legendre transform establishes a </a:t>
                </a:r>
                <a:r>
                  <a:rPr lang="en-US" altLang="zh-CN" b="1" dirty="0"/>
                  <a:t>duality</a:t>
                </a:r>
                <a:r>
                  <a:rPr lang="en-US" altLang="zh-CN" dirty="0"/>
                  <a:t> between a vector space and its dual space:</a:t>
                </a:r>
              </a:p>
              <a:p>
                <a14:m>
                  <m:oMath xmlns:m="http://schemas.openxmlformats.org/officeDocument/2006/math">
                    <m:r>
                      <a:rPr lang="zh-CN" altLang="en-US" i="1">
                        <a:latin typeface="Cambria Math" panose="02040503050406030204" pitchFamily="18" charset="0"/>
                      </a:rPr>
                      <m:t>𝑥</m:t>
                    </m:r>
                  </m:oMath>
                </a14:m>
                <a:r>
                  <a:rPr lang="en-US" altLang="zh-CN" dirty="0"/>
                  <a:t> belongs to the original space </a:t>
                </a:r>
                <a14:m>
                  <m:oMath xmlns:m="http://schemas.openxmlformats.org/officeDocument/2006/math">
                    <m:r>
                      <a:rPr lang="zh-CN" altLang="en-US" i="1">
                        <a:latin typeface="Cambria Math" panose="02040503050406030204" pitchFamily="18" charset="0"/>
                      </a:rPr>
                      <m:t>𝑉</m:t>
                    </m:r>
                  </m:oMath>
                </a14:m>
                <a:endParaRPr lang="en-US" altLang="zh-CN" dirty="0"/>
              </a:p>
              <a:p>
                <a14:m>
                  <m:oMath xmlns:m="http://schemas.openxmlformats.org/officeDocument/2006/math">
                    <m:r>
                      <a:rPr lang="zh-CN" altLang="en-US" i="1">
                        <a:latin typeface="Cambria Math" panose="02040503050406030204" pitchFamily="18" charset="0"/>
                      </a:rPr>
                      <m:t>𝑝</m:t>
                    </m:r>
                  </m:oMath>
                </a14:m>
                <a:r>
                  <a:rPr lang="en-US" altLang="zh-CN" dirty="0"/>
                  <a:t> belongs to the dual space </a:t>
                </a:r>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𝑉</m:t>
                        </m:r>
                      </m:e>
                      <m:sup>
                        <m:r>
                          <a:rPr lang="ar-AE" altLang="zh-CN">
                            <a:latin typeface="Cambria Math" panose="02040503050406030204" pitchFamily="18" charset="0"/>
                          </a:rPr>
                          <m:t>∗</m:t>
                        </m:r>
                      </m:sup>
                    </m:sSup>
                  </m:oMath>
                </a14:m>
                <a:endParaRPr lang="ar-AE" altLang="zh-CN" dirty="0"/>
              </a:p>
              <a:p>
                <a:r>
                  <a:rPr lang="en-US" altLang="zh-CN" dirty="0"/>
                  <a:t>The pairing </a:t>
                </a:r>
                <a14:m>
                  <m:oMath xmlns:m="http://schemas.openxmlformats.org/officeDocument/2006/math">
                    <m:d>
                      <m:dPr>
                        <m:begChr m:val="⟨"/>
                        <m:endChr m:val="⟩"/>
                        <m:sepChr m:val=","/>
                        <m:ctrlPr>
                          <a:rPr lang="ar-AE" altLang="zh-CN" i="1">
                            <a:latin typeface="Cambria Math" panose="02040503050406030204" pitchFamily="18" charset="0"/>
                          </a:rPr>
                        </m:ctrlPr>
                      </m:dPr>
                      <m:e>
                        <m:r>
                          <a:rPr lang="zh-CN" altLang="ar-AE" i="1">
                            <a:latin typeface="Cambria Math" panose="02040503050406030204" pitchFamily="18" charset="0"/>
                          </a:rPr>
                          <m:t>𝑝</m:t>
                        </m:r>
                      </m:e>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𝑝𝑥</m:t>
                    </m:r>
                  </m:oMath>
                </a14:m>
                <a:r>
                  <a:rPr lang="ar-AE" altLang="zh-CN" dirty="0"/>
                  <a:t> </a:t>
                </a:r>
                <a:r>
                  <a:rPr lang="en-US" altLang="zh-CN" dirty="0"/>
                  <a:t>connects them.</a:t>
                </a:r>
              </a:p>
              <a:p>
                <a:endParaRPr lang="zh-CN" altLang="en-US" dirty="0"/>
              </a:p>
            </p:txBody>
          </p:sp>
        </mc:Choice>
        <mc:Fallback xmlns="">
          <p:sp>
            <p:nvSpPr>
              <p:cNvPr id="3" name="内容占位符 2">
                <a:extLst>
                  <a:ext uri="{FF2B5EF4-FFF2-40B4-BE49-F238E27FC236}">
                    <a16:creationId xmlns:a16="http://schemas.microsoft.com/office/drawing/2014/main" id="{9AD4632B-6E60-0A7F-CFBD-C34CA5D2EF6B}"/>
                  </a:ext>
                </a:extLst>
              </p:cNvPr>
              <p:cNvSpPr>
                <a:spLocks noGrp="1" noRot="1" noChangeAspect="1" noMove="1" noResize="1" noEditPoints="1" noAdjustHandles="1" noChangeArrowheads="1" noChangeShapeType="1" noTextEdit="1"/>
              </p:cNvSpPr>
              <p:nvPr>
                <p:ph idx="1"/>
              </p:nvPr>
            </p:nvSpPr>
            <p:spPr>
              <a:blipFill>
                <a:blip r:embed="rId2"/>
                <a:stretch>
                  <a:fillRect l="-696" t="-26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3266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7F9BBD-0245-8363-1C10-3ACA2934C2F2}"/>
              </a:ext>
            </a:extLst>
          </p:cNvPr>
          <p:cNvSpPr>
            <a:spLocks noGrp="1"/>
          </p:cNvSpPr>
          <p:nvPr>
            <p:ph type="title"/>
          </p:nvPr>
        </p:nvSpPr>
        <p:spPr/>
        <p:txBody>
          <a:bodyPr>
            <a:normAutofit/>
          </a:bodyPr>
          <a:lstStyle/>
          <a:p>
            <a:r>
              <a:rPr lang="en-US" altLang="zh-CN" b="1" dirty="0"/>
              <a:t>Proof for Properties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37E8F82-353D-5259-5795-7B338AD7C4CB}"/>
                  </a:ext>
                </a:extLst>
              </p:cNvPr>
              <p:cNvSpPr>
                <a:spLocks noGrp="1"/>
              </p:cNvSpPr>
              <p:nvPr>
                <p:ph idx="1"/>
              </p:nvPr>
            </p:nvSpPr>
            <p:spPr/>
            <p:txBody>
              <a:bodyPr>
                <a:normAutofit fontScale="77500" lnSpcReduction="20000"/>
              </a:bodyPr>
              <a:lstStyle/>
              <a:p>
                <a:r>
                  <a:rPr lang="en-US" altLang="zh-CN" b="1" dirty="0"/>
                  <a:t>1. Involution (Self-inverse)</a:t>
                </a:r>
              </a:p>
              <a:p>
                <a:r>
                  <a:rPr lang="en-US" altLang="zh-CN" b="1" dirty="0"/>
                  <a:t>Property:</a:t>
                </a:r>
                <a:r>
                  <a:rPr lang="en-US" altLang="zh-CN" dirty="0"/>
                  <a:t> Applying the Legendre transform twice returns the original function (for convex functions).</a:t>
                </a:r>
              </a:p>
              <a:p>
                <a:pPr marL="0" indent="0">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limLow>
                        <m:limLowPr>
                          <m:ctrlPr>
                            <a:rPr lang="ar-AE" altLang="zh-CN" i="1">
                              <a:latin typeface="Cambria Math" panose="02040503050406030204" pitchFamily="18" charset="0"/>
                            </a:rPr>
                          </m:ctrlPr>
                        </m:limLowPr>
                        <m:e>
                          <m:r>
                            <a:rPr lang="en-US" altLang="zh-CN" b="0" i="1" smtClean="0">
                              <a:latin typeface="Cambria Math" panose="02040503050406030204" pitchFamily="18" charset="0"/>
                            </a:rPr>
                            <m:t>𝑚𝑎𝑥</m:t>
                          </m:r>
                        </m:e>
                        <m:lim>
                          <m:r>
                            <a:rPr lang="zh-CN" altLang="ar-AE" i="1">
                              <a:latin typeface="Cambria Math" panose="02040503050406030204" pitchFamily="18" charset="0"/>
                            </a:rPr>
                            <m:t>𝑝</m:t>
                          </m:r>
                        </m:lim>
                      </m:limLow>
                      <m:r>
                        <a:rPr lang="ar-AE" altLang="zh-CN">
                          <a:latin typeface="Cambria Math" panose="02040503050406030204" pitchFamily="18" charset="0"/>
                        </a:rPr>
                        <m:t>(</m:t>
                      </m:r>
                      <m:r>
                        <a:rPr lang="zh-CN" altLang="ar-AE" i="1">
                          <a:latin typeface="Cambria Math" panose="02040503050406030204" pitchFamily="18" charset="0"/>
                        </a:rPr>
                        <m:t>𝑥𝑝</m:t>
                      </m:r>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oMath>
                  </m:oMathPara>
                </a14:m>
                <a:endParaRPr lang="ar-AE" altLang="zh-CN" dirty="0"/>
              </a:p>
              <a:p>
                <a:r>
                  <a:rPr lang="en-US" altLang="zh-CN" b="1" dirty="0"/>
                  <a:t>Proof sketch:</a:t>
                </a:r>
                <a:endParaRPr lang="en-US" altLang="zh-CN" dirty="0"/>
              </a:p>
              <a:p>
                <a:r>
                  <a:rPr lang="en-US" altLang="zh-CN" dirty="0"/>
                  <a:t>Start with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en-US" altLang="zh-CN" b="0" i="1" smtClean="0">
                            <a:latin typeface="Cambria Math" panose="02040503050406030204" pitchFamily="18" charset="0"/>
                          </a:rPr>
                          <m:t>𝑚𝑎𝑥</m:t>
                        </m:r>
                      </m:e>
                      <m:sub>
                        <m:r>
                          <a:rPr lang="zh-CN" altLang="ar-AE" i="1">
                            <a:latin typeface="Cambria Math" panose="02040503050406030204" pitchFamily="18" charset="0"/>
                          </a:rPr>
                          <m:t>𝑥</m:t>
                        </m:r>
                      </m:sub>
                    </m:sSub>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𝑝𝑥</m:t>
                        </m:r>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e>
                    </m:d>
                  </m:oMath>
                </a14:m>
                <a:r>
                  <a:rPr lang="ar-AE" altLang="zh-CN" dirty="0"/>
                  <a:t>, </a:t>
                </a:r>
                <a:r>
                  <a:rPr lang="en-US" altLang="zh-CN" dirty="0"/>
                  <a:t>and let </a:t>
                </a:r>
                <a14:m>
                  <m:oMath xmlns:m="http://schemas.openxmlformats.org/officeDocument/2006/math">
                    <m:r>
                      <a:rPr lang="zh-CN" altLang="en-US"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be the maximizer, so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𝑝𝑥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a:t>
                </a:r>
              </a:p>
              <a:p>
                <a:r>
                  <a:rPr lang="en-US" altLang="zh-CN" dirty="0"/>
                  <a:t>By definition,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 </a:t>
                </a:r>
                <a:r>
                  <a:rPr lang="en-US" altLang="zh-CN" dirty="0"/>
                  <a:t>and </a:t>
                </a:r>
                <a14:m>
                  <m:oMath xmlns:m="http://schemas.openxmlformats.org/officeDocument/2006/math">
                    <m:r>
                      <a:rPr lang="zh-CN" altLang="en-US"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a:t>
                </a:r>
              </a:p>
              <a:p>
                <a:r>
                  <a:rPr lang="en-US" altLang="zh-CN" dirty="0"/>
                  <a:t>Now consider the Legendre transform of </a:t>
                </a:r>
                <a14:m>
                  <m:oMath xmlns:m="http://schemas.openxmlformats.org/officeDocument/2006/math">
                    <m:r>
                      <a:rPr lang="zh-CN" altLang="en-US" i="1">
                        <a:latin typeface="Cambria Math" panose="02040503050406030204" pitchFamily="18" charset="0"/>
                      </a:rPr>
                      <m:t>𝑔</m:t>
                    </m:r>
                  </m:oMath>
                </a14:m>
                <a:r>
                  <a:rPr lang="en-US" altLang="zh-CN" dirty="0"/>
                  <a:t>: </a:t>
                </a:r>
                <a14:m>
                  <m:oMath xmlns:m="http://schemas.openxmlformats.org/officeDocument/2006/math">
                    <m:r>
                      <a:rPr lang="en-US" altLang="zh-CN" i="1">
                        <a:latin typeface="Cambria Math" panose="02040503050406030204" pitchFamily="18" charset="0"/>
                      </a:rPr>
                      <m:t>h</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en-US" altLang="zh-CN" b="0" i="1" smtClean="0">
                            <a:latin typeface="Cambria Math" panose="02040503050406030204" pitchFamily="18" charset="0"/>
                          </a:rPr>
                          <m:t>𝑚𝑎𝑥</m:t>
                        </m:r>
                      </m:e>
                      <m:sub>
                        <m:r>
                          <a:rPr lang="zh-CN" altLang="ar-AE" i="1">
                            <a:latin typeface="Cambria Math" panose="02040503050406030204" pitchFamily="18" charset="0"/>
                          </a:rPr>
                          <m:t>𝑝</m:t>
                        </m:r>
                      </m:sub>
                    </m:sSub>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𝑥𝑝</m:t>
                        </m:r>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a:t>
                </a:r>
              </a:p>
              <a:p>
                <a:r>
                  <a:rPr lang="en-US" altLang="zh-CN" dirty="0"/>
                  <a:t>The maximizer </a:t>
                </a:r>
                <a14:m>
                  <m:oMath xmlns:m="http://schemas.openxmlformats.org/officeDocument/2006/math">
                    <m:r>
                      <a:rPr lang="zh-CN" altLang="en-US" i="1">
                        <a:latin typeface="Cambria Math" panose="02040503050406030204" pitchFamily="18" charset="0"/>
                      </a:rPr>
                      <m:t>𝑝</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satisfies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e>
                    </m:d>
                  </m:oMath>
                </a14:m>
                <a:r>
                  <a:rPr lang="ar-AE" altLang="zh-CN" dirty="0"/>
                  <a:t>, </a:t>
                </a:r>
                <a:r>
                  <a:rPr lang="en-US" altLang="zh-CN" dirty="0"/>
                  <a:t>which implies </a:t>
                </a:r>
                <a14:m>
                  <m:oMath xmlns:m="http://schemas.openxmlformats.org/officeDocument/2006/math">
                    <m:r>
                      <a:rPr lang="zh-CN" altLang="en-US" i="1">
                        <a:latin typeface="Cambria Math" panose="02040503050406030204" pitchFamily="18" charset="0"/>
                      </a:rPr>
                      <m:t>𝑝</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a:t>
                </a:r>
              </a:p>
              <a:p>
                <a:r>
                  <a:rPr lang="en-US" altLang="zh-CN" dirty="0"/>
                  <a:t>Substituting: </a:t>
                </a:r>
                <a14:m>
                  <m:oMath xmlns:m="http://schemas.openxmlformats.org/officeDocument/2006/math">
                    <m:r>
                      <a:rPr lang="en-US" altLang="zh-CN" i="1">
                        <a:latin typeface="Cambria Math" panose="02040503050406030204" pitchFamily="18" charset="0"/>
                      </a:rPr>
                      <m:t>h</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𝑥𝑝</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e>
                    </m:d>
                    <m:r>
                      <a:rPr lang="ar-AE" altLang="zh-CN">
                        <a:latin typeface="Cambria Math" panose="02040503050406030204" pitchFamily="18" charset="0"/>
                      </a:rPr>
                      <m:t>=</m:t>
                    </m:r>
                    <m:r>
                      <a:rPr lang="zh-CN" altLang="ar-AE" i="1">
                        <a:latin typeface="Cambria Math" panose="02040503050406030204" pitchFamily="18" charset="0"/>
                      </a:rPr>
                      <m:t>𝑥</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zh-CN" altLang="ar-AE" i="1">
                            <a:latin typeface="Cambria Math" panose="02040503050406030204" pitchFamily="18" charset="0"/>
                          </a:rPr>
                          <m:t>𝑥</m:t>
                        </m:r>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e>
                    </m:d>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a:t>
                </a:r>
              </a:p>
              <a:p>
                <a:r>
                  <a:rPr lang="en-US" altLang="zh-CN" dirty="0"/>
                  <a:t>Hence </a:t>
                </a:r>
                <a14:m>
                  <m:oMath xmlns:m="http://schemas.openxmlformats.org/officeDocument/2006/math">
                    <m:r>
                      <a:rPr lang="en-US" altLang="zh-CN" i="1">
                        <a:latin typeface="Cambria Math" panose="02040503050406030204" pitchFamily="18" charset="0"/>
                      </a:rPr>
                      <m:t>h</m:t>
                    </m:r>
                    <m:r>
                      <a:rPr lang="en-US" altLang="zh-CN">
                        <a:latin typeface="Cambria Math" panose="02040503050406030204" pitchFamily="18" charset="0"/>
                      </a:rPr>
                      <m:t>=</m:t>
                    </m:r>
                    <m:r>
                      <a:rPr lang="zh-CN" altLang="en-US" i="1">
                        <a:latin typeface="Cambria Math" panose="02040503050406030204" pitchFamily="18" charset="0"/>
                      </a:rPr>
                      <m:t>𝑓</m:t>
                    </m:r>
                  </m:oMath>
                </a14:m>
                <a:r>
                  <a:rPr lang="en-US" altLang="zh-CN" dirty="0"/>
                  <a:t>. (Requires convexity to ensure uniqueness and differentiability.)</a:t>
                </a:r>
              </a:p>
            </p:txBody>
          </p:sp>
        </mc:Choice>
        <mc:Fallback xmlns="">
          <p:sp>
            <p:nvSpPr>
              <p:cNvPr id="3" name="内容占位符 2">
                <a:extLst>
                  <a:ext uri="{FF2B5EF4-FFF2-40B4-BE49-F238E27FC236}">
                    <a16:creationId xmlns:a16="http://schemas.microsoft.com/office/drawing/2014/main" id="{137E8F82-353D-5259-5795-7B338AD7C4CB}"/>
                  </a:ext>
                </a:extLst>
              </p:cNvPr>
              <p:cNvSpPr>
                <a:spLocks noGrp="1" noRot="1" noChangeAspect="1" noMove="1" noResize="1" noEditPoints="1" noAdjustHandles="1" noChangeArrowheads="1" noChangeShapeType="1" noTextEdit="1"/>
              </p:cNvSpPr>
              <p:nvPr>
                <p:ph idx="1"/>
              </p:nvPr>
            </p:nvSpPr>
            <p:spPr>
              <a:blipFill>
                <a:blip r:embed="rId2"/>
                <a:stretch>
                  <a:fillRect l="-696" t="-2661" b="-12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3119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44AFD-E14E-E020-3AA6-2E638B090527}"/>
              </a:ext>
            </a:extLst>
          </p:cNvPr>
          <p:cNvSpPr>
            <a:spLocks noGrp="1"/>
          </p:cNvSpPr>
          <p:nvPr>
            <p:ph type="title"/>
          </p:nvPr>
        </p:nvSpPr>
        <p:spPr/>
        <p:txBody>
          <a:bodyPr/>
          <a:lstStyle/>
          <a:p>
            <a:r>
              <a:rPr lang="en-US" altLang="zh-CN" b="1" dirty="0"/>
              <a:t>Proof for Properties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5CD96D4-9C81-9070-6FEF-F24BA86950F4}"/>
                  </a:ext>
                </a:extLst>
              </p:cNvPr>
              <p:cNvSpPr>
                <a:spLocks noGrp="1"/>
              </p:cNvSpPr>
              <p:nvPr>
                <p:ph idx="1"/>
              </p:nvPr>
            </p:nvSpPr>
            <p:spPr/>
            <p:txBody>
              <a:bodyPr>
                <a:normAutofit fontScale="92500" lnSpcReduction="10000"/>
              </a:bodyPr>
              <a:lstStyle/>
              <a:p>
                <a:r>
                  <a:rPr lang="en-US" altLang="zh-CN" b="1" dirty="0"/>
                  <a:t>2. Conjugate Variables</a:t>
                </a:r>
              </a:p>
              <a:p>
                <a:r>
                  <a:rPr lang="en-US" altLang="zh-CN" b="1" dirty="0"/>
                  <a:t>Property:</a:t>
                </a:r>
                <a:r>
                  <a:rPr lang="en-US" altLang="zh-CN" dirty="0"/>
                  <a:t> If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then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a:t>
                </a:r>
              </a:p>
              <a:p>
                <a:r>
                  <a:rPr lang="en-US" altLang="zh-CN" b="1" dirty="0"/>
                  <a:t>Proof sketch:</a:t>
                </a:r>
                <a:endParaRPr lang="en-US" altLang="zh-CN" dirty="0"/>
              </a:p>
              <a:p>
                <a:r>
                  <a:rPr lang="en-US" altLang="zh-CN" dirty="0"/>
                  <a:t>From the definition,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𝑝𝑥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 </a:t>
                </a:r>
                <a:r>
                  <a:rPr lang="en-US" altLang="zh-CN" dirty="0"/>
                  <a:t>where </a:t>
                </a:r>
                <a14:m>
                  <m:oMath xmlns:m="http://schemas.openxmlformats.org/officeDocument/2006/math">
                    <m:r>
                      <a:rPr lang="zh-CN" altLang="en-US"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satisfies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a:t>
                </a:r>
              </a:p>
              <a:p>
                <a:r>
                  <a:rPr lang="en-US" altLang="zh-CN" dirty="0"/>
                  <a:t>Differentiate </a:t>
                </a:r>
                <a14:m>
                  <m:oMath xmlns:m="http://schemas.openxmlformats.org/officeDocument/2006/math">
                    <m:r>
                      <a:rPr lang="zh-CN" altLang="en-US" i="1">
                        <a:latin typeface="Cambria Math" panose="02040503050406030204" pitchFamily="18" charset="0"/>
                      </a:rPr>
                      <m:t>𝑔</m:t>
                    </m:r>
                  </m:oMath>
                </a14:m>
                <a:r>
                  <a:rPr lang="en-US" altLang="zh-CN" dirty="0"/>
                  <a:t> with respect to </a:t>
                </a:r>
                <a14:m>
                  <m:oMath xmlns:m="http://schemas.openxmlformats.org/officeDocument/2006/math">
                    <m:r>
                      <a:rPr lang="zh-CN" altLang="en-US" i="1">
                        <a:latin typeface="Cambria Math" panose="02040503050406030204" pitchFamily="18" charset="0"/>
                      </a:rPr>
                      <m:t>𝑝</m:t>
                    </m:r>
                  </m:oMath>
                </a14:m>
                <a:r>
                  <a:rPr lang="en-US" altLang="zh-CN" dirty="0"/>
                  <a:t>:</a:t>
                </a:r>
              </a:p>
              <a:p>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𝑝</m:t>
                    </m:r>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𝑝</m:t>
                        </m:r>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e>
                    </m:d>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oMath>
                </a14:m>
                <a:endParaRPr lang="ar-AE" altLang="zh-CN" dirty="0"/>
              </a:p>
              <a:p>
                <a:r>
                  <a:rPr lang="en-US" altLang="zh-CN" dirty="0"/>
                  <a:t>Since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e>
                    </m:d>
                  </m:oMath>
                </a14:m>
                <a:r>
                  <a:rPr lang="ar-AE" altLang="zh-CN" dirty="0"/>
                  <a:t>, </a:t>
                </a:r>
                <a:r>
                  <a:rPr lang="en-US" altLang="zh-CN" dirty="0"/>
                  <a:t>the bracket vanishes, leaving </a:t>
                </a:r>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r>
                      <a:rPr lang="zh-CN" altLang="ar-AE" i="1">
                        <a:latin typeface="Cambria Math" panose="02040503050406030204" pitchFamily="18" charset="0"/>
                      </a:rPr>
                      <m:t>𝑥</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a:t>
                </a:r>
              </a:p>
              <a:p>
                <a:r>
                  <a:rPr lang="en-US" altLang="zh-CN" dirty="0"/>
                  <a:t>Thus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The variables are conjugate.</a:t>
                </a:r>
              </a:p>
            </p:txBody>
          </p:sp>
        </mc:Choice>
        <mc:Fallback xmlns="">
          <p:sp>
            <p:nvSpPr>
              <p:cNvPr id="3" name="内容占位符 2">
                <a:extLst>
                  <a:ext uri="{FF2B5EF4-FFF2-40B4-BE49-F238E27FC236}">
                    <a16:creationId xmlns:a16="http://schemas.microsoft.com/office/drawing/2014/main" id="{E5CD96D4-9C81-9070-6FEF-F24BA86950F4}"/>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92111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A408C-546B-C4AD-586B-2C0330ADC57A}"/>
              </a:ext>
            </a:extLst>
          </p:cNvPr>
          <p:cNvSpPr>
            <a:spLocks noGrp="1"/>
          </p:cNvSpPr>
          <p:nvPr>
            <p:ph type="title"/>
          </p:nvPr>
        </p:nvSpPr>
        <p:spPr/>
        <p:txBody>
          <a:bodyPr/>
          <a:lstStyle/>
          <a:p>
            <a:r>
              <a:rPr lang="en-US" altLang="zh-CN" b="1" dirty="0"/>
              <a:t>Proof for Properties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56A5BBD-FB7D-2AD9-96DA-5E9CF2ED42D3}"/>
                  </a:ext>
                </a:extLst>
              </p:cNvPr>
              <p:cNvSpPr>
                <a:spLocks noGrp="1"/>
              </p:cNvSpPr>
              <p:nvPr>
                <p:ph idx="1"/>
              </p:nvPr>
            </p:nvSpPr>
            <p:spPr/>
            <p:txBody>
              <a:bodyPr/>
              <a:lstStyle/>
              <a:p>
                <a:r>
                  <a:rPr lang="en-US" altLang="zh-CN" b="1" dirty="0"/>
                  <a:t>3. Young's Inequality</a:t>
                </a:r>
              </a:p>
              <a:p>
                <a:r>
                  <a:rPr lang="en-US" altLang="zh-CN" b="1" dirty="0"/>
                  <a:t>Property:</a:t>
                </a:r>
                <a:r>
                  <a:rPr lang="en-US" altLang="zh-CN" dirty="0"/>
                  <a:t> For any </a:t>
                </a:r>
                <a14:m>
                  <m:oMath xmlns:m="http://schemas.openxmlformats.org/officeDocument/2006/math">
                    <m:r>
                      <a:rPr lang="zh-CN" altLang="en-US" i="1">
                        <a:latin typeface="Cambria Math" panose="02040503050406030204" pitchFamily="18" charset="0"/>
                      </a:rPr>
                      <m:t>𝑥</m:t>
                    </m:r>
                  </m:oMath>
                </a14:m>
                <a:r>
                  <a:rPr lang="en-US" altLang="zh-CN" dirty="0"/>
                  <a:t> and </a:t>
                </a:r>
                <a14:m>
                  <m:oMath xmlns:m="http://schemas.openxmlformats.org/officeDocument/2006/math">
                    <m:r>
                      <a:rPr lang="zh-CN" altLang="en-US" i="1">
                        <a:latin typeface="Cambria Math" panose="02040503050406030204" pitchFamily="18" charset="0"/>
                      </a:rPr>
                      <m:t>𝑝</m:t>
                    </m:r>
                  </m:oMath>
                </a14:m>
                <a:r>
                  <a:rPr lang="en-US" altLang="zh-CN" dirty="0"/>
                  <a:t>,</a:t>
                </a:r>
              </a:p>
              <a:p>
                <a:pPr marL="0" indent="0">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𝑝𝑥</m:t>
                      </m:r>
                      <m:r>
                        <a:rPr lang="en-US" altLang="zh-CN">
                          <a:latin typeface="Cambria Math" panose="02040503050406030204" pitchFamily="18" charset="0"/>
                        </a:rPr>
                        <m:t>≤</m:t>
                      </m:r>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oMath>
                  </m:oMathPara>
                </a14:m>
                <a:endParaRPr lang="ar-AE" altLang="zh-CN" dirty="0"/>
              </a:p>
              <a:p>
                <a:r>
                  <a:rPr lang="en-US" altLang="zh-CN" dirty="0"/>
                  <a:t>with equality </a:t>
                </a:r>
                <a:r>
                  <a:rPr lang="en-US" altLang="zh-CN" dirty="0" err="1"/>
                  <a:t>iff</a:t>
                </a:r>
                <a:r>
                  <a:rPr lang="en-US" altLang="zh-CN" dirty="0"/>
                  <a:t>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or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𝑔</m:t>
                        </m:r>
                      </m:e>
                      <m:sup>
                        <m:r>
                          <a:rPr lang="ar-AE" altLang="zh-CN">
                            <a:latin typeface="Cambria Math" panose="02040503050406030204" pitchFamily="18" charset="0"/>
                          </a:rPr>
                          <m:t>′</m:t>
                        </m:r>
                      </m:sup>
                    </m:sSup>
                    <m:d>
                      <m:dPr>
                        <m:ctrlPr>
                          <a:rPr lang="ar-AE" altLang="zh-CN" i="1" smtClean="0">
                            <a:latin typeface="Cambria Math" panose="02040503050406030204" pitchFamily="18" charset="0"/>
                          </a:rPr>
                        </m:ctrlPr>
                      </m:dPr>
                      <m:e>
                        <m:r>
                          <a:rPr lang="zh-CN" altLang="ar-AE" i="1">
                            <a:latin typeface="Cambria Math" panose="02040503050406030204" pitchFamily="18" charset="0"/>
                          </a:rPr>
                          <m:t>𝑝</m:t>
                        </m:r>
                      </m:e>
                    </m:d>
                  </m:oMath>
                </a14:m>
                <a:endParaRPr lang="en-US" altLang="zh-CN" dirty="0"/>
              </a:p>
              <a:p>
                <a:r>
                  <a:rPr lang="en-US" altLang="zh-CN" b="1" dirty="0"/>
                  <a:t>Proof sketch:</a:t>
                </a:r>
                <a:endParaRPr lang="en-US" altLang="zh-CN" dirty="0"/>
              </a:p>
              <a:p>
                <a:r>
                  <a:rPr lang="en-US" altLang="zh-CN" dirty="0"/>
                  <a:t>By definition,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en-US" altLang="zh-CN" b="0" i="1" smtClean="0">
                            <a:latin typeface="Cambria Math" panose="02040503050406030204" pitchFamily="18" charset="0"/>
                          </a:rPr>
                          <m:t>𝑚𝑎𝑥</m:t>
                        </m:r>
                      </m:e>
                      <m:sub>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sub>
                    </m:sSub>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𝑝</m:t>
                        </m:r>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ar-AE" altLang="zh-CN">
                                    <a:latin typeface="Cambria Math" panose="02040503050406030204" pitchFamily="18" charset="0"/>
                                  </a:rPr>
                                  <m:t>′</m:t>
                                </m:r>
                              </m:sup>
                            </m:sSup>
                          </m:e>
                        </m:d>
                      </m:e>
                    </m:d>
                    <m:r>
                      <a:rPr lang="ar-AE" altLang="zh-CN">
                        <a:latin typeface="Cambria Math" panose="02040503050406030204" pitchFamily="18" charset="0"/>
                      </a:rPr>
                      <m:t>≥</m:t>
                    </m:r>
                    <m:r>
                      <a:rPr lang="zh-CN" altLang="ar-AE" i="1">
                        <a:latin typeface="Cambria Math" panose="02040503050406030204" pitchFamily="18" charset="0"/>
                      </a:rPr>
                      <m:t>𝑝𝑥</m:t>
                    </m:r>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for any </a:t>
                </a:r>
                <a14:m>
                  <m:oMath xmlns:m="http://schemas.openxmlformats.org/officeDocument/2006/math">
                    <m:r>
                      <a:rPr lang="zh-CN" altLang="en-US" i="1">
                        <a:latin typeface="Cambria Math" panose="02040503050406030204" pitchFamily="18" charset="0"/>
                      </a:rPr>
                      <m:t>𝑥</m:t>
                    </m:r>
                  </m:oMath>
                </a14:m>
                <a:r>
                  <a:rPr lang="en-US" altLang="zh-CN" dirty="0"/>
                  <a:t>.</a:t>
                </a:r>
              </a:p>
              <a:p>
                <a:r>
                  <a:rPr lang="en-US" altLang="zh-CN" dirty="0"/>
                  <a:t>Rearranging gives </a:t>
                </a:r>
                <a14:m>
                  <m:oMath xmlns:m="http://schemas.openxmlformats.org/officeDocument/2006/math">
                    <m:r>
                      <a:rPr lang="zh-CN" altLang="en-US" i="1">
                        <a:latin typeface="Cambria Math" panose="02040503050406030204" pitchFamily="18" charset="0"/>
                      </a:rPr>
                      <m:t>𝑝𝑥</m:t>
                    </m:r>
                    <m:r>
                      <a:rPr lang="en-US" altLang="zh-CN">
                        <a:latin typeface="Cambria Math" panose="02040503050406030204" pitchFamily="18" charset="0"/>
                      </a:rPr>
                      <m:t>≤</m:t>
                    </m:r>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a:t>
                </a:r>
              </a:p>
              <a:p>
                <a:r>
                  <a:rPr lang="en-US" altLang="zh-CN" dirty="0"/>
                  <a:t>Equality holds when </a:t>
                </a:r>
                <a14:m>
                  <m:oMath xmlns:m="http://schemas.openxmlformats.org/officeDocument/2006/math">
                    <m:r>
                      <a:rPr lang="zh-CN" altLang="en-US" i="1">
                        <a:latin typeface="Cambria Math" panose="02040503050406030204" pitchFamily="18" charset="0"/>
                      </a:rPr>
                      <m:t>𝑥</m:t>
                    </m:r>
                  </m:oMath>
                </a14:m>
                <a:r>
                  <a:rPr lang="en-US" altLang="zh-CN" dirty="0"/>
                  <a:t> is the maximizer, i.e.,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𝑓</m:t>
                        </m:r>
                      </m:e>
                      <m:sup>
                        <m:r>
                          <a:rPr lang="ar-AE" altLang="zh-CN">
                            <a:latin typeface="Cambria Math" panose="02040503050406030204" pitchFamily="18" charset="0"/>
                          </a:rPr>
                          <m:t>′</m:t>
                        </m:r>
                      </m:sup>
                    </m:sSup>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a:t>
                </a:r>
              </a:p>
              <a:p>
                <a:endParaRPr lang="zh-CN" altLang="en-US" dirty="0"/>
              </a:p>
            </p:txBody>
          </p:sp>
        </mc:Choice>
        <mc:Fallback xmlns="">
          <p:sp>
            <p:nvSpPr>
              <p:cNvPr id="3" name="内容占位符 2">
                <a:extLst>
                  <a:ext uri="{FF2B5EF4-FFF2-40B4-BE49-F238E27FC236}">
                    <a16:creationId xmlns:a16="http://schemas.microsoft.com/office/drawing/2014/main" id="{356A5BBD-FB7D-2AD9-96DA-5E9CF2ED42D3}"/>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48581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E07C1-98C2-06DF-05E5-77BFCEBE046C}"/>
              </a:ext>
            </a:extLst>
          </p:cNvPr>
          <p:cNvSpPr>
            <a:spLocks noGrp="1"/>
          </p:cNvSpPr>
          <p:nvPr>
            <p:ph type="title"/>
          </p:nvPr>
        </p:nvSpPr>
        <p:spPr/>
        <p:txBody>
          <a:bodyPr/>
          <a:lstStyle/>
          <a:p>
            <a:r>
              <a:rPr lang="en-US" altLang="zh-CN" b="1" dirty="0"/>
              <a:t>Proof for Properties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C3F8DA0-5EE5-B92D-D6FA-1CD5E6BF8BD8}"/>
                  </a:ext>
                </a:extLst>
              </p:cNvPr>
              <p:cNvSpPr>
                <a:spLocks noGrp="1"/>
              </p:cNvSpPr>
              <p:nvPr>
                <p:ph idx="1"/>
              </p:nvPr>
            </p:nvSpPr>
            <p:spPr/>
            <p:txBody>
              <a:bodyPr/>
              <a:lstStyle/>
              <a:p>
                <a:r>
                  <a:rPr lang="en-US" altLang="zh-CN" b="1" dirty="0"/>
                  <a:t>4. Convexity Preserved</a:t>
                </a:r>
              </a:p>
              <a:p>
                <a:r>
                  <a:rPr lang="en-US" altLang="zh-CN" b="1" dirty="0"/>
                  <a:t>Property:</a:t>
                </a:r>
                <a:r>
                  <a:rPr lang="en-US" altLang="zh-CN" dirty="0"/>
                  <a:t> If </a:t>
                </a:r>
                <a14:m>
                  <m:oMath xmlns:m="http://schemas.openxmlformats.org/officeDocument/2006/math">
                    <m:r>
                      <a:rPr lang="zh-CN" altLang="en-US" i="1">
                        <a:latin typeface="Cambria Math" panose="02040503050406030204" pitchFamily="18" charset="0"/>
                      </a:rPr>
                      <m:t>𝑓</m:t>
                    </m:r>
                  </m:oMath>
                </a14:m>
                <a:r>
                  <a:rPr lang="en-US" altLang="zh-CN" dirty="0"/>
                  <a:t> is convex, then </a:t>
                </a:r>
                <a14:m>
                  <m:oMath xmlns:m="http://schemas.openxmlformats.org/officeDocument/2006/math">
                    <m:r>
                      <a:rPr lang="zh-CN" altLang="en-US" i="1">
                        <a:latin typeface="Cambria Math" panose="02040503050406030204" pitchFamily="18" charset="0"/>
                      </a:rPr>
                      <m:t>𝑔</m:t>
                    </m:r>
                  </m:oMath>
                </a14:m>
                <a:r>
                  <a:rPr lang="en-US" altLang="zh-CN" dirty="0"/>
                  <a:t> is also convex.</a:t>
                </a:r>
              </a:p>
              <a:p>
                <a:r>
                  <a:rPr lang="en-US" altLang="zh-CN" b="1" dirty="0"/>
                  <a:t>Proof sketch:</a:t>
                </a:r>
                <a:endParaRPr lang="en-US" altLang="zh-CN" dirty="0"/>
              </a:p>
              <a:p>
                <a:r>
                  <a:rPr lang="en-US" altLang="zh-CN" dirty="0"/>
                  <a:t>Use the definition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en-US" altLang="zh-CN" b="0" i="1" smtClean="0">
                            <a:latin typeface="Cambria Math" panose="02040503050406030204" pitchFamily="18" charset="0"/>
                          </a:rPr>
                          <m:t>𝑚𝑎𝑥</m:t>
                        </m:r>
                      </m:e>
                      <m:sub>
                        <m:r>
                          <a:rPr lang="zh-CN" altLang="ar-AE" i="1">
                            <a:latin typeface="Cambria Math" panose="02040503050406030204" pitchFamily="18" charset="0"/>
                          </a:rPr>
                          <m:t>𝑥</m:t>
                        </m:r>
                      </m:sub>
                    </m:sSub>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𝑝𝑥</m:t>
                        </m:r>
                        <m:r>
                          <a:rPr lang="ar-AE" altLang="zh-CN">
                            <a:latin typeface="Cambria Math" panose="02040503050406030204" pitchFamily="18" charset="0"/>
                          </a:rPr>
                          <m:t>−</m:t>
                        </m:r>
                        <m:r>
                          <a:rPr lang="zh-CN" altLang="ar-AE"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e>
                    </m:d>
                  </m:oMath>
                </a14:m>
                <a:r>
                  <a:rPr lang="ar-AE" altLang="zh-CN" dirty="0"/>
                  <a:t>.</a:t>
                </a:r>
              </a:p>
              <a:p>
                <a:r>
                  <a:rPr lang="en-US" altLang="zh-CN" dirty="0"/>
                  <a:t>For fixed </a:t>
                </a:r>
                <a14:m>
                  <m:oMath xmlns:m="http://schemas.openxmlformats.org/officeDocument/2006/math">
                    <m:r>
                      <a:rPr lang="zh-CN" altLang="en-US" i="1">
                        <a:latin typeface="Cambria Math" panose="02040503050406030204" pitchFamily="18" charset="0"/>
                      </a:rPr>
                      <m:t>𝑥</m:t>
                    </m:r>
                  </m:oMath>
                </a14:m>
                <a:r>
                  <a:rPr lang="en-US" altLang="zh-CN" dirty="0"/>
                  <a:t>, the function </a:t>
                </a:r>
                <a14:m>
                  <m:oMath xmlns:m="http://schemas.openxmlformats.org/officeDocument/2006/math">
                    <m:r>
                      <a:rPr lang="zh-CN" altLang="en-US" i="1">
                        <a:latin typeface="Cambria Math" panose="02040503050406030204" pitchFamily="18" charset="0"/>
                      </a:rPr>
                      <m:t>𝑝</m:t>
                    </m:r>
                    <m:r>
                      <a:rPr lang="en-US" altLang="zh-CN">
                        <a:latin typeface="Cambria Math" panose="02040503050406030204" pitchFamily="18" charset="0"/>
                      </a:rPr>
                      <m:t>↦</m:t>
                    </m:r>
                    <m:r>
                      <a:rPr lang="zh-CN" altLang="en-US" i="1">
                        <a:latin typeface="Cambria Math" panose="02040503050406030204" pitchFamily="18" charset="0"/>
                      </a:rPr>
                      <m:t>𝑝𝑥</m:t>
                    </m:r>
                    <m:r>
                      <a:rPr lang="en-US" altLang="zh-CN">
                        <a:latin typeface="Cambria Math" panose="02040503050406030204" pitchFamily="18" charset="0"/>
                      </a:rPr>
                      <m:t>−</m:t>
                    </m:r>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oMath>
                </a14:m>
                <a:r>
                  <a:rPr lang="ar-AE" altLang="zh-CN" dirty="0"/>
                  <a:t> </a:t>
                </a:r>
                <a:r>
                  <a:rPr lang="en-US" altLang="zh-CN" dirty="0"/>
                  <a:t>is linear in </a:t>
                </a:r>
                <a14:m>
                  <m:oMath xmlns:m="http://schemas.openxmlformats.org/officeDocument/2006/math">
                    <m:r>
                      <a:rPr lang="zh-CN" altLang="en-US" i="1">
                        <a:latin typeface="Cambria Math" panose="02040503050406030204" pitchFamily="18" charset="0"/>
                      </a:rPr>
                      <m:t>𝑝</m:t>
                    </m:r>
                  </m:oMath>
                </a14:m>
                <a:r>
                  <a:rPr lang="en-US" altLang="zh-CN" dirty="0"/>
                  <a:t> (hence convex).</a:t>
                </a:r>
              </a:p>
              <a:p>
                <a:r>
                  <a:rPr lang="en-US" altLang="zh-CN" dirty="0"/>
                  <a:t>The pointwise maximum of a family of convex (actually linear) functions is convex.</a:t>
                </a:r>
              </a:p>
              <a:p>
                <a:r>
                  <a:rPr lang="en-US" altLang="zh-CN" dirty="0"/>
                  <a:t>Therefore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is convex.</a:t>
                </a:r>
              </a:p>
              <a:p>
                <a:endParaRPr lang="zh-CN" altLang="en-US" dirty="0"/>
              </a:p>
            </p:txBody>
          </p:sp>
        </mc:Choice>
        <mc:Fallback xmlns="">
          <p:sp>
            <p:nvSpPr>
              <p:cNvPr id="3" name="内容占位符 2">
                <a:extLst>
                  <a:ext uri="{FF2B5EF4-FFF2-40B4-BE49-F238E27FC236}">
                    <a16:creationId xmlns:a16="http://schemas.microsoft.com/office/drawing/2014/main" id="{4C3F8DA0-5EE5-B92D-D6FA-1CD5E6BF8BD8}"/>
                  </a:ext>
                </a:extLst>
              </p:cNvPr>
              <p:cNvSpPr>
                <a:spLocks noGrp="1" noRot="1" noChangeAspect="1" noMove="1" noResize="1" noEditPoints="1" noAdjustHandles="1" noChangeArrowheads="1" noChangeShapeType="1" noTextEdit="1"/>
              </p:cNvSpPr>
              <p:nvPr>
                <p:ph idx="1"/>
              </p:nvPr>
            </p:nvSpPr>
            <p:spPr>
              <a:blipFill>
                <a:blip r:embed="rId2"/>
                <a:stretch>
                  <a:fillRect l="-1043" t="-2521" b="-2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152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79773-DE99-BCFB-1FB7-82A85DA957EF}"/>
              </a:ext>
            </a:extLst>
          </p:cNvPr>
          <p:cNvSpPr>
            <a:spLocks noGrp="1"/>
          </p:cNvSpPr>
          <p:nvPr>
            <p:ph type="title"/>
          </p:nvPr>
        </p:nvSpPr>
        <p:spPr/>
        <p:txBody>
          <a:bodyPr/>
          <a:lstStyle/>
          <a:p>
            <a:r>
              <a:rPr lang="en-US" altLang="zh-CN" b="1" dirty="0"/>
              <a:t>Proof for Properties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F20012-9B66-86CC-F313-03CB4746E081}"/>
                  </a:ext>
                </a:extLst>
              </p:cNvPr>
              <p:cNvSpPr>
                <a:spLocks noGrp="1"/>
              </p:cNvSpPr>
              <p:nvPr>
                <p:ph idx="1"/>
              </p:nvPr>
            </p:nvSpPr>
            <p:spPr/>
            <p:txBody>
              <a:bodyPr>
                <a:normAutofit fontScale="92500" lnSpcReduction="20000"/>
              </a:bodyPr>
              <a:lstStyle/>
              <a:p>
                <a:r>
                  <a:rPr lang="en-US" altLang="zh-CN" b="1" dirty="0"/>
                  <a:t>5. Duality (Vector Space Interpretation)</a:t>
                </a:r>
              </a:p>
              <a:p>
                <a:r>
                  <a:rPr lang="en-US" altLang="zh-CN" b="1" dirty="0"/>
                  <a:t>Property:</a:t>
                </a:r>
                <a:r>
                  <a:rPr lang="en-US" altLang="zh-CN" dirty="0"/>
                  <a:t> The Legendre transform establishes a duality between a vector space </a:t>
                </a:r>
                <a14:m>
                  <m:oMath xmlns:m="http://schemas.openxmlformats.org/officeDocument/2006/math">
                    <m:r>
                      <a:rPr lang="zh-CN" altLang="en-US" i="1">
                        <a:latin typeface="Cambria Math" panose="02040503050406030204" pitchFamily="18" charset="0"/>
                      </a:rPr>
                      <m:t>𝑉</m:t>
                    </m:r>
                  </m:oMath>
                </a14:m>
                <a:r>
                  <a:rPr lang="en-US" altLang="zh-CN" dirty="0"/>
                  <a:t> and its dual space </a:t>
                </a:r>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𝑉</m:t>
                        </m:r>
                      </m:e>
                      <m:sup>
                        <m:r>
                          <a:rPr lang="ar-AE" altLang="zh-CN">
                            <a:latin typeface="Cambria Math" panose="02040503050406030204" pitchFamily="18" charset="0"/>
                          </a:rPr>
                          <m:t>∗</m:t>
                        </m:r>
                      </m:sup>
                    </m:sSup>
                  </m:oMath>
                </a14:m>
                <a:r>
                  <a:rPr lang="ar-AE" altLang="zh-CN" dirty="0"/>
                  <a:t>:</a:t>
                </a:r>
                <a:br>
                  <a:rPr lang="ar-AE" altLang="zh-CN" dirty="0"/>
                </a:br>
                <a14:m>
                  <m:oMath xmlns:m="http://schemas.openxmlformats.org/officeDocument/2006/math">
                    <m:r>
                      <a:rPr lang="zh-CN" altLang="ar-AE" i="1">
                        <a:latin typeface="Cambria Math" panose="02040503050406030204" pitchFamily="18" charset="0"/>
                      </a:rPr>
                      <m:t>𝑥</m:t>
                    </m:r>
                    <m:r>
                      <a:rPr lang="ar-AE" altLang="zh-CN">
                        <a:latin typeface="Cambria Math" panose="02040503050406030204" pitchFamily="18" charset="0"/>
                      </a:rPr>
                      <m:t>∈</m:t>
                    </m:r>
                    <m:r>
                      <a:rPr lang="zh-CN" altLang="ar-AE" i="1">
                        <a:latin typeface="Cambria Math" panose="02040503050406030204" pitchFamily="18" charset="0"/>
                      </a:rPr>
                      <m:t>𝑉</m:t>
                    </m:r>
                  </m:oMath>
                </a14:m>
                <a:r>
                  <a:rPr lang="ar-AE" altLang="zh-CN" dirty="0"/>
                  <a:t>, </a:t>
                </a:r>
                <a14:m>
                  <m:oMath xmlns:m="http://schemas.openxmlformats.org/officeDocument/2006/math">
                    <m:r>
                      <a:rPr lang="zh-CN" altLang="ar-AE" i="1">
                        <a:latin typeface="Cambria Math" panose="02040503050406030204" pitchFamily="18" charset="0"/>
                      </a:rPr>
                      <m:t>𝑝</m:t>
                    </m:r>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𝑉</m:t>
                        </m:r>
                      </m:e>
                      <m:sup>
                        <m:r>
                          <a:rPr lang="ar-AE" altLang="zh-CN">
                            <a:latin typeface="Cambria Math" panose="02040503050406030204" pitchFamily="18" charset="0"/>
                          </a:rPr>
                          <m:t>∗</m:t>
                        </m:r>
                      </m:sup>
                    </m:sSup>
                  </m:oMath>
                </a14:m>
                <a:r>
                  <a:rPr lang="ar-AE" altLang="zh-CN" dirty="0"/>
                  <a:t>, </a:t>
                </a:r>
                <a:r>
                  <a:rPr lang="en-US" altLang="zh-CN" dirty="0"/>
                  <a:t>with pairing </a:t>
                </a:r>
                <a14:m>
                  <m:oMath xmlns:m="http://schemas.openxmlformats.org/officeDocument/2006/math">
                    <m:d>
                      <m:dPr>
                        <m:begChr m:val="⟨"/>
                        <m:endChr m:val="⟩"/>
                        <m:sepChr m:val=","/>
                        <m:ctrlPr>
                          <a:rPr lang="ar-AE" altLang="zh-CN" i="1">
                            <a:latin typeface="Cambria Math" panose="02040503050406030204" pitchFamily="18" charset="0"/>
                          </a:rPr>
                        </m:ctrlPr>
                      </m:dPr>
                      <m:e>
                        <m:r>
                          <a:rPr lang="zh-CN" altLang="ar-AE" i="1">
                            <a:latin typeface="Cambria Math" panose="02040503050406030204" pitchFamily="18" charset="0"/>
                          </a:rPr>
                          <m:t>𝑝</m:t>
                        </m:r>
                      </m:e>
                      <m:e>
                        <m:r>
                          <a:rPr lang="zh-CN" altLang="ar-AE" i="1">
                            <a:latin typeface="Cambria Math" panose="02040503050406030204" pitchFamily="18" charset="0"/>
                          </a:rPr>
                          <m:t>𝑥</m:t>
                        </m:r>
                      </m:e>
                    </m:d>
                    <m:r>
                      <a:rPr lang="ar-AE" altLang="zh-CN">
                        <a:latin typeface="Cambria Math" panose="02040503050406030204" pitchFamily="18" charset="0"/>
                      </a:rPr>
                      <m:t>=</m:t>
                    </m:r>
                    <m:r>
                      <a:rPr lang="zh-CN" altLang="ar-AE" i="1">
                        <a:latin typeface="Cambria Math" panose="02040503050406030204" pitchFamily="18" charset="0"/>
                      </a:rPr>
                      <m:t>𝑝𝑥</m:t>
                    </m:r>
                  </m:oMath>
                </a14:m>
                <a:r>
                  <a:rPr lang="ar-AE" altLang="zh-CN" dirty="0"/>
                  <a:t>.</a:t>
                </a:r>
              </a:p>
              <a:p>
                <a:r>
                  <a:rPr lang="en-US" altLang="zh-CN" b="1" dirty="0"/>
                  <a:t>Proof sketch:</a:t>
                </a:r>
                <a:endParaRPr lang="en-US" altLang="zh-CN" dirty="0"/>
              </a:p>
              <a:p>
                <a:r>
                  <a:rPr lang="en-US" altLang="zh-CN" dirty="0"/>
                  <a:t>In finite dimensions, choose a basis. Then </a:t>
                </a:r>
                <a14:m>
                  <m:oMath xmlns:m="http://schemas.openxmlformats.org/officeDocument/2006/math">
                    <m:r>
                      <a:rPr lang="zh-CN" altLang="en-US" i="1">
                        <a:latin typeface="Cambria Math" panose="02040503050406030204" pitchFamily="18" charset="0"/>
                      </a:rPr>
                      <m:t>𝑓</m:t>
                    </m:r>
                  </m:oMath>
                </a14:m>
                <a:r>
                  <a:rPr lang="en-US" altLang="zh-CN" dirty="0"/>
                  <a:t> is a function on coordinates </a:t>
                </a:r>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zh-CN" altLang="ar-AE" i="1">
                            <a:latin typeface="Cambria Math" panose="02040503050406030204" pitchFamily="18" charset="0"/>
                          </a:rPr>
                          <m:t>𝑖</m:t>
                        </m:r>
                      </m:sup>
                    </m:sSup>
                  </m:oMath>
                </a14:m>
                <a:r>
                  <a:rPr lang="ar-AE" altLang="zh-CN" dirty="0"/>
                  <a:t>.</a:t>
                </a:r>
              </a:p>
              <a:p>
                <a:r>
                  <a:rPr lang="en-US" altLang="zh-CN" dirty="0"/>
                  <a:t>Its gradient </a:t>
                </a:r>
                <a14:m>
                  <m:oMath xmlns:m="http://schemas.openxmlformats.org/officeDocument/2006/math">
                    <m:r>
                      <a:rPr lang="en-US" altLang="zh-CN">
                        <a:latin typeface="Cambria Math" panose="02040503050406030204" pitchFamily="18" charset="0"/>
                      </a:rPr>
                      <m:t>𝜕</m:t>
                    </m:r>
                    <m:r>
                      <a:rPr lang="zh-CN" altLang="en-US" i="1">
                        <a:latin typeface="Cambria Math" panose="02040503050406030204" pitchFamily="18" charset="0"/>
                      </a:rPr>
                      <m:t>𝑓</m:t>
                    </m:r>
                    <m:r>
                      <a:rPr lang="en-US" altLang="zh-CN">
                        <a:latin typeface="Cambria Math" panose="02040503050406030204" pitchFamily="18" charset="0"/>
                      </a:rPr>
                      <m:t>/</m:t>
                    </m:r>
                    <m:r>
                      <a:rPr lang="en-US"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𝑥</m:t>
                        </m:r>
                      </m:e>
                      <m:sup>
                        <m:r>
                          <a:rPr lang="zh-CN" altLang="ar-AE" i="1">
                            <a:latin typeface="Cambria Math" panose="02040503050406030204" pitchFamily="18" charset="0"/>
                          </a:rPr>
                          <m:t>𝑖</m:t>
                        </m:r>
                      </m:sup>
                    </m:sSup>
                  </m:oMath>
                </a14:m>
                <a:r>
                  <a:rPr lang="ar-AE" altLang="zh-CN" dirty="0"/>
                  <a:t> </a:t>
                </a:r>
                <a:r>
                  <a:rPr lang="en-US" altLang="zh-CN" dirty="0"/>
                  <a:t>lives in the dual space.</a:t>
                </a:r>
              </a:p>
              <a:p>
                <a:r>
                  <a:rPr lang="en-US" altLang="zh-CN" dirty="0"/>
                  <a:t>The Legendre transform </a:t>
                </a:r>
                <a14:m>
                  <m:oMath xmlns:m="http://schemas.openxmlformats.org/officeDocument/2006/math">
                    <m:r>
                      <a:rPr lang="zh-CN" altLang="en-US" i="1">
                        <a:latin typeface="Cambria Math" panose="02040503050406030204" pitchFamily="18" charset="0"/>
                      </a:rPr>
                      <m:t>𝑔</m:t>
                    </m:r>
                    <m:d>
                      <m:dPr>
                        <m:ctrlPr>
                          <a:rPr lang="ar-AE" altLang="zh-CN" i="1">
                            <a:latin typeface="Cambria Math" panose="02040503050406030204" pitchFamily="18" charset="0"/>
                          </a:rPr>
                        </m:ctrlPr>
                      </m:dPr>
                      <m:e>
                        <m:r>
                          <a:rPr lang="zh-CN" altLang="ar-AE" i="1">
                            <a:latin typeface="Cambria Math" panose="02040503050406030204" pitchFamily="18" charset="0"/>
                          </a:rPr>
                          <m:t>𝑝</m:t>
                        </m:r>
                      </m:e>
                    </m:d>
                  </m:oMath>
                </a14:m>
                <a:r>
                  <a:rPr lang="ar-AE" altLang="zh-CN" dirty="0"/>
                  <a:t> </a:t>
                </a:r>
                <a:r>
                  <a:rPr lang="en-US" altLang="zh-CN" dirty="0"/>
                  <a:t>is a function on the dual coordinates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𝑝</m:t>
                        </m:r>
                      </m:e>
                      <m:sub>
                        <m:r>
                          <a:rPr lang="zh-CN" altLang="ar-AE" i="1">
                            <a:latin typeface="Cambria Math" panose="02040503050406030204" pitchFamily="18" charset="0"/>
                          </a:rPr>
                          <m:t>𝑖</m:t>
                        </m:r>
                      </m:sub>
                    </m:sSub>
                  </m:oMath>
                </a14:m>
                <a:r>
                  <a:rPr lang="ar-AE" altLang="zh-CN" dirty="0"/>
                  <a:t>.</a:t>
                </a:r>
              </a:p>
              <a:p>
                <a:r>
                  <a:rPr lang="en-US" altLang="zh-CN" dirty="0"/>
                  <a:t>The involution property shows the symmetry: the double transform returns to the original space.</a:t>
                </a:r>
              </a:p>
            </p:txBody>
          </p:sp>
        </mc:Choice>
        <mc:Fallback xmlns="">
          <p:sp>
            <p:nvSpPr>
              <p:cNvPr id="3" name="内容占位符 2">
                <a:extLst>
                  <a:ext uri="{FF2B5EF4-FFF2-40B4-BE49-F238E27FC236}">
                    <a16:creationId xmlns:a16="http://schemas.microsoft.com/office/drawing/2014/main" id="{92F20012-9B66-86CC-F313-03CB4746E081}"/>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161003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3486</Words>
  <Application>Microsoft Office PowerPoint</Application>
  <PresentationFormat>宽屏</PresentationFormat>
  <Paragraphs>244</Paragraphs>
  <Slides>28</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KaTeX_Caligraphic</vt:lpstr>
      <vt:lpstr>KaTeX_Main</vt:lpstr>
      <vt:lpstr>KaTeX_Math</vt:lpstr>
      <vt:lpstr>KaTeX_Size1</vt:lpstr>
      <vt:lpstr>quote-cjk-patch</vt:lpstr>
      <vt:lpstr>等线</vt:lpstr>
      <vt:lpstr>等线 Light</vt:lpstr>
      <vt:lpstr>Arial</vt:lpstr>
      <vt:lpstr>Cambria Math</vt:lpstr>
      <vt:lpstr>Times New Roman</vt:lpstr>
      <vt:lpstr>Office 主题​​</vt:lpstr>
      <vt:lpstr>Legendre transformation</vt:lpstr>
      <vt:lpstr>Introduction</vt:lpstr>
      <vt:lpstr>PowerPoint 演示文稿</vt:lpstr>
      <vt:lpstr>The role of Legendre transformation  in thermodynamics</vt:lpstr>
      <vt:lpstr>conjugate variables</vt:lpstr>
      <vt:lpstr>Why is it called conjugate</vt:lpstr>
      <vt:lpstr> Legendre Transform</vt:lpstr>
      <vt:lpstr>Mathematical Definition</vt:lpstr>
      <vt:lpstr>Mathematical Derivation</vt:lpstr>
      <vt:lpstr>Geometric Interpretation</vt:lpstr>
      <vt:lpstr>Geometric Meaning</vt:lpstr>
      <vt:lpstr>Extension to Multiple Variables</vt:lpstr>
      <vt:lpstr>Conjugate Variables and Differentials</vt:lpstr>
      <vt:lpstr>Properties in the Multivariate Setting</vt:lpstr>
      <vt:lpstr>Legendre Transform in Thermodynamics</vt:lpstr>
      <vt:lpstr>Legendre Transform in Thermodynamics</vt:lpstr>
      <vt:lpstr>Legendre Transform in Thermodynamics</vt:lpstr>
      <vt:lpstr>Legendre Transform in Thermodynamics</vt:lpstr>
      <vt:lpstr>Legendre Transform in Thermodynamics</vt:lpstr>
      <vt:lpstr>Legendre Transform in Thermodynamics</vt:lpstr>
      <vt:lpstr>Supplementary Information</vt:lpstr>
      <vt:lpstr>Properties of the Legendre Transform</vt:lpstr>
      <vt:lpstr>Properties of the Legendre Transform</vt:lpstr>
      <vt:lpstr>Proof for Properties</vt:lpstr>
      <vt:lpstr>Proof for Properties</vt:lpstr>
      <vt:lpstr>Proof for Properties</vt:lpstr>
      <vt:lpstr>Proof for Properties</vt:lpstr>
      <vt:lpstr>Proof for Properties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浩芮 孙</dc:creator>
  <cp:lastModifiedBy>Valerij Sablin</cp:lastModifiedBy>
  <cp:revision>6</cp:revision>
  <dcterms:created xsi:type="dcterms:W3CDTF">2026-03-11T15:34:03Z</dcterms:created>
  <dcterms:modified xsi:type="dcterms:W3CDTF">2026-03-20T12:41:13Z</dcterms:modified>
</cp:coreProperties>
</file>