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3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5FCB"/>
    <a:srgbClr val="B4326A"/>
    <a:srgbClr val="33ACCD"/>
    <a:srgbClr val="26849E"/>
    <a:srgbClr val="C91D3E"/>
    <a:srgbClr val="1EB4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835" y="9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1729B-7CD2-4C3A-83A8-D1D946B8CEA9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AA2333-BB22-4EB9-A40E-796505EC21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937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A2333-BB22-4EB9-A40E-796505EC210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673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A2333-BB22-4EB9-A40E-796505EC210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002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A2333-BB22-4EB9-A40E-796505EC210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2422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A2333-BB22-4EB9-A40E-796505EC210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4661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A2333-BB22-4EB9-A40E-796505EC210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8266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A2333-BB22-4EB9-A40E-796505EC210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7633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A2333-BB22-4EB9-A40E-796505EC210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694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A2333-BB22-4EB9-A40E-796505EC210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0887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A2333-BB22-4EB9-A40E-796505EC210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143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5FF0DE-246A-4B38-BAD4-197F36324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2148F1C-B80B-48AC-A8AC-CCC6782569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C54738-974C-45B3-856F-320430690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9A15C-AD25-44B7-A3B0-81CADF59D389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388D6C-BA8D-49BF-B5EA-BF3AF3285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F82070-A9E8-48CC-A28C-A6F138E63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6C390-4C47-48F2-8D78-8CDCF8FAB6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748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438FFD-2874-40F2-BDF5-2DBCBA2BB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DD7FCF-D840-41B7-A7A5-FDC9DCADB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94054F-7595-4D73-B93A-802A3BC67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9A15C-AD25-44B7-A3B0-81CADF59D389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5CEEEB-B755-4176-AEF0-3CB32DBD2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C11AAE-0AEF-4D0D-8934-29854565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6C390-4C47-48F2-8D78-8CDCF8FAB6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3937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3EDE21-CD7D-48F6-8F04-FCAA87F41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8A89CA-7334-4A38-9112-96CC4CB7A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2A5F46-7B14-4187-8D22-EE45A12BC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9A15C-AD25-44B7-A3B0-81CADF59D389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AAC742-3FFB-4867-81BB-E9A47EAB1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DB5900-3CE3-44DB-B96B-1260A787F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6C390-4C47-48F2-8D78-8CDCF8FAB6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399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F2217E-3D97-40A6-A77D-F95FF004F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7AD9E0-43E3-4550-A958-71FD861BAC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B7C0E2-E2F6-4550-BA5A-F4D03C838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8D8490-BAE2-4F6A-840E-DB8F103F3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9A15C-AD25-44B7-A3B0-81CADF59D389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A1F2D2-12BA-4390-B832-1D1C92EE2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3BE4DC-D4F2-408C-A122-75D55FAB1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6C390-4C47-48F2-8D78-8CDCF8FAB6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159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02861E-EF37-4B4D-92B3-410E8A227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5FD0B9-EFDD-4FCD-A6C4-8E5B874EA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497EF4-439C-4730-809D-FC39CC1634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E4DF66B-91DA-41CB-A52E-AAFCAEE756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6A92C69-9F4F-412A-95A0-DBBA366E83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04CB8FC-62FC-45F0-BE92-3208538FB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9A15C-AD25-44B7-A3B0-81CADF59D389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302051B-EB79-4BCF-9BF1-9516C940B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3B97393-6FAD-4E85-9319-BDD99A0DD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6C390-4C47-48F2-8D78-8CDCF8FAB6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0599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E2EF5C-4EAC-4012-87FD-75B1D6919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50CA099-E3A8-4B54-A732-DF83DB8B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9A15C-AD25-44B7-A3B0-81CADF59D389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E77CB97-2A3F-4454-998A-1511D8A87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65DF301-5149-4F50-BD09-B212AB948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6C390-4C47-48F2-8D78-8CDCF8FAB6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920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3A8C517-38CC-49DB-97EC-EC7605B3A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9A15C-AD25-44B7-A3B0-81CADF59D389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8720C41-8C29-4525-A238-B46AC839A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7C45B8-C7D1-4908-B491-48230D3D9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6C390-4C47-48F2-8D78-8CDCF8FAB6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305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C8CBEA-EE5A-41E5-82E7-CE9512C29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0799D0-1914-4475-8241-9B3631831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BE00DA7-4403-4F68-86A9-562D852D09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E41690-CAD2-4304-999A-51A892B91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9A15C-AD25-44B7-A3B0-81CADF59D389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AE652D-42BE-4767-AFF6-15EA513F6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CA80C9-C0F7-4921-B64C-54EAA8336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6C390-4C47-48F2-8D78-8CDCF8FAB6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211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AFD76B-ED4F-49BC-BEDB-969545B2C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20D0373-4FF6-4E0D-9598-6EE11CD516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C28701-354B-4678-8CF8-E2FCA824AB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95CA3C-102F-46F3-A45D-4287F2970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9A15C-AD25-44B7-A3B0-81CADF59D389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9C64CE7-4BFF-47AD-B08C-F1EE343A7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764BCBD-4F6D-4288-9A01-4A19B4895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6C390-4C47-48F2-8D78-8CDCF8FAB6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10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E43005-7D0A-4CFA-9942-17074AA63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D080925-EE64-48B0-8661-04EFAE03FA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81C08C-7BDA-417A-B969-AA43F694D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9A15C-AD25-44B7-A3B0-81CADF59D389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7B03A4-A7DA-4DF9-944E-3C0195100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BD66AB-E4B9-4597-B57A-68A029039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6C390-4C47-48F2-8D78-8CDCF8FAB6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331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EA9F715-DBE7-4699-9CE8-0DD5FD718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0C73C2-92D0-4C24-AA05-70E04D334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FC33F4-7D1F-4C86-87D7-38F6B33AA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9A15C-AD25-44B7-A3B0-81CADF59D389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40590F-EE92-43D8-BAA2-DB08B9E96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25535B-70A6-4F81-BFEB-4D1B5A014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6C390-4C47-48F2-8D78-8CDCF8FAB6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29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E1B62E7-5C29-4D1C-8297-02FDAA06B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8DCA00-610C-405F-9324-1B7990E94A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319370-3A1F-45E8-B7C5-40531C4E52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D9A15C-AD25-44B7-A3B0-81CADF59D389}" type="datetimeFigureOut">
              <a:rPr lang="zh-CN" altLang="en-US" smtClean="0"/>
              <a:t>2024/6/4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40BE71-DAB2-4B7D-A106-49EBC818DC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2FA9D2-4260-41C6-BA8E-5F5C891519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6C390-4C47-48F2-8D78-8CDCF8FAB6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623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8B1B10-27F4-4BE3-966C-7C37CB957B18}"/>
              </a:ext>
            </a:extLst>
          </p:cNvPr>
          <p:cNvSpPr txBox="1"/>
          <p:nvPr/>
        </p:nvSpPr>
        <p:spPr>
          <a:xfrm>
            <a:off x="1" y="6822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16.1 (a)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讨论为什么在气相中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BCl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以离散分子的形式存在，而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AlCl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则形成二聚体（如图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16.16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所示，第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617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页）。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2A8EC44-3A06-4FF4-8F6D-96406E4E16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378" t="13065"/>
          <a:stretch/>
        </p:blipFill>
        <p:spPr>
          <a:xfrm>
            <a:off x="6146121" y="950688"/>
            <a:ext cx="3652899" cy="132507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DE28EAC-BD91-4633-A495-833BEB4E4DA1}"/>
              </a:ext>
            </a:extLst>
          </p:cNvPr>
          <p:cNvSpPr txBox="1"/>
          <p:nvPr/>
        </p:nvSpPr>
        <p:spPr>
          <a:xfrm>
            <a:off x="1" y="2176816"/>
            <a:ext cx="12192000" cy="3782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答：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(1) BCl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AlCl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的不同行为主要源于它们各自的</a:t>
            </a:r>
            <a:r>
              <a:rPr lang="zh-CN" altLang="en-US" b="1" dirty="0">
                <a:solidFill>
                  <a:srgbClr val="1EB457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电子结构和原子半径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BCl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中的硼原子虽然也是一个缺电子原子，具有空的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轨道，但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硼原子的原子半径较小且电荷密度高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BCl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的轨道之间的重叠或能量匹配较差，不易形成二聚体。因此，在气相中，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BCl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分子之间不会形成强的相互作用力，而是以单独的分子形式存在。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(2) 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AlCl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₃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中的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铝原子有更大的原子半径和较低的电荷密度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，使得它更容易通过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轨道与相邻的氯原子形成桥接，从而形成二聚体。因此，在气相中，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AlCl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分子倾向于通过</a:t>
            </a:r>
            <a:r>
              <a:rPr lang="zh-CN" altLang="en-US" b="1" dirty="0">
                <a:solidFill>
                  <a:srgbClr val="C91D3E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氯桥键连接在一起，形成二聚体或更大的聚合物结构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(3) 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BCl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₃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分子由于硼和氯原子之间较强的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B-Cl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键，其结构保持为</a:t>
            </a:r>
            <a:r>
              <a:rPr lang="zh-CN" altLang="en-US" b="1" dirty="0">
                <a:solidFill>
                  <a:srgbClr val="00B05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平面三角形，这种结构在气相中是稳定的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。而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AlCl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₃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的铝原子可以使用</a:t>
            </a:r>
            <a:r>
              <a:rPr lang="zh-CN" altLang="en-US" b="1" dirty="0">
                <a:solidFill>
                  <a:schemeClr val="accent4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其空的</a:t>
            </a:r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</a:t>
            </a:r>
            <a:r>
              <a:rPr lang="zh-CN" altLang="en-US" b="1" dirty="0">
                <a:solidFill>
                  <a:schemeClr val="accent4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轨道与相邻的氯原子的孤对电子形成配位键，导致形成</a:t>
            </a:r>
            <a:r>
              <a:rPr lang="en-US" altLang="zh-CN" b="1" dirty="0" err="1">
                <a:solidFill>
                  <a:schemeClr val="accent4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Al₂Cl</a:t>
            </a:r>
            <a:r>
              <a:rPr lang="en-US" altLang="zh-CN" b="1" dirty="0">
                <a:solidFill>
                  <a:schemeClr val="accent4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₆</a:t>
            </a:r>
            <a:r>
              <a:rPr lang="zh-CN" altLang="en-US" b="1" dirty="0">
                <a:solidFill>
                  <a:schemeClr val="accent4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的二聚体结构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。这种二聚体结构在气相中也是稳定的，因为它减少了铝原子的电子不足，从而降低了整体能量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F8C9020-76E5-4535-A5E4-7D698E873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5905" y="698074"/>
            <a:ext cx="3272020" cy="181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595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8B1B10-27F4-4BE3-966C-7C37CB957B18}"/>
              </a:ext>
            </a:extLst>
          </p:cNvPr>
          <p:cNvSpPr txBox="1"/>
          <p:nvPr/>
        </p:nvSpPr>
        <p:spPr>
          <a:xfrm>
            <a:off x="1" y="6822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16.1 (b)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解释为什么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H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6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有时被描述为“缺电子”分子。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E28EAC-BD91-4633-A495-833BEB4E4DA1}"/>
              </a:ext>
            </a:extLst>
          </p:cNvPr>
          <p:cNvSpPr txBox="1"/>
          <p:nvPr/>
        </p:nvSpPr>
        <p:spPr>
          <a:xfrm>
            <a:off x="1" y="2176816"/>
            <a:ext cx="12192000" cy="3782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答：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(1) </a:t>
            </a:r>
            <a:r>
              <a:rPr lang="zh-CN" altLang="en-US" b="1" dirty="0">
                <a:solidFill>
                  <a:srgbClr val="0070C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在乙硼烷的结构中，价电子的数量少于形成传统二中心二电子（</a:t>
            </a:r>
            <a:r>
              <a:rPr lang="en-US" altLang="zh-CN" b="1" dirty="0">
                <a:solidFill>
                  <a:srgbClr val="0070C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2c-2e</a:t>
            </a:r>
            <a:r>
              <a:rPr lang="zh-CN" altLang="en-US" b="1" dirty="0">
                <a:solidFill>
                  <a:srgbClr val="0070C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）共价键所需的电子数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。在一个典型的共价分子中，每对原子之间的键由两个电子组成。然而，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</a:t>
            </a:r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B₂H₆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分子中，两个硼原子和六个氢原子共有</a:t>
            </a:r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12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个价电子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，这些电子不足以形成传统的共价键。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(2) B₂H₆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分子是</a:t>
            </a:r>
            <a:r>
              <a:rPr lang="zh-CN" altLang="en-US" b="1" dirty="0">
                <a:solidFill>
                  <a:srgbClr val="26849E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三中心两电子（</a:t>
            </a:r>
            <a:r>
              <a:rPr lang="en-US" altLang="zh-CN" b="1" dirty="0">
                <a:solidFill>
                  <a:srgbClr val="26849E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3c-2e</a:t>
            </a:r>
            <a:r>
              <a:rPr lang="zh-CN" altLang="en-US" b="1" dirty="0">
                <a:solidFill>
                  <a:srgbClr val="26849E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键，在这种键中，两个电子被三个原子共享，而不是两个。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B₂H₆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分子中有两个这样的键，每个键连接一个硼原子和两个氢原子。这种结构允许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B₂H₆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分子稳定存在，尽管它看起来像是“缺电子”的。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(3)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这种多中心键的形成增加了最高占据分子轨道（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HOMO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）电子的离域范围，使得与最低未占据分子轨道（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LUMO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）的能级差增加，从而使分子更稳定。因此，尽管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B₂H₆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的硼原子没有足够的价电子来形成传统的共价键，但通过形成多中心键，它能够达到一种稳定的电子配置。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DFA5B03-71D6-4F9A-96A5-E4E6BEBCD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084" y="260967"/>
            <a:ext cx="4887832" cy="233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52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8B1B10-27F4-4BE3-966C-7C37CB957B18}"/>
              </a:ext>
            </a:extLst>
          </p:cNvPr>
          <p:cNvSpPr txBox="1"/>
          <p:nvPr/>
        </p:nvSpPr>
        <p:spPr>
          <a:xfrm>
            <a:off x="1" y="6822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16.1 (c)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假设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Al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sp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杂化，描述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Al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Cl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6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二聚体中的键合。这个分子是缺电子的吗？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E28EAC-BD91-4633-A495-833BEB4E4DA1}"/>
              </a:ext>
            </a:extLst>
          </p:cNvPr>
          <p:cNvSpPr txBox="1"/>
          <p:nvPr/>
        </p:nvSpPr>
        <p:spPr>
          <a:xfrm>
            <a:off x="1" y="2176816"/>
            <a:ext cx="12192000" cy="4195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答：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(1)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在假设铝原子是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sp³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杂化的情况下，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Al₂Cl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₆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二聚体中的键合可以这样描述：每个铝原子通过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sp³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杂化形成四个等价的杂化轨道。在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Al₂Cl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₆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中，两个铝原子之间没有直接的化学键，而是通过桥接的氯原子相连。每个铝原子与三个氯原子形成传统的两中心两电子（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2c-2e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）共价键，而另外两个氯原子则作为桥接原子，与两个铝原子共享，形成两个三中心四电子（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3c-4e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）键。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(2)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这个分子是否缺电子？从传统的视角来看，如果我们只考虑两中心两电子共价键，那么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Al₂Cl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₆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看起来是缺电子的，因为每个铝原子只有三个价电子用于形成共价键。然而，</a:t>
            </a:r>
            <a:r>
              <a:rPr lang="zh-CN" altLang="en-US" b="1" dirty="0">
                <a:solidFill>
                  <a:srgbClr val="0070C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由于桥接的氯原子提供了额外的电子，使得每个铝原子都参与了四个键，这样就补足了缺少的电子，因此从整体上看，</a:t>
            </a:r>
            <a:r>
              <a:rPr lang="en-US" altLang="zh-CN" b="1" dirty="0" err="1">
                <a:solidFill>
                  <a:srgbClr val="0070C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Al₂Cl</a:t>
            </a:r>
            <a:r>
              <a:rPr lang="en-US" altLang="zh-CN" b="1" dirty="0">
                <a:solidFill>
                  <a:srgbClr val="0070C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₆</a:t>
            </a:r>
            <a:r>
              <a:rPr lang="zh-CN" altLang="en-US" b="1" dirty="0">
                <a:solidFill>
                  <a:srgbClr val="0070C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分子并不缺电子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(3)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在这个结构中，每个铝原子都与四个氯原子相连，形成了一个四面体结构。桥接的氯原子同时与两个铝原子相连，形成了三中心四电子键。这种结构使得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Al₂Cl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₆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分子在电子上是完整的，不缺电子。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E6B64A9-3565-4983-B4E4-227CF665E1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378" t="13065"/>
          <a:stretch/>
        </p:blipFill>
        <p:spPr>
          <a:xfrm>
            <a:off x="3885996" y="627307"/>
            <a:ext cx="4420008" cy="160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906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8B1B10-27F4-4BE3-966C-7C37CB957B18}"/>
              </a:ext>
            </a:extLst>
          </p:cNvPr>
          <p:cNvSpPr txBox="1"/>
          <p:nvPr/>
        </p:nvSpPr>
        <p:spPr>
          <a:xfrm>
            <a:off x="1" y="6822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16.3 (a)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合理解释下列三种水合离子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pKa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值的趋势。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E28EAC-BD91-4633-A495-833BEB4E4DA1}"/>
              </a:ext>
            </a:extLst>
          </p:cNvPr>
          <p:cNvSpPr txBox="1"/>
          <p:nvPr/>
        </p:nvSpPr>
        <p:spPr>
          <a:xfrm>
            <a:off x="1" y="2176816"/>
            <a:ext cx="12192000" cy="2951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答：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(1)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首先，钾离子（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K+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）的电荷最低，为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+1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，因此它对水的</a:t>
            </a:r>
            <a:r>
              <a:rPr lang="zh-CN" altLang="en-US" b="1" dirty="0">
                <a:solidFill>
                  <a:srgbClr val="00B05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极化作用最弱，这意味着它的酸性最弱，所以它的</a:t>
            </a:r>
            <a:r>
              <a:rPr lang="en-US" altLang="zh-CN" b="1" dirty="0" err="1">
                <a:solidFill>
                  <a:srgbClr val="00B05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pK</a:t>
            </a:r>
            <a:r>
              <a:rPr lang="en-US" altLang="zh-CN" b="1" baseline="-25000" dirty="0" err="1">
                <a:solidFill>
                  <a:srgbClr val="00B05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a</a:t>
            </a:r>
            <a:r>
              <a:rPr lang="zh-CN" altLang="en-US" b="1" dirty="0">
                <a:solidFill>
                  <a:srgbClr val="00B05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值最高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14.5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。其次，钙离子（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Ca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2+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）的电荷更高，为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+2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，因此它对</a:t>
            </a:r>
            <a:r>
              <a:rPr lang="zh-CN" altLang="en-US" b="1" dirty="0">
                <a:solidFill>
                  <a:srgbClr val="0070C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水的极化作用更强，使得水的解离更容易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，所以它的酸性更强，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pK</a:t>
            </a:r>
            <a:r>
              <a:rPr lang="en-US" altLang="zh-CN" baseline="-25000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a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值更低，为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12.8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。最后，镓离子（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Ga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3+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）的电荷最高，为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+3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，因此它对水的极化作用最强，这使得水的解离最容易，所以它的酸性最强，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pK</a:t>
            </a:r>
            <a:r>
              <a:rPr lang="en-US" altLang="zh-CN" baseline="-25000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a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值最低，为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2.6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(2)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我们可以得出结论：随着离子电荷的增加，其对水的极化作用增强，导致水的解离更容易，因此酸性增强，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pK</a:t>
            </a:r>
            <a:r>
              <a:rPr lang="en-US" altLang="zh-CN" baseline="-25000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a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值降低。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22D13BD-B127-4A86-BA04-41E3A2D32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440" y="893526"/>
            <a:ext cx="10355120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074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8B1B10-27F4-4BE3-966C-7C37CB957B18}"/>
              </a:ext>
            </a:extLst>
          </p:cNvPr>
          <p:cNvSpPr txBox="1"/>
          <p:nvPr/>
        </p:nvSpPr>
        <p:spPr>
          <a:xfrm>
            <a:off x="1" y="682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16.3 (b)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使用这些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pK</a:t>
            </a:r>
            <a:r>
              <a:rPr lang="en-US" altLang="zh-CN" baseline="-25000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a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值来讨论：（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i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）在这三种离子的水溶液中存在的金属含物种的性质，（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ii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）如果这样的溶液逐渐变得更加碱性会发生什么。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E28EAC-BD91-4633-A495-833BEB4E4DA1}"/>
              </a:ext>
            </a:extLst>
          </p:cNvPr>
          <p:cNvSpPr txBox="1"/>
          <p:nvPr/>
        </p:nvSpPr>
        <p:spPr>
          <a:xfrm>
            <a:off x="1" y="2176816"/>
            <a:ext cx="12192000" cy="3779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答：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i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）在这三种离子的水溶液中，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[K(H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O)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6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]⁺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和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[Ca(H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O)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6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]²⁺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都是水合的金属离子，它们会在水中解离出氢氧根离子。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[K(H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O)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6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]⁺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pK</a:t>
            </a:r>
            <a:r>
              <a:rPr lang="en-US" altLang="zh-CN" baseline="-25000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a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值是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14.5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，这意味着它在水中几乎不会发生完全的解离，因此它的水合物主要是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[K(H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O)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]⁺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[Ca(H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O)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6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]²⁺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pK</a:t>
            </a:r>
            <a:r>
              <a:rPr lang="en-US" altLang="zh-CN" baseline="-25000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a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值为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12.8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，这表明它在水中会部分解离为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[Ca(H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O)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]⁺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[OH⁻]⁻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。至于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[Ga(H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O)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6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]³⁺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，它的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pK</a:t>
            </a:r>
            <a:r>
              <a:rPr lang="en-US" altLang="zh-CN" baseline="-25000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a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值为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2.6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，这意味着它在水中会非常彻底地解离为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[Ga(H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O)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]²⁺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[OH⁻]⁻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ii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）如果这些溶液逐渐变得更加碱性，由于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pK</a:t>
            </a:r>
            <a:r>
              <a:rPr lang="en-US" altLang="zh-CN" baseline="-25000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a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值表示的是酸碱反应的平衡常数，随着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pH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的增加，即水的碱性增强，原本酸性的氢氧根离子浓度会增加。对于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[K(H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O)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6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]⁺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，当溶液变得更加碱性时，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[K(H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O)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]⁺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的浓度将增加；对于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[Ca(H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O)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6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]²⁺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，它将更多地解离为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[Ca(H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O)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]⁺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[OH⁻]⁻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；对于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[Ga(H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O)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6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]³⁺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，它将更彻底地解离为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[Ga(H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O)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]²⁺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[OH⁻]⁻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。这会导致溶液中的金属离子浓度下降，同时氢氧根离子浓度上升。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22D13BD-B127-4A86-BA04-41E3A2D32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440" y="893526"/>
            <a:ext cx="10355120" cy="676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776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8B1B10-27F4-4BE3-966C-7C37CB957B18}"/>
              </a:ext>
            </a:extLst>
          </p:cNvPr>
          <p:cNvSpPr txBox="1"/>
          <p:nvPr/>
        </p:nvSpPr>
        <p:spPr>
          <a:xfrm>
            <a:off x="1" y="682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16.4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一种表明汞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(I)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盐含有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[Hg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2+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物种而不是简单的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Hg+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离子的证据是，这些盐不是顺磁的（即没有未配对电子）。解释一下为什么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Hg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+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是顺磁的，而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[Hg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2+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不是。提示：仅考虑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6s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电子绘制一个简单的分子轨道图。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E28EAC-BD91-4633-A495-833BEB4E4DA1}"/>
              </a:ext>
            </a:extLst>
          </p:cNvPr>
          <p:cNvSpPr txBox="1"/>
          <p:nvPr/>
        </p:nvSpPr>
        <p:spPr>
          <a:xfrm>
            <a:off x="-6823" y="2613546"/>
            <a:ext cx="12192000" cy="2948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答：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(1) Hg⁺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（汞离子）：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Hg⁺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是一个单电子离子，其电子配置为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1s² 2s² 2p⁶ 3s² 3p⁶ 3d¹⁰ 4s² 4p⁶ 4d¹⁰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zh-CN" altLang="en-US" b="1" dirty="0">
                <a:solidFill>
                  <a:srgbClr val="B4326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它有一个未配对的 </a:t>
            </a:r>
            <a:r>
              <a:rPr lang="en-US" altLang="zh-CN" b="1" dirty="0">
                <a:solidFill>
                  <a:srgbClr val="B4326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5d </a:t>
            </a:r>
            <a:r>
              <a:rPr lang="zh-CN" altLang="en-US" b="1" dirty="0">
                <a:solidFill>
                  <a:srgbClr val="B4326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电子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，因此是顺磁性的。这个未配对电子可以在外部磁场作用下被排列，使其磁矩与磁场方向一致。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(2) [Hg₂]²⁺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（汞二离子）：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[Hg₂]²⁺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是一个二核离子，由两个汞原子组成，每个汞原子都有一个电子。每个汞原子的电子配置为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1s² 2s² 2p⁶ 3s² 3p⁶ 3d¹⁰ 4s² 4p⁶ 4d¹⁰ 5s² 5p⁶ 5d¹⁰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。由于两个汞原子之间没有直接的化学键，它们之间的相互作用较小。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[Hg₂]²⁺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中的两个汞原子的电子不会形成强烈的耦合，</a:t>
            </a:r>
            <a:r>
              <a:rPr lang="zh-CN" altLang="en-US" b="1" dirty="0">
                <a:solidFill>
                  <a:srgbClr val="B4326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因此没有明显的未配对电子，也就没有顺磁性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8ED6D40-317A-40E8-BC30-46604113D90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242117" y="829105"/>
            <a:ext cx="3707766" cy="1801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706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8B1B10-27F4-4BE3-966C-7C37CB957B18}"/>
              </a:ext>
            </a:extLst>
          </p:cNvPr>
          <p:cNvSpPr txBox="1"/>
          <p:nvPr/>
        </p:nvSpPr>
        <p:spPr>
          <a:xfrm>
            <a:off x="1" y="6822"/>
            <a:ext cx="1219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16.6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氮气中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N≡N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三键的键强度为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946 kJ/mol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，而磷分子中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P≡P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三键的键强度为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490 kJ/mol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；氮原子之间的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N–N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单键和磷原子之间的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P–P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单键的键强度则在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160 kJ/mol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到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200 kJ/mol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之间，具体取决于化合物。讨论这些数据以及它们对氮和磷形成的化合物类型的影响。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E28EAC-BD91-4633-A495-833BEB4E4DA1}"/>
              </a:ext>
            </a:extLst>
          </p:cNvPr>
          <p:cNvSpPr txBox="1"/>
          <p:nvPr/>
        </p:nvSpPr>
        <p:spPr>
          <a:xfrm>
            <a:off x="-6823" y="1044052"/>
            <a:ext cx="12192000" cy="4198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答：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(1)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氮气和磷分子中的键强度数据表明，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N≡N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三键的键强度远高于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P≡P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三键，而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N–N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单键和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P–P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单键的键强度则比较接近。这种差异会影响这些元素的化合物类型。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(2)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由于氮气中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N≡N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三键的键强度较高，</a:t>
            </a:r>
            <a:r>
              <a:rPr lang="zh-CN" altLang="en-US" b="1" dirty="0">
                <a:solidFill>
                  <a:srgbClr val="0070C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氮气分子非常稳定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，难以被破坏。因此，</a:t>
            </a:r>
            <a:r>
              <a:rPr lang="zh-CN" altLang="en-US" b="1" dirty="0">
                <a:solidFill>
                  <a:srgbClr val="235FCB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氮气通常以分子形式存在，而不是游离态。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在化学反应中，</a:t>
            </a:r>
            <a:r>
              <a:rPr lang="zh-CN" altLang="en-US" b="1" dirty="0">
                <a:solidFill>
                  <a:srgbClr val="26849E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氮气通常不会发生单质反应，而是与其他元素形成化合物，如氨、硝酸等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(3)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磷分子中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P≡P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三键的键强度较低，因此磷分子不如氮气分子稳定。</a:t>
            </a:r>
            <a:r>
              <a:rPr lang="zh-CN" altLang="en-US" b="1" dirty="0">
                <a:solidFill>
                  <a:schemeClr val="accent4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磷可以在氧气中燃烧，形成二氧化磷等化合物。此外，磷也可以与许多其他元素形成化合物，如磷酸、磷化氢等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(4) N–N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单键和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P–P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单键的键强度比较接近，这导致氮和磷可以形成多种类型的化合物，包括单质、二元化合物和多元化合物。例如，氮气和氢气可以形成氨，而氮气和氧气可以形成一氧化二氮等。对于磷来说，磷在氧气中燃烧时会形成二氧化磷，而在氢气中还原时会形成磷化氢等。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5966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8B1B10-27F4-4BE3-966C-7C37CB957B18}"/>
              </a:ext>
            </a:extLst>
          </p:cNvPr>
          <p:cNvSpPr txBox="1"/>
          <p:nvPr/>
        </p:nvSpPr>
        <p:spPr>
          <a:xfrm>
            <a:off x="1" y="682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16.7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如果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PCl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与过量的水反应，最终产物是磷酸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(V)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H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PO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。然而，如果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PCl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和水的摩尔量相等，则会形成化合物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POCl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。请描述这两种产品可能形成的步骤，并解释为什么限制水量会得到不同的产品。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E28EAC-BD91-4633-A495-833BEB4E4DA1}"/>
              </a:ext>
            </a:extLst>
          </p:cNvPr>
          <p:cNvSpPr txBox="1"/>
          <p:nvPr/>
        </p:nvSpPr>
        <p:spPr>
          <a:xfrm>
            <a:off x="-6823" y="1044052"/>
            <a:ext cx="12192000" cy="2951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答：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(1)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当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PCl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与过量的水反应时，水分子会逐渐取代氯原子，形成磷酸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(V)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H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PO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。这个过程可以表示为：</a:t>
            </a: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chemeClr val="accent6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PCl</a:t>
            </a:r>
            <a:r>
              <a:rPr lang="en-US" altLang="zh-CN" b="1" baseline="-25000" dirty="0">
                <a:solidFill>
                  <a:schemeClr val="accent6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en-US" altLang="zh-CN" b="1" dirty="0">
                <a:solidFill>
                  <a:schemeClr val="accent6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+ 5 H</a:t>
            </a:r>
            <a:r>
              <a:rPr lang="en-US" altLang="zh-CN" b="1" baseline="-25000" dirty="0">
                <a:solidFill>
                  <a:schemeClr val="accent6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b="1" dirty="0">
                <a:solidFill>
                  <a:schemeClr val="accent6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O → H</a:t>
            </a:r>
            <a:r>
              <a:rPr lang="en-US" altLang="zh-CN" b="1" baseline="-25000" dirty="0">
                <a:solidFill>
                  <a:schemeClr val="accent6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chemeClr val="accent6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PO</a:t>
            </a:r>
            <a:r>
              <a:rPr lang="en-US" altLang="zh-CN" b="1" baseline="-25000" dirty="0">
                <a:solidFill>
                  <a:schemeClr val="accent6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en-US" altLang="zh-CN" b="1" dirty="0">
                <a:solidFill>
                  <a:schemeClr val="accent6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+ 5 HCl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在这个过程中，每个氯原子都被一个羟基（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-OH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）取代，最终形成磷酸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(V)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H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PO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  <a:p>
            <a:pPr algn="just">
              <a:lnSpc>
                <a:spcPct val="15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(2)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然而，如果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PCl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和水的摩尔量相等，则可能会形成化合物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POCl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。这个过程可以表示为：</a:t>
            </a:r>
          </a:p>
          <a:p>
            <a:pPr algn="just">
              <a:lnSpc>
                <a:spcPct val="150000"/>
              </a:lnSpc>
            </a:pP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PCl</a:t>
            </a:r>
            <a:r>
              <a:rPr lang="en-US" altLang="zh-CN" b="1" baseline="-25000" dirty="0">
                <a:solidFill>
                  <a:schemeClr val="accent5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+ H</a:t>
            </a:r>
            <a:r>
              <a:rPr lang="en-US" altLang="zh-CN" b="1" baseline="-25000" dirty="0">
                <a:solidFill>
                  <a:schemeClr val="accent5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O → POCl</a:t>
            </a:r>
            <a:r>
              <a:rPr lang="en-US" altLang="zh-CN" b="1" baseline="-25000" dirty="0">
                <a:solidFill>
                  <a:schemeClr val="accent5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chemeClr val="accent5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+ 2 HCl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在这个过程中，只有一个氯原子被一个羟基（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-OH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）取代，形成一个含有磷、氧和氯的化合物，即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POCl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。限制水量会导致不同的产品，因为在这种情况下，水分子的数量不足以将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PCl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中的所有氯原子都取代为羟基。因此，反应只能进行到一定程度，形成一个含有磷、氧和氯的化合物，即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POCl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6792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8B1B10-27F4-4BE3-966C-7C37CB957B18}"/>
              </a:ext>
            </a:extLst>
          </p:cNvPr>
          <p:cNvSpPr txBox="1"/>
          <p:nvPr/>
        </p:nvSpPr>
        <p:spPr>
          <a:xfrm>
            <a:off x="1" y="6822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16.8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确定以下化合物或离子中硫的氧化态。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E28EAC-BD91-4633-A495-833BEB4E4DA1}"/>
              </a:ext>
            </a:extLst>
          </p:cNvPr>
          <p:cNvSpPr txBox="1"/>
          <p:nvPr/>
        </p:nvSpPr>
        <p:spPr>
          <a:xfrm>
            <a:off x="0" y="1092626"/>
            <a:ext cx="12192000" cy="40528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答：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b="1" dirty="0">
                <a:solidFill>
                  <a:srgbClr val="0070C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1. </a:t>
            </a:r>
            <a:r>
              <a:rPr lang="zh-CN" altLang="en-US" b="1" dirty="0">
                <a:solidFill>
                  <a:srgbClr val="0070C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对于 </a:t>
            </a:r>
            <a:r>
              <a:rPr lang="en-US" altLang="zh-CN" b="1" dirty="0">
                <a:solidFill>
                  <a:srgbClr val="0070C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Na</a:t>
            </a:r>
            <a:r>
              <a:rPr lang="en-US" altLang="zh-CN" b="1" baseline="-25000" dirty="0">
                <a:solidFill>
                  <a:srgbClr val="0070C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b="1" dirty="0">
                <a:solidFill>
                  <a:srgbClr val="0070C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</a:t>
            </a:r>
            <a:r>
              <a:rPr lang="zh-CN" altLang="en-US" b="1" dirty="0">
                <a:solidFill>
                  <a:srgbClr val="0070C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（硫化钠），硫的氧化态是</a:t>
            </a:r>
            <a:r>
              <a:rPr lang="en-US" altLang="zh-CN" b="1" dirty="0">
                <a:solidFill>
                  <a:srgbClr val="0070C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-2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。在这个化合物中，钠的氧化态是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+1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（因为它通常失去一个电子形成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+1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离子）。硫与两个钠原子结合，每个钠贡献一个电子给硫，因此硫的氧化态是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-2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  <a:p>
            <a:pPr algn="just">
              <a:lnSpc>
                <a:spcPct val="120000"/>
              </a:lnSpc>
            </a:pPr>
            <a:r>
              <a:rPr lang="en-US" altLang="zh-CN" b="1" dirty="0">
                <a:solidFill>
                  <a:schemeClr val="accent4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2. </a:t>
            </a:r>
            <a:r>
              <a:rPr lang="zh-CN" altLang="en-US" b="1" dirty="0">
                <a:solidFill>
                  <a:schemeClr val="accent4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对于 </a:t>
            </a:r>
            <a:r>
              <a:rPr lang="en-US" altLang="zh-CN" b="1" dirty="0">
                <a:solidFill>
                  <a:schemeClr val="accent4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SF</a:t>
            </a:r>
            <a:r>
              <a:rPr lang="en-US" altLang="zh-CN" b="1" baseline="-25000" dirty="0">
                <a:solidFill>
                  <a:schemeClr val="accent4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chemeClr val="accent4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（二氟化硫），硫的氧化态是</a:t>
            </a:r>
            <a:r>
              <a:rPr lang="en-US" altLang="zh-CN" b="1" dirty="0">
                <a:solidFill>
                  <a:schemeClr val="accent4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+2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。氟的氧化态通常是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-1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（因为它获得一个电子形成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-1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离子）。硫与两个氟原子结合，每个氟原子从硫那里获得一个电子，因此硫的氧化态是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+2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  <a:p>
            <a:pPr algn="just">
              <a:lnSpc>
                <a:spcPct val="120000"/>
              </a:lnSpc>
            </a:pPr>
            <a:r>
              <a:rPr lang="en-US" altLang="zh-CN" b="1" dirty="0">
                <a:solidFill>
                  <a:schemeClr val="accent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3. </a:t>
            </a:r>
            <a:r>
              <a:rPr lang="zh-CN" altLang="en-US" b="1" dirty="0">
                <a:solidFill>
                  <a:schemeClr val="accent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对于 </a:t>
            </a:r>
            <a:r>
              <a:rPr lang="en-US" altLang="zh-CN" b="1" dirty="0">
                <a:solidFill>
                  <a:schemeClr val="accent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</a:t>
            </a:r>
            <a:r>
              <a:rPr lang="en-US" altLang="zh-CN" b="1" baseline="-25000" dirty="0">
                <a:solidFill>
                  <a:schemeClr val="accent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b="1" dirty="0">
                <a:solidFill>
                  <a:schemeClr val="accent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</a:t>
            </a:r>
            <a:r>
              <a:rPr lang="en-US" altLang="zh-CN" b="1" baseline="-25000" dirty="0">
                <a:solidFill>
                  <a:schemeClr val="accent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b="1" dirty="0">
                <a:solidFill>
                  <a:schemeClr val="accent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accent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（二硫二氟化物），硫的氧化态是</a:t>
            </a:r>
            <a:r>
              <a:rPr lang="en-US" altLang="zh-CN" b="1" dirty="0">
                <a:solidFill>
                  <a:schemeClr val="accent2">
                    <a:lumMod val="50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+1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  <a:p>
            <a:pPr algn="just">
              <a:lnSpc>
                <a:spcPct val="120000"/>
              </a:lnSpc>
            </a:pP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4. 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对于 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[SO</a:t>
            </a:r>
            <a:r>
              <a:rPr lang="en-US" altLang="zh-CN" b="1" baseline="-25000" dirty="0">
                <a:solidFill>
                  <a:schemeClr val="accent6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]</a:t>
            </a:r>
            <a:r>
              <a:rPr lang="en-US" altLang="zh-CN" b="1" baseline="30000" dirty="0">
                <a:solidFill>
                  <a:schemeClr val="accent6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2-</a:t>
            </a:r>
            <a:r>
              <a:rPr lang="zh-CN" altLang="en-US" b="1" dirty="0">
                <a:solidFill>
                  <a:schemeClr val="accent6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（亚硫酸根离子），硫的氧化态是</a:t>
            </a:r>
            <a:r>
              <a:rPr lang="en-US" altLang="zh-CN" b="1" dirty="0">
                <a:solidFill>
                  <a:schemeClr val="accent6">
                    <a:lumMod val="75000"/>
                  </a:schemeClr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+4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。氧的氧化态通常是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-2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。在这个离子中，硫与三个氧原子结合。如果我们假设每个氧原子保持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-2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的氧化态，那么硫必须提供足够的电子来达到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-6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的总氧化态。但是，由于整个离子带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-2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电荷，这意味着硫的氧化态比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-6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高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，因此是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+4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  <a:p>
            <a:pPr algn="just">
              <a:lnSpc>
                <a:spcPct val="12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5. </a:t>
            </a:r>
            <a:r>
              <a:rPr lang="zh-CN" altLang="en-US" b="1" dirty="0">
                <a:solidFill>
                  <a:srgbClr val="26849E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对于 </a:t>
            </a:r>
            <a:r>
              <a:rPr lang="en-US" altLang="zh-CN" b="1" dirty="0">
                <a:solidFill>
                  <a:srgbClr val="26849E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[S</a:t>
            </a:r>
            <a:r>
              <a:rPr lang="en-US" altLang="zh-CN" b="1" baseline="-25000" dirty="0">
                <a:solidFill>
                  <a:srgbClr val="26849E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b="1" dirty="0">
                <a:solidFill>
                  <a:srgbClr val="26849E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O</a:t>
            </a:r>
            <a:r>
              <a:rPr lang="en-US" altLang="zh-CN" b="1" baseline="-25000" dirty="0">
                <a:solidFill>
                  <a:srgbClr val="26849E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rgbClr val="26849E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]</a:t>
            </a:r>
            <a:r>
              <a:rPr lang="en-US" altLang="zh-CN" b="1" baseline="30000" dirty="0">
                <a:solidFill>
                  <a:srgbClr val="26849E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2-</a:t>
            </a:r>
            <a:r>
              <a:rPr lang="zh-CN" altLang="en-US" b="1" dirty="0">
                <a:solidFill>
                  <a:srgbClr val="26849E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（硫代硫酸根离子），硫的氧化态是</a:t>
            </a:r>
            <a:r>
              <a:rPr lang="en-US" altLang="zh-CN" b="1" dirty="0">
                <a:solidFill>
                  <a:srgbClr val="26849E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+2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硫代硫酸盐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)[SSO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O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的氧化态为−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，假设两个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S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的氧化态相同，我们得到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3 ×(−2)+ x + x =−2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，因此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x = +2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。这个值是两种硫的平均氧化态。实际上一个硫的氧化态是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+6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，另一个是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-2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6D398AE-E85B-4135-86DF-8AA44DA13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98" y="392817"/>
            <a:ext cx="11145805" cy="790685"/>
          </a:xfrm>
          <a:prstGeom prst="rect">
            <a:avLst/>
          </a:prstGeom>
        </p:spPr>
      </p:pic>
      <p:pic>
        <p:nvPicPr>
          <p:cNvPr id="1026" name="Picture 2" descr="硫代硫酸">
            <a:extLst>
              <a:ext uri="{FF2B5EF4-FFF2-40B4-BE49-F238E27FC236}">
                <a16:creationId xmlns:a16="http://schemas.microsoft.com/office/drawing/2014/main" id="{94CA93D1-5CA3-4860-88C3-6A83BD4C1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3539" y="5146607"/>
            <a:ext cx="2508231" cy="164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0654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8B1B10-27F4-4BE3-966C-7C37CB957B18}"/>
              </a:ext>
            </a:extLst>
          </p:cNvPr>
          <p:cNvSpPr txBox="1"/>
          <p:nvPr/>
        </p:nvSpPr>
        <p:spPr>
          <a:xfrm>
            <a:off x="1" y="6822"/>
            <a:ext cx="12192000" cy="2217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16.9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讨论：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(a)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硫与氟反应生成四氟化硫和六氟化硫，但与氯反应生成二氯化硫和四氯化硫，没有证据表明存在四氯化硫或六氯化硫。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(b) SF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6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19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F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光谱由一个单一谱线组成，而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SF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19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F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光谱由两个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1:2:1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三重态组成（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32S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自旋为零）。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提示：使用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VSEPR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预测结构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</a:t>
            </a:r>
          </a:p>
          <a:p>
            <a:pPr algn="just"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(c) SO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以离散分子形式存在，其中硫是两重配位；固体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SeO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(s)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包含链状结构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-O-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SeO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-O-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SeO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，其中硒是三重配位；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TeO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(s)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具有层状结构，其中碲是四重配位；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PbO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(s)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具有类似于萤石晶格的三维结构，其中铅是八重配位。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E28EAC-BD91-4633-A495-833BEB4E4DA1}"/>
              </a:ext>
            </a:extLst>
          </p:cNvPr>
          <p:cNvSpPr txBox="1"/>
          <p:nvPr/>
        </p:nvSpPr>
        <p:spPr>
          <a:xfrm>
            <a:off x="0" y="2566587"/>
            <a:ext cx="12192000" cy="1726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答：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(a)</a:t>
            </a:r>
          </a:p>
          <a:p>
            <a:pPr algn="just">
              <a:lnSpc>
                <a:spcPct val="12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(1)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这些数据表明，较高的氧化态通常只出现在氟化物中，而不出现在后期的卤化物中。所以和氟反应时，硫的氧化态是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+4 +6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，和氯反应时，硫的氧化态是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+2 +1 (S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Cl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)</a:t>
            </a:r>
          </a:p>
          <a:p>
            <a:pPr algn="just">
              <a:lnSpc>
                <a:spcPct val="12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(2)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简而言之，氟有利于这些高氧化态的原因是：</a:t>
            </a:r>
            <a:r>
              <a:rPr lang="en-US" altLang="zh-CN" b="1" dirty="0">
                <a:solidFill>
                  <a:srgbClr val="00B0F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(</a:t>
            </a:r>
            <a:r>
              <a:rPr lang="en-US" altLang="zh-CN" b="1" dirty="0" err="1">
                <a:solidFill>
                  <a:srgbClr val="00B0F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i</a:t>
            </a:r>
            <a:r>
              <a:rPr lang="en-US" altLang="zh-CN" b="1" dirty="0">
                <a:solidFill>
                  <a:srgbClr val="00B0F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solidFill>
                  <a:srgbClr val="00B0F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相对较弱的</a:t>
            </a:r>
            <a:r>
              <a:rPr lang="en-US" altLang="zh-CN" b="1" dirty="0">
                <a:solidFill>
                  <a:srgbClr val="00B0F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 - F</a:t>
            </a:r>
            <a:r>
              <a:rPr lang="zh-CN" altLang="en-US" b="1" dirty="0">
                <a:solidFill>
                  <a:srgbClr val="00B0F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键，</a:t>
            </a:r>
            <a:r>
              <a:rPr lang="en-US" altLang="zh-CN" b="1" dirty="0">
                <a:solidFill>
                  <a:srgbClr val="00B0F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(ii) F</a:t>
            </a:r>
            <a:r>
              <a:rPr lang="zh-CN" altLang="en-US" b="1" dirty="0">
                <a:solidFill>
                  <a:srgbClr val="00B0F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与其他非金属形成的强键，</a:t>
            </a:r>
            <a:r>
              <a:rPr lang="en-US" altLang="zh-CN" b="1" dirty="0">
                <a:solidFill>
                  <a:srgbClr val="00B0F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(iii)</a:t>
            </a:r>
            <a:r>
              <a:rPr lang="zh-CN" altLang="en-US" b="1" dirty="0">
                <a:solidFill>
                  <a:srgbClr val="00B0F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氟的体积小，允许更高的配位。</a:t>
            </a:r>
          </a:p>
        </p:txBody>
      </p:sp>
    </p:spTree>
    <p:extLst>
      <p:ext uri="{BB962C8B-B14F-4D97-AF65-F5344CB8AC3E}">
        <p14:creationId xmlns:p14="http://schemas.microsoft.com/office/powerpoint/2010/main" val="1402879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8B1B10-27F4-4BE3-966C-7C37CB957B18}"/>
              </a:ext>
            </a:extLst>
          </p:cNvPr>
          <p:cNvSpPr txBox="1"/>
          <p:nvPr/>
        </p:nvSpPr>
        <p:spPr>
          <a:xfrm>
            <a:off x="1" y="6822"/>
            <a:ext cx="12192000" cy="2217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16.9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讨论：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(a)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硫与氟反应生成四氟化硫和六氟化硫，但与氯反应生成二氯化硫和四氯化硫，没有证据表明存在四氯化硫或六氯化硫。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(b) SF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6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19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F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光谱由一个单一谱线组成，而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SF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19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F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光谱由两个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1:2:1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三重态组成（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32S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自旋为零）。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提示：使用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VSEPR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预测结构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</a:t>
            </a:r>
          </a:p>
          <a:p>
            <a:pPr algn="just"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(c) SO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以离散分子形式存在，其中硫是两重配位；固体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SeO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(s)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包含链状结构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-O-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SeO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-O-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SeO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，其中硒是三重配位；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TeO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(s)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具有层状结构，其中碲是四重配位；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PbO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(s)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具有类似于萤石晶格的三维结构，其中铅是八重配位。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E28EAC-BD91-4633-A495-833BEB4E4DA1}"/>
              </a:ext>
            </a:extLst>
          </p:cNvPr>
          <p:cNvSpPr txBox="1"/>
          <p:nvPr/>
        </p:nvSpPr>
        <p:spPr>
          <a:xfrm>
            <a:off x="0" y="2566587"/>
            <a:ext cx="12192000" cy="3052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答：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(b)</a:t>
            </a:r>
          </a:p>
          <a:p>
            <a:pPr algn="just">
              <a:lnSpc>
                <a:spcPct val="12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(1)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根据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VSEPR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（价层电子对互斥理论），</a:t>
            </a:r>
            <a:r>
              <a:rPr lang="en-US" altLang="zh-CN" b="1" dirty="0">
                <a:solidFill>
                  <a:srgbClr val="00B05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SF₆</a:t>
            </a:r>
            <a:r>
              <a:rPr lang="zh-CN" altLang="en-US" b="1" dirty="0">
                <a:solidFill>
                  <a:srgbClr val="00B05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的分子结构是八面体，其中硫原子位于中心，被六个氟原子等距离地包围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。在这种对称的结构中，所有的</a:t>
            </a:r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F-S-F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键角都是相等的，每个氟原子的环境都是相同的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。因此，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SF₆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¹⁹F NMR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光谱显示为一个单一的谱线，因为所有的氟原子都经历相同的化学环境和磁场影响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  <a:p>
            <a:pPr algn="just">
              <a:lnSpc>
                <a:spcPct val="120000"/>
              </a:lnSpc>
            </a:pP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(2)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相比之下，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SF₄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的分子结构是不对称的，根据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VSEPR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理论，</a:t>
            </a:r>
            <a:r>
              <a:rPr lang="zh-CN" altLang="en-US" b="1" dirty="0">
                <a:solidFill>
                  <a:srgbClr val="7030A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它有一个看似的三角双锥形结构，其中一个顶点被孤对电子占据，导致其实际上呈现出类似风筝的形状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。在这种结构中，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两个氟原子位于一个轴上（称为轴向氟原子），而另外两个氟原子位于基面上（称为赤道氟原子）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。由于轴向氟原子和赤道氟原子</a:t>
            </a:r>
            <a:r>
              <a:rPr lang="zh-CN" altLang="en-US" b="1" dirty="0">
                <a:solidFill>
                  <a:srgbClr val="33ACCD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处于不同的化学环境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，它们与硫原子的耦合常数不同，因此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SF₄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¹⁹F NMR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光谱显示为两个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1:2:1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的三重态，反映了这两种不同类型的氟原子</a:t>
            </a:r>
            <a:endParaRPr lang="zh-CN" altLang="en-US" b="1" dirty="0">
              <a:solidFill>
                <a:srgbClr val="00B0F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99366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8B1B10-27F4-4BE3-966C-7C37CB957B18}"/>
              </a:ext>
            </a:extLst>
          </p:cNvPr>
          <p:cNvSpPr txBox="1"/>
          <p:nvPr/>
        </p:nvSpPr>
        <p:spPr>
          <a:xfrm>
            <a:off x="1" y="6822"/>
            <a:ext cx="12192000" cy="2217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16.9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讨论：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(a)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硫与氟反应生成四氟化硫和六氟化硫，但与氯反应生成二氯化硫和四氯化硫，没有证据表明存在四氯化硫或六氯化硫。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(b) SF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6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19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F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光谱由一个单一谱线组成，而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SF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19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F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光谱由两个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1:2:1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三重态组成（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32S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自旋为零）。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提示：使用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VSEPR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预测结构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</a:t>
            </a:r>
          </a:p>
          <a:p>
            <a:pPr algn="just"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(c) SO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以离散分子形式存在，其中硫是两重配位；固体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SeO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(s)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包含链状结构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-O-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SeO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-O-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SeO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，其中硒是三重配位；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TeO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(s)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具有层状结构，其中碲是四重配位；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PbO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(s)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具有类似于萤石晶格的三维结构，其中铅是八重配位。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8CB8606-A1FE-4967-9836-0700DEBB3967}"/>
              </a:ext>
            </a:extLst>
          </p:cNvPr>
          <p:cNvSpPr txBox="1"/>
          <p:nvPr/>
        </p:nvSpPr>
        <p:spPr>
          <a:xfrm>
            <a:off x="0" y="2566587"/>
            <a:ext cx="12192000" cy="2723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答：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(c)</a:t>
            </a:r>
          </a:p>
          <a:p>
            <a:pPr algn="just">
              <a:lnSpc>
                <a:spcPct val="12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(1)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二氧化硫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(SO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是一种离散的分子，其中硫和氧之间存在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π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键。这种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π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键的存在是</a:t>
            </a:r>
            <a:r>
              <a:rPr lang="zh-CN" altLang="en-US" b="1" dirty="0">
                <a:solidFill>
                  <a:srgbClr val="92D05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硫和氧轨道尺寸较小的典型特征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  <a:p>
            <a:pPr algn="just">
              <a:lnSpc>
                <a:spcPct val="12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(2) 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SeO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₂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在固态中呈现链状结构，</a:t>
            </a:r>
            <a:r>
              <a:rPr lang="zh-CN" altLang="en-US" b="1" dirty="0">
                <a:solidFill>
                  <a:srgbClr val="33ACCD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每个硒原子通过两个</a:t>
            </a:r>
            <a:r>
              <a:rPr lang="en-US" altLang="zh-CN" b="1" dirty="0">
                <a:solidFill>
                  <a:srgbClr val="33ACCD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σ</a:t>
            </a:r>
            <a:r>
              <a:rPr lang="zh-CN" altLang="en-US" b="1" dirty="0">
                <a:solidFill>
                  <a:srgbClr val="33ACCD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键和一个</a:t>
            </a:r>
            <a:r>
              <a:rPr lang="en-US" altLang="zh-CN" b="1" dirty="0">
                <a:solidFill>
                  <a:srgbClr val="33ACCD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π</a:t>
            </a:r>
            <a:r>
              <a:rPr lang="zh-CN" altLang="en-US" b="1" dirty="0">
                <a:solidFill>
                  <a:srgbClr val="33ACCD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键与两个氧原子相连，形成了一个三配位的结构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。硒原子较大的轨道尺寸导致与氧原子的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轨道重叠程度降低，因此硒倾向于形成一个双键和两个单键，而不是两个双键，这反映了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π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键合的影响。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(3) 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TeO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₂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具有层状结构，每个碲原子四重配位，这种结构表现出共价键和离子键的混合特性。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PbO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₂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则具有萤石型结构，其中铅原子八重配位，显示出更强的离子特征。这种结构是由于铅原子与多个氧原子之间的相互作用，而不是仅与少数直接键合的原子相互作用</a:t>
            </a:r>
          </a:p>
        </p:txBody>
      </p:sp>
    </p:spTree>
    <p:extLst>
      <p:ext uri="{BB962C8B-B14F-4D97-AF65-F5344CB8AC3E}">
        <p14:creationId xmlns:p14="http://schemas.microsoft.com/office/powerpoint/2010/main" val="35832010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8B1B10-27F4-4BE3-966C-7C37CB957B18}"/>
              </a:ext>
            </a:extLst>
          </p:cNvPr>
          <p:cNvSpPr txBox="1"/>
          <p:nvPr/>
        </p:nvSpPr>
        <p:spPr>
          <a:xfrm>
            <a:off x="1" y="6822"/>
            <a:ext cx="12192000" cy="777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16.10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使用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VSEPR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预测以下分子或离子的形状，并预测每种情况下的 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19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F NMR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光谱形式（忽略与碘的任何耦合）。并讨论为什么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IF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还没有被制备出来，但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[IF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−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是众所周知的。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E28EAC-BD91-4633-A495-833BEB4E4DA1}"/>
              </a:ext>
            </a:extLst>
          </p:cNvPr>
          <p:cNvSpPr txBox="1"/>
          <p:nvPr/>
        </p:nvSpPr>
        <p:spPr>
          <a:xfrm>
            <a:off x="0" y="1720424"/>
            <a:ext cx="12192000" cy="2390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答：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(a) [IF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+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有两对键合电子对和两对孤对电子。这四对将按照</a:t>
            </a:r>
            <a:r>
              <a:rPr lang="zh-CN" altLang="en-US" b="1" dirty="0">
                <a:solidFill>
                  <a:srgbClr val="33ACCD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四面体排列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，所以分子会弯曲。两个氟原子是等效的，所以</a:t>
            </a:r>
            <a:r>
              <a:rPr lang="zh-CN" altLang="en-US" b="1" dirty="0">
                <a:solidFill>
                  <a:srgbClr val="B4326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</a:t>
            </a:r>
            <a:r>
              <a:rPr lang="en-US" altLang="zh-CN" b="1" baseline="30000" dirty="0">
                <a:solidFill>
                  <a:srgbClr val="B4326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19</a:t>
            </a:r>
            <a:r>
              <a:rPr lang="en-US" altLang="zh-CN" b="1" dirty="0">
                <a:solidFill>
                  <a:srgbClr val="B4326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 NMR</a:t>
            </a:r>
            <a:r>
              <a:rPr lang="zh-CN" altLang="en-US" b="1" dirty="0">
                <a:solidFill>
                  <a:srgbClr val="B4326A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中只会看到一条线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  <a:p>
            <a:pPr algn="just">
              <a:lnSpc>
                <a:spcPct val="12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(b) [IF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有两对键合电子对和三对孤对电子。这五对会按照</a:t>
            </a:r>
            <a:r>
              <a:rPr lang="zh-CN" altLang="en-US" b="1" dirty="0">
                <a:solidFill>
                  <a:srgbClr val="7030A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三角双锥形排列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，可能的是氟原子占据轴向位置（因为孤对电子与键合电子对之间的排斥力更大），即线性几何形状。两个氟原子是等效的，所以</a:t>
            </a:r>
            <a:r>
              <a:rPr lang="zh-CN" altLang="en-US" b="1" dirty="0">
                <a:solidFill>
                  <a:srgbClr val="235FCB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在</a:t>
            </a:r>
            <a:r>
              <a:rPr lang="en-US" altLang="zh-CN" b="1" baseline="30000" dirty="0">
                <a:solidFill>
                  <a:srgbClr val="235FCB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19</a:t>
            </a:r>
            <a:r>
              <a:rPr lang="en-US" altLang="zh-CN" b="1" dirty="0">
                <a:solidFill>
                  <a:srgbClr val="235FCB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 NMR</a:t>
            </a:r>
            <a:r>
              <a:rPr lang="zh-CN" altLang="en-US" b="1" dirty="0">
                <a:solidFill>
                  <a:srgbClr val="235FCB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中只会看到一条线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  <a:p>
            <a:pPr algn="just">
              <a:lnSpc>
                <a:spcPct val="12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(c) IF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有三对键合电子对和两对孤对电子。这五对会按照</a:t>
            </a:r>
            <a:r>
              <a:rPr lang="zh-CN" altLang="en-US" b="1" dirty="0">
                <a:solidFill>
                  <a:srgbClr val="7030A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三角双锥形排列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，可能的是氟原子占据轴向位置和一个赤道位置，即‘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T’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形状。两个轴向的氟原子会出现为双重峰，因为它们与一个赤道的氟原子耦合。赤道的氟原子会出现为一个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1:2:1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的三重峰，因为它与两个等效的轴向氟原子耦合。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2DDA48C-5A3C-4F88-8020-0FC070615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627" y="924163"/>
            <a:ext cx="7144747" cy="62873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ABE556B-97ED-4976-B071-4CF84EDB1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362" y="4004815"/>
            <a:ext cx="3124636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500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8B1B10-27F4-4BE3-966C-7C37CB957B18}"/>
              </a:ext>
            </a:extLst>
          </p:cNvPr>
          <p:cNvSpPr txBox="1"/>
          <p:nvPr/>
        </p:nvSpPr>
        <p:spPr>
          <a:xfrm>
            <a:off x="1" y="6822"/>
            <a:ext cx="12192000" cy="777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16.10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使用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VSEPR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预测以下分子或离子的形状，并预测每种情况下的 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19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F NMR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光谱形式（忽略与碘的任何耦合）。并讨论为什么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IF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还没有被制备出来，但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[IF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−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是众所周知的。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E28EAC-BD91-4633-A495-833BEB4E4DA1}"/>
              </a:ext>
            </a:extLst>
          </p:cNvPr>
          <p:cNvSpPr txBox="1"/>
          <p:nvPr/>
        </p:nvSpPr>
        <p:spPr>
          <a:xfrm>
            <a:off x="0" y="1720424"/>
            <a:ext cx="12192000" cy="20584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答：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 (d) IF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有五对键合电子对和一对孤对电子。这六对将按照</a:t>
            </a:r>
            <a:r>
              <a:rPr lang="zh-CN" altLang="en-US" b="1" dirty="0">
                <a:solidFill>
                  <a:srgbClr val="0070C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八面体排列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，导致正方形基面的锥形几何结构。对于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19F NMR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光谱的分析：轴向氟原子：由于它们与四个等效的赤道氟原子耦合，轴向氟原子将表现为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1:4:6:4:1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的五重峰。赤道氟原子：由于它们与一个轴向氟原子耦合，四个等效的赤道氟原子将表现为一个双重峰。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(e) IF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7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有七对键合电子对，没有孤对电子。这七对将按照五角双锥形排列。在五角双锥形中，碘原子位于中心，七个氟原子分布在两个不同的平面上：一个平面包含五个氟原子，另一个平面（垂直于第一个平面）包含两个氟原子。这种结构是由于碘的价电子与七个氟原子形成共价键的结果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2DDA48C-5A3C-4F88-8020-0FC070615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627" y="924163"/>
            <a:ext cx="7144747" cy="62873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ABE556B-97ED-4976-B071-4CF84EDB1C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082" y="4003396"/>
            <a:ext cx="3124636" cy="231489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6012379-CFC6-44F9-9CAE-8EEB839CD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9721" y="3965291"/>
            <a:ext cx="2772162" cy="239110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BE80C6B-63F4-4076-A89F-4B7EE26A26DA}"/>
              </a:ext>
            </a:extLst>
          </p:cNvPr>
          <p:cNvSpPr txBox="1"/>
          <p:nvPr/>
        </p:nvSpPr>
        <p:spPr>
          <a:xfrm>
            <a:off x="2210938" y="6291618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IF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endParaRPr lang="zh-CN" altLang="en-US" baseline="-25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396A9A7-A1EE-4FC3-8870-961C72C334C7}"/>
              </a:ext>
            </a:extLst>
          </p:cNvPr>
          <p:cNvSpPr txBox="1"/>
          <p:nvPr/>
        </p:nvSpPr>
        <p:spPr>
          <a:xfrm>
            <a:off x="8939285" y="6291618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IF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7</a:t>
            </a:r>
            <a:endParaRPr lang="zh-CN" altLang="en-US" baseline="-25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4701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8B1B10-27F4-4BE3-966C-7C37CB957B18}"/>
              </a:ext>
            </a:extLst>
          </p:cNvPr>
          <p:cNvSpPr txBox="1"/>
          <p:nvPr/>
        </p:nvSpPr>
        <p:spPr>
          <a:xfrm>
            <a:off x="1" y="6822"/>
            <a:ext cx="12192000" cy="777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16.10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使用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VSEPR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预测以下分子或离子的形状，并预测每种情况下的 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19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F NMR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光谱形式（忽略与碘的任何耦合）。并讨论为什么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IF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还没有被制备出来，但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[IF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−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是众所周知的。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E28EAC-BD91-4633-A495-833BEB4E4DA1}"/>
              </a:ext>
            </a:extLst>
          </p:cNvPr>
          <p:cNvSpPr txBox="1"/>
          <p:nvPr/>
        </p:nvSpPr>
        <p:spPr>
          <a:xfrm>
            <a:off x="0" y="1720424"/>
            <a:ext cx="12192000" cy="1393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答：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  <a:p>
            <a:pPr algn="just">
              <a:lnSpc>
                <a:spcPct val="12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(1) IF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是一个自由基（四个键合对和一个孤对电子，然后还有一个未配对的电子），这可能使其相当活泼，例如与另一个自由基相互作用或从另一个分子中提取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H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或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F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。这样的物种也可能容易发生氧化或歧化反应。</a:t>
            </a:r>
          </a:p>
          <a:p>
            <a:pPr algn="just">
              <a:lnSpc>
                <a:spcPct val="12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(2) [IF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的所有电子都已经成对，因此不是自由基。因此，它更稳定，至少在动力学上是这样。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2DDA48C-5A3C-4F88-8020-0FC070615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627" y="924163"/>
            <a:ext cx="7144747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35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8B1B10-27F4-4BE3-966C-7C37CB957B18}"/>
              </a:ext>
            </a:extLst>
          </p:cNvPr>
          <p:cNvSpPr txBox="1"/>
          <p:nvPr/>
        </p:nvSpPr>
        <p:spPr>
          <a:xfrm>
            <a:off x="1" y="6822"/>
            <a:ext cx="12192000" cy="1497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16.11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解释：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(a)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液态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HF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和液态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都是非常差的电导体，但两种液体的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1:1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混合物是良好的导体。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(b) BF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比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BCl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更耐水解。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(c) PF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在固态时是分子晶体，而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PBr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形成含有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[PBr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+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Br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−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离子的离子晶格。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(d)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生成加合物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A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的平衡常数随着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X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从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F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变为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Cl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再变为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Br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而增加。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E28EAC-BD91-4633-A495-833BEB4E4DA1}"/>
              </a:ext>
            </a:extLst>
          </p:cNvPr>
          <p:cNvSpPr txBox="1"/>
          <p:nvPr/>
        </p:nvSpPr>
        <p:spPr>
          <a:xfrm>
            <a:off x="0" y="1986556"/>
            <a:ext cx="12192000" cy="3055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答：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(a)</a:t>
            </a:r>
          </a:p>
          <a:p>
            <a:pPr algn="just">
              <a:lnSpc>
                <a:spcPct val="12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(1)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液态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HF (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氢氟酸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和液态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 (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硼三氟化物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都是非常差的电导体，因为它们的分子在纯液态时不倾向于形成自由移动的离子。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HF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是一种共价化合物，其分子之间通过氢键相互作用，但没有足够的自由离子来导电。同样，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也是一个共价化合物，其分子间没有可自由移动的电荷载体。</a:t>
            </a:r>
          </a:p>
          <a:p>
            <a:pPr algn="just">
              <a:lnSpc>
                <a:spcPct val="12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(2)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然而，当将液态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HF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与液态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混合时，会发生化学反应，生成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[BF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[H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F]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+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离子：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lnSpc>
                <a:spcPct val="120000"/>
              </a:lnSpc>
            </a:pP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lnSpc>
                <a:spcPct val="120000"/>
              </a:lnSpc>
            </a:pP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这个反应产生了正负离子，这些离子可以在电场中自由移动，从而使混合物成为良好的电导体。这种离子的形成是由于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作为路易斯酸与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HF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作为路易斯碱之间的酸碱反应，形成了稳定的配合物离子。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E75B702-AF04-4DD0-9E04-2EE9B0842EF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45078" y="746016"/>
            <a:ext cx="4717294" cy="93044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594EB7E-46DB-41AB-AF19-BD0F23C05CC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EFE"/>
              </a:clrFrom>
              <a:clrTo>
                <a:srgbClr val="FD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36308" y="3786899"/>
            <a:ext cx="3510452" cy="47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3276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8B1B10-27F4-4BE3-966C-7C37CB957B18}"/>
              </a:ext>
            </a:extLst>
          </p:cNvPr>
          <p:cNvSpPr txBox="1"/>
          <p:nvPr/>
        </p:nvSpPr>
        <p:spPr>
          <a:xfrm>
            <a:off x="1" y="6822"/>
            <a:ext cx="12192000" cy="1497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16.11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解释：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(a)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液态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HF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和液态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都是非常差的电导体，但两种液体的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1:1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混合物是良好的导体。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(b) BF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比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BCl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更耐水解。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(c) PF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在固态时是分子晶体，而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PBr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形成含有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[PBr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+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Br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−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离子的离子晶格。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(d)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生成加合物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A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的平衡常数随着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X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从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F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变为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Cl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再变为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Br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而增加。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E28EAC-BD91-4633-A495-833BEB4E4DA1}"/>
              </a:ext>
            </a:extLst>
          </p:cNvPr>
          <p:cNvSpPr txBox="1"/>
          <p:nvPr/>
        </p:nvSpPr>
        <p:spPr>
          <a:xfrm>
            <a:off x="0" y="1986556"/>
            <a:ext cx="12192000" cy="1061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答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: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(b)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三氟化硼和三氯化硼的水解产生硼酸（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B(OH)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）并最终形成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[B(OH)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−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。因此，该反应涉及将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B-Hal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键替换为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B-OH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键。</a:t>
            </a:r>
          </a:p>
          <a:p>
            <a:pPr algn="just">
              <a:lnSpc>
                <a:spcPct val="12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B-F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键异常牢固，肯定比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B-Cl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键强得多，正是由于这种差异，我们可以将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BCl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的平衡更倾向于水解而不是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归因于此。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E75B702-AF04-4DD0-9E04-2EE9B0842EF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45078" y="746016"/>
            <a:ext cx="4717294" cy="93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584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8B1B10-27F4-4BE3-966C-7C37CB957B18}"/>
              </a:ext>
            </a:extLst>
          </p:cNvPr>
          <p:cNvSpPr txBox="1"/>
          <p:nvPr/>
        </p:nvSpPr>
        <p:spPr>
          <a:xfrm>
            <a:off x="1" y="6822"/>
            <a:ext cx="12192000" cy="1497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16.11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解释：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(a)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液态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HF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和液态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都是非常差的电导体，但两种液体的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1:1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混合物是良好的导体。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(b) BF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比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BCl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更耐水解。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(c) PF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在固态时是分子晶体，而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PBr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形成含有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[PBr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+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Br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−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离子的离子晶格。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(d)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生成加合物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A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的平衡常数随着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X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从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F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变为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Cl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再变为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Br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而增加。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E28EAC-BD91-4633-A495-833BEB4E4DA1}"/>
              </a:ext>
            </a:extLst>
          </p:cNvPr>
          <p:cNvSpPr txBox="1"/>
          <p:nvPr/>
        </p:nvSpPr>
        <p:spPr>
          <a:xfrm>
            <a:off x="0" y="1986556"/>
            <a:ext cx="12192000" cy="3055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答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: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(c)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和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PBr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的固态结构差异主要归因于卤素原子的大小、电负性和配位能力的差异。</a:t>
            </a:r>
          </a:p>
          <a:p>
            <a:pPr algn="just">
              <a:lnSpc>
                <a:spcPct val="120000"/>
              </a:lnSpc>
            </a:pPr>
            <a:r>
              <a:rPr lang="en-US" altLang="zh-CN" b="1" dirty="0">
                <a:solidFill>
                  <a:srgbClr val="00B05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(1) </a:t>
            </a:r>
            <a:r>
              <a:rPr lang="zh-CN" altLang="en-US" b="1" dirty="0">
                <a:solidFill>
                  <a:srgbClr val="00B05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电负性和原子大小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：氟原子比溴原子小，电负性更强。这使得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中的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P-F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键更具有共价性，而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PBr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中的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P-Br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键由于溴的较大半径和较低的电负性，共价性较弱。</a:t>
            </a:r>
          </a:p>
          <a:p>
            <a:pPr algn="just">
              <a:lnSpc>
                <a:spcPct val="120000"/>
              </a:lnSpc>
            </a:pPr>
            <a:r>
              <a:rPr lang="en-US" altLang="zh-CN" b="1" dirty="0">
                <a:solidFill>
                  <a:srgbClr val="00B05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(2) </a:t>
            </a:r>
            <a:r>
              <a:rPr lang="zh-CN" altLang="en-US" b="1" dirty="0">
                <a:solidFill>
                  <a:srgbClr val="00B05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配位能力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：溴原子的配位能力较强，这使得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PBr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中的磷原子可以与更多的溴原子形成配位键。当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PBr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晶体形成时，部分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P-Br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键可能断裂，形成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[PBr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+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阳离子和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Br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−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阴离子，从而形成离子晶格。这种离子的形成是由于溴的大尺寸和较高的极化性，使得它们更容易形成离子键。</a:t>
            </a:r>
          </a:p>
          <a:p>
            <a:pPr algn="just">
              <a:lnSpc>
                <a:spcPct val="120000"/>
              </a:lnSpc>
            </a:pPr>
            <a:r>
              <a:rPr lang="en-US" altLang="zh-CN" b="1" dirty="0">
                <a:solidFill>
                  <a:srgbClr val="00B05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(3) </a:t>
            </a:r>
            <a:r>
              <a:rPr lang="zh-CN" altLang="en-US" b="1" dirty="0">
                <a:solidFill>
                  <a:srgbClr val="00B05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分子间作用力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：在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中，由于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F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的较小尺寸和高电负性，分子间的范德华力较强，足以维持分子晶体的结构。而在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PBr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中，由于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Br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的较大尺寸和较低电负性，分子间的范德华力较弱，不足以抵抗形成离子晶格的趋势。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E75B702-AF04-4DD0-9E04-2EE9B0842EF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45078" y="746016"/>
            <a:ext cx="4717294" cy="93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6003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8B1B10-27F4-4BE3-966C-7C37CB957B18}"/>
              </a:ext>
            </a:extLst>
          </p:cNvPr>
          <p:cNvSpPr txBox="1"/>
          <p:nvPr/>
        </p:nvSpPr>
        <p:spPr>
          <a:xfrm>
            <a:off x="1" y="6822"/>
            <a:ext cx="12192000" cy="1497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16.11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解释：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(a)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液态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HF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和液态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都是非常差的电导体，但两种液体的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1:1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混合物是良好的导体。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(b) BF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比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BCl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更耐水解。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(c) PF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在固态时是分子晶体，而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PBr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形成含有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[PBr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]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+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Br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−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离子的离子晶格。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(d)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生成加合物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A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的平衡常数随着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X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从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F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变为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Cl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再变为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Br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而增加。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E28EAC-BD91-4633-A495-833BEB4E4DA1}"/>
              </a:ext>
            </a:extLst>
          </p:cNvPr>
          <p:cNvSpPr txBox="1"/>
          <p:nvPr/>
        </p:nvSpPr>
        <p:spPr>
          <a:xfrm>
            <a:off x="0" y="1986556"/>
            <a:ext cx="12192000" cy="1061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答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: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(d)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(1)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增加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X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的吸电子能力会增加硼的有效核电荷，从而降低其轨道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特别是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LUMO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，面外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2p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轨道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)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的能量，从而使其与氮的相互作用更强。加合物中的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N-B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键因此变得更强，当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X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的电负性变得更强时，加合物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A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的能量变得更低。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E75B702-AF04-4DD0-9E04-2EE9B0842EF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45078" y="746016"/>
            <a:ext cx="4717294" cy="93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817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8B1B10-27F4-4BE3-966C-7C37CB957B18}"/>
              </a:ext>
            </a:extLst>
          </p:cNvPr>
          <p:cNvSpPr txBox="1"/>
          <p:nvPr/>
        </p:nvSpPr>
        <p:spPr>
          <a:xfrm>
            <a:off x="1" y="6822"/>
            <a:ext cx="12192000" cy="417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16.13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根据下面的反应，第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族金属的超氧化物倾向于分解成过氧化物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E28EAC-BD91-4633-A495-833BEB4E4DA1}"/>
              </a:ext>
            </a:extLst>
          </p:cNvPr>
          <p:cNvSpPr txBox="1"/>
          <p:nvPr/>
        </p:nvSpPr>
        <p:spPr>
          <a:xfrm>
            <a:off x="0" y="3467342"/>
            <a:ext cx="12192000" cy="3388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(a)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使用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Kapustinskii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方程，即第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197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页的公式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6.5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，写出步骤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所需的晶格焓表达式。将阳离子半径写为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r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+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，并假设两种阴离子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O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2-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O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2-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具有相同的半径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r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（对于这种相当粗略的计算来说，这是一个合理的假设）。</a:t>
            </a:r>
          </a:p>
          <a:p>
            <a:pPr algn="just">
              <a:lnSpc>
                <a:spcPct val="12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(b)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步骤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的∆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rH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◦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不随金属变化，所以我们可以直接假设一个值，我们将称之为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C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。使用这个值和你对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(a)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的答案来获得步骤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的∆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rH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◦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表达式。</a:t>
            </a:r>
          </a:p>
          <a:p>
            <a:pPr algn="just">
              <a:lnSpc>
                <a:spcPct val="12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(c)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仔细解释为什么你的表达式预测随着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r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+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的增加，步骤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的∆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rH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◦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值增加。使用这个结果来解释为什么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LiO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是未知的，但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RbO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很容易形成。</a:t>
            </a:r>
          </a:p>
          <a:p>
            <a:pPr algn="just">
              <a:lnSpc>
                <a:spcPct val="12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(d)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（需要微积分）对第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步中的∆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rH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°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表达式关于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r⁺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求导，假设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r⁻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是常数。论证导数为正，因此导致与（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c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）中的预测相同，即∆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rH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°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随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r⁺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的变化方式。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(e)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在第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步中，我们不应该考虑∆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rH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◦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，而应该考虑∆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rG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◦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，即应该包括一个熵项。讨论这个讨论的结论是否可能受到包含这样一个熵项的影响。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E43D151-FC0E-4441-AB35-7D1343A2FEA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47787" y="452675"/>
            <a:ext cx="4496427" cy="65731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A0713D7-59C5-4425-ACFF-ABAC10E42E69}"/>
              </a:ext>
            </a:extLst>
          </p:cNvPr>
          <p:cNvSpPr txBox="1"/>
          <p:nvPr/>
        </p:nvSpPr>
        <p:spPr>
          <a:xfrm>
            <a:off x="1" y="1153234"/>
            <a:ext cx="12192000" cy="417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这个反应的能量学可以用下面的赫斯定律循环来分析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3E13E38-2B7A-4E04-B63C-319F6677D29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662191" y="1587420"/>
            <a:ext cx="6867617" cy="192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610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8B1B10-27F4-4BE3-966C-7C37CB957B18}"/>
              </a:ext>
            </a:extLst>
          </p:cNvPr>
          <p:cNvSpPr txBox="1"/>
          <p:nvPr/>
        </p:nvSpPr>
        <p:spPr>
          <a:xfrm>
            <a:off x="1" y="6822"/>
            <a:ext cx="12192000" cy="417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16.13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根据下面的反应，第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族金属的超氧化物倾向于分解成过氧化物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E43D151-FC0E-4441-AB35-7D1343A2FEA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47787" y="363963"/>
            <a:ext cx="4496427" cy="65731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A0713D7-59C5-4425-ACFF-ABAC10E42E69}"/>
              </a:ext>
            </a:extLst>
          </p:cNvPr>
          <p:cNvSpPr txBox="1"/>
          <p:nvPr/>
        </p:nvSpPr>
        <p:spPr>
          <a:xfrm>
            <a:off x="1" y="934866"/>
            <a:ext cx="12192000" cy="417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这个反应的能量学可以用下面的赫斯定律循环来分析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3E13E38-2B7A-4E04-B63C-319F6677D29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74355" y="1094777"/>
            <a:ext cx="6243288" cy="174780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D559122-8A1F-4E28-BF73-233EDAC226D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1344"/>
          <a:stretch/>
        </p:blipFill>
        <p:spPr>
          <a:xfrm>
            <a:off x="2821030" y="3704180"/>
            <a:ext cx="6549940" cy="314819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B84E18C-F158-4D4E-A475-B21DE9B026DF}"/>
              </a:ext>
            </a:extLst>
          </p:cNvPr>
          <p:cNvSpPr txBox="1"/>
          <p:nvPr/>
        </p:nvSpPr>
        <p:spPr>
          <a:xfrm>
            <a:off x="0" y="2902775"/>
            <a:ext cx="12192000" cy="728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(a)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使用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Kapustinskii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方程，即第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197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页的公式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6.5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，写出步骤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3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所需的晶格焓表达式。将阳离子半径写为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r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+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，并假设两种阴离子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O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2-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O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2-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具有相同的半径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r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-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（对于这种相当粗略的计算来说，这是一个合理的假设）。</a:t>
            </a:r>
          </a:p>
        </p:txBody>
      </p:sp>
    </p:spTree>
    <p:extLst>
      <p:ext uri="{BB962C8B-B14F-4D97-AF65-F5344CB8AC3E}">
        <p14:creationId xmlns:p14="http://schemas.microsoft.com/office/powerpoint/2010/main" val="445843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8B1B10-27F4-4BE3-966C-7C37CB957B18}"/>
              </a:ext>
            </a:extLst>
          </p:cNvPr>
          <p:cNvSpPr txBox="1"/>
          <p:nvPr/>
        </p:nvSpPr>
        <p:spPr>
          <a:xfrm>
            <a:off x="1" y="6822"/>
            <a:ext cx="12192000" cy="417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16.13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根据下面的反应，第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族金属的超氧化物倾向于分解成过氧化物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E43D151-FC0E-4441-AB35-7D1343A2FEA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47787" y="309371"/>
            <a:ext cx="4496427" cy="65731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A0713D7-59C5-4425-ACFF-ABAC10E42E69}"/>
              </a:ext>
            </a:extLst>
          </p:cNvPr>
          <p:cNvSpPr txBox="1"/>
          <p:nvPr/>
        </p:nvSpPr>
        <p:spPr>
          <a:xfrm>
            <a:off x="1" y="968986"/>
            <a:ext cx="12192000" cy="417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这个反应的能量学可以用下面的赫斯定律循环来分析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3E13E38-2B7A-4E04-B63C-319F6677D29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74355" y="1319963"/>
            <a:ext cx="6243288" cy="174780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D98D171-F573-460F-90CA-908F7F94DE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2587" y="3848482"/>
            <a:ext cx="6226827" cy="279133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EC11002-8329-47B7-948A-F6688DA8999A}"/>
              </a:ext>
            </a:extLst>
          </p:cNvPr>
          <p:cNvSpPr txBox="1"/>
          <p:nvPr/>
        </p:nvSpPr>
        <p:spPr>
          <a:xfrm>
            <a:off x="2040340" y="4295632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(b)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A7E0A3F-365B-4830-A666-2C70F72F5DAC}"/>
              </a:ext>
            </a:extLst>
          </p:cNvPr>
          <p:cNvSpPr txBox="1"/>
          <p:nvPr/>
        </p:nvSpPr>
        <p:spPr>
          <a:xfrm>
            <a:off x="0" y="3137213"/>
            <a:ext cx="12192000" cy="728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(b)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步骤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的∆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rH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◦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不随金属变化，所以我们可以直接假设一个值，我们将称之为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C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。使用这个值和你对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(a)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的答案来获得步骤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的∆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rH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◦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表达式。</a:t>
            </a:r>
          </a:p>
        </p:txBody>
      </p:sp>
    </p:spTree>
    <p:extLst>
      <p:ext uri="{BB962C8B-B14F-4D97-AF65-F5344CB8AC3E}">
        <p14:creationId xmlns:p14="http://schemas.microsoft.com/office/powerpoint/2010/main" val="15488918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8B1B10-27F4-4BE3-966C-7C37CB957B18}"/>
              </a:ext>
            </a:extLst>
          </p:cNvPr>
          <p:cNvSpPr txBox="1"/>
          <p:nvPr/>
        </p:nvSpPr>
        <p:spPr>
          <a:xfrm>
            <a:off x="1" y="6822"/>
            <a:ext cx="12192000" cy="417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16.13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根据下面的反应，第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族金属的超氧化物倾向于分解成过氧化物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E43D151-FC0E-4441-AB35-7D1343A2FEA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47787" y="452675"/>
            <a:ext cx="4496427" cy="65731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A0713D7-59C5-4425-ACFF-ABAC10E42E69}"/>
              </a:ext>
            </a:extLst>
          </p:cNvPr>
          <p:cNvSpPr txBox="1"/>
          <p:nvPr/>
        </p:nvSpPr>
        <p:spPr>
          <a:xfrm>
            <a:off x="1" y="1153234"/>
            <a:ext cx="12192000" cy="417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这个反应的能量学可以用下面的赫斯定律循环来分析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3E13E38-2B7A-4E04-B63C-319F6677D29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74355" y="1504211"/>
            <a:ext cx="6243288" cy="174780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B5B2E8D-F361-4277-B71E-783D157CF028}"/>
              </a:ext>
            </a:extLst>
          </p:cNvPr>
          <p:cNvSpPr txBox="1"/>
          <p:nvPr/>
        </p:nvSpPr>
        <p:spPr>
          <a:xfrm>
            <a:off x="34118" y="4422690"/>
            <a:ext cx="12157881" cy="1390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答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: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 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  <a:sym typeface="Wingdings" panose="05000000000000000000" pitchFamily="2" charset="2"/>
              </a:rPr>
              <a:t>(c)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随着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r⁺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的增加，分数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2A/(r⁺ + r⁻)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变小。由于分数前面有一个负号，整个项变得不那么负。因此∆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rH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°(4)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增加。因此，随着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r⁺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的增加，反应在能量上（焓上）变得不那么有利。因此，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LiO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₂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通过反应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比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RbO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₂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更容易分解是有道理的，因为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Rb⁺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是较大的阳离子。超氧化物分解的倾向因此对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Rb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比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Li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小，这可能解释为什么没有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LiO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₂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16B2566-DBAC-4BE5-B8AA-467E89981EBB}"/>
              </a:ext>
            </a:extLst>
          </p:cNvPr>
          <p:cNvSpPr txBox="1"/>
          <p:nvPr/>
        </p:nvSpPr>
        <p:spPr>
          <a:xfrm>
            <a:off x="0" y="3532995"/>
            <a:ext cx="12192000" cy="728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(c)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仔细解释为什么你的表达式预测随着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r</a:t>
            </a:r>
            <a:r>
              <a:rPr lang="en-US" altLang="zh-CN" baseline="30000" dirty="0">
                <a:latin typeface="华文中宋" panose="02010600040101010101" pitchFamily="2" charset="-122"/>
                <a:ea typeface="华文中宋" panose="02010600040101010101" pitchFamily="2" charset="-122"/>
              </a:rPr>
              <a:t>+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的增加，步骤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的∆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rH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◦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值增加。使用这个结果来解释为什么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LiO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是未知的，但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RbO</a:t>
            </a:r>
            <a:r>
              <a:rPr lang="en-US" altLang="zh-CN" baseline="-25000" dirty="0">
                <a:latin typeface="华文中宋" panose="02010600040101010101" pitchFamily="2" charset="-122"/>
                <a:ea typeface="华文中宋" panose="02010600040101010101" pitchFamily="2" charset="-122"/>
              </a:rPr>
              <a:t>2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很容易形成。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14F9C09-3935-414D-A563-DF52BCBD1C0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9909" t="76769" r="48721"/>
          <a:stretch/>
        </p:blipFill>
        <p:spPr>
          <a:xfrm>
            <a:off x="5430671" y="4067032"/>
            <a:ext cx="1330657" cy="64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8774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8B1B10-27F4-4BE3-966C-7C37CB957B18}"/>
              </a:ext>
            </a:extLst>
          </p:cNvPr>
          <p:cNvSpPr txBox="1"/>
          <p:nvPr/>
        </p:nvSpPr>
        <p:spPr>
          <a:xfrm>
            <a:off x="1" y="6822"/>
            <a:ext cx="12192000" cy="417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16.13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根据下面的反应，第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族金属的超氧化物倾向于分解成过氧化物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E43D151-FC0E-4441-AB35-7D1343A2FEA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47787" y="343491"/>
            <a:ext cx="4496427" cy="65731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A0713D7-59C5-4425-ACFF-ABAC10E42E69}"/>
              </a:ext>
            </a:extLst>
          </p:cNvPr>
          <p:cNvSpPr txBox="1"/>
          <p:nvPr/>
        </p:nvSpPr>
        <p:spPr>
          <a:xfrm>
            <a:off x="1" y="968986"/>
            <a:ext cx="12192000" cy="417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这个反应的能量学可以用下面的赫斯定律循环来分析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3E13E38-2B7A-4E04-B63C-319F6677D29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258141" y="1399408"/>
            <a:ext cx="5675716" cy="158891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769B641-D813-460C-9166-DB74057464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1917" y="4108831"/>
            <a:ext cx="5668166" cy="203863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CB6A078-35BA-48B9-8C42-3C0BD4D7915A}"/>
              </a:ext>
            </a:extLst>
          </p:cNvPr>
          <p:cNvSpPr txBox="1"/>
          <p:nvPr/>
        </p:nvSpPr>
        <p:spPr>
          <a:xfrm>
            <a:off x="2040340" y="3742901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(d)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2B9A065-38ED-4DB4-8E0B-90184C6D739C}"/>
              </a:ext>
            </a:extLst>
          </p:cNvPr>
          <p:cNvSpPr txBox="1"/>
          <p:nvPr/>
        </p:nvSpPr>
        <p:spPr>
          <a:xfrm>
            <a:off x="0" y="2899849"/>
            <a:ext cx="12192000" cy="725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(d)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（需要微积分）对第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步中的∆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rH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°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表达式关于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r⁺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求导，假设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r⁻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是常数。论证导数为正，因此导致与（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c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）中的预测相同，即∆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rH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°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随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r⁺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的变化方式。</a:t>
            </a:r>
            <a:endParaRPr lang="en-US" altLang="zh-CN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94146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08B1B10-27F4-4BE3-966C-7C37CB957B18}"/>
              </a:ext>
            </a:extLst>
          </p:cNvPr>
          <p:cNvSpPr txBox="1"/>
          <p:nvPr/>
        </p:nvSpPr>
        <p:spPr>
          <a:xfrm>
            <a:off x="1" y="6822"/>
            <a:ext cx="12192000" cy="417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16.13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根据下面的反应，第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1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族金属的超氧化物倾向于分解成过氧化物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E43D151-FC0E-4441-AB35-7D1343A2FEA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47787" y="452675"/>
            <a:ext cx="4496427" cy="65731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A0713D7-59C5-4425-ACFF-ABAC10E42E69}"/>
              </a:ext>
            </a:extLst>
          </p:cNvPr>
          <p:cNvSpPr txBox="1"/>
          <p:nvPr/>
        </p:nvSpPr>
        <p:spPr>
          <a:xfrm>
            <a:off x="1" y="1153234"/>
            <a:ext cx="12192000" cy="417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这个反应的能量学可以用下面的赫斯定律循环来分析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: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3E13E38-2B7A-4E04-B63C-319F6677D29E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74355" y="1504211"/>
            <a:ext cx="6243288" cy="174780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E6D0A2C-01CE-441B-A4E7-A9A4926B3C72}"/>
              </a:ext>
            </a:extLst>
          </p:cNvPr>
          <p:cNvSpPr txBox="1"/>
          <p:nvPr/>
        </p:nvSpPr>
        <p:spPr>
          <a:xfrm>
            <a:off x="0" y="3335104"/>
            <a:ext cx="12192000" cy="728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(e) 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在第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步中，我们不应该考虑∆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rH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◦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，而应该考虑∆</a:t>
            </a:r>
            <a:r>
              <a:rPr lang="en-US" altLang="zh-CN" dirty="0" err="1">
                <a:latin typeface="华文中宋" panose="02010600040101010101" pitchFamily="2" charset="-122"/>
                <a:ea typeface="华文中宋" panose="02010600040101010101" pitchFamily="2" charset="-122"/>
              </a:rPr>
              <a:t>rG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◦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，即应该包括一个熵项。讨论这个讨论的结论是否可能受到包含这样一个熵项的影响。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DED513D-346A-4F31-AFC4-4FCD3021973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60240" y="1642850"/>
            <a:ext cx="3519485" cy="126583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488AF21-285F-4F22-BF8E-8AE6EBA99C9C}"/>
              </a:ext>
            </a:extLst>
          </p:cNvPr>
          <p:cNvSpPr txBox="1"/>
          <p:nvPr/>
        </p:nvSpPr>
        <p:spPr>
          <a:xfrm>
            <a:off x="0" y="4297272"/>
            <a:ext cx="12192000" cy="1061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答：当我们谈论反应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4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时，主要的变化是在反应的右边会产生一摩尔的气体，而左边则没有气体。这个变化非常大，以至于它会掩盖掉当我们改变金属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M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时，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MO₂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和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M₂O₂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之间熵的微小差异。简单来说，当我们在讨论更换不同的金属对反应的影响时，熵的变化其实并不是那么关键。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9C0417-DF93-4D91-AAD9-EA85B20887D1}"/>
              </a:ext>
            </a:extLst>
          </p:cNvPr>
          <p:cNvSpPr/>
          <p:nvPr/>
        </p:nvSpPr>
        <p:spPr>
          <a:xfrm>
            <a:off x="6912591" y="1501254"/>
            <a:ext cx="1678675" cy="47767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748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6067</Words>
  <Application>Microsoft Office PowerPoint</Application>
  <PresentationFormat>宽屏</PresentationFormat>
  <Paragraphs>151</Paragraphs>
  <Slides>25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0" baseType="lpstr">
      <vt:lpstr>华文中宋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ling jiang</dc:creator>
  <cp:lastModifiedBy>ling jiang</cp:lastModifiedBy>
  <cp:revision>67</cp:revision>
  <dcterms:created xsi:type="dcterms:W3CDTF">2024-05-27T05:53:11Z</dcterms:created>
  <dcterms:modified xsi:type="dcterms:W3CDTF">2024-06-04T08:02:58Z</dcterms:modified>
</cp:coreProperties>
</file>