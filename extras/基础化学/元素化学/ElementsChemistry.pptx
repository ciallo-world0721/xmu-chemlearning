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3.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65" r:id="rId3"/>
    <p:sldId id="266" r:id="rId4"/>
    <p:sldId id="267" r:id="rId5"/>
    <p:sldId id="268" r:id="rId6"/>
    <p:sldId id="257" r:id="rId7"/>
    <p:sldId id="270" r:id="rId8"/>
    <p:sldId id="258" r:id="rId9"/>
    <p:sldId id="271" r:id="rId10"/>
    <p:sldId id="259" r:id="rId11"/>
    <p:sldId id="272" r:id="rId12"/>
    <p:sldId id="260" r:id="rId13"/>
    <p:sldId id="273" r:id="rId14"/>
    <p:sldId id="261" r:id="rId15"/>
    <p:sldId id="274" r:id="rId16"/>
    <p:sldId id="262" r:id="rId17"/>
    <p:sldId id="275" r:id="rId18"/>
    <p:sldId id="276" r:id="rId19"/>
    <p:sldId id="277" r:id="rId20"/>
    <p:sldId id="278" r:id="rId21"/>
    <p:sldId id="263" r:id="rId22"/>
    <p:sldId id="279" r:id="rId23"/>
    <p:sldId id="280" r:id="rId24"/>
    <p:sldId id="281" r:id="rId25"/>
    <p:sldId id="264" r:id="rId26"/>
    <p:sldId id="282" r:id="rId27"/>
    <p:sldId id="283"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18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F8649"/>
    <a:srgbClr val="A3961D"/>
    <a:srgbClr val="1A95A6"/>
    <a:srgbClr val="B970DE"/>
    <a:srgbClr val="28A484"/>
    <a:srgbClr val="DDD925"/>
    <a:srgbClr val="DD5DAC"/>
    <a:srgbClr val="45D764"/>
    <a:srgbClr val="27D2DB"/>
    <a:srgbClr val="43E1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12" d="100"/>
          <a:sy n="112" d="100"/>
        </p:scale>
        <p:origin x="835" y="91"/>
      </p:cViewPr>
      <p:guideLst>
        <p:guide orient="horz" pos="2160"/>
        <p:guide pos="187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5AFDA3-D55A-4A12-9F7A-F5E029BD27E3}" type="datetimeFigureOut">
              <a:rPr lang="zh-CN" altLang="en-US" smtClean="0"/>
              <a:t>2024/5/15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51B941-F461-4B17-9EBF-0C3D160BD512}" type="slidenum">
              <a:rPr lang="zh-CN" altLang="en-US" smtClean="0"/>
              <a:t>‹#›</a:t>
            </a:fld>
            <a:endParaRPr lang="zh-CN" altLang="en-US"/>
          </a:p>
        </p:txBody>
      </p:sp>
    </p:spTree>
    <p:extLst>
      <p:ext uri="{BB962C8B-B14F-4D97-AF65-F5344CB8AC3E}">
        <p14:creationId xmlns:p14="http://schemas.microsoft.com/office/powerpoint/2010/main" val="2155626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51B941-F461-4B17-9EBF-0C3D160BD512}" type="slidenum">
              <a:rPr lang="zh-CN" altLang="en-US" smtClean="0"/>
              <a:t>3</a:t>
            </a:fld>
            <a:endParaRPr lang="zh-CN" altLang="en-US"/>
          </a:p>
        </p:txBody>
      </p:sp>
    </p:spTree>
    <p:extLst>
      <p:ext uri="{BB962C8B-B14F-4D97-AF65-F5344CB8AC3E}">
        <p14:creationId xmlns:p14="http://schemas.microsoft.com/office/powerpoint/2010/main" val="494903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51B941-F461-4B17-9EBF-0C3D160BD512}" type="slidenum">
              <a:rPr lang="zh-CN" altLang="en-US" smtClean="0"/>
              <a:t>7</a:t>
            </a:fld>
            <a:endParaRPr lang="zh-CN" altLang="en-US"/>
          </a:p>
        </p:txBody>
      </p:sp>
    </p:spTree>
    <p:extLst>
      <p:ext uri="{BB962C8B-B14F-4D97-AF65-F5344CB8AC3E}">
        <p14:creationId xmlns:p14="http://schemas.microsoft.com/office/powerpoint/2010/main" val="2714063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51B941-F461-4B17-9EBF-0C3D160BD512}" type="slidenum">
              <a:rPr lang="zh-CN" altLang="en-US" smtClean="0"/>
              <a:t>15</a:t>
            </a:fld>
            <a:endParaRPr lang="zh-CN" altLang="en-US"/>
          </a:p>
        </p:txBody>
      </p:sp>
    </p:spTree>
    <p:extLst>
      <p:ext uri="{BB962C8B-B14F-4D97-AF65-F5344CB8AC3E}">
        <p14:creationId xmlns:p14="http://schemas.microsoft.com/office/powerpoint/2010/main" val="26780825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5A5D9C-2B54-4341-A576-27C07A511E1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0753EC6-4776-4247-8311-B7FB3E53BE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BB6B5E6-B528-47E2-89AC-09E0FDE7D63C}"/>
              </a:ext>
            </a:extLst>
          </p:cNvPr>
          <p:cNvSpPr>
            <a:spLocks noGrp="1"/>
          </p:cNvSpPr>
          <p:nvPr>
            <p:ph type="dt" sz="half" idx="10"/>
          </p:nvPr>
        </p:nvSpPr>
        <p:spPr/>
        <p:txBody>
          <a:bodyPr/>
          <a:lstStyle/>
          <a:p>
            <a:fld id="{6060EC45-D944-42F7-8E15-EB780277A67B}" type="datetimeFigureOut">
              <a:rPr lang="zh-CN" altLang="en-US" smtClean="0"/>
              <a:t>2024/5/15</a:t>
            </a:fld>
            <a:endParaRPr lang="zh-CN" altLang="en-US"/>
          </a:p>
        </p:txBody>
      </p:sp>
      <p:sp>
        <p:nvSpPr>
          <p:cNvPr id="5" name="页脚占位符 4">
            <a:extLst>
              <a:ext uri="{FF2B5EF4-FFF2-40B4-BE49-F238E27FC236}">
                <a16:creationId xmlns:a16="http://schemas.microsoft.com/office/drawing/2014/main" id="{CE68AC6B-48C2-4F21-BE36-A42F12B49D6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7D9E0EE-4F2C-4503-95AF-DEC64FF4539D}"/>
              </a:ext>
            </a:extLst>
          </p:cNvPr>
          <p:cNvSpPr>
            <a:spLocks noGrp="1"/>
          </p:cNvSpPr>
          <p:nvPr>
            <p:ph type="sldNum" sz="quarter" idx="12"/>
          </p:nvPr>
        </p:nvSpPr>
        <p:spPr/>
        <p:txBody>
          <a:bodyPr/>
          <a:lstStyle/>
          <a:p>
            <a:fld id="{1D694878-E48A-43AE-B24E-DC73795E40D9}" type="slidenum">
              <a:rPr lang="zh-CN" altLang="en-US" smtClean="0"/>
              <a:t>‹#›</a:t>
            </a:fld>
            <a:endParaRPr lang="zh-CN" altLang="en-US"/>
          </a:p>
        </p:txBody>
      </p:sp>
    </p:spTree>
    <p:extLst>
      <p:ext uri="{BB962C8B-B14F-4D97-AF65-F5344CB8AC3E}">
        <p14:creationId xmlns:p14="http://schemas.microsoft.com/office/powerpoint/2010/main" val="1110482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ABFDDE-B73D-420F-8584-A350B785C92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29D609E-FB1B-4B31-B38A-DAAE09568EB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7EDA237-7E70-4F2B-88FF-2CFF849EF580}"/>
              </a:ext>
            </a:extLst>
          </p:cNvPr>
          <p:cNvSpPr>
            <a:spLocks noGrp="1"/>
          </p:cNvSpPr>
          <p:nvPr>
            <p:ph type="dt" sz="half" idx="10"/>
          </p:nvPr>
        </p:nvSpPr>
        <p:spPr/>
        <p:txBody>
          <a:bodyPr/>
          <a:lstStyle/>
          <a:p>
            <a:fld id="{6060EC45-D944-42F7-8E15-EB780277A67B}" type="datetimeFigureOut">
              <a:rPr lang="zh-CN" altLang="en-US" smtClean="0"/>
              <a:t>2024/5/15</a:t>
            </a:fld>
            <a:endParaRPr lang="zh-CN" altLang="en-US"/>
          </a:p>
        </p:txBody>
      </p:sp>
      <p:sp>
        <p:nvSpPr>
          <p:cNvPr id="5" name="页脚占位符 4">
            <a:extLst>
              <a:ext uri="{FF2B5EF4-FFF2-40B4-BE49-F238E27FC236}">
                <a16:creationId xmlns:a16="http://schemas.microsoft.com/office/drawing/2014/main" id="{1641F0F0-02FC-471A-967D-59EF8C7AC7D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73DB3AD-B460-4DC0-B3BD-981EE4F692BE}"/>
              </a:ext>
            </a:extLst>
          </p:cNvPr>
          <p:cNvSpPr>
            <a:spLocks noGrp="1"/>
          </p:cNvSpPr>
          <p:nvPr>
            <p:ph type="sldNum" sz="quarter" idx="12"/>
          </p:nvPr>
        </p:nvSpPr>
        <p:spPr/>
        <p:txBody>
          <a:bodyPr/>
          <a:lstStyle/>
          <a:p>
            <a:fld id="{1D694878-E48A-43AE-B24E-DC73795E40D9}" type="slidenum">
              <a:rPr lang="zh-CN" altLang="en-US" smtClean="0"/>
              <a:t>‹#›</a:t>
            </a:fld>
            <a:endParaRPr lang="zh-CN" altLang="en-US"/>
          </a:p>
        </p:txBody>
      </p:sp>
    </p:spTree>
    <p:extLst>
      <p:ext uri="{BB962C8B-B14F-4D97-AF65-F5344CB8AC3E}">
        <p14:creationId xmlns:p14="http://schemas.microsoft.com/office/powerpoint/2010/main" val="1114289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7C2B5A-EBEB-45E2-81BA-C5591259B46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CBC7856-C1E1-4EFA-8BB2-95E7A10377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A27A6C4-83F9-4A2B-B340-DDD5522D4B75}"/>
              </a:ext>
            </a:extLst>
          </p:cNvPr>
          <p:cNvSpPr>
            <a:spLocks noGrp="1"/>
          </p:cNvSpPr>
          <p:nvPr>
            <p:ph type="dt" sz="half" idx="10"/>
          </p:nvPr>
        </p:nvSpPr>
        <p:spPr/>
        <p:txBody>
          <a:bodyPr/>
          <a:lstStyle/>
          <a:p>
            <a:fld id="{6060EC45-D944-42F7-8E15-EB780277A67B}" type="datetimeFigureOut">
              <a:rPr lang="zh-CN" altLang="en-US" smtClean="0"/>
              <a:t>2024/5/15</a:t>
            </a:fld>
            <a:endParaRPr lang="zh-CN" altLang="en-US"/>
          </a:p>
        </p:txBody>
      </p:sp>
      <p:sp>
        <p:nvSpPr>
          <p:cNvPr id="5" name="页脚占位符 4">
            <a:extLst>
              <a:ext uri="{FF2B5EF4-FFF2-40B4-BE49-F238E27FC236}">
                <a16:creationId xmlns:a16="http://schemas.microsoft.com/office/drawing/2014/main" id="{176B28B3-A50B-4C66-87FA-B758EDB1710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4B05BE9-C688-4EC2-BBA7-311E70DDA5CC}"/>
              </a:ext>
            </a:extLst>
          </p:cNvPr>
          <p:cNvSpPr>
            <a:spLocks noGrp="1"/>
          </p:cNvSpPr>
          <p:nvPr>
            <p:ph type="sldNum" sz="quarter" idx="12"/>
          </p:nvPr>
        </p:nvSpPr>
        <p:spPr/>
        <p:txBody>
          <a:bodyPr/>
          <a:lstStyle/>
          <a:p>
            <a:fld id="{1D694878-E48A-43AE-B24E-DC73795E40D9}" type="slidenum">
              <a:rPr lang="zh-CN" altLang="en-US" smtClean="0"/>
              <a:t>‹#›</a:t>
            </a:fld>
            <a:endParaRPr lang="zh-CN" altLang="en-US"/>
          </a:p>
        </p:txBody>
      </p:sp>
    </p:spTree>
    <p:extLst>
      <p:ext uri="{BB962C8B-B14F-4D97-AF65-F5344CB8AC3E}">
        <p14:creationId xmlns:p14="http://schemas.microsoft.com/office/powerpoint/2010/main" val="16055999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0FED01-414C-4DB9-8AF2-D25069362B9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164606B-9CDB-4507-8379-53A10E8A31E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A597877-85BB-4BA6-95B6-C07A803B170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3ABA779-BFCB-47BE-97FD-3019CA108DB9}"/>
              </a:ext>
            </a:extLst>
          </p:cNvPr>
          <p:cNvSpPr>
            <a:spLocks noGrp="1"/>
          </p:cNvSpPr>
          <p:nvPr>
            <p:ph type="dt" sz="half" idx="10"/>
          </p:nvPr>
        </p:nvSpPr>
        <p:spPr/>
        <p:txBody>
          <a:bodyPr/>
          <a:lstStyle/>
          <a:p>
            <a:fld id="{6060EC45-D944-42F7-8E15-EB780277A67B}" type="datetimeFigureOut">
              <a:rPr lang="zh-CN" altLang="en-US" smtClean="0"/>
              <a:t>2024/5/15</a:t>
            </a:fld>
            <a:endParaRPr lang="zh-CN" altLang="en-US"/>
          </a:p>
        </p:txBody>
      </p:sp>
      <p:sp>
        <p:nvSpPr>
          <p:cNvPr id="6" name="页脚占位符 5">
            <a:extLst>
              <a:ext uri="{FF2B5EF4-FFF2-40B4-BE49-F238E27FC236}">
                <a16:creationId xmlns:a16="http://schemas.microsoft.com/office/drawing/2014/main" id="{C66537A0-2C8A-44A3-A19D-0F4F37691AE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BF2CD33-A63C-4231-90DB-4C6237F0876A}"/>
              </a:ext>
            </a:extLst>
          </p:cNvPr>
          <p:cNvSpPr>
            <a:spLocks noGrp="1"/>
          </p:cNvSpPr>
          <p:nvPr>
            <p:ph type="sldNum" sz="quarter" idx="12"/>
          </p:nvPr>
        </p:nvSpPr>
        <p:spPr/>
        <p:txBody>
          <a:bodyPr/>
          <a:lstStyle/>
          <a:p>
            <a:fld id="{1D694878-E48A-43AE-B24E-DC73795E40D9}" type="slidenum">
              <a:rPr lang="zh-CN" altLang="en-US" smtClean="0"/>
              <a:t>‹#›</a:t>
            </a:fld>
            <a:endParaRPr lang="zh-CN" altLang="en-US"/>
          </a:p>
        </p:txBody>
      </p:sp>
    </p:spTree>
    <p:extLst>
      <p:ext uri="{BB962C8B-B14F-4D97-AF65-F5344CB8AC3E}">
        <p14:creationId xmlns:p14="http://schemas.microsoft.com/office/powerpoint/2010/main" val="2324075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6241A3-7F0A-4CAD-A02C-ED31E48CF46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671EFD9-15F9-47DE-99F8-0F8EEE0CBB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52EA1C1-EDD1-4F40-B87B-A0AE98DF56D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BF7EE65-325F-4F4D-9BAB-7FC0954CFB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DCC7DA2-5926-4E38-98A9-C8D420377B3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08E3765-B29B-4EBE-A685-AB7534A78512}"/>
              </a:ext>
            </a:extLst>
          </p:cNvPr>
          <p:cNvSpPr>
            <a:spLocks noGrp="1"/>
          </p:cNvSpPr>
          <p:nvPr>
            <p:ph type="dt" sz="half" idx="10"/>
          </p:nvPr>
        </p:nvSpPr>
        <p:spPr/>
        <p:txBody>
          <a:bodyPr/>
          <a:lstStyle/>
          <a:p>
            <a:fld id="{6060EC45-D944-42F7-8E15-EB780277A67B}" type="datetimeFigureOut">
              <a:rPr lang="zh-CN" altLang="en-US" smtClean="0"/>
              <a:t>2024/5/15</a:t>
            </a:fld>
            <a:endParaRPr lang="zh-CN" altLang="en-US"/>
          </a:p>
        </p:txBody>
      </p:sp>
      <p:sp>
        <p:nvSpPr>
          <p:cNvPr id="8" name="页脚占位符 7">
            <a:extLst>
              <a:ext uri="{FF2B5EF4-FFF2-40B4-BE49-F238E27FC236}">
                <a16:creationId xmlns:a16="http://schemas.microsoft.com/office/drawing/2014/main" id="{BD829A1B-F053-411D-BD0C-B91807EECEA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E18802E-F4CB-4B1B-8C72-9D3FA7762C85}"/>
              </a:ext>
            </a:extLst>
          </p:cNvPr>
          <p:cNvSpPr>
            <a:spLocks noGrp="1"/>
          </p:cNvSpPr>
          <p:nvPr>
            <p:ph type="sldNum" sz="quarter" idx="12"/>
          </p:nvPr>
        </p:nvSpPr>
        <p:spPr/>
        <p:txBody>
          <a:bodyPr/>
          <a:lstStyle/>
          <a:p>
            <a:fld id="{1D694878-E48A-43AE-B24E-DC73795E40D9}" type="slidenum">
              <a:rPr lang="zh-CN" altLang="en-US" smtClean="0"/>
              <a:t>‹#›</a:t>
            </a:fld>
            <a:endParaRPr lang="zh-CN" altLang="en-US"/>
          </a:p>
        </p:txBody>
      </p:sp>
    </p:spTree>
    <p:extLst>
      <p:ext uri="{BB962C8B-B14F-4D97-AF65-F5344CB8AC3E}">
        <p14:creationId xmlns:p14="http://schemas.microsoft.com/office/powerpoint/2010/main" val="3468634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33A056-6989-4745-B518-8B513AFF448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73C7B5B-972A-4752-90B1-78B5872B1258}"/>
              </a:ext>
            </a:extLst>
          </p:cNvPr>
          <p:cNvSpPr>
            <a:spLocks noGrp="1"/>
          </p:cNvSpPr>
          <p:nvPr>
            <p:ph type="dt" sz="half" idx="10"/>
          </p:nvPr>
        </p:nvSpPr>
        <p:spPr/>
        <p:txBody>
          <a:bodyPr/>
          <a:lstStyle/>
          <a:p>
            <a:fld id="{6060EC45-D944-42F7-8E15-EB780277A67B}" type="datetimeFigureOut">
              <a:rPr lang="zh-CN" altLang="en-US" smtClean="0"/>
              <a:t>2024/5/15</a:t>
            </a:fld>
            <a:endParaRPr lang="zh-CN" altLang="en-US"/>
          </a:p>
        </p:txBody>
      </p:sp>
      <p:sp>
        <p:nvSpPr>
          <p:cNvPr id="4" name="页脚占位符 3">
            <a:extLst>
              <a:ext uri="{FF2B5EF4-FFF2-40B4-BE49-F238E27FC236}">
                <a16:creationId xmlns:a16="http://schemas.microsoft.com/office/drawing/2014/main" id="{49862CBC-594E-4686-9A30-50CB15665C7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9DDF2F9-F9AB-4AF3-BE95-7A2184503D41}"/>
              </a:ext>
            </a:extLst>
          </p:cNvPr>
          <p:cNvSpPr>
            <a:spLocks noGrp="1"/>
          </p:cNvSpPr>
          <p:nvPr>
            <p:ph type="sldNum" sz="quarter" idx="12"/>
          </p:nvPr>
        </p:nvSpPr>
        <p:spPr/>
        <p:txBody>
          <a:bodyPr/>
          <a:lstStyle/>
          <a:p>
            <a:fld id="{1D694878-E48A-43AE-B24E-DC73795E40D9}" type="slidenum">
              <a:rPr lang="zh-CN" altLang="en-US" smtClean="0"/>
              <a:t>‹#›</a:t>
            </a:fld>
            <a:endParaRPr lang="zh-CN" altLang="en-US"/>
          </a:p>
        </p:txBody>
      </p:sp>
    </p:spTree>
    <p:extLst>
      <p:ext uri="{BB962C8B-B14F-4D97-AF65-F5344CB8AC3E}">
        <p14:creationId xmlns:p14="http://schemas.microsoft.com/office/powerpoint/2010/main" val="1788637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59100F7-C1E5-4CF9-BF50-751A9A82F2C3}"/>
              </a:ext>
            </a:extLst>
          </p:cNvPr>
          <p:cNvSpPr>
            <a:spLocks noGrp="1"/>
          </p:cNvSpPr>
          <p:nvPr>
            <p:ph type="dt" sz="half" idx="10"/>
          </p:nvPr>
        </p:nvSpPr>
        <p:spPr/>
        <p:txBody>
          <a:bodyPr/>
          <a:lstStyle/>
          <a:p>
            <a:fld id="{6060EC45-D944-42F7-8E15-EB780277A67B}" type="datetimeFigureOut">
              <a:rPr lang="zh-CN" altLang="en-US" smtClean="0"/>
              <a:t>2024/5/15</a:t>
            </a:fld>
            <a:endParaRPr lang="zh-CN" altLang="en-US"/>
          </a:p>
        </p:txBody>
      </p:sp>
      <p:sp>
        <p:nvSpPr>
          <p:cNvPr id="3" name="页脚占位符 2">
            <a:extLst>
              <a:ext uri="{FF2B5EF4-FFF2-40B4-BE49-F238E27FC236}">
                <a16:creationId xmlns:a16="http://schemas.microsoft.com/office/drawing/2014/main" id="{0D279652-1907-4A2A-86B6-5C19C1C53E4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DF1B001-0467-4AA3-BDAE-E5605A5618FD}"/>
              </a:ext>
            </a:extLst>
          </p:cNvPr>
          <p:cNvSpPr>
            <a:spLocks noGrp="1"/>
          </p:cNvSpPr>
          <p:nvPr>
            <p:ph type="sldNum" sz="quarter" idx="12"/>
          </p:nvPr>
        </p:nvSpPr>
        <p:spPr/>
        <p:txBody>
          <a:bodyPr/>
          <a:lstStyle/>
          <a:p>
            <a:fld id="{1D694878-E48A-43AE-B24E-DC73795E40D9}" type="slidenum">
              <a:rPr lang="zh-CN" altLang="en-US" smtClean="0"/>
              <a:t>‹#›</a:t>
            </a:fld>
            <a:endParaRPr lang="zh-CN" altLang="en-US"/>
          </a:p>
        </p:txBody>
      </p:sp>
    </p:spTree>
    <p:extLst>
      <p:ext uri="{BB962C8B-B14F-4D97-AF65-F5344CB8AC3E}">
        <p14:creationId xmlns:p14="http://schemas.microsoft.com/office/powerpoint/2010/main" val="2721765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F153EC-4B2A-4E72-A398-72675E216AD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46BB4DC-4D39-4B07-A87C-2027BE1A62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9A85C93-3994-490B-9B2D-0B8B8ADB4B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ACEE069-36B9-45A1-821D-A1C9BF2F5C8F}"/>
              </a:ext>
            </a:extLst>
          </p:cNvPr>
          <p:cNvSpPr>
            <a:spLocks noGrp="1"/>
          </p:cNvSpPr>
          <p:nvPr>
            <p:ph type="dt" sz="half" idx="10"/>
          </p:nvPr>
        </p:nvSpPr>
        <p:spPr/>
        <p:txBody>
          <a:bodyPr/>
          <a:lstStyle/>
          <a:p>
            <a:fld id="{6060EC45-D944-42F7-8E15-EB780277A67B}" type="datetimeFigureOut">
              <a:rPr lang="zh-CN" altLang="en-US" smtClean="0"/>
              <a:t>2024/5/15</a:t>
            </a:fld>
            <a:endParaRPr lang="zh-CN" altLang="en-US"/>
          </a:p>
        </p:txBody>
      </p:sp>
      <p:sp>
        <p:nvSpPr>
          <p:cNvPr id="6" name="页脚占位符 5">
            <a:extLst>
              <a:ext uri="{FF2B5EF4-FFF2-40B4-BE49-F238E27FC236}">
                <a16:creationId xmlns:a16="http://schemas.microsoft.com/office/drawing/2014/main" id="{DEAA34B8-6271-40BA-AD3E-5BCAA53437C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C1DDE95-3DFD-468C-91E7-F4C82AE9E282}"/>
              </a:ext>
            </a:extLst>
          </p:cNvPr>
          <p:cNvSpPr>
            <a:spLocks noGrp="1"/>
          </p:cNvSpPr>
          <p:nvPr>
            <p:ph type="sldNum" sz="quarter" idx="12"/>
          </p:nvPr>
        </p:nvSpPr>
        <p:spPr/>
        <p:txBody>
          <a:bodyPr/>
          <a:lstStyle/>
          <a:p>
            <a:fld id="{1D694878-E48A-43AE-B24E-DC73795E40D9}" type="slidenum">
              <a:rPr lang="zh-CN" altLang="en-US" smtClean="0"/>
              <a:t>‹#›</a:t>
            </a:fld>
            <a:endParaRPr lang="zh-CN" altLang="en-US"/>
          </a:p>
        </p:txBody>
      </p:sp>
    </p:spTree>
    <p:extLst>
      <p:ext uri="{BB962C8B-B14F-4D97-AF65-F5344CB8AC3E}">
        <p14:creationId xmlns:p14="http://schemas.microsoft.com/office/powerpoint/2010/main" val="1390437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28ED93-33EB-4CBD-9AD9-52BE5CAD565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E8030F0A-4715-4B45-BCA1-A044C6A50D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A86F1D2-FBFE-4206-A56F-7EE487C2D0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205B07D-3190-4A63-9BB4-EC6B9D200291}"/>
              </a:ext>
            </a:extLst>
          </p:cNvPr>
          <p:cNvSpPr>
            <a:spLocks noGrp="1"/>
          </p:cNvSpPr>
          <p:nvPr>
            <p:ph type="dt" sz="half" idx="10"/>
          </p:nvPr>
        </p:nvSpPr>
        <p:spPr/>
        <p:txBody>
          <a:bodyPr/>
          <a:lstStyle/>
          <a:p>
            <a:fld id="{6060EC45-D944-42F7-8E15-EB780277A67B}" type="datetimeFigureOut">
              <a:rPr lang="zh-CN" altLang="en-US" smtClean="0"/>
              <a:t>2024/5/15</a:t>
            </a:fld>
            <a:endParaRPr lang="zh-CN" altLang="en-US"/>
          </a:p>
        </p:txBody>
      </p:sp>
      <p:sp>
        <p:nvSpPr>
          <p:cNvPr id="6" name="页脚占位符 5">
            <a:extLst>
              <a:ext uri="{FF2B5EF4-FFF2-40B4-BE49-F238E27FC236}">
                <a16:creationId xmlns:a16="http://schemas.microsoft.com/office/drawing/2014/main" id="{465ED24E-A920-4A69-A4DF-28940CEB451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DBC53F6-4E84-4A26-AAC2-A72B937ADBA2}"/>
              </a:ext>
            </a:extLst>
          </p:cNvPr>
          <p:cNvSpPr>
            <a:spLocks noGrp="1"/>
          </p:cNvSpPr>
          <p:nvPr>
            <p:ph type="sldNum" sz="quarter" idx="12"/>
          </p:nvPr>
        </p:nvSpPr>
        <p:spPr/>
        <p:txBody>
          <a:bodyPr/>
          <a:lstStyle/>
          <a:p>
            <a:fld id="{1D694878-E48A-43AE-B24E-DC73795E40D9}" type="slidenum">
              <a:rPr lang="zh-CN" altLang="en-US" smtClean="0"/>
              <a:t>‹#›</a:t>
            </a:fld>
            <a:endParaRPr lang="zh-CN" altLang="en-US"/>
          </a:p>
        </p:txBody>
      </p:sp>
    </p:spTree>
    <p:extLst>
      <p:ext uri="{BB962C8B-B14F-4D97-AF65-F5344CB8AC3E}">
        <p14:creationId xmlns:p14="http://schemas.microsoft.com/office/powerpoint/2010/main" val="26941800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3A50C5-A627-4D26-9D43-A8F015725AB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0F907EF-7960-4333-813A-B6F77142A66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B6D75E5-0CD4-4344-B3BA-E4D71C13C5F2}"/>
              </a:ext>
            </a:extLst>
          </p:cNvPr>
          <p:cNvSpPr>
            <a:spLocks noGrp="1"/>
          </p:cNvSpPr>
          <p:nvPr>
            <p:ph type="dt" sz="half" idx="10"/>
          </p:nvPr>
        </p:nvSpPr>
        <p:spPr/>
        <p:txBody>
          <a:bodyPr/>
          <a:lstStyle/>
          <a:p>
            <a:fld id="{6060EC45-D944-42F7-8E15-EB780277A67B}" type="datetimeFigureOut">
              <a:rPr lang="zh-CN" altLang="en-US" smtClean="0"/>
              <a:t>2024/5/15</a:t>
            </a:fld>
            <a:endParaRPr lang="zh-CN" altLang="en-US"/>
          </a:p>
        </p:txBody>
      </p:sp>
      <p:sp>
        <p:nvSpPr>
          <p:cNvPr id="5" name="页脚占位符 4">
            <a:extLst>
              <a:ext uri="{FF2B5EF4-FFF2-40B4-BE49-F238E27FC236}">
                <a16:creationId xmlns:a16="http://schemas.microsoft.com/office/drawing/2014/main" id="{83E5EDAC-A265-4208-8A87-5FA7A70D6FA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F11D10-325A-47B4-9057-7485AB17FB39}"/>
              </a:ext>
            </a:extLst>
          </p:cNvPr>
          <p:cNvSpPr>
            <a:spLocks noGrp="1"/>
          </p:cNvSpPr>
          <p:nvPr>
            <p:ph type="sldNum" sz="quarter" idx="12"/>
          </p:nvPr>
        </p:nvSpPr>
        <p:spPr/>
        <p:txBody>
          <a:bodyPr/>
          <a:lstStyle/>
          <a:p>
            <a:fld id="{1D694878-E48A-43AE-B24E-DC73795E40D9}" type="slidenum">
              <a:rPr lang="zh-CN" altLang="en-US" smtClean="0"/>
              <a:t>‹#›</a:t>
            </a:fld>
            <a:endParaRPr lang="zh-CN" altLang="en-US"/>
          </a:p>
        </p:txBody>
      </p:sp>
    </p:spTree>
    <p:extLst>
      <p:ext uri="{BB962C8B-B14F-4D97-AF65-F5344CB8AC3E}">
        <p14:creationId xmlns:p14="http://schemas.microsoft.com/office/powerpoint/2010/main" val="27810020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AF97381-B8E5-45A1-9B45-F1CEB7DF026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B042BE5-D1D3-4204-93BD-3E1484A23C5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DC6559E-E676-409A-BF98-0E54CFB5D85C}"/>
              </a:ext>
            </a:extLst>
          </p:cNvPr>
          <p:cNvSpPr>
            <a:spLocks noGrp="1"/>
          </p:cNvSpPr>
          <p:nvPr>
            <p:ph type="dt" sz="half" idx="10"/>
          </p:nvPr>
        </p:nvSpPr>
        <p:spPr/>
        <p:txBody>
          <a:bodyPr/>
          <a:lstStyle/>
          <a:p>
            <a:fld id="{6060EC45-D944-42F7-8E15-EB780277A67B}" type="datetimeFigureOut">
              <a:rPr lang="zh-CN" altLang="en-US" smtClean="0"/>
              <a:t>2024/5/15</a:t>
            </a:fld>
            <a:endParaRPr lang="zh-CN" altLang="en-US"/>
          </a:p>
        </p:txBody>
      </p:sp>
      <p:sp>
        <p:nvSpPr>
          <p:cNvPr id="5" name="页脚占位符 4">
            <a:extLst>
              <a:ext uri="{FF2B5EF4-FFF2-40B4-BE49-F238E27FC236}">
                <a16:creationId xmlns:a16="http://schemas.microsoft.com/office/drawing/2014/main" id="{B40D1ECC-7F54-4924-B689-25B4F037F54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D799787-D45B-47C4-8EDF-60473CF1B447}"/>
              </a:ext>
            </a:extLst>
          </p:cNvPr>
          <p:cNvSpPr>
            <a:spLocks noGrp="1"/>
          </p:cNvSpPr>
          <p:nvPr>
            <p:ph type="sldNum" sz="quarter" idx="12"/>
          </p:nvPr>
        </p:nvSpPr>
        <p:spPr/>
        <p:txBody>
          <a:bodyPr/>
          <a:lstStyle/>
          <a:p>
            <a:fld id="{1D694878-E48A-43AE-B24E-DC73795E40D9}" type="slidenum">
              <a:rPr lang="zh-CN" altLang="en-US" smtClean="0"/>
              <a:t>‹#›</a:t>
            </a:fld>
            <a:endParaRPr lang="zh-CN" altLang="en-US"/>
          </a:p>
        </p:txBody>
      </p:sp>
    </p:spTree>
    <p:extLst>
      <p:ext uri="{BB962C8B-B14F-4D97-AF65-F5344CB8AC3E}">
        <p14:creationId xmlns:p14="http://schemas.microsoft.com/office/powerpoint/2010/main" val="396328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5A77CD8-0A24-4A75-85D3-D07DCC55BC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45A5761-0CD8-42C5-BF35-4FA894EE28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1B70973-A19F-4250-9885-B96879FE34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60EC45-D944-42F7-8E15-EB780277A67B}" type="datetimeFigureOut">
              <a:rPr lang="zh-CN" altLang="en-US" smtClean="0"/>
              <a:t>2024/5/15</a:t>
            </a:fld>
            <a:endParaRPr lang="zh-CN" altLang="en-US"/>
          </a:p>
        </p:txBody>
      </p:sp>
      <p:sp>
        <p:nvSpPr>
          <p:cNvPr id="5" name="页脚占位符 4">
            <a:extLst>
              <a:ext uri="{FF2B5EF4-FFF2-40B4-BE49-F238E27FC236}">
                <a16:creationId xmlns:a16="http://schemas.microsoft.com/office/drawing/2014/main" id="{5D45B32A-7725-496D-A49B-6863B2B06E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531DF8D-DE68-4486-A917-822854AEFE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694878-E48A-43AE-B24E-DC73795E40D9}" type="slidenum">
              <a:rPr lang="zh-CN" altLang="en-US" smtClean="0"/>
              <a:t>‹#›</a:t>
            </a:fld>
            <a:endParaRPr lang="zh-CN" altLang="en-US"/>
          </a:p>
        </p:txBody>
      </p:sp>
    </p:spTree>
    <p:extLst>
      <p:ext uri="{BB962C8B-B14F-4D97-AF65-F5344CB8AC3E}">
        <p14:creationId xmlns:p14="http://schemas.microsoft.com/office/powerpoint/2010/main" val="1952418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xml"/><Relationship Id="rId1" Type="http://schemas.openxmlformats.org/officeDocument/2006/relationships/tags" Target="../tags/tag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0.xml"/><Relationship Id="rId1" Type="http://schemas.openxmlformats.org/officeDocument/2006/relationships/tags" Target="../tags/tag9.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2.xml"/><Relationship Id="rId1" Type="http://schemas.openxmlformats.org/officeDocument/2006/relationships/tags" Target="../tags/tag1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4.xml"/><Relationship Id="rId1" Type="http://schemas.openxmlformats.org/officeDocument/2006/relationships/tags" Target="../tags/tag13.xml"/><Relationship Id="rId4"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xml"/><Relationship Id="rId1" Type="http://schemas.openxmlformats.org/officeDocument/2006/relationships/tags" Target="../tags/tag15.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8.xml"/><Relationship Id="rId1" Type="http://schemas.openxmlformats.org/officeDocument/2006/relationships/tags" Target="../tags/tag17.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2.xml"/><Relationship Id="rId1" Type="http://schemas.openxmlformats.org/officeDocument/2006/relationships/tags" Target="../tags/tag2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4.xml"/><Relationship Id="rId1" Type="http://schemas.openxmlformats.org/officeDocument/2006/relationships/tags" Target="../tags/tag23.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6.xml"/><Relationship Id="rId1" Type="http://schemas.openxmlformats.org/officeDocument/2006/relationships/tags" Target="../tags/tag25.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8.xml"/><Relationship Id="rId1" Type="http://schemas.openxmlformats.org/officeDocument/2006/relationships/tags" Target="../tags/tag27.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0.xml"/><Relationship Id="rId1" Type="http://schemas.openxmlformats.org/officeDocument/2006/relationships/tags" Target="../tags/tag29.xml"/><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4.xml"/><Relationship Id="rId1" Type="http://schemas.openxmlformats.org/officeDocument/2006/relationships/tags" Target="../tags/tag33.xml"/><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6.xml"/><Relationship Id="rId1" Type="http://schemas.openxmlformats.org/officeDocument/2006/relationships/tags" Target="../tags/tag35.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8.xml"/><Relationship Id="rId1" Type="http://schemas.openxmlformats.org/officeDocument/2006/relationships/tags" Target="../tags/tag37.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0.xml"/><Relationship Id="rId1" Type="http://schemas.openxmlformats.org/officeDocument/2006/relationships/tags" Target="../tags/tag39.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2.xml"/><Relationship Id="rId1" Type="http://schemas.openxmlformats.org/officeDocument/2006/relationships/tags" Target="../tags/tag4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4.xml"/><Relationship Id="rId1" Type="http://schemas.openxmlformats.org/officeDocument/2006/relationships/tags" Target="../tags/tag43.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6.xml"/><Relationship Id="rId1" Type="http://schemas.openxmlformats.org/officeDocument/2006/relationships/tags" Target="../tags/tag45.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8.xml"/><Relationship Id="rId1" Type="http://schemas.openxmlformats.org/officeDocument/2006/relationships/tags" Target="../tags/tag47.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0.xml"/><Relationship Id="rId1" Type="http://schemas.openxmlformats.org/officeDocument/2006/relationships/tags" Target="../tags/tag49.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2.xml"/><Relationship Id="rId1" Type="http://schemas.openxmlformats.org/officeDocument/2006/relationships/tags" Target="../tags/tag51.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4.xml"/><Relationship Id="rId1" Type="http://schemas.openxmlformats.org/officeDocument/2006/relationships/tags" Target="../tags/tag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D45BA570-BBF6-4C5F-ABBF-C1561CD80999}"/>
              </a:ext>
            </a:extLst>
          </p:cNvPr>
          <p:cNvPicPr/>
          <p:nvPr/>
        </p:nvPicPr>
        <p:blipFill>
          <a:blip r:embed="rId4"/>
          <a:stretch>
            <a:fillRect/>
          </a:stretch>
        </p:blipFill>
        <p:spPr>
          <a:xfrm>
            <a:off x="2585946" y="2316472"/>
            <a:ext cx="7020106" cy="4476946"/>
          </a:xfrm>
          <a:prstGeom prst="rect">
            <a:avLst/>
          </a:prstGeom>
          <a:ln w="9525">
            <a:solidFill>
              <a:schemeClr val="accent1"/>
            </a:solidFill>
          </a:ln>
        </p:spPr>
      </p:pic>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2332946"/>
          </a:xfrm>
          <a:prstGeom prst="rect">
            <a:avLst/>
          </a:prstGeom>
          <a:noFill/>
        </p:spPr>
        <p:txBody>
          <a:bodyPr wrap="square" rtlCol="0">
            <a:spAutoFit/>
          </a:bodyPr>
          <a:lstStyle/>
          <a:p>
            <a:pPr algn="just">
              <a:lnSpc>
                <a:spcPts val="2200"/>
              </a:lnSpc>
            </a:pPr>
            <a:r>
              <a:rPr lang="en-US" altLang="zh-CN" dirty="0">
                <a:latin typeface="Times New Roman" panose="02020603050405020304" pitchFamily="18" charset="0"/>
                <a:cs typeface="Times New Roman" panose="02020603050405020304" pitchFamily="18" charset="0"/>
              </a:rPr>
              <a:t>8.1 Explain the following features and trends of the orbital energies shown in Fig. 8.2 on page 260.</a:t>
            </a:r>
          </a:p>
          <a:p>
            <a:pPr algn="just">
              <a:lnSpc>
                <a:spcPts val="2200"/>
              </a:lnSpc>
            </a:pPr>
            <a:r>
              <a:rPr lang="en-US" altLang="zh-CN" dirty="0">
                <a:latin typeface="Times New Roman" panose="02020603050405020304" pitchFamily="18" charset="0"/>
                <a:cs typeface="Times New Roman" panose="02020603050405020304" pitchFamily="18" charset="0"/>
              </a:rPr>
              <a:t>(a) In going across the second period from Li to Ne the energies of both the 2</a:t>
            </a:r>
            <a:r>
              <a:rPr lang="en-US" altLang="zh-CN" i="1" dirty="0">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 and 2</a:t>
            </a:r>
            <a:r>
              <a:rPr lang="en-US" altLang="zh-CN" i="1" dirty="0">
                <a:latin typeface="Times New Roman" panose="02020603050405020304" pitchFamily="18" charset="0"/>
                <a:cs typeface="Times New Roman" panose="02020603050405020304" pitchFamily="18" charset="0"/>
              </a:rPr>
              <a:t>p</a:t>
            </a:r>
            <a:r>
              <a:rPr lang="en-US" altLang="zh-CN" dirty="0">
                <a:latin typeface="Times New Roman" panose="02020603050405020304" pitchFamily="18" charset="0"/>
                <a:cs typeface="Times New Roman" panose="02020603050405020304" pitchFamily="18" charset="0"/>
              </a:rPr>
              <a:t> AOs fall, but the 2</a:t>
            </a:r>
            <a:r>
              <a:rPr lang="en-US" altLang="zh-CN" i="1" dirty="0">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 AO falls more steeply than the 2</a:t>
            </a:r>
            <a:r>
              <a:rPr lang="en-US" altLang="zh-CN" i="1" dirty="0">
                <a:latin typeface="Times New Roman" panose="02020603050405020304" pitchFamily="18" charset="0"/>
                <a:cs typeface="Times New Roman" panose="02020603050405020304" pitchFamily="18" charset="0"/>
              </a:rPr>
              <a:t>p</a:t>
            </a:r>
            <a:r>
              <a:rPr lang="en-US" altLang="zh-CN" dirty="0">
                <a:latin typeface="Times New Roman" panose="02020603050405020304" pitchFamily="18" charset="0"/>
                <a:cs typeface="Times New Roman" panose="02020603050405020304" pitchFamily="18" charset="0"/>
              </a:rPr>
              <a:t>.</a:t>
            </a:r>
          </a:p>
          <a:p>
            <a:pPr algn="just">
              <a:lnSpc>
                <a:spcPts val="2200"/>
              </a:lnSpc>
            </a:pPr>
            <a:r>
              <a:rPr lang="en-US" altLang="zh-CN" dirty="0">
                <a:latin typeface="Times New Roman" panose="02020603050405020304" pitchFamily="18" charset="0"/>
                <a:cs typeface="Times New Roman" panose="02020603050405020304" pitchFamily="18" charset="0"/>
              </a:rPr>
              <a:t>(b) On going from Ne to Na there is a large decrease in the energy of the 2</a:t>
            </a:r>
            <a:r>
              <a:rPr lang="en-US" altLang="zh-CN" i="1" dirty="0">
                <a:latin typeface="Times New Roman" panose="02020603050405020304" pitchFamily="18" charset="0"/>
                <a:cs typeface="Times New Roman" panose="02020603050405020304" pitchFamily="18" charset="0"/>
              </a:rPr>
              <a:t>p</a:t>
            </a:r>
            <a:r>
              <a:rPr lang="en-US" altLang="zh-CN" dirty="0">
                <a:latin typeface="Times New Roman" panose="02020603050405020304" pitchFamily="18" charset="0"/>
                <a:cs typeface="Times New Roman" panose="02020603050405020304" pitchFamily="18" charset="0"/>
              </a:rPr>
              <a:t> AO.</a:t>
            </a:r>
          </a:p>
          <a:p>
            <a:pPr algn="just">
              <a:lnSpc>
                <a:spcPts val="2200"/>
              </a:lnSpc>
            </a:pPr>
            <a:r>
              <a:rPr lang="en-US" altLang="zh-CN" dirty="0">
                <a:latin typeface="Times New Roman" panose="02020603050405020304" pitchFamily="18" charset="0"/>
                <a:cs typeface="Times New Roman" panose="02020603050405020304" pitchFamily="18" charset="0"/>
              </a:rPr>
              <a:t>(c) The energies of the 2</a:t>
            </a:r>
            <a:r>
              <a:rPr lang="en-US" altLang="zh-CN" i="1" dirty="0">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 AO in Li, the 3</a:t>
            </a:r>
            <a:r>
              <a:rPr lang="en-US" altLang="zh-CN" i="1" dirty="0">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 AO in Na and the 4</a:t>
            </a:r>
            <a:r>
              <a:rPr lang="en-US" altLang="zh-CN" i="1" dirty="0">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 AO in K show a gentle upward trend but in going from Li to Na, and from Na to K the nuclear charge increases by eight.</a:t>
            </a:r>
          </a:p>
          <a:p>
            <a:pPr algn="just">
              <a:lnSpc>
                <a:spcPts val="2200"/>
              </a:lnSpc>
            </a:pPr>
            <a:r>
              <a:rPr lang="en-US" altLang="zh-CN" dirty="0">
                <a:latin typeface="Times New Roman" panose="02020603050405020304" pitchFamily="18" charset="0"/>
                <a:cs typeface="Times New Roman" panose="02020603050405020304" pitchFamily="18" charset="0"/>
              </a:rPr>
              <a:t>(d) On going from Sc to Zn the energy of the 4</a:t>
            </a:r>
            <a:r>
              <a:rPr lang="en-US" altLang="zh-CN" i="1" dirty="0">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 AO decreases rather little, but the energy of the 3</a:t>
            </a:r>
            <a:r>
              <a:rPr lang="en-US" altLang="zh-CN" i="1" dirty="0">
                <a:latin typeface="Times New Roman" panose="02020603050405020304" pitchFamily="18" charset="0"/>
                <a:cs typeface="Times New Roman" panose="02020603050405020304" pitchFamily="18" charset="0"/>
              </a:rPr>
              <a:t>d</a:t>
            </a:r>
            <a:r>
              <a:rPr lang="en-US" altLang="zh-CN" dirty="0">
                <a:latin typeface="Times New Roman" panose="02020603050405020304" pitchFamily="18" charset="0"/>
                <a:cs typeface="Times New Roman" panose="02020603050405020304" pitchFamily="18" charset="0"/>
              </a:rPr>
              <a:t> AO shows a greater fall in energy.</a:t>
            </a:r>
            <a:endParaRPr lang="zh-CN" altLang="en-US"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6C94E00C-36F0-44F7-BADD-E6386DFCA7A4}"/>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2" name="文本框 1">
            <a:extLst>
              <a:ext uri="{FF2B5EF4-FFF2-40B4-BE49-F238E27FC236}">
                <a16:creationId xmlns:a16="http://schemas.microsoft.com/office/drawing/2014/main" id="{38949570-3CCE-4FB0-8A49-17FA583932CF}"/>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1758050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874150"/>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8.1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请解释教材</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260</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页图</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8.2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中的轨道能量特点和趋势。</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a:p>
            <a:pPr algn="just">
              <a:lnSpc>
                <a:spcPct val="150000"/>
              </a:lnSpc>
            </a:pP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(a) </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从</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Li</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到</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Ne</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横跨第二周期时，</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2s</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和</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2p</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原子轨道（</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AO</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）的能量都会下降，但</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2s AO</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的能量下降得更陡峭。</a:t>
            </a:r>
            <a:endParaRPr lang="en-US" altLang="zh-CN" dirty="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 name="文本框 1">
            <a:extLst>
              <a:ext uri="{FF2B5EF4-FFF2-40B4-BE49-F238E27FC236}">
                <a16:creationId xmlns:a16="http://schemas.microsoft.com/office/drawing/2014/main" id="{6F35E9D1-FE4F-430D-85C7-40F802A488DA}"/>
              </a:ext>
            </a:extLst>
          </p:cNvPr>
          <p:cNvSpPr txBox="1"/>
          <p:nvPr/>
        </p:nvSpPr>
        <p:spPr>
          <a:xfrm>
            <a:off x="193344" y="1194181"/>
            <a:ext cx="11805313" cy="4613764"/>
          </a:xfrm>
          <a:prstGeom prst="rect">
            <a:avLst/>
          </a:prstGeom>
          <a:noFill/>
        </p:spPr>
        <p:txBody>
          <a:bodyPr wrap="squar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答：</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dirty="0">
                <a:latin typeface="华文中宋" panose="02010600040101010101" pitchFamily="2" charset="-122"/>
                <a:ea typeface="华文中宋" panose="02010600040101010101" pitchFamily="2" charset="-122"/>
              </a:rPr>
              <a:t>(1) </a:t>
            </a:r>
            <a:r>
              <a:rPr lang="zh-CN" altLang="en-US" dirty="0">
                <a:latin typeface="华文中宋" panose="02010600040101010101" pitchFamily="2" charset="-122"/>
                <a:ea typeface="华文中宋" panose="02010600040101010101" pitchFamily="2" charset="-122"/>
              </a:rPr>
              <a:t>在第二周期元素中，从锂（</a:t>
            </a:r>
            <a:r>
              <a:rPr lang="en-US" altLang="zh-CN" dirty="0">
                <a:latin typeface="华文中宋" panose="02010600040101010101" pitchFamily="2" charset="-122"/>
                <a:ea typeface="华文中宋" panose="02010600040101010101" pitchFamily="2" charset="-122"/>
              </a:rPr>
              <a:t>Li</a:t>
            </a:r>
            <a:r>
              <a:rPr lang="zh-CN" altLang="en-US" dirty="0">
                <a:latin typeface="华文中宋" panose="02010600040101010101" pitchFamily="2" charset="-122"/>
                <a:ea typeface="华文中宋" panose="02010600040101010101" pitchFamily="2" charset="-122"/>
              </a:rPr>
              <a:t>）到氖（</a:t>
            </a:r>
            <a:r>
              <a:rPr lang="en-US" altLang="zh-CN" dirty="0">
                <a:latin typeface="华文中宋" panose="02010600040101010101" pitchFamily="2" charset="-122"/>
                <a:ea typeface="华文中宋" panose="02010600040101010101" pitchFamily="2" charset="-122"/>
              </a:rPr>
              <a:t>Ne</a:t>
            </a:r>
            <a:r>
              <a:rPr lang="zh-CN" altLang="en-US" dirty="0">
                <a:latin typeface="华文中宋" panose="02010600040101010101" pitchFamily="2" charset="-122"/>
                <a:ea typeface="华文中宋" panose="02010600040101010101" pitchFamily="2" charset="-122"/>
              </a:rPr>
              <a:t>）的过程中，</a:t>
            </a:r>
            <a:r>
              <a:rPr lang="en-US" altLang="zh-CN" dirty="0">
                <a:latin typeface="华文中宋" panose="02010600040101010101" pitchFamily="2" charset="-122"/>
                <a:ea typeface="华文中宋" panose="02010600040101010101" pitchFamily="2" charset="-122"/>
              </a:rPr>
              <a:t>2s</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2p</a:t>
            </a:r>
            <a:r>
              <a:rPr lang="zh-CN" altLang="en-US" dirty="0">
                <a:latin typeface="华文中宋" panose="02010600040101010101" pitchFamily="2" charset="-122"/>
                <a:ea typeface="华文中宋" panose="02010600040101010101" pitchFamily="2" charset="-122"/>
              </a:rPr>
              <a:t>原子轨道（</a:t>
            </a:r>
            <a:r>
              <a:rPr lang="en-US" altLang="zh-CN" dirty="0">
                <a:latin typeface="华文中宋" panose="02010600040101010101" pitchFamily="2" charset="-122"/>
                <a:ea typeface="华文中宋" panose="02010600040101010101" pitchFamily="2" charset="-122"/>
              </a:rPr>
              <a:t>AO</a:t>
            </a:r>
            <a:r>
              <a:rPr lang="zh-CN" altLang="en-US" dirty="0">
                <a:latin typeface="华文中宋" panose="02010600040101010101" pitchFamily="2" charset="-122"/>
                <a:ea typeface="华文中宋" panose="02010600040101010101" pitchFamily="2" charset="-122"/>
              </a:rPr>
              <a:t>）的能量下降，主要是因为</a:t>
            </a:r>
            <a:r>
              <a:rPr lang="zh-CN" altLang="en-US" b="1" dirty="0">
                <a:solidFill>
                  <a:srgbClr val="FF0000"/>
                </a:solidFill>
                <a:latin typeface="华文中宋" panose="02010600040101010101" pitchFamily="2" charset="-122"/>
                <a:ea typeface="华文中宋" panose="02010600040101010101" pitchFamily="2" charset="-122"/>
              </a:rPr>
              <a:t>核电荷数的增加</a:t>
            </a:r>
            <a:r>
              <a:rPr lang="zh-CN" altLang="en-US" dirty="0">
                <a:latin typeface="华文中宋" panose="02010600040101010101" pitchFamily="2" charset="-122"/>
                <a:ea typeface="华文中宋" panose="02010600040101010101" pitchFamily="2" charset="-122"/>
              </a:rPr>
              <a:t>。当我们从</a:t>
            </a:r>
            <a:r>
              <a:rPr lang="en-US" altLang="zh-CN" dirty="0">
                <a:latin typeface="华文中宋" panose="02010600040101010101" pitchFamily="2" charset="-122"/>
                <a:ea typeface="华文中宋" panose="02010600040101010101" pitchFamily="2" charset="-122"/>
              </a:rPr>
              <a:t>Li</a:t>
            </a:r>
            <a:r>
              <a:rPr lang="zh-CN" altLang="en-US" dirty="0">
                <a:latin typeface="华文中宋" panose="02010600040101010101" pitchFamily="2" charset="-122"/>
                <a:ea typeface="华文中宋" panose="02010600040101010101" pitchFamily="2" charset="-122"/>
              </a:rPr>
              <a:t>移动到</a:t>
            </a:r>
            <a:r>
              <a:rPr lang="en-US" altLang="zh-CN" dirty="0">
                <a:latin typeface="华文中宋" panose="02010600040101010101" pitchFamily="2" charset="-122"/>
                <a:ea typeface="华文中宋" panose="02010600040101010101" pitchFamily="2" charset="-122"/>
              </a:rPr>
              <a:t>Ne</a:t>
            </a:r>
            <a:r>
              <a:rPr lang="zh-CN" altLang="en-US" dirty="0">
                <a:latin typeface="华文中宋" panose="02010600040101010101" pitchFamily="2" charset="-122"/>
                <a:ea typeface="华文中宋" panose="02010600040101010101" pitchFamily="2" charset="-122"/>
              </a:rPr>
              <a:t>时，原子核中质子的数量增加，这导致核对电子的吸引力增强。因此，电子更紧密地束缚在核附近，导致能量降低。</a:t>
            </a:r>
          </a:p>
          <a:p>
            <a:pPr>
              <a:lnSpc>
                <a:spcPct val="150000"/>
              </a:lnSpc>
            </a:pPr>
            <a:r>
              <a:rPr lang="en-US" altLang="zh-CN" dirty="0">
                <a:latin typeface="华文中宋" panose="02010600040101010101" pitchFamily="2" charset="-122"/>
                <a:ea typeface="华文中宋" panose="02010600040101010101" pitchFamily="2" charset="-122"/>
              </a:rPr>
              <a:t>(2) </a:t>
            </a:r>
            <a:r>
              <a:rPr lang="zh-CN" altLang="en-US" dirty="0">
                <a:latin typeface="华文中宋" panose="02010600040101010101" pitchFamily="2" charset="-122"/>
                <a:ea typeface="华文中宋" panose="02010600040101010101" pitchFamily="2" charset="-122"/>
              </a:rPr>
              <a:t>对于</a:t>
            </a:r>
            <a:r>
              <a:rPr lang="en-US" altLang="zh-CN" dirty="0">
                <a:latin typeface="华文中宋" panose="02010600040101010101" pitchFamily="2" charset="-122"/>
                <a:ea typeface="华文中宋" panose="02010600040101010101" pitchFamily="2" charset="-122"/>
              </a:rPr>
              <a:t>2s AO</a:t>
            </a:r>
            <a:r>
              <a:rPr lang="zh-CN" altLang="en-US" dirty="0">
                <a:latin typeface="华文中宋" panose="02010600040101010101" pitchFamily="2" charset="-122"/>
                <a:ea typeface="华文中宋" panose="02010600040101010101" pitchFamily="2" charset="-122"/>
              </a:rPr>
              <a:t>的能量下降更陡峭的现象，这与</a:t>
            </a:r>
            <a:r>
              <a:rPr lang="en-US" altLang="zh-CN" b="1" dirty="0">
                <a:solidFill>
                  <a:srgbClr val="36D651"/>
                </a:solidFill>
                <a:latin typeface="华文中宋" panose="02010600040101010101" pitchFamily="2" charset="-122"/>
                <a:ea typeface="华文中宋" panose="02010600040101010101" pitchFamily="2" charset="-122"/>
              </a:rPr>
              <a:t>2s</a:t>
            </a:r>
            <a:r>
              <a:rPr lang="zh-CN" altLang="en-US" b="1" dirty="0">
                <a:solidFill>
                  <a:srgbClr val="36D651"/>
                </a:solidFill>
                <a:latin typeface="华文中宋" panose="02010600040101010101" pitchFamily="2" charset="-122"/>
                <a:ea typeface="华文中宋" panose="02010600040101010101" pitchFamily="2" charset="-122"/>
              </a:rPr>
              <a:t>轨道的电子穿透效应</a:t>
            </a:r>
            <a:r>
              <a:rPr lang="zh-CN" altLang="en-US" dirty="0">
                <a:latin typeface="华文中宋" panose="02010600040101010101" pitchFamily="2" charset="-122"/>
                <a:ea typeface="华文中宋" panose="02010600040101010101" pitchFamily="2" charset="-122"/>
              </a:rPr>
              <a:t>有关。</a:t>
            </a:r>
            <a:r>
              <a:rPr lang="en-US" altLang="zh-CN" dirty="0">
                <a:latin typeface="华文中宋" panose="02010600040101010101" pitchFamily="2" charset="-122"/>
                <a:ea typeface="华文中宋" panose="02010600040101010101" pitchFamily="2" charset="-122"/>
              </a:rPr>
              <a:t>2s</a:t>
            </a:r>
            <a:r>
              <a:rPr lang="zh-CN" altLang="en-US" dirty="0">
                <a:latin typeface="华文中宋" panose="02010600040101010101" pitchFamily="2" charset="-122"/>
                <a:ea typeface="华文中宋" panose="02010600040101010101" pitchFamily="2" charset="-122"/>
              </a:rPr>
              <a:t>轨道的电子能够穿透到内层电子云中，更接近原子核，因此它们受到的核吸引力比</a:t>
            </a:r>
            <a:r>
              <a:rPr lang="en-US" altLang="zh-CN" dirty="0">
                <a:latin typeface="华文中宋" panose="02010600040101010101" pitchFamily="2" charset="-122"/>
                <a:ea typeface="华文中宋" panose="02010600040101010101" pitchFamily="2" charset="-122"/>
              </a:rPr>
              <a:t>2p</a:t>
            </a:r>
            <a:r>
              <a:rPr lang="zh-CN" altLang="en-US" dirty="0">
                <a:latin typeface="华文中宋" panose="02010600040101010101" pitchFamily="2" charset="-122"/>
                <a:ea typeface="华文中宋" panose="02010600040101010101" pitchFamily="2" charset="-122"/>
              </a:rPr>
              <a:t>轨道的电子更大。随着核电荷的增加，</a:t>
            </a:r>
            <a:r>
              <a:rPr lang="en-US" altLang="zh-CN" dirty="0">
                <a:latin typeface="华文中宋" panose="02010600040101010101" pitchFamily="2" charset="-122"/>
                <a:ea typeface="华文中宋" panose="02010600040101010101" pitchFamily="2" charset="-122"/>
              </a:rPr>
              <a:t>2s</a:t>
            </a:r>
            <a:r>
              <a:rPr lang="zh-CN" altLang="en-US" dirty="0">
                <a:latin typeface="华文中宋" panose="02010600040101010101" pitchFamily="2" charset="-122"/>
                <a:ea typeface="华文中宋" panose="02010600040101010101" pitchFamily="2" charset="-122"/>
              </a:rPr>
              <a:t>轨道的电子感受到更显著的吸引力，因此它们的能量降低得更快。</a:t>
            </a:r>
          </a:p>
          <a:p>
            <a:pPr>
              <a:lnSpc>
                <a:spcPct val="150000"/>
              </a:lnSpc>
            </a:pPr>
            <a:r>
              <a:rPr lang="en-US" altLang="zh-CN" dirty="0">
                <a:latin typeface="华文中宋" panose="02010600040101010101" pitchFamily="2" charset="-122"/>
                <a:ea typeface="华文中宋" panose="02010600040101010101" pitchFamily="2" charset="-122"/>
              </a:rPr>
              <a:t>(3) </a:t>
            </a:r>
            <a:r>
              <a:rPr lang="zh-CN" altLang="en-US" dirty="0">
                <a:latin typeface="华文中宋" panose="02010600040101010101" pitchFamily="2" charset="-122"/>
                <a:ea typeface="华文中宋" panose="02010600040101010101" pitchFamily="2" charset="-122"/>
              </a:rPr>
              <a:t>此外，</a:t>
            </a:r>
            <a:r>
              <a:rPr lang="en-US" altLang="zh-CN" dirty="0">
                <a:latin typeface="华文中宋" panose="02010600040101010101" pitchFamily="2" charset="-122"/>
                <a:ea typeface="华文中宋" panose="02010600040101010101" pitchFamily="2" charset="-122"/>
              </a:rPr>
              <a:t>2s</a:t>
            </a:r>
            <a:r>
              <a:rPr lang="zh-CN" altLang="en-US" dirty="0">
                <a:latin typeface="华文中宋" panose="02010600040101010101" pitchFamily="2" charset="-122"/>
                <a:ea typeface="华文中宋" panose="02010600040101010101" pitchFamily="2" charset="-122"/>
              </a:rPr>
              <a:t>轨道与核之间的</a:t>
            </a:r>
            <a:r>
              <a:rPr lang="zh-CN" altLang="en-US" b="1" dirty="0">
                <a:solidFill>
                  <a:srgbClr val="43E1E5"/>
                </a:solidFill>
                <a:latin typeface="华文中宋" panose="02010600040101010101" pitchFamily="2" charset="-122"/>
                <a:ea typeface="华文中宋" panose="02010600040101010101" pitchFamily="2" charset="-122"/>
              </a:rPr>
              <a:t>屏蔽效应相对较小</a:t>
            </a:r>
            <a:r>
              <a:rPr lang="zh-CN" altLang="en-US" dirty="0">
                <a:latin typeface="华文中宋" panose="02010600040101010101" pitchFamily="2" charset="-122"/>
                <a:ea typeface="华文中宋" panose="02010600040101010101" pitchFamily="2" charset="-122"/>
              </a:rPr>
              <a:t>，因为它们能够穿透到</a:t>
            </a:r>
            <a:r>
              <a:rPr lang="en-US" altLang="zh-CN" dirty="0">
                <a:latin typeface="华文中宋" panose="02010600040101010101" pitchFamily="2" charset="-122"/>
                <a:ea typeface="华文中宋" panose="02010600040101010101" pitchFamily="2" charset="-122"/>
              </a:rPr>
              <a:t>1s</a:t>
            </a:r>
            <a:r>
              <a:rPr lang="zh-CN" altLang="en-US" dirty="0">
                <a:latin typeface="华文中宋" panose="02010600040101010101" pitchFamily="2" charset="-122"/>
                <a:ea typeface="华文中宋" panose="02010600040101010101" pitchFamily="2" charset="-122"/>
              </a:rPr>
              <a:t>轨道内部，而</a:t>
            </a:r>
            <a:r>
              <a:rPr lang="en-US" altLang="zh-CN" dirty="0">
                <a:latin typeface="华文中宋" panose="02010600040101010101" pitchFamily="2" charset="-122"/>
                <a:ea typeface="华文中宋" panose="02010600040101010101" pitchFamily="2" charset="-122"/>
              </a:rPr>
              <a:t>2p</a:t>
            </a:r>
            <a:r>
              <a:rPr lang="zh-CN" altLang="en-US" dirty="0">
                <a:latin typeface="华文中宋" panose="02010600040101010101" pitchFamily="2" charset="-122"/>
                <a:ea typeface="华文中宋" panose="02010600040101010101" pitchFamily="2" charset="-122"/>
              </a:rPr>
              <a:t>轨道的电子主要位于外部，受到更多的屏蔽。这也是为什么</a:t>
            </a:r>
            <a:r>
              <a:rPr lang="en-US" altLang="zh-CN" dirty="0">
                <a:latin typeface="华文中宋" panose="02010600040101010101" pitchFamily="2" charset="-122"/>
                <a:ea typeface="华文中宋" panose="02010600040101010101" pitchFamily="2" charset="-122"/>
              </a:rPr>
              <a:t>2s AO</a:t>
            </a:r>
            <a:r>
              <a:rPr lang="zh-CN" altLang="en-US" dirty="0">
                <a:latin typeface="华文中宋" panose="02010600040101010101" pitchFamily="2" charset="-122"/>
                <a:ea typeface="华文中宋" panose="02010600040101010101" pitchFamily="2" charset="-122"/>
              </a:rPr>
              <a:t>的能量下降得更陡峭的原因之一。</a:t>
            </a:r>
          </a:p>
          <a:p>
            <a:pPr>
              <a:lnSpc>
                <a:spcPct val="150000"/>
              </a:lnSpc>
            </a:pPr>
            <a:r>
              <a:rPr lang="en-US" altLang="zh-CN" dirty="0">
                <a:latin typeface="华文中宋" panose="02010600040101010101" pitchFamily="2" charset="-122"/>
                <a:ea typeface="华文中宋" panose="02010600040101010101" pitchFamily="2" charset="-122"/>
              </a:rPr>
              <a:t>(4) </a:t>
            </a:r>
            <a:r>
              <a:rPr lang="zh-CN" altLang="en-US" dirty="0">
                <a:latin typeface="华文中宋" panose="02010600040101010101" pitchFamily="2" charset="-122"/>
                <a:ea typeface="华文中宋" panose="02010600040101010101" pitchFamily="2" charset="-122"/>
              </a:rPr>
              <a:t>总结来说，</a:t>
            </a:r>
            <a:r>
              <a:rPr lang="en-US" altLang="zh-CN" dirty="0">
                <a:latin typeface="华文中宋" panose="02010600040101010101" pitchFamily="2" charset="-122"/>
                <a:ea typeface="华文中宋" panose="02010600040101010101" pitchFamily="2" charset="-122"/>
              </a:rPr>
              <a:t>2s AO</a:t>
            </a:r>
            <a:r>
              <a:rPr lang="zh-CN" altLang="en-US" dirty="0">
                <a:latin typeface="华文中宋" panose="02010600040101010101" pitchFamily="2" charset="-122"/>
                <a:ea typeface="华文中宋" panose="02010600040101010101" pitchFamily="2" charset="-122"/>
              </a:rPr>
              <a:t>的能量下降得更陡峭，主要是因为：</a:t>
            </a:r>
            <a:r>
              <a:rPr lang="zh-CN" altLang="en-US" b="1" dirty="0">
                <a:solidFill>
                  <a:srgbClr val="1A95A6"/>
                </a:solidFill>
                <a:latin typeface="华文中宋" panose="02010600040101010101" pitchFamily="2" charset="-122"/>
                <a:ea typeface="华文中宋" panose="02010600040101010101" pitchFamily="2" charset="-122"/>
              </a:rPr>
              <a:t>①核电荷数的增加导致所有电子的能量降低。②</a:t>
            </a:r>
            <a:r>
              <a:rPr lang="en-US" altLang="zh-CN" b="1" dirty="0">
                <a:solidFill>
                  <a:srgbClr val="1A95A6"/>
                </a:solidFill>
                <a:latin typeface="华文中宋" panose="02010600040101010101" pitchFamily="2" charset="-122"/>
                <a:ea typeface="华文中宋" panose="02010600040101010101" pitchFamily="2" charset="-122"/>
              </a:rPr>
              <a:t>2s</a:t>
            </a:r>
            <a:r>
              <a:rPr lang="zh-CN" altLang="en-US" b="1" dirty="0">
                <a:solidFill>
                  <a:srgbClr val="1A95A6"/>
                </a:solidFill>
                <a:latin typeface="华文中宋" panose="02010600040101010101" pitchFamily="2" charset="-122"/>
                <a:ea typeface="华文中宋" panose="02010600040101010101" pitchFamily="2" charset="-122"/>
              </a:rPr>
              <a:t>轨道的电子穿透效应使得</a:t>
            </a:r>
            <a:r>
              <a:rPr lang="en-US" altLang="zh-CN" b="1" dirty="0">
                <a:solidFill>
                  <a:srgbClr val="1A95A6"/>
                </a:solidFill>
                <a:latin typeface="华文中宋" panose="02010600040101010101" pitchFamily="2" charset="-122"/>
                <a:ea typeface="华文中宋" panose="02010600040101010101" pitchFamily="2" charset="-122"/>
              </a:rPr>
              <a:t>2s</a:t>
            </a:r>
            <a:r>
              <a:rPr lang="zh-CN" altLang="en-US" b="1" dirty="0">
                <a:solidFill>
                  <a:srgbClr val="1A95A6"/>
                </a:solidFill>
                <a:latin typeface="华文中宋" panose="02010600040101010101" pitchFamily="2" charset="-122"/>
                <a:ea typeface="华文中宋" panose="02010600040101010101" pitchFamily="2" charset="-122"/>
              </a:rPr>
              <a:t>电子更接近核，受到更强的吸引力。③屏蔽效应对</a:t>
            </a:r>
            <a:r>
              <a:rPr lang="en-US" altLang="zh-CN" b="1" dirty="0">
                <a:solidFill>
                  <a:srgbClr val="1A95A6"/>
                </a:solidFill>
                <a:latin typeface="华文中宋" panose="02010600040101010101" pitchFamily="2" charset="-122"/>
                <a:ea typeface="华文中宋" panose="02010600040101010101" pitchFamily="2" charset="-122"/>
              </a:rPr>
              <a:t>2s</a:t>
            </a:r>
            <a:r>
              <a:rPr lang="zh-CN" altLang="en-US" b="1" dirty="0">
                <a:solidFill>
                  <a:srgbClr val="1A95A6"/>
                </a:solidFill>
                <a:latin typeface="华文中宋" panose="02010600040101010101" pitchFamily="2" charset="-122"/>
                <a:ea typeface="华文中宋" panose="02010600040101010101" pitchFamily="2" charset="-122"/>
              </a:rPr>
              <a:t>轨道的影响较小，使得其能量降低更显著。</a:t>
            </a:r>
          </a:p>
        </p:txBody>
      </p:sp>
      <p:sp>
        <p:nvSpPr>
          <p:cNvPr id="7" name="文本框 6">
            <a:extLst>
              <a:ext uri="{FF2B5EF4-FFF2-40B4-BE49-F238E27FC236}">
                <a16:creationId xmlns:a16="http://schemas.microsoft.com/office/drawing/2014/main" id="{F5EA3F46-89EB-4588-95BB-D8448607C600}"/>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8" name="文本框 7">
            <a:extLst>
              <a:ext uri="{FF2B5EF4-FFF2-40B4-BE49-F238E27FC236}">
                <a16:creationId xmlns:a16="http://schemas.microsoft.com/office/drawing/2014/main" id="{03A700C3-04C5-4B8E-AFA8-D5F13FF2D49D}"/>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2854382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874150"/>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8.1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请解释教材</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260</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页图</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8.2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中的轨道能量特点和趋势。</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a:p>
            <a:pPr algn="just">
              <a:lnSpc>
                <a:spcPct val="150000"/>
              </a:lnSpc>
            </a:pP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(b) </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从</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Ne</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到</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Na</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时，</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2p AO</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的能量大幅下降</a:t>
            </a:r>
            <a:endParaRPr lang="en-US" altLang="zh-CN" dirty="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 name="文本框 1">
            <a:extLst>
              <a:ext uri="{FF2B5EF4-FFF2-40B4-BE49-F238E27FC236}">
                <a16:creationId xmlns:a16="http://schemas.microsoft.com/office/drawing/2014/main" id="{6F35E9D1-FE4F-430D-85C7-40F802A488DA}"/>
              </a:ext>
            </a:extLst>
          </p:cNvPr>
          <p:cNvSpPr txBox="1"/>
          <p:nvPr/>
        </p:nvSpPr>
        <p:spPr>
          <a:xfrm>
            <a:off x="193344" y="1194181"/>
            <a:ext cx="11805313" cy="4613764"/>
          </a:xfrm>
          <a:prstGeom prst="rect">
            <a:avLst/>
          </a:prstGeom>
          <a:noFill/>
        </p:spPr>
        <p:txBody>
          <a:bodyPr wrap="squar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答：</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dirty="0">
                <a:latin typeface="华文中宋" panose="02010600040101010101" pitchFamily="2" charset="-122"/>
                <a:ea typeface="华文中宋" panose="02010600040101010101" pitchFamily="2" charset="-122"/>
              </a:rPr>
              <a:t>(1) </a:t>
            </a:r>
            <a:r>
              <a:rPr lang="zh-CN" altLang="en-US" dirty="0">
                <a:latin typeface="华文中宋" panose="02010600040101010101" pitchFamily="2" charset="-122"/>
                <a:ea typeface="华文中宋" panose="02010600040101010101" pitchFamily="2" charset="-122"/>
              </a:rPr>
              <a:t>从氖（</a:t>
            </a:r>
            <a:r>
              <a:rPr lang="en-US" altLang="zh-CN" dirty="0">
                <a:latin typeface="华文中宋" panose="02010600040101010101" pitchFamily="2" charset="-122"/>
                <a:ea typeface="华文中宋" panose="02010600040101010101" pitchFamily="2" charset="-122"/>
              </a:rPr>
              <a:t>Ne</a:t>
            </a:r>
            <a:r>
              <a:rPr lang="zh-CN" altLang="en-US" dirty="0">
                <a:latin typeface="华文中宋" panose="02010600040101010101" pitchFamily="2" charset="-122"/>
                <a:ea typeface="华文中宋" panose="02010600040101010101" pitchFamily="2" charset="-122"/>
              </a:rPr>
              <a:t>）到钠（</a:t>
            </a:r>
            <a:r>
              <a:rPr lang="en-US" altLang="zh-CN" dirty="0">
                <a:latin typeface="华文中宋" panose="02010600040101010101" pitchFamily="2" charset="-122"/>
                <a:ea typeface="华文中宋" panose="02010600040101010101" pitchFamily="2" charset="-122"/>
              </a:rPr>
              <a:t>Na</a:t>
            </a:r>
            <a:r>
              <a:rPr lang="zh-CN" altLang="en-US" dirty="0">
                <a:latin typeface="华文中宋" panose="02010600040101010101" pitchFamily="2" charset="-122"/>
                <a:ea typeface="华文中宋" panose="02010600040101010101" pitchFamily="2" charset="-122"/>
              </a:rPr>
              <a:t>）时，</a:t>
            </a:r>
            <a:r>
              <a:rPr lang="en-US" altLang="zh-CN" dirty="0">
                <a:latin typeface="华文中宋" panose="02010600040101010101" pitchFamily="2" charset="-122"/>
                <a:ea typeface="华文中宋" panose="02010600040101010101" pitchFamily="2" charset="-122"/>
              </a:rPr>
              <a:t>2p</a:t>
            </a:r>
            <a:r>
              <a:rPr lang="zh-CN" altLang="en-US" dirty="0">
                <a:latin typeface="华文中宋" panose="02010600040101010101" pitchFamily="2" charset="-122"/>
                <a:ea typeface="华文中宋" panose="02010600040101010101" pitchFamily="2" charset="-122"/>
              </a:rPr>
              <a:t>原子轨道（</a:t>
            </a:r>
            <a:r>
              <a:rPr lang="en-US" altLang="zh-CN" dirty="0">
                <a:latin typeface="华文中宋" panose="02010600040101010101" pitchFamily="2" charset="-122"/>
                <a:ea typeface="华文中宋" panose="02010600040101010101" pitchFamily="2" charset="-122"/>
              </a:rPr>
              <a:t>AO</a:t>
            </a:r>
            <a:r>
              <a:rPr lang="zh-CN" altLang="en-US" dirty="0">
                <a:latin typeface="华文中宋" panose="02010600040101010101" pitchFamily="2" charset="-122"/>
                <a:ea typeface="华文中宋" panose="02010600040101010101" pitchFamily="2" charset="-122"/>
              </a:rPr>
              <a:t>）的能量大幅下降的原因与电子排布和原子结构的变化有关。在氖（</a:t>
            </a:r>
            <a:r>
              <a:rPr lang="en-US" altLang="zh-CN" dirty="0">
                <a:latin typeface="华文中宋" panose="02010600040101010101" pitchFamily="2" charset="-122"/>
                <a:ea typeface="华文中宋" panose="02010600040101010101" pitchFamily="2" charset="-122"/>
              </a:rPr>
              <a:t>Ne</a:t>
            </a:r>
            <a:r>
              <a:rPr lang="zh-CN" altLang="en-US" dirty="0">
                <a:latin typeface="华文中宋" panose="02010600040101010101" pitchFamily="2" charset="-122"/>
                <a:ea typeface="华文中宋" panose="02010600040101010101" pitchFamily="2" charset="-122"/>
              </a:rPr>
              <a:t>）中，</a:t>
            </a:r>
            <a:r>
              <a:rPr lang="en-US" altLang="zh-CN" dirty="0">
                <a:latin typeface="华文中宋" panose="02010600040101010101" pitchFamily="2" charset="-122"/>
                <a:ea typeface="华文中宋" panose="02010600040101010101" pitchFamily="2" charset="-122"/>
              </a:rPr>
              <a:t>2p</a:t>
            </a:r>
            <a:r>
              <a:rPr lang="zh-CN" altLang="en-US" dirty="0">
                <a:latin typeface="华文中宋" panose="02010600040101010101" pitchFamily="2" charset="-122"/>
                <a:ea typeface="华文中宋" panose="02010600040101010101" pitchFamily="2" charset="-122"/>
              </a:rPr>
              <a:t>轨道是完全填满的，而且氖是一个稳定的惰性气体。当我们</a:t>
            </a:r>
            <a:r>
              <a:rPr lang="zh-CN" altLang="en-US" b="1" dirty="0">
                <a:solidFill>
                  <a:srgbClr val="FF0000"/>
                </a:solidFill>
                <a:latin typeface="华文中宋" panose="02010600040101010101" pitchFamily="2" charset="-122"/>
                <a:ea typeface="华文中宋" panose="02010600040101010101" pitchFamily="2" charset="-122"/>
              </a:rPr>
              <a:t>移动到钠（</a:t>
            </a:r>
            <a:r>
              <a:rPr lang="en-US" altLang="zh-CN" b="1" dirty="0">
                <a:solidFill>
                  <a:srgbClr val="FF0000"/>
                </a:solidFill>
                <a:latin typeface="华文中宋" panose="02010600040101010101" pitchFamily="2" charset="-122"/>
                <a:ea typeface="华文中宋" panose="02010600040101010101" pitchFamily="2" charset="-122"/>
              </a:rPr>
              <a:t>Na</a:t>
            </a:r>
            <a:r>
              <a:rPr lang="zh-CN" altLang="en-US" b="1" dirty="0">
                <a:solidFill>
                  <a:srgbClr val="FF0000"/>
                </a:solidFill>
                <a:latin typeface="华文中宋" panose="02010600040101010101" pitchFamily="2" charset="-122"/>
                <a:ea typeface="华文中宋" panose="02010600040101010101" pitchFamily="2" charset="-122"/>
              </a:rPr>
              <a:t>），钠的最外层电子进入了</a:t>
            </a:r>
            <a:r>
              <a:rPr lang="en-US" altLang="zh-CN" b="1" dirty="0">
                <a:solidFill>
                  <a:srgbClr val="FF0000"/>
                </a:solidFill>
                <a:latin typeface="华文中宋" panose="02010600040101010101" pitchFamily="2" charset="-122"/>
                <a:ea typeface="华文中宋" panose="02010600040101010101" pitchFamily="2" charset="-122"/>
              </a:rPr>
              <a:t>3s</a:t>
            </a:r>
            <a:r>
              <a:rPr lang="zh-CN" altLang="en-US" b="1" dirty="0">
                <a:solidFill>
                  <a:srgbClr val="FF0000"/>
                </a:solidFill>
                <a:latin typeface="华文中宋" panose="02010600040101010101" pitchFamily="2" charset="-122"/>
                <a:ea typeface="华文中宋" panose="02010600040101010101" pitchFamily="2" charset="-122"/>
              </a:rPr>
              <a:t>轨道，而不是</a:t>
            </a:r>
            <a:r>
              <a:rPr lang="en-US" altLang="zh-CN" b="1" dirty="0">
                <a:solidFill>
                  <a:srgbClr val="FF0000"/>
                </a:solidFill>
                <a:latin typeface="华文中宋" panose="02010600040101010101" pitchFamily="2" charset="-122"/>
                <a:ea typeface="华文中宋" panose="02010600040101010101" pitchFamily="2" charset="-122"/>
              </a:rPr>
              <a:t>2p</a:t>
            </a:r>
            <a:r>
              <a:rPr lang="zh-CN" altLang="en-US" b="1" dirty="0">
                <a:solidFill>
                  <a:srgbClr val="FF0000"/>
                </a:solidFill>
                <a:latin typeface="华文中宋" panose="02010600040101010101" pitchFamily="2" charset="-122"/>
                <a:ea typeface="华文中宋" panose="02010600040101010101" pitchFamily="2" charset="-122"/>
              </a:rPr>
              <a:t>轨道</a:t>
            </a:r>
            <a:r>
              <a:rPr lang="zh-CN" altLang="en-US" dirty="0">
                <a:latin typeface="华文中宋" panose="02010600040101010101" pitchFamily="2" charset="-122"/>
                <a:ea typeface="华文中宋" panose="02010600040101010101" pitchFamily="2" charset="-122"/>
              </a:rPr>
              <a:t>。</a:t>
            </a:r>
          </a:p>
          <a:p>
            <a:pPr algn="just">
              <a:lnSpc>
                <a:spcPct val="150000"/>
              </a:lnSpc>
            </a:pPr>
            <a:r>
              <a:rPr lang="en-US" altLang="zh-CN" dirty="0">
                <a:latin typeface="华文中宋" panose="02010600040101010101" pitchFamily="2" charset="-122"/>
                <a:ea typeface="华文中宋" panose="02010600040101010101" pitchFamily="2" charset="-122"/>
              </a:rPr>
              <a:t>(2) </a:t>
            </a:r>
            <a:r>
              <a:rPr lang="zh-CN" altLang="en-US" dirty="0">
                <a:latin typeface="华文中宋" panose="02010600040101010101" pitchFamily="2" charset="-122"/>
                <a:ea typeface="华文中宋" panose="02010600040101010101" pitchFamily="2" charset="-122"/>
              </a:rPr>
              <a:t>这种变化意味着</a:t>
            </a:r>
            <a:r>
              <a:rPr lang="en-US" altLang="zh-CN" b="1" dirty="0">
                <a:solidFill>
                  <a:srgbClr val="45D764"/>
                </a:solidFill>
                <a:latin typeface="华文中宋" panose="02010600040101010101" pitchFamily="2" charset="-122"/>
                <a:ea typeface="华文中宋" panose="02010600040101010101" pitchFamily="2" charset="-122"/>
              </a:rPr>
              <a:t>2p</a:t>
            </a:r>
            <a:r>
              <a:rPr lang="zh-CN" altLang="en-US" b="1" dirty="0">
                <a:solidFill>
                  <a:srgbClr val="45D764"/>
                </a:solidFill>
                <a:latin typeface="华文中宋" panose="02010600040101010101" pitchFamily="2" charset="-122"/>
                <a:ea typeface="华文中宋" panose="02010600040101010101" pitchFamily="2" charset="-122"/>
              </a:rPr>
              <a:t>轨道在钠中不再是价电子轨道，而是成为了内层电子轨道</a:t>
            </a:r>
            <a:r>
              <a:rPr lang="zh-CN" altLang="en-US" dirty="0">
                <a:latin typeface="华文中宋" panose="02010600040101010101" pitchFamily="2" charset="-122"/>
                <a:ea typeface="华文中宋" panose="02010600040101010101" pitchFamily="2" charset="-122"/>
              </a:rPr>
              <a:t>。由于内层电子轨道的电子不像价电子那样参与化学键的形成，它们相对于核的能量会更低，因为它们更接近于原子核并且受到更强的吸引力。此外，当新的电子层（</a:t>
            </a:r>
            <a:r>
              <a:rPr lang="en-US" altLang="zh-CN" dirty="0">
                <a:latin typeface="华文中宋" panose="02010600040101010101" pitchFamily="2" charset="-122"/>
                <a:ea typeface="华文中宋" panose="02010600040101010101" pitchFamily="2" charset="-122"/>
              </a:rPr>
              <a:t>3s</a:t>
            </a:r>
            <a:r>
              <a:rPr lang="zh-CN" altLang="en-US" dirty="0">
                <a:latin typeface="华文中宋" panose="02010600040101010101" pitchFamily="2" charset="-122"/>
                <a:ea typeface="华文中宋" panose="02010600040101010101" pitchFamily="2" charset="-122"/>
              </a:rPr>
              <a:t>轨道）被添加时，它会对内层的</a:t>
            </a:r>
            <a:r>
              <a:rPr lang="en-US" altLang="zh-CN" dirty="0">
                <a:latin typeface="华文中宋" panose="02010600040101010101" pitchFamily="2" charset="-122"/>
                <a:ea typeface="华文中宋" panose="02010600040101010101" pitchFamily="2" charset="-122"/>
              </a:rPr>
              <a:t>2p</a:t>
            </a:r>
            <a:r>
              <a:rPr lang="zh-CN" altLang="en-US" dirty="0">
                <a:latin typeface="华文中宋" panose="02010600040101010101" pitchFamily="2" charset="-122"/>
                <a:ea typeface="华文中宋" panose="02010600040101010101" pitchFamily="2" charset="-122"/>
              </a:rPr>
              <a:t>电子产生</a:t>
            </a:r>
            <a:r>
              <a:rPr lang="zh-CN" altLang="en-US" b="1" dirty="0">
                <a:solidFill>
                  <a:srgbClr val="DD5DAC"/>
                </a:solidFill>
                <a:latin typeface="华文中宋" panose="02010600040101010101" pitchFamily="2" charset="-122"/>
                <a:ea typeface="华文中宋" panose="02010600040101010101" pitchFamily="2" charset="-122"/>
              </a:rPr>
              <a:t>屏蔽效应</a:t>
            </a:r>
            <a:r>
              <a:rPr lang="zh-CN" altLang="en-US" dirty="0">
                <a:latin typeface="华文中宋" panose="02010600040101010101" pitchFamily="2" charset="-122"/>
                <a:ea typeface="华文中宋" panose="02010600040101010101" pitchFamily="2" charset="-122"/>
              </a:rPr>
              <a:t>，使得</a:t>
            </a:r>
            <a:r>
              <a:rPr lang="en-US" altLang="zh-CN" dirty="0">
                <a:latin typeface="华文中宋" panose="02010600040101010101" pitchFamily="2" charset="-122"/>
                <a:ea typeface="华文中宋" panose="02010600040101010101" pitchFamily="2" charset="-122"/>
              </a:rPr>
              <a:t>2p</a:t>
            </a:r>
            <a:r>
              <a:rPr lang="zh-CN" altLang="en-US" dirty="0">
                <a:latin typeface="华文中宋" panose="02010600040101010101" pitchFamily="2" charset="-122"/>
                <a:ea typeface="华文中宋" panose="02010600040101010101" pitchFamily="2" charset="-122"/>
              </a:rPr>
              <a:t>轨道的电子感受到的有效核电荷减少，从而导致</a:t>
            </a:r>
            <a:r>
              <a:rPr lang="en-US" altLang="zh-CN" dirty="0">
                <a:latin typeface="华文中宋" panose="02010600040101010101" pitchFamily="2" charset="-122"/>
                <a:ea typeface="华文中宋" panose="02010600040101010101" pitchFamily="2" charset="-122"/>
              </a:rPr>
              <a:t>2p</a:t>
            </a:r>
            <a:r>
              <a:rPr lang="zh-CN" altLang="en-US" dirty="0">
                <a:latin typeface="华文中宋" panose="02010600040101010101" pitchFamily="2" charset="-122"/>
                <a:ea typeface="华文中宋" panose="02010600040101010101" pitchFamily="2" charset="-122"/>
              </a:rPr>
              <a:t>轨道的能量降低。</a:t>
            </a:r>
          </a:p>
          <a:p>
            <a:pPr algn="just">
              <a:lnSpc>
                <a:spcPct val="150000"/>
              </a:lnSpc>
            </a:pPr>
            <a:r>
              <a:rPr lang="en-US" altLang="zh-CN" dirty="0">
                <a:latin typeface="华文中宋" panose="02010600040101010101" pitchFamily="2" charset="-122"/>
                <a:ea typeface="华文中宋" panose="02010600040101010101" pitchFamily="2" charset="-122"/>
              </a:rPr>
              <a:t>(3) </a:t>
            </a:r>
            <a:r>
              <a:rPr lang="zh-CN" altLang="en-US" dirty="0">
                <a:latin typeface="华文中宋" panose="02010600040101010101" pitchFamily="2" charset="-122"/>
                <a:ea typeface="华文中宋" panose="02010600040101010101" pitchFamily="2" charset="-122"/>
              </a:rPr>
              <a:t>总的来说，从</a:t>
            </a:r>
            <a:r>
              <a:rPr lang="en-US" altLang="zh-CN" dirty="0">
                <a:latin typeface="华文中宋" panose="02010600040101010101" pitchFamily="2" charset="-122"/>
                <a:ea typeface="华文中宋" panose="02010600040101010101" pitchFamily="2" charset="-122"/>
              </a:rPr>
              <a:t>Ne</a:t>
            </a:r>
            <a:r>
              <a:rPr lang="zh-CN" altLang="en-US" dirty="0">
                <a:latin typeface="华文中宋" panose="02010600040101010101" pitchFamily="2" charset="-122"/>
                <a:ea typeface="华文中宋" panose="02010600040101010101" pitchFamily="2" charset="-122"/>
              </a:rPr>
              <a:t>到</a:t>
            </a:r>
            <a:r>
              <a:rPr lang="en-US" altLang="zh-CN" dirty="0">
                <a:latin typeface="华文中宋" panose="02010600040101010101" pitchFamily="2" charset="-122"/>
                <a:ea typeface="华文中宋" panose="02010600040101010101" pitchFamily="2" charset="-122"/>
              </a:rPr>
              <a:t>Na</a:t>
            </a:r>
            <a:r>
              <a:rPr lang="zh-CN" altLang="en-US" dirty="0">
                <a:latin typeface="华文中宋" panose="02010600040101010101" pitchFamily="2" charset="-122"/>
                <a:ea typeface="华文中宋" panose="02010600040101010101" pitchFamily="2" charset="-122"/>
              </a:rPr>
              <a:t>时，</a:t>
            </a:r>
            <a:r>
              <a:rPr lang="en-US" altLang="zh-CN" dirty="0">
                <a:latin typeface="华文中宋" panose="02010600040101010101" pitchFamily="2" charset="-122"/>
                <a:ea typeface="华文中宋" panose="02010600040101010101" pitchFamily="2" charset="-122"/>
              </a:rPr>
              <a:t>2p AO</a:t>
            </a:r>
            <a:r>
              <a:rPr lang="zh-CN" altLang="en-US" dirty="0">
                <a:latin typeface="华文中宋" panose="02010600040101010101" pitchFamily="2" charset="-122"/>
                <a:ea typeface="华文中宋" panose="02010600040101010101" pitchFamily="2" charset="-122"/>
              </a:rPr>
              <a:t>的能量大幅下降，主要是因为：</a:t>
            </a:r>
            <a:r>
              <a:rPr lang="zh-CN" altLang="en-US" dirty="0">
                <a:solidFill>
                  <a:srgbClr val="28A484"/>
                </a:solidFill>
                <a:latin typeface="华文中宋" panose="02010600040101010101" pitchFamily="2" charset="-122"/>
                <a:ea typeface="华文中宋" panose="02010600040101010101" pitchFamily="2" charset="-122"/>
              </a:rPr>
              <a:t>①电子排布的变化：</a:t>
            </a:r>
            <a:r>
              <a:rPr lang="en-US" altLang="zh-CN" dirty="0">
                <a:solidFill>
                  <a:srgbClr val="28A484"/>
                </a:solidFill>
                <a:latin typeface="华文中宋" panose="02010600040101010101" pitchFamily="2" charset="-122"/>
                <a:ea typeface="华文中宋" panose="02010600040101010101" pitchFamily="2" charset="-122"/>
              </a:rPr>
              <a:t>2p</a:t>
            </a:r>
            <a:r>
              <a:rPr lang="zh-CN" altLang="en-US" dirty="0">
                <a:solidFill>
                  <a:srgbClr val="28A484"/>
                </a:solidFill>
                <a:latin typeface="华文中宋" panose="02010600040101010101" pitchFamily="2" charset="-122"/>
                <a:ea typeface="华文中宋" panose="02010600040101010101" pitchFamily="2" charset="-122"/>
              </a:rPr>
              <a:t>轨道从价电子轨道变为内层电子轨道。②有效核电荷的减少：新添加的电子层对内层电子产生屏蔽效应。③电子与核的距离：内层电子更接近核，因此其能量更低。</a:t>
            </a:r>
          </a:p>
        </p:txBody>
      </p:sp>
      <p:sp>
        <p:nvSpPr>
          <p:cNvPr id="6" name="文本框 5">
            <a:extLst>
              <a:ext uri="{FF2B5EF4-FFF2-40B4-BE49-F238E27FC236}">
                <a16:creationId xmlns:a16="http://schemas.microsoft.com/office/drawing/2014/main" id="{E7C424E9-F3F6-47AA-AF2C-9E6E4E04C95A}"/>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8" name="文本框 7">
            <a:extLst>
              <a:ext uri="{FF2B5EF4-FFF2-40B4-BE49-F238E27FC236}">
                <a16:creationId xmlns:a16="http://schemas.microsoft.com/office/drawing/2014/main" id="{FAC1309D-E1F1-4D13-B164-97177EADF0B8}"/>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2117890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874150"/>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8.1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请解释教材</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260</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页图</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8.2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中的轨道能量特点和趋势。</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a:p>
            <a:pPr algn="just">
              <a:lnSpc>
                <a:spcPct val="150000"/>
              </a:lnSpc>
            </a:pP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(c) Li</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中的</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2s AO</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Na</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中的</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3s AO</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和</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K</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中的</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4s AO</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的能量呈缓慢上升趋势，但从</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Li</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到</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Na</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，从</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Na</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到</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K</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的核电荷增加了</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8</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a:t>
            </a:r>
            <a:endParaRPr lang="en-US" altLang="zh-CN" dirty="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 name="文本框 1">
            <a:extLst>
              <a:ext uri="{FF2B5EF4-FFF2-40B4-BE49-F238E27FC236}">
                <a16:creationId xmlns:a16="http://schemas.microsoft.com/office/drawing/2014/main" id="{6F35E9D1-FE4F-430D-85C7-40F802A488DA}"/>
              </a:ext>
            </a:extLst>
          </p:cNvPr>
          <p:cNvSpPr txBox="1"/>
          <p:nvPr/>
        </p:nvSpPr>
        <p:spPr>
          <a:xfrm>
            <a:off x="193344" y="832513"/>
            <a:ext cx="11805313" cy="5860259"/>
          </a:xfrm>
          <a:prstGeom prst="rect">
            <a:avLst/>
          </a:prstGeom>
          <a:noFill/>
        </p:spPr>
        <p:txBody>
          <a:bodyPr wrap="squar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答：</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dirty="0">
                <a:latin typeface="华文中宋" panose="02010600040101010101" pitchFamily="2" charset="-122"/>
                <a:ea typeface="华文中宋" panose="02010600040101010101" pitchFamily="2" charset="-122"/>
              </a:rPr>
              <a:t>Li</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2s AO</a:t>
            </a: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Na</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3s AO</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K</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4s AO</a:t>
            </a:r>
            <a:r>
              <a:rPr lang="zh-CN" altLang="en-US" dirty="0">
                <a:latin typeface="华文中宋" panose="02010600040101010101" pitchFamily="2" charset="-122"/>
                <a:ea typeface="华文中宋" panose="02010600040101010101" pitchFamily="2" charset="-122"/>
              </a:rPr>
              <a:t>的能量呈缓慢上升趋势，尽管从</a:t>
            </a:r>
            <a:r>
              <a:rPr lang="en-US" altLang="zh-CN" dirty="0">
                <a:latin typeface="华文中宋" panose="02010600040101010101" pitchFamily="2" charset="-122"/>
                <a:ea typeface="华文中宋" panose="02010600040101010101" pitchFamily="2" charset="-122"/>
              </a:rPr>
              <a:t>Li</a:t>
            </a:r>
            <a:r>
              <a:rPr lang="zh-CN" altLang="en-US" dirty="0">
                <a:latin typeface="华文中宋" panose="02010600040101010101" pitchFamily="2" charset="-122"/>
                <a:ea typeface="华文中宋" panose="02010600040101010101" pitchFamily="2" charset="-122"/>
              </a:rPr>
              <a:t>到</a:t>
            </a:r>
            <a:r>
              <a:rPr lang="en-US" altLang="zh-CN" dirty="0">
                <a:latin typeface="华文中宋" panose="02010600040101010101" pitchFamily="2" charset="-122"/>
                <a:ea typeface="华文中宋" panose="02010600040101010101" pitchFamily="2" charset="-122"/>
              </a:rPr>
              <a:t>Na</a:t>
            </a:r>
            <a:r>
              <a:rPr lang="zh-CN" altLang="en-US" dirty="0">
                <a:latin typeface="华文中宋" panose="02010600040101010101" pitchFamily="2" charset="-122"/>
                <a:ea typeface="华文中宋" panose="02010600040101010101" pitchFamily="2" charset="-122"/>
              </a:rPr>
              <a:t>，从</a:t>
            </a:r>
            <a:r>
              <a:rPr lang="en-US" altLang="zh-CN" dirty="0">
                <a:latin typeface="华文中宋" panose="02010600040101010101" pitchFamily="2" charset="-122"/>
                <a:ea typeface="华文中宋" panose="02010600040101010101" pitchFamily="2" charset="-122"/>
              </a:rPr>
              <a:t>Na</a:t>
            </a:r>
            <a:r>
              <a:rPr lang="zh-CN" altLang="en-US" dirty="0">
                <a:latin typeface="华文中宋" panose="02010600040101010101" pitchFamily="2" charset="-122"/>
                <a:ea typeface="华文中宋" panose="02010600040101010101" pitchFamily="2" charset="-122"/>
              </a:rPr>
              <a:t>到</a:t>
            </a:r>
            <a:r>
              <a:rPr lang="en-US" altLang="zh-CN" dirty="0">
                <a:latin typeface="华文中宋" panose="02010600040101010101" pitchFamily="2" charset="-122"/>
                <a:ea typeface="华文中宋" panose="02010600040101010101" pitchFamily="2" charset="-122"/>
              </a:rPr>
              <a:t>K</a:t>
            </a:r>
            <a:r>
              <a:rPr lang="zh-CN" altLang="en-US" dirty="0">
                <a:latin typeface="华文中宋" panose="02010600040101010101" pitchFamily="2" charset="-122"/>
                <a:ea typeface="华文中宋" panose="02010600040101010101" pitchFamily="2" charset="-122"/>
              </a:rPr>
              <a:t>的核电荷增加了</a:t>
            </a:r>
            <a:r>
              <a:rPr lang="en-US" altLang="zh-CN" dirty="0">
                <a:latin typeface="华文中宋" panose="02010600040101010101" pitchFamily="2" charset="-122"/>
                <a:ea typeface="华文中宋" panose="02010600040101010101" pitchFamily="2" charset="-122"/>
              </a:rPr>
              <a:t>8</a:t>
            </a:r>
            <a:r>
              <a:rPr lang="zh-CN" altLang="en-US" dirty="0">
                <a:latin typeface="华文中宋" panose="02010600040101010101" pitchFamily="2" charset="-122"/>
                <a:ea typeface="华文中宋" panose="02010600040101010101" pitchFamily="2" charset="-122"/>
              </a:rPr>
              <a:t>，这主要是由于以下几个因素的综合作用：</a:t>
            </a:r>
          </a:p>
          <a:p>
            <a:pPr algn="just">
              <a:lnSpc>
                <a:spcPct val="150000"/>
              </a:lnSpc>
            </a:pPr>
            <a:r>
              <a:rPr lang="en-US" altLang="zh-CN" b="1" dirty="0">
                <a:solidFill>
                  <a:srgbClr val="1A95A6"/>
                </a:solidFill>
                <a:latin typeface="华文中宋" panose="02010600040101010101" pitchFamily="2" charset="-122"/>
                <a:ea typeface="华文中宋" panose="02010600040101010101" pitchFamily="2" charset="-122"/>
              </a:rPr>
              <a:t>(1) </a:t>
            </a:r>
            <a:r>
              <a:rPr lang="zh-CN" altLang="en-US" b="1" dirty="0">
                <a:solidFill>
                  <a:srgbClr val="1A95A6"/>
                </a:solidFill>
                <a:latin typeface="华文中宋" panose="02010600040101010101" pitchFamily="2" charset="-122"/>
                <a:ea typeface="华文中宋" panose="02010600040101010101" pitchFamily="2" charset="-122"/>
              </a:rPr>
              <a:t>有效核电荷（</a:t>
            </a:r>
            <a:r>
              <a:rPr lang="en-US" altLang="zh-CN" b="1" dirty="0">
                <a:solidFill>
                  <a:srgbClr val="1A95A6"/>
                </a:solidFill>
                <a:latin typeface="华文中宋" panose="02010600040101010101" pitchFamily="2" charset="-122"/>
                <a:ea typeface="华文中宋" panose="02010600040101010101" pitchFamily="2" charset="-122"/>
              </a:rPr>
              <a:t>Effective Nuclear Charge</a:t>
            </a:r>
            <a:r>
              <a:rPr lang="zh-CN" altLang="en-US" b="1" dirty="0">
                <a:solidFill>
                  <a:srgbClr val="1A95A6"/>
                </a:solidFill>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：虽然核电荷确实增加了，但由于电子云的屏蔽效应，价电子所感受到的有效核电荷并没有增加得那么多。内层电子对外层电子产生屏蔽，减少了它们感受到的正电荷量。</a:t>
            </a:r>
          </a:p>
          <a:p>
            <a:pPr algn="just">
              <a:lnSpc>
                <a:spcPct val="150000"/>
              </a:lnSpc>
            </a:pPr>
            <a:r>
              <a:rPr lang="en-US" altLang="zh-CN" b="1" dirty="0">
                <a:solidFill>
                  <a:schemeClr val="accent4">
                    <a:lumMod val="75000"/>
                  </a:schemeClr>
                </a:solidFill>
                <a:latin typeface="华文中宋" panose="02010600040101010101" pitchFamily="2" charset="-122"/>
                <a:ea typeface="华文中宋" panose="02010600040101010101" pitchFamily="2" charset="-122"/>
              </a:rPr>
              <a:t>(2) </a:t>
            </a:r>
            <a:r>
              <a:rPr lang="zh-CN" altLang="en-US" b="1" dirty="0">
                <a:solidFill>
                  <a:schemeClr val="accent4">
                    <a:lumMod val="75000"/>
                  </a:schemeClr>
                </a:solidFill>
                <a:latin typeface="华文中宋" panose="02010600040101010101" pitchFamily="2" charset="-122"/>
                <a:ea typeface="华文中宋" panose="02010600040101010101" pitchFamily="2" charset="-122"/>
              </a:rPr>
              <a:t>电子屏蔽（</a:t>
            </a:r>
            <a:r>
              <a:rPr lang="en-US" altLang="zh-CN" b="1" dirty="0">
                <a:solidFill>
                  <a:schemeClr val="accent4">
                    <a:lumMod val="75000"/>
                  </a:schemeClr>
                </a:solidFill>
                <a:latin typeface="华文中宋" panose="02010600040101010101" pitchFamily="2" charset="-122"/>
                <a:ea typeface="华文中宋" panose="02010600040101010101" pitchFamily="2" charset="-122"/>
              </a:rPr>
              <a:t>Electron Shielding</a:t>
            </a:r>
            <a:r>
              <a:rPr lang="zh-CN" altLang="en-US" b="1" dirty="0">
                <a:solidFill>
                  <a:schemeClr val="accent4">
                    <a:lumMod val="75000"/>
                  </a:schemeClr>
                </a:solidFill>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：随着电子层数的增加，新的电子层对内层电子的屏蔽效应也增强，这导致外层电子感受到的有效核电荷增加幅度有限。</a:t>
            </a:r>
          </a:p>
          <a:p>
            <a:pPr algn="just">
              <a:lnSpc>
                <a:spcPct val="150000"/>
              </a:lnSpc>
            </a:pPr>
            <a:r>
              <a:rPr lang="en-US" altLang="zh-CN" b="1" dirty="0">
                <a:solidFill>
                  <a:srgbClr val="45D764"/>
                </a:solidFill>
                <a:latin typeface="华文中宋" panose="02010600040101010101" pitchFamily="2" charset="-122"/>
                <a:ea typeface="华文中宋" panose="02010600040101010101" pitchFamily="2" charset="-122"/>
              </a:rPr>
              <a:t>(3) </a:t>
            </a:r>
            <a:r>
              <a:rPr lang="zh-CN" altLang="en-US" b="1" dirty="0">
                <a:solidFill>
                  <a:srgbClr val="45D764"/>
                </a:solidFill>
                <a:latin typeface="华文中宋" panose="02010600040101010101" pitchFamily="2" charset="-122"/>
                <a:ea typeface="华文中宋" panose="02010600040101010101" pitchFamily="2" charset="-122"/>
              </a:rPr>
              <a:t>主量子数（</a:t>
            </a:r>
            <a:r>
              <a:rPr lang="en-US" altLang="zh-CN" b="1" dirty="0">
                <a:solidFill>
                  <a:srgbClr val="45D764"/>
                </a:solidFill>
                <a:latin typeface="华文中宋" panose="02010600040101010101" pitchFamily="2" charset="-122"/>
                <a:ea typeface="华文中宋" panose="02010600040101010101" pitchFamily="2" charset="-122"/>
              </a:rPr>
              <a:t>Principal Quantum Number</a:t>
            </a:r>
            <a:r>
              <a:rPr lang="zh-CN" altLang="en-US" b="1" dirty="0">
                <a:solidFill>
                  <a:srgbClr val="45D764"/>
                </a:solidFill>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Li</a:t>
            </a:r>
            <a:r>
              <a:rPr lang="zh-CN" altLang="en-US" dirty="0">
                <a:latin typeface="华文中宋" panose="02010600040101010101" pitchFamily="2" charset="-122"/>
                <a:ea typeface="华文中宋" panose="02010600040101010101" pitchFamily="2" charset="-122"/>
              </a:rPr>
              <a:t>的</a:t>
            </a:r>
            <a:r>
              <a:rPr lang="en-US" altLang="zh-CN" dirty="0">
                <a:latin typeface="华文中宋" panose="02010600040101010101" pitchFamily="2" charset="-122"/>
                <a:ea typeface="华文中宋" panose="02010600040101010101" pitchFamily="2" charset="-122"/>
              </a:rPr>
              <a:t>2s</a:t>
            </a: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Na</a:t>
            </a:r>
            <a:r>
              <a:rPr lang="zh-CN" altLang="en-US" dirty="0">
                <a:latin typeface="华文中宋" panose="02010600040101010101" pitchFamily="2" charset="-122"/>
                <a:ea typeface="华文中宋" panose="02010600040101010101" pitchFamily="2" charset="-122"/>
              </a:rPr>
              <a:t>的</a:t>
            </a:r>
            <a:r>
              <a:rPr lang="en-US" altLang="zh-CN" dirty="0">
                <a:latin typeface="华文中宋" panose="02010600040101010101" pitchFamily="2" charset="-122"/>
                <a:ea typeface="华文中宋" panose="02010600040101010101" pitchFamily="2" charset="-122"/>
              </a:rPr>
              <a:t>3s</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K</a:t>
            </a:r>
            <a:r>
              <a:rPr lang="zh-CN" altLang="en-US" dirty="0">
                <a:latin typeface="华文中宋" panose="02010600040101010101" pitchFamily="2" charset="-122"/>
                <a:ea typeface="华文中宋" panose="02010600040101010101" pitchFamily="2" charset="-122"/>
              </a:rPr>
              <a:t>的</a:t>
            </a:r>
            <a:r>
              <a:rPr lang="en-US" altLang="zh-CN" dirty="0">
                <a:latin typeface="华文中宋" panose="02010600040101010101" pitchFamily="2" charset="-122"/>
                <a:ea typeface="华文中宋" panose="02010600040101010101" pitchFamily="2" charset="-122"/>
              </a:rPr>
              <a:t>4s</a:t>
            </a:r>
            <a:r>
              <a:rPr lang="zh-CN" altLang="en-US" dirty="0">
                <a:latin typeface="华文中宋" panose="02010600040101010101" pitchFamily="2" charset="-122"/>
                <a:ea typeface="华文中宋" panose="02010600040101010101" pitchFamily="2" charset="-122"/>
              </a:rPr>
              <a:t>轨道的主量子数</a:t>
            </a:r>
            <a:r>
              <a:rPr lang="en-US" altLang="zh-CN" dirty="0">
                <a:latin typeface="华文中宋" panose="02010600040101010101" pitchFamily="2" charset="-122"/>
                <a:ea typeface="华文中宋" panose="02010600040101010101" pitchFamily="2" charset="-122"/>
              </a:rPr>
              <a:t>n</a:t>
            </a:r>
            <a:r>
              <a:rPr lang="zh-CN" altLang="en-US" dirty="0">
                <a:latin typeface="华文中宋" panose="02010600040101010101" pitchFamily="2" charset="-122"/>
                <a:ea typeface="华文中宋" panose="02010600040101010101" pitchFamily="2" charset="-122"/>
              </a:rPr>
              <a:t>分别为</a:t>
            </a:r>
            <a:r>
              <a:rPr lang="en-US" altLang="zh-CN"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3</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4</a:t>
            </a:r>
            <a:r>
              <a:rPr lang="zh-CN" altLang="en-US" dirty="0">
                <a:latin typeface="华文中宋" panose="02010600040101010101" pitchFamily="2" charset="-122"/>
                <a:ea typeface="华文中宋" panose="02010600040101010101" pitchFamily="2" charset="-122"/>
              </a:rPr>
              <a:t>。随着</a:t>
            </a:r>
            <a:r>
              <a:rPr lang="en-US" altLang="zh-CN" dirty="0">
                <a:latin typeface="华文中宋" panose="02010600040101010101" pitchFamily="2" charset="-122"/>
                <a:ea typeface="华文中宋" panose="02010600040101010101" pitchFamily="2" charset="-122"/>
              </a:rPr>
              <a:t>n</a:t>
            </a:r>
            <a:r>
              <a:rPr lang="zh-CN" altLang="en-US" dirty="0">
                <a:latin typeface="华文中宋" panose="02010600040101010101" pitchFamily="2" charset="-122"/>
                <a:ea typeface="华文中宋" panose="02010600040101010101" pitchFamily="2" charset="-122"/>
              </a:rPr>
              <a:t>的增加，电子所处的能级也相应地增加，因此，即使核电荷增加，电子能量也会因为它们距离核更远而增加。</a:t>
            </a:r>
          </a:p>
          <a:p>
            <a:pPr algn="just">
              <a:lnSpc>
                <a:spcPct val="150000"/>
              </a:lnSpc>
            </a:pPr>
            <a:r>
              <a:rPr lang="en-US" altLang="zh-CN" b="1" dirty="0">
                <a:solidFill>
                  <a:srgbClr val="1A95A6"/>
                </a:solidFill>
                <a:latin typeface="华文中宋" panose="02010600040101010101" pitchFamily="2" charset="-122"/>
                <a:ea typeface="华文中宋" panose="02010600040101010101" pitchFamily="2" charset="-122"/>
              </a:rPr>
              <a:t>(4) </a:t>
            </a:r>
            <a:r>
              <a:rPr lang="zh-CN" altLang="en-US" b="1" dirty="0">
                <a:solidFill>
                  <a:srgbClr val="1A95A6"/>
                </a:solidFill>
                <a:latin typeface="华文中宋" panose="02010600040101010101" pitchFamily="2" charset="-122"/>
                <a:ea typeface="华文中宋" panose="02010600040101010101" pitchFamily="2" charset="-122"/>
              </a:rPr>
              <a:t>电子间的排斥作用（</a:t>
            </a:r>
            <a:r>
              <a:rPr lang="en-US" altLang="zh-CN" b="1" dirty="0">
                <a:solidFill>
                  <a:srgbClr val="1A95A6"/>
                </a:solidFill>
                <a:latin typeface="华文中宋" panose="02010600040101010101" pitchFamily="2" charset="-122"/>
                <a:ea typeface="华文中宋" panose="02010600040101010101" pitchFamily="2" charset="-122"/>
              </a:rPr>
              <a:t>Electron-Electron Repulsion</a:t>
            </a:r>
            <a:r>
              <a:rPr lang="zh-CN" altLang="en-US" b="1" dirty="0">
                <a:solidFill>
                  <a:srgbClr val="1A95A6"/>
                </a:solidFill>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：在多电子原子中，电子不仅受到核的吸引，还要受到其他电子的排斥。随着电子数量的增加，这种排斥作用也变得更加显著，影响了电子能量的上升趋势。</a:t>
            </a:r>
          </a:p>
          <a:p>
            <a:pPr algn="just">
              <a:lnSpc>
                <a:spcPct val="150000"/>
              </a:lnSpc>
            </a:pPr>
            <a:r>
              <a:rPr lang="en-US" altLang="zh-CN" dirty="0">
                <a:latin typeface="华文中宋" panose="02010600040101010101" pitchFamily="2" charset="-122"/>
                <a:ea typeface="华文中宋" panose="02010600040101010101" pitchFamily="2" charset="-122"/>
              </a:rPr>
              <a:t>(5) </a:t>
            </a:r>
            <a:r>
              <a:rPr lang="zh-CN" altLang="en-US" dirty="0">
                <a:latin typeface="华文中宋" panose="02010600040101010101" pitchFamily="2" charset="-122"/>
                <a:ea typeface="华文中宋" panose="02010600040101010101" pitchFamily="2" charset="-122"/>
              </a:rPr>
              <a:t>因此，尽管核电荷增加了，但由于屏蔽效应和电子间的排斥作用，以及电子所处能级的自然增加，我们观察到</a:t>
            </a:r>
            <a:r>
              <a:rPr lang="en-US" altLang="zh-CN" dirty="0">
                <a:latin typeface="华文中宋" panose="02010600040101010101" pitchFamily="2" charset="-122"/>
                <a:ea typeface="华文中宋" panose="02010600040101010101" pitchFamily="2" charset="-122"/>
              </a:rPr>
              <a:t>Li</a:t>
            </a: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Na</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K</a:t>
            </a:r>
            <a:r>
              <a:rPr lang="zh-CN" altLang="en-US" dirty="0">
                <a:latin typeface="华文中宋" panose="02010600040101010101" pitchFamily="2" charset="-122"/>
                <a:ea typeface="华文中宋" panose="02010600040101010101" pitchFamily="2" charset="-122"/>
              </a:rPr>
              <a:t>中相应</a:t>
            </a:r>
            <a:r>
              <a:rPr lang="en-US" altLang="zh-CN" dirty="0">
                <a:latin typeface="华文中宋" panose="02010600040101010101" pitchFamily="2" charset="-122"/>
                <a:ea typeface="华文中宋" panose="02010600040101010101" pitchFamily="2" charset="-122"/>
              </a:rPr>
              <a:t>AO</a:t>
            </a:r>
            <a:r>
              <a:rPr lang="zh-CN" altLang="en-US" dirty="0">
                <a:latin typeface="华文中宋" panose="02010600040101010101" pitchFamily="2" charset="-122"/>
                <a:ea typeface="华文中宋" panose="02010600040101010101" pitchFamily="2" charset="-122"/>
              </a:rPr>
              <a:t>的能量呈缓慢上升的趋势。这些因素共同作用，导致了电子能量的变化并不是简单地随着核电荷的增加而线性增加。</a:t>
            </a:r>
            <a:endParaRPr lang="zh-CN" altLang="en-US" b="1" dirty="0">
              <a:solidFill>
                <a:srgbClr val="1A95A6"/>
              </a:solidFill>
              <a:latin typeface="华文中宋" panose="02010600040101010101" pitchFamily="2" charset="-122"/>
              <a:ea typeface="华文中宋" panose="02010600040101010101" pitchFamily="2" charset="-122"/>
            </a:endParaRPr>
          </a:p>
        </p:txBody>
      </p:sp>
      <p:sp>
        <p:nvSpPr>
          <p:cNvPr id="6" name="文本框 5">
            <a:extLst>
              <a:ext uri="{FF2B5EF4-FFF2-40B4-BE49-F238E27FC236}">
                <a16:creationId xmlns:a16="http://schemas.microsoft.com/office/drawing/2014/main" id="{AFEBBF83-E99D-4EF8-9C43-71E6EF5AE7AB}"/>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8" name="文本框 7">
            <a:extLst>
              <a:ext uri="{FF2B5EF4-FFF2-40B4-BE49-F238E27FC236}">
                <a16:creationId xmlns:a16="http://schemas.microsoft.com/office/drawing/2014/main" id="{DEAF0E18-C751-4CC3-B2CC-805390E06574}"/>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4101421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874150"/>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8.1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请解释教材</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260</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页图</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8.2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中的轨道能量特点和趋势。</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a:p>
            <a:pPr algn="just">
              <a:lnSpc>
                <a:spcPct val="150000"/>
              </a:lnSpc>
            </a:pP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(d) </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从</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Sc</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到</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Zn</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时，</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4s AO</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的能量几乎没有太大变化，但</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3d AO</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的能量下降得更多。</a:t>
            </a:r>
            <a:endParaRPr lang="en-US" altLang="zh-CN" dirty="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 name="文本框 1">
            <a:extLst>
              <a:ext uri="{FF2B5EF4-FFF2-40B4-BE49-F238E27FC236}">
                <a16:creationId xmlns:a16="http://schemas.microsoft.com/office/drawing/2014/main" id="{6F35E9D1-FE4F-430D-85C7-40F802A488DA}"/>
              </a:ext>
            </a:extLst>
          </p:cNvPr>
          <p:cNvSpPr txBox="1"/>
          <p:nvPr/>
        </p:nvSpPr>
        <p:spPr>
          <a:xfrm>
            <a:off x="193344" y="832513"/>
            <a:ext cx="11805313" cy="4613764"/>
          </a:xfrm>
          <a:prstGeom prst="rect">
            <a:avLst/>
          </a:prstGeom>
          <a:noFill/>
        </p:spPr>
        <p:txBody>
          <a:bodyPr wrap="squar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答：</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zh-CN" altLang="en-US" dirty="0">
                <a:latin typeface="华文中宋" panose="02010600040101010101" pitchFamily="2" charset="-122"/>
                <a:ea typeface="华文中宋" panose="02010600040101010101" pitchFamily="2" charset="-122"/>
              </a:rPr>
              <a:t>从钪（</a:t>
            </a:r>
            <a:r>
              <a:rPr lang="en-US" altLang="zh-CN" dirty="0">
                <a:latin typeface="华文中宋" panose="02010600040101010101" pitchFamily="2" charset="-122"/>
                <a:ea typeface="华文中宋" panose="02010600040101010101" pitchFamily="2" charset="-122"/>
              </a:rPr>
              <a:t>Sc</a:t>
            </a:r>
            <a:r>
              <a:rPr lang="zh-CN" altLang="en-US" dirty="0">
                <a:latin typeface="华文中宋" panose="02010600040101010101" pitchFamily="2" charset="-122"/>
                <a:ea typeface="华文中宋" panose="02010600040101010101" pitchFamily="2" charset="-122"/>
              </a:rPr>
              <a:t>）到锌（</a:t>
            </a:r>
            <a:r>
              <a:rPr lang="en-US" altLang="zh-CN" dirty="0">
                <a:latin typeface="华文中宋" panose="02010600040101010101" pitchFamily="2" charset="-122"/>
                <a:ea typeface="华文中宋" panose="02010600040101010101" pitchFamily="2" charset="-122"/>
              </a:rPr>
              <a:t>Zn</a:t>
            </a:r>
            <a:r>
              <a:rPr lang="zh-CN" altLang="en-US" dirty="0">
                <a:latin typeface="华文中宋" panose="02010600040101010101" pitchFamily="2" charset="-122"/>
                <a:ea typeface="华文中宋" panose="02010600040101010101" pitchFamily="2" charset="-122"/>
              </a:rPr>
              <a:t>）时，</a:t>
            </a:r>
            <a:r>
              <a:rPr lang="en-US" altLang="zh-CN" dirty="0">
                <a:latin typeface="华文中宋" panose="02010600040101010101" pitchFamily="2" charset="-122"/>
                <a:ea typeface="华文中宋" panose="02010600040101010101" pitchFamily="2" charset="-122"/>
              </a:rPr>
              <a:t>4s</a:t>
            </a:r>
            <a:r>
              <a:rPr lang="zh-CN" altLang="en-US" dirty="0">
                <a:latin typeface="华文中宋" panose="02010600040101010101" pitchFamily="2" charset="-122"/>
                <a:ea typeface="华文中宋" panose="02010600040101010101" pitchFamily="2" charset="-122"/>
              </a:rPr>
              <a:t>原子轨道（</a:t>
            </a:r>
            <a:r>
              <a:rPr lang="en-US" altLang="zh-CN" dirty="0">
                <a:latin typeface="华文中宋" panose="02010600040101010101" pitchFamily="2" charset="-122"/>
                <a:ea typeface="华文中宋" panose="02010600040101010101" pitchFamily="2" charset="-122"/>
              </a:rPr>
              <a:t>AO</a:t>
            </a:r>
            <a:r>
              <a:rPr lang="zh-CN" altLang="en-US" dirty="0">
                <a:latin typeface="华文中宋" panose="02010600040101010101" pitchFamily="2" charset="-122"/>
                <a:ea typeface="华文中宋" panose="02010600040101010101" pitchFamily="2" charset="-122"/>
              </a:rPr>
              <a:t>）的能量变化不大，而</a:t>
            </a:r>
            <a:r>
              <a:rPr lang="en-US" altLang="zh-CN" dirty="0">
                <a:latin typeface="华文中宋" panose="02010600040101010101" pitchFamily="2" charset="-122"/>
                <a:ea typeface="华文中宋" panose="02010600040101010101" pitchFamily="2" charset="-122"/>
              </a:rPr>
              <a:t>3d AO</a:t>
            </a:r>
            <a:r>
              <a:rPr lang="zh-CN" altLang="en-US" dirty="0">
                <a:latin typeface="华文中宋" panose="02010600040101010101" pitchFamily="2" charset="-122"/>
                <a:ea typeface="华文中宋" panose="02010600040101010101" pitchFamily="2" charset="-122"/>
              </a:rPr>
              <a:t>的能量显著下降，这主要是由于以下几个因素：</a:t>
            </a:r>
          </a:p>
          <a:p>
            <a:pPr algn="just">
              <a:lnSpc>
                <a:spcPct val="150000"/>
              </a:lnSpc>
            </a:pPr>
            <a:r>
              <a:rPr lang="en-US" altLang="zh-CN" b="1" dirty="0">
                <a:solidFill>
                  <a:srgbClr val="43E1E5"/>
                </a:solidFill>
                <a:latin typeface="华文中宋" panose="02010600040101010101" pitchFamily="2" charset="-122"/>
                <a:ea typeface="华文中宋" panose="02010600040101010101" pitchFamily="2" charset="-122"/>
              </a:rPr>
              <a:t>(1) </a:t>
            </a:r>
            <a:r>
              <a:rPr lang="zh-CN" altLang="en-US" b="1" dirty="0">
                <a:solidFill>
                  <a:srgbClr val="43E1E5"/>
                </a:solidFill>
                <a:latin typeface="华文中宋" panose="02010600040101010101" pitchFamily="2" charset="-122"/>
                <a:ea typeface="华文中宋" panose="02010600040101010101" pitchFamily="2" charset="-122"/>
              </a:rPr>
              <a:t>电子填充顺序</a:t>
            </a:r>
            <a:r>
              <a:rPr lang="zh-CN" altLang="en-US" dirty="0">
                <a:latin typeface="华文中宋" panose="02010600040101010101" pitchFamily="2" charset="-122"/>
                <a:ea typeface="华文中宋" panose="02010600040101010101" pitchFamily="2" charset="-122"/>
              </a:rPr>
              <a:t>：根据能级填充原则，</a:t>
            </a:r>
            <a:r>
              <a:rPr lang="en-US" altLang="zh-CN" dirty="0">
                <a:latin typeface="华文中宋" panose="02010600040101010101" pitchFamily="2" charset="-122"/>
                <a:ea typeface="华文中宋" panose="02010600040101010101" pitchFamily="2" charset="-122"/>
              </a:rPr>
              <a:t>4s</a:t>
            </a:r>
            <a:r>
              <a:rPr lang="zh-CN" altLang="en-US" dirty="0">
                <a:latin typeface="华文中宋" panose="02010600040101010101" pitchFamily="2" charset="-122"/>
                <a:ea typeface="华文中宋" panose="02010600040101010101" pitchFamily="2" charset="-122"/>
              </a:rPr>
              <a:t>轨道在</a:t>
            </a:r>
            <a:r>
              <a:rPr lang="en-US" altLang="zh-CN" dirty="0">
                <a:latin typeface="华文中宋" panose="02010600040101010101" pitchFamily="2" charset="-122"/>
                <a:ea typeface="华文中宋" panose="02010600040101010101" pitchFamily="2" charset="-122"/>
              </a:rPr>
              <a:t>3d</a:t>
            </a:r>
            <a:r>
              <a:rPr lang="zh-CN" altLang="en-US" dirty="0">
                <a:latin typeface="华文中宋" panose="02010600040101010101" pitchFamily="2" charset="-122"/>
                <a:ea typeface="华文中宋" panose="02010600040101010101" pitchFamily="2" charset="-122"/>
              </a:rPr>
              <a:t>轨道之前填充。当进入过渡金属时，</a:t>
            </a:r>
            <a:r>
              <a:rPr lang="en-US" altLang="zh-CN" dirty="0">
                <a:latin typeface="华文中宋" panose="02010600040101010101" pitchFamily="2" charset="-122"/>
                <a:ea typeface="华文中宋" panose="02010600040101010101" pitchFamily="2" charset="-122"/>
              </a:rPr>
              <a:t>3d</a:t>
            </a:r>
            <a:r>
              <a:rPr lang="zh-CN" altLang="en-US" dirty="0">
                <a:latin typeface="华文中宋" panose="02010600040101010101" pitchFamily="2" charset="-122"/>
                <a:ea typeface="华文中宋" panose="02010600040101010101" pitchFamily="2" charset="-122"/>
              </a:rPr>
              <a:t>轨道开始填充电子，而</a:t>
            </a:r>
            <a:r>
              <a:rPr lang="en-US" altLang="zh-CN" dirty="0">
                <a:latin typeface="华文中宋" panose="02010600040101010101" pitchFamily="2" charset="-122"/>
                <a:ea typeface="华文中宋" panose="02010600040101010101" pitchFamily="2" charset="-122"/>
              </a:rPr>
              <a:t>4s</a:t>
            </a:r>
            <a:r>
              <a:rPr lang="zh-CN" altLang="en-US" dirty="0">
                <a:latin typeface="华文中宋" panose="02010600040101010101" pitchFamily="2" charset="-122"/>
                <a:ea typeface="华文中宋" panose="02010600040101010101" pitchFamily="2" charset="-122"/>
              </a:rPr>
              <a:t>轨道已经被填充。在钪（</a:t>
            </a:r>
            <a:r>
              <a:rPr lang="en-US" altLang="zh-CN" dirty="0">
                <a:latin typeface="华文中宋" panose="02010600040101010101" pitchFamily="2" charset="-122"/>
                <a:ea typeface="华文中宋" panose="02010600040101010101" pitchFamily="2" charset="-122"/>
              </a:rPr>
              <a:t>Sc</a:t>
            </a:r>
            <a:r>
              <a:rPr lang="zh-CN" altLang="en-US" dirty="0">
                <a:latin typeface="华文中宋" panose="02010600040101010101" pitchFamily="2" charset="-122"/>
                <a:ea typeface="华文中宋" panose="02010600040101010101" pitchFamily="2" charset="-122"/>
              </a:rPr>
              <a:t>）到锌（</a:t>
            </a:r>
            <a:r>
              <a:rPr lang="en-US" altLang="zh-CN" dirty="0">
                <a:latin typeface="华文中宋" panose="02010600040101010101" pitchFamily="2" charset="-122"/>
                <a:ea typeface="华文中宋" panose="02010600040101010101" pitchFamily="2" charset="-122"/>
              </a:rPr>
              <a:t>Zn</a:t>
            </a:r>
            <a:r>
              <a:rPr lang="zh-CN" altLang="en-US" dirty="0">
                <a:latin typeface="华文中宋" panose="02010600040101010101" pitchFamily="2" charset="-122"/>
                <a:ea typeface="华文中宋" panose="02010600040101010101" pitchFamily="2" charset="-122"/>
              </a:rPr>
              <a:t>）的过渡金属中，</a:t>
            </a:r>
            <a:r>
              <a:rPr lang="en-US" altLang="zh-CN" dirty="0">
                <a:latin typeface="华文中宋" panose="02010600040101010101" pitchFamily="2" charset="-122"/>
                <a:ea typeface="华文中宋" panose="02010600040101010101" pitchFamily="2" charset="-122"/>
              </a:rPr>
              <a:t>3d</a:t>
            </a:r>
            <a:r>
              <a:rPr lang="zh-CN" altLang="en-US" dirty="0">
                <a:latin typeface="华文中宋" panose="02010600040101010101" pitchFamily="2" charset="-122"/>
                <a:ea typeface="华文中宋" panose="02010600040101010101" pitchFamily="2" charset="-122"/>
              </a:rPr>
              <a:t>轨道逐渐填满电子，而</a:t>
            </a:r>
            <a:r>
              <a:rPr lang="en-US" altLang="zh-CN" dirty="0">
                <a:latin typeface="华文中宋" panose="02010600040101010101" pitchFamily="2" charset="-122"/>
                <a:ea typeface="华文中宋" panose="02010600040101010101" pitchFamily="2" charset="-122"/>
              </a:rPr>
              <a:t>4s</a:t>
            </a:r>
            <a:r>
              <a:rPr lang="zh-CN" altLang="en-US" dirty="0">
                <a:latin typeface="华文中宋" panose="02010600040101010101" pitchFamily="2" charset="-122"/>
                <a:ea typeface="华文中宋" panose="02010600040101010101" pitchFamily="2" charset="-122"/>
              </a:rPr>
              <a:t>轨道通常保持两个电子。</a:t>
            </a:r>
          </a:p>
          <a:p>
            <a:pPr algn="just">
              <a:lnSpc>
                <a:spcPct val="150000"/>
              </a:lnSpc>
            </a:pPr>
            <a:r>
              <a:rPr lang="en-US" altLang="zh-CN" b="1" dirty="0">
                <a:solidFill>
                  <a:srgbClr val="45D764"/>
                </a:solidFill>
                <a:latin typeface="华文中宋" panose="02010600040101010101" pitchFamily="2" charset="-122"/>
                <a:ea typeface="华文中宋" panose="02010600040101010101" pitchFamily="2" charset="-122"/>
              </a:rPr>
              <a:t>(2) </a:t>
            </a:r>
            <a:r>
              <a:rPr lang="zh-CN" altLang="en-US" b="1" dirty="0">
                <a:solidFill>
                  <a:srgbClr val="45D764"/>
                </a:solidFill>
                <a:latin typeface="华文中宋" panose="02010600040101010101" pitchFamily="2" charset="-122"/>
                <a:ea typeface="华文中宋" panose="02010600040101010101" pitchFamily="2" charset="-122"/>
              </a:rPr>
              <a:t>能量与电子排斥</a:t>
            </a:r>
            <a:r>
              <a:rPr lang="zh-CN" altLang="en-US" dirty="0">
                <a:latin typeface="华文中宋" panose="02010600040101010101" pitchFamily="2" charset="-122"/>
                <a:ea typeface="华文中宋" panose="02010600040101010101" pitchFamily="2" charset="-122"/>
              </a:rPr>
              <a:t>：随着</a:t>
            </a:r>
            <a:r>
              <a:rPr lang="en-US" altLang="zh-CN" dirty="0">
                <a:latin typeface="华文中宋" panose="02010600040101010101" pitchFamily="2" charset="-122"/>
                <a:ea typeface="华文中宋" panose="02010600040101010101" pitchFamily="2" charset="-122"/>
              </a:rPr>
              <a:t>3d</a:t>
            </a:r>
            <a:r>
              <a:rPr lang="zh-CN" altLang="en-US" dirty="0">
                <a:latin typeface="华文中宋" panose="02010600040101010101" pitchFamily="2" charset="-122"/>
                <a:ea typeface="华文中宋" panose="02010600040101010101" pitchFamily="2" charset="-122"/>
              </a:rPr>
              <a:t>轨道电子数的增加，</a:t>
            </a:r>
            <a:r>
              <a:rPr lang="en-US" altLang="zh-CN" dirty="0">
                <a:latin typeface="华文中宋" panose="02010600040101010101" pitchFamily="2" charset="-122"/>
                <a:ea typeface="华文中宋" panose="02010600040101010101" pitchFamily="2" charset="-122"/>
              </a:rPr>
              <a:t>3d</a:t>
            </a:r>
            <a:r>
              <a:rPr lang="zh-CN" altLang="en-US" dirty="0">
                <a:latin typeface="华文中宋" panose="02010600040101010101" pitchFamily="2" charset="-122"/>
                <a:ea typeface="华文中宋" panose="02010600040101010101" pitchFamily="2" charset="-122"/>
              </a:rPr>
              <a:t>轨道的电子间排斥作用增强，导致</a:t>
            </a:r>
            <a:r>
              <a:rPr lang="en-US" altLang="zh-CN" dirty="0">
                <a:latin typeface="华文中宋" panose="02010600040101010101" pitchFamily="2" charset="-122"/>
                <a:ea typeface="华文中宋" panose="02010600040101010101" pitchFamily="2" charset="-122"/>
              </a:rPr>
              <a:t>3d</a:t>
            </a:r>
            <a:r>
              <a:rPr lang="zh-CN" altLang="en-US" dirty="0">
                <a:latin typeface="华文中宋" panose="02010600040101010101" pitchFamily="2" charset="-122"/>
                <a:ea typeface="华文中宋" panose="02010600040101010101" pitchFamily="2" charset="-122"/>
              </a:rPr>
              <a:t>轨道能量下降。而</a:t>
            </a:r>
            <a:r>
              <a:rPr lang="en-US" altLang="zh-CN" dirty="0">
                <a:latin typeface="华文中宋" panose="02010600040101010101" pitchFamily="2" charset="-122"/>
                <a:ea typeface="华文中宋" panose="02010600040101010101" pitchFamily="2" charset="-122"/>
              </a:rPr>
              <a:t>4s</a:t>
            </a:r>
            <a:r>
              <a:rPr lang="zh-CN" altLang="en-US" dirty="0">
                <a:latin typeface="华文中宋" panose="02010600040101010101" pitchFamily="2" charset="-122"/>
                <a:ea typeface="华文中宋" panose="02010600040101010101" pitchFamily="2" charset="-122"/>
              </a:rPr>
              <a:t>轨道由于其较大的半径和较少的电子排斥，其能量变化不大。</a:t>
            </a:r>
          </a:p>
          <a:p>
            <a:pPr algn="just">
              <a:lnSpc>
                <a:spcPct val="150000"/>
              </a:lnSpc>
            </a:pPr>
            <a:r>
              <a:rPr lang="en-US" altLang="zh-CN" b="1" dirty="0">
                <a:solidFill>
                  <a:srgbClr val="DD5DAC"/>
                </a:solidFill>
                <a:latin typeface="华文中宋" panose="02010600040101010101" pitchFamily="2" charset="-122"/>
                <a:ea typeface="华文中宋" panose="02010600040101010101" pitchFamily="2" charset="-122"/>
              </a:rPr>
              <a:t>(3) </a:t>
            </a:r>
            <a:r>
              <a:rPr lang="zh-CN" altLang="en-US" b="1" dirty="0">
                <a:solidFill>
                  <a:srgbClr val="DD5DAC"/>
                </a:solidFill>
                <a:latin typeface="华文中宋" panose="02010600040101010101" pitchFamily="2" charset="-122"/>
                <a:ea typeface="华文中宋" panose="02010600040101010101" pitchFamily="2" charset="-122"/>
              </a:rPr>
              <a:t>轨道能量与原子核电荷</a:t>
            </a:r>
            <a:r>
              <a:rPr lang="zh-CN" altLang="en-US" dirty="0">
                <a:latin typeface="华文中宋" panose="02010600040101010101" pitchFamily="2" charset="-122"/>
                <a:ea typeface="华文中宋" panose="02010600040101010101" pitchFamily="2" charset="-122"/>
              </a:rPr>
              <a:t>：在过渡金属中，原子核电荷的增加使得</a:t>
            </a:r>
            <a:r>
              <a:rPr lang="en-US" altLang="zh-CN" dirty="0">
                <a:latin typeface="华文中宋" panose="02010600040101010101" pitchFamily="2" charset="-122"/>
                <a:ea typeface="华文中宋" panose="02010600040101010101" pitchFamily="2" charset="-122"/>
              </a:rPr>
              <a:t>3d</a:t>
            </a:r>
            <a:r>
              <a:rPr lang="zh-CN" altLang="en-US" dirty="0">
                <a:latin typeface="华文中宋" panose="02010600040101010101" pitchFamily="2" charset="-122"/>
                <a:ea typeface="华文中宋" panose="02010600040101010101" pitchFamily="2" charset="-122"/>
              </a:rPr>
              <a:t>轨道的电子更紧密地束缚于核附近，从而降低了</a:t>
            </a:r>
            <a:r>
              <a:rPr lang="en-US" altLang="zh-CN" dirty="0">
                <a:latin typeface="华文中宋" panose="02010600040101010101" pitchFamily="2" charset="-122"/>
                <a:ea typeface="华文中宋" panose="02010600040101010101" pitchFamily="2" charset="-122"/>
              </a:rPr>
              <a:t>3d</a:t>
            </a:r>
            <a:r>
              <a:rPr lang="zh-CN" altLang="en-US" dirty="0">
                <a:latin typeface="华文中宋" panose="02010600040101010101" pitchFamily="2" charset="-122"/>
                <a:ea typeface="华文中宋" panose="02010600040101010101" pitchFamily="2" charset="-122"/>
              </a:rPr>
              <a:t>轨道的能量。相比之下，</a:t>
            </a:r>
            <a:r>
              <a:rPr lang="en-US" altLang="zh-CN" dirty="0">
                <a:latin typeface="华文中宋" panose="02010600040101010101" pitchFamily="2" charset="-122"/>
                <a:ea typeface="华文中宋" panose="02010600040101010101" pitchFamily="2" charset="-122"/>
              </a:rPr>
              <a:t>4s</a:t>
            </a:r>
            <a:r>
              <a:rPr lang="zh-CN" altLang="en-US" dirty="0">
                <a:latin typeface="华文中宋" panose="02010600040101010101" pitchFamily="2" charset="-122"/>
                <a:ea typeface="华文中宋" panose="02010600040101010101" pitchFamily="2" charset="-122"/>
              </a:rPr>
              <a:t>轨道的电子由于较远的平均距离和较小的有效核电荷，其能量变化不明显。</a:t>
            </a:r>
          </a:p>
          <a:p>
            <a:pPr algn="just">
              <a:lnSpc>
                <a:spcPct val="150000"/>
              </a:lnSpc>
            </a:pPr>
            <a:r>
              <a:rPr lang="en-US" altLang="zh-CN" b="1" dirty="0">
                <a:solidFill>
                  <a:schemeClr val="accent5">
                    <a:lumMod val="75000"/>
                  </a:schemeClr>
                </a:solidFill>
                <a:latin typeface="华文中宋" panose="02010600040101010101" pitchFamily="2" charset="-122"/>
                <a:ea typeface="华文中宋" panose="02010600040101010101" pitchFamily="2" charset="-122"/>
              </a:rPr>
              <a:t>(4) </a:t>
            </a:r>
            <a:r>
              <a:rPr lang="zh-CN" altLang="en-US" b="1" dirty="0">
                <a:solidFill>
                  <a:schemeClr val="accent5">
                    <a:lumMod val="75000"/>
                  </a:schemeClr>
                </a:solidFill>
                <a:latin typeface="华文中宋" panose="02010600040101010101" pitchFamily="2" charset="-122"/>
                <a:ea typeface="华文中宋" panose="02010600040101010101" pitchFamily="2" charset="-122"/>
              </a:rPr>
              <a:t>轨道屏蔽效应</a:t>
            </a: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3d</a:t>
            </a:r>
            <a:r>
              <a:rPr lang="zh-CN" altLang="en-US" dirty="0">
                <a:latin typeface="华文中宋" panose="02010600040101010101" pitchFamily="2" charset="-122"/>
                <a:ea typeface="华文中宋" panose="02010600040101010101" pitchFamily="2" charset="-122"/>
              </a:rPr>
              <a:t>轨道的电子对</a:t>
            </a:r>
            <a:r>
              <a:rPr lang="en-US" altLang="zh-CN" dirty="0">
                <a:latin typeface="华文中宋" panose="02010600040101010101" pitchFamily="2" charset="-122"/>
                <a:ea typeface="华文中宋" panose="02010600040101010101" pitchFamily="2" charset="-122"/>
              </a:rPr>
              <a:t>4s</a:t>
            </a:r>
            <a:r>
              <a:rPr lang="zh-CN" altLang="en-US" dirty="0">
                <a:latin typeface="华文中宋" panose="02010600040101010101" pitchFamily="2" charset="-122"/>
                <a:ea typeface="华文中宋" panose="02010600040101010101" pitchFamily="2" charset="-122"/>
              </a:rPr>
              <a:t>轨道的电子有一定的屏蔽效应，随着</a:t>
            </a:r>
            <a:r>
              <a:rPr lang="en-US" altLang="zh-CN" dirty="0">
                <a:latin typeface="华文中宋" panose="02010600040101010101" pitchFamily="2" charset="-122"/>
                <a:ea typeface="华文中宋" panose="02010600040101010101" pitchFamily="2" charset="-122"/>
              </a:rPr>
              <a:t>3d</a:t>
            </a:r>
            <a:r>
              <a:rPr lang="zh-CN" altLang="en-US" dirty="0">
                <a:latin typeface="华文中宋" panose="02010600040101010101" pitchFamily="2" charset="-122"/>
                <a:ea typeface="华文中宋" panose="02010600040101010101" pitchFamily="2" charset="-122"/>
              </a:rPr>
              <a:t>轨道电子数的增加，这种屏蔽效应增强，导致</a:t>
            </a:r>
            <a:r>
              <a:rPr lang="en-US" altLang="zh-CN" dirty="0">
                <a:latin typeface="华文中宋" panose="02010600040101010101" pitchFamily="2" charset="-122"/>
                <a:ea typeface="华文中宋" panose="02010600040101010101" pitchFamily="2" charset="-122"/>
              </a:rPr>
              <a:t>4s</a:t>
            </a:r>
            <a:r>
              <a:rPr lang="zh-CN" altLang="en-US" dirty="0">
                <a:latin typeface="华文中宋" panose="02010600040101010101" pitchFamily="2" charset="-122"/>
                <a:ea typeface="华文中宋" panose="02010600040101010101" pitchFamily="2" charset="-122"/>
              </a:rPr>
              <a:t>轨道的电子感受到的有效核电荷减少，因此</a:t>
            </a:r>
            <a:r>
              <a:rPr lang="en-US" altLang="zh-CN" dirty="0">
                <a:latin typeface="华文中宋" panose="02010600040101010101" pitchFamily="2" charset="-122"/>
                <a:ea typeface="华文中宋" panose="02010600040101010101" pitchFamily="2" charset="-122"/>
              </a:rPr>
              <a:t>4s</a:t>
            </a:r>
            <a:r>
              <a:rPr lang="zh-CN" altLang="en-US" dirty="0">
                <a:latin typeface="华文中宋" panose="02010600040101010101" pitchFamily="2" charset="-122"/>
                <a:ea typeface="华文中宋" panose="02010600040101010101" pitchFamily="2" charset="-122"/>
              </a:rPr>
              <a:t>轨道的能量变化不大。</a:t>
            </a:r>
            <a:endParaRPr lang="zh-CN" altLang="en-US" b="1" dirty="0">
              <a:solidFill>
                <a:srgbClr val="1A95A6"/>
              </a:solidFill>
              <a:latin typeface="华文中宋" panose="02010600040101010101" pitchFamily="2" charset="-122"/>
              <a:ea typeface="华文中宋" panose="02010600040101010101" pitchFamily="2" charset="-122"/>
            </a:endParaRPr>
          </a:p>
        </p:txBody>
      </p:sp>
      <p:sp>
        <p:nvSpPr>
          <p:cNvPr id="6" name="文本框 5">
            <a:extLst>
              <a:ext uri="{FF2B5EF4-FFF2-40B4-BE49-F238E27FC236}">
                <a16:creationId xmlns:a16="http://schemas.microsoft.com/office/drawing/2014/main" id="{D938A21E-C5A5-4DE7-B8BE-A4E89DFAF91F}"/>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8" name="文本框 7">
            <a:extLst>
              <a:ext uri="{FF2B5EF4-FFF2-40B4-BE49-F238E27FC236}">
                <a16:creationId xmlns:a16="http://schemas.microsoft.com/office/drawing/2014/main" id="{6A6399B0-D4D5-4AA0-A2FD-B12545DD35D4}"/>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1366473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922304"/>
          </a:xfrm>
          <a:prstGeom prst="rect">
            <a:avLst/>
          </a:prstGeom>
          <a:noFill/>
        </p:spPr>
        <p:txBody>
          <a:bodyPr wrap="square" rtlCol="0">
            <a:spAutoFit/>
          </a:bodyPr>
          <a:lstStyle/>
          <a:p>
            <a:pPr algn="just">
              <a:lnSpc>
                <a:spcPts val="2200"/>
              </a:lnSpc>
            </a:pPr>
            <a:r>
              <a:rPr lang="en-US" altLang="zh-CN" dirty="0">
                <a:latin typeface="Times New Roman" panose="02020603050405020304" pitchFamily="18" charset="0"/>
                <a:cs typeface="Times New Roman" panose="02020603050405020304" pitchFamily="18" charset="0"/>
              </a:rPr>
              <a:t>8.2 The atomic radii of the lanthanide elements (Ce–Lu) are remarkably similar, varying only by a few pm across all fourteen elements. Use Slater’s rules (page 262) to determine the effective nuclear charge experienced by the outer electrons (the 6s) of these elements, and hence explain why the atomic radii vary so little.</a:t>
            </a:r>
            <a:endParaRPr lang="zh-CN" altLang="en-US"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E18C168F-6946-452D-872D-5BAE86E1FB1A}"/>
              </a:ext>
            </a:extLst>
          </p:cNvPr>
          <p:cNvSpPr txBox="1"/>
          <p:nvPr/>
        </p:nvSpPr>
        <p:spPr>
          <a:xfrm>
            <a:off x="5528765" y="1108460"/>
            <a:ext cx="1134470" cy="369332"/>
          </a:xfrm>
          <a:prstGeom prst="rect">
            <a:avLst/>
          </a:prstGeom>
          <a:noFill/>
        </p:spPr>
        <p:txBody>
          <a:bodyPr wrap="square">
            <a:spAutoFit/>
          </a:bodyPr>
          <a:lstStyle/>
          <a:p>
            <a:r>
              <a:rPr lang="en-US" altLang="zh-CN" sz="1800" i="1" dirty="0">
                <a:solidFill>
                  <a:srgbClr val="231F20"/>
                </a:solidFill>
                <a:effectLst/>
                <a:latin typeface="Times-Italic"/>
              </a:rPr>
              <a:t>Z</a:t>
            </a:r>
            <a:r>
              <a:rPr lang="en-US" altLang="zh-CN" sz="800" dirty="0">
                <a:solidFill>
                  <a:srgbClr val="231F20"/>
                </a:solidFill>
                <a:effectLst/>
                <a:latin typeface="Times-Roman"/>
              </a:rPr>
              <a:t>e</a:t>
            </a:r>
            <a:r>
              <a:rPr lang="en-US" altLang="zh-CN" sz="800" dirty="0">
                <a:solidFill>
                  <a:srgbClr val="231F20"/>
                </a:solidFill>
                <a:effectLst/>
                <a:latin typeface="rtxr"/>
              </a:rPr>
              <a:t>ff </a:t>
            </a:r>
            <a:r>
              <a:rPr lang="en-US" altLang="zh-CN" sz="1800" dirty="0">
                <a:solidFill>
                  <a:srgbClr val="231F20"/>
                </a:solidFill>
                <a:effectLst/>
                <a:latin typeface="rtxr"/>
              </a:rPr>
              <a:t>= </a:t>
            </a:r>
            <a:r>
              <a:rPr lang="en-US" altLang="zh-CN" sz="1800" i="1" dirty="0">
                <a:solidFill>
                  <a:srgbClr val="231F20"/>
                </a:solidFill>
                <a:effectLst/>
                <a:latin typeface="Times-Italic"/>
              </a:rPr>
              <a:t>Z </a:t>
            </a:r>
            <a:r>
              <a:rPr lang="en-US" altLang="zh-CN" sz="1800" dirty="0">
                <a:solidFill>
                  <a:srgbClr val="231F20"/>
                </a:solidFill>
                <a:effectLst/>
                <a:latin typeface="txsy"/>
              </a:rPr>
              <a:t>− </a:t>
            </a:r>
            <a:r>
              <a:rPr lang="en-US" altLang="zh-CN" sz="1800" i="1" dirty="0">
                <a:solidFill>
                  <a:srgbClr val="231F20"/>
                </a:solidFill>
                <a:effectLst/>
                <a:latin typeface="Times-Italic"/>
              </a:rPr>
              <a:t>S</a:t>
            </a:r>
            <a:endParaRPr lang="zh-CN" altLang="en-US" dirty="0"/>
          </a:p>
        </p:txBody>
      </p:sp>
      <p:sp>
        <p:nvSpPr>
          <p:cNvPr id="7" name="文本框 6">
            <a:extLst>
              <a:ext uri="{FF2B5EF4-FFF2-40B4-BE49-F238E27FC236}">
                <a16:creationId xmlns:a16="http://schemas.microsoft.com/office/drawing/2014/main" id="{08C6FFC3-823A-4C94-A923-9F01F8CD3A3B}"/>
              </a:ext>
            </a:extLst>
          </p:cNvPr>
          <p:cNvSpPr txBox="1"/>
          <p:nvPr/>
        </p:nvSpPr>
        <p:spPr>
          <a:xfrm>
            <a:off x="3908094" y="1872731"/>
            <a:ext cx="4375813" cy="369332"/>
          </a:xfrm>
          <a:prstGeom prst="rect">
            <a:avLst/>
          </a:prstGeom>
          <a:noFill/>
        </p:spPr>
        <p:txBody>
          <a:bodyPr wrap="square">
            <a:spAutoFit/>
          </a:bodyPr>
          <a:lstStyle/>
          <a:p>
            <a:r>
              <a:rPr lang="en-US" altLang="zh-CN" sz="1800" dirty="0">
                <a:solidFill>
                  <a:srgbClr val="231F20"/>
                </a:solidFill>
                <a:effectLst/>
                <a:latin typeface="Times-Roman"/>
              </a:rPr>
              <a:t>(1</a:t>
            </a:r>
            <a:r>
              <a:rPr lang="en-US" altLang="zh-CN" sz="1800" i="1" dirty="0">
                <a:solidFill>
                  <a:srgbClr val="231F20"/>
                </a:solidFill>
                <a:effectLst/>
                <a:latin typeface="Times-Italic"/>
              </a:rPr>
              <a:t>s</a:t>
            </a:r>
            <a:r>
              <a:rPr lang="en-US" altLang="zh-CN" sz="1800" dirty="0">
                <a:solidFill>
                  <a:srgbClr val="231F20"/>
                </a:solidFill>
                <a:effectLst/>
                <a:latin typeface="Times-Roman"/>
              </a:rPr>
              <a:t>) (2</a:t>
            </a:r>
            <a:r>
              <a:rPr lang="en-US" altLang="zh-CN" sz="1800" i="1" dirty="0">
                <a:solidFill>
                  <a:srgbClr val="231F20"/>
                </a:solidFill>
                <a:effectLst/>
                <a:latin typeface="Times-Italic"/>
              </a:rPr>
              <a:t>s</a:t>
            </a:r>
            <a:r>
              <a:rPr lang="en-US" altLang="zh-CN" sz="1800" dirty="0">
                <a:solidFill>
                  <a:srgbClr val="231F20"/>
                </a:solidFill>
                <a:effectLst/>
                <a:latin typeface="rtxmi"/>
              </a:rPr>
              <a:t>, </a:t>
            </a:r>
            <a:r>
              <a:rPr lang="en-US" altLang="zh-CN" sz="1800" dirty="0">
                <a:solidFill>
                  <a:srgbClr val="231F20"/>
                </a:solidFill>
                <a:effectLst/>
                <a:latin typeface="Times-Roman"/>
              </a:rPr>
              <a:t>2</a:t>
            </a:r>
            <a:r>
              <a:rPr lang="en-US" altLang="zh-CN" sz="1800" i="1" dirty="0">
                <a:solidFill>
                  <a:srgbClr val="231F20"/>
                </a:solidFill>
                <a:effectLst/>
                <a:latin typeface="Times-Italic"/>
              </a:rPr>
              <a:t>p</a:t>
            </a:r>
            <a:r>
              <a:rPr lang="en-US" altLang="zh-CN" sz="1800" dirty="0">
                <a:solidFill>
                  <a:srgbClr val="231F20"/>
                </a:solidFill>
                <a:effectLst/>
                <a:latin typeface="Times-Roman"/>
              </a:rPr>
              <a:t>) (3</a:t>
            </a:r>
            <a:r>
              <a:rPr lang="en-US" altLang="zh-CN" sz="1800" i="1" dirty="0">
                <a:solidFill>
                  <a:srgbClr val="231F20"/>
                </a:solidFill>
                <a:effectLst/>
                <a:latin typeface="Times-Italic"/>
              </a:rPr>
              <a:t>s</a:t>
            </a:r>
            <a:r>
              <a:rPr lang="en-US" altLang="zh-CN" sz="1800" dirty="0">
                <a:solidFill>
                  <a:srgbClr val="231F20"/>
                </a:solidFill>
                <a:effectLst/>
                <a:latin typeface="rtxmi"/>
              </a:rPr>
              <a:t>, </a:t>
            </a:r>
            <a:r>
              <a:rPr lang="en-US" altLang="zh-CN" sz="1800" dirty="0">
                <a:solidFill>
                  <a:srgbClr val="231F20"/>
                </a:solidFill>
                <a:effectLst/>
                <a:latin typeface="Times-Roman"/>
              </a:rPr>
              <a:t>3</a:t>
            </a:r>
            <a:r>
              <a:rPr lang="en-US" altLang="zh-CN" sz="1800" i="1" dirty="0">
                <a:solidFill>
                  <a:srgbClr val="231F20"/>
                </a:solidFill>
                <a:effectLst/>
                <a:latin typeface="Times-Italic"/>
              </a:rPr>
              <a:t>p</a:t>
            </a:r>
            <a:r>
              <a:rPr lang="en-US" altLang="zh-CN" sz="1800" dirty="0">
                <a:solidFill>
                  <a:srgbClr val="231F20"/>
                </a:solidFill>
                <a:effectLst/>
                <a:latin typeface="Times-Roman"/>
              </a:rPr>
              <a:t>) (3</a:t>
            </a:r>
            <a:r>
              <a:rPr lang="en-US" altLang="zh-CN" sz="1800" i="1" dirty="0">
                <a:solidFill>
                  <a:srgbClr val="231F20"/>
                </a:solidFill>
                <a:effectLst/>
                <a:latin typeface="Times-Italic"/>
              </a:rPr>
              <a:t>d</a:t>
            </a:r>
            <a:r>
              <a:rPr lang="en-US" altLang="zh-CN" sz="1800" dirty="0">
                <a:solidFill>
                  <a:srgbClr val="231F20"/>
                </a:solidFill>
                <a:effectLst/>
                <a:latin typeface="Times-Roman"/>
              </a:rPr>
              <a:t>) (4</a:t>
            </a:r>
            <a:r>
              <a:rPr lang="en-US" altLang="zh-CN" sz="1800" i="1" dirty="0">
                <a:solidFill>
                  <a:srgbClr val="231F20"/>
                </a:solidFill>
                <a:effectLst/>
                <a:latin typeface="Times-Italic"/>
              </a:rPr>
              <a:t>s</a:t>
            </a:r>
            <a:r>
              <a:rPr lang="en-US" altLang="zh-CN" sz="1800" dirty="0">
                <a:solidFill>
                  <a:srgbClr val="231F20"/>
                </a:solidFill>
                <a:effectLst/>
                <a:latin typeface="rtxmi"/>
              </a:rPr>
              <a:t>, </a:t>
            </a:r>
            <a:r>
              <a:rPr lang="en-US" altLang="zh-CN" sz="1800" dirty="0">
                <a:solidFill>
                  <a:srgbClr val="231F20"/>
                </a:solidFill>
                <a:effectLst/>
                <a:latin typeface="Times-Roman"/>
              </a:rPr>
              <a:t>4</a:t>
            </a:r>
            <a:r>
              <a:rPr lang="en-US" altLang="zh-CN" sz="1800" i="1" dirty="0">
                <a:solidFill>
                  <a:srgbClr val="231F20"/>
                </a:solidFill>
                <a:effectLst/>
                <a:latin typeface="Times-Italic"/>
              </a:rPr>
              <a:t>p</a:t>
            </a:r>
            <a:r>
              <a:rPr lang="en-US" altLang="zh-CN" sz="1800" dirty="0">
                <a:solidFill>
                  <a:srgbClr val="231F20"/>
                </a:solidFill>
                <a:effectLst/>
                <a:latin typeface="Times-Roman"/>
              </a:rPr>
              <a:t>) (4</a:t>
            </a:r>
            <a:r>
              <a:rPr lang="en-US" altLang="zh-CN" sz="1800" i="1" dirty="0">
                <a:solidFill>
                  <a:srgbClr val="231F20"/>
                </a:solidFill>
                <a:effectLst/>
                <a:latin typeface="Times-Italic"/>
              </a:rPr>
              <a:t>d</a:t>
            </a:r>
            <a:r>
              <a:rPr lang="en-US" altLang="zh-CN" sz="1800" dirty="0">
                <a:solidFill>
                  <a:srgbClr val="231F20"/>
                </a:solidFill>
                <a:effectLst/>
                <a:latin typeface="Times-Roman"/>
              </a:rPr>
              <a:t>) (4</a:t>
            </a:r>
            <a:r>
              <a:rPr lang="en-US" altLang="zh-CN" sz="1800" i="1" dirty="0">
                <a:solidFill>
                  <a:srgbClr val="231F20"/>
                </a:solidFill>
                <a:effectLst/>
                <a:latin typeface="Times-Italic"/>
              </a:rPr>
              <a:t>f</a:t>
            </a:r>
            <a:r>
              <a:rPr lang="en-US" altLang="zh-CN" sz="1800" dirty="0">
                <a:solidFill>
                  <a:srgbClr val="231F20"/>
                </a:solidFill>
                <a:effectLst/>
                <a:latin typeface="Times-Roman"/>
              </a:rPr>
              <a:t>) </a:t>
            </a:r>
            <a:r>
              <a:rPr lang="en-US" altLang="zh-CN" sz="1800" dirty="0">
                <a:solidFill>
                  <a:srgbClr val="231F20"/>
                </a:solidFill>
                <a:effectLst/>
                <a:latin typeface="rtxmi"/>
              </a:rPr>
              <a:t>... </a:t>
            </a:r>
            <a:endParaRPr lang="zh-CN" altLang="en-US" dirty="0"/>
          </a:p>
        </p:txBody>
      </p:sp>
      <p:sp>
        <p:nvSpPr>
          <p:cNvPr id="8" name="文本框 7">
            <a:extLst>
              <a:ext uri="{FF2B5EF4-FFF2-40B4-BE49-F238E27FC236}">
                <a16:creationId xmlns:a16="http://schemas.microsoft.com/office/drawing/2014/main" id="{498F70CA-F7AA-4884-9F6E-4472C8CCB3E4}"/>
              </a:ext>
            </a:extLst>
          </p:cNvPr>
          <p:cNvSpPr txBox="1"/>
          <p:nvPr/>
        </p:nvSpPr>
        <p:spPr>
          <a:xfrm>
            <a:off x="0" y="2551837"/>
            <a:ext cx="12192000" cy="2536272"/>
          </a:xfrm>
          <a:prstGeom prst="rect">
            <a:avLst/>
          </a:prstGeom>
          <a:noFill/>
        </p:spPr>
        <p:txBody>
          <a:bodyPr wrap="square">
            <a:spAutoFit/>
          </a:bodyPr>
          <a:lstStyle/>
          <a:p>
            <a:pPr algn="just">
              <a:lnSpc>
                <a:spcPct val="150000"/>
              </a:lnSpc>
            </a:pPr>
            <a:r>
              <a:rPr lang="zh-CN" altLang="en-US" dirty="0">
                <a:latin typeface="华文中宋" panose="02010600040101010101" pitchFamily="2" charset="-122"/>
                <a:ea typeface="华文中宋" panose="02010600040101010101" pitchFamily="2" charset="-122"/>
              </a:rPr>
              <a:t>计算特定电子（在特定组中）的屏蔽常数</a:t>
            </a:r>
            <a:r>
              <a:rPr lang="en-US" altLang="zh-CN" dirty="0">
                <a:latin typeface="华文中宋" panose="02010600040101010101" pitchFamily="2" charset="-122"/>
                <a:ea typeface="华文中宋" panose="02010600040101010101" pitchFamily="2" charset="-122"/>
              </a:rPr>
              <a:t>S</a:t>
            </a:r>
            <a:r>
              <a:rPr lang="zh-CN" altLang="en-US" dirty="0">
                <a:latin typeface="华文中宋" panose="02010600040101010101" pitchFamily="2" charset="-122"/>
                <a:ea typeface="华文中宋" panose="02010600040101010101" pitchFamily="2" charset="-122"/>
              </a:rPr>
              <a:t>时，应遵循以下规则：</a:t>
            </a:r>
          </a:p>
          <a:p>
            <a:pPr algn="just">
              <a:lnSpc>
                <a:spcPct val="150000"/>
              </a:lnSpc>
            </a:pPr>
            <a:r>
              <a:rPr lang="en-US" altLang="zh-CN" dirty="0">
                <a:latin typeface="华文中宋" panose="02010600040101010101" pitchFamily="2" charset="-122"/>
                <a:ea typeface="华文中宋" panose="02010600040101010101" pitchFamily="2" charset="-122"/>
              </a:rPr>
              <a:t>(1)</a:t>
            </a:r>
            <a:r>
              <a:rPr lang="zh-CN" altLang="en-US" dirty="0">
                <a:latin typeface="华文中宋" panose="02010600040101010101" pitchFamily="2" charset="-122"/>
                <a:ea typeface="华文中宋" panose="02010600040101010101" pitchFamily="2" charset="-122"/>
              </a:rPr>
              <a:t>被考虑的电子所在组右侧的电子对</a:t>
            </a:r>
            <a:r>
              <a:rPr lang="en-US" altLang="zh-CN" dirty="0">
                <a:latin typeface="华文中宋" panose="02010600040101010101" pitchFamily="2" charset="-122"/>
                <a:ea typeface="华文中宋" panose="02010600040101010101" pitchFamily="2" charset="-122"/>
              </a:rPr>
              <a:t>S</a:t>
            </a:r>
            <a:r>
              <a:rPr lang="zh-CN" altLang="en-US" dirty="0">
                <a:latin typeface="华文中宋" panose="02010600040101010101" pitchFamily="2" charset="-122"/>
                <a:ea typeface="华文中宋" panose="02010600040101010101" pitchFamily="2" charset="-122"/>
              </a:rPr>
              <a:t>没有贡献。</a:t>
            </a:r>
          </a:p>
          <a:p>
            <a:pPr algn="just">
              <a:lnSpc>
                <a:spcPct val="150000"/>
              </a:lnSpc>
            </a:pPr>
            <a:r>
              <a:rPr lang="en-US" altLang="zh-CN"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对于与被考虑的电子在同一组中的每个电子，</a:t>
            </a:r>
            <a:r>
              <a:rPr lang="en-US" altLang="zh-CN" dirty="0">
                <a:latin typeface="华文中宋" panose="02010600040101010101" pitchFamily="2" charset="-122"/>
                <a:ea typeface="华文中宋" panose="02010600040101010101" pitchFamily="2" charset="-122"/>
              </a:rPr>
              <a:t>S</a:t>
            </a:r>
            <a:r>
              <a:rPr lang="zh-CN" altLang="en-US" dirty="0">
                <a:latin typeface="华文中宋" panose="02010600040101010101" pitchFamily="2" charset="-122"/>
                <a:ea typeface="华文中宋" panose="02010600040101010101" pitchFamily="2" charset="-122"/>
              </a:rPr>
              <a:t>增加</a:t>
            </a:r>
            <a:r>
              <a:rPr lang="en-US" altLang="zh-CN" dirty="0">
                <a:latin typeface="华文中宋" panose="02010600040101010101" pitchFamily="2" charset="-122"/>
                <a:ea typeface="华文中宋" panose="02010600040101010101" pitchFamily="2" charset="-122"/>
              </a:rPr>
              <a:t>0.35</a:t>
            </a:r>
            <a:r>
              <a:rPr lang="zh-CN" altLang="en-US" dirty="0">
                <a:latin typeface="华文中宋" panose="02010600040101010101" pitchFamily="2" charset="-122"/>
                <a:ea typeface="华文中宋" panose="02010600040101010101" pitchFamily="2" charset="-122"/>
              </a:rPr>
              <a:t>的贡献，但在（</a:t>
            </a:r>
            <a:r>
              <a:rPr lang="en-US" altLang="zh-CN" dirty="0">
                <a:latin typeface="华文中宋" panose="02010600040101010101" pitchFamily="2" charset="-122"/>
                <a:ea typeface="华文中宋" panose="02010600040101010101" pitchFamily="2" charset="-122"/>
              </a:rPr>
              <a:t>1s</a:t>
            </a:r>
            <a:r>
              <a:rPr lang="zh-CN" altLang="en-US" dirty="0">
                <a:latin typeface="华文中宋" panose="02010600040101010101" pitchFamily="2" charset="-122"/>
                <a:ea typeface="华文中宋" panose="02010600040101010101" pitchFamily="2" charset="-122"/>
              </a:rPr>
              <a:t>）组中，贡献为</a:t>
            </a:r>
            <a:r>
              <a:rPr lang="en-US" altLang="zh-CN" dirty="0">
                <a:latin typeface="华文中宋" panose="02010600040101010101" pitchFamily="2" charset="-122"/>
                <a:ea typeface="华文中宋" panose="02010600040101010101" pitchFamily="2" charset="-122"/>
              </a:rPr>
              <a:t>0.30</a:t>
            </a:r>
            <a:r>
              <a:rPr lang="zh-CN" altLang="en-US" dirty="0">
                <a:latin typeface="华文中宋" panose="02010600040101010101" pitchFamily="2" charset="-122"/>
                <a:ea typeface="华文中宋" panose="02010600040101010101" pitchFamily="2" charset="-122"/>
              </a:rPr>
              <a:t>。</a:t>
            </a:r>
          </a:p>
          <a:p>
            <a:pPr algn="just">
              <a:lnSpc>
                <a:spcPct val="150000"/>
              </a:lnSpc>
            </a:pPr>
            <a:r>
              <a:rPr lang="en-US" altLang="zh-CN" dirty="0">
                <a:latin typeface="华文中宋" panose="02010600040101010101" pitchFamily="2" charset="-122"/>
                <a:ea typeface="华文中宋" panose="02010600040101010101" pitchFamily="2" charset="-122"/>
              </a:rPr>
              <a:t>(3)</a:t>
            </a:r>
            <a:r>
              <a:rPr lang="zh-CN" altLang="en-US" dirty="0">
                <a:latin typeface="华文中宋" panose="02010600040101010101" pitchFamily="2" charset="-122"/>
                <a:ea typeface="华文中宋" panose="02010600040101010101" pitchFamily="2" charset="-122"/>
              </a:rPr>
              <a:t>如果被考虑的电子位于</a:t>
            </a:r>
            <a:r>
              <a:rPr lang="en-US" altLang="zh-CN" dirty="0">
                <a:latin typeface="华文中宋" panose="02010600040101010101" pitchFamily="2" charset="-122"/>
                <a:ea typeface="华文中宋" panose="02010600040101010101" pitchFamily="2" charset="-122"/>
              </a:rPr>
              <a:t>ns</a:t>
            </a:r>
            <a:r>
              <a:rPr lang="zh-CN" altLang="en-US" dirty="0">
                <a:latin typeface="华文中宋" panose="02010600040101010101" pitchFamily="2" charset="-122"/>
                <a:ea typeface="华文中宋" panose="02010600040101010101" pitchFamily="2" charset="-122"/>
              </a:rPr>
              <a:t>或</a:t>
            </a:r>
            <a:r>
              <a:rPr lang="en-US" altLang="zh-CN" dirty="0">
                <a:latin typeface="华文中宋" panose="02010600040101010101" pitchFamily="2" charset="-122"/>
                <a:ea typeface="华文中宋" panose="02010600040101010101" pitchFamily="2" charset="-122"/>
              </a:rPr>
              <a:t>np</a:t>
            </a:r>
            <a:r>
              <a:rPr lang="zh-CN" altLang="en-US" dirty="0">
                <a:latin typeface="华文中宋" panose="02010600040101010101" pitchFamily="2" charset="-122"/>
                <a:ea typeface="华文中宋" panose="02010600040101010101" pitchFamily="2" charset="-122"/>
              </a:rPr>
              <a:t>轨道，则下一个较低壳层（即（</a:t>
            </a:r>
            <a:r>
              <a:rPr lang="en-US" altLang="zh-CN" dirty="0">
                <a:latin typeface="华文中宋" panose="02010600040101010101" pitchFamily="2" charset="-122"/>
                <a:ea typeface="华文中宋" panose="02010600040101010101" pitchFamily="2" charset="-122"/>
              </a:rPr>
              <a:t>n−1</a:t>
            </a:r>
            <a:r>
              <a:rPr lang="zh-CN" altLang="en-US" dirty="0">
                <a:latin typeface="华文中宋" panose="02010600040101010101" pitchFamily="2" charset="-122"/>
                <a:ea typeface="华文中宋" panose="02010600040101010101" pitchFamily="2" charset="-122"/>
              </a:rPr>
              <a:t>）壳层）的每个电子对</a:t>
            </a:r>
            <a:r>
              <a:rPr lang="en-US" altLang="zh-CN" dirty="0">
                <a:latin typeface="华文中宋" panose="02010600040101010101" pitchFamily="2" charset="-122"/>
                <a:ea typeface="华文中宋" panose="02010600040101010101" pitchFamily="2" charset="-122"/>
              </a:rPr>
              <a:t>S</a:t>
            </a:r>
            <a:r>
              <a:rPr lang="zh-CN" altLang="en-US" dirty="0">
                <a:latin typeface="华文中宋" panose="02010600040101010101" pitchFamily="2" charset="-122"/>
                <a:ea typeface="华文中宋" panose="02010600040101010101" pitchFamily="2" charset="-122"/>
              </a:rPr>
              <a:t>贡献</a:t>
            </a:r>
            <a:r>
              <a:rPr lang="en-US" altLang="zh-CN" dirty="0">
                <a:latin typeface="华文中宋" panose="02010600040101010101" pitchFamily="2" charset="-122"/>
                <a:ea typeface="华文中宋" panose="02010600040101010101" pitchFamily="2" charset="-122"/>
              </a:rPr>
              <a:t>0.85</a:t>
            </a:r>
            <a:r>
              <a:rPr lang="zh-CN" altLang="en-US" dirty="0">
                <a:latin typeface="华文中宋" panose="02010600040101010101" pitchFamily="2" charset="-122"/>
                <a:ea typeface="华文中宋" panose="02010600040101010101" pitchFamily="2" charset="-122"/>
              </a:rPr>
              <a:t>。更低壳层的电子（即（</a:t>
            </a:r>
            <a:r>
              <a:rPr lang="en-US" altLang="zh-CN" dirty="0">
                <a:latin typeface="华文中宋" panose="02010600040101010101" pitchFamily="2" charset="-122"/>
                <a:ea typeface="华文中宋" panose="02010600040101010101" pitchFamily="2" charset="-122"/>
              </a:rPr>
              <a:t>n−2</a:t>
            </a:r>
            <a:r>
              <a:rPr lang="zh-CN" altLang="en-US" dirty="0">
                <a:latin typeface="华文中宋" panose="02010600040101010101" pitchFamily="2" charset="-122"/>
                <a:ea typeface="华文中宋" panose="02010600040101010101" pitchFamily="2" charset="-122"/>
              </a:rPr>
              <a:t>）及以下）对</a:t>
            </a:r>
            <a:r>
              <a:rPr lang="en-US" altLang="zh-CN" dirty="0">
                <a:latin typeface="华文中宋" panose="02010600040101010101" pitchFamily="2" charset="-122"/>
                <a:ea typeface="华文中宋" panose="02010600040101010101" pitchFamily="2" charset="-122"/>
              </a:rPr>
              <a:t>S</a:t>
            </a:r>
            <a:r>
              <a:rPr lang="zh-CN" altLang="en-US" dirty="0">
                <a:latin typeface="华文中宋" panose="02010600040101010101" pitchFamily="2" charset="-122"/>
                <a:ea typeface="华文中宋" panose="02010600040101010101" pitchFamily="2" charset="-122"/>
              </a:rPr>
              <a:t>的贡献为</a:t>
            </a:r>
            <a:r>
              <a:rPr lang="en-US" altLang="zh-CN" dirty="0">
                <a:latin typeface="华文中宋" panose="02010600040101010101" pitchFamily="2" charset="-122"/>
                <a:ea typeface="华文中宋" panose="02010600040101010101" pitchFamily="2" charset="-122"/>
              </a:rPr>
              <a:t>1.00</a:t>
            </a:r>
            <a:r>
              <a:rPr lang="zh-CN" altLang="en-US" dirty="0">
                <a:latin typeface="华文中宋" panose="02010600040101010101" pitchFamily="2" charset="-122"/>
                <a:ea typeface="华文中宋" panose="02010600040101010101" pitchFamily="2" charset="-122"/>
              </a:rPr>
              <a:t>。</a:t>
            </a:r>
          </a:p>
          <a:p>
            <a:pPr algn="just">
              <a:lnSpc>
                <a:spcPct val="150000"/>
              </a:lnSpc>
            </a:pPr>
            <a:r>
              <a:rPr lang="en-US" altLang="zh-CN" dirty="0">
                <a:latin typeface="华文中宋" panose="02010600040101010101" pitchFamily="2" charset="-122"/>
                <a:ea typeface="华文中宋" panose="02010600040101010101" pitchFamily="2" charset="-122"/>
              </a:rPr>
              <a:t>(4)</a:t>
            </a:r>
            <a:r>
              <a:rPr lang="zh-CN" altLang="en-US" dirty="0">
                <a:latin typeface="华文中宋" panose="02010600040101010101" pitchFamily="2" charset="-122"/>
                <a:ea typeface="华文中宋" panose="02010600040101010101" pitchFamily="2" charset="-122"/>
              </a:rPr>
              <a:t>如果被考虑的电子位于</a:t>
            </a:r>
            <a:r>
              <a:rPr lang="en-US" altLang="zh-CN" dirty="0" err="1">
                <a:latin typeface="华文中宋" panose="02010600040101010101" pitchFamily="2" charset="-122"/>
                <a:ea typeface="华文中宋" panose="02010600040101010101" pitchFamily="2" charset="-122"/>
              </a:rPr>
              <a:t>nd</a:t>
            </a:r>
            <a:r>
              <a:rPr lang="zh-CN" altLang="en-US" dirty="0">
                <a:latin typeface="华文中宋" panose="02010600040101010101" pitchFamily="2" charset="-122"/>
                <a:ea typeface="华文中宋" panose="02010600040101010101" pitchFamily="2" charset="-122"/>
              </a:rPr>
              <a:t>或</a:t>
            </a:r>
            <a:r>
              <a:rPr lang="en-US" altLang="zh-CN" dirty="0" err="1">
                <a:latin typeface="华文中宋" panose="02010600040101010101" pitchFamily="2" charset="-122"/>
                <a:ea typeface="华文中宋" panose="02010600040101010101" pitchFamily="2" charset="-122"/>
              </a:rPr>
              <a:t>nf</a:t>
            </a:r>
            <a:r>
              <a:rPr lang="zh-CN" altLang="en-US" dirty="0">
                <a:latin typeface="华文中宋" panose="02010600040101010101" pitchFamily="2" charset="-122"/>
                <a:ea typeface="华文中宋" panose="02010600040101010101" pitchFamily="2" charset="-122"/>
              </a:rPr>
              <a:t>轨道，则其能量以下的所有电子对</a:t>
            </a:r>
            <a:r>
              <a:rPr lang="en-US" altLang="zh-CN" dirty="0">
                <a:latin typeface="华文中宋" panose="02010600040101010101" pitchFamily="2" charset="-122"/>
                <a:ea typeface="华文中宋" panose="02010600040101010101" pitchFamily="2" charset="-122"/>
              </a:rPr>
              <a:t>S</a:t>
            </a:r>
            <a:r>
              <a:rPr lang="zh-CN" altLang="en-US" dirty="0">
                <a:latin typeface="华文中宋" panose="02010600040101010101" pitchFamily="2" charset="-122"/>
                <a:ea typeface="华文中宋" panose="02010600040101010101" pitchFamily="2" charset="-122"/>
              </a:rPr>
              <a:t>贡献</a:t>
            </a:r>
            <a:r>
              <a:rPr lang="en-US" altLang="zh-CN" dirty="0">
                <a:latin typeface="华文中宋" panose="02010600040101010101" pitchFamily="2" charset="-122"/>
                <a:ea typeface="华文中宋" panose="02010600040101010101" pitchFamily="2" charset="-122"/>
              </a:rPr>
              <a:t>1.00</a:t>
            </a:r>
            <a:r>
              <a:rPr lang="zh-CN" altLang="en-US" dirty="0">
                <a:latin typeface="华文中宋" panose="02010600040101010101" pitchFamily="2" charset="-122"/>
                <a:ea typeface="华文中宋" panose="02010600040101010101" pitchFamily="2" charset="-122"/>
              </a:rPr>
              <a:t>。</a:t>
            </a:r>
          </a:p>
        </p:txBody>
      </p:sp>
      <p:sp>
        <p:nvSpPr>
          <p:cNvPr id="10" name="文本框 9">
            <a:extLst>
              <a:ext uri="{FF2B5EF4-FFF2-40B4-BE49-F238E27FC236}">
                <a16:creationId xmlns:a16="http://schemas.microsoft.com/office/drawing/2014/main" id="{9206B842-0167-425B-B5ED-59F237DF0CA6}"/>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11" name="文本框 10">
            <a:extLst>
              <a:ext uri="{FF2B5EF4-FFF2-40B4-BE49-F238E27FC236}">
                <a16:creationId xmlns:a16="http://schemas.microsoft.com/office/drawing/2014/main" id="{B656BB57-64E4-4D10-B7D4-1326A8890509}"/>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3959200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637354"/>
          </a:xfrm>
          <a:prstGeom prst="rect">
            <a:avLst/>
          </a:prstGeom>
          <a:noFill/>
        </p:spPr>
        <p:txBody>
          <a:bodyPr wrap="square" rtlCol="0">
            <a:spAutoFit/>
          </a:bodyPr>
          <a:lstStyle/>
          <a:p>
            <a:pPr algn="just">
              <a:lnSpc>
                <a:spcPts val="2200"/>
              </a:lnSpc>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8.2 </a:t>
            </a:r>
            <a:r>
              <a:rPr lang="zh-CN" altLang="zh-CN" sz="1800" dirty="0">
                <a:effectLst/>
                <a:latin typeface="华文中宋" panose="02010600040101010101" pitchFamily="2" charset="-122"/>
                <a:ea typeface="华文中宋" panose="02010600040101010101" pitchFamily="2" charset="-122"/>
                <a:cs typeface="Times New Roman" panose="02020603050405020304" pitchFamily="18" charset="0"/>
              </a:rPr>
              <a:t>镧系元素（</a:t>
            </a:r>
            <a:r>
              <a:rPr lang="en-US" altLang="zh-CN" sz="1800" dirty="0">
                <a:effectLst/>
                <a:latin typeface="华文中宋" panose="02010600040101010101" pitchFamily="2" charset="-122"/>
                <a:ea typeface="华文中宋" panose="02010600040101010101" pitchFamily="2" charset="-122"/>
              </a:rPr>
              <a:t>Ce–Lu</a:t>
            </a:r>
            <a:r>
              <a:rPr lang="zh-CN" altLang="zh-CN" sz="1800" dirty="0">
                <a:effectLst/>
                <a:latin typeface="华文中宋" panose="02010600040101010101" pitchFamily="2" charset="-122"/>
                <a:ea typeface="华文中宋" panose="02010600040101010101" pitchFamily="2" charset="-122"/>
                <a:cs typeface="Times New Roman" panose="02020603050405020304" pitchFamily="18" charset="0"/>
              </a:rPr>
              <a:t>）的原子半径非常相似，跨越所有十四个元素只有几个皮米的变化。根据斯莱特规则（第</a:t>
            </a:r>
            <a:r>
              <a:rPr lang="en-US" altLang="zh-CN" sz="1800" dirty="0">
                <a:effectLst/>
                <a:latin typeface="华文中宋" panose="02010600040101010101" pitchFamily="2" charset="-122"/>
                <a:ea typeface="华文中宋" panose="02010600040101010101" pitchFamily="2" charset="-122"/>
              </a:rPr>
              <a:t>262</a:t>
            </a:r>
            <a:r>
              <a:rPr lang="zh-CN" altLang="zh-CN" sz="1800" dirty="0">
                <a:effectLst/>
                <a:latin typeface="华文中宋" panose="02010600040101010101" pitchFamily="2" charset="-122"/>
                <a:ea typeface="华文中宋" panose="02010600040101010101" pitchFamily="2" charset="-122"/>
                <a:cs typeface="Times New Roman" panose="02020603050405020304" pitchFamily="18" charset="0"/>
              </a:rPr>
              <a:t>页），我们可以确定外层电子（</a:t>
            </a:r>
            <a:r>
              <a:rPr lang="en-US" altLang="zh-CN" sz="1800" dirty="0">
                <a:effectLst/>
                <a:latin typeface="华文中宋" panose="02010600040101010101" pitchFamily="2" charset="-122"/>
                <a:ea typeface="华文中宋" panose="02010600040101010101" pitchFamily="2" charset="-122"/>
              </a:rPr>
              <a:t>6s</a:t>
            </a:r>
            <a:r>
              <a:rPr lang="zh-CN" altLang="zh-CN" sz="1800" dirty="0">
                <a:effectLst/>
                <a:latin typeface="华文中宋" panose="02010600040101010101" pitchFamily="2" charset="-122"/>
                <a:ea typeface="华文中宋" panose="02010600040101010101" pitchFamily="2" charset="-122"/>
                <a:cs typeface="Times New Roman" panose="02020603050405020304" pitchFamily="18" charset="0"/>
              </a:rPr>
              <a:t>）所经历的有效核电荷，并因此解释为什么原子半径变化如此之小。</a:t>
            </a:r>
            <a:endParaRPr lang="zh-CN" altLang="en-US"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E18C168F-6946-452D-872D-5BAE86E1FB1A}"/>
              </a:ext>
            </a:extLst>
          </p:cNvPr>
          <p:cNvSpPr txBox="1"/>
          <p:nvPr/>
        </p:nvSpPr>
        <p:spPr>
          <a:xfrm>
            <a:off x="5528765" y="712673"/>
            <a:ext cx="1134470" cy="369332"/>
          </a:xfrm>
          <a:prstGeom prst="rect">
            <a:avLst/>
          </a:prstGeom>
          <a:noFill/>
        </p:spPr>
        <p:txBody>
          <a:bodyPr wrap="square">
            <a:spAutoFit/>
          </a:bodyPr>
          <a:lstStyle/>
          <a:p>
            <a:r>
              <a:rPr lang="en-US" altLang="zh-CN" sz="1800" i="1" dirty="0">
                <a:solidFill>
                  <a:srgbClr val="231F20"/>
                </a:solidFill>
                <a:effectLst/>
                <a:latin typeface="Times-Italic"/>
              </a:rPr>
              <a:t>Z</a:t>
            </a:r>
            <a:r>
              <a:rPr lang="en-US" altLang="zh-CN" sz="800" dirty="0">
                <a:solidFill>
                  <a:srgbClr val="231F20"/>
                </a:solidFill>
                <a:effectLst/>
                <a:latin typeface="Times-Roman"/>
              </a:rPr>
              <a:t>e</a:t>
            </a:r>
            <a:r>
              <a:rPr lang="en-US" altLang="zh-CN" sz="800" dirty="0">
                <a:solidFill>
                  <a:srgbClr val="231F20"/>
                </a:solidFill>
                <a:effectLst/>
                <a:latin typeface="rtxr"/>
              </a:rPr>
              <a:t>ff </a:t>
            </a:r>
            <a:r>
              <a:rPr lang="en-US" altLang="zh-CN" sz="1800" dirty="0">
                <a:solidFill>
                  <a:srgbClr val="231F20"/>
                </a:solidFill>
                <a:effectLst/>
                <a:latin typeface="rtxr"/>
              </a:rPr>
              <a:t>= </a:t>
            </a:r>
            <a:r>
              <a:rPr lang="en-US" altLang="zh-CN" sz="1800" i="1" dirty="0">
                <a:solidFill>
                  <a:srgbClr val="231F20"/>
                </a:solidFill>
                <a:effectLst/>
                <a:latin typeface="Times-Italic"/>
              </a:rPr>
              <a:t>Z </a:t>
            </a:r>
            <a:r>
              <a:rPr lang="en-US" altLang="zh-CN" sz="1800" dirty="0">
                <a:solidFill>
                  <a:srgbClr val="231F20"/>
                </a:solidFill>
                <a:effectLst/>
                <a:latin typeface="txsy"/>
              </a:rPr>
              <a:t>− </a:t>
            </a:r>
            <a:r>
              <a:rPr lang="en-US" altLang="zh-CN" sz="1800" i="1" dirty="0">
                <a:solidFill>
                  <a:srgbClr val="231F20"/>
                </a:solidFill>
                <a:effectLst/>
                <a:latin typeface="Times-Italic"/>
              </a:rPr>
              <a:t>S</a:t>
            </a:r>
            <a:endParaRPr lang="zh-CN" altLang="en-US" dirty="0"/>
          </a:p>
        </p:txBody>
      </p:sp>
      <p:sp>
        <p:nvSpPr>
          <p:cNvPr id="7" name="文本框 6">
            <a:extLst>
              <a:ext uri="{FF2B5EF4-FFF2-40B4-BE49-F238E27FC236}">
                <a16:creationId xmlns:a16="http://schemas.microsoft.com/office/drawing/2014/main" id="{08C6FFC3-823A-4C94-A923-9F01F8CD3A3B}"/>
              </a:ext>
            </a:extLst>
          </p:cNvPr>
          <p:cNvSpPr txBox="1"/>
          <p:nvPr/>
        </p:nvSpPr>
        <p:spPr>
          <a:xfrm>
            <a:off x="3908094" y="1476944"/>
            <a:ext cx="4375813" cy="369332"/>
          </a:xfrm>
          <a:prstGeom prst="rect">
            <a:avLst/>
          </a:prstGeom>
          <a:noFill/>
        </p:spPr>
        <p:txBody>
          <a:bodyPr wrap="square">
            <a:spAutoFit/>
          </a:bodyPr>
          <a:lstStyle/>
          <a:p>
            <a:r>
              <a:rPr lang="en-US" altLang="zh-CN" sz="1800" dirty="0">
                <a:solidFill>
                  <a:srgbClr val="231F20"/>
                </a:solidFill>
                <a:effectLst/>
                <a:latin typeface="Times-Roman"/>
              </a:rPr>
              <a:t>(1</a:t>
            </a:r>
            <a:r>
              <a:rPr lang="en-US" altLang="zh-CN" sz="1800" i="1" dirty="0">
                <a:solidFill>
                  <a:srgbClr val="231F20"/>
                </a:solidFill>
                <a:effectLst/>
                <a:latin typeface="Times-Italic"/>
              </a:rPr>
              <a:t>s</a:t>
            </a:r>
            <a:r>
              <a:rPr lang="en-US" altLang="zh-CN" sz="1800" dirty="0">
                <a:solidFill>
                  <a:srgbClr val="231F20"/>
                </a:solidFill>
                <a:effectLst/>
                <a:latin typeface="Times-Roman"/>
              </a:rPr>
              <a:t>) (2</a:t>
            </a:r>
            <a:r>
              <a:rPr lang="en-US" altLang="zh-CN" sz="1800" i="1" dirty="0">
                <a:solidFill>
                  <a:srgbClr val="231F20"/>
                </a:solidFill>
                <a:effectLst/>
                <a:latin typeface="Times-Italic"/>
              </a:rPr>
              <a:t>s</a:t>
            </a:r>
            <a:r>
              <a:rPr lang="en-US" altLang="zh-CN" sz="1800" dirty="0">
                <a:solidFill>
                  <a:srgbClr val="231F20"/>
                </a:solidFill>
                <a:effectLst/>
                <a:latin typeface="rtxmi"/>
              </a:rPr>
              <a:t>, </a:t>
            </a:r>
            <a:r>
              <a:rPr lang="en-US" altLang="zh-CN" sz="1800" dirty="0">
                <a:solidFill>
                  <a:srgbClr val="231F20"/>
                </a:solidFill>
                <a:effectLst/>
                <a:latin typeface="Times-Roman"/>
              </a:rPr>
              <a:t>2</a:t>
            </a:r>
            <a:r>
              <a:rPr lang="en-US" altLang="zh-CN" sz="1800" i="1" dirty="0">
                <a:solidFill>
                  <a:srgbClr val="231F20"/>
                </a:solidFill>
                <a:effectLst/>
                <a:latin typeface="Times-Italic"/>
              </a:rPr>
              <a:t>p</a:t>
            </a:r>
            <a:r>
              <a:rPr lang="en-US" altLang="zh-CN" sz="1800" dirty="0">
                <a:solidFill>
                  <a:srgbClr val="231F20"/>
                </a:solidFill>
                <a:effectLst/>
                <a:latin typeface="Times-Roman"/>
              </a:rPr>
              <a:t>) (3</a:t>
            </a:r>
            <a:r>
              <a:rPr lang="en-US" altLang="zh-CN" sz="1800" i="1" dirty="0">
                <a:solidFill>
                  <a:srgbClr val="231F20"/>
                </a:solidFill>
                <a:effectLst/>
                <a:latin typeface="Times-Italic"/>
              </a:rPr>
              <a:t>s</a:t>
            </a:r>
            <a:r>
              <a:rPr lang="en-US" altLang="zh-CN" sz="1800" dirty="0">
                <a:solidFill>
                  <a:srgbClr val="231F20"/>
                </a:solidFill>
                <a:effectLst/>
                <a:latin typeface="rtxmi"/>
              </a:rPr>
              <a:t>, </a:t>
            </a:r>
            <a:r>
              <a:rPr lang="en-US" altLang="zh-CN" sz="1800" dirty="0">
                <a:solidFill>
                  <a:srgbClr val="231F20"/>
                </a:solidFill>
                <a:effectLst/>
                <a:latin typeface="Times-Roman"/>
              </a:rPr>
              <a:t>3</a:t>
            </a:r>
            <a:r>
              <a:rPr lang="en-US" altLang="zh-CN" sz="1800" i="1" dirty="0">
                <a:solidFill>
                  <a:srgbClr val="231F20"/>
                </a:solidFill>
                <a:effectLst/>
                <a:latin typeface="Times-Italic"/>
              </a:rPr>
              <a:t>p</a:t>
            </a:r>
            <a:r>
              <a:rPr lang="en-US" altLang="zh-CN" sz="1800" dirty="0">
                <a:solidFill>
                  <a:srgbClr val="231F20"/>
                </a:solidFill>
                <a:effectLst/>
                <a:latin typeface="Times-Roman"/>
              </a:rPr>
              <a:t>) (3</a:t>
            </a:r>
            <a:r>
              <a:rPr lang="en-US" altLang="zh-CN" sz="1800" i="1" dirty="0">
                <a:solidFill>
                  <a:srgbClr val="231F20"/>
                </a:solidFill>
                <a:effectLst/>
                <a:latin typeface="Times-Italic"/>
              </a:rPr>
              <a:t>d</a:t>
            </a:r>
            <a:r>
              <a:rPr lang="en-US" altLang="zh-CN" sz="1800" dirty="0">
                <a:solidFill>
                  <a:srgbClr val="231F20"/>
                </a:solidFill>
                <a:effectLst/>
                <a:latin typeface="Times-Roman"/>
              </a:rPr>
              <a:t>) (4</a:t>
            </a:r>
            <a:r>
              <a:rPr lang="en-US" altLang="zh-CN" sz="1800" i="1" dirty="0">
                <a:solidFill>
                  <a:srgbClr val="231F20"/>
                </a:solidFill>
                <a:effectLst/>
                <a:latin typeface="Times-Italic"/>
              </a:rPr>
              <a:t>s</a:t>
            </a:r>
            <a:r>
              <a:rPr lang="en-US" altLang="zh-CN" sz="1800" dirty="0">
                <a:solidFill>
                  <a:srgbClr val="231F20"/>
                </a:solidFill>
                <a:effectLst/>
                <a:latin typeface="rtxmi"/>
              </a:rPr>
              <a:t>, </a:t>
            </a:r>
            <a:r>
              <a:rPr lang="en-US" altLang="zh-CN" sz="1800" dirty="0">
                <a:solidFill>
                  <a:srgbClr val="231F20"/>
                </a:solidFill>
                <a:effectLst/>
                <a:latin typeface="Times-Roman"/>
              </a:rPr>
              <a:t>4</a:t>
            </a:r>
            <a:r>
              <a:rPr lang="en-US" altLang="zh-CN" sz="1800" i="1" dirty="0">
                <a:solidFill>
                  <a:srgbClr val="231F20"/>
                </a:solidFill>
                <a:effectLst/>
                <a:latin typeface="Times-Italic"/>
              </a:rPr>
              <a:t>p</a:t>
            </a:r>
            <a:r>
              <a:rPr lang="en-US" altLang="zh-CN" sz="1800" dirty="0">
                <a:solidFill>
                  <a:srgbClr val="231F20"/>
                </a:solidFill>
                <a:effectLst/>
                <a:latin typeface="Times-Roman"/>
              </a:rPr>
              <a:t>) (4</a:t>
            </a:r>
            <a:r>
              <a:rPr lang="en-US" altLang="zh-CN" sz="1800" i="1" dirty="0">
                <a:solidFill>
                  <a:srgbClr val="231F20"/>
                </a:solidFill>
                <a:effectLst/>
                <a:latin typeface="Times-Italic"/>
              </a:rPr>
              <a:t>d</a:t>
            </a:r>
            <a:r>
              <a:rPr lang="en-US" altLang="zh-CN" sz="1800" dirty="0">
                <a:solidFill>
                  <a:srgbClr val="231F20"/>
                </a:solidFill>
                <a:effectLst/>
                <a:latin typeface="Times-Roman"/>
              </a:rPr>
              <a:t>) (4</a:t>
            </a:r>
            <a:r>
              <a:rPr lang="en-US" altLang="zh-CN" sz="1800" i="1" dirty="0">
                <a:solidFill>
                  <a:srgbClr val="231F20"/>
                </a:solidFill>
                <a:effectLst/>
                <a:latin typeface="Times-Italic"/>
              </a:rPr>
              <a:t>f</a:t>
            </a:r>
            <a:r>
              <a:rPr lang="en-US" altLang="zh-CN" sz="1800" dirty="0">
                <a:solidFill>
                  <a:srgbClr val="231F20"/>
                </a:solidFill>
                <a:effectLst/>
                <a:latin typeface="Times-Roman"/>
              </a:rPr>
              <a:t>) </a:t>
            </a:r>
            <a:r>
              <a:rPr lang="en-US" altLang="zh-CN" sz="1800" dirty="0">
                <a:solidFill>
                  <a:srgbClr val="231F20"/>
                </a:solidFill>
                <a:effectLst/>
                <a:latin typeface="rtxmi"/>
              </a:rPr>
              <a:t>... </a:t>
            </a:r>
            <a:endParaRPr lang="zh-CN" altLang="en-US" dirty="0"/>
          </a:p>
        </p:txBody>
      </p:sp>
      <p:sp>
        <p:nvSpPr>
          <p:cNvPr id="9" name="文本框 8">
            <a:extLst>
              <a:ext uri="{FF2B5EF4-FFF2-40B4-BE49-F238E27FC236}">
                <a16:creationId xmlns:a16="http://schemas.microsoft.com/office/drawing/2014/main" id="{8A3758A5-01FA-4972-8965-512EB184EB17}"/>
              </a:ext>
            </a:extLst>
          </p:cNvPr>
          <p:cNvSpPr txBox="1"/>
          <p:nvPr/>
        </p:nvSpPr>
        <p:spPr>
          <a:xfrm>
            <a:off x="0" y="2265234"/>
            <a:ext cx="12191999" cy="1705275"/>
          </a:xfrm>
          <a:prstGeom prst="rect">
            <a:avLst/>
          </a:prstGeom>
          <a:noFill/>
        </p:spPr>
        <p:txBody>
          <a:bodyPr wrap="square">
            <a:spAutoFit/>
          </a:bodyPr>
          <a:lstStyle/>
          <a:p>
            <a:pPr algn="just">
              <a:lnSpc>
                <a:spcPct val="150000"/>
              </a:lnSpc>
            </a:pPr>
            <a:r>
              <a:rPr lang="zh-CN" altLang="en-US" dirty="0">
                <a:latin typeface="华文中宋" panose="02010600040101010101" pitchFamily="2" charset="-122"/>
                <a:ea typeface="华文中宋" panose="02010600040101010101" pitchFamily="2" charset="-122"/>
              </a:rPr>
              <a:t>答：根据斯莱特规则，在计算</a:t>
            </a:r>
            <a:r>
              <a:rPr lang="en-US" altLang="zh-CN" dirty="0">
                <a:latin typeface="华文中宋" panose="02010600040101010101" pitchFamily="2" charset="-122"/>
                <a:ea typeface="华文中宋" panose="02010600040101010101" pitchFamily="2" charset="-122"/>
              </a:rPr>
              <a:t>6s</a:t>
            </a:r>
            <a:r>
              <a:rPr lang="zh-CN" altLang="en-US" dirty="0">
                <a:latin typeface="华文中宋" panose="02010600040101010101" pitchFamily="2" charset="-122"/>
                <a:ea typeface="华文中宋" panose="02010600040101010101" pitchFamily="2" charset="-122"/>
              </a:rPr>
              <a:t>电子的屏蔽常数</a:t>
            </a:r>
            <a:r>
              <a:rPr lang="en-US" altLang="zh-CN" dirty="0">
                <a:latin typeface="华文中宋" panose="02010600040101010101" pitchFamily="2" charset="-122"/>
                <a:ea typeface="华文中宋" panose="02010600040101010101" pitchFamily="2" charset="-122"/>
              </a:rPr>
              <a:t>S</a:t>
            </a:r>
            <a:r>
              <a:rPr lang="zh-CN" altLang="en-US" dirty="0">
                <a:latin typeface="华文中宋" panose="02010600040101010101" pitchFamily="2" charset="-122"/>
                <a:ea typeface="华文中宋" panose="02010600040101010101" pitchFamily="2" charset="-122"/>
              </a:rPr>
              <a:t>时，</a:t>
            </a:r>
            <a:r>
              <a:rPr lang="en-US" altLang="zh-CN" dirty="0">
                <a:latin typeface="华文中宋" panose="02010600040101010101" pitchFamily="2" charset="-122"/>
                <a:ea typeface="华文中宋" panose="02010600040101010101" pitchFamily="2" charset="-122"/>
              </a:rPr>
              <a:t>4f</a:t>
            </a:r>
            <a:r>
              <a:rPr lang="zh-CN" altLang="en-US" dirty="0">
                <a:latin typeface="华文中宋" panose="02010600040101010101" pitchFamily="2" charset="-122"/>
                <a:ea typeface="华文中宋" panose="02010600040101010101" pitchFamily="2" charset="-122"/>
              </a:rPr>
              <a:t>电子都贡献了</a:t>
            </a:r>
            <a:r>
              <a:rPr lang="en-US" altLang="zh-CN" dirty="0">
                <a:latin typeface="华文中宋" panose="02010600040101010101" pitchFamily="2" charset="-122"/>
                <a:ea typeface="华文中宋" panose="02010600040101010101" pitchFamily="2" charset="-122"/>
              </a:rPr>
              <a:t>1.0</a:t>
            </a:r>
            <a:r>
              <a:rPr lang="zh-CN" altLang="en-US" dirty="0">
                <a:latin typeface="华文中宋" panose="02010600040101010101" pitchFamily="2" charset="-122"/>
                <a:ea typeface="华文中宋" panose="02010600040101010101" pitchFamily="2" charset="-122"/>
              </a:rPr>
              <a:t>，因为它们位于主量子数比被考虑的电子少两个的壳层中。当我们从一个镧系元素过渡到下一个时，核电荷增加一个单位，</a:t>
            </a:r>
            <a:r>
              <a:rPr lang="en-US" altLang="zh-CN" dirty="0">
                <a:latin typeface="华文中宋" panose="02010600040101010101" pitchFamily="2" charset="-122"/>
                <a:ea typeface="华文中宋" panose="02010600040101010101" pitchFamily="2" charset="-122"/>
              </a:rPr>
              <a:t>4f</a:t>
            </a:r>
            <a:r>
              <a:rPr lang="zh-CN" altLang="en-US" dirty="0">
                <a:latin typeface="华文中宋" panose="02010600040101010101" pitchFamily="2" charset="-122"/>
                <a:ea typeface="华文中宋" panose="02010600040101010101" pitchFamily="2" charset="-122"/>
              </a:rPr>
              <a:t>轨道增加一个电子。对于位于</a:t>
            </a:r>
            <a:r>
              <a:rPr lang="en-US" altLang="zh-CN" dirty="0">
                <a:latin typeface="华文中宋" panose="02010600040101010101" pitchFamily="2" charset="-122"/>
                <a:ea typeface="华文中宋" panose="02010600040101010101" pitchFamily="2" charset="-122"/>
              </a:rPr>
              <a:t>6s</a:t>
            </a:r>
            <a:r>
              <a:rPr lang="zh-CN" altLang="en-US" dirty="0">
                <a:latin typeface="华文中宋" panose="02010600040101010101" pitchFamily="2" charset="-122"/>
                <a:ea typeface="华文中宋" panose="02010600040101010101" pitchFamily="2" charset="-122"/>
              </a:rPr>
              <a:t>的外层电子来说，屏蔽常数因此增加了一个单位，与核电荷的增加完全同步。因此，斯莱特的</a:t>
            </a:r>
            <a:r>
              <a:rPr lang="zh-CN" altLang="en-US" b="1" dirty="0">
                <a:solidFill>
                  <a:srgbClr val="FF0000"/>
                </a:solidFill>
                <a:latin typeface="华文中宋" panose="02010600040101010101" pitchFamily="2" charset="-122"/>
                <a:ea typeface="华文中宋" panose="02010600040101010101" pitchFamily="2" charset="-122"/>
              </a:rPr>
              <a:t>有效核电荷值对于</a:t>
            </a:r>
            <a:r>
              <a:rPr lang="en-US" altLang="zh-CN" b="1" dirty="0">
                <a:solidFill>
                  <a:srgbClr val="FF0000"/>
                </a:solidFill>
                <a:latin typeface="华文中宋" panose="02010600040101010101" pitchFamily="2" charset="-122"/>
                <a:ea typeface="华文中宋" panose="02010600040101010101" pitchFamily="2" charset="-122"/>
              </a:rPr>
              <a:t>6s</a:t>
            </a:r>
            <a:r>
              <a:rPr lang="zh-CN" altLang="en-US" b="1" dirty="0">
                <a:solidFill>
                  <a:srgbClr val="FF0000"/>
                </a:solidFill>
                <a:latin typeface="华文中宋" panose="02010600040101010101" pitchFamily="2" charset="-122"/>
                <a:ea typeface="华文中宋" panose="02010600040101010101" pitchFamily="2" charset="-122"/>
              </a:rPr>
              <a:t>在整个系列中是恒定的</a:t>
            </a:r>
            <a:r>
              <a:rPr lang="zh-CN" altLang="en-US"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p:txBody>
      </p:sp>
      <p:sp>
        <p:nvSpPr>
          <p:cNvPr id="10" name="文本框 9">
            <a:extLst>
              <a:ext uri="{FF2B5EF4-FFF2-40B4-BE49-F238E27FC236}">
                <a16:creationId xmlns:a16="http://schemas.microsoft.com/office/drawing/2014/main" id="{7A0E7EFC-5E77-4174-856B-59E533CE49BE}"/>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11" name="文本框 10">
            <a:extLst>
              <a:ext uri="{FF2B5EF4-FFF2-40B4-BE49-F238E27FC236}">
                <a16:creationId xmlns:a16="http://schemas.microsoft.com/office/drawing/2014/main" id="{89192566-C023-4152-BE69-56C6E5AE70AE}"/>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26383862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640175"/>
          </a:xfrm>
          <a:prstGeom prst="rect">
            <a:avLst/>
          </a:prstGeom>
          <a:noFill/>
        </p:spPr>
        <p:txBody>
          <a:bodyPr wrap="square" rtlCol="0">
            <a:spAutoFit/>
          </a:bodyPr>
          <a:lstStyle/>
          <a:p>
            <a:pPr algn="just">
              <a:lnSpc>
                <a:spcPts val="2200"/>
              </a:lnSpc>
            </a:pPr>
            <a:r>
              <a:rPr lang="en-US" altLang="zh-CN" dirty="0">
                <a:latin typeface="Times New Roman" panose="02020603050405020304" pitchFamily="18" charset="0"/>
                <a:cs typeface="Times New Roman" panose="02020603050405020304" pitchFamily="18" charset="0"/>
              </a:rPr>
              <a:t>8.3 Explain why there is a general increase in atomic radii on moving from the first row transition metals (those in period 4) to the second row (those in period 5), but there is very little change on moving to the third row (those in period 6).</a:t>
            </a:r>
            <a:endParaRPr lang="zh-CN" altLang="en-US"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BD60399C-1B89-4FB8-8AB2-768B1226BB04}"/>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6" name="文本框 5">
            <a:extLst>
              <a:ext uri="{FF2B5EF4-FFF2-40B4-BE49-F238E27FC236}">
                <a16:creationId xmlns:a16="http://schemas.microsoft.com/office/drawing/2014/main" id="{146E45F5-828B-494F-A5EF-94FC9C0B61EC}"/>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485487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640175"/>
          </a:xfrm>
          <a:prstGeom prst="rect">
            <a:avLst/>
          </a:prstGeom>
          <a:noFill/>
        </p:spPr>
        <p:txBody>
          <a:bodyPr wrap="square" rtlCol="0">
            <a:spAutoFit/>
          </a:bodyPr>
          <a:lstStyle/>
          <a:p>
            <a:pPr algn="just">
              <a:lnSpc>
                <a:spcPts val="2200"/>
              </a:lnSpc>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8.3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在从第一行过渡金属（第</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4</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周期）移动到第二行（第</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5</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周期）时，原子半径普遍增加，但从第二行移动到第三行（第</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6</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周期）时，原子半径变化很小。</a:t>
            </a:r>
          </a:p>
        </p:txBody>
      </p:sp>
      <p:sp>
        <p:nvSpPr>
          <p:cNvPr id="2" name="文本框 1">
            <a:extLst>
              <a:ext uri="{FF2B5EF4-FFF2-40B4-BE49-F238E27FC236}">
                <a16:creationId xmlns:a16="http://schemas.microsoft.com/office/drawing/2014/main" id="{5C03A503-103D-4658-BB8A-D67E84CCD56F}"/>
              </a:ext>
            </a:extLst>
          </p:cNvPr>
          <p:cNvSpPr txBox="1"/>
          <p:nvPr/>
        </p:nvSpPr>
        <p:spPr>
          <a:xfrm>
            <a:off x="0" y="805218"/>
            <a:ext cx="12192000" cy="3367268"/>
          </a:xfrm>
          <a:prstGeom prst="rect">
            <a:avLst/>
          </a:prstGeom>
          <a:noFill/>
        </p:spPr>
        <p:txBody>
          <a:bodyPr wrap="square" rtlCol="0">
            <a:spAutoFit/>
          </a:bodyPr>
          <a:lstStyle/>
          <a:p>
            <a:pPr algn="just">
              <a:lnSpc>
                <a:spcPct val="150000"/>
              </a:lnSpc>
            </a:pPr>
            <a:r>
              <a:rPr lang="zh-CN" altLang="en-US" dirty="0">
                <a:latin typeface="华文中宋" panose="02010600040101010101" pitchFamily="2" charset="-122"/>
                <a:ea typeface="华文中宋" panose="02010600040101010101" pitchFamily="2" charset="-122"/>
              </a:rPr>
              <a:t>答：</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dirty="0">
                <a:latin typeface="华文中宋" panose="02010600040101010101" pitchFamily="2" charset="-122"/>
                <a:ea typeface="华文中宋" panose="02010600040101010101" pitchFamily="2" charset="-122"/>
              </a:rPr>
              <a:t>(1) </a:t>
            </a:r>
            <a:r>
              <a:rPr lang="zh-CN" altLang="en-US" dirty="0">
                <a:latin typeface="华文中宋" panose="02010600040101010101" pitchFamily="2" charset="-122"/>
                <a:ea typeface="华文中宋" panose="02010600040101010101" pitchFamily="2" charset="-122"/>
              </a:rPr>
              <a:t>首先，当从第一行过渡金属移动到第二行时，</a:t>
            </a:r>
            <a:r>
              <a:rPr lang="zh-CN" altLang="en-US" b="1" dirty="0">
                <a:solidFill>
                  <a:srgbClr val="20E8E3"/>
                </a:solidFill>
                <a:latin typeface="华文中宋" panose="02010600040101010101" pitchFamily="2" charset="-122"/>
                <a:ea typeface="华文中宋" panose="02010600040101010101" pitchFamily="2" charset="-122"/>
              </a:rPr>
              <a:t>原子半径的增加主要是由于新的电子壳层的添加</a:t>
            </a:r>
            <a:r>
              <a:rPr lang="zh-CN" altLang="en-US" dirty="0">
                <a:latin typeface="华文中宋" panose="02010600040101010101" pitchFamily="2" charset="-122"/>
                <a:ea typeface="华文中宋" panose="02010600040101010101" pitchFamily="2" charset="-122"/>
              </a:rPr>
              <a:t>。每当我们向下移动到周期表的下一行时，就会添加一个新的电子壳层，这导致原子的大小增加。因此，第</a:t>
            </a:r>
            <a:r>
              <a:rPr lang="en-US" altLang="zh-CN" dirty="0">
                <a:latin typeface="华文中宋" panose="02010600040101010101" pitchFamily="2" charset="-122"/>
                <a:ea typeface="华文中宋" panose="02010600040101010101" pitchFamily="2" charset="-122"/>
              </a:rPr>
              <a:t>5</a:t>
            </a:r>
            <a:r>
              <a:rPr lang="zh-CN" altLang="en-US" dirty="0">
                <a:latin typeface="华文中宋" panose="02010600040101010101" pitchFamily="2" charset="-122"/>
                <a:ea typeface="华文中宋" panose="02010600040101010101" pitchFamily="2" charset="-122"/>
              </a:rPr>
              <a:t>周期的过渡金属的原子半径大于第</a:t>
            </a:r>
            <a:r>
              <a:rPr lang="en-US" altLang="zh-CN" dirty="0">
                <a:latin typeface="华文中宋" panose="02010600040101010101" pitchFamily="2" charset="-122"/>
                <a:ea typeface="华文中宋" panose="02010600040101010101" pitchFamily="2" charset="-122"/>
              </a:rPr>
              <a:t>4</a:t>
            </a:r>
            <a:r>
              <a:rPr lang="zh-CN" altLang="en-US" dirty="0">
                <a:latin typeface="华文中宋" panose="02010600040101010101" pitchFamily="2" charset="-122"/>
                <a:ea typeface="华文中宋" panose="02010600040101010101" pitchFamily="2" charset="-122"/>
              </a:rPr>
              <a:t>周期的原子半径。</a:t>
            </a:r>
          </a:p>
          <a:p>
            <a:pPr algn="just">
              <a:lnSpc>
                <a:spcPct val="150000"/>
              </a:lnSpc>
            </a:pPr>
            <a:r>
              <a:rPr lang="en-US" altLang="zh-CN" dirty="0">
                <a:latin typeface="华文中宋" panose="02010600040101010101" pitchFamily="2" charset="-122"/>
                <a:ea typeface="华文中宋" panose="02010600040101010101" pitchFamily="2" charset="-122"/>
              </a:rPr>
              <a:t>(2) </a:t>
            </a:r>
            <a:r>
              <a:rPr lang="zh-CN" altLang="en-US" dirty="0">
                <a:latin typeface="华文中宋" panose="02010600040101010101" pitchFamily="2" charset="-122"/>
                <a:ea typeface="华文中宋" panose="02010600040101010101" pitchFamily="2" charset="-122"/>
              </a:rPr>
              <a:t>然而，从第二行到第三行时，原子半径的变化不大，这主要是由于所谓的</a:t>
            </a:r>
            <a:r>
              <a:rPr lang="zh-CN" altLang="en-US" dirty="0">
                <a:solidFill>
                  <a:srgbClr val="0070C0"/>
                </a:solidFill>
                <a:latin typeface="华文中宋" panose="02010600040101010101" pitchFamily="2" charset="-122"/>
                <a:ea typeface="华文中宋" panose="02010600040101010101" pitchFamily="2" charset="-122"/>
              </a:rPr>
              <a:t>镧系收缩</a:t>
            </a:r>
            <a:r>
              <a:rPr lang="zh-CN" altLang="en-US" dirty="0">
                <a:latin typeface="华文中宋" panose="02010600040101010101" pitchFamily="2" charset="-122"/>
                <a:ea typeface="华文中宋" panose="02010600040101010101" pitchFamily="2" charset="-122"/>
              </a:rPr>
              <a:t>。当电子被添加到内部的</a:t>
            </a:r>
            <a:r>
              <a:rPr lang="en-US" altLang="zh-CN" dirty="0">
                <a:latin typeface="华文中宋" panose="02010600040101010101" pitchFamily="2" charset="-122"/>
                <a:ea typeface="华文中宋" panose="02010600040101010101" pitchFamily="2" charset="-122"/>
              </a:rPr>
              <a:t>4f</a:t>
            </a:r>
            <a:r>
              <a:rPr lang="zh-CN" altLang="en-US" dirty="0">
                <a:latin typeface="华文中宋" panose="02010600040101010101" pitchFamily="2" charset="-122"/>
                <a:ea typeface="华文中宋" panose="02010600040101010101" pitchFamily="2" charset="-122"/>
              </a:rPr>
              <a:t>轨道时，这些</a:t>
            </a:r>
            <a:r>
              <a:rPr lang="zh-CN" altLang="en-US" b="1" dirty="0">
                <a:solidFill>
                  <a:srgbClr val="28A484"/>
                </a:solidFill>
                <a:latin typeface="华文中宋" panose="02010600040101010101" pitchFamily="2" charset="-122"/>
                <a:ea typeface="华文中宋" panose="02010600040101010101" pitchFamily="2" charset="-122"/>
              </a:rPr>
              <a:t>电子对外层电子的屏蔽效应不如</a:t>
            </a:r>
            <a:r>
              <a:rPr lang="en-US" altLang="zh-CN" b="1" dirty="0">
                <a:solidFill>
                  <a:srgbClr val="28A484"/>
                </a:solidFill>
                <a:latin typeface="华文中宋" panose="02010600040101010101" pitchFamily="2" charset="-122"/>
                <a:ea typeface="华文中宋" panose="02010600040101010101" pitchFamily="2" charset="-122"/>
              </a:rPr>
              <a:t>d</a:t>
            </a:r>
            <a:r>
              <a:rPr lang="zh-CN" altLang="en-US" b="1" dirty="0">
                <a:solidFill>
                  <a:srgbClr val="28A484"/>
                </a:solidFill>
                <a:latin typeface="华文中宋" panose="02010600040101010101" pitchFamily="2" charset="-122"/>
                <a:ea typeface="华文中宋" panose="02010600040101010101" pitchFamily="2" charset="-122"/>
              </a:rPr>
              <a:t>轨道电子，导致有效核电荷的增加</a:t>
            </a:r>
            <a:r>
              <a:rPr lang="zh-CN" altLang="en-US" dirty="0">
                <a:latin typeface="华文中宋" panose="02010600040101010101" pitchFamily="2" charset="-122"/>
                <a:ea typeface="华文中宋" panose="02010600040101010101" pitchFamily="2" charset="-122"/>
              </a:rPr>
              <a:t>。这种增加的有效核电荷使得外层电子更紧密地束缚在核周围，从而抵消了由于添加新电子壳层而预期的原子半径增加。因此，第</a:t>
            </a:r>
            <a:r>
              <a:rPr lang="en-US" altLang="zh-CN" dirty="0">
                <a:latin typeface="华文中宋" panose="02010600040101010101" pitchFamily="2" charset="-122"/>
                <a:ea typeface="华文中宋" panose="02010600040101010101" pitchFamily="2" charset="-122"/>
              </a:rPr>
              <a:t>6</a:t>
            </a:r>
            <a:r>
              <a:rPr lang="zh-CN" altLang="en-US" dirty="0">
                <a:latin typeface="华文中宋" panose="02010600040101010101" pitchFamily="2" charset="-122"/>
                <a:ea typeface="华文中宋" panose="02010600040101010101" pitchFamily="2" charset="-122"/>
              </a:rPr>
              <a:t>周期的过渡金属的原子半径与第</a:t>
            </a:r>
            <a:r>
              <a:rPr lang="en-US" altLang="zh-CN" dirty="0">
                <a:latin typeface="华文中宋" panose="02010600040101010101" pitchFamily="2" charset="-122"/>
                <a:ea typeface="华文中宋" panose="02010600040101010101" pitchFamily="2" charset="-122"/>
              </a:rPr>
              <a:t>5</a:t>
            </a:r>
            <a:r>
              <a:rPr lang="zh-CN" altLang="en-US" dirty="0">
                <a:latin typeface="华文中宋" panose="02010600040101010101" pitchFamily="2" charset="-122"/>
                <a:ea typeface="华文中宋" panose="02010600040101010101" pitchFamily="2" charset="-122"/>
              </a:rPr>
              <a:t>周期的相比变化不大。</a:t>
            </a:r>
          </a:p>
        </p:txBody>
      </p:sp>
      <p:sp>
        <p:nvSpPr>
          <p:cNvPr id="6" name="文本框 5">
            <a:extLst>
              <a:ext uri="{FF2B5EF4-FFF2-40B4-BE49-F238E27FC236}">
                <a16:creationId xmlns:a16="http://schemas.microsoft.com/office/drawing/2014/main" id="{A83C55B9-2902-4C05-9D9A-A6E876054D6D}"/>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8" name="文本框 7">
            <a:extLst>
              <a:ext uri="{FF2B5EF4-FFF2-40B4-BE49-F238E27FC236}">
                <a16:creationId xmlns:a16="http://schemas.microsoft.com/office/drawing/2014/main" id="{007FD41A-6D4B-49A9-952E-58886E99F5F7}"/>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3630380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640175"/>
          </a:xfrm>
          <a:prstGeom prst="rect">
            <a:avLst/>
          </a:prstGeom>
          <a:noFill/>
        </p:spPr>
        <p:txBody>
          <a:bodyPr wrap="square" rtlCol="0">
            <a:spAutoFit/>
          </a:bodyPr>
          <a:lstStyle/>
          <a:p>
            <a:pPr algn="just">
              <a:lnSpc>
                <a:spcPts val="2200"/>
              </a:lnSpc>
            </a:pPr>
            <a:r>
              <a:rPr lang="en-US" altLang="zh-CN" dirty="0">
                <a:latin typeface="Times New Roman" panose="02020603050405020304" pitchFamily="18" charset="0"/>
                <a:cs typeface="Times New Roman" panose="02020603050405020304" pitchFamily="18" charset="0"/>
              </a:rPr>
              <a:t>8.4 Rationalize the trends in the atomic radii of the Group 2 elements given in the table (the radius given for element 120 is based on a calculation, rather than experiment).</a:t>
            </a:r>
            <a:endParaRPr lang="zh-CN" altLang="en-US"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7EB9D009-51F2-4F51-89EB-374B8D97C830}"/>
              </a:ext>
            </a:extLst>
          </p:cNvPr>
          <p:cNvPicPr>
            <a:picLocks noChangeAspect="1"/>
          </p:cNvPicPr>
          <p:nvPr/>
        </p:nvPicPr>
        <p:blipFill>
          <a:blip r:embed="rId4"/>
          <a:stretch>
            <a:fillRect/>
          </a:stretch>
        </p:blipFill>
        <p:spPr>
          <a:xfrm>
            <a:off x="2399784" y="877439"/>
            <a:ext cx="7392432" cy="885949"/>
          </a:xfrm>
          <a:prstGeom prst="rect">
            <a:avLst/>
          </a:prstGeom>
        </p:spPr>
      </p:pic>
      <p:sp>
        <p:nvSpPr>
          <p:cNvPr id="7" name="文本框 6">
            <a:extLst>
              <a:ext uri="{FF2B5EF4-FFF2-40B4-BE49-F238E27FC236}">
                <a16:creationId xmlns:a16="http://schemas.microsoft.com/office/drawing/2014/main" id="{F3FF9D98-8ECD-4DEE-B117-732A2F752A91}"/>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8" name="文本框 7">
            <a:extLst>
              <a:ext uri="{FF2B5EF4-FFF2-40B4-BE49-F238E27FC236}">
                <a16:creationId xmlns:a16="http://schemas.microsoft.com/office/drawing/2014/main" id="{81CC3597-B62C-4AD8-A3AC-D232F6841C50}"/>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3171444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363946"/>
          </a:xfrm>
          <a:prstGeom prst="rect">
            <a:avLst/>
          </a:prstGeom>
          <a:noFill/>
        </p:spPr>
        <p:txBody>
          <a:bodyPr wrap="square" rtlCol="0">
            <a:spAutoFit/>
          </a:bodyPr>
          <a:lstStyle/>
          <a:p>
            <a:pPr algn="just">
              <a:lnSpc>
                <a:spcPts val="2200"/>
              </a:lnSpc>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8.4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使表中给出的第</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主族的元素的原子半径趋势合理化</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第</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120</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号元素的半径是基于计算，而不是基于实验</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a:t>
            </a:r>
          </a:p>
        </p:txBody>
      </p:sp>
      <p:pic>
        <p:nvPicPr>
          <p:cNvPr id="3" name="图片 2">
            <a:extLst>
              <a:ext uri="{FF2B5EF4-FFF2-40B4-BE49-F238E27FC236}">
                <a16:creationId xmlns:a16="http://schemas.microsoft.com/office/drawing/2014/main" id="{7EB9D009-51F2-4F51-89EB-374B8D97C830}"/>
              </a:ext>
            </a:extLst>
          </p:cNvPr>
          <p:cNvPicPr>
            <a:picLocks noChangeAspect="1"/>
          </p:cNvPicPr>
          <p:nvPr/>
        </p:nvPicPr>
        <p:blipFill>
          <a:blip r:embed="rId4"/>
          <a:stretch>
            <a:fillRect/>
          </a:stretch>
        </p:blipFill>
        <p:spPr>
          <a:xfrm>
            <a:off x="2399784" y="877439"/>
            <a:ext cx="7392432" cy="885949"/>
          </a:xfrm>
          <a:prstGeom prst="rect">
            <a:avLst/>
          </a:prstGeom>
        </p:spPr>
      </p:pic>
      <p:sp>
        <p:nvSpPr>
          <p:cNvPr id="6" name="文本框 5">
            <a:extLst>
              <a:ext uri="{FF2B5EF4-FFF2-40B4-BE49-F238E27FC236}">
                <a16:creationId xmlns:a16="http://schemas.microsoft.com/office/drawing/2014/main" id="{F894E7EB-01D5-4F23-B8F4-758013ED4D76}"/>
              </a:ext>
            </a:extLst>
          </p:cNvPr>
          <p:cNvSpPr txBox="1"/>
          <p:nvPr/>
        </p:nvSpPr>
        <p:spPr>
          <a:xfrm>
            <a:off x="0" y="1991015"/>
            <a:ext cx="12192000" cy="2536272"/>
          </a:xfrm>
          <a:prstGeom prst="rect">
            <a:avLst/>
          </a:prstGeom>
          <a:noFill/>
        </p:spPr>
        <p:txBody>
          <a:bodyPr wrap="square">
            <a:spAutoFit/>
          </a:bodyPr>
          <a:lstStyle/>
          <a:p>
            <a:pPr algn="just">
              <a:lnSpc>
                <a:spcPct val="150000"/>
              </a:lnSpc>
            </a:pPr>
            <a:r>
              <a:rPr lang="zh-CN"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答：</a:t>
            </a:r>
          </a:p>
          <a:p>
            <a:pPr indent="266700" algn="just">
              <a:lnSpc>
                <a:spcPct val="150000"/>
              </a:lnSpc>
            </a:pPr>
            <a:r>
              <a:rPr lang="en-US"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(1) </a:t>
            </a:r>
            <a:r>
              <a:rPr lang="zh-CN"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在系列</a:t>
            </a:r>
            <a:r>
              <a:rPr lang="en-US"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 Be → Mg → Ca </a:t>
            </a:r>
            <a:r>
              <a:rPr lang="zh-CN"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中，有效核电荷（</a:t>
            </a:r>
            <a:r>
              <a:rPr lang="en-US"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Z</a:t>
            </a:r>
            <a:r>
              <a:rPr lang="en-US" altLang="zh-CN" sz="1800" kern="100" baseline="-25000" dirty="0">
                <a:effectLst/>
                <a:latin typeface="华文中宋" panose="02010600040101010101" pitchFamily="2" charset="-122"/>
                <a:ea typeface="华文中宋" panose="02010600040101010101" pitchFamily="2" charset="-122"/>
                <a:cs typeface="Times New Roman" panose="02020603050405020304" pitchFamily="18" charset="0"/>
              </a:rPr>
              <a:t>eff</a:t>
            </a:r>
            <a:r>
              <a:rPr lang="zh-CN"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）增加，但价电子位于</a:t>
            </a:r>
            <a:r>
              <a:rPr lang="en-US"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n</a:t>
            </a:r>
            <a:r>
              <a:rPr lang="zh-CN"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值增加的壳层中。 原子半径与</a:t>
            </a:r>
            <a:r>
              <a:rPr lang="en-US"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 (n</a:t>
            </a:r>
            <a:r>
              <a:rPr lang="en-US" altLang="zh-CN" sz="1800" kern="100" baseline="30000" dirty="0">
                <a:effectLst/>
                <a:latin typeface="华文中宋" panose="02010600040101010101" pitchFamily="2" charset="-122"/>
                <a:ea typeface="华文中宋" panose="02010600040101010101" pitchFamily="2" charset="-122"/>
                <a:cs typeface="Times New Roman" panose="02020603050405020304" pitchFamily="18" charset="0"/>
              </a:rPr>
              <a:t>2</a:t>
            </a:r>
            <a:r>
              <a:rPr lang="en-US"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/Z</a:t>
            </a:r>
            <a:r>
              <a:rPr lang="en-US" altLang="zh-CN" sz="1800" kern="100" baseline="-25000" dirty="0">
                <a:effectLst/>
                <a:latin typeface="华文中宋" panose="02010600040101010101" pitchFamily="2" charset="-122"/>
                <a:ea typeface="华文中宋" panose="02010600040101010101" pitchFamily="2" charset="-122"/>
                <a:cs typeface="Times New Roman" panose="02020603050405020304" pitchFamily="18" charset="0"/>
              </a:rPr>
              <a:t>eff</a:t>
            </a:r>
            <a:r>
              <a:rPr lang="en-US"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 </a:t>
            </a:r>
            <a:r>
              <a:rPr lang="zh-CN"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成正比，而在这个系列中，</a:t>
            </a:r>
            <a:r>
              <a:rPr lang="en-US"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 n</a:t>
            </a:r>
            <a:r>
              <a:rPr lang="en-US" altLang="zh-CN" sz="1800" kern="100" baseline="30000" dirty="0">
                <a:effectLst/>
                <a:latin typeface="华文中宋" panose="02010600040101010101" pitchFamily="2" charset="-122"/>
                <a:ea typeface="华文中宋" panose="02010600040101010101" pitchFamily="2" charset="-122"/>
                <a:cs typeface="Times New Roman" panose="02020603050405020304" pitchFamily="18" charset="0"/>
              </a:rPr>
              <a:t>2</a:t>
            </a:r>
            <a:r>
              <a:rPr lang="en-US"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 ) </a:t>
            </a:r>
            <a:r>
              <a:rPr lang="zh-CN"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项是主导因素。</a:t>
            </a:r>
          </a:p>
          <a:p>
            <a:pPr indent="266700" algn="just">
              <a:lnSpc>
                <a:spcPct val="150000"/>
              </a:lnSpc>
            </a:pPr>
            <a:r>
              <a:rPr lang="en-US"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(2) </a:t>
            </a:r>
            <a:r>
              <a:rPr lang="zh-CN"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在系列</a:t>
            </a:r>
            <a:r>
              <a:rPr lang="en-US"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 Ca → Sr → Ba </a:t>
            </a:r>
            <a:r>
              <a:rPr lang="zh-CN"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中，由于需要填充</a:t>
            </a:r>
            <a:r>
              <a:rPr lang="en-US"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d</a:t>
            </a:r>
            <a:r>
              <a:rPr lang="zh-CN"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区，</a:t>
            </a:r>
            <a:r>
              <a:rPr lang="en-US"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Z</a:t>
            </a:r>
            <a:r>
              <a:rPr lang="en-US" altLang="zh-CN" sz="1800" kern="100" baseline="-25000" dirty="0">
                <a:effectLst/>
                <a:latin typeface="华文中宋" panose="02010600040101010101" pitchFamily="2" charset="-122"/>
                <a:ea typeface="华文中宋" panose="02010600040101010101" pitchFamily="2" charset="-122"/>
                <a:cs typeface="Times New Roman" panose="02020603050405020304" pitchFamily="18" charset="0"/>
              </a:rPr>
              <a:t>eff</a:t>
            </a:r>
            <a:r>
              <a:rPr lang="zh-CN"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有额外的增加。这导致尺寸增加的幅度比之前小。</a:t>
            </a:r>
          </a:p>
          <a:p>
            <a:pPr indent="266700" algn="just">
              <a:lnSpc>
                <a:spcPct val="150000"/>
              </a:lnSpc>
            </a:pPr>
            <a:r>
              <a:rPr lang="en-US"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(3) </a:t>
            </a:r>
            <a:r>
              <a:rPr lang="zh-CN"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在系列</a:t>
            </a:r>
            <a:r>
              <a:rPr lang="en-US"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 Ba → Ra → </a:t>
            </a:r>
            <a:r>
              <a:rPr lang="zh-CN"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元素</a:t>
            </a:r>
            <a:r>
              <a:rPr lang="en-US"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120</a:t>
            </a:r>
            <a:r>
              <a:rPr lang="zh-CN"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中，尺寸实际上开始减小。这再次是由于填充</a:t>
            </a:r>
            <a:r>
              <a:rPr lang="en-US"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f</a:t>
            </a:r>
            <a:r>
              <a:rPr lang="zh-CN"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区导致</a:t>
            </a:r>
            <a:r>
              <a:rPr lang="en-US"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Z</a:t>
            </a:r>
            <a:r>
              <a:rPr lang="en-US" altLang="zh-CN" sz="1800" kern="100" baseline="-25000" dirty="0">
                <a:effectLst/>
                <a:latin typeface="华文中宋" panose="02010600040101010101" pitchFamily="2" charset="-122"/>
                <a:ea typeface="华文中宋" panose="02010600040101010101" pitchFamily="2" charset="-122"/>
                <a:cs typeface="Times New Roman" panose="02020603050405020304" pitchFamily="18" charset="0"/>
              </a:rPr>
              <a:t>eff</a:t>
            </a:r>
            <a:r>
              <a:rPr lang="zh-CN"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的进一步增加。相对论效应</a:t>
            </a:r>
            <a:r>
              <a:rPr lang="zh-CN" altLang="en-US" sz="1800" kern="100" dirty="0">
                <a:effectLst/>
                <a:latin typeface="华文中宋" panose="02010600040101010101" pitchFamily="2" charset="-122"/>
                <a:ea typeface="华文中宋" panose="02010600040101010101" pitchFamily="2" charset="-122"/>
                <a:cs typeface="Times New Roman" panose="02020603050405020304" pitchFamily="18" charset="0"/>
              </a:rPr>
              <a:t>更加显著</a:t>
            </a:r>
            <a:r>
              <a:rPr lang="zh-CN"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，导致</a:t>
            </a:r>
            <a:r>
              <a:rPr lang="en-US"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7s</a:t>
            </a:r>
            <a:r>
              <a:rPr lang="zh-CN"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（在</a:t>
            </a:r>
            <a:r>
              <a:rPr lang="en-US"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Ra</a:t>
            </a:r>
            <a:r>
              <a:rPr lang="zh-CN"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中）和</a:t>
            </a:r>
            <a:r>
              <a:rPr lang="en-US"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8s</a:t>
            </a:r>
            <a:r>
              <a:rPr lang="zh-CN"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（在元素</a:t>
            </a:r>
            <a:r>
              <a:rPr lang="en-US"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120</a:t>
            </a:r>
            <a:r>
              <a:rPr lang="zh-CN"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中）轨道的收缩。这对元素</a:t>
            </a:r>
            <a:r>
              <a:rPr lang="en-US"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120</a:t>
            </a:r>
            <a:r>
              <a:rPr lang="zh-CN" altLang="zh-CN" sz="1800" kern="100" dirty="0">
                <a:effectLst/>
                <a:latin typeface="华文中宋" panose="02010600040101010101" pitchFamily="2" charset="-122"/>
                <a:ea typeface="华文中宋" panose="02010600040101010101" pitchFamily="2" charset="-122"/>
                <a:cs typeface="Times New Roman" panose="02020603050405020304" pitchFamily="18" charset="0"/>
              </a:rPr>
              <a:t>尤其重要。</a:t>
            </a:r>
          </a:p>
        </p:txBody>
      </p:sp>
      <p:sp>
        <p:nvSpPr>
          <p:cNvPr id="8" name="文本框 7">
            <a:extLst>
              <a:ext uri="{FF2B5EF4-FFF2-40B4-BE49-F238E27FC236}">
                <a16:creationId xmlns:a16="http://schemas.microsoft.com/office/drawing/2014/main" id="{695799DF-36C4-408E-B0EB-984CC2FF6788}"/>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9" name="文本框 8">
            <a:extLst>
              <a:ext uri="{FF2B5EF4-FFF2-40B4-BE49-F238E27FC236}">
                <a16:creationId xmlns:a16="http://schemas.microsoft.com/office/drawing/2014/main" id="{D59D885C-34E4-4E8F-A26E-35188B8AC94D}"/>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231135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922304"/>
          </a:xfrm>
          <a:prstGeom prst="rect">
            <a:avLst/>
          </a:prstGeom>
          <a:noFill/>
        </p:spPr>
        <p:txBody>
          <a:bodyPr wrap="square" rtlCol="0">
            <a:spAutoFit/>
          </a:bodyPr>
          <a:lstStyle/>
          <a:p>
            <a:pPr algn="just">
              <a:lnSpc>
                <a:spcPts val="2200"/>
              </a:lnSpc>
            </a:pPr>
            <a:r>
              <a:rPr lang="en-US" altLang="zh-CN" dirty="0">
                <a:latin typeface="Times New Roman" panose="02020603050405020304" pitchFamily="18" charset="0"/>
                <a:cs typeface="Times New Roman" panose="02020603050405020304" pitchFamily="18" charset="0"/>
              </a:rPr>
              <a:t>8.5 When metallic gold is exposed a </a:t>
            </a:r>
            <a:r>
              <a:rPr lang="en-US" altLang="zh-CN" dirty="0" err="1">
                <a:latin typeface="Times New Roman" panose="02020603050405020304" pitchFamily="18" charset="0"/>
                <a:cs typeface="Times New Roman" panose="02020603050405020304" pitchFamily="18" charset="0"/>
              </a:rPr>
              <a:t>caesium</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vapour</a:t>
            </a:r>
            <a:r>
              <a:rPr lang="en-US" altLang="zh-CN" dirty="0">
                <a:latin typeface="Times New Roman" panose="02020603050405020304" pitchFamily="18" charset="0"/>
                <a:cs typeface="Times New Roman" panose="02020603050405020304" pitchFamily="18" charset="0"/>
              </a:rPr>
              <a:t> a solid compound with formula </a:t>
            </a:r>
            <a:r>
              <a:rPr lang="en-US" altLang="zh-CN" dirty="0" err="1">
                <a:latin typeface="Times New Roman" panose="02020603050405020304" pitchFamily="18" charset="0"/>
                <a:cs typeface="Times New Roman" panose="02020603050405020304" pitchFamily="18" charset="0"/>
              </a:rPr>
              <a:t>CsAu</a:t>
            </a:r>
            <a:r>
              <a:rPr lang="en-US" altLang="zh-CN" dirty="0">
                <a:latin typeface="Times New Roman" panose="02020603050405020304" pitchFamily="18" charset="0"/>
                <a:cs typeface="Times New Roman" panose="02020603050405020304" pitchFamily="18" charset="0"/>
              </a:rPr>
              <a:t> is formed; the solid is a poor conductor of electricity, but the conductivity rises sharply when the solid is molten. Discuss the likely nature of the bonding in this compound. Would you expect to be able to form a similar compound from the reaction of silver with </a:t>
            </a:r>
            <a:r>
              <a:rPr lang="en-US" altLang="zh-CN" dirty="0" err="1">
                <a:latin typeface="Times New Roman" panose="02020603050405020304" pitchFamily="18" charset="0"/>
                <a:cs typeface="Times New Roman" panose="02020603050405020304" pitchFamily="18" charset="0"/>
              </a:rPr>
              <a:t>caesium</a:t>
            </a: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CCC72189-881A-48EF-9EE2-FEEC1FC04C82}"/>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7" name="文本框 6">
            <a:extLst>
              <a:ext uri="{FF2B5EF4-FFF2-40B4-BE49-F238E27FC236}">
                <a16:creationId xmlns:a16="http://schemas.microsoft.com/office/drawing/2014/main" id="{61B80143-9752-4142-B34D-B927E73E0DB2}"/>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1881862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646074"/>
          </a:xfrm>
          <a:prstGeom prst="rect">
            <a:avLst/>
          </a:prstGeom>
          <a:noFill/>
        </p:spPr>
        <p:txBody>
          <a:bodyPr wrap="square" rtlCol="0">
            <a:spAutoFit/>
          </a:bodyPr>
          <a:lstStyle/>
          <a:p>
            <a:pPr algn="just">
              <a:lnSpc>
                <a:spcPts val="2200"/>
              </a:lnSpc>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8.5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当金属金暴露在铯蒸气中时，会形成化学式为</a:t>
            </a:r>
            <a:r>
              <a:rPr lang="en-US" altLang="zh-CN" dirty="0" err="1">
                <a:latin typeface="华文中宋" panose="02010600040101010101" pitchFamily="2" charset="-122"/>
                <a:ea typeface="华文中宋" panose="02010600040101010101" pitchFamily="2" charset="-122"/>
                <a:cs typeface="Times New Roman" panose="02020603050405020304" pitchFamily="18" charset="0"/>
              </a:rPr>
              <a:t>CsAu</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的固体化合物；该固体电导性较差，但当固体熔化时，导电性急剧上升。讨论这种化合物中键合的可能性质。并且你认为能否通过银与铯的反应形成类似的化合物？</a:t>
            </a:r>
          </a:p>
        </p:txBody>
      </p:sp>
      <p:sp>
        <p:nvSpPr>
          <p:cNvPr id="2" name="文本框 1">
            <a:extLst>
              <a:ext uri="{FF2B5EF4-FFF2-40B4-BE49-F238E27FC236}">
                <a16:creationId xmlns:a16="http://schemas.microsoft.com/office/drawing/2014/main" id="{3F62C72E-2919-4CF4-9103-BAC887C169A4}"/>
              </a:ext>
            </a:extLst>
          </p:cNvPr>
          <p:cNvSpPr txBox="1"/>
          <p:nvPr/>
        </p:nvSpPr>
        <p:spPr>
          <a:xfrm>
            <a:off x="1" y="1194282"/>
            <a:ext cx="12191999" cy="2951770"/>
          </a:xfrm>
          <a:prstGeom prst="rect">
            <a:avLst/>
          </a:prstGeom>
          <a:noFill/>
        </p:spPr>
        <p:txBody>
          <a:bodyPr wrap="square" rtlCol="0">
            <a:spAutoFit/>
          </a:bodyPr>
          <a:lstStyle/>
          <a:p>
            <a:pPr algn="just">
              <a:lnSpc>
                <a:spcPct val="150000"/>
              </a:lnSpc>
            </a:pPr>
            <a:r>
              <a:rPr lang="zh-CN" altLang="en-US" dirty="0">
                <a:latin typeface="华文中宋" panose="02010600040101010101" pitchFamily="2" charset="-122"/>
                <a:ea typeface="华文中宋" panose="02010600040101010101" pitchFamily="2" charset="-122"/>
              </a:rPr>
              <a:t>答：</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b="0" i="0" dirty="0">
                <a:solidFill>
                  <a:srgbClr val="111111"/>
                </a:solidFill>
                <a:effectLst/>
                <a:latin typeface="华文中宋" panose="02010600040101010101" pitchFamily="2" charset="-122"/>
                <a:ea typeface="华文中宋" panose="02010600040101010101" pitchFamily="2" charset="-122"/>
              </a:rPr>
              <a:t>(1) </a:t>
            </a:r>
            <a:r>
              <a:rPr lang="zh-CN" altLang="en-US" b="0" i="0" dirty="0">
                <a:solidFill>
                  <a:srgbClr val="111111"/>
                </a:solidFill>
                <a:effectLst/>
                <a:latin typeface="华文中宋" panose="02010600040101010101" pitchFamily="2" charset="-122"/>
                <a:ea typeface="华文中宋" panose="02010600040101010101" pitchFamily="2" charset="-122"/>
              </a:rPr>
              <a:t>由于</a:t>
            </a:r>
            <a:r>
              <a:rPr lang="zh-CN" altLang="en-US" b="1" i="0" dirty="0">
                <a:solidFill>
                  <a:srgbClr val="43E1E5"/>
                </a:solidFill>
                <a:effectLst/>
                <a:latin typeface="华文中宋" panose="02010600040101010101" pitchFamily="2" charset="-122"/>
                <a:ea typeface="华文中宋" panose="02010600040101010101" pitchFamily="2" charset="-122"/>
              </a:rPr>
              <a:t>金的电子亲和力较高</a:t>
            </a:r>
            <a:r>
              <a:rPr lang="zh-CN" altLang="en-US" b="0" i="0" dirty="0">
                <a:solidFill>
                  <a:srgbClr val="111111"/>
                </a:solidFill>
                <a:effectLst/>
                <a:latin typeface="华文中宋" panose="02010600040101010101" pitchFamily="2" charset="-122"/>
                <a:ea typeface="华文中宋" panose="02010600040101010101" pitchFamily="2" charset="-122"/>
              </a:rPr>
              <a:t>，金属金暴露在铯蒸气中时形成的</a:t>
            </a:r>
            <a:r>
              <a:rPr lang="en-US" altLang="zh-CN" b="0" i="0" dirty="0" err="1">
                <a:solidFill>
                  <a:srgbClr val="111111"/>
                </a:solidFill>
                <a:effectLst/>
                <a:latin typeface="华文中宋" panose="02010600040101010101" pitchFamily="2" charset="-122"/>
                <a:ea typeface="华文中宋" panose="02010600040101010101" pitchFamily="2" charset="-122"/>
              </a:rPr>
              <a:t>CsAu</a:t>
            </a:r>
            <a:r>
              <a:rPr lang="zh-CN" altLang="en-US" b="0" i="0" dirty="0">
                <a:solidFill>
                  <a:srgbClr val="111111"/>
                </a:solidFill>
                <a:effectLst/>
                <a:latin typeface="华文中宋" panose="02010600040101010101" pitchFamily="2" charset="-122"/>
                <a:ea typeface="华文中宋" panose="02010600040101010101" pitchFamily="2" charset="-122"/>
              </a:rPr>
              <a:t>固体化合物是一种</a:t>
            </a:r>
            <a:r>
              <a:rPr lang="zh-CN" altLang="en-US" b="1" i="0" dirty="0">
                <a:solidFill>
                  <a:srgbClr val="B970DE"/>
                </a:solidFill>
                <a:effectLst/>
                <a:latin typeface="华文中宋" panose="02010600040101010101" pitchFamily="2" charset="-122"/>
                <a:ea typeface="华文中宋" panose="02010600040101010101" pitchFamily="2" charset="-122"/>
              </a:rPr>
              <a:t>离子化合物，其中含有罕见的</a:t>
            </a:r>
            <a:r>
              <a:rPr lang="en-US" altLang="zh-CN" b="1" i="0" dirty="0">
                <a:solidFill>
                  <a:srgbClr val="B970DE"/>
                </a:solidFill>
                <a:effectLst/>
                <a:latin typeface="华文中宋" panose="02010600040101010101" pitchFamily="2" charset="-122"/>
                <a:ea typeface="华文中宋" panose="02010600040101010101" pitchFamily="2" charset="-122"/>
              </a:rPr>
              <a:t>Au</a:t>
            </a:r>
            <a:r>
              <a:rPr lang="en-US" altLang="zh-CN" b="1" i="0" baseline="30000" dirty="0">
                <a:solidFill>
                  <a:srgbClr val="B970DE"/>
                </a:solidFill>
                <a:effectLst/>
                <a:latin typeface="华文中宋" panose="02010600040101010101" pitchFamily="2" charset="-122"/>
                <a:ea typeface="华文中宋" panose="02010600040101010101" pitchFamily="2" charset="-122"/>
              </a:rPr>
              <a:t>-</a:t>
            </a:r>
            <a:r>
              <a:rPr lang="zh-CN" altLang="en-US" b="1" i="0" dirty="0">
                <a:solidFill>
                  <a:srgbClr val="B970DE"/>
                </a:solidFill>
                <a:effectLst/>
                <a:latin typeface="华文中宋" panose="02010600040101010101" pitchFamily="2" charset="-122"/>
                <a:ea typeface="华文中宋" panose="02010600040101010101" pitchFamily="2" charset="-122"/>
              </a:rPr>
              <a:t>离子</a:t>
            </a:r>
            <a:r>
              <a:rPr lang="zh-CN" altLang="en-US" b="0" i="0" dirty="0">
                <a:solidFill>
                  <a:srgbClr val="111111"/>
                </a:solidFill>
                <a:effectLst/>
                <a:latin typeface="华文中宋" panose="02010600040101010101" pitchFamily="2" charset="-122"/>
                <a:ea typeface="华文中宋" panose="02010600040101010101" pitchFamily="2" charset="-122"/>
              </a:rPr>
              <a:t>。这种化合物的形成是由金和铯在加热条件下以</a:t>
            </a:r>
            <a:r>
              <a:rPr lang="en-US" altLang="zh-CN" b="0" i="0" dirty="0">
                <a:solidFill>
                  <a:srgbClr val="111111"/>
                </a:solidFill>
                <a:effectLst/>
                <a:latin typeface="华文中宋" panose="02010600040101010101" pitchFamily="2" charset="-122"/>
                <a:ea typeface="华文中宋" panose="02010600040101010101" pitchFamily="2" charset="-122"/>
              </a:rPr>
              <a:t>1:1</a:t>
            </a:r>
            <a:r>
              <a:rPr lang="zh-CN" altLang="en-US" b="0" i="0" dirty="0">
                <a:solidFill>
                  <a:srgbClr val="111111"/>
                </a:solidFill>
                <a:effectLst/>
                <a:latin typeface="华文中宋" panose="02010600040101010101" pitchFamily="2" charset="-122"/>
                <a:ea typeface="华文中宋" panose="02010600040101010101" pitchFamily="2" charset="-122"/>
              </a:rPr>
              <a:t>的计量比反应而成的。在固态时，</a:t>
            </a:r>
            <a:r>
              <a:rPr lang="en-US" altLang="zh-CN" b="0" i="0" dirty="0" err="1">
                <a:solidFill>
                  <a:srgbClr val="111111"/>
                </a:solidFill>
                <a:effectLst/>
                <a:latin typeface="华文中宋" panose="02010600040101010101" pitchFamily="2" charset="-122"/>
                <a:ea typeface="华文中宋" panose="02010600040101010101" pitchFamily="2" charset="-122"/>
              </a:rPr>
              <a:t>CsAu</a:t>
            </a:r>
            <a:r>
              <a:rPr lang="zh-CN" altLang="en-US" b="0" i="0" dirty="0">
                <a:solidFill>
                  <a:srgbClr val="111111"/>
                </a:solidFill>
                <a:effectLst/>
                <a:latin typeface="华文中宋" panose="02010600040101010101" pitchFamily="2" charset="-122"/>
                <a:ea typeface="华文中宋" panose="02010600040101010101" pitchFamily="2" charset="-122"/>
              </a:rPr>
              <a:t>表现出</a:t>
            </a:r>
            <a:r>
              <a:rPr lang="zh-CN" altLang="en-US" b="1" i="0" dirty="0">
                <a:solidFill>
                  <a:srgbClr val="28A484"/>
                </a:solidFill>
                <a:effectLst/>
                <a:latin typeface="华文中宋" panose="02010600040101010101" pitchFamily="2" charset="-122"/>
                <a:ea typeface="华文中宋" panose="02010600040101010101" pitchFamily="2" charset="-122"/>
              </a:rPr>
              <a:t>半导体性质</a:t>
            </a:r>
            <a:r>
              <a:rPr lang="zh-CN" altLang="en-US" b="0" i="0" dirty="0">
                <a:solidFill>
                  <a:srgbClr val="111111"/>
                </a:solidFill>
                <a:effectLst/>
                <a:latin typeface="华文中宋" panose="02010600040101010101" pitchFamily="2" charset="-122"/>
                <a:ea typeface="华文中宋" panose="02010600040101010101" pitchFamily="2" charset="-122"/>
              </a:rPr>
              <a:t>，具有较大的带隙（</a:t>
            </a:r>
            <a:r>
              <a:rPr lang="en-US" altLang="zh-CN" b="0" i="0" dirty="0">
                <a:solidFill>
                  <a:srgbClr val="111111"/>
                </a:solidFill>
                <a:effectLst/>
                <a:latin typeface="华文中宋" panose="02010600040101010101" pitchFamily="2" charset="-122"/>
                <a:ea typeface="华文中宋" panose="02010600040101010101" pitchFamily="2" charset="-122"/>
              </a:rPr>
              <a:t>2.6eV</a:t>
            </a:r>
            <a:r>
              <a:rPr lang="zh-CN" altLang="en-US" b="0" i="0" dirty="0">
                <a:solidFill>
                  <a:srgbClr val="111111"/>
                </a:solidFill>
                <a:effectLst/>
                <a:latin typeface="华文中宋" panose="02010600040101010101" pitchFamily="2" charset="-122"/>
                <a:ea typeface="华文中宋" panose="02010600040101010101" pitchFamily="2" charset="-122"/>
              </a:rPr>
              <a:t>），因此电导性较差。但当这种固体熔化时，</a:t>
            </a:r>
            <a:r>
              <a:rPr lang="zh-CN" altLang="en-US" b="1" i="0" dirty="0">
                <a:solidFill>
                  <a:srgbClr val="27D2DB"/>
                </a:solidFill>
                <a:effectLst/>
                <a:latin typeface="华文中宋" panose="02010600040101010101" pitchFamily="2" charset="-122"/>
                <a:ea typeface="华文中宋" panose="02010600040101010101" pitchFamily="2" charset="-122"/>
              </a:rPr>
              <a:t>离子的移动性增加，导致导电性急剧上升</a:t>
            </a:r>
            <a:r>
              <a:rPr lang="zh-CN" altLang="en-US" b="0" i="0" dirty="0">
                <a:solidFill>
                  <a:srgbClr val="111111"/>
                </a:solidFill>
                <a:effectLst/>
                <a:latin typeface="华文中宋" panose="02010600040101010101" pitchFamily="2" charset="-122"/>
                <a:ea typeface="华文中宋" panose="02010600040101010101" pitchFamily="2" charset="-122"/>
              </a:rPr>
              <a:t>。</a:t>
            </a:r>
          </a:p>
          <a:p>
            <a:pPr algn="just">
              <a:lnSpc>
                <a:spcPct val="150000"/>
              </a:lnSpc>
            </a:pPr>
            <a:r>
              <a:rPr lang="en-US" altLang="zh-CN" b="0" i="0" dirty="0">
                <a:solidFill>
                  <a:srgbClr val="111111"/>
                </a:solidFill>
                <a:effectLst/>
                <a:latin typeface="华文中宋" panose="02010600040101010101" pitchFamily="2" charset="-122"/>
                <a:ea typeface="华文中宋" panose="02010600040101010101" pitchFamily="2" charset="-122"/>
              </a:rPr>
              <a:t>(2) </a:t>
            </a:r>
            <a:r>
              <a:rPr lang="zh-CN" altLang="en-US" b="0" i="0" dirty="0">
                <a:solidFill>
                  <a:srgbClr val="111111"/>
                </a:solidFill>
                <a:effectLst/>
                <a:latin typeface="华文中宋" panose="02010600040101010101" pitchFamily="2" charset="-122"/>
                <a:ea typeface="华文中宋" panose="02010600040101010101" pitchFamily="2" charset="-122"/>
              </a:rPr>
              <a:t>在</a:t>
            </a:r>
            <a:r>
              <a:rPr lang="en-US" altLang="zh-CN" b="0" i="0" dirty="0" err="1">
                <a:solidFill>
                  <a:srgbClr val="111111"/>
                </a:solidFill>
                <a:effectLst/>
                <a:latin typeface="华文中宋" panose="02010600040101010101" pitchFamily="2" charset="-122"/>
                <a:ea typeface="华文中宋" panose="02010600040101010101" pitchFamily="2" charset="-122"/>
              </a:rPr>
              <a:t>CsAu</a:t>
            </a:r>
            <a:r>
              <a:rPr lang="zh-CN" altLang="en-US" b="0" i="0" dirty="0">
                <a:solidFill>
                  <a:srgbClr val="111111"/>
                </a:solidFill>
                <a:effectLst/>
                <a:latin typeface="华文中宋" panose="02010600040101010101" pitchFamily="2" charset="-122"/>
                <a:ea typeface="华文中宋" panose="02010600040101010101" pitchFamily="2" charset="-122"/>
              </a:rPr>
              <a:t>中，金通常以</a:t>
            </a:r>
            <a:r>
              <a:rPr lang="en-US" altLang="zh-CN" b="0" i="0" dirty="0">
                <a:solidFill>
                  <a:srgbClr val="111111"/>
                </a:solidFill>
                <a:effectLst/>
                <a:latin typeface="华文中宋" panose="02010600040101010101" pitchFamily="2" charset="-122"/>
                <a:ea typeface="华文中宋" panose="02010600040101010101" pitchFamily="2" charset="-122"/>
              </a:rPr>
              <a:t>Au</a:t>
            </a:r>
            <a:r>
              <a:rPr lang="en-US" altLang="zh-CN" b="0" i="0" baseline="30000" dirty="0">
                <a:solidFill>
                  <a:srgbClr val="111111"/>
                </a:solidFill>
                <a:effectLst/>
                <a:latin typeface="华文中宋" panose="02010600040101010101" pitchFamily="2" charset="-122"/>
                <a:ea typeface="华文中宋" panose="02010600040101010101" pitchFamily="2" charset="-122"/>
              </a:rPr>
              <a:t>-</a:t>
            </a:r>
            <a:r>
              <a:rPr lang="zh-CN" altLang="en-US" b="0" i="0" dirty="0">
                <a:solidFill>
                  <a:srgbClr val="111111"/>
                </a:solidFill>
                <a:effectLst/>
                <a:latin typeface="华文中宋" panose="02010600040101010101" pitchFamily="2" charset="-122"/>
                <a:ea typeface="华文中宋" panose="02010600040101010101" pitchFamily="2" charset="-122"/>
              </a:rPr>
              <a:t>形式存在，这是金的非典型价态，因为金通常在化合物中以正价态出现。在这种情况下，金离子由于原子半径大，极化度高，因此它在空气中和水中都不能稳定存在，遇氧化性物质会生成金单质和铯的化合物。</a:t>
            </a:r>
            <a:endParaRPr lang="en-US" altLang="zh-CN" b="0" i="0" dirty="0">
              <a:solidFill>
                <a:srgbClr val="111111"/>
              </a:solidFill>
              <a:effectLst/>
              <a:latin typeface="华文中宋" panose="02010600040101010101" pitchFamily="2" charset="-122"/>
              <a:ea typeface="华文中宋" panose="02010600040101010101" pitchFamily="2" charset="-122"/>
            </a:endParaRPr>
          </a:p>
          <a:p>
            <a:pPr algn="just">
              <a:lnSpc>
                <a:spcPct val="150000"/>
              </a:lnSpc>
            </a:pPr>
            <a:r>
              <a:rPr lang="en-US" altLang="zh-CN" dirty="0">
                <a:solidFill>
                  <a:srgbClr val="111111"/>
                </a:solidFill>
                <a:latin typeface="华文中宋" panose="02010600040101010101" pitchFamily="2" charset="-122"/>
                <a:ea typeface="华文中宋" panose="02010600040101010101" pitchFamily="2" charset="-122"/>
              </a:rPr>
              <a:t>(3) </a:t>
            </a:r>
            <a:r>
              <a:rPr lang="zh-CN" altLang="en-US" dirty="0">
                <a:solidFill>
                  <a:srgbClr val="111111"/>
                </a:solidFill>
                <a:latin typeface="华文中宋" panose="02010600040101010101" pitchFamily="2" charset="-122"/>
                <a:ea typeface="华文中宋" panose="02010600040101010101" pitchFamily="2" charset="-122"/>
              </a:rPr>
              <a:t>相比之下，银的电子亲和力显著不如金（</a:t>
            </a:r>
            <a:r>
              <a:rPr lang="en-US" altLang="zh-CN" dirty="0">
                <a:solidFill>
                  <a:srgbClr val="111111"/>
                </a:solidFill>
                <a:latin typeface="华文中宋" panose="02010600040101010101" pitchFamily="2" charset="-122"/>
                <a:ea typeface="华文中宋" panose="02010600040101010101" pitchFamily="2" charset="-122"/>
              </a:rPr>
              <a:t>126 kJ mol</a:t>
            </a:r>
            <a:r>
              <a:rPr lang="en-US" altLang="zh-CN" baseline="30000" dirty="0">
                <a:solidFill>
                  <a:srgbClr val="111111"/>
                </a:solidFill>
                <a:latin typeface="华文中宋" panose="02010600040101010101" pitchFamily="2" charset="-122"/>
                <a:ea typeface="华文中宋" panose="02010600040101010101" pitchFamily="2" charset="-122"/>
              </a:rPr>
              <a:t>−1 </a:t>
            </a:r>
            <a:r>
              <a:rPr lang="zh-CN" altLang="en-US" dirty="0">
                <a:solidFill>
                  <a:srgbClr val="111111"/>
                </a:solidFill>
                <a:latin typeface="华文中宋" panose="02010600040101010101" pitchFamily="2" charset="-122"/>
                <a:ea typeface="华文中宋" panose="02010600040101010101" pitchFamily="2" charset="-122"/>
              </a:rPr>
              <a:t>对比于 </a:t>
            </a:r>
            <a:r>
              <a:rPr lang="en-US" altLang="zh-CN" dirty="0">
                <a:solidFill>
                  <a:srgbClr val="111111"/>
                </a:solidFill>
                <a:latin typeface="华文中宋" panose="02010600040101010101" pitchFamily="2" charset="-122"/>
                <a:ea typeface="华文中宋" panose="02010600040101010101" pitchFamily="2" charset="-122"/>
              </a:rPr>
              <a:t>223 kJ mol</a:t>
            </a:r>
            <a:r>
              <a:rPr lang="en-US" altLang="zh-CN" baseline="30000" dirty="0">
                <a:solidFill>
                  <a:srgbClr val="111111"/>
                </a:solidFill>
                <a:latin typeface="华文中宋" panose="02010600040101010101" pitchFamily="2" charset="-122"/>
                <a:ea typeface="华文中宋" panose="02010600040101010101" pitchFamily="2" charset="-122"/>
              </a:rPr>
              <a:t>−1</a:t>
            </a:r>
            <a:r>
              <a:rPr lang="zh-CN" altLang="en-US" dirty="0">
                <a:solidFill>
                  <a:srgbClr val="111111"/>
                </a:solidFill>
                <a:latin typeface="华文中宋" panose="02010600040101010101" pitchFamily="2" charset="-122"/>
                <a:ea typeface="华文中宋" panose="02010600040101010101" pitchFamily="2" charset="-122"/>
              </a:rPr>
              <a:t>）。因此，</a:t>
            </a:r>
            <a:r>
              <a:rPr lang="en-US" altLang="zh-CN" dirty="0" err="1">
                <a:solidFill>
                  <a:srgbClr val="111111"/>
                </a:solidFill>
                <a:latin typeface="华文中宋" panose="02010600040101010101" pitchFamily="2" charset="-122"/>
                <a:ea typeface="华文中宋" panose="02010600040101010101" pitchFamily="2" charset="-122"/>
              </a:rPr>
              <a:t>Cs</a:t>
            </a:r>
            <a:r>
              <a:rPr lang="en-US" altLang="zh-CN" baseline="30000" dirty="0" err="1">
                <a:solidFill>
                  <a:srgbClr val="111111"/>
                </a:solidFill>
                <a:latin typeface="华文中宋" panose="02010600040101010101" pitchFamily="2" charset="-122"/>
                <a:ea typeface="华文中宋" panose="02010600040101010101" pitchFamily="2" charset="-122"/>
              </a:rPr>
              <a:t>+</a:t>
            </a:r>
            <a:r>
              <a:rPr lang="en-US" altLang="zh-CN" dirty="0" err="1">
                <a:solidFill>
                  <a:srgbClr val="111111"/>
                </a:solidFill>
                <a:latin typeface="华文中宋" panose="02010600040101010101" pitchFamily="2" charset="-122"/>
                <a:ea typeface="华文中宋" panose="02010600040101010101" pitchFamily="2" charset="-122"/>
              </a:rPr>
              <a:t>Ag</a:t>
            </a:r>
            <a:r>
              <a:rPr lang="en-US" altLang="zh-CN" baseline="30000" dirty="0">
                <a:solidFill>
                  <a:srgbClr val="111111"/>
                </a:solidFill>
                <a:latin typeface="华文中宋" panose="02010600040101010101" pitchFamily="2" charset="-122"/>
                <a:ea typeface="华文中宋" panose="02010600040101010101" pitchFamily="2" charset="-122"/>
              </a:rPr>
              <a:t>−</a:t>
            </a:r>
            <a:r>
              <a:rPr lang="zh-CN" altLang="en-US" dirty="0">
                <a:solidFill>
                  <a:srgbClr val="111111"/>
                </a:solidFill>
                <a:latin typeface="华文中宋" panose="02010600040101010101" pitchFamily="2" charset="-122"/>
                <a:ea typeface="华文中宋" panose="02010600040101010101" pitchFamily="2" charset="-122"/>
              </a:rPr>
              <a:t>的形成将不太容易。</a:t>
            </a:r>
            <a:endParaRPr lang="zh-CN" altLang="en-US" b="0" i="0" dirty="0">
              <a:solidFill>
                <a:srgbClr val="111111"/>
              </a:solidFill>
              <a:effectLst/>
              <a:latin typeface="华文中宋" panose="02010600040101010101" pitchFamily="2" charset="-122"/>
              <a:ea typeface="华文中宋" panose="02010600040101010101" pitchFamily="2" charset="-122"/>
            </a:endParaRPr>
          </a:p>
        </p:txBody>
      </p:sp>
      <p:sp>
        <p:nvSpPr>
          <p:cNvPr id="6" name="文本框 5">
            <a:extLst>
              <a:ext uri="{FF2B5EF4-FFF2-40B4-BE49-F238E27FC236}">
                <a16:creationId xmlns:a16="http://schemas.microsoft.com/office/drawing/2014/main" id="{0A476DF8-86F8-4EEA-81FC-98EEA4513CF0}"/>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8" name="文本框 7">
            <a:extLst>
              <a:ext uri="{FF2B5EF4-FFF2-40B4-BE49-F238E27FC236}">
                <a16:creationId xmlns:a16="http://schemas.microsoft.com/office/drawing/2014/main" id="{758CA596-8CC7-443C-9478-54027E5AFEA4}"/>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9564153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358047"/>
          </a:xfrm>
          <a:prstGeom prst="rect">
            <a:avLst/>
          </a:prstGeom>
          <a:noFill/>
        </p:spPr>
        <p:txBody>
          <a:bodyPr wrap="square" rtlCol="0">
            <a:spAutoFit/>
          </a:bodyPr>
          <a:lstStyle/>
          <a:p>
            <a:pPr algn="just">
              <a:lnSpc>
                <a:spcPts val="2200"/>
              </a:lnSpc>
            </a:pPr>
            <a:r>
              <a:rPr lang="en-US" altLang="zh-CN" dirty="0">
                <a:latin typeface="Times New Roman" panose="02020603050405020304" pitchFamily="18" charset="0"/>
                <a:cs typeface="Times New Roman" panose="02020603050405020304" pitchFamily="18" charset="0"/>
              </a:rPr>
              <a:t>8.6 Explain the following trends in the bond strengths (in kJ mol</a:t>
            </a:r>
            <a:r>
              <a:rPr lang="en-US" altLang="zh-CN" baseline="30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 of the Group 1 and Group11 </a:t>
            </a:r>
            <a:r>
              <a:rPr lang="en-US" altLang="zh-CN" dirty="0" err="1">
                <a:latin typeface="Times New Roman" panose="02020603050405020304" pitchFamily="18" charset="0"/>
                <a:cs typeface="Times New Roman" panose="02020603050405020304" pitchFamily="18" charset="0"/>
              </a:rPr>
              <a:t>diatomics</a:t>
            </a: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9652FDB9-3AFF-4372-BF0D-45E46DBB52FE}"/>
              </a:ext>
            </a:extLst>
          </p:cNvPr>
          <p:cNvPicPr>
            <a:picLocks noChangeAspect="1"/>
          </p:cNvPicPr>
          <p:nvPr/>
        </p:nvPicPr>
        <p:blipFill>
          <a:blip r:embed="rId4"/>
          <a:stretch>
            <a:fillRect/>
          </a:stretch>
        </p:blipFill>
        <p:spPr>
          <a:xfrm>
            <a:off x="2990416" y="437441"/>
            <a:ext cx="6211167" cy="1943371"/>
          </a:xfrm>
          <a:prstGeom prst="rect">
            <a:avLst/>
          </a:prstGeom>
        </p:spPr>
      </p:pic>
      <p:sp>
        <p:nvSpPr>
          <p:cNvPr id="7" name="文本框 6">
            <a:extLst>
              <a:ext uri="{FF2B5EF4-FFF2-40B4-BE49-F238E27FC236}">
                <a16:creationId xmlns:a16="http://schemas.microsoft.com/office/drawing/2014/main" id="{D92136B2-8DA6-435F-91B0-BC49BDA91F88}"/>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8" name="文本框 7">
            <a:extLst>
              <a:ext uri="{FF2B5EF4-FFF2-40B4-BE49-F238E27FC236}">
                <a16:creationId xmlns:a16="http://schemas.microsoft.com/office/drawing/2014/main" id="{9D757640-B9B0-4CC8-8F7D-19E544B6F893}"/>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1862638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363946"/>
          </a:xfrm>
          <a:prstGeom prst="rect">
            <a:avLst/>
          </a:prstGeom>
          <a:noFill/>
        </p:spPr>
        <p:txBody>
          <a:bodyPr wrap="square" rtlCol="0">
            <a:spAutoFit/>
          </a:bodyPr>
          <a:lstStyle/>
          <a:p>
            <a:pPr algn="just">
              <a:lnSpc>
                <a:spcPts val="2200"/>
              </a:lnSpc>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8.6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解释以下第</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1</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族和第</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11</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族双原子分子的键能（以</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kJ mol</a:t>
            </a:r>
            <a:r>
              <a:rPr lang="en-US" altLang="zh-CN" baseline="30000" dirty="0">
                <a:latin typeface="华文中宋" panose="02010600040101010101" pitchFamily="2" charset="-122"/>
                <a:ea typeface="华文中宋" panose="02010600040101010101" pitchFamily="2" charset="-122"/>
                <a:cs typeface="Times New Roman" panose="02020603050405020304" pitchFamily="18" charset="0"/>
              </a:rPr>
              <a:t>−1</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为单位）的趋势。</a:t>
            </a:r>
          </a:p>
        </p:txBody>
      </p:sp>
      <p:pic>
        <p:nvPicPr>
          <p:cNvPr id="3" name="图片 2">
            <a:extLst>
              <a:ext uri="{FF2B5EF4-FFF2-40B4-BE49-F238E27FC236}">
                <a16:creationId xmlns:a16="http://schemas.microsoft.com/office/drawing/2014/main" id="{9652FDB9-3AFF-4372-BF0D-45E46DBB52FE}"/>
              </a:ext>
            </a:extLst>
          </p:cNvPr>
          <p:cNvPicPr>
            <a:picLocks noChangeAspect="1"/>
          </p:cNvPicPr>
          <p:nvPr/>
        </p:nvPicPr>
        <p:blipFill>
          <a:blip r:embed="rId5"/>
          <a:stretch>
            <a:fillRect/>
          </a:stretch>
        </p:blipFill>
        <p:spPr>
          <a:xfrm>
            <a:off x="2990416" y="567097"/>
            <a:ext cx="6211167" cy="1943371"/>
          </a:xfrm>
          <a:prstGeom prst="rect">
            <a:avLst/>
          </a:prstGeom>
        </p:spPr>
      </p:pic>
      <p:sp>
        <p:nvSpPr>
          <p:cNvPr id="2" name="文本框 1">
            <a:extLst>
              <a:ext uri="{FF2B5EF4-FFF2-40B4-BE49-F238E27FC236}">
                <a16:creationId xmlns:a16="http://schemas.microsoft.com/office/drawing/2014/main" id="{B5B8A07B-81A7-4F0C-89E9-E06546340CE6}"/>
              </a:ext>
            </a:extLst>
          </p:cNvPr>
          <p:cNvSpPr txBox="1"/>
          <p:nvPr/>
        </p:nvSpPr>
        <p:spPr>
          <a:xfrm>
            <a:off x="0" y="2743200"/>
            <a:ext cx="12192000" cy="2951770"/>
          </a:xfrm>
          <a:prstGeom prst="rect">
            <a:avLst/>
          </a:prstGeom>
          <a:noFill/>
        </p:spPr>
        <p:txBody>
          <a:bodyPr wrap="square" rtlCol="0">
            <a:spAutoFit/>
          </a:bodyPr>
          <a:lstStyle/>
          <a:p>
            <a:pPr algn="just">
              <a:lnSpc>
                <a:spcPct val="150000"/>
              </a:lnSpc>
            </a:pPr>
            <a:r>
              <a:rPr lang="zh-CN" altLang="en-US" dirty="0">
                <a:latin typeface="华文中宋" panose="02010600040101010101" pitchFamily="2" charset="-122"/>
                <a:ea typeface="华文中宋" panose="02010600040101010101" pitchFamily="2" charset="-122"/>
              </a:rPr>
              <a:t>答：</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dirty="0">
                <a:latin typeface="华文中宋" panose="02010600040101010101" pitchFamily="2" charset="-122"/>
                <a:ea typeface="华文中宋" panose="02010600040101010101" pitchFamily="2" charset="-122"/>
              </a:rPr>
              <a:t>(1) </a:t>
            </a:r>
            <a:r>
              <a:rPr lang="zh-CN" altLang="en-US" dirty="0">
                <a:latin typeface="华文中宋" panose="02010600040101010101" pitchFamily="2" charset="-122"/>
                <a:ea typeface="华文中宋" panose="02010600040101010101" pitchFamily="2" charset="-122"/>
              </a:rPr>
              <a:t>在第</a:t>
            </a:r>
            <a:r>
              <a:rPr lang="en-US" altLang="zh-CN" dirty="0">
                <a:latin typeface="华文中宋" panose="02010600040101010101" pitchFamily="2" charset="-122"/>
                <a:ea typeface="华文中宋" panose="02010600040101010101" pitchFamily="2" charset="-122"/>
              </a:rPr>
              <a:t>1</a:t>
            </a:r>
            <a:r>
              <a:rPr lang="zh-CN" altLang="en-US" dirty="0">
                <a:latin typeface="华文中宋" panose="02010600040101010101" pitchFamily="2" charset="-122"/>
                <a:ea typeface="华文中宋" panose="02010600040101010101" pitchFamily="2" charset="-122"/>
              </a:rPr>
              <a:t>族元素中，钾（</a:t>
            </a:r>
            <a:r>
              <a:rPr lang="en-US" altLang="zh-CN" dirty="0">
                <a:latin typeface="华文中宋" panose="02010600040101010101" pitchFamily="2" charset="-122"/>
                <a:ea typeface="华文中宋" panose="02010600040101010101" pitchFamily="2" charset="-122"/>
              </a:rPr>
              <a:t>K</a:t>
            </a:r>
            <a:r>
              <a:rPr lang="zh-CN" altLang="en-US" dirty="0">
                <a:latin typeface="华文中宋" panose="02010600040101010101" pitchFamily="2" charset="-122"/>
                <a:ea typeface="华文中宋" panose="02010600040101010101" pitchFamily="2" charset="-122"/>
              </a:rPr>
              <a:t>）至铯（</a:t>
            </a:r>
            <a:r>
              <a:rPr lang="en-US" altLang="zh-CN" dirty="0">
                <a:latin typeface="华文中宋" panose="02010600040101010101" pitchFamily="2" charset="-122"/>
                <a:ea typeface="华文中宋" panose="02010600040101010101" pitchFamily="2" charset="-122"/>
              </a:rPr>
              <a:t>Cs</a:t>
            </a:r>
            <a:r>
              <a:rPr lang="zh-CN" altLang="en-US" dirty="0">
                <a:latin typeface="华文中宋" panose="02010600040101010101" pitchFamily="2" charset="-122"/>
                <a:ea typeface="华文中宋" panose="02010600040101010101" pitchFamily="2" charset="-122"/>
              </a:rPr>
              <a:t>）的主量子数 </a:t>
            </a:r>
            <a:r>
              <a:rPr lang="en-US" altLang="zh-CN" dirty="0">
                <a:latin typeface="华文中宋" panose="02010600040101010101" pitchFamily="2" charset="-122"/>
                <a:ea typeface="华文中宋" panose="02010600040101010101" pitchFamily="2" charset="-122"/>
              </a:rPr>
              <a:t>( n ) </a:t>
            </a:r>
            <a:r>
              <a:rPr lang="zh-CN" altLang="en-US" dirty="0">
                <a:latin typeface="华文中宋" panose="02010600040101010101" pitchFamily="2" charset="-122"/>
                <a:ea typeface="华文中宋" panose="02010600040101010101" pitchFamily="2" charset="-122"/>
              </a:rPr>
              <a:t>从</a:t>
            </a:r>
            <a:r>
              <a:rPr lang="en-US" altLang="zh-CN" dirty="0">
                <a:latin typeface="华文中宋" panose="02010600040101010101" pitchFamily="2" charset="-122"/>
                <a:ea typeface="华文中宋" panose="02010600040101010101" pitchFamily="2" charset="-122"/>
              </a:rPr>
              <a:t>4</a:t>
            </a:r>
            <a:r>
              <a:rPr lang="zh-CN" altLang="en-US" dirty="0">
                <a:latin typeface="华文中宋" panose="02010600040101010101" pitchFamily="2" charset="-122"/>
                <a:ea typeface="华文中宋" panose="02010600040101010101" pitchFamily="2" charset="-122"/>
              </a:rPr>
              <a:t>增至</a:t>
            </a:r>
            <a:r>
              <a:rPr lang="en-US" altLang="zh-CN" dirty="0">
                <a:latin typeface="华文中宋" panose="02010600040101010101" pitchFamily="2" charset="-122"/>
                <a:ea typeface="华文中宋" panose="02010600040101010101" pitchFamily="2" charset="-122"/>
              </a:rPr>
              <a:t>6</a:t>
            </a:r>
            <a:r>
              <a:rPr lang="zh-CN" altLang="en-US" dirty="0">
                <a:latin typeface="华文中宋" panose="02010600040101010101" pitchFamily="2" charset="-122"/>
                <a:ea typeface="华文中宋" panose="02010600040101010101" pitchFamily="2" charset="-122"/>
              </a:rPr>
              <a:t>。这些元素形成的双原子分子中，</a:t>
            </a:r>
            <a:r>
              <a:rPr lang="en-US" altLang="zh-CN" dirty="0">
                <a:latin typeface="华文中宋" panose="02010600040101010101" pitchFamily="2" charset="-122"/>
                <a:ea typeface="华文中宋" panose="02010600040101010101" pitchFamily="2" charset="-122"/>
              </a:rPr>
              <a:t>( ns ) </a:t>
            </a:r>
            <a:r>
              <a:rPr lang="zh-CN" altLang="en-US" dirty="0">
                <a:latin typeface="华文中宋" panose="02010600040101010101" pitchFamily="2" charset="-122"/>
                <a:ea typeface="华文中宋" panose="02010600040101010101" pitchFamily="2" charset="-122"/>
              </a:rPr>
              <a:t>原子轨道（</a:t>
            </a:r>
            <a:r>
              <a:rPr lang="en-US" altLang="zh-CN" dirty="0">
                <a:latin typeface="华文中宋" panose="02010600040101010101" pitchFamily="2" charset="-122"/>
                <a:ea typeface="华文中宋" panose="02010600040101010101" pitchFamily="2" charset="-122"/>
              </a:rPr>
              <a:t>AOs</a:t>
            </a:r>
            <a:r>
              <a:rPr lang="zh-CN" altLang="en-US" dirty="0">
                <a:latin typeface="华文中宋" panose="02010600040101010101" pitchFamily="2" charset="-122"/>
                <a:ea typeface="华文中宋" panose="02010600040101010101" pitchFamily="2" charset="-122"/>
              </a:rPr>
              <a:t>）相互重叠，构成成键分子轨道（</a:t>
            </a:r>
            <a:r>
              <a:rPr lang="en-US" altLang="zh-CN" dirty="0">
                <a:latin typeface="华文中宋" panose="02010600040101010101" pitchFamily="2" charset="-122"/>
                <a:ea typeface="华文中宋" panose="02010600040101010101" pitchFamily="2" charset="-122"/>
              </a:rPr>
              <a:t>MO</a:t>
            </a:r>
            <a:r>
              <a:rPr lang="zh-CN" altLang="en-US" dirty="0">
                <a:latin typeface="华文中宋" panose="02010600040101010101" pitchFamily="2" charset="-122"/>
                <a:ea typeface="华文中宋" panose="02010600040101010101" pitchFamily="2" charset="-122"/>
              </a:rPr>
              <a:t>）。</a:t>
            </a:r>
            <a:r>
              <a:rPr lang="zh-CN" altLang="en-US" b="1" dirty="0">
                <a:solidFill>
                  <a:srgbClr val="92D050"/>
                </a:solidFill>
                <a:latin typeface="华文中宋" panose="02010600040101010101" pitchFamily="2" charset="-122"/>
                <a:ea typeface="华文中宋" panose="02010600040101010101" pitchFamily="2" charset="-122"/>
              </a:rPr>
              <a:t>随着 </a:t>
            </a:r>
            <a:r>
              <a:rPr lang="en-US" altLang="zh-CN" b="1" dirty="0">
                <a:solidFill>
                  <a:srgbClr val="92D050"/>
                </a:solidFill>
                <a:latin typeface="华文中宋" panose="02010600040101010101" pitchFamily="2" charset="-122"/>
                <a:ea typeface="华文中宋" panose="02010600040101010101" pitchFamily="2" charset="-122"/>
              </a:rPr>
              <a:t>( n ) </a:t>
            </a:r>
            <a:r>
              <a:rPr lang="zh-CN" altLang="en-US" b="1" dirty="0">
                <a:solidFill>
                  <a:srgbClr val="92D050"/>
                </a:solidFill>
                <a:latin typeface="华文中宋" panose="02010600040101010101" pitchFamily="2" charset="-122"/>
                <a:ea typeface="华文中宋" panose="02010600040101010101" pitchFamily="2" charset="-122"/>
              </a:rPr>
              <a:t>的增加，轨道尺寸扩大，导致轨道重叠程度降低，从而削弱了键合强度。</a:t>
            </a:r>
          </a:p>
          <a:p>
            <a:pPr algn="just">
              <a:lnSpc>
                <a:spcPct val="150000"/>
              </a:lnSpc>
            </a:pPr>
            <a:r>
              <a:rPr lang="en-US" altLang="zh-CN" dirty="0">
                <a:latin typeface="华文中宋" panose="02010600040101010101" pitchFamily="2" charset="-122"/>
                <a:ea typeface="华文中宋" panose="02010600040101010101" pitchFamily="2" charset="-122"/>
              </a:rPr>
              <a:t>(2) </a:t>
            </a:r>
            <a:r>
              <a:rPr lang="zh-CN" altLang="en-US" dirty="0">
                <a:latin typeface="华文中宋" panose="02010600040101010101" pitchFamily="2" charset="-122"/>
                <a:ea typeface="华文中宋" panose="02010600040101010101" pitchFamily="2" charset="-122"/>
              </a:rPr>
              <a:t>对于第</a:t>
            </a:r>
            <a:r>
              <a:rPr lang="en-US" altLang="zh-CN" dirty="0">
                <a:latin typeface="华文中宋" panose="02010600040101010101" pitchFamily="2" charset="-122"/>
                <a:ea typeface="华文中宋" panose="02010600040101010101" pitchFamily="2" charset="-122"/>
              </a:rPr>
              <a:t>11</a:t>
            </a:r>
            <a:r>
              <a:rPr lang="zh-CN" altLang="en-US" dirty="0">
                <a:latin typeface="华文中宋" panose="02010600040101010101" pitchFamily="2" charset="-122"/>
                <a:ea typeface="华文中宋" panose="02010600040101010101" pitchFamily="2" charset="-122"/>
              </a:rPr>
              <a:t>族元素，虽然键合涉及的是相同的价轨道（</a:t>
            </a:r>
            <a:r>
              <a:rPr lang="en-US" altLang="zh-CN" dirty="0">
                <a:latin typeface="华文中宋" panose="02010600040101010101" pitchFamily="2" charset="-122"/>
                <a:ea typeface="华文中宋" panose="02010600040101010101" pitchFamily="2" charset="-122"/>
              </a:rPr>
              <a:t>4s</a:t>
            </a: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5s</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6s</a:t>
            </a:r>
            <a:r>
              <a:rPr lang="zh-CN" altLang="en-US" dirty="0">
                <a:latin typeface="华文中宋" panose="02010600040101010101" pitchFamily="2" charset="-122"/>
                <a:ea typeface="华文中宋" panose="02010600040101010101" pitchFamily="2" charset="-122"/>
              </a:rPr>
              <a:t>），但由于</a:t>
            </a:r>
            <a:r>
              <a:rPr lang="zh-CN" altLang="en-US" b="1" dirty="0">
                <a:solidFill>
                  <a:schemeClr val="accent5">
                    <a:lumMod val="75000"/>
                  </a:schemeClr>
                </a:solidFill>
                <a:latin typeface="华文中宋" panose="02010600040101010101" pitchFamily="2" charset="-122"/>
                <a:ea typeface="华文中宋" panose="02010600040101010101" pitchFamily="2" charset="-122"/>
              </a:rPr>
              <a:t>穿越周期表时有效核电荷（</a:t>
            </a:r>
            <a:r>
              <a:rPr lang="en-US" altLang="zh-CN" b="1" dirty="0">
                <a:solidFill>
                  <a:schemeClr val="accent5">
                    <a:lumMod val="75000"/>
                  </a:schemeClr>
                </a:solidFill>
                <a:latin typeface="华文中宋" panose="02010600040101010101" pitchFamily="2" charset="-122"/>
                <a:ea typeface="华文中宋" panose="02010600040101010101" pitchFamily="2" charset="-122"/>
              </a:rPr>
              <a:t>Z</a:t>
            </a:r>
            <a:r>
              <a:rPr lang="en-US" altLang="zh-CN" b="1" baseline="-25000" dirty="0">
                <a:solidFill>
                  <a:schemeClr val="accent5">
                    <a:lumMod val="75000"/>
                  </a:schemeClr>
                </a:solidFill>
                <a:latin typeface="华文中宋" panose="02010600040101010101" pitchFamily="2" charset="-122"/>
                <a:ea typeface="华文中宋" panose="02010600040101010101" pitchFamily="2" charset="-122"/>
              </a:rPr>
              <a:t>eff</a:t>
            </a:r>
            <a:r>
              <a:rPr lang="zh-CN" altLang="en-US" b="1" dirty="0">
                <a:solidFill>
                  <a:schemeClr val="accent5">
                    <a:lumMod val="75000"/>
                  </a:schemeClr>
                </a:solidFill>
                <a:latin typeface="华文中宋" panose="02010600040101010101" pitchFamily="2" charset="-122"/>
                <a:ea typeface="华文中宋" panose="02010600040101010101" pitchFamily="2" charset="-122"/>
              </a:rPr>
              <a:t>）显著增加，这些轨道的尺寸相应减小，因此轨道重叠得更好，键合更为强固</a:t>
            </a:r>
            <a:r>
              <a:rPr lang="zh-CN" altLang="en-US" dirty="0">
                <a:latin typeface="华文中宋" panose="02010600040101010101" pitchFamily="2" charset="-122"/>
                <a:ea typeface="华文中宋" panose="02010600040101010101" pitchFamily="2" charset="-122"/>
              </a:rPr>
              <a:t>。值得注意的是，金（</a:t>
            </a:r>
            <a:r>
              <a:rPr lang="en-US" altLang="zh-CN" dirty="0">
                <a:latin typeface="华文中宋" panose="02010600040101010101" pitchFamily="2" charset="-122"/>
                <a:ea typeface="华文中宋" panose="02010600040101010101" pitchFamily="2" charset="-122"/>
              </a:rPr>
              <a:t>Au</a:t>
            </a:r>
            <a:r>
              <a:rPr lang="zh-CN" altLang="en-US" dirty="0">
                <a:latin typeface="华文中宋" panose="02010600040101010101" pitchFamily="2" charset="-122"/>
                <a:ea typeface="华文中宋" panose="02010600040101010101" pitchFamily="2" charset="-122"/>
              </a:rPr>
              <a:t>）之间的键合异常强劲，甚至超过了银（</a:t>
            </a:r>
            <a:r>
              <a:rPr lang="en-US" altLang="zh-CN" dirty="0">
                <a:latin typeface="华文中宋" panose="02010600040101010101" pitchFamily="2" charset="-122"/>
                <a:ea typeface="华文中宋" panose="02010600040101010101" pitchFamily="2" charset="-122"/>
              </a:rPr>
              <a:t>Ag</a:t>
            </a:r>
            <a:r>
              <a:rPr lang="zh-CN" altLang="en-US" dirty="0">
                <a:latin typeface="华文中宋" panose="02010600040101010101" pitchFamily="2" charset="-122"/>
                <a:ea typeface="华文中宋" panose="02010600040101010101" pitchFamily="2" charset="-122"/>
              </a:rPr>
              <a:t>）。这一现象部分归因于填充</a:t>
            </a:r>
            <a:r>
              <a:rPr lang="en-US" altLang="zh-CN" dirty="0">
                <a:latin typeface="华文中宋" panose="02010600040101010101" pitchFamily="2" charset="-122"/>
                <a:ea typeface="华文中宋" panose="02010600040101010101" pitchFamily="2" charset="-122"/>
              </a:rPr>
              <a:t>f</a:t>
            </a:r>
            <a:r>
              <a:rPr lang="zh-CN" altLang="en-US" dirty="0">
                <a:latin typeface="华文中宋" panose="02010600040101010101" pitchFamily="2" charset="-122"/>
                <a:ea typeface="华文中宋" panose="02010600040101010101" pitchFamily="2" charset="-122"/>
              </a:rPr>
              <a:t>区导致</a:t>
            </a:r>
            <a:r>
              <a:rPr lang="en-US" altLang="zh-CN" dirty="0">
                <a:latin typeface="华文中宋" panose="02010600040101010101" pitchFamily="2" charset="-122"/>
                <a:ea typeface="华文中宋" panose="02010600040101010101" pitchFamily="2" charset="-122"/>
              </a:rPr>
              <a:t>Z</a:t>
            </a:r>
            <a:r>
              <a:rPr lang="en-US" altLang="zh-CN" baseline="-25000" dirty="0">
                <a:latin typeface="华文中宋" panose="02010600040101010101" pitchFamily="2" charset="-122"/>
                <a:ea typeface="华文中宋" panose="02010600040101010101" pitchFamily="2" charset="-122"/>
              </a:rPr>
              <a:t>eff</a:t>
            </a:r>
            <a:r>
              <a:rPr lang="zh-CN" altLang="en-US" dirty="0">
                <a:latin typeface="华文中宋" panose="02010600040101010101" pitchFamily="2" charset="-122"/>
                <a:ea typeface="华文中宋" panose="02010600040101010101" pitchFamily="2" charset="-122"/>
              </a:rPr>
              <a:t>的额外增加，以及相对论效应对</a:t>
            </a:r>
            <a:r>
              <a:rPr lang="en-US" altLang="zh-CN" dirty="0">
                <a:latin typeface="华文中宋" panose="02010600040101010101" pitchFamily="2" charset="-122"/>
                <a:ea typeface="华文中宋" panose="02010600040101010101" pitchFamily="2" charset="-122"/>
              </a:rPr>
              <a:t>6s</a:t>
            </a:r>
            <a:r>
              <a:rPr lang="zh-CN" altLang="en-US" dirty="0">
                <a:latin typeface="华文中宋" panose="02010600040101010101" pitchFamily="2" charset="-122"/>
                <a:ea typeface="华文中宋" panose="02010600040101010101" pitchFamily="2" charset="-122"/>
              </a:rPr>
              <a:t>原子轨道的进一步收缩。</a:t>
            </a:r>
          </a:p>
        </p:txBody>
      </p:sp>
      <p:sp>
        <p:nvSpPr>
          <p:cNvPr id="7" name="文本框 6">
            <a:extLst>
              <a:ext uri="{FF2B5EF4-FFF2-40B4-BE49-F238E27FC236}">
                <a16:creationId xmlns:a16="http://schemas.microsoft.com/office/drawing/2014/main" id="{9DEE9C83-F30C-4A18-AF4A-254FA0636B48}"/>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8" name="文本框 7">
            <a:extLst>
              <a:ext uri="{FF2B5EF4-FFF2-40B4-BE49-F238E27FC236}">
                <a16:creationId xmlns:a16="http://schemas.microsoft.com/office/drawing/2014/main" id="{05F828AA-481C-4BE6-A7DE-BB3409B92459}"/>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1054766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1486561"/>
          </a:xfrm>
          <a:prstGeom prst="rect">
            <a:avLst/>
          </a:prstGeom>
          <a:noFill/>
        </p:spPr>
        <p:txBody>
          <a:bodyPr wrap="square" rtlCol="0">
            <a:spAutoFit/>
          </a:bodyPr>
          <a:lstStyle/>
          <a:p>
            <a:pPr algn="just">
              <a:lnSpc>
                <a:spcPts val="2200"/>
              </a:lnSpc>
            </a:pPr>
            <a:r>
              <a:rPr lang="en-US" altLang="zh-CN" dirty="0">
                <a:latin typeface="Times New Roman" panose="02020603050405020304" pitchFamily="18" charset="0"/>
                <a:cs typeface="Times New Roman" panose="02020603050405020304" pitchFamily="18" charset="0"/>
              </a:rPr>
              <a:t>8.7 (a) Construct an MO diagram for Be</a:t>
            </a:r>
            <a:r>
              <a:rPr lang="en-US" altLang="zh-CN" baseline="-25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 and use it to explain why, although the bond order is zero, s–p mixing results in the </a:t>
            </a:r>
            <a:r>
              <a:rPr lang="en-US" altLang="zh-CN" dirty="0" err="1">
                <a:latin typeface="Times New Roman" panose="02020603050405020304" pitchFamily="18" charset="0"/>
                <a:cs typeface="Times New Roman" panose="02020603050405020304" pitchFamily="18" charset="0"/>
              </a:rPr>
              <a:t>the</a:t>
            </a:r>
            <a:r>
              <a:rPr lang="en-US" altLang="zh-CN" dirty="0">
                <a:latin typeface="Times New Roman" panose="02020603050405020304" pitchFamily="18" charset="0"/>
                <a:cs typeface="Times New Roman" panose="02020603050405020304" pitchFamily="18" charset="0"/>
              </a:rPr>
              <a:t> molecule having a weak bond.</a:t>
            </a:r>
          </a:p>
          <a:p>
            <a:pPr algn="just">
              <a:lnSpc>
                <a:spcPts val="2200"/>
              </a:lnSpc>
            </a:pPr>
            <a:r>
              <a:rPr lang="en-US" altLang="zh-CN" dirty="0">
                <a:latin typeface="Times New Roman" panose="02020603050405020304" pitchFamily="18" charset="0"/>
                <a:cs typeface="Times New Roman" panose="02020603050405020304" pitchFamily="18" charset="0"/>
              </a:rPr>
              <a:t>(b) Explain the following observations: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the bond strength of Li</a:t>
            </a:r>
            <a:r>
              <a:rPr lang="en-US" altLang="zh-CN" baseline="-25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 is 100 kJ mol</a:t>
            </a:r>
            <a:r>
              <a:rPr lang="en-US" altLang="zh-CN" baseline="30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 a value much greater than that for Be</a:t>
            </a:r>
            <a:r>
              <a:rPr lang="en-US" altLang="zh-CN" baseline="-25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 (ii) the enthalpy of vaporization of solid beryllium is greater than that for solid Li.</a:t>
            </a:r>
          </a:p>
          <a:p>
            <a:pPr algn="just">
              <a:lnSpc>
                <a:spcPts val="2200"/>
              </a:lnSpc>
            </a:pPr>
            <a:r>
              <a:rPr lang="en-US" altLang="zh-CN" dirty="0">
                <a:latin typeface="Times New Roman" panose="02020603050405020304" pitchFamily="18" charset="0"/>
                <a:cs typeface="Times New Roman" panose="02020603050405020304" pitchFamily="18" charset="0"/>
              </a:rPr>
              <a:t>(c) Rationalize the following bond strengths of the Group 12 homonuclear </a:t>
            </a:r>
            <a:r>
              <a:rPr lang="en-US" altLang="zh-CN" dirty="0" err="1">
                <a:latin typeface="Times New Roman" panose="02020603050405020304" pitchFamily="18" charset="0"/>
                <a:cs typeface="Times New Roman" panose="02020603050405020304" pitchFamily="18" charset="0"/>
              </a:rPr>
              <a:t>diatomics</a:t>
            </a: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A1C42E17-FB22-4AB3-AE45-109318F37AEA}"/>
              </a:ext>
            </a:extLst>
          </p:cNvPr>
          <p:cNvPicPr>
            <a:picLocks noChangeAspect="1"/>
          </p:cNvPicPr>
          <p:nvPr/>
        </p:nvPicPr>
        <p:blipFill>
          <a:blip r:embed="rId4"/>
          <a:stretch>
            <a:fillRect/>
          </a:stretch>
        </p:blipFill>
        <p:spPr>
          <a:xfrm>
            <a:off x="3406295" y="1485629"/>
            <a:ext cx="4505954" cy="1943371"/>
          </a:xfrm>
          <a:prstGeom prst="rect">
            <a:avLst/>
          </a:prstGeom>
        </p:spPr>
      </p:pic>
      <p:sp>
        <p:nvSpPr>
          <p:cNvPr id="9" name="文本框 8">
            <a:extLst>
              <a:ext uri="{FF2B5EF4-FFF2-40B4-BE49-F238E27FC236}">
                <a16:creationId xmlns:a16="http://schemas.microsoft.com/office/drawing/2014/main" id="{EDE4C183-C3EF-46D4-BC76-98E8E6180D4C}"/>
              </a:ext>
            </a:extLst>
          </p:cNvPr>
          <p:cNvSpPr txBox="1"/>
          <p:nvPr/>
        </p:nvSpPr>
        <p:spPr>
          <a:xfrm>
            <a:off x="257602" y="3376769"/>
            <a:ext cx="11377114" cy="646331"/>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(d) Suggest why metallic mercury has the lowest enthalpy of vaporization of any metal, and hence why it is a liquid at room temperature.</a:t>
            </a:r>
            <a:endParaRPr lang="zh-CN" altLang="en-US"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0760D23C-F93D-479F-9CA8-B9C7A3266DD1}"/>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7" name="文本框 6">
            <a:extLst>
              <a:ext uri="{FF2B5EF4-FFF2-40B4-BE49-F238E27FC236}">
                <a16:creationId xmlns:a16="http://schemas.microsoft.com/office/drawing/2014/main" id="{CF09D778-5BA3-45E9-AA6E-1E66FD36B498}"/>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3455674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640175"/>
          </a:xfrm>
          <a:prstGeom prst="rect">
            <a:avLst/>
          </a:prstGeom>
          <a:noFill/>
        </p:spPr>
        <p:txBody>
          <a:bodyPr wrap="square" rtlCol="0">
            <a:spAutoFit/>
          </a:bodyPr>
          <a:lstStyle/>
          <a:p>
            <a:pPr algn="just">
              <a:lnSpc>
                <a:spcPts val="2200"/>
              </a:lnSpc>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8.7 (a)</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为</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Be</a:t>
            </a:r>
            <a:r>
              <a:rPr lang="en-US" altLang="zh-CN" baseline="-25000" dirty="0">
                <a:latin typeface="华文中宋" panose="02010600040101010101" pitchFamily="2" charset="-122"/>
                <a:ea typeface="华文中宋" panose="02010600040101010101" pitchFamily="2" charset="-122"/>
                <a:cs typeface="Times New Roman" panose="02020603050405020304" pitchFamily="18" charset="0"/>
              </a:rPr>
              <a:t>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构建一个分子轨道（</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MO</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）图，并用它来解释为什么尽管键级（</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bond order</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）是零，</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s-p</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混合导致分子具有弱键。</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2" name="文本框 1">
            <a:extLst>
              <a:ext uri="{FF2B5EF4-FFF2-40B4-BE49-F238E27FC236}">
                <a16:creationId xmlns:a16="http://schemas.microsoft.com/office/drawing/2014/main" id="{201FD86C-3608-4007-8E6E-25A05F95D053}"/>
              </a:ext>
            </a:extLst>
          </p:cNvPr>
          <p:cNvSpPr txBox="1"/>
          <p:nvPr/>
        </p:nvSpPr>
        <p:spPr>
          <a:xfrm>
            <a:off x="0" y="1016758"/>
            <a:ext cx="12192000" cy="2951770"/>
          </a:xfrm>
          <a:prstGeom prst="rect">
            <a:avLst/>
          </a:prstGeom>
          <a:noFill/>
        </p:spPr>
        <p:txBody>
          <a:bodyPr wrap="square" rtlCol="0">
            <a:spAutoFit/>
          </a:bodyPr>
          <a:lstStyle/>
          <a:p>
            <a:pPr algn="just">
              <a:lnSpc>
                <a:spcPct val="150000"/>
              </a:lnSpc>
            </a:pPr>
            <a:r>
              <a:rPr lang="zh-CN" altLang="en-US" dirty="0">
                <a:latin typeface="华文中宋" panose="02010600040101010101" pitchFamily="2" charset="-122"/>
                <a:ea typeface="华文中宋" panose="02010600040101010101" pitchFamily="2" charset="-122"/>
              </a:rPr>
              <a:t>答：</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dirty="0">
                <a:latin typeface="华文中宋" panose="02010600040101010101" pitchFamily="2" charset="-122"/>
                <a:ea typeface="华文中宋" panose="02010600040101010101" pitchFamily="2" charset="-122"/>
              </a:rPr>
              <a:t>(1) </a:t>
            </a:r>
            <a:r>
              <a:rPr lang="zh-CN" altLang="en-US" dirty="0">
                <a:latin typeface="华文中宋" panose="02010600040101010101" pitchFamily="2" charset="-122"/>
                <a:ea typeface="华文中宋" panose="02010600040101010101" pitchFamily="2" charset="-122"/>
              </a:rPr>
              <a:t>在</a:t>
            </a:r>
            <a:r>
              <a:rPr lang="en-US" altLang="zh-CN" dirty="0">
                <a:latin typeface="华文中宋" panose="02010600040101010101" pitchFamily="2" charset="-122"/>
                <a:ea typeface="华文中宋" panose="02010600040101010101" pitchFamily="2" charset="-122"/>
              </a:rPr>
              <a:t>Be</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的分子轨道图中，我们可以看到</a:t>
            </a:r>
            <a:r>
              <a:rPr lang="en-US" altLang="zh-CN" dirty="0">
                <a:latin typeface="华文中宋" panose="02010600040101010101" pitchFamily="2" charset="-122"/>
                <a:ea typeface="华文中宋" panose="02010600040101010101" pitchFamily="2" charset="-122"/>
              </a:rPr>
              <a:t>2s</a:t>
            </a:r>
            <a:r>
              <a:rPr lang="zh-CN" altLang="en-US" dirty="0">
                <a:latin typeface="华文中宋" panose="02010600040101010101" pitchFamily="2" charset="-122"/>
                <a:ea typeface="华文中宋" panose="02010600040101010101" pitchFamily="2" charset="-122"/>
              </a:rPr>
              <a:t>原子轨道（</a:t>
            </a:r>
            <a:r>
              <a:rPr lang="en-US" altLang="zh-CN" dirty="0">
                <a:latin typeface="华文中宋" panose="02010600040101010101" pitchFamily="2" charset="-122"/>
                <a:ea typeface="华文中宋" panose="02010600040101010101" pitchFamily="2" charset="-122"/>
              </a:rPr>
              <a:t>AO</a:t>
            </a:r>
            <a:r>
              <a:rPr lang="zh-CN" altLang="en-US" dirty="0">
                <a:latin typeface="华文中宋" panose="02010600040101010101" pitchFamily="2" charset="-122"/>
                <a:ea typeface="华文中宋" panose="02010600040101010101" pitchFamily="2" charset="-122"/>
              </a:rPr>
              <a:t>）与</a:t>
            </a:r>
            <a:r>
              <a:rPr lang="en-US" altLang="zh-CN" dirty="0">
                <a:latin typeface="华文中宋" panose="02010600040101010101" pitchFamily="2" charset="-122"/>
                <a:ea typeface="华文中宋" panose="02010600040101010101" pitchFamily="2" charset="-122"/>
              </a:rPr>
              <a:t>2p</a:t>
            </a:r>
            <a:r>
              <a:rPr lang="zh-CN" altLang="en-US" dirty="0">
                <a:latin typeface="华文中宋" panose="02010600040101010101" pitchFamily="2" charset="-122"/>
                <a:ea typeface="华文中宋" panose="02010600040101010101" pitchFamily="2" charset="-122"/>
              </a:rPr>
              <a:t>原子轨道（</a:t>
            </a:r>
            <a:r>
              <a:rPr lang="en-US" altLang="zh-CN" dirty="0">
                <a:latin typeface="华文中宋" panose="02010600040101010101" pitchFamily="2" charset="-122"/>
                <a:ea typeface="华文中宋" panose="02010600040101010101" pitchFamily="2" charset="-122"/>
              </a:rPr>
              <a:t>AO</a:t>
            </a:r>
            <a:r>
              <a:rPr lang="zh-CN" altLang="en-US" dirty="0">
                <a:latin typeface="华文中宋" panose="02010600040101010101" pitchFamily="2" charset="-122"/>
                <a:ea typeface="华文中宋" panose="02010600040101010101" pitchFamily="2" charset="-122"/>
              </a:rPr>
              <a:t>）发生了一定程度的混合。这种混合导致了成键分子轨道（</a:t>
            </a:r>
            <a:r>
              <a:rPr lang="en-US" altLang="zh-CN" dirty="0">
                <a:latin typeface="华文中宋" panose="02010600040101010101" pitchFamily="2" charset="-122"/>
                <a:ea typeface="华文中宋" panose="02010600040101010101" pitchFamily="2" charset="-122"/>
              </a:rPr>
              <a:t>MO</a:t>
            </a:r>
            <a:r>
              <a:rPr lang="zh-CN" altLang="en-US" dirty="0">
                <a:latin typeface="华文中宋" panose="02010600040101010101" pitchFamily="2" charset="-122"/>
                <a:ea typeface="华文中宋" panose="02010600040101010101" pitchFamily="2" charset="-122"/>
              </a:rPr>
              <a:t>）和反键分子轨道（</a:t>
            </a:r>
            <a:r>
              <a:rPr lang="en-US" altLang="zh-CN" dirty="0">
                <a:latin typeface="华文中宋" panose="02010600040101010101" pitchFamily="2" charset="-122"/>
                <a:ea typeface="华文中宋" panose="02010600040101010101" pitchFamily="2" charset="-122"/>
              </a:rPr>
              <a:t>MO</a:t>
            </a:r>
            <a:r>
              <a:rPr lang="zh-CN" altLang="en-US" dirty="0">
                <a:latin typeface="华文中宋" panose="02010600040101010101" pitchFamily="2" charset="-122"/>
                <a:ea typeface="华文中宋" panose="02010600040101010101" pitchFamily="2" charset="-122"/>
              </a:rPr>
              <a:t>）之间的能量差减小。尽管</a:t>
            </a:r>
            <a:r>
              <a:rPr lang="en-US" altLang="zh-CN" dirty="0">
                <a:latin typeface="华文中宋" panose="02010600040101010101" pitchFamily="2" charset="-122"/>
                <a:ea typeface="华文中宋" panose="02010600040101010101" pitchFamily="2" charset="-122"/>
              </a:rPr>
              <a:t>Be</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的键级为零，意味着成键轨道和反键轨道中的电子数相等，从而通常情况下不会形成稳定的化学键，但由于</a:t>
            </a:r>
            <a:r>
              <a:rPr lang="en-US" altLang="zh-CN" dirty="0">
                <a:latin typeface="华文中宋" panose="02010600040101010101" pitchFamily="2" charset="-122"/>
                <a:ea typeface="华文中宋" panose="02010600040101010101" pitchFamily="2" charset="-122"/>
              </a:rPr>
              <a:t>s-p</a:t>
            </a:r>
            <a:r>
              <a:rPr lang="zh-CN" altLang="en-US" dirty="0">
                <a:latin typeface="华文中宋" panose="02010600040101010101" pitchFamily="2" charset="-122"/>
                <a:ea typeface="华文中宋" panose="02010600040101010101" pitchFamily="2" charset="-122"/>
              </a:rPr>
              <a:t>混合，成键轨道的能量略低于反键轨道，因此</a:t>
            </a:r>
            <a:r>
              <a:rPr lang="en-US" altLang="zh-CN" dirty="0">
                <a:latin typeface="华文中宋" panose="02010600040101010101" pitchFamily="2" charset="-122"/>
                <a:ea typeface="华文中宋" panose="02010600040101010101" pitchFamily="2" charset="-122"/>
              </a:rPr>
              <a:t>Be</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分子仍然能够形成一个非常弱的化学键。</a:t>
            </a:r>
          </a:p>
          <a:p>
            <a:pPr algn="just">
              <a:lnSpc>
                <a:spcPct val="150000"/>
              </a:lnSpc>
            </a:pPr>
            <a:r>
              <a:rPr lang="en-US" altLang="zh-CN" dirty="0">
                <a:latin typeface="华文中宋" panose="02010600040101010101" pitchFamily="2" charset="-122"/>
                <a:ea typeface="华文中宋" panose="02010600040101010101" pitchFamily="2" charset="-122"/>
              </a:rPr>
              <a:t>(2) </a:t>
            </a:r>
            <a:r>
              <a:rPr lang="zh-CN" altLang="en-US" dirty="0">
                <a:latin typeface="华文中宋" panose="02010600040101010101" pitchFamily="2" charset="-122"/>
                <a:ea typeface="华文中宋" panose="02010600040101010101" pitchFamily="2" charset="-122"/>
              </a:rPr>
              <a:t>这种弱键的存在可以通过</a:t>
            </a:r>
            <a:r>
              <a:rPr lang="en-US" altLang="zh-CN" dirty="0">
                <a:latin typeface="华文中宋" panose="02010600040101010101" pitchFamily="2" charset="-122"/>
                <a:ea typeface="华文中宋" panose="02010600040101010101" pitchFamily="2" charset="-122"/>
              </a:rPr>
              <a:t>Be</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分子的物理性质来证实，例如它的解离能非常低，表明其键合力弱。此外，</a:t>
            </a:r>
            <a:r>
              <a:rPr lang="en-US" altLang="zh-CN" dirty="0">
                <a:latin typeface="华文中宋" panose="02010600040101010101" pitchFamily="2" charset="-122"/>
                <a:ea typeface="华文中宋" panose="02010600040101010101" pitchFamily="2" charset="-122"/>
              </a:rPr>
              <a:t>Be</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分子在高温下更容易存在，这也是由于其键合力弱，需要较少的能量就能使分子解离。</a:t>
            </a:r>
          </a:p>
        </p:txBody>
      </p:sp>
      <p:pic>
        <p:nvPicPr>
          <p:cNvPr id="3" name="图片 2">
            <a:extLst>
              <a:ext uri="{FF2B5EF4-FFF2-40B4-BE49-F238E27FC236}">
                <a16:creationId xmlns:a16="http://schemas.microsoft.com/office/drawing/2014/main" id="{958BBDAD-3764-445F-83DB-0C80E217FEF8}"/>
              </a:ext>
            </a:extLst>
          </p:cNvPr>
          <p:cNvPicPr>
            <a:picLocks noChangeAspect="1"/>
          </p:cNvPicPr>
          <p:nvPr/>
        </p:nvPicPr>
        <p:blipFill>
          <a:blip r:embed="rId4"/>
          <a:stretch>
            <a:fillRect/>
          </a:stretch>
        </p:blipFill>
        <p:spPr>
          <a:xfrm>
            <a:off x="988458" y="4057096"/>
            <a:ext cx="4291956" cy="2578832"/>
          </a:xfrm>
          <a:prstGeom prst="rect">
            <a:avLst/>
          </a:prstGeom>
        </p:spPr>
      </p:pic>
      <p:pic>
        <p:nvPicPr>
          <p:cNvPr id="8" name="图片 7">
            <a:extLst>
              <a:ext uri="{FF2B5EF4-FFF2-40B4-BE49-F238E27FC236}">
                <a16:creationId xmlns:a16="http://schemas.microsoft.com/office/drawing/2014/main" id="{2D8C7E44-99F0-4076-A59D-453AF3FAFEE0}"/>
              </a:ext>
            </a:extLst>
          </p:cNvPr>
          <p:cNvPicPr/>
          <p:nvPr/>
        </p:nvPicPr>
        <p:blipFill>
          <a:blip r:embed="rId5"/>
          <a:stretch>
            <a:fillRect/>
          </a:stretch>
        </p:blipFill>
        <p:spPr>
          <a:xfrm>
            <a:off x="8836476" y="3708565"/>
            <a:ext cx="2653112" cy="2961990"/>
          </a:xfrm>
          <a:prstGeom prst="rect">
            <a:avLst/>
          </a:prstGeom>
          <a:ln w="11526">
            <a:solidFill>
              <a:schemeClr val="accent1"/>
            </a:solidFill>
          </a:ln>
        </p:spPr>
      </p:pic>
      <p:sp>
        <p:nvSpPr>
          <p:cNvPr id="11" name="文本框 10">
            <a:extLst>
              <a:ext uri="{FF2B5EF4-FFF2-40B4-BE49-F238E27FC236}">
                <a16:creationId xmlns:a16="http://schemas.microsoft.com/office/drawing/2014/main" id="{400DD8F4-6F22-486C-9F36-006FDA953D4A}"/>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9" name="文本框 8">
            <a:extLst>
              <a:ext uri="{FF2B5EF4-FFF2-40B4-BE49-F238E27FC236}">
                <a16:creationId xmlns:a16="http://schemas.microsoft.com/office/drawing/2014/main" id="{16EDDC3C-F0CF-466E-96AD-BE937A2B9556}"/>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2801631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640175"/>
          </a:xfrm>
          <a:prstGeom prst="rect">
            <a:avLst/>
          </a:prstGeom>
          <a:noFill/>
        </p:spPr>
        <p:txBody>
          <a:bodyPr wrap="square" rtlCol="0">
            <a:spAutoFit/>
          </a:bodyPr>
          <a:lstStyle/>
          <a:p>
            <a:pPr algn="just">
              <a:lnSpc>
                <a:spcPts val="2200"/>
              </a:lnSpc>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8.7 (b)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解释以下观察结果：</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a:t>
            </a:r>
            <a:r>
              <a:rPr lang="en-US" altLang="zh-CN" dirty="0" err="1">
                <a:latin typeface="华文中宋" panose="02010600040101010101" pitchFamily="2" charset="-122"/>
                <a:ea typeface="华文中宋" panose="02010600040101010101" pitchFamily="2" charset="-122"/>
                <a:cs typeface="Times New Roman" panose="02020603050405020304" pitchFamily="18" charset="0"/>
              </a:rPr>
              <a:t>i</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 Li</a:t>
            </a:r>
            <a:r>
              <a:rPr lang="en-US" altLang="zh-CN" baseline="-25000" dirty="0">
                <a:latin typeface="华文中宋" panose="02010600040101010101" pitchFamily="2" charset="-122"/>
                <a:ea typeface="华文中宋" panose="02010600040101010101" pitchFamily="2" charset="-122"/>
                <a:cs typeface="Times New Roman" panose="02020603050405020304" pitchFamily="18" charset="0"/>
              </a:rPr>
              <a:t>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的键能为</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100 kJ mol</a:t>
            </a:r>
            <a:r>
              <a:rPr lang="en-US" altLang="zh-CN" baseline="30000" dirty="0">
                <a:latin typeface="华文中宋" panose="02010600040101010101" pitchFamily="2" charset="-122"/>
                <a:ea typeface="华文中宋" panose="02010600040101010101" pitchFamily="2" charset="-122"/>
                <a:cs typeface="Times New Roman" panose="02020603050405020304" pitchFamily="18" charset="0"/>
              </a:rPr>
              <a:t>−1</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，这个值远大于</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Be</a:t>
            </a:r>
            <a:r>
              <a:rPr lang="en-US" altLang="zh-CN" baseline="-25000" dirty="0">
                <a:latin typeface="华文中宋" panose="02010600040101010101" pitchFamily="2" charset="-122"/>
                <a:ea typeface="华文中宋" panose="02010600040101010101" pitchFamily="2" charset="-122"/>
                <a:cs typeface="Times New Roman" panose="02020603050405020304" pitchFamily="18" charset="0"/>
              </a:rPr>
              <a:t>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的键能；</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(ii)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固态</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Be</a:t>
            </a:r>
            <a:r>
              <a:rPr lang="en-US" altLang="zh-CN" baseline="-25000" dirty="0">
                <a:latin typeface="华文中宋" panose="02010600040101010101" pitchFamily="2" charset="-122"/>
                <a:ea typeface="华文中宋" panose="02010600040101010101" pitchFamily="2" charset="-122"/>
                <a:cs typeface="Times New Roman" panose="02020603050405020304" pitchFamily="18" charset="0"/>
              </a:rPr>
              <a:t>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的蒸发热大于固态</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Li</a:t>
            </a:r>
            <a:r>
              <a:rPr lang="en-US" altLang="zh-CN" baseline="-25000" dirty="0">
                <a:latin typeface="华文中宋" panose="02010600040101010101" pitchFamily="2" charset="-122"/>
                <a:ea typeface="华文中宋" panose="02010600040101010101" pitchFamily="2" charset="-122"/>
                <a:cs typeface="Times New Roman" panose="02020603050405020304" pitchFamily="18" charset="0"/>
              </a:rPr>
              <a:t>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的蒸发热。</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2" name="文本框 1">
            <a:extLst>
              <a:ext uri="{FF2B5EF4-FFF2-40B4-BE49-F238E27FC236}">
                <a16:creationId xmlns:a16="http://schemas.microsoft.com/office/drawing/2014/main" id="{201FD86C-3608-4007-8E6E-25A05F95D053}"/>
              </a:ext>
            </a:extLst>
          </p:cNvPr>
          <p:cNvSpPr txBox="1"/>
          <p:nvPr/>
        </p:nvSpPr>
        <p:spPr>
          <a:xfrm>
            <a:off x="0" y="1016758"/>
            <a:ext cx="12192000" cy="3782767"/>
          </a:xfrm>
          <a:prstGeom prst="rect">
            <a:avLst/>
          </a:prstGeom>
          <a:noFill/>
        </p:spPr>
        <p:txBody>
          <a:bodyPr wrap="square" rtlCol="0">
            <a:spAutoFit/>
          </a:bodyPr>
          <a:lstStyle/>
          <a:p>
            <a:pPr algn="just">
              <a:lnSpc>
                <a:spcPct val="150000"/>
              </a:lnSpc>
            </a:pPr>
            <a:r>
              <a:rPr lang="zh-CN" altLang="en-US" dirty="0">
                <a:latin typeface="华文中宋" panose="02010600040101010101" pitchFamily="2" charset="-122"/>
                <a:ea typeface="华文中宋" panose="02010600040101010101" pitchFamily="2" charset="-122"/>
              </a:rPr>
              <a:t>答</a:t>
            </a:r>
            <a:r>
              <a:rPr lang="en-US" altLang="zh-CN" dirty="0">
                <a:latin typeface="华文中宋" panose="02010600040101010101" pitchFamily="2" charset="-122"/>
                <a:ea typeface="华文中宋" panose="02010600040101010101" pitchFamily="2" charset="-122"/>
                <a:sym typeface="Wingdings" panose="05000000000000000000" pitchFamily="2" charset="2"/>
              </a:rPr>
              <a:t>:</a:t>
            </a:r>
            <a:r>
              <a:rPr lang="zh-CN" altLang="en-US" dirty="0">
                <a:latin typeface="华文中宋" panose="02010600040101010101" pitchFamily="2" charset="-122"/>
                <a:ea typeface="华文中宋" panose="02010600040101010101" pitchFamily="2" charset="-122"/>
                <a:sym typeface="Wingdings" panose="05000000000000000000" pitchFamily="2" charset="2"/>
              </a:rPr>
              <a:t> </a:t>
            </a:r>
            <a:endParaRPr lang="en-US" altLang="zh-CN" dirty="0">
              <a:latin typeface="华文中宋" panose="02010600040101010101" pitchFamily="2" charset="-122"/>
              <a:ea typeface="华文中宋" panose="02010600040101010101" pitchFamily="2" charset="-122"/>
              <a:sym typeface="Wingdings" panose="05000000000000000000" pitchFamily="2" charset="2"/>
            </a:endParaRPr>
          </a:p>
          <a:p>
            <a:pPr algn="just">
              <a:lnSpc>
                <a:spcPct val="150000"/>
              </a:lnSpc>
            </a:pPr>
            <a:r>
              <a:rPr lang="en-US" altLang="zh-CN" dirty="0">
                <a:latin typeface="华文中宋" panose="02010600040101010101" pitchFamily="2" charset="-122"/>
                <a:ea typeface="华文中宋" panose="02010600040101010101" pitchFamily="2" charset="-122"/>
                <a:sym typeface="Wingdings" panose="05000000000000000000" pitchFamily="2" charset="2"/>
              </a:rPr>
              <a:t>(1) </a:t>
            </a:r>
            <a:r>
              <a:rPr lang="en-US" altLang="zh-CN" dirty="0">
                <a:latin typeface="华文中宋" panose="02010600040101010101" pitchFamily="2" charset="-122"/>
                <a:ea typeface="华文中宋" panose="02010600040101010101" pitchFamily="2" charset="-122"/>
              </a:rPr>
              <a:t>Li</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的键能为</a:t>
            </a:r>
            <a:r>
              <a:rPr lang="en-US" altLang="zh-CN" dirty="0">
                <a:latin typeface="华文中宋" panose="02010600040101010101" pitchFamily="2" charset="-122"/>
                <a:ea typeface="华文中宋" panose="02010600040101010101" pitchFamily="2" charset="-122"/>
              </a:rPr>
              <a:t>100 kJ mol</a:t>
            </a:r>
            <a:r>
              <a:rPr lang="en-US" altLang="zh-CN" baseline="30000" dirty="0">
                <a:latin typeface="华文中宋" panose="02010600040101010101" pitchFamily="2" charset="-122"/>
                <a:ea typeface="华文中宋" panose="02010600040101010101" pitchFamily="2" charset="-122"/>
              </a:rPr>
              <a:t>−1</a:t>
            </a:r>
            <a:r>
              <a:rPr lang="zh-CN" altLang="en-US" dirty="0">
                <a:latin typeface="华文中宋" panose="02010600040101010101" pitchFamily="2" charset="-122"/>
                <a:ea typeface="华文中宋" panose="02010600040101010101" pitchFamily="2" charset="-122"/>
              </a:rPr>
              <a:t>，这个值远大于</a:t>
            </a:r>
            <a:r>
              <a:rPr lang="en-US" altLang="zh-CN" dirty="0">
                <a:latin typeface="华文中宋" panose="02010600040101010101" pitchFamily="2" charset="-122"/>
                <a:ea typeface="华文中宋" panose="02010600040101010101" pitchFamily="2" charset="-122"/>
              </a:rPr>
              <a:t>Be</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的键能。这是因为</a:t>
            </a:r>
            <a:r>
              <a:rPr lang="en-US" altLang="zh-CN" b="1" dirty="0">
                <a:solidFill>
                  <a:srgbClr val="0070C0"/>
                </a:solidFill>
                <a:latin typeface="华文中宋" panose="02010600040101010101" pitchFamily="2" charset="-122"/>
                <a:ea typeface="华文中宋" panose="02010600040101010101" pitchFamily="2" charset="-122"/>
              </a:rPr>
              <a:t>Li</a:t>
            </a:r>
            <a:r>
              <a:rPr lang="en-US" altLang="zh-CN" b="1" baseline="-25000" dirty="0">
                <a:solidFill>
                  <a:srgbClr val="0070C0"/>
                </a:solidFill>
                <a:latin typeface="华文中宋" panose="02010600040101010101" pitchFamily="2" charset="-122"/>
                <a:ea typeface="华文中宋" panose="02010600040101010101" pitchFamily="2" charset="-122"/>
              </a:rPr>
              <a:t>2</a:t>
            </a:r>
            <a:r>
              <a:rPr lang="zh-CN" altLang="en-US" b="1" dirty="0">
                <a:solidFill>
                  <a:srgbClr val="0070C0"/>
                </a:solidFill>
                <a:latin typeface="华文中宋" panose="02010600040101010101" pitchFamily="2" charset="-122"/>
                <a:ea typeface="华文中宋" panose="02010600040101010101" pitchFamily="2" charset="-122"/>
              </a:rPr>
              <a:t>分子中两个锂原子之间的成键分子轨道（</a:t>
            </a:r>
            <a:r>
              <a:rPr lang="en-US" altLang="zh-CN" b="1" dirty="0">
                <a:solidFill>
                  <a:srgbClr val="0070C0"/>
                </a:solidFill>
                <a:latin typeface="华文中宋" panose="02010600040101010101" pitchFamily="2" charset="-122"/>
                <a:ea typeface="华文中宋" panose="02010600040101010101" pitchFamily="2" charset="-122"/>
              </a:rPr>
              <a:t>MO</a:t>
            </a:r>
            <a:r>
              <a:rPr lang="zh-CN" altLang="en-US" b="1" dirty="0">
                <a:solidFill>
                  <a:srgbClr val="0070C0"/>
                </a:solidFill>
                <a:latin typeface="华文中宋" panose="02010600040101010101" pitchFamily="2" charset="-122"/>
                <a:ea typeface="华文中宋" panose="02010600040101010101" pitchFamily="2" charset="-122"/>
              </a:rPr>
              <a:t>）只有两个电子，而</a:t>
            </a:r>
            <a:r>
              <a:rPr lang="en-US" altLang="zh-CN" b="1" dirty="0">
                <a:solidFill>
                  <a:srgbClr val="0070C0"/>
                </a:solidFill>
                <a:latin typeface="华文中宋" panose="02010600040101010101" pitchFamily="2" charset="-122"/>
                <a:ea typeface="华文中宋" panose="02010600040101010101" pitchFamily="2" charset="-122"/>
              </a:rPr>
              <a:t>Be2</a:t>
            </a:r>
            <a:r>
              <a:rPr lang="zh-CN" altLang="en-US" b="1" dirty="0">
                <a:solidFill>
                  <a:srgbClr val="0070C0"/>
                </a:solidFill>
                <a:latin typeface="华文中宋" panose="02010600040101010101" pitchFamily="2" charset="-122"/>
                <a:ea typeface="华文中宋" panose="02010600040101010101" pitchFamily="2" charset="-122"/>
              </a:rPr>
              <a:t>分子中的相应轨道则有四个电子</a:t>
            </a:r>
            <a:r>
              <a:rPr lang="zh-CN" altLang="en-US" dirty="0">
                <a:latin typeface="华文中宋" panose="02010600040101010101" pitchFamily="2" charset="-122"/>
                <a:ea typeface="华文中宋" panose="02010600040101010101" pitchFamily="2" charset="-122"/>
              </a:rPr>
              <a:t>。在</a:t>
            </a:r>
            <a:r>
              <a:rPr lang="en-US" altLang="zh-CN" dirty="0">
                <a:latin typeface="华文中宋" panose="02010600040101010101" pitchFamily="2" charset="-122"/>
                <a:ea typeface="华文中宋" panose="02010600040101010101" pitchFamily="2" charset="-122"/>
              </a:rPr>
              <a:t>Be</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中，这些额外的电子填充了反键分子轨道，从而减弱了键合。因此，尽管</a:t>
            </a:r>
            <a:r>
              <a:rPr lang="en-US" altLang="zh-CN" dirty="0">
                <a:latin typeface="华文中宋" panose="02010600040101010101" pitchFamily="2" charset="-122"/>
                <a:ea typeface="华文中宋" panose="02010600040101010101" pitchFamily="2" charset="-122"/>
              </a:rPr>
              <a:t>Li2</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Be2</a:t>
            </a:r>
            <a:r>
              <a:rPr lang="zh-CN" altLang="en-US" dirty="0">
                <a:latin typeface="华文中宋" panose="02010600040101010101" pitchFamily="2" charset="-122"/>
                <a:ea typeface="华文中宋" panose="02010600040101010101" pitchFamily="2" charset="-122"/>
              </a:rPr>
              <a:t>的键级相同，但</a:t>
            </a:r>
            <a:r>
              <a:rPr lang="en-US" altLang="zh-CN" dirty="0">
                <a:latin typeface="华文中宋" panose="02010600040101010101" pitchFamily="2" charset="-122"/>
                <a:ea typeface="华文中宋" panose="02010600040101010101" pitchFamily="2" charset="-122"/>
              </a:rPr>
              <a:t>Li2</a:t>
            </a:r>
            <a:r>
              <a:rPr lang="zh-CN" altLang="en-US" dirty="0">
                <a:latin typeface="华文中宋" panose="02010600040101010101" pitchFamily="2" charset="-122"/>
                <a:ea typeface="华文中宋" panose="02010600040101010101" pitchFamily="2" charset="-122"/>
              </a:rPr>
              <a:t>的键合更强，因为它的反键分子轨道中的电子更少。</a:t>
            </a:r>
          </a:p>
          <a:p>
            <a:pPr algn="just">
              <a:lnSpc>
                <a:spcPct val="150000"/>
              </a:lnSpc>
            </a:pPr>
            <a:r>
              <a:rPr lang="en-US" altLang="zh-CN" dirty="0">
                <a:latin typeface="华文中宋" panose="02010600040101010101" pitchFamily="2" charset="-122"/>
                <a:ea typeface="华文中宋" panose="02010600040101010101" pitchFamily="2" charset="-122"/>
              </a:rPr>
              <a:t>(2) </a:t>
            </a:r>
            <a:r>
              <a:rPr lang="zh-CN" altLang="en-US" dirty="0">
                <a:latin typeface="华文中宋" panose="02010600040101010101" pitchFamily="2" charset="-122"/>
                <a:ea typeface="华文中宋" panose="02010600040101010101" pitchFamily="2" charset="-122"/>
              </a:rPr>
              <a:t>固态</a:t>
            </a:r>
            <a:r>
              <a:rPr lang="en-US" altLang="zh-CN" dirty="0">
                <a:latin typeface="华文中宋" panose="02010600040101010101" pitchFamily="2" charset="-122"/>
                <a:ea typeface="华文中宋" panose="02010600040101010101" pitchFamily="2" charset="-122"/>
              </a:rPr>
              <a:t>Be</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的蒸发热大于固态</a:t>
            </a:r>
            <a:r>
              <a:rPr lang="en-US" altLang="zh-CN" dirty="0">
                <a:latin typeface="华文中宋" panose="02010600040101010101" pitchFamily="2" charset="-122"/>
                <a:ea typeface="华文中宋" panose="02010600040101010101" pitchFamily="2" charset="-122"/>
              </a:rPr>
              <a:t>Li</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的蒸发热。这可以归因于</a:t>
            </a:r>
            <a:r>
              <a:rPr lang="en-US" altLang="zh-CN" dirty="0">
                <a:latin typeface="华文中宋" panose="02010600040101010101" pitchFamily="2" charset="-122"/>
                <a:ea typeface="华文中宋" panose="02010600040101010101" pitchFamily="2" charset="-122"/>
              </a:rPr>
              <a:t>Be</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固体中的原子间相互作用更强。</a:t>
            </a:r>
            <a:r>
              <a:rPr lang="zh-CN" altLang="en-US" b="1" dirty="0">
                <a:solidFill>
                  <a:srgbClr val="45D764"/>
                </a:solidFill>
                <a:latin typeface="华文中宋" panose="02010600040101010101" pitchFamily="2" charset="-122"/>
                <a:ea typeface="华文中宋" panose="02010600040101010101" pitchFamily="2" charset="-122"/>
              </a:rPr>
              <a:t>在固态中，</a:t>
            </a:r>
            <a:r>
              <a:rPr lang="en-US" altLang="zh-CN" b="1" dirty="0">
                <a:solidFill>
                  <a:srgbClr val="45D764"/>
                </a:solidFill>
                <a:latin typeface="华文中宋" panose="02010600040101010101" pitchFamily="2" charset="-122"/>
                <a:ea typeface="华文中宋" panose="02010600040101010101" pitchFamily="2" charset="-122"/>
              </a:rPr>
              <a:t>2s</a:t>
            </a:r>
            <a:r>
              <a:rPr lang="zh-CN" altLang="en-US" b="1" dirty="0">
                <a:solidFill>
                  <a:srgbClr val="45D764"/>
                </a:solidFill>
                <a:latin typeface="华文中宋" panose="02010600040101010101" pitchFamily="2" charset="-122"/>
                <a:ea typeface="华文中宋" panose="02010600040101010101" pitchFamily="2" charset="-122"/>
              </a:rPr>
              <a:t>和</a:t>
            </a:r>
            <a:r>
              <a:rPr lang="en-US" altLang="zh-CN" b="1" dirty="0">
                <a:solidFill>
                  <a:srgbClr val="45D764"/>
                </a:solidFill>
                <a:latin typeface="华文中宋" panose="02010600040101010101" pitchFamily="2" charset="-122"/>
                <a:ea typeface="华文中宋" panose="02010600040101010101" pitchFamily="2" charset="-122"/>
              </a:rPr>
              <a:t>2p</a:t>
            </a:r>
            <a:r>
              <a:rPr lang="zh-CN" altLang="en-US" b="1" dirty="0">
                <a:solidFill>
                  <a:srgbClr val="45D764"/>
                </a:solidFill>
                <a:latin typeface="华文中宋" panose="02010600040101010101" pitchFamily="2" charset="-122"/>
                <a:ea typeface="华文中宋" panose="02010600040101010101" pitchFamily="2" charset="-122"/>
              </a:rPr>
              <a:t>带可能会重叠，</a:t>
            </a:r>
            <a:r>
              <a:rPr lang="en-US" altLang="zh-CN" b="1" dirty="0">
                <a:solidFill>
                  <a:srgbClr val="45D764"/>
                </a:solidFill>
                <a:latin typeface="华文中宋" panose="02010600040101010101" pitchFamily="2" charset="-122"/>
                <a:ea typeface="华文中宋" panose="02010600040101010101" pitchFamily="2" charset="-122"/>
              </a:rPr>
              <a:t>Be</a:t>
            </a:r>
            <a:r>
              <a:rPr lang="zh-CN" altLang="en-US" b="1" dirty="0">
                <a:solidFill>
                  <a:srgbClr val="45D764"/>
                </a:solidFill>
                <a:latin typeface="华文中宋" panose="02010600040101010101" pitchFamily="2" charset="-122"/>
                <a:ea typeface="华文中宋" panose="02010600040101010101" pitchFamily="2" charset="-122"/>
              </a:rPr>
              <a:t>有足够的电子填满</a:t>
            </a:r>
            <a:r>
              <a:rPr lang="en-US" altLang="zh-CN" b="1" dirty="0">
                <a:solidFill>
                  <a:srgbClr val="45D764"/>
                </a:solidFill>
                <a:latin typeface="华文中宋" panose="02010600040101010101" pitchFamily="2" charset="-122"/>
                <a:ea typeface="华文中宋" panose="02010600040101010101" pitchFamily="2" charset="-122"/>
              </a:rPr>
              <a:t>2s</a:t>
            </a:r>
            <a:r>
              <a:rPr lang="zh-CN" altLang="en-US" b="1" dirty="0">
                <a:solidFill>
                  <a:srgbClr val="45D764"/>
                </a:solidFill>
                <a:latin typeface="华文中宋" panose="02010600040101010101" pitchFamily="2" charset="-122"/>
                <a:ea typeface="华文中宋" panose="02010600040101010101" pitchFamily="2" charset="-122"/>
              </a:rPr>
              <a:t>带，而且由于</a:t>
            </a:r>
            <a:r>
              <a:rPr lang="en-US" altLang="zh-CN" b="1" dirty="0">
                <a:solidFill>
                  <a:srgbClr val="45D764"/>
                </a:solidFill>
                <a:latin typeface="华文中宋" panose="02010600040101010101" pitchFamily="2" charset="-122"/>
                <a:ea typeface="华文中宋" panose="02010600040101010101" pitchFamily="2" charset="-122"/>
              </a:rPr>
              <a:t>2s</a:t>
            </a:r>
            <a:r>
              <a:rPr lang="zh-CN" altLang="en-US" b="1" dirty="0">
                <a:solidFill>
                  <a:srgbClr val="45D764"/>
                </a:solidFill>
                <a:latin typeface="华文中宋" panose="02010600040101010101" pitchFamily="2" charset="-122"/>
                <a:ea typeface="华文中宋" panose="02010600040101010101" pitchFamily="2" charset="-122"/>
              </a:rPr>
              <a:t>带的上部与</a:t>
            </a:r>
            <a:r>
              <a:rPr lang="en-US" altLang="zh-CN" b="1" dirty="0">
                <a:solidFill>
                  <a:srgbClr val="45D764"/>
                </a:solidFill>
                <a:latin typeface="华文中宋" panose="02010600040101010101" pitchFamily="2" charset="-122"/>
                <a:ea typeface="华文中宋" panose="02010600040101010101" pitchFamily="2" charset="-122"/>
              </a:rPr>
              <a:t>2p</a:t>
            </a:r>
            <a:r>
              <a:rPr lang="zh-CN" altLang="en-US" b="1" dirty="0">
                <a:solidFill>
                  <a:srgbClr val="45D764"/>
                </a:solidFill>
                <a:latin typeface="华文中宋" panose="02010600040101010101" pitchFamily="2" charset="-122"/>
                <a:ea typeface="华文中宋" panose="02010600040101010101" pitchFamily="2" charset="-122"/>
              </a:rPr>
              <a:t>带的下部重叠，总体能量降低，通过电子移动到</a:t>
            </a:r>
            <a:r>
              <a:rPr lang="en-US" altLang="zh-CN" b="1" dirty="0">
                <a:solidFill>
                  <a:srgbClr val="45D764"/>
                </a:solidFill>
                <a:latin typeface="华文中宋" panose="02010600040101010101" pitchFamily="2" charset="-122"/>
                <a:ea typeface="华文中宋" panose="02010600040101010101" pitchFamily="2" charset="-122"/>
              </a:rPr>
              <a:t>2p</a:t>
            </a:r>
            <a:r>
              <a:rPr lang="zh-CN" altLang="en-US" b="1" dirty="0">
                <a:solidFill>
                  <a:srgbClr val="45D764"/>
                </a:solidFill>
                <a:latin typeface="华文中宋" panose="02010600040101010101" pitchFamily="2" charset="-122"/>
                <a:ea typeface="华文中宋" panose="02010600040101010101" pitchFamily="2" charset="-122"/>
              </a:rPr>
              <a:t>带的最低（最成键）部分，增加了键合量</a:t>
            </a:r>
            <a:r>
              <a:rPr lang="zh-CN" altLang="en-US" dirty="0">
                <a:latin typeface="华文中宋" panose="02010600040101010101" pitchFamily="2" charset="-122"/>
                <a:ea typeface="华文中宋" panose="02010600040101010101" pitchFamily="2" charset="-122"/>
              </a:rPr>
              <a:t>。这解释了</a:t>
            </a:r>
            <a:r>
              <a:rPr lang="en-US" altLang="zh-CN" dirty="0">
                <a:latin typeface="华文中宋" panose="02010600040101010101" pitchFamily="2" charset="-122"/>
                <a:ea typeface="华文中宋" panose="02010600040101010101" pitchFamily="2" charset="-122"/>
              </a:rPr>
              <a:t>Be</a:t>
            </a:r>
            <a:r>
              <a:rPr lang="zh-CN" altLang="en-US" dirty="0">
                <a:latin typeface="华文中宋" panose="02010600040101010101" pitchFamily="2" charset="-122"/>
                <a:ea typeface="华文中宋" panose="02010600040101010101" pitchFamily="2" charset="-122"/>
              </a:rPr>
              <a:t>的蒸发热增加的原因。本质上，</a:t>
            </a:r>
            <a:r>
              <a:rPr lang="en-US" altLang="zh-CN" dirty="0">
                <a:latin typeface="华文中宋" panose="02010600040101010101" pitchFamily="2" charset="-122"/>
                <a:ea typeface="华文中宋" panose="02010600040101010101" pitchFamily="2" charset="-122"/>
              </a:rPr>
              <a:t>Be</a:t>
            </a:r>
            <a:r>
              <a:rPr lang="zh-CN" altLang="en-US" dirty="0">
                <a:latin typeface="华文中宋" panose="02010600040101010101" pitchFamily="2" charset="-122"/>
                <a:ea typeface="华文中宋" panose="02010600040101010101" pitchFamily="2" charset="-122"/>
              </a:rPr>
              <a:t>有“太多”的电子来形成一个简单的</a:t>
            </a:r>
            <a:r>
              <a:rPr lang="en-US" altLang="zh-CN" dirty="0">
                <a:latin typeface="华文中宋" panose="02010600040101010101" pitchFamily="2" charset="-122"/>
                <a:ea typeface="华文中宋" panose="02010600040101010101" pitchFamily="2" charset="-122"/>
              </a:rPr>
              <a:t>Be</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分子，但如果它与许多原子（而不仅仅是一个）共享这些电子，结果是总体上有显著的键合。相比之下，</a:t>
            </a:r>
            <a:r>
              <a:rPr lang="en-US" altLang="zh-CN" dirty="0">
                <a:latin typeface="华文中宋" panose="02010600040101010101" pitchFamily="2" charset="-122"/>
                <a:ea typeface="华文中宋" panose="02010600040101010101" pitchFamily="2" charset="-122"/>
              </a:rPr>
              <a:t>Li</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的键合较弱，因此其蒸发热较低。</a:t>
            </a:r>
            <a:endParaRPr lang="en-US" altLang="zh-CN" dirty="0">
              <a:latin typeface="华文中宋" panose="02010600040101010101" pitchFamily="2" charset="-122"/>
              <a:ea typeface="华文中宋" panose="02010600040101010101" pitchFamily="2" charset="-122"/>
            </a:endParaRPr>
          </a:p>
        </p:txBody>
      </p:sp>
      <p:pic>
        <p:nvPicPr>
          <p:cNvPr id="6" name="图片 5">
            <a:extLst>
              <a:ext uri="{FF2B5EF4-FFF2-40B4-BE49-F238E27FC236}">
                <a16:creationId xmlns:a16="http://schemas.microsoft.com/office/drawing/2014/main" id="{ABBD3379-6EAC-4C2D-B323-DF55C5C7AA62}"/>
              </a:ext>
            </a:extLst>
          </p:cNvPr>
          <p:cNvPicPr/>
          <p:nvPr/>
        </p:nvPicPr>
        <p:blipFill>
          <a:blip r:embed="rId4"/>
          <a:stretch>
            <a:fillRect/>
          </a:stretch>
        </p:blipFill>
        <p:spPr>
          <a:xfrm>
            <a:off x="4397178" y="4444986"/>
            <a:ext cx="3397644" cy="2185187"/>
          </a:xfrm>
          <a:prstGeom prst="rect">
            <a:avLst/>
          </a:prstGeom>
        </p:spPr>
      </p:pic>
      <p:sp>
        <p:nvSpPr>
          <p:cNvPr id="8" name="文本框 7">
            <a:extLst>
              <a:ext uri="{FF2B5EF4-FFF2-40B4-BE49-F238E27FC236}">
                <a16:creationId xmlns:a16="http://schemas.microsoft.com/office/drawing/2014/main" id="{D3F2DEDA-31D7-4A2B-9D6D-E368F33EDA11}"/>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9" name="文本框 8">
            <a:extLst>
              <a:ext uri="{FF2B5EF4-FFF2-40B4-BE49-F238E27FC236}">
                <a16:creationId xmlns:a16="http://schemas.microsoft.com/office/drawing/2014/main" id="{E3E39608-41C6-4B40-B4A2-AFA7BD67A943}"/>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7070813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358753"/>
          </a:xfrm>
          <a:prstGeom prst="rect">
            <a:avLst/>
          </a:prstGeom>
          <a:noFill/>
        </p:spPr>
        <p:txBody>
          <a:bodyPr wrap="square" rtlCol="0">
            <a:spAutoFit/>
          </a:bodyPr>
          <a:lstStyle/>
          <a:p>
            <a:pPr algn="just">
              <a:lnSpc>
                <a:spcPts val="2200"/>
              </a:lnSpc>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8.7 (c)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合理解释第</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12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族同核双原子分子的键能。</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2" name="文本框 1">
            <a:extLst>
              <a:ext uri="{FF2B5EF4-FFF2-40B4-BE49-F238E27FC236}">
                <a16:creationId xmlns:a16="http://schemas.microsoft.com/office/drawing/2014/main" id="{201FD86C-3608-4007-8E6E-25A05F95D053}"/>
              </a:ext>
            </a:extLst>
          </p:cNvPr>
          <p:cNvSpPr txBox="1"/>
          <p:nvPr/>
        </p:nvSpPr>
        <p:spPr>
          <a:xfrm>
            <a:off x="0" y="2634023"/>
            <a:ext cx="12192000" cy="2951770"/>
          </a:xfrm>
          <a:prstGeom prst="rect">
            <a:avLst/>
          </a:prstGeom>
          <a:noFill/>
        </p:spPr>
        <p:txBody>
          <a:bodyPr wrap="square" rtlCol="0">
            <a:spAutoFit/>
          </a:bodyPr>
          <a:lstStyle/>
          <a:p>
            <a:pPr algn="just">
              <a:lnSpc>
                <a:spcPct val="150000"/>
              </a:lnSpc>
            </a:pPr>
            <a:r>
              <a:rPr lang="zh-CN" altLang="en-US" dirty="0">
                <a:latin typeface="华文中宋" panose="02010600040101010101" pitchFamily="2" charset="-122"/>
                <a:ea typeface="华文中宋" panose="02010600040101010101" pitchFamily="2" charset="-122"/>
              </a:rPr>
              <a:t>答：这一趋势可以归因于以下几个因素：</a:t>
            </a:r>
          </a:p>
          <a:p>
            <a:pPr algn="just">
              <a:lnSpc>
                <a:spcPct val="150000"/>
              </a:lnSpc>
            </a:pPr>
            <a:r>
              <a:rPr lang="en-US" altLang="zh-CN" b="1" dirty="0">
                <a:solidFill>
                  <a:srgbClr val="DD5DAC"/>
                </a:solidFill>
                <a:latin typeface="华文中宋" panose="02010600040101010101" pitchFamily="2" charset="-122"/>
                <a:ea typeface="华文中宋" panose="02010600040101010101" pitchFamily="2" charset="-122"/>
              </a:rPr>
              <a:t>(1) </a:t>
            </a:r>
            <a:r>
              <a:rPr lang="zh-CN" altLang="en-US" b="1" dirty="0">
                <a:solidFill>
                  <a:srgbClr val="DD5DAC"/>
                </a:solidFill>
                <a:latin typeface="华文中宋" panose="02010600040101010101" pitchFamily="2" charset="-122"/>
                <a:ea typeface="华文中宋" panose="02010600040101010101" pitchFamily="2" charset="-122"/>
              </a:rPr>
              <a:t>相对论效应</a:t>
            </a:r>
            <a:r>
              <a:rPr lang="zh-CN" altLang="en-US" dirty="0">
                <a:latin typeface="华文中宋" panose="02010600040101010101" pitchFamily="2" charset="-122"/>
                <a:ea typeface="华文中宋" panose="02010600040101010101" pitchFamily="2" charset="-122"/>
              </a:rPr>
              <a:t>：对于重原子，如汞（</a:t>
            </a:r>
            <a:r>
              <a:rPr lang="en-US" altLang="zh-CN" dirty="0">
                <a:latin typeface="华文中宋" panose="02010600040101010101" pitchFamily="2" charset="-122"/>
                <a:ea typeface="华文中宋" panose="02010600040101010101" pitchFamily="2" charset="-122"/>
              </a:rPr>
              <a:t>Hg</a:t>
            </a:r>
            <a:r>
              <a:rPr lang="zh-CN" altLang="en-US" dirty="0">
                <a:latin typeface="华文中宋" panose="02010600040101010101" pitchFamily="2" charset="-122"/>
                <a:ea typeface="华文中宋" panose="02010600040101010101" pitchFamily="2" charset="-122"/>
              </a:rPr>
              <a:t>），相对论效应导致内层电子的质量增加，从而影响外层电子的性质。这种效应使得</a:t>
            </a:r>
            <a:r>
              <a:rPr lang="en-US" altLang="zh-CN" dirty="0">
                <a:latin typeface="华文中宋" panose="02010600040101010101" pitchFamily="2" charset="-122"/>
                <a:ea typeface="华文中宋" panose="02010600040101010101" pitchFamily="2" charset="-122"/>
              </a:rPr>
              <a:t>6s</a:t>
            </a:r>
            <a:r>
              <a:rPr lang="zh-CN" altLang="en-US" dirty="0">
                <a:latin typeface="华文中宋" panose="02010600040101010101" pitchFamily="2" charset="-122"/>
                <a:ea typeface="华文中宋" panose="02010600040101010101" pitchFamily="2" charset="-122"/>
              </a:rPr>
              <a:t>轨道的电子更接近核心，从而减少了用于成键的电子密度。</a:t>
            </a:r>
          </a:p>
          <a:p>
            <a:pPr algn="just">
              <a:lnSpc>
                <a:spcPct val="150000"/>
              </a:lnSpc>
            </a:pPr>
            <a:r>
              <a:rPr lang="en-US" altLang="zh-CN" b="1" dirty="0">
                <a:solidFill>
                  <a:srgbClr val="1A95A6"/>
                </a:solidFill>
                <a:latin typeface="华文中宋" panose="02010600040101010101" pitchFamily="2" charset="-122"/>
                <a:ea typeface="华文中宋" panose="02010600040101010101" pitchFamily="2" charset="-122"/>
              </a:rPr>
              <a:t>(2) </a:t>
            </a:r>
            <a:r>
              <a:rPr lang="zh-CN" altLang="en-US" b="1" dirty="0">
                <a:solidFill>
                  <a:srgbClr val="1A95A6"/>
                </a:solidFill>
                <a:latin typeface="华文中宋" panose="02010600040101010101" pitchFamily="2" charset="-122"/>
                <a:ea typeface="华文中宋" panose="02010600040101010101" pitchFamily="2" charset="-122"/>
              </a:rPr>
              <a:t>惰性电子对效应</a:t>
            </a:r>
            <a:r>
              <a:rPr lang="zh-CN" altLang="en-US" dirty="0">
                <a:latin typeface="华文中宋" panose="02010600040101010101" pitchFamily="2" charset="-122"/>
                <a:ea typeface="华文中宋" panose="02010600040101010101" pitchFamily="2" charset="-122"/>
              </a:rPr>
              <a:t>：在较重的元素中，最外层的</a:t>
            </a:r>
            <a:r>
              <a:rPr lang="en-US" altLang="zh-CN" dirty="0">
                <a:latin typeface="华文中宋" panose="02010600040101010101" pitchFamily="2" charset="-122"/>
                <a:ea typeface="华文中宋" panose="02010600040101010101" pitchFamily="2" charset="-122"/>
              </a:rPr>
              <a:t>s</a:t>
            </a:r>
            <a:r>
              <a:rPr lang="zh-CN" altLang="en-US" dirty="0">
                <a:latin typeface="华文中宋" panose="02010600040101010101" pitchFamily="2" charset="-122"/>
                <a:ea typeface="华文中宋" panose="02010600040101010101" pitchFamily="2" charset="-122"/>
              </a:rPr>
              <a:t>轨道电子趋向于不参与成键，这导致了键能的降低。</a:t>
            </a:r>
          </a:p>
          <a:p>
            <a:pPr algn="just">
              <a:lnSpc>
                <a:spcPct val="150000"/>
              </a:lnSpc>
            </a:pPr>
            <a:r>
              <a:rPr lang="en-US" altLang="zh-CN" b="1" dirty="0">
                <a:solidFill>
                  <a:srgbClr val="002060"/>
                </a:solidFill>
                <a:latin typeface="华文中宋" panose="02010600040101010101" pitchFamily="2" charset="-122"/>
                <a:ea typeface="华文中宋" panose="02010600040101010101" pitchFamily="2" charset="-122"/>
              </a:rPr>
              <a:t>(3) </a:t>
            </a:r>
            <a:r>
              <a:rPr lang="zh-CN" altLang="en-US" b="1" dirty="0">
                <a:solidFill>
                  <a:srgbClr val="002060"/>
                </a:solidFill>
                <a:latin typeface="华文中宋" panose="02010600040101010101" pitchFamily="2" charset="-122"/>
                <a:ea typeface="华文中宋" panose="02010600040101010101" pitchFamily="2" charset="-122"/>
              </a:rPr>
              <a:t>原子大小</a:t>
            </a:r>
            <a:r>
              <a:rPr lang="zh-CN" altLang="en-US" dirty="0">
                <a:latin typeface="华文中宋" panose="02010600040101010101" pitchFamily="2" charset="-122"/>
                <a:ea typeface="华文中宋" panose="02010600040101010101" pitchFamily="2" charset="-122"/>
              </a:rPr>
              <a:t>：随着原子序数的增加，原子半径也增加，这导致价电子轨道之间的重叠减少，进而导致键能降低。</a:t>
            </a:r>
          </a:p>
          <a:p>
            <a:pPr algn="just">
              <a:lnSpc>
                <a:spcPct val="150000"/>
              </a:lnSpc>
            </a:pPr>
            <a:r>
              <a:rPr lang="en-US" altLang="zh-CN" dirty="0">
                <a:latin typeface="华文中宋" panose="02010600040101010101" pitchFamily="2" charset="-122"/>
                <a:ea typeface="华文中宋" panose="02010600040101010101" pitchFamily="2" charset="-122"/>
              </a:rPr>
              <a:t>(4) </a:t>
            </a:r>
            <a:r>
              <a:rPr lang="zh-CN" altLang="en-US" dirty="0">
                <a:latin typeface="华文中宋" panose="02010600040101010101" pitchFamily="2" charset="-122"/>
                <a:ea typeface="华文中宋" panose="02010600040101010101" pitchFamily="2" charset="-122"/>
              </a:rPr>
              <a:t>特别是对于</a:t>
            </a:r>
            <a:r>
              <a:rPr lang="en-US" altLang="zh-CN" dirty="0">
                <a:latin typeface="华文中宋" panose="02010600040101010101" pitchFamily="2" charset="-122"/>
                <a:ea typeface="华文中宋" panose="02010600040101010101" pitchFamily="2" charset="-122"/>
              </a:rPr>
              <a:t>Hg</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，由于上述效应的综合作用，其键能非常低，导致汞在室温下为液态。这些效应在</a:t>
            </a:r>
            <a:r>
              <a:rPr lang="en-US" altLang="zh-CN" dirty="0">
                <a:latin typeface="华文中宋" panose="02010600040101010101" pitchFamily="2" charset="-122"/>
                <a:ea typeface="华文中宋" panose="02010600040101010101" pitchFamily="2" charset="-122"/>
              </a:rPr>
              <a:t>Zn</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Cd</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中也存在，但影响较小，因此它们的键能虽然低于轻原子，但仍然有一定的键能值。</a:t>
            </a:r>
            <a:endParaRPr lang="en-US" altLang="zh-CN" dirty="0">
              <a:latin typeface="华文中宋" panose="02010600040101010101" pitchFamily="2" charset="-122"/>
              <a:ea typeface="华文中宋" panose="02010600040101010101" pitchFamily="2" charset="-122"/>
            </a:endParaRPr>
          </a:p>
        </p:txBody>
      </p:sp>
      <p:pic>
        <p:nvPicPr>
          <p:cNvPr id="6" name="图片 5">
            <a:extLst>
              <a:ext uri="{FF2B5EF4-FFF2-40B4-BE49-F238E27FC236}">
                <a16:creationId xmlns:a16="http://schemas.microsoft.com/office/drawing/2014/main" id="{FEA29E10-00FC-47D3-8C52-89D427AE7E52}"/>
              </a:ext>
            </a:extLst>
          </p:cNvPr>
          <p:cNvPicPr>
            <a:picLocks noChangeAspect="1"/>
          </p:cNvPicPr>
          <p:nvPr/>
        </p:nvPicPr>
        <p:blipFill>
          <a:blip r:embed="rId4"/>
          <a:stretch>
            <a:fillRect/>
          </a:stretch>
        </p:blipFill>
        <p:spPr>
          <a:xfrm>
            <a:off x="3962102" y="537606"/>
            <a:ext cx="4267796" cy="1838582"/>
          </a:xfrm>
          <a:prstGeom prst="rect">
            <a:avLst/>
          </a:prstGeom>
          <a:ln>
            <a:solidFill>
              <a:schemeClr val="accent1"/>
            </a:solidFill>
          </a:ln>
        </p:spPr>
      </p:pic>
      <p:sp>
        <p:nvSpPr>
          <p:cNvPr id="7" name="文本框 6">
            <a:extLst>
              <a:ext uri="{FF2B5EF4-FFF2-40B4-BE49-F238E27FC236}">
                <a16:creationId xmlns:a16="http://schemas.microsoft.com/office/drawing/2014/main" id="{1D10A35E-09F8-4809-9591-DB0925C96644}"/>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9" name="文本框 8">
            <a:extLst>
              <a:ext uri="{FF2B5EF4-FFF2-40B4-BE49-F238E27FC236}">
                <a16:creationId xmlns:a16="http://schemas.microsoft.com/office/drawing/2014/main" id="{46532136-09BC-4380-A189-500716CBA3F2}"/>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946664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358753"/>
          </a:xfrm>
          <a:prstGeom prst="rect">
            <a:avLst/>
          </a:prstGeom>
          <a:noFill/>
        </p:spPr>
        <p:txBody>
          <a:bodyPr wrap="square" rtlCol="0">
            <a:spAutoFit/>
          </a:bodyPr>
          <a:lstStyle/>
          <a:p>
            <a:pPr algn="just">
              <a:lnSpc>
                <a:spcPts val="2200"/>
              </a:lnSpc>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8.7 (d)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解释为什么金属汞具有所有金属中最低的汽化热，它在室温下是液态的。</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2" name="文本框 1">
            <a:extLst>
              <a:ext uri="{FF2B5EF4-FFF2-40B4-BE49-F238E27FC236}">
                <a16:creationId xmlns:a16="http://schemas.microsoft.com/office/drawing/2014/main" id="{201FD86C-3608-4007-8E6E-25A05F95D053}"/>
              </a:ext>
            </a:extLst>
          </p:cNvPr>
          <p:cNvSpPr txBox="1"/>
          <p:nvPr/>
        </p:nvSpPr>
        <p:spPr>
          <a:xfrm>
            <a:off x="0" y="1760562"/>
            <a:ext cx="12192000" cy="3782767"/>
          </a:xfrm>
          <a:prstGeom prst="rect">
            <a:avLst/>
          </a:prstGeom>
          <a:noFill/>
        </p:spPr>
        <p:txBody>
          <a:bodyPr wrap="square" rtlCol="0">
            <a:spAutoFit/>
          </a:bodyPr>
          <a:lstStyle/>
          <a:p>
            <a:pPr algn="just">
              <a:lnSpc>
                <a:spcPct val="150000"/>
              </a:lnSpc>
            </a:pPr>
            <a:r>
              <a:rPr lang="zh-CN" altLang="en-US" dirty="0">
                <a:latin typeface="华文中宋" panose="02010600040101010101" pitchFamily="2" charset="-122"/>
                <a:ea typeface="华文中宋" panose="02010600040101010101" pitchFamily="2" charset="-122"/>
              </a:rPr>
              <a:t>答：</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b="1" dirty="0">
                <a:solidFill>
                  <a:srgbClr val="002060"/>
                </a:solidFill>
                <a:latin typeface="华文中宋" panose="02010600040101010101" pitchFamily="2" charset="-122"/>
                <a:ea typeface="华文中宋" panose="02010600040101010101" pitchFamily="2" charset="-122"/>
              </a:rPr>
              <a:t>(1) </a:t>
            </a:r>
            <a:r>
              <a:rPr lang="zh-CN" altLang="en-US" b="1" dirty="0">
                <a:solidFill>
                  <a:srgbClr val="002060"/>
                </a:solidFill>
                <a:latin typeface="华文中宋" panose="02010600040101010101" pitchFamily="2" charset="-122"/>
                <a:ea typeface="华文中宋" panose="02010600040101010101" pitchFamily="2" charset="-122"/>
              </a:rPr>
              <a:t>相对论效应</a:t>
            </a:r>
            <a:r>
              <a:rPr lang="zh-CN" altLang="en-US" dirty="0">
                <a:latin typeface="华文中宋" panose="02010600040101010101" pitchFamily="2" charset="-122"/>
                <a:ea typeface="华文中宋" panose="02010600040101010101" pitchFamily="2" charset="-122"/>
              </a:rPr>
              <a:t>：汞的</a:t>
            </a:r>
            <a:r>
              <a:rPr lang="en-US" altLang="zh-CN" dirty="0">
                <a:latin typeface="华文中宋" panose="02010600040101010101" pitchFamily="2" charset="-122"/>
                <a:ea typeface="华文中宋" panose="02010600040101010101" pitchFamily="2" charset="-122"/>
              </a:rPr>
              <a:t>6s</a:t>
            </a:r>
            <a:r>
              <a:rPr lang="zh-CN" altLang="en-US" dirty="0">
                <a:latin typeface="华文中宋" panose="02010600040101010101" pitchFamily="2" charset="-122"/>
                <a:ea typeface="华文中宋" panose="02010600040101010101" pitchFamily="2" charset="-122"/>
              </a:rPr>
              <a:t>电子具有非常高的速度，接近光速，这使得它们具有较大的质量并迫使它们靠近原子核。这种现象称为“相对论压缩”，</a:t>
            </a:r>
            <a:r>
              <a:rPr lang="zh-CN" altLang="en-US" b="1" dirty="0">
                <a:latin typeface="华文中宋" panose="02010600040101010101" pitchFamily="2" charset="-122"/>
                <a:ea typeface="华文中宋" panose="02010600040101010101" pitchFamily="2" charset="-122"/>
              </a:rPr>
              <a:t>导致汞的最外层电子不愿意与其他原子共享，从而不容易形成金属键</a:t>
            </a:r>
            <a:r>
              <a:rPr lang="zh-CN" altLang="en-US" dirty="0">
                <a:latin typeface="华文中宋" panose="02010600040101010101" pitchFamily="2" charset="-122"/>
                <a:ea typeface="华文中宋" panose="02010600040101010101" pitchFamily="2" charset="-122"/>
              </a:rPr>
              <a:t>。</a:t>
            </a:r>
          </a:p>
          <a:p>
            <a:pPr algn="just">
              <a:lnSpc>
                <a:spcPct val="150000"/>
              </a:lnSpc>
            </a:pPr>
            <a:r>
              <a:rPr lang="en-US" altLang="zh-CN" b="1" dirty="0">
                <a:solidFill>
                  <a:srgbClr val="00B050"/>
                </a:solidFill>
                <a:latin typeface="华文中宋" panose="02010600040101010101" pitchFamily="2" charset="-122"/>
                <a:ea typeface="华文中宋" panose="02010600040101010101" pitchFamily="2" charset="-122"/>
              </a:rPr>
              <a:t>(2) </a:t>
            </a:r>
            <a:r>
              <a:rPr lang="zh-CN" altLang="en-US" b="1" dirty="0">
                <a:solidFill>
                  <a:srgbClr val="00B050"/>
                </a:solidFill>
                <a:latin typeface="华文中宋" panose="02010600040101010101" pitchFamily="2" charset="-122"/>
                <a:ea typeface="华文中宋" panose="02010600040101010101" pitchFamily="2" charset="-122"/>
              </a:rPr>
              <a:t>惰性电子对效应</a:t>
            </a:r>
            <a:r>
              <a:rPr lang="zh-CN" altLang="en-US" dirty="0">
                <a:latin typeface="华文中宋" panose="02010600040101010101" pitchFamily="2" charset="-122"/>
                <a:ea typeface="华文中宋" panose="02010600040101010101" pitchFamily="2" charset="-122"/>
              </a:rPr>
              <a:t>：汞的最外层</a:t>
            </a:r>
            <a:r>
              <a:rPr lang="en-US" altLang="zh-CN" b="1" dirty="0">
                <a:latin typeface="华文中宋" panose="02010600040101010101" pitchFamily="2" charset="-122"/>
                <a:ea typeface="华文中宋" panose="02010600040101010101" pitchFamily="2" charset="-122"/>
              </a:rPr>
              <a:t>6s</a:t>
            </a:r>
            <a:r>
              <a:rPr lang="zh-CN" altLang="en-US" b="1" dirty="0">
                <a:latin typeface="华文中宋" panose="02010600040101010101" pitchFamily="2" charset="-122"/>
                <a:ea typeface="华文中宋" panose="02010600040101010101" pitchFamily="2" charset="-122"/>
              </a:rPr>
              <a:t>轨道是满的</a:t>
            </a:r>
            <a:r>
              <a:rPr lang="zh-CN" altLang="en-US" dirty="0">
                <a:latin typeface="华文中宋" panose="02010600040101010101" pitchFamily="2" charset="-122"/>
                <a:ea typeface="华文中宋" panose="02010600040101010101" pitchFamily="2" charset="-122"/>
              </a:rPr>
              <a:t>，类似于惰性气体，这使得汞原子间通过共享电子形成的金属键相对较弱。因此，在较低的温度下，原子间的连接便已经不能维持其固体形态了。</a:t>
            </a:r>
          </a:p>
          <a:p>
            <a:pPr algn="just">
              <a:lnSpc>
                <a:spcPct val="150000"/>
              </a:lnSpc>
            </a:pPr>
            <a:r>
              <a:rPr lang="en-US" altLang="zh-CN" b="1" dirty="0">
                <a:solidFill>
                  <a:srgbClr val="7030A0"/>
                </a:solidFill>
                <a:latin typeface="华文中宋" panose="02010600040101010101" pitchFamily="2" charset="-122"/>
                <a:ea typeface="华文中宋" panose="02010600040101010101" pitchFamily="2" charset="-122"/>
              </a:rPr>
              <a:t>(3) </a:t>
            </a:r>
            <a:r>
              <a:rPr lang="zh-CN" altLang="en-US" b="1" dirty="0">
                <a:solidFill>
                  <a:srgbClr val="7030A0"/>
                </a:solidFill>
                <a:latin typeface="华文中宋" panose="02010600040101010101" pitchFamily="2" charset="-122"/>
                <a:ea typeface="华文中宋" panose="02010600040101010101" pitchFamily="2" charset="-122"/>
              </a:rPr>
              <a:t>金属键的弱化</a:t>
            </a:r>
            <a:r>
              <a:rPr lang="zh-CN" altLang="en-US" dirty="0">
                <a:latin typeface="华文中宋" panose="02010600040101010101" pitchFamily="2" charset="-122"/>
                <a:ea typeface="华文中宋" panose="02010600040101010101" pitchFamily="2" charset="-122"/>
              </a:rPr>
              <a:t>：由于相对论效应和惰性电子对效应，汞原子之间的金属键相对较弱，导致汞在室温下不能形成固定的晶格结构，而是以液态存在。</a:t>
            </a:r>
          </a:p>
          <a:p>
            <a:pPr algn="just">
              <a:lnSpc>
                <a:spcPct val="150000"/>
              </a:lnSpc>
            </a:pPr>
            <a:r>
              <a:rPr lang="en-US" altLang="zh-CN" dirty="0">
                <a:latin typeface="华文中宋" panose="02010600040101010101" pitchFamily="2" charset="-122"/>
                <a:ea typeface="华文中宋" panose="02010600040101010101" pitchFamily="2" charset="-122"/>
              </a:rPr>
              <a:t>(4) </a:t>
            </a:r>
            <a:r>
              <a:rPr lang="zh-CN" altLang="en-US" dirty="0">
                <a:latin typeface="华文中宋" panose="02010600040101010101" pitchFamily="2" charset="-122"/>
                <a:ea typeface="华文中宋" panose="02010600040101010101" pitchFamily="2" charset="-122"/>
              </a:rPr>
              <a:t>这些效应共同作用，使得汞的熔点和沸点异常低，熔点为</a:t>
            </a:r>
            <a:r>
              <a:rPr lang="en-US" altLang="zh-CN" dirty="0">
                <a:latin typeface="华文中宋" panose="02010600040101010101" pitchFamily="2" charset="-122"/>
                <a:ea typeface="华文中宋" panose="02010600040101010101" pitchFamily="2" charset="-122"/>
              </a:rPr>
              <a:t>-38.83°C</a:t>
            </a:r>
            <a:r>
              <a:rPr lang="zh-CN" altLang="en-US" dirty="0">
                <a:latin typeface="华文中宋" panose="02010600040101010101" pitchFamily="2" charset="-122"/>
                <a:ea typeface="华文中宋" panose="02010600040101010101" pitchFamily="2" charset="-122"/>
              </a:rPr>
              <a:t>，沸点为</a:t>
            </a:r>
            <a:r>
              <a:rPr lang="en-US" altLang="zh-CN" dirty="0">
                <a:latin typeface="华文中宋" panose="02010600040101010101" pitchFamily="2" charset="-122"/>
                <a:ea typeface="华文中宋" panose="02010600040101010101" pitchFamily="2" charset="-122"/>
              </a:rPr>
              <a:t>356.73°C</a:t>
            </a:r>
            <a:r>
              <a:rPr lang="zh-CN" altLang="en-US" dirty="0">
                <a:latin typeface="华文中宋" panose="02010600040101010101" pitchFamily="2" charset="-122"/>
                <a:ea typeface="华文中宋" panose="02010600040101010101" pitchFamily="2" charset="-122"/>
              </a:rPr>
              <a:t>，因此汞在常温下保持液态。这些特性也使得汞在化学性质上不活泼，与稀有气体有相似之处，但同时也导致了汞化合物对生物的巨大毒性。</a:t>
            </a:r>
          </a:p>
        </p:txBody>
      </p:sp>
      <p:sp>
        <p:nvSpPr>
          <p:cNvPr id="7" name="文本框 6">
            <a:extLst>
              <a:ext uri="{FF2B5EF4-FFF2-40B4-BE49-F238E27FC236}">
                <a16:creationId xmlns:a16="http://schemas.microsoft.com/office/drawing/2014/main" id="{CD7095CC-B1BE-45D4-9E93-AA70C976AA4D}"/>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8" name="文本框 7">
            <a:extLst>
              <a:ext uri="{FF2B5EF4-FFF2-40B4-BE49-F238E27FC236}">
                <a16:creationId xmlns:a16="http://schemas.microsoft.com/office/drawing/2014/main" id="{BD87DA29-1E04-426D-BB91-6C1A98F4DB5E}"/>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1802358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1768689"/>
          </a:xfrm>
          <a:prstGeom prst="rect">
            <a:avLst/>
          </a:prstGeom>
          <a:noFill/>
        </p:spPr>
        <p:txBody>
          <a:bodyPr wrap="square" rtlCol="0">
            <a:spAutoFit/>
          </a:bodyPr>
          <a:lstStyle/>
          <a:p>
            <a:pPr algn="just">
              <a:lnSpc>
                <a:spcPts val="2200"/>
              </a:lnSpc>
            </a:pPr>
            <a:r>
              <a:rPr lang="en-US" altLang="zh-CN" dirty="0">
                <a:latin typeface="Times New Roman" panose="02020603050405020304" pitchFamily="18" charset="0"/>
                <a:cs typeface="Times New Roman" panose="02020603050405020304" pitchFamily="18" charset="0"/>
              </a:rPr>
              <a:t>8.8 The common oxidation states of mercury are +1 and +2. While Hg</a:t>
            </a:r>
            <a:r>
              <a:rPr lang="en-US" altLang="zh-CN" baseline="30000" dirty="0">
                <a:latin typeface="Times New Roman" panose="02020603050405020304" pitchFamily="18" charset="0"/>
                <a:cs typeface="Times New Roman" panose="02020603050405020304" pitchFamily="18" charset="0"/>
              </a:rPr>
              <a:t>2+ </a:t>
            </a:r>
            <a:r>
              <a:rPr lang="en-US" altLang="zh-CN" dirty="0">
                <a:latin typeface="Times New Roman" panose="02020603050405020304" pitchFamily="18" charset="0"/>
                <a:cs typeface="Times New Roman" panose="02020603050405020304" pitchFamily="18" charset="0"/>
              </a:rPr>
              <a:t>ions are found in solution, mercury(I) exists in solution as Hg2+2. The Hg–Hg bond length in mercury(I) salts is considerably less than the Hg–Hg distance in Hg(l).</a:t>
            </a:r>
          </a:p>
          <a:p>
            <a:pPr algn="just">
              <a:lnSpc>
                <a:spcPts val="2200"/>
              </a:lnSpc>
            </a:pPr>
            <a:r>
              <a:rPr lang="en-US" altLang="zh-CN" dirty="0">
                <a:latin typeface="Times New Roman" panose="02020603050405020304" pitchFamily="18" charset="0"/>
                <a:cs typeface="Times New Roman" panose="02020603050405020304" pitchFamily="18" charset="0"/>
              </a:rPr>
              <a:t>(a) By considering the 6s orbitals only, draw a simple MO diagram to explain the bonding in Hg2+2.</a:t>
            </a:r>
          </a:p>
          <a:p>
            <a:pPr algn="just">
              <a:lnSpc>
                <a:spcPts val="2200"/>
              </a:lnSpc>
            </a:pPr>
            <a:r>
              <a:rPr lang="en-US" altLang="zh-CN" dirty="0">
                <a:latin typeface="Times New Roman" panose="02020603050405020304" pitchFamily="18" charset="0"/>
                <a:cs typeface="Times New Roman" panose="02020603050405020304" pitchFamily="18" charset="0"/>
              </a:rPr>
              <a:t>(b) Would you expect mercury(I) salts to be paramagnetic?</a:t>
            </a:r>
          </a:p>
          <a:p>
            <a:pPr algn="just">
              <a:lnSpc>
                <a:spcPts val="2200"/>
              </a:lnSpc>
            </a:pPr>
            <a:r>
              <a:rPr lang="en-US" altLang="zh-CN" dirty="0">
                <a:latin typeface="Times New Roman" panose="02020603050405020304" pitchFamily="18" charset="0"/>
                <a:cs typeface="Times New Roman" panose="02020603050405020304" pitchFamily="18" charset="0"/>
              </a:rPr>
              <a:t>(c) Identify the species present in the ionic compound Hg</a:t>
            </a:r>
            <a:r>
              <a:rPr lang="en-US" altLang="zh-CN" baseline="-25000" dirty="0">
                <a:latin typeface="Times New Roman" panose="02020603050405020304" pitchFamily="18" charset="0"/>
                <a:cs typeface="Times New Roman" panose="02020603050405020304" pitchFamily="18" charset="0"/>
              </a:rPr>
              <a:t>3</a:t>
            </a:r>
            <a:r>
              <a:rPr lang="en-US" altLang="zh-CN" dirty="0">
                <a:latin typeface="Times New Roman" panose="02020603050405020304" pitchFamily="18" charset="0"/>
                <a:cs typeface="Times New Roman" panose="02020603050405020304" pitchFamily="18" charset="0"/>
              </a:rPr>
              <a:t>(AlCl</a:t>
            </a:r>
            <a:r>
              <a:rPr lang="en-US" altLang="zh-CN" baseline="-25000" dirty="0">
                <a:latin typeface="Times New Roman" panose="02020603050405020304" pitchFamily="18" charset="0"/>
                <a:cs typeface="Times New Roman" panose="02020603050405020304" pitchFamily="18" charset="0"/>
              </a:rPr>
              <a:t>4</a:t>
            </a:r>
            <a:r>
              <a:rPr lang="en-US" altLang="zh-CN" dirty="0">
                <a:latin typeface="Times New Roman" panose="02020603050405020304" pitchFamily="18" charset="0"/>
                <a:cs typeface="Times New Roman" panose="02020603050405020304" pitchFamily="18" charset="0"/>
              </a:rPr>
              <a:t>)</a:t>
            </a:r>
            <a:r>
              <a:rPr lang="en-US" altLang="zh-CN" baseline="-25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 and describe the bonding in each. [Hint: consider the ions present in the compound.]</a:t>
            </a:r>
            <a:endParaRPr lang="zh-CN" altLang="en-US"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845873A2-8B63-48CE-9E12-493027DAB971}"/>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6" name="文本框 5">
            <a:extLst>
              <a:ext uri="{FF2B5EF4-FFF2-40B4-BE49-F238E27FC236}">
                <a16:creationId xmlns:a16="http://schemas.microsoft.com/office/drawing/2014/main" id="{D91E85CF-8D90-4862-9553-FE34EF9AA99A}"/>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3340503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1210331"/>
          </a:xfrm>
          <a:prstGeom prst="rect">
            <a:avLst/>
          </a:prstGeom>
          <a:noFill/>
        </p:spPr>
        <p:txBody>
          <a:bodyPr wrap="square" rtlCol="0">
            <a:spAutoFit/>
          </a:bodyPr>
          <a:lstStyle/>
          <a:p>
            <a:pPr algn="just">
              <a:lnSpc>
                <a:spcPts val="2200"/>
              </a:lnSpc>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8.8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汞的常见氧化态为</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+1</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和</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。虽然</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Hg</a:t>
            </a:r>
            <a:r>
              <a:rPr lang="en-US" altLang="zh-CN" baseline="30000" dirty="0">
                <a:latin typeface="华文中宋" panose="02010600040101010101" pitchFamily="2" charset="-122"/>
                <a:ea typeface="华文中宋" panose="02010600040101010101" pitchFamily="2" charset="-122"/>
                <a:cs typeface="Times New Roman" panose="02020603050405020304" pitchFamily="18" charset="0"/>
              </a:rPr>
              <a:t>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离子在溶液中存在，但汞</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(I)</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在溶液中存在为</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Hg</a:t>
            </a:r>
            <a:r>
              <a:rPr lang="en-US" altLang="zh-CN" baseline="-25000" dirty="0">
                <a:latin typeface="华文中宋" panose="02010600040101010101" pitchFamily="2" charset="-122"/>
                <a:ea typeface="华文中宋" panose="02010600040101010101" pitchFamily="2" charset="-122"/>
                <a:cs typeface="Times New Roman" panose="02020603050405020304" pitchFamily="18" charset="0"/>
              </a:rPr>
              <a:t>2</a:t>
            </a:r>
            <a:r>
              <a:rPr lang="en-US" altLang="zh-CN" baseline="30000" dirty="0">
                <a:latin typeface="华文中宋" panose="02010600040101010101" pitchFamily="2" charset="-122"/>
                <a:ea typeface="华文中宋" panose="02010600040101010101" pitchFamily="2" charset="-122"/>
                <a:cs typeface="Times New Roman" panose="02020603050405020304" pitchFamily="18" charset="0"/>
              </a:rPr>
              <a:t>+2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。汞</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(I)</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盐中的</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Hg–Hg</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键长明显小于</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Hg(l)</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中的</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Hg–Hg</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距离。</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(a)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仅考虑</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6s</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轨道，绘制一个简单的分子轨道（</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MO</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）图来解释</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Hg</a:t>
            </a:r>
            <a:r>
              <a:rPr lang="en-US" altLang="zh-CN" baseline="-25000" dirty="0">
                <a:latin typeface="华文中宋" panose="02010600040101010101" pitchFamily="2" charset="-122"/>
                <a:ea typeface="华文中宋" panose="02010600040101010101" pitchFamily="2" charset="-122"/>
                <a:cs typeface="Times New Roman" panose="02020603050405020304" pitchFamily="18" charset="0"/>
              </a:rPr>
              <a:t>2</a:t>
            </a:r>
            <a:r>
              <a:rPr lang="en-US" altLang="zh-CN" baseline="30000" dirty="0">
                <a:latin typeface="华文中宋" panose="02010600040101010101" pitchFamily="2" charset="-122"/>
                <a:ea typeface="华文中宋" panose="02010600040101010101" pitchFamily="2" charset="-122"/>
                <a:cs typeface="Times New Roman" panose="02020603050405020304" pitchFamily="18" charset="0"/>
              </a:rPr>
              <a:t>+2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的成键。</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(b)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你认为汞</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(I)</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盐会是顺磁性的吗？</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(c)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识别离子化合物</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Hg</a:t>
            </a:r>
            <a:r>
              <a:rPr lang="en-US" altLang="zh-CN" baseline="-25000" dirty="0">
                <a:latin typeface="华文中宋" panose="02010600040101010101" pitchFamily="2" charset="-122"/>
                <a:ea typeface="华文中宋" panose="02010600040101010101" pitchFamily="2" charset="-122"/>
                <a:cs typeface="Times New Roman" panose="02020603050405020304" pitchFamily="18" charset="0"/>
              </a:rPr>
              <a:t>3</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(AlCl</a:t>
            </a:r>
            <a:r>
              <a:rPr lang="en-US" altLang="zh-CN" baseline="-25000" dirty="0">
                <a:latin typeface="华文中宋" panose="02010600040101010101" pitchFamily="2" charset="-122"/>
                <a:ea typeface="华文中宋" panose="02010600040101010101" pitchFamily="2" charset="-122"/>
                <a:cs typeface="Times New Roman" panose="02020603050405020304" pitchFamily="18" charset="0"/>
              </a:rPr>
              <a:t>4</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a:t>
            </a:r>
            <a:r>
              <a:rPr lang="en-US" altLang="zh-CN" baseline="-25000" dirty="0">
                <a:latin typeface="华文中宋" panose="02010600040101010101" pitchFamily="2" charset="-122"/>
                <a:ea typeface="华文中宋" panose="02010600040101010101" pitchFamily="2" charset="-122"/>
                <a:cs typeface="Times New Roman" panose="02020603050405020304" pitchFamily="18" charset="0"/>
              </a:rPr>
              <a:t>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中的物种，并描述每个物种的成键。提示：考虑化合物中存在的离子。</a:t>
            </a:r>
          </a:p>
        </p:txBody>
      </p:sp>
      <p:sp>
        <p:nvSpPr>
          <p:cNvPr id="3" name="文本框 2">
            <a:extLst>
              <a:ext uri="{FF2B5EF4-FFF2-40B4-BE49-F238E27FC236}">
                <a16:creationId xmlns:a16="http://schemas.microsoft.com/office/drawing/2014/main" id="{CB73E9EE-481E-48A8-A9F1-B0A194E2DB7B}"/>
              </a:ext>
            </a:extLst>
          </p:cNvPr>
          <p:cNvSpPr txBox="1"/>
          <p:nvPr/>
        </p:nvSpPr>
        <p:spPr>
          <a:xfrm>
            <a:off x="0" y="1760562"/>
            <a:ext cx="12192000" cy="1289777"/>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(a) </a:t>
            </a:r>
            <a:r>
              <a:rPr lang="zh-CN" altLang="en-US" dirty="0">
                <a:latin typeface="华文中宋" panose="02010600040101010101" pitchFamily="2" charset="-122"/>
                <a:ea typeface="华文中宋" panose="02010600040101010101" pitchFamily="2" charset="-122"/>
              </a:rPr>
              <a:t>答：汞的常见氧化态确实为</a:t>
            </a:r>
            <a:r>
              <a:rPr lang="en-US" altLang="zh-CN" dirty="0">
                <a:latin typeface="华文中宋" panose="02010600040101010101" pitchFamily="2" charset="-122"/>
                <a:ea typeface="华文中宋" panose="02010600040101010101" pitchFamily="2" charset="-122"/>
              </a:rPr>
              <a:t>+1</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。在汞</a:t>
            </a:r>
            <a:r>
              <a:rPr lang="en-US" altLang="zh-CN" dirty="0">
                <a:latin typeface="华文中宋" panose="02010600040101010101" pitchFamily="2" charset="-122"/>
                <a:ea typeface="华文中宋" panose="02010600040101010101" pitchFamily="2" charset="-122"/>
              </a:rPr>
              <a:t>(I)</a:t>
            </a:r>
            <a:r>
              <a:rPr lang="zh-CN" altLang="en-US" dirty="0">
                <a:latin typeface="华文中宋" panose="02010600040101010101" pitchFamily="2" charset="-122"/>
                <a:ea typeface="华文中宋" panose="02010600040101010101" pitchFamily="2" charset="-122"/>
              </a:rPr>
              <a:t>盐中，</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 </a:t>
            </a:r>
            <a:r>
              <a:rPr lang="en-US" altLang="zh-CN" b="1" dirty="0">
                <a:solidFill>
                  <a:srgbClr val="28A484"/>
                </a:solidFill>
                <a:latin typeface="华文中宋" panose="02010600040101010101" pitchFamily="2" charset="-122"/>
                <a:ea typeface="华文中宋" panose="02010600040101010101" pitchFamily="2" charset="-122"/>
                <a:cs typeface="Times New Roman" panose="02020603050405020304" pitchFamily="18" charset="0"/>
              </a:rPr>
              <a:t>Hg</a:t>
            </a:r>
            <a:r>
              <a:rPr lang="en-US" altLang="zh-CN" b="1" baseline="-25000" dirty="0">
                <a:solidFill>
                  <a:srgbClr val="28A484"/>
                </a:solidFill>
                <a:latin typeface="华文中宋" panose="02010600040101010101" pitchFamily="2" charset="-122"/>
                <a:ea typeface="华文中宋" panose="02010600040101010101" pitchFamily="2" charset="-122"/>
                <a:cs typeface="Times New Roman" panose="02020603050405020304" pitchFamily="18" charset="0"/>
              </a:rPr>
              <a:t>2</a:t>
            </a:r>
            <a:r>
              <a:rPr lang="en-US" altLang="zh-CN" b="1" baseline="30000" dirty="0">
                <a:solidFill>
                  <a:srgbClr val="28A484"/>
                </a:solidFill>
                <a:latin typeface="华文中宋" panose="02010600040101010101" pitchFamily="2" charset="-122"/>
                <a:ea typeface="华文中宋" panose="02010600040101010101" pitchFamily="2" charset="-122"/>
                <a:cs typeface="Times New Roman" panose="02020603050405020304" pitchFamily="18" charset="0"/>
              </a:rPr>
              <a:t>+2</a:t>
            </a:r>
            <a:r>
              <a:rPr lang="en-US" altLang="zh-CN" b="1" dirty="0">
                <a:solidFill>
                  <a:srgbClr val="28A484"/>
                </a:solidFill>
                <a:latin typeface="华文中宋" panose="02010600040101010101" pitchFamily="2" charset="-122"/>
                <a:ea typeface="华文中宋" panose="02010600040101010101" pitchFamily="2" charset="-122"/>
              </a:rPr>
              <a:t> </a:t>
            </a:r>
            <a:r>
              <a:rPr lang="zh-CN" altLang="en-US" b="1" dirty="0">
                <a:solidFill>
                  <a:srgbClr val="28A484"/>
                </a:solidFill>
                <a:latin typeface="华文中宋" panose="02010600040101010101" pitchFamily="2" charset="-122"/>
                <a:ea typeface="华文中宋" panose="02010600040101010101" pitchFamily="2" charset="-122"/>
              </a:rPr>
              <a:t>离子是由两个汞原子通过共享它们的</a:t>
            </a:r>
            <a:r>
              <a:rPr lang="en-US" altLang="zh-CN" b="1" dirty="0">
                <a:solidFill>
                  <a:srgbClr val="28A484"/>
                </a:solidFill>
                <a:latin typeface="华文中宋" panose="02010600040101010101" pitchFamily="2" charset="-122"/>
                <a:ea typeface="华文中宋" panose="02010600040101010101" pitchFamily="2" charset="-122"/>
              </a:rPr>
              <a:t>6s</a:t>
            </a:r>
            <a:r>
              <a:rPr lang="zh-CN" altLang="en-US" b="1" dirty="0">
                <a:solidFill>
                  <a:srgbClr val="28A484"/>
                </a:solidFill>
                <a:latin typeface="华文中宋" panose="02010600040101010101" pitchFamily="2" charset="-122"/>
                <a:ea typeface="华文中宋" panose="02010600040101010101" pitchFamily="2" charset="-122"/>
              </a:rPr>
              <a:t>电子形成的</a:t>
            </a:r>
            <a:r>
              <a:rPr lang="zh-CN" altLang="en-US" dirty="0">
                <a:latin typeface="华文中宋" panose="02010600040101010101" pitchFamily="2" charset="-122"/>
                <a:ea typeface="华文中宋" panose="02010600040101010101" pitchFamily="2" charset="-122"/>
              </a:rPr>
              <a:t>。这种成键涉及到两个汞原子之间的</a:t>
            </a:r>
            <a:r>
              <a:rPr lang="en-US" altLang="zh-CN"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中心</a:t>
            </a:r>
            <a:r>
              <a:rPr lang="en-US" altLang="zh-CN"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电子键，这是一种相对较弱的金属</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金属键。在</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Hg</a:t>
            </a:r>
            <a:r>
              <a:rPr lang="en-US" altLang="zh-CN" baseline="-25000" dirty="0">
                <a:latin typeface="华文中宋" panose="02010600040101010101" pitchFamily="2" charset="-122"/>
                <a:ea typeface="华文中宋" panose="02010600040101010101" pitchFamily="2" charset="-122"/>
                <a:cs typeface="Times New Roman" panose="02020603050405020304" pitchFamily="18" charset="0"/>
              </a:rPr>
              <a:t>2</a:t>
            </a:r>
            <a:r>
              <a:rPr lang="en-US" altLang="zh-CN" baseline="30000" dirty="0">
                <a:latin typeface="华文中宋" panose="02010600040101010101" pitchFamily="2" charset="-122"/>
                <a:ea typeface="华文中宋" panose="02010600040101010101" pitchFamily="2" charset="-122"/>
                <a:cs typeface="Times New Roman" panose="02020603050405020304" pitchFamily="18" charset="0"/>
              </a:rPr>
              <a:t>+2</a:t>
            </a: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中，两个汞原子之间的键长通常小于液态汞中汞原子之间的距离，这是因为液态汞中的汞原子间的相互作用更为松散。</a:t>
            </a:r>
            <a:endParaRPr lang="en-US" altLang="zh-CN" dirty="0">
              <a:latin typeface="华文中宋" panose="02010600040101010101" pitchFamily="2" charset="-122"/>
              <a:ea typeface="华文中宋" panose="02010600040101010101" pitchFamily="2" charset="-122"/>
            </a:endParaRPr>
          </a:p>
        </p:txBody>
      </p:sp>
      <p:pic>
        <p:nvPicPr>
          <p:cNvPr id="4" name="图片 3">
            <a:extLst>
              <a:ext uri="{FF2B5EF4-FFF2-40B4-BE49-F238E27FC236}">
                <a16:creationId xmlns:a16="http://schemas.microsoft.com/office/drawing/2014/main" id="{59DFED35-A34D-4C66-ADD2-D7EDEB5F718E}"/>
              </a:ext>
            </a:extLst>
          </p:cNvPr>
          <p:cNvPicPr/>
          <p:nvPr/>
        </p:nvPicPr>
        <p:blipFill>
          <a:blip r:embed="rId4"/>
          <a:stretch>
            <a:fillRect/>
          </a:stretch>
        </p:blipFill>
        <p:spPr>
          <a:xfrm>
            <a:off x="3654910" y="3110198"/>
            <a:ext cx="4486396" cy="2179809"/>
          </a:xfrm>
          <a:prstGeom prst="rect">
            <a:avLst/>
          </a:prstGeom>
        </p:spPr>
      </p:pic>
      <p:sp>
        <p:nvSpPr>
          <p:cNvPr id="6" name="文本框 5">
            <a:extLst>
              <a:ext uri="{FF2B5EF4-FFF2-40B4-BE49-F238E27FC236}">
                <a16:creationId xmlns:a16="http://schemas.microsoft.com/office/drawing/2014/main" id="{A1B47335-ACCB-4D9B-802E-938A35415C52}"/>
              </a:ext>
            </a:extLst>
          </p:cNvPr>
          <p:cNvSpPr txBox="1"/>
          <p:nvPr/>
        </p:nvSpPr>
        <p:spPr>
          <a:xfrm>
            <a:off x="0" y="5233918"/>
            <a:ext cx="12192000" cy="1289777"/>
          </a:xfrm>
          <a:prstGeom prst="rect">
            <a:avLst/>
          </a:prstGeom>
          <a:noFill/>
        </p:spPr>
        <p:txBody>
          <a:bodyPr wrap="square" rtlCol="0">
            <a:spAutoFit/>
          </a:bodyPr>
          <a:lstStyle/>
          <a:p>
            <a:pPr algn="just">
              <a:lnSpc>
                <a:spcPct val="150000"/>
              </a:lnSpc>
            </a:pPr>
            <a:r>
              <a:rPr lang="zh-CN" altLang="en-US" dirty="0">
                <a:latin typeface="华文中宋" panose="02010600040101010101" pitchFamily="2" charset="-122"/>
                <a:ea typeface="华文中宋" panose="02010600040101010101" pitchFamily="2" charset="-122"/>
              </a:rPr>
              <a:t>在这个</a:t>
            </a:r>
            <a:r>
              <a:rPr lang="en-US" altLang="zh-CN" dirty="0">
                <a:latin typeface="华文中宋" panose="02010600040101010101" pitchFamily="2" charset="-122"/>
                <a:ea typeface="华文中宋" panose="02010600040101010101" pitchFamily="2" charset="-122"/>
              </a:rPr>
              <a:t>MO</a:t>
            </a:r>
            <a:r>
              <a:rPr lang="zh-CN" altLang="en-US" dirty="0">
                <a:latin typeface="华文中宋" panose="02010600040101010101" pitchFamily="2" charset="-122"/>
                <a:ea typeface="华文中宋" panose="02010600040101010101" pitchFamily="2" charset="-122"/>
              </a:rPr>
              <a:t>图中，两个汞原子的</a:t>
            </a:r>
            <a:r>
              <a:rPr lang="en-US" altLang="zh-CN" dirty="0">
                <a:latin typeface="华文中宋" panose="02010600040101010101" pitchFamily="2" charset="-122"/>
                <a:ea typeface="华文中宋" panose="02010600040101010101" pitchFamily="2" charset="-122"/>
              </a:rPr>
              <a:t>6s</a:t>
            </a:r>
            <a:r>
              <a:rPr lang="zh-CN" altLang="en-US" dirty="0">
                <a:latin typeface="华文中宋" panose="02010600040101010101" pitchFamily="2" charset="-122"/>
                <a:ea typeface="华文中宋" panose="02010600040101010101" pitchFamily="2" charset="-122"/>
              </a:rPr>
              <a:t>原子轨道（</a:t>
            </a:r>
            <a:r>
              <a:rPr lang="en-US" altLang="zh-CN" dirty="0">
                <a:latin typeface="华文中宋" panose="02010600040101010101" pitchFamily="2" charset="-122"/>
                <a:ea typeface="华文中宋" panose="02010600040101010101" pitchFamily="2" charset="-122"/>
              </a:rPr>
              <a:t>AOs</a:t>
            </a:r>
            <a:r>
              <a:rPr lang="zh-CN" altLang="en-US" dirty="0">
                <a:latin typeface="华文中宋" panose="02010600040101010101" pitchFamily="2" charset="-122"/>
                <a:ea typeface="华文中宋" panose="02010600040101010101" pitchFamily="2" charset="-122"/>
              </a:rPr>
              <a:t>）相互重叠，形成一个</a:t>
            </a:r>
            <a:r>
              <a:rPr lang="en-US" altLang="zh-CN" dirty="0">
                <a:latin typeface="华文中宋" panose="02010600040101010101" pitchFamily="2" charset="-122"/>
                <a:ea typeface="华文中宋" panose="02010600040101010101" pitchFamily="2" charset="-122"/>
              </a:rPr>
              <a:t>σ</a:t>
            </a:r>
            <a:r>
              <a:rPr lang="zh-CN" altLang="en-US" dirty="0">
                <a:latin typeface="华文中宋" panose="02010600040101010101" pitchFamily="2" charset="-122"/>
                <a:ea typeface="华文中宋" panose="02010600040101010101" pitchFamily="2" charset="-122"/>
              </a:rPr>
              <a:t>成键分子轨道。由于</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Hg</a:t>
            </a:r>
            <a:r>
              <a:rPr lang="en-US" altLang="zh-CN" baseline="-25000" dirty="0">
                <a:latin typeface="华文中宋" panose="02010600040101010101" pitchFamily="2" charset="-122"/>
                <a:ea typeface="华文中宋" panose="02010600040101010101" pitchFamily="2" charset="-122"/>
                <a:cs typeface="Times New Roman" panose="02020603050405020304" pitchFamily="18" charset="0"/>
              </a:rPr>
              <a:t>2</a:t>
            </a:r>
            <a:r>
              <a:rPr lang="en-US" altLang="zh-CN" baseline="30000" dirty="0">
                <a:latin typeface="华文中宋" panose="02010600040101010101" pitchFamily="2" charset="-122"/>
                <a:ea typeface="华文中宋" panose="02010600040101010101" pitchFamily="2" charset="-122"/>
                <a:cs typeface="Times New Roman" panose="02020603050405020304" pitchFamily="18" charset="0"/>
              </a:rPr>
              <a:t>+2</a:t>
            </a:r>
            <a:r>
              <a:rPr lang="zh-CN" altLang="en-US" dirty="0">
                <a:latin typeface="华文中宋" panose="02010600040101010101" pitchFamily="2" charset="-122"/>
                <a:ea typeface="华文中宋" panose="02010600040101010101" pitchFamily="2" charset="-122"/>
              </a:rPr>
              <a:t>离子中只有两个电子，这两个电子都占据了这个成键轨道，从而形成了一个稳定的</a:t>
            </a:r>
            <a:r>
              <a:rPr lang="en-US" altLang="zh-CN"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中心</a:t>
            </a:r>
            <a:r>
              <a:rPr lang="en-US" altLang="zh-CN"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电子键。这种键合方式导致了</a:t>
            </a:r>
            <a:r>
              <a:rPr lang="en-US" altLang="zh-CN" dirty="0">
                <a:latin typeface="华文中宋" panose="02010600040101010101" pitchFamily="2" charset="-122"/>
                <a:ea typeface="华文中宋" panose="02010600040101010101" pitchFamily="2" charset="-122"/>
              </a:rPr>
              <a:t>Hg–Hg</a:t>
            </a:r>
            <a:r>
              <a:rPr lang="zh-CN" altLang="en-US" dirty="0">
                <a:latin typeface="华文中宋" panose="02010600040101010101" pitchFamily="2" charset="-122"/>
                <a:ea typeface="华文中宋" panose="02010600040101010101" pitchFamily="2" charset="-122"/>
              </a:rPr>
              <a:t>键的形成，其键长比液态汞中的</a:t>
            </a:r>
            <a:r>
              <a:rPr lang="en-US" altLang="zh-CN" dirty="0">
                <a:latin typeface="华文中宋" panose="02010600040101010101" pitchFamily="2" charset="-122"/>
                <a:ea typeface="华文中宋" panose="02010600040101010101" pitchFamily="2" charset="-122"/>
              </a:rPr>
              <a:t>Hg–Hg</a:t>
            </a:r>
            <a:r>
              <a:rPr lang="zh-CN" altLang="en-US" dirty="0">
                <a:latin typeface="华文中宋" panose="02010600040101010101" pitchFamily="2" charset="-122"/>
                <a:ea typeface="华文中宋" panose="02010600040101010101" pitchFamily="2" charset="-122"/>
              </a:rPr>
              <a:t>距离要短。</a:t>
            </a:r>
            <a:endParaRPr lang="en-US" altLang="zh-CN" dirty="0">
              <a:latin typeface="华文中宋" panose="02010600040101010101" pitchFamily="2" charset="-122"/>
              <a:ea typeface="华文中宋" panose="02010600040101010101" pitchFamily="2" charset="-122"/>
            </a:endParaRPr>
          </a:p>
        </p:txBody>
      </p:sp>
      <p:sp>
        <p:nvSpPr>
          <p:cNvPr id="7" name="文本框 6">
            <a:extLst>
              <a:ext uri="{FF2B5EF4-FFF2-40B4-BE49-F238E27FC236}">
                <a16:creationId xmlns:a16="http://schemas.microsoft.com/office/drawing/2014/main" id="{950394EA-9292-4584-8854-1D6EEB8DD225}"/>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9" name="文本框 8">
            <a:extLst>
              <a:ext uri="{FF2B5EF4-FFF2-40B4-BE49-F238E27FC236}">
                <a16:creationId xmlns:a16="http://schemas.microsoft.com/office/drawing/2014/main" id="{77B65F12-B4FD-4A4C-934E-34C2608C05E4}"/>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39226878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1210331"/>
          </a:xfrm>
          <a:prstGeom prst="rect">
            <a:avLst/>
          </a:prstGeom>
          <a:noFill/>
        </p:spPr>
        <p:txBody>
          <a:bodyPr wrap="square" rtlCol="0">
            <a:spAutoFit/>
          </a:bodyPr>
          <a:lstStyle/>
          <a:p>
            <a:pPr algn="just">
              <a:lnSpc>
                <a:spcPts val="2200"/>
              </a:lnSpc>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8.8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汞的常见氧化态为</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+1</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和</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。虽然</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Hg</a:t>
            </a:r>
            <a:r>
              <a:rPr lang="en-US" altLang="zh-CN" baseline="30000" dirty="0">
                <a:latin typeface="华文中宋" panose="02010600040101010101" pitchFamily="2" charset="-122"/>
                <a:ea typeface="华文中宋" panose="02010600040101010101" pitchFamily="2" charset="-122"/>
                <a:cs typeface="Times New Roman" panose="02020603050405020304" pitchFamily="18" charset="0"/>
              </a:rPr>
              <a:t>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离子在溶液中存在，但汞</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(I)</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在溶液中存在为</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Hg</a:t>
            </a:r>
            <a:r>
              <a:rPr lang="en-US" altLang="zh-CN" baseline="-25000" dirty="0">
                <a:latin typeface="华文中宋" panose="02010600040101010101" pitchFamily="2" charset="-122"/>
                <a:ea typeface="华文中宋" panose="02010600040101010101" pitchFamily="2" charset="-122"/>
                <a:cs typeface="Times New Roman" panose="02020603050405020304" pitchFamily="18" charset="0"/>
              </a:rPr>
              <a:t>2</a:t>
            </a:r>
            <a:r>
              <a:rPr lang="en-US" altLang="zh-CN" baseline="30000" dirty="0">
                <a:latin typeface="华文中宋" panose="02010600040101010101" pitchFamily="2" charset="-122"/>
                <a:ea typeface="华文中宋" panose="02010600040101010101" pitchFamily="2" charset="-122"/>
                <a:cs typeface="Times New Roman" panose="02020603050405020304" pitchFamily="18" charset="0"/>
              </a:rPr>
              <a:t>+2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。汞</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(I)</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盐中的</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Hg–Hg</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键长明显小于</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Hg(l)</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中的</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Hg–Hg</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距离。</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(a)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仅考虑</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6s</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轨道，绘制一个简单的分子轨道（</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MO</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）图来解释</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Hg</a:t>
            </a:r>
            <a:r>
              <a:rPr lang="en-US" altLang="zh-CN" baseline="-25000" dirty="0">
                <a:latin typeface="华文中宋" panose="02010600040101010101" pitchFamily="2" charset="-122"/>
                <a:ea typeface="华文中宋" panose="02010600040101010101" pitchFamily="2" charset="-122"/>
                <a:cs typeface="Times New Roman" panose="02020603050405020304" pitchFamily="18" charset="0"/>
              </a:rPr>
              <a:t>2</a:t>
            </a:r>
            <a:r>
              <a:rPr lang="en-US" altLang="zh-CN" baseline="30000" dirty="0">
                <a:latin typeface="华文中宋" panose="02010600040101010101" pitchFamily="2" charset="-122"/>
                <a:ea typeface="华文中宋" panose="02010600040101010101" pitchFamily="2" charset="-122"/>
                <a:cs typeface="Times New Roman" panose="02020603050405020304" pitchFamily="18" charset="0"/>
              </a:rPr>
              <a:t>+2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的成键。</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(b)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你认为汞</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(I)</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盐会是顺磁性的吗？</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(c)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识别离子化合物</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Hg</a:t>
            </a:r>
            <a:r>
              <a:rPr lang="en-US" altLang="zh-CN" baseline="-25000" dirty="0">
                <a:latin typeface="华文中宋" panose="02010600040101010101" pitchFamily="2" charset="-122"/>
                <a:ea typeface="华文中宋" panose="02010600040101010101" pitchFamily="2" charset="-122"/>
                <a:cs typeface="Times New Roman" panose="02020603050405020304" pitchFamily="18" charset="0"/>
              </a:rPr>
              <a:t>3</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(AlCl</a:t>
            </a:r>
            <a:r>
              <a:rPr lang="en-US" altLang="zh-CN" baseline="-25000" dirty="0">
                <a:latin typeface="华文中宋" panose="02010600040101010101" pitchFamily="2" charset="-122"/>
                <a:ea typeface="华文中宋" panose="02010600040101010101" pitchFamily="2" charset="-122"/>
                <a:cs typeface="Times New Roman" panose="02020603050405020304" pitchFamily="18" charset="0"/>
              </a:rPr>
              <a:t>4</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a:t>
            </a:r>
            <a:r>
              <a:rPr lang="en-US" altLang="zh-CN" baseline="-25000" dirty="0">
                <a:latin typeface="华文中宋" panose="02010600040101010101" pitchFamily="2" charset="-122"/>
                <a:ea typeface="华文中宋" panose="02010600040101010101" pitchFamily="2" charset="-122"/>
                <a:cs typeface="Times New Roman" panose="02020603050405020304" pitchFamily="18" charset="0"/>
              </a:rPr>
              <a:t>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中的物种，并描述每个物种的成键。提示：考虑化合物中存在的离子。</a:t>
            </a:r>
          </a:p>
        </p:txBody>
      </p:sp>
      <p:sp>
        <p:nvSpPr>
          <p:cNvPr id="3" name="文本框 2">
            <a:extLst>
              <a:ext uri="{FF2B5EF4-FFF2-40B4-BE49-F238E27FC236}">
                <a16:creationId xmlns:a16="http://schemas.microsoft.com/office/drawing/2014/main" id="{CB73E9EE-481E-48A8-A9F1-B0A194E2DB7B}"/>
              </a:ext>
            </a:extLst>
          </p:cNvPr>
          <p:cNvSpPr txBox="1"/>
          <p:nvPr/>
        </p:nvSpPr>
        <p:spPr>
          <a:xfrm>
            <a:off x="0" y="1760562"/>
            <a:ext cx="12192000" cy="2951770"/>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(b) </a:t>
            </a:r>
            <a:r>
              <a:rPr lang="zh-CN" altLang="en-US" dirty="0">
                <a:latin typeface="华文中宋" panose="02010600040101010101" pitchFamily="2" charset="-122"/>
                <a:ea typeface="华文中宋" panose="02010600040101010101" pitchFamily="2" charset="-122"/>
              </a:rPr>
              <a:t>答：</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dirty="0">
                <a:latin typeface="华文中宋" panose="02010600040101010101" pitchFamily="2" charset="-122"/>
                <a:ea typeface="华文中宋" panose="02010600040101010101" pitchFamily="2" charset="-122"/>
              </a:rPr>
              <a:t> (1)</a:t>
            </a:r>
            <a:r>
              <a:rPr lang="zh-CN" altLang="en-US" dirty="0">
                <a:latin typeface="华文中宋" panose="02010600040101010101" pitchFamily="2" charset="-122"/>
                <a:ea typeface="华文中宋" panose="02010600040101010101" pitchFamily="2" charset="-122"/>
              </a:rPr>
              <a:t>汞</a:t>
            </a:r>
            <a:r>
              <a:rPr lang="en-US" altLang="zh-CN" dirty="0">
                <a:latin typeface="华文中宋" panose="02010600040101010101" pitchFamily="2" charset="-122"/>
                <a:ea typeface="华文中宋" panose="02010600040101010101" pitchFamily="2" charset="-122"/>
              </a:rPr>
              <a:t>(I)</a:t>
            </a:r>
            <a:r>
              <a:rPr lang="zh-CN" altLang="en-US" dirty="0">
                <a:latin typeface="华文中宋" panose="02010600040101010101" pitchFamily="2" charset="-122"/>
                <a:ea typeface="华文中宋" panose="02010600040101010101" pitchFamily="2" charset="-122"/>
              </a:rPr>
              <a:t>盐通常不表现出顺磁性。这是因为汞</a:t>
            </a:r>
            <a:r>
              <a:rPr lang="en-US" altLang="zh-CN" dirty="0">
                <a:latin typeface="华文中宋" panose="02010600040101010101" pitchFamily="2" charset="-122"/>
                <a:ea typeface="华文中宋" panose="02010600040101010101" pitchFamily="2" charset="-122"/>
              </a:rPr>
              <a:t>(I)</a:t>
            </a:r>
            <a:r>
              <a:rPr lang="zh-CN" altLang="en-US" dirty="0">
                <a:latin typeface="华文中宋" panose="02010600040101010101" pitchFamily="2" charset="-122"/>
                <a:ea typeface="华文中宋" panose="02010600040101010101" pitchFamily="2" charset="-122"/>
              </a:rPr>
              <a:t>盐中的</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Hg</a:t>
            </a:r>
            <a:r>
              <a:rPr lang="en-US" altLang="zh-CN" baseline="30000" dirty="0">
                <a:latin typeface="华文中宋" panose="02010600040101010101" pitchFamily="2" charset="-122"/>
                <a:ea typeface="华文中宋" panose="02010600040101010101" pitchFamily="2" charset="-122"/>
                <a:cs typeface="Times New Roman" panose="02020603050405020304" pitchFamily="18" charset="0"/>
              </a:rPr>
              <a:t>2+</a:t>
            </a:r>
            <a:r>
              <a:rPr lang="zh-CN" altLang="en-US" dirty="0">
                <a:latin typeface="华文中宋" panose="02010600040101010101" pitchFamily="2" charset="-122"/>
                <a:ea typeface="华文中宋" panose="02010600040101010101" pitchFamily="2" charset="-122"/>
              </a:rPr>
              <a:t>离子由两个汞原子组成，每个汞原子贡献一个电子形成共价键。在这种情况下，两个汞原子的</a:t>
            </a:r>
            <a:r>
              <a:rPr lang="en-US" altLang="zh-CN" dirty="0">
                <a:latin typeface="华文中宋" panose="02010600040101010101" pitchFamily="2" charset="-122"/>
                <a:ea typeface="华文中宋" panose="02010600040101010101" pitchFamily="2" charset="-122"/>
              </a:rPr>
              <a:t>6s</a:t>
            </a:r>
            <a:r>
              <a:rPr lang="zh-CN" altLang="en-US" dirty="0">
                <a:latin typeface="华文中宋" panose="02010600040101010101" pitchFamily="2" charset="-122"/>
                <a:ea typeface="华文中宋" panose="02010600040101010101" pitchFamily="2" charset="-122"/>
              </a:rPr>
              <a:t>电子被共享，形成了一个成对的电子对，</a:t>
            </a:r>
            <a:r>
              <a:rPr lang="zh-CN" altLang="en-US" b="1" dirty="0">
                <a:solidFill>
                  <a:srgbClr val="0070C0"/>
                </a:solidFill>
                <a:latin typeface="华文中宋" panose="02010600040101010101" pitchFamily="2" charset="-122"/>
                <a:ea typeface="华文中宋" panose="02010600040101010101" pitchFamily="2" charset="-122"/>
              </a:rPr>
              <a:t>因此没有未配对的电子</a:t>
            </a:r>
            <a:r>
              <a:rPr lang="zh-CN" altLang="en-US" dirty="0">
                <a:latin typeface="华文中宋" panose="02010600040101010101" pitchFamily="2" charset="-122"/>
                <a:ea typeface="华文中宋" panose="02010600040101010101" pitchFamily="2" charset="-122"/>
              </a:rPr>
              <a:t>。由于顺磁性物质的特征是有未配对的电子，而</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Hg</a:t>
            </a:r>
            <a:r>
              <a:rPr lang="en-US" altLang="zh-CN" baseline="30000" dirty="0">
                <a:latin typeface="华文中宋" panose="02010600040101010101" pitchFamily="2" charset="-122"/>
                <a:ea typeface="华文中宋" panose="02010600040101010101" pitchFamily="2" charset="-122"/>
                <a:cs typeface="Times New Roman" panose="02020603050405020304" pitchFamily="18" charset="0"/>
              </a:rPr>
              <a:t>2+</a:t>
            </a:r>
            <a:r>
              <a:rPr lang="zh-CN" altLang="en-US" dirty="0">
                <a:latin typeface="华文中宋" panose="02010600040101010101" pitchFamily="2" charset="-122"/>
                <a:ea typeface="华文中宋" panose="02010600040101010101" pitchFamily="2" charset="-122"/>
              </a:rPr>
              <a:t>离子中所有电子都是成对的，</a:t>
            </a:r>
            <a:r>
              <a:rPr lang="zh-CN" altLang="en-US" b="1" dirty="0">
                <a:solidFill>
                  <a:srgbClr val="FF0000"/>
                </a:solidFill>
                <a:latin typeface="华文中宋" panose="02010600040101010101" pitchFamily="2" charset="-122"/>
                <a:ea typeface="华文中宋" panose="02010600040101010101" pitchFamily="2" charset="-122"/>
              </a:rPr>
              <a:t>所以汞</a:t>
            </a:r>
            <a:r>
              <a:rPr lang="en-US" altLang="zh-CN" b="1" dirty="0">
                <a:solidFill>
                  <a:srgbClr val="FF0000"/>
                </a:solidFill>
                <a:latin typeface="华文中宋" panose="02010600040101010101" pitchFamily="2" charset="-122"/>
                <a:ea typeface="华文中宋" panose="02010600040101010101" pitchFamily="2" charset="-122"/>
              </a:rPr>
              <a:t>(I)</a:t>
            </a:r>
            <a:r>
              <a:rPr lang="zh-CN" altLang="en-US" b="1" dirty="0">
                <a:solidFill>
                  <a:srgbClr val="FF0000"/>
                </a:solidFill>
                <a:latin typeface="华文中宋" panose="02010600040101010101" pitchFamily="2" charset="-122"/>
                <a:ea typeface="华文中宋" panose="02010600040101010101" pitchFamily="2" charset="-122"/>
              </a:rPr>
              <a:t>盐不是顺磁性的</a:t>
            </a:r>
            <a:r>
              <a:rPr lang="zh-CN" altLang="en-US" dirty="0">
                <a:latin typeface="华文中宋" panose="02010600040101010101" pitchFamily="2" charset="-122"/>
                <a:ea typeface="华文中宋" panose="02010600040101010101" pitchFamily="2" charset="-122"/>
              </a:rPr>
              <a:t>。</a:t>
            </a:r>
          </a:p>
          <a:p>
            <a:pPr algn="just">
              <a:lnSpc>
                <a:spcPct val="150000"/>
              </a:lnSpc>
            </a:pPr>
            <a:endParaRPr lang="zh-CN" altLang="en-US" dirty="0">
              <a:latin typeface="华文中宋" panose="02010600040101010101" pitchFamily="2" charset="-122"/>
              <a:ea typeface="华文中宋" panose="02010600040101010101" pitchFamily="2" charset="-122"/>
            </a:endParaRPr>
          </a:p>
          <a:p>
            <a:pPr algn="just">
              <a:lnSpc>
                <a:spcPct val="150000"/>
              </a:lnSpc>
            </a:pPr>
            <a:r>
              <a:rPr lang="en-US" altLang="zh-CN" dirty="0">
                <a:latin typeface="华文中宋" panose="02010600040101010101" pitchFamily="2" charset="-122"/>
                <a:ea typeface="华文中宋" panose="02010600040101010101" pitchFamily="2" charset="-122"/>
              </a:rPr>
              <a:t> (2)</a:t>
            </a:r>
            <a:r>
              <a:rPr lang="zh-CN" altLang="en-US" dirty="0">
                <a:latin typeface="华文中宋" panose="02010600040101010101" pitchFamily="2" charset="-122"/>
                <a:ea typeface="华文中宋" panose="02010600040101010101" pitchFamily="2" charset="-122"/>
              </a:rPr>
              <a:t>顺磁性物质通常含有未配对的电子，这些未配对的电子在外部磁场中会导致物质表现出磁性。相反，如果一个物质的所有电子都是成对的，那么它就是反磁性的，因为成对的电子会相互抵消它们的磁矩。</a:t>
            </a:r>
          </a:p>
        </p:txBody>
      </p:sp>
      <p:sp>
        <p:nvSpPr>
          <p:cNvPr id="4" name="文本框 3">
            <a:extLst>
              <a:ext uri="{FF2B5EF4-FFF2-40B4-BE49-F238E27FC236}">
                <a16:creationId xmlns:a16="http://schemas.microsoft.com/office/drawing/2014/main" id="{CA545EC2-8CB0-48C9-9039-F8270203A6DC}"/>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7" name="文本框 6">
            <a:extLst>
              <a:ext uri="{FF2B5EF4-FFF2-40B4-BE49-F238E27FC236}">
                <a16:creationId xmlns:a16="http://schemas.microsoft.com/office/drawing/2014/main" id="{C0944D6C-AB59-41F6-B303-396EF223893D}"/>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24161442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1210331"/>
          </a:xfrm>
          <a:prstGeom prst="rect">
            <a:avLst/>
          </a:prstGeom>
          <a:noFill/>
        </p:spPr>
        <p:txBody>
          <a:bodyPr wrap="square" rtlCol="0">
            <a:spAutoFit/>
          </a:bodyPr>
          <a:lstStyle/>
          <a:p>
            <a:pPr algn="just">
              <a:lnSpc>
                <a:spcPts val="2200"/>
              </a:lnSpc>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8.8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汞的常见氧化态为</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+1</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和</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。虽然</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Hg</a:t>
            </a:r>
            <a:r>
              <a:rPr lang="en-US" altLang="zh-CN" baseline="30000" dirty="0">
                <a:latin typeface="华文中宋" panose="02010600040101010101" pitchFamily="2" charset="-122"/>
                <a:ea typeface="华文中宋" panose="02010600040101010101" pitchFamily="2" charset="-122"/>
                <a:cs typeface="Times New Roman" panose="02020603050405020304" pitchFamily="18" charset="0"/>
              </a:rPr>
              <a:t>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离子在溶液中存在，但汞</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(I)</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在溶液中存在为</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Hg</a:t>
            </a:r>
            <a:r>
              <a:rPr lang="en-US" altLang="zh-CN" baseline="-25000" dirty="0">
                <a:latin typeface="华文中宋" panose="02010600040101010101" pitchFamily="2" charset="-122"/>
                <a:ea typeface="华文中宋" panose="02010600040101010101" pitchFamily="2" charset="-122"/>
                <a:cs typeface="Times New Roman" panose="02020603050405020304" pitchFamily="18" charset="0"/>
              </a:rPr>
              <a:t>2</a:t>
            </a:r>
            <a:r>
              <a:rPr lang="en-US" altLang="zh-CN" baseline="30000" dirty="0">
                <a:latin typeface="华文中宋" panose="02010600040101010101" pitchFamily="2" charset="-122"/>
                <a:ea typeface="华文中宋" panose="02010600040101010101" pitchFamily="2" charset="-122"/>
                <a:cs typeface="Times New Roman" panose="02020603050405020304" pitchFamily="18" charset="0"/>
              </a:rPr>
              <a:t>+2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。汞</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(I)</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盐中的</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Hg–Hg</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键长明显小于</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Hg(l)</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中的</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Hg–Hg</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距离。</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(a)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仅考虑</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6s</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轨道，绘制一个简单的分子轨道（</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MO</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）图来解释</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Hg</a:t>
            </a:r>
            <a:r>
              <a:rPr lang="en-US" altLang="zh-CN" baseline="-25000" dirty="0">
                <a:latin typeface="华文中宋" panose="02010600040101010101" pitchFamily="2" charset="-122"/>
                <a:ea typeface="华文中宋" panose="02010600040101010101" pitchFamily="2" charset="-122"/>
                <a:cs typeface="Times New Roman" panose="02020603050405020304" pitchFamily="18" charset="0"/>
              </a:rPr>
              <a:t>2</a:t>
            </a:r>
            <a:r>
              <a:rPr lang="en-US" altLang="zh-CN" baseline="30000" dirty="0">
                <a:latin typeface="华文中宋" panose="02010600040101010101" pitchFamily="2" charset="-122"/>
                <a:ea typeface="华文中宋" panose="02010600040101010101" pitchFamily="2" charset="-122"/>
                <a:cs typeface="Times New Roman" panose="02020603050405020304" pitchFamily="18" charset="0"/>
              </a:rPr>
              <a:t>+2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的成键。</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(b)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你认为汞</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(I)</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盐会是顺磁性的吗？</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(c)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识别离子化合物</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Hg</a:t>
            </a:r>
            <a:r>
              <a:rPr lang="en-US" altLang="zh-CN" baseline="-25000" dirty="0">
                <a:latin typeface="华文中宋" panose="02010600040101010101" pitchFamily="2" charset="-122"/>
                <a:ea typeface="华文中宋" panose="02010600040101010101" pitchFamily="2" charset="-122"/>
                <a:cs typeface="Times New Roman" panose="02020603050405020304" pitchFamily="18" charset="0"/>
              </a:rPr>
              <a:t>3</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(AlCl</a:t>
            </a:r>
            <a:r>
              <a:rPr lang="en-US" altLang="zh-CN" baseline="-25000" dirty="0">
                <a:latin typeface="华文中宋" panose="02010600040101010101" pitchFamily="2" charset="-122"/>
                <a:ea typeface="华文中宋" panose="02010600040101010101" pitchFamily="2" charset="-122"/>
                <a:cs typeface="Times New Roman" panose="02020603050405020304" pitchFamily="18" charset="0"/>
              </a:rPr>
              <a:t>4</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a:t>
            </a:r>
            <a:r>
              <a:rPr lang="en-US" altLang="zh-CN" baseline="-25000" dirty="0">
                <a:latin typeface="华文中宋" panose="02010600040101010101" pitchFamily="2" charset="-122"/>
                <a:ea typeface="华文中宋" panose="02010600040101010101" pitchFamily="2" charset="-122"/>
                <a:cs typeface="Times New Roman" panose="02020603050405020304" pitchFamily="18" charset="0"/>
              </a:rPr>
              <a:t>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中的物种，并描述每个物种的成键。提示：考虑化合物中存在的离子。</a:t>
            </a:r>
          </a:p>
        </p:txBody>
      </p:sp>
      <p:sp>
        <p:nvSpPr>
          <p:cNvPr id="3" name="文本框 2">
            <a:extLst>
              <a:ext uri="{FF2B5EF4-FFF2-40B4-BE49-F238E27FC236}">
                <a16:creationId xmlns:a16="http://schemas.microsoft.com/office/drawing/2014/main" id="{CB73E9EE-481E-48A8-A9F1-B0A194E2DB7B}"/>
              </a:ext>
            </a:extLst>
          </p:cNvPr>
          <p:cNvSpPr txBox="1"/>
          <p:nvPr/>
        </p:nvSpPr>
        <p:spPr>
          <a:xfrm>
            <a:off x="0" y="1207825"/>
            <a:ext cx="12192000" cy="3782767"/>
          </a:xfrm>
          <a:prstGeom prst="rect">
            <a:avLst/>
          </a:prstGeom>
          <a:noFill/>
        </p:spPr>
        <p:txBody>
          <a:bodyPr wrap="square" rtlCol="0">
            <a:spAutoFit/>
          </a:bodyPr>
          <a:lstStyle/>
          <a:p>
            <a:pPr algn="just">
              <a:lnSpc>
                <a:spcPct val="150000"/>
              </a:lnSpc>
            </a:pPr>
            <a:r>
              <a:rPr lang="en-US" altLang="zh-CN" dirty="0">
                <a:latin typeface="华文中宋" panose="02010600040101010101" pitchFamily="2" charset="-122"/>
                <a:ea typeface="华文中宋" panose="02010600040101010101" pitchFamily="2" charset="-122"/>
              </a:rPr>
              <a:t>(c) </a:t>
            </a:r>
            <a:r>
              <a:rPr lang="zh-CN" altLang="en-US" dirty="0">
                <a:latin typeface="华文中宋" panose="02010600040101010101" pitchFamily="2" charset="-122"/>
                <a:ea typeface="华文中宋" panose="02010600040101010101" pitchFamily="2" charset="-122"/>
              </a:rPr>
              <a:t>答：</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dirty="0">
                <a:latin typeface="华文中宋" panose="02010600040101010101" pitchFamily="2" charset="-122"/>
                <a:ea typeface="华文中宋" panose="02010600040101010101" pitchFamily="2" charset="-122"/>
              </a:rPr>
              <a:t>(1) </a:t>
            </a:r>
            <a:r>
              <a:rPr lang="en-US" altLang="zh-CN" b="1" dirty="0">
                <a:solidFill>
                  <a:srgbClr val="B970DE"/>
                </a:solidFill>
                <a:latin typeface="华文中宋" panose="02010600040101010101" pitchFamily="2" charset="-122"/>
                <a:ea typeface="华文中宋" panose="02010600040101010101" pitchFamily="2" charset="-122"/>
              </a:rPr>
              <a:t>(AlCl</a:t>
            </a:r>
            <a:r>
              <a:rPr lang="en-US" altLang="zh-CN" b="1" baseline="-25000" dirty="0">
                <a:solidFill>
                  <a:srgbClr val="B970DE"/>
                </a:solidFill>
                <a:latin typeface="华文中宋" panose="02010600040101010101" pitchFamily="2" charset="-122"/>
                <a:ea typeface="华文中宋" panose="02010600040101010101" pitchFamily="2" charset="-122"/>
              </a:rPr>
              <a:t>4</a:t>
            </a:r>
            <a:r>
              <a:rPr lang="en-US" altLang="zh-CN" b="1" dirty="0">
                <a:solidFill>
                  <a:srgbClr val="B970DE"/>
                </a:solidFill>
                <a:latin typeface="华文中宋" panose="02010600040101010101" pitchFamily="2" charset="-122"/>
                <a:ea typeface="华文中宋" panose="02010600040101010101" pitchFamily="2" charset="-122"/>
              </a:rPr>
              <a:t>)</a:t>
            </a:r>
            <a:r>
              <a:rPr lang="en-US" altLang="zh-CN" b="1" baseline="30000" dirty="0">
                <a:solidFill>
                  <a:srgbClr val="B970DE"/>
                </a:solidFill>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：这是一个四面体形状的阴离子，其中铝原子位于中心，与四个氯原子通过共价键相连。铝原子通过</a:t>
            </a:r>
            <a:r>
              <a:rPr lang="en-US" altLang="zh-CN" dirty="0">
                <a:latin typeface="华文中宋" panose="02010600040101010101" pitchFamily="2" charset="-122"/>
                <a:ea typeface="华文中宋" panose="02010600040101010101" pitchFamily="2" charset="-122"/>
              </a:rPr>
              <a:t>sp3</a:t>
            </a:r>
            <a:r>
              <a:rPr lang="zh-CN" altLang="en-US" dirty="0">
                <a:latin typeface="华文中宋" panose="02010600040101010101" pitchFamily="2" charset="-122"/>
                <a:ea typeface="华文中宋" panose="02010600040101010101" pitchFamily="2" charset="-122"/>
              </a:rPr>
              <a:t>杂化轨道与氯原子的</a:t>
            </a:r>
            <a:r>
              <a:rPr lang="en-US" altLang="zh-CN" dirty="0">
                <a:latin typeface="华文中宋" panose="02010600040101010101" pitchFamily="2" charset="-122"/>
                <a:ea typeface="华文中宋" panose="02010600040101010101" pitchFamily="2" charset="-122"/>
              </a:rPr>
              <a:t>p</a:t>
            </a:r>
            <a:r>
              <a:rPr lang="zh-CN" altLang="en-US" dirty="0">
                <a:latin typeface="华文中宋" panose="02010600040101010101" pitchFamily="2" charset="-122"/>
                <a:ea typeface="华文中宋" panose="02010600040101010101" pitchFamily="2" charset="-122"/>
              </a:rPr>
              <a:t>轨道重叠形成</a:t>
            </a:r>
            <a:r>
              <a:rPr lang="en-US" altLang="zh-CN" dirty="0">
                <a:latin typeface="华文中宋" panose="02010600040101010101" pitchFamily="2" charset="-122"/>
                <a:ea typeface="华文中宋" panose="02010600040101010101" pitchFamily="2" charset="-122"/>
              </a:rPr>
              <a:t>σ</a:t>
            </a:r>
            <a:r>
              <a:rPr lang="zh-CN" altLang="en-US" dirty="0">
                <a:latin typeface="华文中宋" panose="02010600040101010101" pitchFamily="2" charset="-122"/>
                <a:ea typeface="华文中宋" panose="02010600040101010101" pitchFamily="2" charset="-122"/>
              </a:rPr>
              <a:t>键。由于铝原子只有三个价电子，它通过接受来自氯原子的一个额外电子来形成这个四面体结构，使得每个氯原子都有一个完整的八隅体电子排布。</a:t>
            </a:r>
          </a:p>
          <a:p>
            <a:pPr algn="just">
              <a:lnSpc>
                <a:spcPct val="150000"/>
              </a:lnSpc>
            </a:pPr>
            <a:r>
              <a:rPr lang="en-US" altLang="zh-CN" dirty="0">
                <a:latin typeface="华文中宋" panose="02010600040101010101" pitchFamily="2" charset="-122"/>
                <a:ea typeface="华文中宋" panose="02010600040101010101" pitchFamily="2" charset="-122"/>
              </a:rPr>
              <a:t>(2) </a:t>
            </a:r>
            <a:r>
              <a:rPr lang="en-US" altLang="zh-CN" b="1" dirty="0">
                <a:solidFill>
                  <a:srgbClr val="00B050"/>
                </a:solidFill>
                <a:latin typeface="华文中宋" panose="02010600040101010101" pitchFamily="2" charset="-122"/>
                <a:ea typeface="华文中宋" panose="02010600040101010101" pitchFamily="2" charset="-122"/>
              </a:rPr>
              <a:t>(Hg</a:t>
            </a:r>
            <a:r>
              <a:rPr lang="en-US" altLang="zh-CN" b="1" baseline="-25000" dirty="0">
                <a:solidFill>
                  <a:srgbClr val="00B050"/>
                </a:solidFill>
                <a:latin typeface="华文中宋" panose="02010600040101010101" pitchFamily="2" charset="-122"/>
                <a:ea typeface="华文中宋" panose="02010600040101010101" pitchFamily="2" charset="-122"/>
              </a:rPr>
              <a:t>3</a:t>
            </a:r>
            <a:r>
              <a:rPr lang="en-US" altLang="zh-CN" b="1" dirty="0">
                <a:solidFill>
                  <a:srgbClr val="00B050"/>
                </a:solidFill>
                <a:latin typeface="华文中宋" panose="02010600040101010101" pitchFamily="2" charset="-122"/>
                <a:ea typeface="华文中宋" panose="02010600040101010101" pitchFamily="2" charset="-122"/>
              </a:rPr>
              <a:t>)</a:t>
            </a:r>
            <a:r>
              <a:rPr lang="en-US" altLang="zh-CN" b="1" baseline="30000" dirty="0">
                <a:solidFill>
                  <a:srgbClr val="00B050"/>
                </a:solidFill>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：这是一个多核阳离子，由三个汞原子通过金属</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金属键相连。在汞</a:t>
            </a:r>
            <a:r>
              <a:rPr lang="en-US" altLang="zh-CN" dirty="0">
                <a:latin typeface="华文中宋" panose="02010600040101010101" pitchFamily="2" charset="-122"/>
                <a:ea typeface="华文中宋" panose="02010600040101010101" pitchFamily="2" charset="-122"/>
              </a:rPr>
              <a:t>(I)</a:t>
            </a:r>
            <a:r>
              <a:rPr lang="zh-CN" altLang="en-US" dirty="0">
                <a:latin typeface="华文中宋" panose="02010600040101010101" pitchFamily="2" charset="-122"/>
                <a:ea typeface="华文中宋" panose="02010600040101010101" pitchFamily="2" charset="-122"/>
              </a:rPr>
              <a:t>盐中，如</a:t>
            </a:r>
            <a:r>
              <a:rPr lang="en-US" altLang="zh-CN" dirty="0">
                <a:latin typeface="华文中宋" panose="02010600040101010101" pitchFamily="2" charset="-122"/>
                <a:ea typeface="华文中宋" panose="02010600040101010101" pitchFamily="2" charset="-122"/>
              </a:rPr>
              <a:t>Hg</a:t>
            </a:r>
            <a:r>
              <a:rPr lang="en-US" altLang="zh-CN" baseline="-25000" dirty="0">
                <a:latin typeface="华文中宋" panose="02010600040101010101" pitchFamily="2" charset="-122"/>
                <a:ea typeface="华文中宋" panose="02010600040101010101" pitchFamily="2" charset="-122"/>
              </a:rPr>
              <a:t>2</a:t>
            </a:r>
            <a:r>
              <a:rPr lang="en-US" altLang="zh-CN" baseline="30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，两个汞原子通过共享它们的</a:t>
            </a:r>
            <a:r>
              <a:rPr lang="en-US" altLang="zh-CN" dirty="0">
                <a:latin typeface="华文中宋" panose="02010600040101010101" pitchFamily="2" charset="-122"/>
                <a:ea typeface="华文中宋" panose="02010600040101010101" pitchFamily="2" charset="-122"/>
              </a:rPr>
              <a:t>6s</a:t>
            </a:r>
            <a:r>
              <a:rPr lang="zh-CN" altLang="en-US" dirty="0">
                <a:latin typeface="华文中宋" panose="02010600040101010101" pitchFamily="2" charset="-122"/>
                <a:ea typeface="华文中宋" panose="02010600040101010101" pitchFamily="2" charset="-122"/>
              </a:rPr>
              <a:t>电子形成一个弱金属键。对于 </a:t>
            </a:r>
            <a:r>
              <a:rPr lang="en-US" altLang="zh-CN" dirty="0">
                <a:latin typeface="华文中宋" panose="02010600040101010101" pitchFamily="2" charset="-122"/>
                <a:ea typeface="华文中宋" panose="02010600040101010101" pitchFamily="2" charset="-122"/>
              </a:rPr>
              <a:t>Hg</a:t>
            </a:r>
            <a:r>
              <a:rPr lang="en-US" altLang="zh-CN" baseline="-25000" dirty="0">
                <a:latin typeface="华文中宋" panose="02010600040101010101" pitchFamily="2" charset="-122"/>
                <a:ea typeface="华文中宋" panose="02010600040101010101" pitchFamily="2" charset="-122"/>
              </a:rPr>
              <a:t>3</a:t>
            </a:r>
            <a:r>
              <a:rPr lang="en-US" altLang="zh-CN" baseline="30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，可以认为是在</a:t>
            </a:r>
            <a:r>
              <a:rPr lang="en-US" altLang="zh-CN" dirty="0">
                <a:latin typeface="华文中宋" panose="02010600040101010101" pitchFamily="2" charset="-122"/>
                <a:ea typeface="华文中宋" panose="02010600040101010101" pitchFamily="2" charset="-122"/>
              </a:rPr>
              <a:t>Hg</a:t>
            </a:r>
            <a:r>
              <a:rPr lang="en-US" altLang="zh-CN" baseline="-25000" dirty="0">
                <a:latin typeface="华文中宋" panose="02010600040101010101" pitchFamily="2" charset="-122"/>
                <a:ea typeface="华文中宋" panose="02010600040101010101" pitchFamily="2" charset="-122"/>
              </a:rPr>
              <a:t>2</a:t>
            </a:r>
            <a:r>
              <a:rPr lang="en-US" altLang="zh-CN" baseline="30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的基础上增加了一个汞原子，形成了一个线性的三核结构。这种结构中，两端的汞原子各失去一个电子，而中间的汞原子保持中性，从而形成了一个总体上带有</a:t>
            </a:r>
            <a:r>
              <a:rPr lang="en-US" altLang="zh-CN"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电荷的多核阳离子。这种多核阳离子的形成与汞的相对论稳定化的</a:t>
            </a:r>
            <a:r>
              <a:rPr lang="en-US" altLang="zh-CN" dirty="0">
                <a:latin typeface="华文中宋" panose="02010600040101010101" pitchFamily="2" charset="-122"/>
                <a:ea typeface="华文中宋" panose="02010600040101010101" pitchFamily="2" charset="-122"/>
              </a:rPr>
              <a:t>6s</a:t>
            </a:r>
            <a:r>
              <a:rPr lang="zh-CN" altLang="en-US" dirty="0">
                <a:latin typeface="华文中宋" panose="02010600040101010101" pitchFamily="2" charset="-122"/>
                <a:ea typeface="华文中宋" panose="02010600040101010101" pitchFamily="2" charset="-122"/>
              </a:rPr>
              <a:t>轨道有关，这增加了汞的前两个电离能，使得汞倾向于形成这种多核阳离子结构。</a:t>
            </a:r>
            <a:endParaRPr lang="en-US" altLang="zh-CN" dirty="0">
              <a:latin typeface="华文中宋" panose="02010600040101010101" pitchFamily="2" charset="-122"/>
              <a:ea typeface="华文中宋" panose="02010600040101010101" pitchFamily="2" charset="-122"/>
            </a:endParaRPr>
          </a:p>
        </p:txBody>
      </p:sp>
      <p:pic>
        <p:nvPicPr>
          <p:cNvPr id="4" name="图片 3">
            <a:extLst>
              <a:ext uri="{FF2B5EF4-FFF2-40B4-BE49-F238E27FC236}">
                <a16:creationId xmlns:a16="http://schemas.microsoft.com/office/drawing/2014/main" id="{23742E59-107F-47D9-A283-D5C932ACC447}"/>
              </a:ext>
            </a:extLst>
          </p:cNvPr>
          <p:cNvPicPr/>
          <p:nvPr/>
        </p:nvPicPr>
        <p:blipFill>
          <a:blip r:embed="rId4"/>
          <a:stretch>
            <a:fillRect/>
          </a:stretch>
        </p:blipFill>
        <p:spPr>
          <a:xfrm>
            <a:off x="4106254" y="4588054"/>
            <a:ext cx="3815715" cy="2131060"/>
          </a:xfrm>
          <a:prstGeom prst="rect">
            <a:avLst/>
          </a:prstGeom>
        </p:spPr>
      </p:pic>
      <p:sp>
        <p:nvSpPr>
          <p:cNvPr id="6" name="文本框 5">
            <a:extLst>
              <a:ext uri="{FF2B5EF4-FFF2-40B4-BE49-F238E27FC236}">
                <a16:creationId xmlns:a16="http://schemas.microsoft.com/office/drawing/2014/main" id="{F26DBC89-3EFA-4ADC-8D69-49931758A4F5}"/>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8" name="文本框 7">
            <a:extLst>
              <a:ext uri="{FF2B5EF4-FFF2-40B4-BE49-F238E27FC236}">
                <a16:creationId xmlns:a16="http://schemas.microsoft.com/office/drawing/2014/main" id="{8116B76D-5E53-4301-B762-823AB5520E1A}"/>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286064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1486561"/>
          </a:xfrm>
          <a:prstGeom prst="rect">
            <a:avLst/>
          </a:prstGeom>
          <a:noFill/>
        </p:spPr>
        <p:txBody>
          <a:bodyPr wrap="square" rtlCol="0">
            <a:spAutoFit/>
          </a:bodyPr>
          <a:lstStyle/>
          <a:p>
            <a:pPr algn="just">
              <a:lnSpc>
                <a:spcPts val="2200"/>
              </a:lnSpc>
            </a:pPr>
            <a:r>
              <a:rPr lang="en-US" altLang="zh-CN" dirty="0">
                <a:latin typeface="Times New Roman" panose="02020603050405020304" pitchFamily="18" charset="0"/>
                <a:cs typeface="Times New Roman" panose="02020603050405020304" pitchFamily="18" charset="0"/>
              </a:rPr>
              <a:t>8.9 The following table gives the bond strengths (kJ mol</a:t>
            </a:r>
            <a:r>
              <a:rPr lang="en-US" altLang="zh-CN" baseline="30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 for the homonuclear </a:t>
            </a:r>
            <a:r>
              <a:rPr lang="en-US" altLang="zh-CN" dirty="0" err="1">
                <a:latin typeface="Times New Roman" panose="02020603050405020304" pitchFamily="18" charset="0"/>
                <a:cs typeface="Times New Roman" panose="02020603050405020304" pitchFamily="18" charset="0"/>
              </a:rPr>
              <a:t>diatomics</a:t>
            </a:r>
            <a:r>
              <a:rPr lang="en-US" altLang="zh-CN" dirty="0">
                <a:latin typeface="Times New Roman" panose="02020603050405020304" pitchFamily="18" charset="0"/>
                <a:cs typeface="Times New Roman" panose="02020603050405020304" pitchFamily="18" charset="0"/>
              </a:rPr>
              <a:t> of the p-block. Rationalize the trends in the bond strengths for both crossing the periods and descending the groups. Your answer should include a consideration of the bond orders present in each group.</a:t>
            </a:r>
          </a:p>
          <a:p>
            <a:pPr algn="just">
              <a:lnSpc>
                <a:spcPts val="2200"/>
              </a:lnSpc>
            </a:pPr>
            <a:r>
              <a:rPr lang="en-US" altLang="zh-CN" dirty="0">
                <a:latin typeface="Times New Roman" panose="02020603050405020304" pitchFamily="18" charset="0"/>
                <a:cs typeface="Times New Roman" panose="02020603050405020304" pitchFamily="18" charset="0"/>
              </a:rPr>
              <a:t>Why are the bond strengths in Groups 16 and 17 generally greater than those in Groups 14 and 13 respectively? Explain any exceptions to this trend.</a:t>
            </a:r>
            <a:endParaRPr lang="zh-CN" altLang="en-US"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6FC09EC9-300F-4E2B-9CCF-C4D1BC7B6714}"/>
              </a:ext>
            </a:extLst>
          </p:cNvPr>
          <p:cNvPicPr>
            <a:picLocks noChangeAspect="1"/>
          </p:cNvPicPr>
          <p:nvPr/>
        </p:nvPicPr>
        <p:blipFill>
          <a:blip r:embed="rId4"/>
          <a:stretch>
            <a:fillRect/>
          </a:stretch>
        </p:blipFill>
        <p:spPr>
          <a:xfrm>
            <a:off x="3542944" y="2159674"/>
            <a:ext cx="5106113" cy="4258269"/>
          </a:xfrm>
          <a:prstGeom prst="rect">
            <a:avLst/>
          </a:prstGeom>
        </p:spPr>
      </p:pic>
      <p:sp>
        <p:nvSpPr>
          <p:cNvPr id="7" name="文本框 6">
            <a:extLst>
              <a:ext uri="{FF2B5EF4-FFF2-40B4-BE49-F238E27FC236}">
                <a16:creationId xmlns:a16="http://schemas.microsoft.com/office/drawing/2014/main" id="{752814B3-EC6B-430C-9590-A30A4D8C9DC5}"/>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8" name="文本框 7">
            <a:extLst>
              <a:ext uri="{FF2B5EF4-FFF2-40B4-BE49-F238E27FC236}">
                <a16:creationId xmlns:a16="http://schemas.microsoft.com/office/drawing/2014/main" id="{2F743CA1-21BD-4AD9-AA98-6E74C38E4634}"/>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27635649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928203"/>
          </a:xfrm>
          <a:prstGeom prst="rect">
            <a:avLst/>
          </a:prstGeom>
          <a:noFill/>
        </p:spPr>
        <p:txBody>
          <a:bodyPr wrap="square" rtlCol="0">
            <a:spAutoFit/>
          </a:bodyPr>
          <a:lstStyle/>
          <a:p>
            <a:pPr algn="just">
              <a:lnSpc>
                <a:spcPts val="2200"/>
              </a:lnSpc>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8.9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以下表格给出了</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p</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区同核双原子分子的键能（以</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kJ mol</a:t>
            </a:r>
            <a:r>
              <a:rPr lang="en-US" altLang="zh-CN" baseline="30000" dirty="0">
                <a:latin typeface="华文中宋" panose="02010600040101010101" pitchFamily="2" charset="-122"/>
                <a:ea typeface="华文中宋" panose="02010600040101010101" pitchFamily="2" charset="-122"/>
                <a:cs typeface="Times New Roman" panose="02020603050405020304" pitchFamily="18" charset="0"/>
              </a:rPr>
              <a:t>−1</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为单位）。请合理解释横跨周期和沿族下降时键能的变化趋势。你的答案应包括对每个族中存在的键级的考虑。为什么</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16</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族和</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17</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族的键强通常大于</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14</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族和</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13</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族的键强？解释此趋势的任何例外。</a:t>
            </a:r>
          </a:p>
        </p:txBody>
      </p:sp>
      <p:pic>
        <p:nvPicPr>
          <p:cNvPr id="3" name="图片 2">
            <a:extLst>
              <a:ext uri="{FF2B5EF4-FFF2-40B4-BE49-F238E27FC236}">
                <a16:creationId xmlns:a16="http://schemas.microsoft.com/office/drawing/2014/main" id="{6FC09EC9-300F-4E2B-9CCF-C4D1BC7B6714}"/>
              </a:ext>
            </a:extLst>
          </p:cNvPr>
          <p:cNvPicPr>
            <a:picLocks noChangeAspect="1"/>
          </p:cNvPicPr>
          <p:nvPr/>
        </p:nvPicPr>
        <p:blipFill>
          <a:blip r:embed="rId4"/>
          <a:stretch>
            <a:fillRect/>
          </a:stretch>
        </p:blipFill>
        <p:spPr>
          <a:xfrm>
            <a:off x="3542944" y="1299866"/>
            <a:ext cx="5106113" cy="4258269"/>
          </a:xfrm>
          <a:prstGeom prst="rect">
            <a:avLst/>
          </a:prstGeom>
        </p:spPr>
      </p:pic>
      <p:sp>
        <p:nvSpPr>
          <p:cNvPr id="4" name="文本框 3">
            <a:extLst>
              <a:ext uri="{FF2B5EF4-FFF2-40B4-BE49-F238E27FC236}">
                <a16:creationId xmlns:a16="http://schemas.microsoft.com/office/drawing/2014/main" id="{EEF57D04-BAAA-4852-BF47-3F76A626EC80}"/>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7" name="文本框 6">
            <a:extLst>
              <a:ext uri="{FF2B5EF4-FFF2-40B4-BE49-F238E27FC236}">
                <a16:creationId xmlns:a16="http://schemas.microsoft.com/office/drawing/2014/main" id="{8BE9D5AC-132D-46D7-990A-88BA4A7491CF}"/>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14534969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C285200-9393-40E1-AF7D-DC8D37217F18}"/>
              </a:ext>
            </a:extLst>
          </p:cNvPr>
          <p:cNvSpPr txBox="1"/>
          <p:nvPr/>
        </p:nvSpPr>
        <p:spPr>
          <a:xfrm>
            <a:off x="225188" y="20469"/>
            <a:ext cx="11532358" cy="928203"/>
          </a:xfrm>
          <a:prstGeom prst="rect">
            <a:avLst/>
          </a:prstGeom>
          <a:noFill/>
        </p:spPr>
        <p:txBody>
          <a:bodyPr wrap="square" rtlCol="0">
            <a:spAutoFit/>
          </a:bodyPr>
          <a:lstStyle/>
          <a:p>
            <a:pPr algn="just">
              <a:lnSpc>
                <a:spcPts val="2200"/>
              </a:lnSpc>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8.9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以下表格给出了</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p</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区同核双原子分子的键能（以</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kJ mol</a:t>
            </a:r>
            <a:r>
              <a:rPr lang="en-US" altLang="zh-CN" baseline="30000" dirty="0">
                <a:latin typeface="华文中宋" panose="02010600040101010101" pitchFamily="2" charset="-122"/>
                <a:ea typeface="华文中宋" panose="02010600040101010101" pitchFamily="2" charset="-122"/>
                <a:cs typeface="Times New Roman" panose="02020603050405020304" pitchFamily="18" charset="0"/>
              </a:rPr>
              <a:t>−1</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为单位）。请合理解释横跨周期和沿族下降时键能的变化趋势。你的答案应包括对每个族中存在的键级的考虑。为什么</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16</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族和</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17</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族的键强通常大于</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14</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族和</a:t>
            </a:r>
            <a:r>
              <a:rPr lang="en-US" altLang="zh-CN" dirty="0">
                <a:latin typeface="华文中宋" panose="02010600040101010101" pitchFamily="2" charset="-122"/>
                <a:ea typeface="华文中宋" panose="02010600040101010101" pitchFamily="2" charset="-122"/>
                <a:cs typeface="Times New Roman" panose="02020603050405020304" pitchFamily="18" charset="0"/>
              </a:rPr>
              <a:t>13</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族的键强？解释此趋势的任何例外。</a:t>
            </a:r>
          </a:p>
        </p:txBody>
      </p:sp>
      <p:sp>
        <p:nvSpPr>
          <p:cNvPr id="4" name="文本框 3">
            <a:extLst>
              <a:ext uri="{FF2B5EF4-FFF2-40B4-BE49-F238E27FC236}">
                <a16:creationId xmlns:a16="http://schemas.microsoft.com/office/drawing/2014/main" id="{1401EE5D-2D9D-45C7-B309-617103FED087}"/>
              </a:ext>
            </a:extLst>
          </p:cNvPr>
          <p:cNvSpPr txBox="1"/>
          <p:nvPr/>
        </p:nvSpPr>
        <p:spPr>
          <a:xfrm>
            <a:off x="0" y="1446661"/>
            <a:ext cx="12192000" cy="4613764"/>
          </a:xfrm>
          <a:prstGeom prst="rect">
            <a:avLst/>
          </a:prstGeom>
          <a:noFill/>
        </p:spPr>
        <p:txBody>
          <a:bodyPr wrap="square" rtlCol="0">
            <a:spAutoFit/>
          </a:bodyPr>
          <a:lstStyle/>
          <a:p>
            <a:pPr algn="just">
              <a:lnSpc>
                <a:spcPct val="150000"/>
              </a:lnSpc>
            </a:pPr>
            <a:r>
              <a:rPr lang="zh-CN" altLang="en-US" dirty="0">
                <a:latin typeface="华文中宋" panose="02010600040101010101" pitchFamily="2" charset="-122"/>
                <a:ea typeface="华文中宋" panose="02010600040101010101" pitchFamily="2" charset="-122"/>
              </a:rPr>
              <a:t>答：</a:t>
            </a:r>
            <a:endParaRPr lang="en-US" altLang="zh-CN" dirty="0">
              <a:latin typeface="华文中宋" panose="02010600040101010101" pitchFamily="2" charset="-122"/>
              <a:ea typeface="华文中宋" panose="02010600040101010101" pitchFamily="2" charset="-122"/>
            </a:endParaRPr>
          </a:p>
          <a:p>
            <a:pPr algn="just">
              <a:lnSpc>
                <a:spcPct val="150000"/>
              </a:lnSpc>
            </a:pPr>
            <a:r>
              <a:rPr lang="en-US" altLang="zh-CN" b="1" dirty="0">
                <a:solidFill>
                  <a:srgbClr val="00B050"/>
                </a:solidFill>
                <a:latin typeface="华文中宋" panose="02010600040101010101" pitchFamily="2" charset="-122"/>
                <a:ea typeface="华文中宋" panose="02010600040101010101" pitchFamily="2" charset="-122"/>
              </a:rPr>
              <a:t>(1) </a:t>
            </a:r>
            <a:r>
              <a:rPr lang="zh-CN" altLang="en-US" b="1" dirty="0">
                <a:solidFill>
                  <a:srgbClr val="00B050"/>
                </a:solidFill>
                <a:latin typeface="华文中宋" panose="02010600040101010101" pitchFamily="2" charset="-122"/>
                <a:ea typeface="华文中宋" panose="02010600040101010101" pitchFamily="2" charset="-122"/>
              </a:rPr>
              <a:t>横跨周期时的键强增加</a:t>
            </a:r>
            <a:r>
              <a:rPr lang="zh-CN" altLang="en-US" dirty="0">
                <a:latin typeface="华文中宋" panose="02010600040101010101" pitchFamily="2" charset="-122"/>
                <a:ea typeface="华文中宋" panose="02010600040101010101" pitchFamily="2" charset="-122"/>
              </a:rPr>
              <a:t>：当我们在周期表中从左向右移动时，</a:t>
            </a:r>
            <a:r>
              <a:rPr lang="zh-CN" altLang="en-US" b="1" dirty="0">
                <a:solidFill>
                  <a:srgbClr val="C00000"/>
                </a:solidFill>
                <a:latin typeface="华文中宋" panose="02010600040101010101" pitchFamily="2" charset="-122"/>
                <a:ea typeface="华文中宋" panose="02010600040101010101" pitchFamily="2" charset="-122"/>
              </a:rPr>
              <a:t>原子的有效核电荷（</a:t>
            </a:r>
            <a:r>
              <a:rPr lang="en-US" altLang="zh-CN" b="1" dirty="0">
                <a:solidFill>
                  <a:srgbClr val="C00000"/>
                </a:solidFill>
                <a:latin typeface="华文中宋" panose="02010600040101010101" pitchFamily="2" charset="-122"/>
                <a:ea typeface="华文中宋" panose="02010600040101010101" pitchFamily="2" charset="-122"/>
              </a:rPr>
              <a:t>Z</a:t>
            </a:r>
            <a:r>
              <a:rPr lang="en-US" altLang="zh-CN" b="1" baseline="-25000" dirty="0">
                <a:solidFill>
                  <a:srgbClr val="C00000"/>
                </a:solidFill>
                <a:latin typeface="华文中宋" panose="02010600040101010101" pitchFamily="2" charset="-122"/>
                <a:ea typeface="华文中宋" panose="02010600040101010101" pitchFamily="2" charset="-122"/>
              </a:rPr>
              <a:t>eff</a:t>
            </a:r>
            <a:r>
              <a:rPr lang="zh-CN" altLang="en-US" b="1" dirty="0">
                <a:solidFill>
                  <a:srgbClr val="C00000"/>
                </a:solidFill>
                <a:latin typeface="华文中宋" panose="02010600040101010101" pitchFamily="2" charset="-122"/>
                <a:ea typeface="华文中宋" panose="02010600040101010101" pitchFamily="2" charset="-122"/>
              </a:rPr>
              <a:t>）增加，而原子半径减小</a:t>
            </a:r>
            <a:r>
              <a:rPr lang="zh-CN" altLang="en-US" dirty="0">
                <a:latin typeface="华文中宋" panose="02010600040101010101" pitchFamily="2" charset="-122"/>
                <a:ea typeface="华文中宋" panose="02010600040101010101" pitchFamily="2" charset="-122"/>
              </a:rPr>
              <a:t>。这导致价电子与原子核之间的吸引力增强，从而使得成键电子更紧密地束缚，增加了键能。例如，第二周期中的</a:t>
            </a:r>
            <a:r>
              <a:rPr lang="en-US" altLang="zh-CN" dirty="0">
                <a:latin typeface="华文中宋" panose="02010600040101010101" pitchFamily="2" charset="-122"/>
                <a:ea typeface="华文中宋" panose="02010600040101010101" pitchFamily="2" charset="-122"/>
              </a:rPr>
              <a:t>N</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具有非常强的三键，而</a:t>
            </a:r>
            <a:r>
              <a:rPr lang="en-US" altLang="zh-CN" dirty="0">
                <a:latin typeface="华文中宋" panose="02010600040101010101" pitchFamily="2" charset="-122"/>
                <a:ea typeface="华文中宋" panose="02010600040101010101" pitchFamily="2" charset="-122"/>
              </a:rPr>
              <a:t>O</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F</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则分别具有双键和单键，但由于</a:t>
            </a:r>
            <a:r>
              <a:rPr lang="en-US" altLang="zh-CN" dirty="0">
                <a:latin typeface="华文中宋" panose="02010600040101010101" pitchFamily="2" charset="-122"/>
                <a:ea typeface="华文中宋" panose="02010600040101010101" pitchFamily="2" charset="-122"/>
              </a:rPr>
              <a:t>O</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F</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a:t>
            </a:r>
            <a:r>
              <a:rPr lang="en-US" altLang="zh-CN" dirty="0">
                <a:latin typeface="华文中宋" panose="02010600040101010101" pitchFamily="2" charset="-122"/>
                <a:ea typeface="华文中宋" panose="02010600040101010101" pitchFamily="2" charset="-122"/>
              </a:rPr>
              <a:t>π</a:t>
            </a:r>
            <a:r>
              <a:rPr lang="zh-CN" altLang="en-US" dirty="0">
                <a:latin typeface="华文中宋" panose="02010600040101010101" pitchFamily="2" charset="-122"/>
                <a:ea typeface="华文中宋" panose="02010600040101010101" pitchFamily="2" charset="-122"/>
              </a:rPr>
              <a:t>轨道重叠不如</a:t>
            </a:r>
            <a:r>
              <a:rPr lang="en-US" altLang="zh-CN" dirty="0">
                <a:latin typeface="华文中宋" panose="02010600040101010101" pitchFamily="2" charset="-122"/>
                <a:ea typeface="华文中宋" panose="02010600040101010101" pitchFamily="2" charset="-122"/>
              </a:rPr>
              <a:t>N</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中的</a:t>
            </a:r>
            <a:r>
              <a:rPr lang="en-US" altLang="zh-CN" dirty="0">
                <a:latin typeface="华文中宋" panose="02010600040101010101" pitchFamily="2" charset="-122"/>
                <a:ea typeface="华文中宋" panose="02010600040101010101" pitchFamily="2" charset="-122"/>
              </a:rPr>
              <a:t>π</a:t>
            </a:r>
            <a:r>
              <a:rPr lang="zh-CN" altLang="en-US" dirty="0">
                <a:latin typeface="华文中宋" panose="02010600040101010101" pitchFamily="2" charset="-122"/>
                <a:ea typeface="华文中宋" panose="02010600040101010101" pitchFamily="2" charset="-122"/>
              </a:rPr>
              <a:t>轨道，所以它们的键强较低。</a:t>
            </a:r>
          </a:p>
          <a:p>
            <a:pPr algn="just">
              <a:lnSpc>
                <a:spcPct val="150000"/>
              </a:lnSpc>
            </a:pPr>
            <a:r>
              <a:rPr lang="en-US" altLang="zh-CN" b="1" dirty="0">
                <a:solidFill>
                  <a:srgbClr val="0070C0"/>
                </a:solidFill>
                <a:latin typeface="华文中宋" panose="02010600040101010101" pitchFamily="2" charset="-122"/>
                <a:ea typeface="华文中宋" panose="02010600040101010101" pitchFamily="2" charset="-122"/>
              </a:rPr>
              <a:t>(2) </a:t>
            </a:r>
            <a:r>
              <a:rPr lang="zh-CN" altLang="en-US" b="1" dirty="0">
                <a:solidFill>
                  <a:srgbClr val="0070C0"/>
                </a:solidFill>
                <a:latin typeface="华文中宋" panose="02010600040101010101" pitchFamily="2" charset="-122"/>
                <a:ea typeface="华文中宋" panose="02010600040101010101" pitchFamily="2" charset="-122"/>
              </a:rPr>
              <a:t>沿族下降时的键强减小</a:t>
            </a:r>
            <a:r>
              <a:rPr lang="zh-CN" altLang="en-US" dirty="0">
                <a:latin typeface="华文中宋" panose="02010600040101010101" pitchFamily="2" charset="-122"/>
                <a:ea typeface="华文中宋" panose="02010600040101010101" pitchFamily="2" charset="-122"/>
              </a:rPr>
              <a:t>：当我们在族中向下移动时，</a:t>
            </a:r>
            <a:r>
              <a:rPr lang="zh-CN" altLang="en-US" b="1" dirty="0">
                <a:solidFill>
                  <a:schemeClr val="accent2">
                    <a:lumMod val="75000"/>
                  </a:schemeClr>
                </a:solidFill>
                <a:latin typeface="华文中宋" panose="02010600040101010101" pitchFamily="2" charset="-122"/>
                <a:ea typeface="华文中宋" panose="02010600040101010101" pitchFamily="2" charset="-122"/>
              </a:rPr>
              <a:t>原子半径增加，这导致价电子轨道之间的重叠减少，从而减弱了键能</a:t>
            </a:r>
            <a:r>
              <a:rPr lang="zh-CN" altLang="en-US" dirty="0">
                <a:latin typeface="华文中宋" panose="02010600040101010101" pitchFamily="2" charset="-122"/>
                <a:ea typeface="华文中宋" panose="02010600040101010101" pitchFamily="2" charset="-122"/>
              </a:rPr>
              <a:t>。例如，第</a:t>
            </a:r>
            <a:r>
              <a:rPr lang="en-US" altLang="zh-CN" dirty="0">
                <a:latin typeface="华文中宋" panose="02010600040101010101" pitchFamily="2" charset="-122"/>
                <a:ea typeface="华文中宋" panose="02010600040101010101" pitchFamily="2" charset="-122"/>
              </a:rPr>
              <a:t>15</a:t>
            </a:r>
            <a:r>
              <a:rPr lang="zh-CN" altLang="en-US" dirty="0">
                <a:latin typeface="华文中宋" panose="02010600040101010101" pitchFamily="2" charset="-122"/>
                <a:ea typeface="华文中宋" panose="02010600040101010101" pitchFamily="2" charset="-122"/>
              </a:rPr>
              <a:t>族中的</a:t>
            </a:r>
            <a:r>
              <a:rPr lang="en-US" altLang="zh-CN" dirty="0">
                <a:latin typeface="华文中宋" panose="02010600040101010101" pitchFamily="2" charset="-122"/>
                <a:ea typeface="华文中宋" panose="02010600040101010101" pitchFamily="2" charset="-122"/>
              </a:rPr>
              <a:t>P</a:t>
            </a:r>
            <a:r>
              <a:rPr lang="en-US" altLang="zh-CN" baseline="-25000" dirty="0">
                <a:latin typeface="华文中宋" panose="02010600040101010101" pitchFamily="2" charset="-122"/>
                <a:ea typeface="华文中宋" panose="02010600040101010101" pitchFamily="2" charset="-122"/>
              </a:rPr>
              <a:t>4</a:t>
            </a:r>
            <a:r>
              <a:rPr lang="zh-CN" altLang="en-US" dirty="0">
                <a:latin typeface="华文中宋" panose="02010600040101010101" pitchFamily="2" charset="-122"/>
                <a:ea typeface="华文中宋" panose="02010600040101010101" pitchFamily="2" charset="-122"/>
              </a:rPr>
              <a:t>比</a:t>
            </a:r>
            <a:r>
              <a:rPr lang="en-US" altLang="zh-CN" dirty="0">
                <a:latin typeface="华文中宋" panose="02010600040101010101" pitchFamily="2" charset="-122"/>
                <a:ea typeface="华文中宋" panose="02010600040101010101" pitchFamily="2" charset="-122"/>
              </a:rPr>
              <a:t>N</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的键能要低，因为磷原子比氮原子大，其成键轨道重叠较差。</a:t>
            </a:r>
          </a:p>
          <a:p>
            <a:pPr algn="just">
              <a:lnSpc>
                <a:spcPct val="150000"/>
              </a:lnSpc>
            </a:pPr>
            <a:r>
              <a:rPr lang="en-US" altLang="zh-CN" b="1" dirty="0">
                <a:solidFill>
                  <a:schemeClr val="accent6">
                    <a:lumMod val="50000"/>
                  </a:schemeClr>
                </a:solidFill>
                <a:latin typeface="华文中宋" panose="02010600040101010101" pitchFamily="2" charset="-122"/>
                <a:ea typeface="华文中宋" panose="02010600040101010101" pitchFamily="2" charset="-122"/>
              </a:rPr>
              <a:t>(3) 16</a:t>
            </a:r>
            <a:r>
              <a:rPr lang="zh-CN" altLang="en-US" b="1" dirty="0">
                <a:solidFill>
                  <a:schemeClr val="accent6">
                    <a:lumMod val="50000"/>
                  </a:schemeClr>
                </a:solidFill>
                <a:latin typeface="华文中宋" panose="02010600040101010101" pitchFamily="2" charset="-122"/>
                <a:ea typeface="华文中宋" panose="02010600040101010101" pitchFamily="2" charset="-122"/>
              </a:rPr>
              <a:t>族和</a:t>
            </a:r>
            <a:r>
              <a:rPr lang="en-US" altLang="zh-CN" b="1" dirty="0">
                <a:solidFill>
                  <a:schemeClr val="accent6">
                    <a:lumMod val="50000"/>
                  </a:schemeClr>
                </a:solidFill>
                <a:latin typeface="华文中宋" panose="02010600040101010101" pitchFamily="2" charset="-122"/>
                <a:ea typeface="华文中宋" panose="02010600040101010101" pitchFamily="2" charset="-122"/>
              </a:rPr>
              <a:t>17</a:t>
            </a:r>
            <a:r>
              <a:rPr lang="zh-CN" altLang="en-US" b="1" dirty="0">
                <a:solidFill>
                  <a:schemeClr val="accent6">
                    <a:lumMod val="50000"/>
                  </a:schemeClr>
                </a:solidFill>
                <a:latin typeface="华文中宋" panose="02010600040101010101" pitchFamily="2" charset="-122"/>
                <a:ea typeface="华文中宋" panose="02010600040101010101" pitchFamily="2" charset="-122"/>
              </a:rPr>
              <a:t>族的键能通常大于</a:t>
            </a:r>
            <a:r>
              <a:rPr lang="en-US" altLang="zh-CN" b="1" dirty="0">
                <a:solidFill>
                  <a:schemeClr val="accent6">
                    <a:lumMod val="50000"/>
                  </a:schemeClr>
                </a:solidFill>
                <a:latin typeface="华文中宋" panose="02010600040101010101" pitchFamily="2" charset="-122"/>
                <a:ea typeface="华文中宋" panose="02010600040101010101" pitchFamily="2" charset="-122"/>
              </a:rPr>
              <a:t>14</a:t>
            </a:r>
            <a:r>
              <a:rPr lang="zh-CN" altLang="en-US" b="1" dirty="0">
                <a:solidFill>
                  <a:schemeClr val="accent6">
                    <a:lumMod val="50000"/>
                  </a:schemeClr>
                </a:solidFill>
                <a:latin typeface="华文中宋" panose="02010600040101010101" pitchFamily="2" charset="-122"/>
                <a:ea typeface="华文中宋" panose="02010600040101010101" pitchFamily="2" charset="-122"/>
              </a:rPr>
              <a:t>族和</a:t>
            </a:r>
            <a:r>
              <a:rPr lang="en-US" altLang="zh-CN" b="1" dirty="0">
                <a:solidFill>
                  <a:schemeClr val="accent6">
                    <a:lumMod val="50000"/>
                  </a:schemeClr>
                </a:solidFill>
                <a:latin typeface="华文中宋" panose="02010600040101010101" pitchFamily="2" charset="-122"/>
                <a:ea typeface="华文中宋" panose="02010600040101010101" pitchFamily="2" charset="-122"/>
              </a:rPr>
              <a:t>13</a:t>
            </a:r>
            <a:r>
              <a:rPr lang="zh-CN" altLang="en-US" b="1" dirty="0">
                <a:solidFill>
                  <a:schemeClr val="accent6">
                    <a:lumMod val="50000"/>
                  </a:schemeClr>
                </a:solidFill>
                <a:latin typeface="华文中宋" panose="02010600040101010101" pitchFamily="2" charset="-122"/>
                <a:ea typeface="华文中宋" panose="02010600040101010101" pitchFamily="2" charset="-122"/>
              </a:rPr>
              <a:t>族</a:t>
            </a:r>
            <a:r>
              <a:rPr lang="zh-CN" altLang="en-US" dirty="0">
                <a:latin typeface="华文中宋" panose="02010600040101010101" pitchFamily="2" charset="-122"/>
                <a:ea typeface="华文中宋" panose="02010600040101010101" pitchFamily="2" charset="-122"/>
              </a:rPr>
              <a:t>：这是因为</a:t>
            </a:r>
            <a:r>
              <a:rPr lang="en-US" altLang="zh-CN" dirty="0">
                <a:latin typeface="华文中宋" panose="02010600040101010101" pitchFamily="2" charset="-122"/>
                <a:ea typeface="华文中宋" panose="02010600040101010101" pitchFamily="2" charset="-122"/>
              </a:rPr>
              <a:t>16</a:t>
            </a:r>
            <a:r>
              <a:rPr lang="zh-CN" altLang="en-US" dirty="0">
                <a:latin typeface="华文中宋" panose="02010600040101010101" pitchFamily="2" charset="-122"/>
                <a:ea typeface="华文中宋" panose="02010600040101010101" pitchFamily="2" charset="-122"/>
              </a:rPr>
              <a:t>族和</a:t>
            </a:r>
            <a:r>
              <a:rPr lang="en-US" altLang="zh-CN" dirty="0">
                <a:latin typeface="华文中宋" panose="02010600040101010101" pitchFamily="2" charset="-122"/>
                <a:ea typeface="华文中宋" panose="02010600040101010101" pitchFamily="2" charset="-122"/>
              </a:rPr>
              <a:t>17</a:t>
            </a:r>
            <a:r>
              <a:rPr lang="zh-CN" altLang="en-US" dirty="0">
                <a:latin typeface="华文中宋" panose="02010600040101010101" pitchFamily="2" charset="-122"/>
                <a:ea typeface="华文中宋" panose="02010600040101010101" pitchFamily="2" charset="-122"/>
              </a:rPr>
              <a:t>族元素</a:t>
            </a:r>
            <a:r>
              <a:rPr lang="zh-CN" altLang="en-US" b="1" dirty="0">
                <a:solidFill>
                  <a:srgbClr val="1A95A6"/>
                </a:solidFill>
                <a:latin typeface="华文中宋" panose="02010600040101010101" pitchFamily="2" charset="-122"/>
                <a:ea typeface="华文中宋" panose="02010600040101010101" pitchFamily="2" charset="-122"/>
              </a:rPr>
              <a:t>具有较高的电负性</a:t>
            </a:r>
            <a:r>
              <a:rPr lang="zh-CN" altLang="en-US" dirty="0">
                <a:latin typeface="华文中宋" panose="02010600040101010101" pitchFamily="2" charset="-122"/>
                <a:ea typeface="华文中宋" panose="02010600040101010101" pitchFamily="2" charset="-122"/>
              </a:rPr>
              <a:t>，它们</a:t>
            </a:r>
            <a:r>
              <a:rPr lang="zh-CN" altLang="en-US" b="1" dirty="0">
                <a:solidFill>
                  <a:srgbClr val="A3961D"/>
                </a:solidFill>
                <a:latin typeface="华文中宋" panose="02010600040101010101" pitchFamily="2" charset="-122"/>
                <a:ea typeface="华文中宋" panose="02010600040101010101" pitchFamily="2" charset="-122"/>
              </a:rPr>
              <a:t>倾向于形成较强的共价键</a:t>
            </a:r>
            <a:r>
              <a:rPr lang="zh-CN" altLang="en-US" dirty="0">
                <a:latin typeface="华文中宋" panose="02010600040101010101" pitchFamily="2" charset="-122"/>
                <a:ea typeface="华文中宋" panose="02010600040101010101" pitchFamily="2" charset="-122"/>
              </a:rPr>
              <a:t>。此外，</a:t>
            </a:r>
            <a:r>
              <a:rPr lang="en-US" altLang="zh-CN" dirty="0">
                <a:latin typeface="华文中宋" panose="02010600040101010101" pitchFamily="2" charset="-122"/>
                <a:ea typeface="华文中宋" panose="02010600040101010101" pitchFamily="2" charset="-122"/>
              </a:rPr>
              <a:t>16</a:t>
            </a:r>
            <a:r>
              <a:rPr lang="zh-CN" altLang="en-US" dirty="0">
                <a:latin typeface="华文中宋" panose="02010600040101010101" pitchFamily="2" charset="-122"/>
                <a:ea typeface="华文中宋" panose="02010600040101010101" pitchFamily="2" charset="-122"/>
              </a:rPr>
              <a:t>族的氧和硫通常形成双键，而</a:t>
            </a:r>
            <a:r>
              <a:rPr lang="en-US" altLang="zh-CN" dirty="0">
                <a:latin typeface="华文中宋" panose="02010600040101010101" pitchFamily="2" charset="-122"/>
                <a:ea typeface="华文中宋" panose="02010600040101010101" pitchFamily="2" charset="-122"/>
              </a:rPr>
              <a:t>17</a:t>
            </a:r>
            <a:r>
              <a:rPr lang="zh-CN" altLang="en-US" dirty="0">
                <a:latin typeface="华文中宋" panose="02010600040101010101" pitchFamily="2" charset="-122"/>
                <a:ea typeface="华文中宋" panose="02010600040101010101" pitchFamily="2" charset="-122"/>
              </a:rPr>
              <a:t>族的氟和氯形成单键，这些都比</a:t>
            </a:r>
            <a:r>
              <a:rPr lang="en-US" altLang="zh-CN" dirty="0">
                <a:latin typeface="华文中宋" panose="02010600040101010101" pitchFamily="2" charset="-122"/>
                <a:ea typeface="华文中宋" panose="02010600040101010101" pitchFamily="2" charset="-122"/>
              </a:rPr>
              <a:t>13</a:t>
            </a:r>
            <a:r>
              <a:rPr lang="zh-CN" altLang="en-US" dirty="0">
                <a:latin typeface="华文中宋" panose="02010600040101010101" pitchFamily="2" charset="-122"/>
                <a:ea typeface="华文中宋" panose="02010600040101010101" pitchFamily="2" charset="-122"/>
              </a:rPr>
              <a:t>族和</a:t>
            </a:r>
            <a:r>
              <a:rPr lang="en-US" altLang="zh-CN" dirty="0">
                <a:latin typeface="华文中宋" panose="02010600040101010101" pitchFamily="2" charset="-122"/>
                <a:ea typeface="华文中宋" panose="02010600040101010101" pitchFamily="2" charset="-122"/>
              </a:rPr>
              <a:t>14</a:t>
            </a:r>
            <a:r>
              <a:rPr lang="zh-CN" altLang="en-US" dirty="0">
                <a:latin typeface="华文中宋" panose="02010600040101010101" pitchFamily="2" charset="-122"/>
                <a:ea typeface="华文中宋" panose="02010600040101010101" pitchFamily="2" charset="-122"/>
              </a:rPr>
              <a:t>族元素的单键更强。</a:t>
            </a:r>
          </a:p>
          <a:p>
            <a:pPr algn="just">
              <a:lnSpc>
                <a:spcPct val="150000"/>
              </a:lnSpc>
            </a:pPr>
            <a:r>
              <a:rPr lang="en-US" altLang="zh-CN" b="1" dirty="0">
                <a:solidFill>
                  <a:srgbClr val="1A95A6"/>
                </a:solidFill>
                <a:latin typeface="华文中宋" panose="02010600040101010101" pitchFamily="2" charset="-122"/>
                <a:ea typeface="华文中宋" panose="02010600040101010101" pitchFamily="2" charset="-122"/>
              </a:rPr>
              <a:t>(4) </a:t>
            </a:r>
            <a:r>
              <a:rPr lang="zh-CN" altLang="en-US" b="1" dirty="0">
                <a:solidFill>
                  <a:srgbClr val="1A95A6"/>
                </a:solidFill>
                <a:latin typeface="华文中宋" panose="02010600040101010101" pitchFamily="2" charset="-122"/>
                <a:ea typeface="华文中宋" panose="02010600040101010101" pitchFamily="2" charset="-122"/>
              </a:rPr>
              <a:t>例外情况</a:t>
            </a: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O</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和</a:t>
            </a:r>
            <a:r>
              <a:rPr lang="en-US" altLang="zh-CN" dirty="0">
                <a:latin typeface="华文中宋" panose="02010600040101010101" pitchFamily="2" charset="-122"/>
                <a:ea typeface="华文中宋" panose="02010600040101010101" pitchFamily="2" charset="-122"/>
              </a:rPr>
              <a:t>F</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是例外，它们的键能不如可能预期的那么高。这是因为</a:t>
            </a:r>
            <a:r>
              <a:rPr lang="zh-CN" altLang="en-US" b="1" dirty="0">
                <a:solidFill>
                  <a:srgbClr val="DF8649"/>
                </a:solidFill>
                <a:latin typeface="华文中宋" panose="02010600040101010101" pitchFamily="2" charset="-122"/>
                <a:ea typeface="华文中宋" panose="02010600040101010101" pitchFamily="2" charset="-122"/>
              </a:rPr>
              <a:t>它们的</a:t>
            </a:r>
            <a:r>
              <a:rPr lang="en-US" altLang="zh-CN" b="1" dirty="0">
                <a:solidFill>
                  <a:srgbClr val="DF8649"/>
                </a:solidFill>
                <a:latin typeface="华文中宋" panose="02010600040101010101" pitchFamily="2" charset="-122"/>
                <a:ea typeface="华文中宋" panose="02010600040101010101" pitchFamily="2" charset="-122"/>
              </a:rPr>
              <a:t>π*</a:t>
            </a:r>
            <a:r>
              <a:rPr lang="zh-CN" altLang="en-US" b="1" dirty="0">
                <a:solidFill>
                  <a:srgbClr val="DF8649"/>
                </a:solidFill>
                <a:latin typeface="华文中宋" panose="02010600040101010101" pitchFamily="2" charset="-122"/>
                <a:ea typeface="华文中宋" panose="02010600040101010101" pitchFamily="2" charset="-122"/>
              </a:rPr>
              <a:t>反键轨道相对较低，导致成键电子的能量增加，从而减弱了键能</a:t>
            </a:r>
            <a:r>
              <a:rPr lang="zh-CN" altLang="en-US" dirty="0">
                <a:latin typeface="华文中宋" panose="02010600040101010101" pitchFamily="2" charset="-122"/>
                <a:ea typeface="华文中宋" panose="02010600040101010101" pitchFamily="2" charset="-122"/>
              </a:rPr>
              <a:t>。特别是</a:t>
            </a:r>
            <a:r>
              <a:rPr lang="en-US" altLang="zh-CN" dirty="0">
                <a:latin typeface="华文中宋" panose="02010600040101010101" pitchFamily="2" charset="-122"/>
                <a:ea typeface="华文中宋" panose="02010600040101010101" pitchFamily="2" charset="-122"/>
              </a:rPr>
              <a:t>O</a:t>
            </a:r>
            <a:r>
              <a:rPr lang="en-US" altLang="zh-CN" baseline="-25000"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，它还具有两个未配对的电子，使其成为顺磁性分子，这进一步证明了其键能相对较低。</a:t>
            </a:r>
            <a:endParaRPr lang="en-US" altLang="zh-CN" dirty="0">
              <a:latin typeface="华文中宋" panose="02010600040101010101" pitchFamily="2" charset="-122"/>
              <a:ea typeface="华文中宋" panose="02010600040101010101" pitchFamily="2" charset="-122"/>
            </a:endParaRPr>
          </a:p>
        </p:txBody>
      </p:sp>
      <p:sp>
        <p:nvSpPr>
          <p:cNvPr id="6" name="文本框 5">
            <a:extLst>
              <a:ext uri="{FF2B5EF4-FFF2-40B4-BE49-F238E27FC236}">
                <a16:creationId xmlns:a16="http://schemas.microsoft.com/office/drawing/2014/main" id="{2E92F298-E793-4036-A743-DFB85678CF31}"/>
              </a:ext>
            </a:extLst>
          </p:cNvPr>
          <p:cNvSpPr txBox="1"/>
          <p:nvPr>
            <p:custDataLst>
              <p:tags r:id="rId1"/>
            </p:custDataLst>
          </p:nvPr>
        </p:nvSpPr>
        <p:spPr>
          <a:xfrm>
            <a:off x="10710198" y="6400800"/>
            <a:ext cx="1005403" cy="338554"/>
          </a:xfrm>
          <a:prstGeom prst="rect">
            <a:avLst/>
          </a:prstGeom>
          <a:noFill/>
        </p:spPr>
        <p:txBody>
          <a:bodyPr wrap="none" rtlCol="0">
            <a:spAutoFit/>
          </a:bodyPr>
          <a:lstStyle/>
          <a:p>
            <a:pPr algn="just"/>
            <a:r>
              <a:rPr lang="zh-CN" altLang="en-US" sz="1600" dirty="0">
                <a:latin typeface="华文中宋" panose="02010600040101010101" pitchFamily="2" charset="-122"/>
                <a:ea typeface="华文中宋" panose="02010600040101010101" pitchFamily="2" charset="-122"/>
              </a:rPr>
              <a:t>仅供参考</a:t>
            </a:r>
          </a:p>
        </p:txBody>
      </p:sp>
      <p:sp>
        <p:nvSpPr>
          <p:cNvPr id="8" name="文本框 7">
            <a:extLst>
              <a:ext uri="{FF2B5EF4-FFF2-40B4-BE49-F238E27FC236}">
                <a16:creationId xmlns:a16="http://schemas.microsoft.com/office/drawing/2014/main" id="{BE12A06E-22D0-4790-A28F-26B5F074F70A}"/>
              </a:ext>
            </a:extLst>
          </p:cNvPr>
          <p:cNvSpPr txBox="1"/>
          <p:nvPr>
            <p:custDataLst>
              <p:tags r:id="rId2"/>
            </p:custDataLst>
          </p:nvPr>
        </p:nvSpPr>
        <p:spPr>
          <a:xfrm>
            <a:off x="0" y="6523631"/>
            <a:ext cx="1723549" cy="276999"/>
          </a:xfrm>
          <a:prstGeom prst="rect">
            <a:avLst/>
          </a:prstGeom>
          <a:noFill/>
        </p:spPr>
        <p:txBody>
          <a:bodyPr wrap="none" rtlCol="0">
            <a:spAutoFit/>
          </a:bodyPr>
          <a:lstStyle/>
          <a:p>
            <a:r>
              <a:rPr lang="zh-CN" altLang="en-US" sz="1200" dirty="0">
                <a:latin typeface="华文中宋" panose="02010600040101010101" pitchFamily="2" charset="-122"/>
                <a:ea typeface="华文中宋" panose="02010600040101010101" pitchFamily="2" charset="-122"/>
              </a:rPr>
              <a:t>元素化学第八章习题课</a:t>
            </a:r>
          </a:p>
        </p:txBody>
      </p:sp>
    </p:spTree>
    <p:extLst>
      <p:ext uri="{BB962C8B-B14F-4D97-AF65-F5344CB8AC3E}">
        <p14:creationId xmlns:p14="http://schemas.microsoft.com/office/powerpoint/2010/main" val="18438822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2.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3.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4.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5.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6.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7.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8.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9.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10.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11.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12.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13.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14.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15.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16.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17.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18.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19.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20.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21.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22.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23.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24.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25.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26.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27.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28.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29.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30.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31.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32.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33.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34.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35.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36.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37.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38.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39.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40.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41.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42.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43.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44.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45.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46.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47.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48.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49.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50.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51.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52.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ags/tag53.xml><?xml version="1.0" encoding="utf-8"?>
<p:tagLst xmlns:a="http://schemas.openxmlformats.org/drawingml/2006/main" xmlns:r="http://schemas.openxmlformats.org/officeDocument/2006/relationships" xmlns:p="http://schemas.openxmlformats.org/presentationml/2006/main">
  <p:tag name="ISLIDE.ADDREMOVEWATERMARK" val="bMd3t0sAY0"/>
</p:tagLst>
</file>

<file path=ppt/tags/tag54.xml><?xml version="1.0" encoding="utf-8"?>
<p:tagLst xmlns:a="http://schemas.openxmlformats.org/drawingml/2006/main" xmlns:r="http://schemas.openxmlformats.org/officeDocument/2006/relationships" xmlns:p="http://schemas.openxmlformats.org/presentationml/2006/main">
  <p:tag name="ISLIDE.ADDREMOVEWATERMARK" val="ocUzwZalmm"/>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4051</TotalTime>
  <Words>5945</Words>
  <Application>Microsoft Office PowerPoint</Application>
  <PresentationFormat>宽屏</PresentationFormat>
  <Paragraphs>175</Paragraphs>
  <Slides>27</Slides>
  <Notes>3</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27</vt:i4>
      </vt:variant>
    </vt:vector>
  </HeadingPairs>
  <TitlesOfParts>
    <vt:vector size="38" baseType="lpstr">
      <vt:lpstr>rtxmi</vt:lpstr>
      <vt:lpstr>rtxr</vt:lpstr>
      <vt:lpstr>Times-Italic</vt:lpstr>
      <vt:lpstr>Times-Roman</vt:lpstr>
      <vt:lpstr>txsy</vt:lpstr>
      <vt:lpstr>华文中宋</vt:lpstr>
      <vt:lpstr>等线</vt:lpstr>
      <vt:lpstr>等线 Light</vt:lpstr>
      <vt:lpstr>Arial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ling jiang</dc:creator>
  <cp:lastModifiedBy>ling jiang</cp:lastModifiedBy>
  <cp:revision>81</cp:revision>
  <dcterms:created xsi:type="dcterms:W3CDTF">2024-04-26T11:01:45Z</dcterms:created>
  <dcterms:modified xsi:type="dcterms:W3CDTF">2024-05-15T07:22:35Z</dcterms:modified>
</cp:coreProperties>
</file>