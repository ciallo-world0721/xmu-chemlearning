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4D25"/>
    <a:srgbClr val="DE2A95"/>
    <a:srgbClr val="9CAB2B"/>
    <a:srgbClr val="7F3517"/>
    <a:srgbClr val="4CD84C"/>
    <a:srgbClr val="DF315A"/>
    <a:srgbClr val="718A22"/>
    <a:srgbClr val="23B323"/>
    <a:srgbClr val="B0B01C"/>
    <a:srgbClr val="412B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2" d="100"/>
          <a:sy n="112" d="100"/>
        </p:scale>
        <p:origin x="835" y="9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AEDA90-EC26-4D33-AEE8-93DC05A87D98}" type="datetimeFigureOut">
              <a:rPr lang="zh-CN" altLang="en-US" smtClean="0"/>
              <a:t>2024/5/23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08840-48FE-4A6A-BF52-CC40F73B8430}" type="slidenum">
              <a:rPr lang="zh-CN" altLang="en-US" smtClean="0"/>
              <a:t>‹#›</a:t>
            </a:fld>
            <a:endParaRPr lang="zh-CN" altLang="en-US"/>
          </a:p>
        </p:txBody>
      </p:sp>
    </p:spTree>
    <p:extLst>
      <p:ext uri="{BB962C8B-B14F-4D97-AF65-F5344CB8AC3E}">
        <p14:creationId xmlns:p14="http://schemas.microsoft.com/office/powerpoint/2010/main" val="1817539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键级增大意味着更多的键合电子对会参与到键中，从而增强了键的强度。这会导致原子核之间的吸引力增强，使得键长变短。具体来说，当键级增大时，键中的电子密度增加，电子云更加紧密地包围在原子核周围，从而减小了原子核之间的平均距离，导致键长缩短。因此，随着键级的增大，键的强度增加，原子核之间的距离减小，键长相应地变短。</a:t>
            </a:r>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7</a:t>
            </a:fld>
            <a:endParaRPr lang="zh-CN" altLang="en-US"/>
          </a:p>
        </p:txBody>
      </p:sp>
    </p:spTree>
    <p:extLst>
      <p:ext uri="{BB962C8B-B14F-4D97-AF65-F5344CB8AC3E}">
        <p14:creationId xmlns:p14="http://schemas.microsoft.com/office/powerpoint/2010/main" val="1682627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键级增大意味着更多的键合电子对会参与到键中，从而增强了键的强度。这会导致原子核之间的吸引力增强，使得键长变短。具体来说，当键级增大时，键中的电子密度增加，电子云更加紧密地包围在原子核周围，从而减小了原子核之间的平均距离，导致键长缩短。因此，随着键级的增大，键的强度增加，原子核之间的距离减小，键长相应地变短。</a:t>
            </a:r>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8</a:t>
            </a:fld>
            <a:endParaRPr lang="zh-CN" altLang="en-US"/>
          </a:p>
        </p:txBody>
      </p:sp>
    </p:spTree>
    <p:extLst>
      <p:ext uri="{BB962C8B-B14F-4D97-AF65-F5344CB8AC3E}">
        <p14:creationId xmlns:p14="http://schemas.microsoft.com/office/powerpoint/2010/main" val="1073189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9</a:t>
            </a:fld>
            <a:endParaRPr lang="zh-CN" altLang="en-US"/>
          </a:p>
        </p:txBody>
      </p:sp>
    </p:spTree>
    <p:extLst>
      <p:ext uri="{BB962C8B-B14F-4D97-AF65-F5344CB8AC3E}">
        <p14:creationId xmlns:p14="http://schemas.microsoft.com/office/powerpoint/2010/main" val="2764171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10</a:t>
            </a:fld>
            <a:endParaRPr lang="zh-CN" altLang="en-US"/>
          </a:p>
        </p:txBody>
      </p:sp>
    </p:spTree>
    <p:extLst>
      <p:ext uri="{BB962C8B-B14F-4D97-AF65-F5344CB8AC3E}">
        <p14:creationId xmlns:p14="http://schemas.microsoft.com/office/powerpoint/2010/main" val="3604695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11</a:t>
            </a:fld>
            <a:endParaRPr lang="zh-CN" altLang="en-US"/>
          </a:p>
        </p:txBody>
      </p:sp>
    </p:spTree>
    <p:extLst>
      <p:ext uri="{BB962C8B-B14F-4D97-AF65-F5344CB8AC3E}">
        <p14:creationId xmlns:p14="http://schemas.microsoft.com/office/powerpoint/2010/main" val="2923298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12</a:t>
            </a:fld>
            <a:endParaRPr lang="zh-CN" altLang="en-US"/>
          </a:p>
        </p:txBody>
      </p:sp>
    </p:spTree>
    <p:extLst>
      <p:ext uri="{BB962C8B-B14F-4D97-AF65-F5344CB8AC3E}">
        <p14:creationId xmlns:p14="http://schemas.microsoft.com/office/powerpoint/2010/main" val="2913625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13</a:t>
            </a:fld>
            <a:endParaRPr lang="zh-CN" altLang="en-US"/>
          </a:p>
        </p:txBody>
      </p:sp>
    </p:spTree>
    <p:extLst>
      <p:ext uri="{BB962C8B-B14F-4D97-AF65-F5344CB8AC3E}">
        <p14:creationId xmlns:p14="http://schemas.microsoft.com/office/powerpoint/2010/main" val="4056323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14</a:t>
            </a:fld>
            <a:endParaRPr lang="zh-CN" altLang="en-US"/>
          </a:p>
        </p:txBody>
      </p:sp>
    </p:spTree>
    <p:extLst>
      <p:ext uri="{BB962C8B-B14F-4D97-AF65-F5344CB8AC3E}">
        <p14:creationId xmlns:p14="http://schemas.microsoft.com/office/powerpoint/2010/main" val="1092116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15</a:t>
            </a:fld>
            <a:endParaRPr lang="zh-CN" altLang="en-US"/>
          </a:p>
        </p:txBody>
      </p:sp>
    </p:spTree>
    <p:extLst>
      <p:ext uri="{BB962C8B-B14F-4D97-AF65-F5344CB8AC3E}">
        <p14:creationId xmlns:p14="http://schemas.microsoft.com/office/powerpoint/2010/main" val="2500086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16</a:t>
            </a:fld>
            <a:endParaRPr lang="zh-CN" altLang="en-US"/>
          </a:p>
        </p:txBody>
      </p:sp>
    </p:spTree>
    <p:extLst>
      <p:ext uri="{BB962C8B-B14F-4D97-AF65-F5344CB8AC3E}">
        <p14:creationId xmlns:p14="http://schemas.microsoft.com/office/powerpoint/2010/main" val="3514164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17</a:t>
            </a:fld>
            <a:endParaRPr lang="zh-CN" altLang="en-US"/>
          </a:p>
        </p:txBody>
      </p:sp>
    </p:spTree>
    <p:extLst>
      <p:ext uri="{BB962C8B-B14F-4D97-AF65-F5344CB8AC3E}">
        <p14:creationId xmlns:p14="http://schemas.microsoft.com/office/powerpoint/2010/main" val="3488722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18</a:t>
            </a:fld>
            <a:endParaRPr lang="zh-CN" altLang="en-US"/>
          </a:p>
        </p:txBody>
      </p:sp>
    </p:spTree>
    <p:extLst>
      <p:ext uri="{BB962C8B-B14F-4D97-AF65-F5344CB8AC3E}">
        <p14:creationId xmlns:p14="http://schemas.microsoft.com/office/powerpoint/2010/main" val="1806952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19</a:t>
            </a:fld>
            <a:endParaRPr lang="zh-CN" altLang="en-US"/>
          </a:p>
        </p:txBody>
      </p:sp>
    </p:spTree>
    <p:extLst>
      <p:ext uri="{BB962C8B-B14F-4D97-AF65-F5344CB8AC3E}">
        <p14:creationId xmlns:p14="http://schemas.microsoft.com/office/powerpoint/2010/main" val="73375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20</a:t>
            </a:fld>
            <a:endParaRPr lang="zh-CN" altLang="en-US"/>
          </a:p>
        </p:txBody>
      </p:sp>
    </p:spTree>
    <p:extLst>
      <p:ext uri="{BB962C8B-B14F-4D97-AF65-F5344CB8AC3E}">
        <p14:creationId xmlns:p14="http://schemas.microsoft.com/office/powerpoint/2010/main" val="2717100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21</a:t>
            </a:fld>
            <a:endParaRPr lang="zh-CN" altLang="en-US"/>
          </a:p>
        </p:txBody>
      </p:sp>
    </p:spTree>
    <p:extLst>
      <p:ext uri="{BB962C8B-B14F-4D97-AF65-F5344CB8AC3E}">
        <p14:creationId xmlns:p14="http://schemas.microsoft.com/office/powerpoint/2010/main" val="3350282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22</a:t>
            </a:fld>
            <a:endParaRPr lang="zh-CN" altLang="en-US"/>
          </a:p>
        </p:txBody>
      </p:sp>
    </p:spTree>
    <p:extLst>
      <p:ext uri="{BB962C8B-B14F-4D97-AF65-F5344CB8AC3E}">
        <p14:creationId xmlns:p14="http://schemas.microsoft.com/office/powerpoint/2010/main" val="1108715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23</a:t>
            </a:fld>
            <a:endParaRPr lang="zh-CN" altLang="en-US"/>
          </a:p>
        </p:txBody>
      </p:sp>
    </p:spTree>
    <p:extLst>
      <p:ext uri="{BB962C8B-B14F-4D97-AF65-F5344CB8AC3E}">
        <p14:creationId xmlns:p14="http://schemas.microsoft.com/office/powerpoint/2010/main" val="278509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008840-48FE-4A6A-BF52-CC40F73B8430}" type="slidenum">
              <a:rPr lang="zh-CN" altLang="en-US" smtClean="0"/>
              <a:t>24</a:t>
            </a:fld>
            <a:endParaRPr lang="zh-CN" altLang="en-US"/>
          </a:p>
        </p:txBody>
      </p:sp>
    </p:spTree>
    <p:extLst>
      <p:ext uri="{BB962C8B-B14F-4D97-AF65-F5344CB8AC3E}">
        <p14:creationId xmlns:p14="http://schemas.microsoft.com/office/powerpoint/2010/main" val="2320659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Ph</a:t>
            </a:r>
            <a:r>
              <a:rPr lang="zh-CN" altLang="en-US" dirty="0"/>
              <a:t>是苯基</a:t>
            </a:r>
          </a:p>
        </p:txBody>
      </p:sp>
      <p:sp>
        <p:nvSpPr>
          <p:cNvPr id="4" name="灯片编号占位符 3"/>
          <p:cNvSpPr>
            <a:spLocks noGrp="1"/>
          </p:cNvSpPr>
          <p:nvPr>
            <p:ph type="sldNum" sz="quarter" idx="5"/>
          </p:nvPr>
        </p:nvSpPr>
        <p:spPr/>
        <p:txBody>
          <a:bodyPr/>
          <a:lstStyle/>
          <a:p>
            <a:fld id="{46008840-48FE-4A6A-BF52-CC40F73B8430}" type="slidenum">
              <a:rPr lang="zh-CN" altLang="en-US" smtClean="0"/>
              <a:t>25</a:t>
            </a:fld>
            <a:endParaRPr lang="zh-CN" altLang="en-US"/>
          </a:p>
        </p:txBody>
      </p:sp>
    </p:spTree>
    <p:extLst>
      <p:ext uri="{BB962C8B-B14F-4D97-AF65-F5344CB8AC3E}">
        <p14:creationId xmlns:p14="http://schemas.microsoft.com/office/powerpoint/2010/main" val="2238846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Ph</a:t>
            </a:r>
            <a:r>
              <a:rPr lang="zh-CN" altLang="en-US" dirty="0"/>
              <a:t>是苯基</a:t>
            </a:r>
          </a:p>
        </p:txBody>
      </p:sp>
      <p:sp>
        <p:nvSpPr>
          <p:cNvPr id="4" name="灯片编号占位符 3"/>
          <p:cNvSpPr>
            <a:spLocks noGrp="1"/>
          </p:cNvSpPr>
          <p:nvPr>
            <p:ph type="sldNum" sz="quarter" idx="5"/>
          </p:nvPr>
        </p:nvSpPr>
        <p:spPr/>
        <p:txBody>
          <a:bodyPr/>
          <a:lstStyle/>
          <a:p>
            <a:fld id="{46008840-48FE-4A6A-BF52-CC40F73B8430}" type="slidenum">
              <a:rPr lang="zh-CN" altLang="en-US" smtClean="0"/>
              <a:t>26</a:t>
            </a:fld>
            <a:endParaRPr lang="zh-CN" altLang="en-US"/>
          </a:p>
        </p:txBody>
      </p:sp>
    </p:spTree>
    <p:extLst>
      <p:ext uri="{BB962C8B-B14F-4D97-AF65-F5344CB8AC3E}">
        <p14:creationId xmlns:p14="http://schemas.microsoft.com/office/powerpoint/2010/main" val="17749693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Ph</a:t>
            </a:r>
            <a:r>
              <a:rPr lang="zh-CN" altLang="en-US" dirty="0"/>
              <a:t>是苯基</a:t>
            </a:r>
          </a:p>
        </p:txBody>
      </p:sp>
      <p:sp>
        <p:nvSpPr>
          <p:cNvPr id="4" name="灯片编号占位符 3"/>
          <p:cNvSpPr>
            <a:spLocks noGrp="1"/>
          </p:cNvSpPr>
          <p:nvPr>
            <p:ph type="sldNum" sz="quarter" idx="5"/>
          </p:nvPr>
        </p:nvSpPr>
        <p:spPr/>
        <p:txBody>
          <a:bodyPr/>
          <a:lstStyle/>
          <a:p>
            <a:fld id="{46008840-48FE-4A6A-BF52-CC40F73B8430}" type="slidenum">
              <a:rPr lang="zh-CN" altLang="en-US" smtClean="0"/>
              <a:t>27</a:t>
            </a:fld>
            <a:endParaRPr lang="zh-CN" altLang="en-US"/>
          </a:p>
        </p:txBody>
      </p:sp>
    </p:spTree>
    <p:extLst>
      <p:ext uri="{BB962C8B-B14F-4D97-AF65-F5344CB8AC3E}">
        <p14:creationId xmlns:p14="http://schemas.microsoft.com/office/powerpoint/2010/main" val="159593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E51CB-79A3-4091-9552-13DA64F1A0B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2176C17-BEE8-42F7-8EAE-971DC170E2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1625FBB-EBF4-42E4-BB09-2303EB6ADFB6}"/>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74F542D2-BE33-40DB-AB3D-0610BFBA98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748CEA-DC3D-410F-8262-024F46FD578A}"/>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198248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BD883-74B4-48B9-A687-DC73C1A5611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9D3197-D538-4EFC-AD69-75D3B43B6F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DE20B0-34FB-4E3B-B73A-B8DFBB0E370A}"/>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B44A5AD7-AB06-4DF5-95EC-6C0A10816D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9A854E-D8C0-4564-B196-B2C20FED36C9}"/>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28480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C8B54-ECF8-47E2-9A3C-74675CC7135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18DD2FC-5D7F-4006-B744-0E8DA63D9A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787EAEA-E842-4373-BA75-CAA554E69D9C}"/>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F86FB497-BD90-4C2B-B91C-98F31BFCBB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17A065-BD7C-46A9-AFEA-DE9A813882F5}"/>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1225578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8F23B-717F-4283-B1C4-A0F2EDC599F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9C49D24-25BF-46EA-B28E-2C5190DC64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F76E4F4-5241-4588-8F94-BEB593EA5EE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82A7A4D-AB86-4C18-A473-FFBC30624E82}"/>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6" name="页脚占位符 5">
            <a:extLst>
              <a:ext uri="{FF2B5EF4-FFF2-40B4-BE49-F238E27FC236}">
                <a16:creationId xmlns:a16="http://schemas.microsoft.com/office/drawing/2014/main" id="{DC01950E-B4A2-4D82-BEE8-D68E8FEB91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EB381C-C28B-4663-A503-2C38452B17DF}"/>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2212476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9176D8-62A9-47AE-9AFA-86D9B549595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F2ED1B6-DB05-497C-9EB4-ED173F6352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583C078-23D0-4F56-A625-393751D7EE9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90ECC82-A1F9-4C15-9FE7-C0C654091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99E86DA-96D3-4DFB-B3C5-ABAEFB6F0A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31A703-B67D-40B2-9A62-EAFDC272A7BF}"/>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8" name="页脚占位符 7">
            <a:extLst>
              <a:ext uri="{FF2B5EF4-FFF2-40B4-BE49-F238E27FC236}">
                <a16:creationId xmlns:a16="http://schemas.microsoft.com/office/drawing/2014/main" id="{37FA0CB4-FFD9-4B2E-ACE8-A16B8D5D11D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9FD464B-3E52-4574-AF49-73B025DA263A}"/>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384225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67C52-5790-4A65-B92E-2809C48E638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B9E8D98-BBE0-42B9-98B9-30DA6FE0534B}"/>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4" name="页脚占位符 3">
            <a:extLst>
              <a:ext uri="{FF2B5EF4-FFF2-40B4-BE49-F238E27FC236}">
                <a16:creationId xmlns:a16="http://schemas.microsoft.com/office/drawing/2014/main" id="{8F7A71AD-D83F-4B5C-9B27-5DE2F6CA21E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7A69DEB-B76B-40B7-BE48-F72E4A49EFCA}"/>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340004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0F93F6A-A0D2-4394-933C-DE441BD88B26}"/>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3" name="页脚占位符 2">
            <a:extLst>
              <a:ext uri="{FF2B5EF4-FFF2-40B4-BE49-F238E27FC236}">
                <a16:creationId xmlns:a16="http://schemas.microsoft.com/office/drawing/2014/main" id="{D6F090FD-ACA9-4ADB-9CF2-06B7295AACE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D84822D-7CF4-419C-88AD-EE4A9AE9918A}"/>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973230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CE88E-A1A8-414A-ADB3-01F6F2A387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F76A0D9-D0C6-4FB4-BA13-A6F1FC0C1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A33A2D-6DF9-49B9-B4AB-6229FAC3B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550D584-BF6F-491C-B785-9BC33369AA0A}"/>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6" name="页脚占位符 5">
            <a:extLst>
              <a:ext uri="{FF2B5EF4-FFF2-40B4-BE49-F238E27FC236}">
                <a16:creationId xmlns:a16="http://schemas.microsoft.com/office/drawing/2014/main" id="{D1838E72-E209-4CEB-A384-D542AA0584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E996E3-EB00-4A80-BA6F-5250C2862E99}"/>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1172962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DCDC4-994F-4C0A-9B2A-850BE52167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6797912-9978-414C-BC6B-77EAC89917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039791F-372F-43A5-80F4-C8D931042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F0D4F7-2CD6-4970-9DBC-C14703434BF8}"/>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6" name="页脚占位符 5">
            <a:extLst>
              <a:ext uri="{FF2B5EF4-FFF2-40B4-BE49-F238E27FC236}">
                <a16:creationId xmlns:a16="http://schemas.microsoft.com/office/drawing/2014/main" id="{FB6E69B7-32F2-4D47-8160-08C9D8BA45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EAD0D66-13AF-4795-B1F8-295B994D3CB9}"/>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2456119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EBAC9-36ED-403B-9022-82371700BC6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13B51FD-C2F4-4A65-9CE0-F9899CE802A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24832B-53E9-4FE3-95E7-D21188761ADC}"/>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84578224-D396-4F67-8468-F9699C837B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3B8B04-565E-4BDD-B158-8D481E02E9C7}"/>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395321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910066-476E-4EB7-AE27-BAD6E6B3C51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4FEEEC3-C3CA-4197-9B0A-95C74F88482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19B7A5-DA5F-4D0D-97D6-D616ACEAB454}"/>
              </a:ext>
            </a:extLst>
          </p:cNvPr>
          <p:cNvSpPr>
            <a:spLocks noGrp="1"/>
          </p:cNvSpPr>
          <p:nvPr>
            <p:ph type="dt" sz="half" idx="10"/>
          </p:nvPr>
        </p:nvSpPr>
        <p:spPr/>
        <p:txBody>
          <a:body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F026FAD1-DEE4-450F-87FF-0DD8803902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9A8DFA-B59F-4ED8-A3DD-3CD54B211F93}"/>
              </a:ext>
            </a:extLst>
          </p:cNvPr>
          <p:cNvSpPr>
            <a:spLocks noGrp="1"/>
          </p:cNvSpPr>
          <p:nvPr>
            <p:ph type="sldNum" sz="quarter" idx="12"/>
          </p:nvPr>
        </p:nvSpPr>
        <p:spPr/>
        <p:txBody>
          <a:body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2256761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41D667E-82AB-4BD7-8769-47D65EFD45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B15869B-EEC7-44B9-AB5E-2DEDB06635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F6CF04F-94FD-43B6-AFE0-3EAEBE4830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A4A5F-2A2B-4393-BE5D-D93A3FF11515}" type="datetimeFigureOut">
              <a:rPr lang="zh-CN" altLang="en-US" smtClean="0"/>
              <a:t>2024/5/23</a:t>
            </a:fld>
            <a:endParaRPr lang="zh-CN" altLang="en-US"/>
          </a:p>
        </p:txBody>
      </p:sp>
      <p:sp>
        <p:nvSpPr>
          <p:cNvPr id="5" name="页脚占位符 4">
            <a:extLst>
              <a:ext uri="{FF2B5EF4-FFF2-40B4-BE49-F238E27FC236}">
                <a16:creationId xmlns:a16="http://schemas.microsoft.com/office/drawing/2014/main" id="{CB04E205-DEF5-49F1-8B9F-03A9767B7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C2A0D2-45A6-47CF-9C64-0409004BFA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B1C09-7E83-449E-BD3B-4FBB5BF61299}" type="slidenum">
              <a:rPr lang="zh-CN" altLang="en-US" smtClean="0"/>
              <a:t>‹#›</a:t>
            </a:fld>
            <a:endParaRPr lang="zh-CN" altLang="en-US"/>
          </a:p>
        </p:txBody>
      </p:sp>
    </p:spTree>
    <p:extLst>
      <p:ext uri="{BB962C8B-B14F-4D97-AF65-F5344CB8AC3E}">
        <p14:creationId xmlns:p14="http://schemas.microsoft.com/office/powerpoint/2010/main" val="1025920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9.1 (a) </a:t>
            </a:r>
            <a:r>
              <a:rPr lang="zh-CN" altLang="en-US" dirty="0">
                <a:latin typeface="华文中宋" panose="02010600040101010101" pitchFamily="2" charset="-122"/>
                <a:ea typeface="华文中宋" panose="02010600040101010101" pitchFamily="2" charset="-122"/>
              </a:rPr>
              <a:t>讨论导致下列键能趋势变化的因素</a:t>
            </a:r>
            <a:r>
              <a:rPr lang="en-US" altLang="zh-CN" dirty="0">
                <a:latin typeface="华文中宋" panose="02010600040101010101" pitchFamily="2" charset="-122"/>
                <a:ea typeface="华文中宋" panose="02010600040101010101" pitchFamily="2" charset="-122"/>
              </a:rPr>
              <a:t>		     (b) </a:t>
            </a:r>
            <a:r>
              <a:rPr lang="zh-CN" altLang="en-US" dirty="0">
                <a:latin typeface="华文中宋" panose="02010600040101010101" pitchFamily="2" charset="-122"/>
                <a:ea typeface="华文中宋" panose="02010600040101010101" pitchFamily="2" charset="-122"/>
              </a:rPr>
              <a:t>讨论导致下列键长趋势变化的因素</a:t>
            </a:r>
          </a:p>
        </p:txBody>
      </p:sp>
      <p:pic>
        <p:nvPicPr>
          <p:cNvPr id="6" name="图片 5">
            <a:extLst>
              <a:ext uri="{FF2B5EF4-FFF2-40B4-BE49-F238E27FC236}">
                <a16:creationId xmlns:a16="http://schemas.microsoft.com/office/drawing/2014/main" id="{16286578-F128-4726-A5C7-157CED1AAB08}"/>
              </a:ext>
            </a:extLst>
          </p:cNvPr>
          <p:cNvPicPr>
            <a:picLocks noChangeAspect="1"/>
          </p:cNvPicPr>
          <p:nvPr/>
        </p:nvPicPr>
        <p:blipFill>
          <a:blip r:embed="rId2"/>
          <a:stretch>
            <a:fillRect/>
          </a:stretch>
        </p:blipFill>
        <p:spPr>
          <a:xfrm>
            <a:off x="99622" y="683540"/>
            <a:ext cx="5591955" cy="809738"/>
          </a:xfrm>
          <a:prstGeom prst="rect">
            <a:avLst/>
          </a:prstGeom>
          <a:ln>
            <a:solidFill>
              <a:schemeClr val="accent1"/>
            </a:solidFill>
          </a:ln>
        </p:spPr>
      </p:pic>
      <p:pic>
        <p:nvPicPr>
          <p:cNvPr id="8" name="图片 7">
            <a:extLst>
              <a:ext uri="{FF2B5EF4-FFF2-40B4-BE49-F238E27FC236}">
                <a16:creationId xmlns:a16="http://schemas.microsoft.com/office/drawing/2014/main" id="{8ADC42BC-79EE-45CE-B081-C200CD0FA985}"/>
              </a:ext>
            </a:extLst>
          </p:cNvPr>
          <p:cNvPicPr>
            <a:picLocks noChangeAspect="1"/>
          </p:cNvPicPr>
          <p:nvPr/>
        </p:nvPicPr>
        <p:blipFill>
          <a:blip r:embed="rId3"/>
          <a:stretch>
            <a:fillRect/>
          </a:stretch>
        </p:blipFill>
        <p:spPr>
          <a:xfrm>
            <a:off x="6031500" y="682389"/>
            <a:ext cx="5506218" cy="810890"/>
          </a:xfrm>
          <a:prstGeom prst="rect">
            <a:avLst/>
          </a:prstGeom>
          <a:ln>
            <a:solidFill>
              <a:schemeClr val="accent1"/>
            </a:solidFill>
          </a:ln>
        </p:spPr>
      </p:pic>
      <p:sp>
        <p:nvSpPr>
          <p:cNvPr id="9" name="文本框 8">
            <a:extLst>
              <a:ext uri="{FF2B5EF4-FFF2-40B4-BE49-F238E27FC236}">
                <a16:creationId xmlns:a16="http://schemas.microsoft.com/office/drawing/2014/main" id="{FF0FB569-E940-4B0F-942F-B474E1F1D58D}"/>
              </a:ext>
            </a:extLst>
          </p:cNvPr>
          <p:cNvSpPr txBox="1"/>
          <p:nvPr/>
        </p:nvSpPr>
        <p:spPr>
          <a:xfrm>
            <a:off x="1" y="1917510"/>
            <a:ext cx="12192000" cy="4717638"/>
          </a:xfrm>
          <a:prstGeom prst="rect">
            <a:avLst/>
          </a:prstGeom>
          <a:noFill/>
        </p:spPr>
        <p:txBody>
          <a:bodyPr wrap="square" rtlCol="0">
            <a:spAutoFit/>
          </a:bodyPr>
          <a:lstStyle/>
          <a:p>
            <a:pPr algn="just">
              <a:lnSpc>
                <a:spcPct val="12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(a) </a:t>
            </a:r>
          </a:p>
          <a:p>
            <a:pPr algn="just">
              <a:lnSpc>
                <a:spcPct val="12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Cl</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Br</a:t>
            </a:r>
            <a:r>
              <a:rPr lang="zh-CN" altLang="en-US" dirty="0">
                <a:latin typeface="华文中宋" panose="02010600040101010101" pitchFamily="2" charset="-122"/>
                <a:ea typeface="华文中宋" panose="02010600040101010101" pitchFamily="2" charset="-122"/>
                <a:sym typeface="Wingdings" panose="05000000000000000000" pitchFamily="2" charset="2"/>
              </a:rPr>
              <a:t>属于同一主族，</a:t>
            </a:r>
            <a:r>
              <a:rPr lang="zh-CN" altLang="en-US" b="1" dirty="0">
                <a:solidFill>
                  <a:srgbClr val="1C898C"/>
                </a:solidFill>
                <a:latin typeface="华文中宋" panose="02010600040101010101" pitchFamily="2" charset="-122"/>
                <a:ea typeface="华文中宋" panose="02010600040101010101" pitchFamily="2" charset="-122"/>
                <a:sym typeface="Wingdings" panose="05000000000000000000" pitchFamily="2" charset="2"/>
              </a:rPr>
              <a:t>分子成键的强度从上到下随着周期数增大而减小</a:t>
            </a:r>
            <a:r>
              <a:rPr lang="zh-CN" altLang="en-US" dirty="0">
                <a:latin typeface="华文中宋" panose="02010600040101010101" pitchFamily="2" charset="-122"/>
                <a:ea typeface="华文中宋" panose="02010600040101010101" pitchFamily="2" charset="-122"/>
                <a:sym typeface="Wingdings" panose="05000000000000000000" pitchFamily="2" charset="2"/>
              </a:rPr>
              <a:t>，这是因为轨道从上到下会增大，分子之间的重叠减小，键能降低；</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gn="just">
              <a:lnSpc>
                <a:spcPct val="12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F</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是一个特例，在 </a:t>
            </a:r>
            <a:r>
              <a:rPr lang="en-US" altLang="zh-CN" dirty="0">
                <a:latin typeface="华文中宋" panose="02010600040101010101" pitchFamily="2" charset="-122"/>
                <a:ea typeface="华文中宋" panose="02010600040101010101" pitchFamily="2" charset="-122"/>
                <a:sym typeface="Wingdings" panose="05000000000000000000" pitchFamily="2" charset="2"/>
              </a:rPr>
              <a:t>F</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en-US" altLang="zh-CN" dirty="0">
                <a:latin typeface="华文中宋" panose="02010600040101010101" pitchFamily="2" charset="-122"/>
                <a:ea typeface="华文中宋" panose="02010600040101010101" pitchFamily="2" charset="-122"/>
                <a:sym typeface="Wingdings" panose="05000000000000000000" pitchFamily="2" charset="2"/>
              </a:rPr>
              <a:t> </a:t>
            </a:r>
            <a:r>
              <a:rPr lang="zh-CN" altLang="en-US" dirty="0">
                <a:latin typeface="华文中宋" panose="02010600040101010101" pitchFamily="2" charset="-122"/>
                <a:ea typeface="华文中宋" panose="02010600040101010101" pitchFamily="2" charset="-122"/>
                <a:sym typeface="Wingdings" panose="05000000000000000000" pitchFamily="2" charset="2"/>
              </a:rPr>
              <a:t>分子中，</a:t>
            </a:r>
            <a:r>
              <a:rPr lang="en-US" altLang="zh-CN" b="1" dirty="0">
                <a:solidFill>
                  <a:srgbClr val="412BAF"/>
                </a:solidFill>
                <a:latin typeface="华文中宋" panose="02010600040101010101" pitchFamily="2" charset="-122"/>
                <a:ea typeface="华文中宋" panose="02010600040101010101" pitchFamily="2" charset="-122"/>
                <a:sym typeface="Wingdings" panose="05000000000000000000" pitchFamily="2" charset="2"/>
              </a:rPr>
              <a:t>π</a:t>
            </a:r>
            <a:r>
              <a:rPr lang="zh-CN" altLang="en-US" b="1" dirty="0">
                <a:solidFill>
                  <a:srgbClr val="412BAF"/>
                </a:solidFill>
                <a:latin typeface="华文中宋" panose="02010600040101010101" pitchFamily="2" charset="-122"/>
                <a:ea typeface="华文中宋" panose="02010600040101010101" pitchFamily="2" charset="-122"/>
                <a:sym typeface="Wingdings" panose="05000000000000000000" pitchFamily="2" charset="2"/>
              </a:rPr>
              <a:t>反键分子轨道</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antibonding molecular orbitals, MOs</a:t>
            </a:r>
            <a:r>
              <a:rPr lang="zh-CN" altLang="en-US" dirty="0">
                <a:latin typeface="华文中宋" panose="02010600040101010101" pitchFamily="2" charset="-122"/>
                <a:ea typeface="华文中宋" panose="02010600040101010101" pitchFamily="2" charset="-122"/>
                <a:sym typeface="Wingdings" panose="05000000000000000000" pitchFamily="2" charset="2"/>
              </a:rPr>
              <a:t>）对键强度的削弱作用特别强。</a:t>
            </a:r>
            <a:r>
              <a:rPr lang="zh-CN" altLang="en-US"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氟原子的</a:t>
            </a:r>
            <a:r>
              <a:rPr lang="en-US" altLang="zh-CN"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2p</a:t>
            </a:r>
            <a:r>
              <a:rPr lang="zh-CN" altLang="en-US"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轨道非常紧密，这些轨道的重叠产生强烈的</a:t>
            </a:r>
            <a:r>
              <a:rPr lang="en-US" altLang="zh-CN"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π</a:t>
            </a:r>
            <a:r>
              <a:rPr lang="zh-CN" altLang="en-US"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反键轨道，这些反键轨道的电子占据会显著削弱键的强度</a:t>
            </a:r>
            <a:r>
              <a:rPr lang="zh-CN" altLang="en-US" dirty="0">
                <a:latin typeface="华文中宋" panose="02010600040101010101" pitchFamily="2" charset="-122"/>
                <a:ea typeface="华文中宋" panose="02010600040101010101" pitchFamily="2" charset="-122"/>
                <a:sym typeface="Wingdings" panose="05000000000000000000" pitchFamily="2" charset="2"/>
              </a:rPr>
              <a:t>。相对而言，</a:t>
            </a:r>
            <a:r>
              <a:rPr lang="en-US" altLang="zh-CN" dirty="0">
                <a:latin typeface="华文中宋" panose="02010600040101010101" pitchFamily="2" charset="-122"/>
                <a:ea typeface="华文中宋" panose="02010600040101010101" pitchFamily="2" charset="-122"/>
                <a:sym typeface="Wingdings" panose="05000000000000000000" pitchFamily="2" charset="2"/>
              </a:rPr>
              <a:t>Cl</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和</a:t>
            </a:r>
            <a:r>
              <a:rPr lang="en-US" altLang="zh-CN" dirty="0">
                <a:latin typeface="华文中宋" panose="02010600040101010101" pitchFamily="2" charset="-122"/>
                <a:ea typeface="华文中宋" panose="02010600040101010101" pitchFamily="2" charset="-122"/>
                <a:sym typeface="Wingdings" panose="05000000000000000000" pitchFamily="2" charset="2"/>
              </a:rPr>
              <a:t>Br</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的反键轨道效应较弱，因此它们的键能较高；</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gn="just">
              <a:lnSpc>
                <a:spcPct val="120000"/>
              </a:lnSpc>
            </a:pPr>
            <a:r>
              <a:rPr lang="en-US" altLang="zh-CN" dirty="0">
                <a:latin typeface="华文中宋" panose="02010600040101010101" pitchFamily="2" charset="-122"/>
                <a:ea typeface="华文中宋" panose="02010600040101010101" pitchFamily="2" charset="-122"/>
              </a:rPr>
              <a:t>(3) </a:t>
            </a:r>
            <a:r>
              <a:rPr lang="en-US" altLang="zh-CN" dirty="0" err="1">
                <a:latin typeface="华文中宋" panose="02010600040101010101" pitchFamily="2" charset="-122"/>
                <a:ea typeface="华文中宋" panose="02010600040101010101" pitchFamily="2" charset="-122"/>
              </a:rPr>
              <a:t>ClF</a:t>
            </a:r>
            <a:r>
              <a:rPr lang="zh-CN" altLang="en-US" dirty="0">
                <a:latin typeface="华文中宋" panose="02010600040101010101" pitchFamily="2" charset="-122"/>
                <a:ea typeface="华文中宋" panose="02010600040101010101" pitchFamily="2" charset="-122"/>
              </a:rPr>
              <a:t>的键能略大于</a:t>
            </a:r>
            <a:r>
              <a:rPr lang="en-US" altLang="zh-CN" dirty="0">
                <a:latin typeface="华文中宋" panose="02010600040101010101" pitchFamily="2" charset="-122"/>
                <a:ea typeface="华文中宋" panose="02010600040101010101" pitchFamily="2" charset="-122"/>
              </a:rPr>
              <a:t>Cl</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，这是因为小的</a:t>
            </a:r>
            <a:r>
              <a:rPr lang="en-US" altLang="zh-CN" dirty="0">
                <a:latin typeface="华文中宋" panose="02010600040101010101" pitchFamily="2" charset="-122"/>
                <a:ea typeface="华文中宋" panose="02010600040101010101" pitchFamily="2" charset="-122"/>
              </a:rPr>
              <a:t>F</a:t>
            </a:r>
            <a:r>
              <a:rPr lang="zh-CN" altLang="en-US" dirty="0">
                <a:latin typeface="华文中宋" panose="02010600040101010101" pitchFamily="2" charset="-122"/>
                <a:ea typeface="华文中宋" panose="02010600040101010101" pitchFamily="2" charset="-122"/>
              </a:rPr>
              <a:t>轨道和大的</a:t>
            </a:r>
            <a:r>
              <a:rPr lang="en-US" altLang="zh-CN" dirty="0">
                <a:latin typeface="华文中宋" panose="02010600040101010101" pitchFamily="2" charset="-122"/>
                <a:ea typeface="华文中宋" panose="02010600040101010101" pitchFamily="2" charset="-122"/>
              </a:rPr>
              <a:t>Cl</a:t>
            </a:r>
            <a:r>
              <a:rPr lang="zh-CN" altLang="en-US" dirty="0">
                <a:latin typeface="华文中宋" panose="02010600040101010101" pitchFamily="2" charset="-122"/>
                <a:ea typeface="华文中宋" panose="02010600040101010101" pitchFamily="2" charset="-122"/>
              </a:rPr>
              <a:t>轨道之间的重叠比</a:t>
            </a:r>
            <a:r>
              <a:rPr lang="en-US" altLang="zh-CN" dirty="0">
                <a:latin typeface="华文中宋" panose="02010600040101010101" pitchFamily="2" charset="-122"/>
                <a:ea typeface="华文中宋" panose="02010600040101010101" pitchFamily="2" charset="-122"/>
              </a:rPr>
              <a:t>Cl-Cl</a:t>
            </a:r>
            <a:r>
              <a:rPr lang="zh-CN" altLang="en-US" dirty="0">
                <a:latin typeface="华文中宋" panose="02010600040101010101" pitchFamily="2" charset="-122"/>
                <a:ea typeface="华文中宋" panose="02010600040101010101" pitchFamily="2" charset="-122"/>
              </a:rPr>
              <a:t>之间轨道重叠要好，同时</a:t>
            </a:r>
            <a:r>
              <a:rPr lang="en-US" altLang="zh-CN" dirty="0" err="1">
                <a:latin typeface="华文中宋" panose="02010600040101010101" pitchFamily="2" charset="-122"/>
                <a:ea typeface="华文中宋" panose="02010600040101010101" pitchFamily="2" charset="-122"/>
              </a:rPr>
              <a:t>ClF</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sym typeface="Wingdings" panose="05000000000000000000" pitchFamily="2" charset="2"/>
              </a:rPr>
              <a:t>π</a:t>
            </a:r>
            <a:r>
              <a:rPr lang="zh-CN" altLang="en-US" dirty="0">
                <a:latin typeface="华文中宋" panose="02010600040101010101" pitchFamily="2" charset="-122"/>
                <a:ea typeface="华文中宋" panose="02010600040101010101" pitchFamily="2" charset="-122"/>
              </a:rPr>
              <a:t>反键效应也并不大。</a:t>
            </a:r>
            <a:endParaRPr lang="en-US" altLang="zh-CN" dirty="0">
              <a:latin typeface="华文中宋" panose="02010600040101010101" pitchFamily="2" charset="-122"/>
              <a:ea typeface="华文中宋" panose="02010600040101010101" pitchFamily="2" charset="-122"/>
            </a:endParaRPr>
          </a:p>
          <a:p>
            <a:pPr algn="just">
              <a:lnSpc>
                <a:spcPct val="120000"/>
              </a:lnSpc>
            </a:pPr>
            <a:r>
              <a:rPr lang="en-US" altLang="zh-CN" dirty="0">
                <a:latin typeface="华文中宋" panose="02010600040101010101" pitchFamily="2" charset="-122"/>
                <a:ea typeface="华文中宋" panose="02010600040101010101" pitchFamily="2" charset="-122"/>
              </a:rPr>
              <a:t>(b)</a:t>
            </a:r>
          </a:p>
          <a:p>
            <a:pPr algn="just">
              <a:lnSpc>
                <a:spcPct val="120000"/>
              </a:lnSpc>
            </a:pPr>
            <a:r>
              <a:rPr lang="en-US" altLang="zh-CN" dirty="0">
                <a:latin typeface="华文中宋" panose="02010600040101010101" pitchFamily="2" charset="-122"/>
                <a:ea typeface="华文中宋" panose="02010600040101010101" pitchFamily="2" charset="-122"/>
              </a:rPr>
              <a:t>(1) C</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Si</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Ge</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Sn</a:t>
            </a:r>
            <a:r>
              <a:rPr lang="zh-CN" altLang="en-US" dirty="0">
                <a:latin typeface="华文中宋" panose="02010600040101010101" pitchFamily="2" charset="-122"/>
                <a:ea typeface="华文中宋" panose="02010600040101010101" pitchFamily="2" charset="-122"/>
              </a:rPr>
              <a:t>是第</a:t>
            </a:r>
            <a:r>
              <a:rPr lang="en-US" altLang="zh-CN" dirty="0">
                <a:latin typeface="华文中宋" panose="02010600040101010101" pitchFamily="2" charset="-122"/>
                <a:ea typeface="华文中宋" panose="02010600040101010101" pitchFamily="2" charset="-122"/>
              </a:rPr>
              <a:t>14</a:t>
            </a:r>
            <a:r>
              <a:rPr lang="zh-CN" altLang="en-US" dirty="0">
                <a:latin typeface="华文中宋" panose="02010600040101010101" pitchFamily="2" charset="-122"/>
                <a:ea typeface="华文中宋" panose="02010600040101010101" pitchFamily="2" charset="-122"/>
              </a:rPr>
              <a:t>族元素，从上到下它们的</a:t>
            </a:r>
            <a:r>
              <a:rPr lang="zh-CN" altLang="en-US" b="1" dirty="0">
                <a:solidFill>
                  <a:schemeClr val="accent2">
                    <a:lumMod val="75000"/>
                  </a:schemeClr>
                </a:solidFill>
                <a:latin typeface="华文中宋" panose="02010600040101010101" pitchFamily="2" charset="-122"/>
                <a:ea typeface="华文中宋" panose="02010600040101010101" pitchFamily="2" charset="-122"/>
              </a:rPr>
              <a:t>电子层数增加，原子轨道会增大，重叠减小，键长变长</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a:lnSpc>
                <a:spcPct val="12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同时我们发现，从</a:t>
            </a:r>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（第二周期）到</a:t>
            </a:r>
            <a:r>
              <a:rPr lang="en-US" altLang="zh-CN" dirty="0">
                <a:latin typeface="华文中宋" panose="02010600040101010101" pitchFamily="2" charset="-122"/>
                <a:ea typeface="华文中宋" panose="02010600040101010101" pitchFamily="2" charset="-122"/>
              </a:rPr>
              <a:t>Si</a:t>
            </a:r>
            <a:r>
              <a:rPr lang="zh-CN" altLang="en-US" dirty="0">
                <a:latin typeface="华文中宋" panose="02010600040101010101" pitchFamily="2" charset="-122"/>
                <a:ea typeface="华文中宋" panose="02010600040101010101" pitchFamily="2" charset="-122"/>
              </a:rPr>
              <a:t>（第三周期）键长增大幅度比从</a:t>
            </a:r>
            <a:r>
              <a:rPr lang="en-US" altLang="zh-CN" dirty="0">
                <a:latin typeface="华文中宋" panose="02010600040101010101" pitchFamily="2" charset="-122"/>
                <a:ea typeface="华文中宋" panose="02010600040101010101" pitchFamily="2" charset="-122"/>
              </a:rPr>
              <a:t>Si</a:t>
            </a:r>
            <a:r>
              <a:rPr lang="zh-CN" altLang="en-US" dirty="0">
                <a:latin typeface="华文中宋" panose="02010600040101010101" pitchFamily="2" charset="-122"/>
                <a:ea typeface="华文中宋" panose="02010600040101010101" pitchFamily="2" charset="-122"/>
              </a:rPr>
              <a:t>（第三周期）到</a:t>
            </a:r>
            <a:r>
              <a:rPr lang="en-US" altLang="zh-CN" dirty="0">
                <a:latin typeface="华文中宋" panose="02010600040101010101" pitchFamily="2" charset="-122"/>
                <a:ea typeface="华文中宋" panose="02010600040101010101" pitchFamily="2" charset="-122"/>
              </a:rPr>
              <a:t>Ge</a:t>
            </a:r>
            <a:r>
              <a:rPr lang="zh-CN" altLang="en-US" dirty="0">
                <a:latin typeface="华文中宋" panose="02010600040101010101" pitchFamily="2" charset="-122"/>
                <a:ea typeface="华文中宋" panose="02010600040101010101" pitchFamily="2" charset="-122"/>
              </a:rPr>
              <a:t>（第四周期）大得多，这是因为</a:t>
            </a:r>
            <a:r>
              <a:rPr lang="en-US" altLang="zh-CN" b="1" dirty="0">
                <a:latin typeface="华文中宋" panose="02010600040101010101" pitchFamily="2" charset="-122"/>
                <a:ea typeface="华文中宋" panose="02010600040101010101" pitchFamily="2" charset="-122"/>
              </a:rPr>
              <a:t>1.d</a:t>
            </a:r>
            <a:r>
              <a:rPr lang="zh-CN" altLang="en-US" b="1" dirty="0">
                <a:latin typeface="华文中宋" panose="02010600040101010101" pitchFamily="2" charset="-122"/>
                <a:ea typeface="华文中宋" panose="02010600040101010101" pitchFamily="2" charset="-122"/>
              </a:rPr>
              <a:t>轨道的填充</a:t>
            </a:r>
            <a:r>
              <a:rPr lang="zh-CN" altLang="en-US" dirty="0">
                <a:latin typeface="华文中宋" panose="02010600040101010101" pitchFamily="2" charset="-122"/>
                <a:ea typeface="华文中宋" panose="02010600040101010101" pitchFamily="2" charset="-122"/>
              </a:rPr>
              <a:t>：从第三周期到第四周期，</a:t>
            </a:r>
            <a:r>
              <a:rPr lang="en-US" altLang="zh-CN" b="1" dirty="0">
                <a:solidFill>
                  <a:srgbClr val="DE2A95"/>
                </a:solidFill>
                <a:latin typeface="华文中宋" panose="02010600040101010101" pitchFamily="2" charset="-122"/>
                <a:ea typeface="华文中宋" panose="02010600040101010101" pitchFamily="2" charset="-122"/>
              </a:rPr>
              <a:t>Ge</a:t>
            </a:r>
            <a:r>
              <a:rPr lang="zh-CN" altLang="en-US" b="1" dirty="0">
                <a:solidFill>
                  <a:srgbClr val="DE2A95"/>
                </a:solidFill>
                <a:latin typeface="华文中宋" panose="02010600040101010101" pitchFamily="2" charset="-122"/>
                <a:ea typeface="华文中宋" panose="02010600040101010101" pitchFamily="2" charset="-122"/>
              </a:rPr>
              <a:t>原子引入了</a:t>
            </a:r>
            <a:r>
              <a:rPr lang="en-US" altLang="zh-CN" b="1" dirty="0">
                <a:solidFill>
                  <a:srgbClr val="DE2A95"/>
                </a:solidFill>
                <a:latin typeface="华文中宋" panose="02010600040101010101" pitchFamily="2" charset="-122"/>
                <a:ea typeface="华文中宋" panose="02010600040101010101" pitchFamily="2" charset="-122"/>
              </a:rPr>
              <a:t>3d</a:t>
            </a:r>
            <a:r>
              <a:rPr lang="zh-CN" altLang="en-US" b="1" dirty="0">
                <a:solidFill>
                  <a:srgbClr val="DE2A95"/>
                </a:solidFill>
                <a:latin typeface="华文中宋" panose="02010600040101010101" pitchFamily="2" charset="-122"/>
                <a:ea typeface="华文中宋" panose="02010600040101010101" pitchFamily="2" charset="-122"/>
              </a:rPr>
              <a:t>轨道，这些内层</a:t>
            </a:r>
            <a:r>
              <a:rPr lang="en-US" altLang="zh-CN" b="1" dirty="0">
                <a:solidFill>
                  <a:srgbClr val="DE2A95"/>
                </a:solidFill>
                <a:latin typeface="华文中宋" panose="02010600040101010101" pitchFamily="2" charset="-122"/>
                <a:ea typeface="华文中宋" panose="02010600040101010101" pitchFamily="2" charset="-122"/>
              </a:rPr>
              <a:t>d</a:t>
            </a:r>
            <a:r>
              <a:rPr lang="zh-CN" altLang="en-US" b="1" dirty="0">
                <a:solidFill>
                  <a:srgbClr val="DE2A95"/>
                </a:solidFill>
                <a:latin typeface="华文中宋" panose="02010600040101010101" pitchFamily="2" charset="-122"/>
                <a:ea typeface="华文中宋" panose="02010600040101010101" pitchFamily="2" charset="-122"/>
              </a:rPr>
              <a:t>电子对外层电子有一定的屏蔽作用</a:t>
            </a:r>
            <a:r>
              <a:rPr lang="zh-CN" altLang="en-US" dirty="0">
                <a:latin typeface="华文中宋" panose="02010600040101010101" pitchFamily="2" charset="-122"/>
                <a:ea typeface="华文中宋" panose="02010600040101010101" pitchFamily="2" charset="-122"/>
              </a:rPr>
              <a:t>，导致原子半径增大的幅度减小；</a:t>
            </a:r>
            <a:r>
              <a:rPr lang="en-US" altLang="zh-CN" b="1" dirty="0">
                <a:latin typeface="华文中宋" panose="02010600040101010101" pitchFamily="2" charset="-122"/>
                <a:ea typeface="华文中宋" panose="02010600040101010101" pitchFamily="2" charset="-122"/>
              </a:rPr>
              <a:t>2.</a:t>
            </a:r>
            <a:r>
              <a:rPr lang="zh-CN" altLang="en-US" b="1" dirty="0">
                <a:latin typeface="华文中宋" panose="02010600040101010101" pitchFamily="2" charset="-122"/>
                <a:ea typeface="华文中宋" panose="02010600040101010101" pitchFamily="2" charset="-122"/>
              </a:rPr>
              <a:t>核电荷显著增加</a:t>
            </a:r>
            <a:r>
              <a:rPr lang="zh-CN" altLang="en-US" dirty="0">
                <a:latin typeface="华文中宋" panose="02010600040101010101" pitchFamily="2" charset="-122"/>
                <a:ea typeface="华文中宋" panose="02010600040101010101" pitchFamily="2" charset="-122"/>
              </a:rPr>
              <a:t>：</a:t>
            </a:r>
            <a:r>
              <a:rPr lang="zh-CN" altLang="en-US" b="1" dirty="0">
                <a:solidFill>
                  <a:schemeClr val="accent6">
                    <a:lumMod val="75000"/>
                  </a:schemeClr>
                </a:solidFill>
                <a:latin typeface="华文中宋" panose="02010600040101010101" pitchFamily="2" charset="-122"/>
                <a:ea typeface="华文中宋" panose="02010600040101010101" pitchFamily="2" charset="-122"/>
              </a:rPr>
              <a:t>由于</a:t>
            </a:r>
            <a:r>
              <a:rPr lang="en-US" altLang="zh-CN" b="1" dirty="0">
                <a:solidFill>
                  <a:schemeClr val="accent6">
                    <a:lumMod val="75000"/>
                  </a:schemeClr>
                </a:solidFill>
                <a:latin typeface="华文中宋" panose="02010600040101010101" pitchFamily="2" charset="-122"/>
                <a:ea typeface="华文中宋" panose="02010600040101010101" pitchFamily="2" charset="-122"/>
              </a:rPr>
              <a:t>3d</a:t>
            </a:r>
            <a:r>
              <a:rPr lang="zh-CN" altLang="en-US" b="1" dirty="0">
                <a:solidFill>
                  <a:schemeClr val="accent6">
                    <a:lumMod val="75000"/>
                  </a:schemeClr>
                </a:solidFill>
                <a:latin typeface="华文中宋" panose="02010600040101010101" pitchFamily="2" charset="-122"/>
                <a:ea typeface="华文中宋" panose="02010600040101010101" pitchFamily="2" charset="-122"/>
              </a:rPr>
              <a:t>轨道的填充，锗的核电荷显著增加</a:t>
            </a:r>
            <a:r>
              <a:rPr lang="zh-CN" altLang="en-US" dirty="0">
                <a:latin typeface="华文中宋" panose="02010600040101010101" pitchFamily="2" charset="-122"/>
                <a:ea typeface="华文中宋" panose="02010600040101010101" pitchFamily="2" charset="-122"/>
              </a:rPr>
              <a:t>，这种增加的核电荷能够更有效地吸引外层电子，使得原子半径增加幅度相对较小。</a:t>
            </a:r>
            <a:endParaRPr lang="en-US" altLang="zh-CN"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26734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477328"/>
          </a:xfrm>
          <a:prstGeom prst="rect">
            <a:avLst/>
          </a:prstGeom>
          <a:noFill/>
        </p:spPr>
        <p:txBody>
          <a:bodyPr wrap="square" rtlCol="0">
            <a:spAutoFit/>
          </a:bodyPr>
          <a:lstStyle/>
          <a:p>
            <a:pPr algn="just"/>
            <a:r>
              <a:rPr lang="en-US" altLang="zh-CN" dirty="0">
                <a:latin typeface="华文中宋" panose="02010600040101010101" pitchFamily="2" charset="-122"/>
                <a:ea typeface="华文中宋" panose="02010600040101010101" pitchFamily="2" charset="-122"/>
              </a:rPr>
              <a:t>9.2 </a:t>
            </a:r>
            <a:r>
              <a:rPr lang="zh-CN" altLang="en-US" dirty="0">
                <a:latin typeface="华文中宋" panose="02010600040101010101" pitchFamily="2" charset="-122"/>
                <a:ea typeface="华文中宋" panose="02010600040101010101" pitchFamily="2" charset="-122"/>
              </a:rPr>
              <a:t>讨论以下现象：</a:t>
            </a:r>
            <a:endParaRPr lang="en-US" altLang="zh-CN" dirty="0">
              <a:latin typeface="华文中宋" panose="02010600040101010101" pitchFamily="2" charset="-122"/>
              <a:ea typeface="华文中宋" panose="02010600040101010101" pitchFamily="2" charset="-122"/>
            </a:endParaRPr>
          </a:p>
          <a:p>
            <a:pPr algn="just"/>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固态二氧化碳在温度高于</a:t>
            </a:r>
            <a:r>
              <a:rPr lang="en-US" altLang="zh-CN" dirty="0">
                <a:latin typeface="华文中宋" panose="02010600040101010101" pitchFamily="2" charset="-122"/>
                <a:ea typeface="华文中宋" panose="02010600040101010101" pitchFamily="2" charset="-122"/>
              </a:rPr>
              <a:t>-78℃</a:t>
            </a:r>
            <a:r>
              <a:rPr lang="zh-CN" altLang="en-US" dirty="0">
                <a:latin typeface="华文中宋" panose="02010600040101010101" pitchFamily="2" charset="-122"/>
                <a:ea typeface="华文中宋" panose="02010600040101010101" pitchFamily="2" charset="-122"/>
              </a:rPr>
              <a:t>时升华，生成含有离散</a:t>
            </a:r>
            <a:r>
              <a:rPr lang="en-US" altLang="zh-CN" dirty="0">
                <a:latin typeface="华文中宋" panose="02010600040101010101" pitchFamily="2" charset="-122"/>
                <a:ea typeface="华文中宋" panose="02010600040101010101" pitchFamily="2" charset="-122"/>
              </a:rPr>
              <a:t>CO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分子的气体。</a:t>
            </a:r>
            <a:endParaRPr lang="en-US" altLang="zh-CN" dirty="0">
              <a:latin typeface="华文中宋" panose="02010600040101010101" pitchFamily="2" charset="-122"/>
              <a:ea typeface="华文中宋" panose="02010600040101010101" pitchFamily="2" charset="-122"/>
            </a:endParaRPr>
          </a:p>
          <a:p>
            <a:pPr algn="just"/>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固态二氧化硅具有巨大的共价结构。它在约</a:t>
            </a:r>
            <a:r>
              <a:rPr lang="en-US" altLang="zh-CN" dirty="0">
                <a:latin typeface="华文中宋" panose="02010600040101010101" pitchFamily="2" charset="-122"/>
                <a:ea typeface="华文中宋" panose="02010600040101010101" pitchFamily="2" charset="-122"/>
              </a:rPr>
              <a:t>1500℃</a:t>
            </a:r>
            <a:r>
              <a:rPr lang="zh-CN" altLang="en-US" dirty="0">
                <a:latin typeface="华文中宋" panose="02010600040101010101" pitchFamily="2" charset="-122"/>
                <a:ea typeface="华文中宋" panose="02010600040101010101" pitchFamily="2" charset="-122"/>
              </a:rPr>
              <a:t>时熔化，并最终在超过</a:t>
            </a:r>
            <a:r>
              <a:rPr lang="en-US" altLang="zh-CN" dirty="0">
                <a:latin typeface="华文中宋" panose="02010600040101010101" pitchFamily="2" charset="-122"/>
                <a:ea typeface="华文中宋" panose="02010600040101010101" pitchFamily="2" charset="-122"/>
              </a:rPr>
              <a:t>2800℃</a:t>
            </a:r>
            <a:r>
              <a:rPr lang="zh-CN" altLang="en-US" dirty="0">
                <a:latin typeface="华文中宋" panose="02010600040101010101" pitchFamily="2" charset="-122"/>
                <a:ea typeface="华文中宋" panose="02010600040101010101" pitchFamily="2" charset="-122"/>
              </a:rPr>
              <a:t>的温度下沸腾；在气相中可以检测到离散的</a:t>
            </a:r>
            <a:r>
              <a:rPr lang="en-US" altLang="zh-CN" dirty="0">
                <a:latin typeface="华文中宋" panose="02010600040101010101" pitchFamily="2" charset="-122"/>
                <a:ea typeface="华文中宋" panose="02010600040101010101" pitchFamily="2" charset="-122"/>
              </a:rPr>
              <a:t>SiO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a:t>
            </a:r>
            <a:endParaRPr lang="en-US" altLang="zh-CN" dirty="0">
              <a:latin typeface="华文中宋" panose="02010600040101010101" pitchFamily="2" charset="-122"/>
              <a:ea typeface="华文中宋" panose="02010600040101010101" pitchFamily="2" charset="-122"/>
            </a:endParaRPr>
          </a:p>
          <a:p>
            <a:pPr algn="just"/>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如果</a:t>
            </a:r>
            <a:r>
              <a:rPr lang="en-US" altLang="zh-CN" dirty="0">
                <a:latin typeface="华文中宋" panose="02010600040101010101" pitchFamily="2" charset="-122"/>
                <a:ea typeface="华文中宋" panose="02010600040101010101" pitchFamily="2" charset="-122"/>
              </a:rPr>
              <a:t>CO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受到极高的压力，会生成一种具有巨大的共价结构的固体材料，其中存在</a:t>
            </a:r>
            <a:r>
              <a:rPr lang="en-US" altLang="zh-CN" dirty="0">
                <a:latin typeface="华文中宋" panose="02010600040101010101" pitchFamily="2" charset="-122"/>
                <a:ea typeface="华文中宋" panose="02010600040101010101" pitchFamily="2" charset="-122"/>
              </a:rPr>
              <a:t>C-O</a:t>
            </a:r>
            <a:r>
              <a:rPr lang="zh-CN" altLang="en-US" dirty="0">
                <a:latin typeface="华文中宋" panose="02010600040101010101" pitchFamily="2" charset="-122"/>
                <a:ea typeface="华文中宋" panose="02010600040101010101" pitchFamily="2" charset="-122"/>
              </a:rPr>
              <a:t>单键。</a:t>
            </a:r>
          </a:p>
        </p:txBody>
      </p:sp>
      <p:sp>
        <p:nvSpPr>
          <p:cNvPr id="9" name="文本框 8">
            <a:extLst>
              <a:ext uri="{FF2B5EF4-FFF2-40B4-BE49-F238E27FC236}">
                <a16:creationId xmlns:a16="http://schemas.microsoft.com/office/drawing/2014/main" id="{FF0FB569-E940-4B0F-942F-B474E1F1D58D}"/>
              </a:ext>
            </a:extLst>
          </p:cNvPr>
          <p:cNvSpPr txBox="1"/>
          <p:nvPr/>
        </p:nvSpPr>
        <p:spPr>
          <a:xfrm>
            <a:off x="1" y="1917510"/>
            <a:ext cx="12192000" cy="2536144"/>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固态二氧化碳是由离散的</a:t>
            </a:r>
            <a:r>
              <a:rPr lang="en-US" altLang="zh-CN" dirty="0">
                <a:latin typeface="华文中宋" panose="02010600040101010101" pitchFamily="2" charset="-122"/>
                <a:ea typeface="华文中宋" panose="02010600040101010101" pitchFamily="2" charset="-122"/>
                <a:sym typeface="Wingdings" panose="05000000000000000000" pitchFamily="2" charset="2"/>
              </a:rPr>
              <a:t>CO</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分子组成的分子固体，</a:t>
            </a:r>
            <a:r>
              <a:rPr lang="zh-CN" altLang="en-US" b="1" dirty="0">
                <a:solidFill>
                  <a:schemeClr val="accent2">
                    <a:lumMod val="75000"/>
                  </a:schemeClr>
                </a:solidFill>
                <a:latin typeface="华文中宋" panose="02010600040101010101" pitchFamily="2" charset="-122"/>
                <a:ea typeface="华文中宋" panose="02010600040101010101" pitchFamily="2" charset="-122"/>
                <a:sym typeface="Wingdings" panose="05000000000000000000" pitchFamily="2" charset="2"/>
              </a:rPr>
              <a:t>分子之间只有弱的相互作用（范德华力）</a:t>
            </a:r>
            <a:r>
              <a:rPr lang="zh-CN" altLang="en-US" dirty="0">
                <a:latin typeface="华文中宋" panose="02010600040101010101" pitchFamily="2" charset="-122"/>
                <a:ea typeface="华文中宋" panose="02010600040101010101" pitchFamily="2" charset="-122"/>
                <a:sym typeface="Wingdings" panose="05000000000000000000" pitchFamily="2" charset="2"/>
              </a:rPr>
              <a:t>，因此其升华热较低。</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固态二氧化硅具有巨大的分子结构，其中每个硅原子（单独）与四个氧原子键合，</a:t>
            </a:r>
            <a:r>
              <a:rPr lang="zh-CN" altLang="en-US" b="1" dirty="0">
                <a:solidFill>
                  <a:srgbClr val="00B0F0"/>
                </a:solidFill>
                <a:latin typeface="华文中宋" panose="02010600040101010101" pitchFamily="2" charset="-122"/>
                <a:ea typeface="华文中宋" panose="02010600040101010101" pitchFamily="2" charset="-122"/>
                <a:sym typeface="Wingdings" panose="05000000000000000000" pitchFamily="2" charset="2"/>
              </a:rPr>
              <a:t>三维共价键网络的强相互作用将其紧密结合在一起，导致高的熔沸点</a:t>
            </a:r>
            <a:r>
              <a:rPr lang="zh-CN" altLang="en-US" dirty="0">
                <a:latin typeface="华文中宋" panose="02010600040101010101" pitchFamily="2" charset="-122"/>
                <a:ea typeface="华文中宋" panose="02010600040101010101" pitchFamily="2" charset="-122"/>
                <a:sym typeface="Wingdings" panose="05000000000000000000" pitchFamily="2" charset="2"/>
              </a:rPr>
              <a:t>。气相中的</a:t>
            </a:r>
            <a:r>
              <a:rPr lang="en-US" altLang="zh-CN" dirty="0">
                <a:latin typeface="华文中宋" panose="02010600040101010101" pitchFamily="2" charset="-122"/>
                <a:ea typeface="华文中宋" panose="02010600040101010101" pitchFamily="2" charset="-122"/>
                <a:sym typeface="Wingdings" panose="05000000000000000000" pitchFamily="2" charset="2"/>
              </a:rPr>
              <a:t>SiO</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物种的键合大概类似于</a:t>
            </a:r>
            <a:r>
              <a:rPr lang="en-US" altLang="zh-CN" dirty="0">
                <a:latin typeface="华文中宋" panose="02010600040101010101" pitchFamily="2" charset="-122"/>
                <a:ea typeface="华文中宋" panose="02010600040101010101" pitchFamily="2" charset="-122"/>
                <a:sym typeface="Wingdings" panose="05000000000000000000" pitchFamily="2" charset="2"/>
              </a:rPr>
              <a:t>CO</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中的键合。</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(3) </a:t>
            </a:r>
            <a:r>
              <a:rPr lang="zh-CN" altLang="en-US" dirty="0">
                <a:latin typeface="华文中宋" panose="02010600040101010101" pitchFamily="2" charset="-122"/>
                <a:ea typeface="华文中宋" panose="02010600040101010101" pitchFamily="2" charset="-122"/>
                <a:sym typeface="Wingdings" panose="05000000000000000000" pitchFamily="2" charset="2"/>
              </a:rPr>
              <a:t>在一定的条件下（如超高压），</a:t>
            </a:r>
            <a:r>
              <a:rPr lang="en-US" altLang="zh-CN" dirty="0">
                <a:latin typeface="华文中宋" panose="02010600040101010101" pitchFamily="2" charset="-122"/>
                <a:ea typeface="华文中宋" panose="02010600040101010101" pitchFamily="2" charset="-122"/>
                <a:sym typeface="Wingdings" panose="05000000000000000000" pitchFamily="2" charset="2"/>
              </a:rPr>
              <a:t>CO</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会产生一种类似于</a:t>
            </a:r>
            <a:r>
              <a:rPr lang="en-US" altLang="zh-CN" dirty="0">
                <a:latin typeface="华文中宋" panose="02010600040101010101" pitchFamily="2" charset="-122"/>
                <a:ea typeface="华文中宋" panose="02010600040101010101" pitchFamily="2" charset="-122"/>
                <a:sym typeface="Wingdings" panose="05000000000000000000" pitchFamily="2" charset="2"/>
              </a:rPr>
              <a:t>SiO</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的共价结构，成为固体材料，它存在</a:t>
            </a:r>
            <a:r>
              <a:rPr lang="en-US" altLang="zh-CN" dirty="0">
                <a:latin typeface="华文中宋" panose="02010600040101010101" pitchFamily="2" charset="-122"/>
                <a:ea typeface="华文中宋" panose="02010600040101010101" pitchFamily="2" charset="-122"/>
                <a:sym typeface="Wingdings" panose="05000000000000000000" pitchFamily="2" charset="2"/>
              </a:rPr>
              <a:t>C-O</a:t>
            </a:r>
            <a:r>
              <a:rPr lang="zh-CN" altLang="en-US" dirty="0">
                <a:latin typeface="华文中宋" panose="02010600040101010101" pitchFamily="2" charset="-122"/>
                <a:ea typeface="华文中宋" panose="02010600040101010101" pitchFamily="2" charset="-122"/>
                <a:sym typeface="Wingdings" panose="05000000000000000000" pitchFamily="2" charset="2"/>
              </a:rPr>
              <a:t>单键，但它们以一种不同于普通</a:t>
            </a:r>
            <a:r>
              <a:rPr lang="en-US" altLang="zh-CN" dirty="0">
                <a:latin typeface="华文中宋" panose="02010600040101010101" pitchFamily="2" charset="-122"/>
                <a:ea typeface="华文中宋" panose="02010600040101010101" pitchFamily="2" charset="-122"/>
                <a:sym typeface="Wingdings" panose="05000000000000000000" pitchFamily="2" charset="2"/>
              </a:rPr>
              <a:t>CO₂</a:t>
            </a:r>
            <a:r>
              <a:rPr lang="zh-CN" altLang="en-US" dirty="0">
                <a:latin typeface="华文中宋" panose="02010600040101010101" pitchFamily="2" charset="-122"/>
                <a:ea typeface="华文中宋" panose="02010600040101010101" pitchFamily="2" charset="-122"/>
                <a:sym typeface="Wingdings" panose="05000000000000000000" pitchFamily="2" charset="2"/>
              </a:rPr>
              <a:t>的方式排列，形成了新的晶体结构。</a:t>
            </a: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7845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369332"/>
          </a:xfrm>
          <a:prstGeom prst="rect">
            <a:avLst/>
          </a:prstGeom>
          <a:noFill/>
        </p:spPr>
        <p:txBody>
          <a:bodyPr wrap="square" rtlCol="0">
            <a:spAutoFit/>
          </a:bodyPr>
          <a:lstStyle/>
          <a:p>
            <a:pPr algn="just"/>
            <a:r>
              <a:rPr lang="en-US" altLang="zh-CN" dirty="0">
                <a:latin typeface="华文中宋" panose="02010600040101010101" pitchFamily="2" charset="-122"/>
                <a:ea typeface="华文中宋" panose="02010600040101010101" pitchFamily="2" charset="-122"/>
              </a:rPr>
              <a:t>9.3 (a) </a:t>
            </a:r>
            <a:r>
              <a:rPr lang="zh-CN" altLang="en-US" dirty="0">
                <a:latin typeface="华文中宋" panose="02010600040101010101" pitchFamily="2" charset="-122"/>
                <a:ea typeface="华文中宋" panose="02010600040101010101" pitchFamily="2" charset="-122"/>
              </a:rPr>
              <a:t>使用下面给出的轨道能量数据，将以下化合物放置在</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图上：</a:t>
            </a:r>
            <a:r>
              <a:rPr lang="en-US" altLang="zh-CN" dirty="0">
                <a:latin typeface="华文中宋" panose="02010600040101010101" pitchFamily="2" charset="-122"/>
                <a:ea typeface="华文中宋" panose="02010600040101010101" pitchFamily="2" charset="-122"/>
              </a:rPr>
              <a:t>CaCl</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 TiB</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 S</a:t>
            </a:r>
            <a:r>
              <a:rPr lang="en-US" altLang="zh-CN" baseline="-25000" dirty="0">
                <a:latin typeface="华文中宋" panose="02010600040101010101" pitchFamily="2" charset="-122"/>
                <a:ea typeface="华文中宋" panose="02010600040101010101" pitchFamily="2" charset="-122"/>
              </a:rPr>
              <a:t>4</a:t>
            </a:r>
            <a:r>
              <a:rPr lang="en-US" altLang="zh-CN" dirty="0">
                <a:latin typeface="华文中宋" panose="02010600040101010101" pitchFamily="2" charset="-122"/>
                <a:ea typeface="华文中宋" panose="02010600040101010101" pitchFamily="2" charset="-122"/>
              </a:rPr>
              <a:t>N</a:t>
            </a:r>
            <a:r>
              <a:rPr lang="en-US" altLang="zh-CN" baseline="-25000" dirty="0">
                <a:latin typeface="华文中宋" panose="02010600040101010101" pitchFamily="2" charset="-122"/>
                <a:ea typeface="华文中宋" panose="02010600040101010101" pitchFamily="2" charset="-122"/>
              </a:rPr>
              <a:t>4</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和 </a:t>
            </a:r>
            <a:r>
              <a:rPr lang="en-US" altLang="zh-CN" dirty="0" err="1">
                <a:latin typeface="华文中宋" panose="02010600040101010101" pitchFamily="2" charset="-122"/>
                <a:ea typeface="华文中宋" panose="02010600040101010101" pitchFamily="2" charset="-122"/>
              </a:rPr>
              <a:t>AlN</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p:txBody>
      </p:sp>
      <p:pic>
        <p:nvPicPr>
          <p:cNvPr id="3" name="图片 2">
            <a:extLst>
              <a:ext uri="{FF2B5EF4-FFF2-40B4-BE49-F238E27FC236}">
                <a16:creationId xmlns:a16="http://schemas.microsoft.com/office/drawing/2014/main" id="{050D577C-8C80-4F28-B397-3C6928ED09B2}"/>
              </a:ext>
            </a:extLst>
          </p:cNvPr>
          <p:cNvPicPr>
            <a:picLocks noChangeAspect="1"/>
          </p:cNvPicPr>
          <p:nvPr/>
        </p:nvPicPr>
        <p:blipFill>
          <a:blip r:embed="rId2"/>
          <a:stretch>
            <a:fillRect/>
          </a:stretch>
        </p:blipFill>
        <p:spPr>
          <a:xfrm>
            <a:off x="2004442" y="556389"/>
            <a:ext cx="8183117" cy="1609950"/>
          </a:xfrm>
          <a:prstGeom prst="rect">
            <a:avLst/>
          </a:prstGeom>
        </p:spPr>
      </p:pic>
      <p:sp>
        <p:nvSpPr>
          <p:cNvPr id="5" name="文本框 4">
            <a:extLst>
              <a:ext uri="{FF2B5EF4-FFF2-40B4-BE49-F238E27FC236}">
                <a16:creationId xmlns:a16="http://schemas.microsoft.com/office/drawing/2014/main" id="{EA9E4911-F8B9-4775-A36A-B43AF7F30394}"/>
              </a:ext>
            </a:extLst>
          </p:cNvPr>
          <p:cNvSpPr txBox="1"/>
          <p:nvPr/>
        </p:nvSpPr>
        <p:spPr>
          <a:xfrm>
            <a:off x="0" y="2265528"/>
            <a:ext cx="12192000" cy="2536272"/>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以下描述指的是上述化合物的性质，但不一定按照相同的顺序。</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W </a:t>
            </a:r>
            <a:r>
              <a:rPr lang="zh-CN" altLang="en-US" dirty="0">
                <a:latin typeface="华文中宋" panose="02010600040101010101" pitchFamily="2" charset="-122"/>
                <a:ea typeface="华文中宋" panose="02010600040101010101" pitchFamily="2" charset="-122"/>
              </a:rPr>
              <a:t>棕色固体，熔点</a:t>
            </a:r>
            <a:r>
              <a:rPr lang="en-US" altLang="zh-CN" dirty="0">
                <a:latin typeface="华文中宋" panose="02010600040101010101" pitchFamily="2" charset="-122"/>
                <a:ea typeface="华文中宋" panose="02010600040101010101" pitchFamily="2" charset="-122"/>
              </a:rPr>
              <a:t>2980°C</a:t>
            </a:r>
            <a:r>
              <a:rPr lang="zh-CN" altLang="en-US" dirty="0">
                <a:latin typeface="华文中宋" panose="02010600040101010101" pitchFamily="2" charset="-122"/>
                <a:ea typeface="华文中宋" panose="02010600040101010101" pitchFamily="2" charset="-122"/>
              </a:rPr>
              <a:t>，良导体</a:t>
            </a:r>
          </a:p>
          <a:p>
            <a:pPr algn="just">
              <a:lnSpc>
                <a:spcPct val="150000"/>
              </a:lnSpc>
            </a:pPr>
            <a:r>
              <a:rPr lang="en-US" altLang="zh-CN" dirty="0">
                <a:latin typeface="华文中宋" panose="02010600040101010101" pitchFamily="2" charset="-122"/>
                <a:ea typeface="华文中宋" panose="02010600040101010101" pitchFamily="2" charset="-122"/>
              </a:rPr>
              <a:t>X </a:t>
            </a:r>
            <a:r>
              <a:rPr lang="zh-CN" altLang="en-US" dirty="0">
                <a:latin typeface="华文中宋" panose="02010600040101010101" pitchFamily="2" charset="-122"/>
                <a:ea typeface="华文中宋" panose="02010600040101010101" pitchFamily="2" charset="-122"/>
              </a:rPr>
              <a:t>橙色晶体，熔点</a:t>
            </a:r>
            <a:r>
              <a:rPr lang="en-US" altLang="zh-CN" dirty="0">
                <a:latin typeface="华文中宋" panose="02010600040101010101" pitchFamily="2" charset="-122"/>
                <a:ea typeface="华文中宋" panose="02010600040101010101" pitchFamily="2" charset="-122"/>
              </a:rPr>
              <a:t>170°C</a:t>
            </a:r>
            <a:r>
              <a:rPr lang="zh-CN" altLang="en-US" dirty="0">
                <a:latin typeface="华文中宋" panose="02010600040101010101" pitchFamily="2" charset="-122"/>
                <a:ea typeface="华文中宋" panose="02010600040101010101" pitchFamily="2" charset="-122"/>
              </a:rPr>
              <a:t>，可溶于有机溶剂</a:t>
            </a:r>
          </a:p>
          <a:p>
            <a:pPr algn="just">
              <a:lnSpc>
                <a:spcPct val="150000"/>
              </a:lnSpc>
            </a:pPr>
            <a:r>
              <a:rPr lang="en-US" altLang="zh-CN" dirty="0">
                <a:latin typeface="华文中宋" panose="02010600040101010101" pitchFamily="2" charset="-122"/>
                <a:ea typeface="华文中宋" panose="02010600040101010101" pitchFamily="2" charset="-122"/>
              </a:rPr>
              <a:t>Y </a:t>
            </a:r>
            <a:r>
              <a:rPr lang="zh-CN" altLang="en-US" dirty="0">
                <a:latin typeface="华文中宋" panose="02010600040101010101" pitchFamily="2" charset="-122"/>
                <a:ea typeface="华文中宋" panose="02010600040101010101" pitchFamily="2" charset="-122"/>
              </a:rPr>
              <a:t>白色固体，熔点</a:t>
            </a:r>
            <a:r>
              <a:rPr lang="en-US" altLang="zh-CN" dirty="0">
                <a:latin typeface="华文中宋" panose="02010600040101010101" pitchFamily="2" charset="-122"/>
                <a:ea typeface="华文中宋" panose="02010600040101010101" pitchFamily="2" charset="-122"/>
              </a:rPr>
              <a:t>1418°C</a:t>
            </a:r>
            <a:r>
              <a:rPr lang="zh-CN" altLang="en-US" dirty="0">
                <a:latin typeface="华文中宋" panose="02010600040101010101" pitchFamily="2" charset="-122"/>
                <a:ea typeface="华文中宋" panose="02010600040101010101" pitchFamily="2" charset="-122"/>
              </a:rPr>
              <a:t>，绝缘体，在水中有一定溶解性</a:t>
            </a:r>
          </a:p>
          <a:p>
            <a:pPr algn="just">
              <a:lnSpc>
                <a:spcPct val="150000"/>
              </a:lnSpc>
            </a:pPr>
            <a:r>
              <a:rPr lang="en-US" altLang="zh-CN" dirty="0">
                <a:latin typeface="华文中宋" panose="02010600040101010101" pitchFamily="2" charset="-122"/>
                <a:ea typeface="华文中宋" panose="02010600040101010101" pitchFamily="2" charset="-122"/>
              </a:rPr>
              <a:t>Z </a:t>
            </a:r>
            <a:r>
              <a:rPr lang="zh-CN" altLang="en-US" dirty="0">
                <a:latin typeface="华文中宋" panose="02010600040101010101" pitchFamily="2" charset="-122"/>
                <a:ea typeface="华文中宋" panose="02010600040101010101" pitchFamily="2" charset="-122"/>
              </a:rPr>
              <a:t>白色固体，熔点 </a:t>
            </a:r>
            <a:r>
              <a:rPr lang="en-US" altLang="zh-CN" dirty="0">
                <a:latin typeface="华文中宋" panose="02010600040101010101" pitchFamily="2" charset="-122"/>
                <a:ea typeface="华文中宋" panose="02010600040101010101" pitchFamily="2" charset="-122"/>
              </a:rPr>
              <a:t>&gt; 2400°C</a:t>
            </a:r>
            <a:r>
              <a:rPr lang="zh-CN" altLang="en-US" dirty="0">
                <a:latin typeface="华文中宋" panose="02010600040101010101" pitchFamily="2" charset="-122"/>
                <a:ea typeface="华文中宋" panose="02010600040101010101" pitchFamily="2" charset="-122"/>
              </a:rPr>
              <a:t>，带隙</a:t>
            </a:r>
            <a:r>
              <a:rPr lang="en-US" altLang="zh-CN" dirty="0">
                <a:latin typeface="华文中宋" panose="02010600040101010101" pitchFamily="2" charset="-122"/>
                <a:ea typeface="华文中宋" panose="02010600040101010101" pitchFamily="2" charset="-122"/>
              </a:rPr>
              <a:t>6 eV</a:t>
            </a:r>
            <a:r>
              <a:rPr lang="zh-CN" altLang="en-US" dirty="0">
                <a:latin typeface="华文中宋" panose="02010600040101010101" pitchFamily="2" charset="-122"/>
                <a:ea typeface="华文中宋" panose="02010600040101010101" pitchFamily="2" charset="-122"/>
              </a:rPr>
              <a:t>，绝缘体。</a:t>
            </a:r>
          </a:p>
          <a:p>
            <a:pPr algn="just">
              <a:lnSpc>
                <a:spcPct val="150000"/>
              </a:lnSpc>
            </a:pPr>
            <a:r>
              <a:rPr lang="zh-CN" altLang="en-US" dirty="0">
                <a:latin typeface="华文中宋" panose="02010600040101010101" pitchFamily="2" charset="-122"/>
                <a:ea typeface="华文中宋" panose="02010600040101010101" pitchFamily="2" charset="-122"/>
              </a:rPr>
              <a:t>借助</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图，并根据你的常识，推断哪个化合物对应哪个字母，并简要说明你的答案理由。</a:t>
            </a:r>
          </a:p>
        </p:txBody>
      </p:sp>
      <p:sp>
        <p:nvSpPr>
          <p:cNvPr id="8" name="文本框 7">
            <a:extLst>
              <a:ext uri="{FF2B5EF4-FFF2-40B4-BE49-F238E27FC236}">
                <a16:creationId xmlns:a16="http://schemas.microsoft.com/office/drawing/2014/main" id="{229092D6-8888-4F33-B917-37B0180174DF}"/>
              </a:ext>
            </a:extLst>
          </p:cNvPr>
          <p:cNvSpPr txBox="1"/>
          <p:nvPr/>
        </p:nvSpPr>
        <p:spPr>
          <a:xfrm>
            <a:off x="0" y="5219977"/>
            <a:ext cx="12192000" cy="1200329"/>
          </a:xfrm>
          <a:prstGeom prst="rect">
            <a:avLst/>
          </a:prstGeom>
          <a:noFill/>
        </p:spPr>
        <p:txBody>
          <a:bodyPr wrap="square">
            <a:spAutoFit/>
          </a:bodyPr>
          <a:lstStyle/>
          <a:p>
            <a:pPr algn="just"/>
            <a:r>
              <a:rPr lang="en-US" altLang="zh-CN" b="0" i="0" dirty="0">
                <a:solidFill>
                  <a:srgbClr val="0D0D0D"/>
                </a:solidFill>
                <a:effectLst/>
                <a:latin typeface="华文中宋" panose="02010600040101010101" pitchFamily="2" charset="-122"/>
                <a:ea typeface="华文中宋" panose="02010600040101010101" pitchFamily="2" charset="-122"/>
              </a:rPr>
              <a:t>Van </a:t>
            </a:r>
            <a:r>
              <a:rPr lang="en-US" altLang="zh-CN" b="0" i="0" dirty="0" err="1">
                <a:solidFill>
                  <a:srgbClr val="0D0D0D"/>
                </a:solidFill>
                <a:effectLst/>
                <a:latin typeface="华文中宋" panose="02010600040101010101" pitchFamily="2" charset="-122"/>
                <a:ea typeface="华文中宋" panose="02010600040101010101" pitchFamily="2" charset="-122"/>
              </a:rPr>
              <a:t>Arkel</a:t>
            </a:r>
            <a:r>
              <a:rPr lang="zh-CN" altLang="en-US" b="0" i="0" dirty="0">
                <a:solidFill>
                  <a:srgbClr val="0D0D0D"/>
                </a:solidFill>
                <a:effectLst/>
                <a:latin typeface="华文中宋" panose="02010600040101010101" pitchFamily="2" charset="-122"/>
                <a:ea typeface="华文中宋" panose="02010600040101010101" pitchFamily="2" charset="-122"/>
              </a:rPr>
              <a:t>图用于分析化合物的键合类型，通过电负性和轨道能量的结合，识别出化合物的离子性、共价性和金属性。</a:t>
            </a:r>
          </a:p>
          <a:p>
            <a:pPr algn="just"/>
            <a:r>
              <a:rPr lang="zh-CN" altLang="en-US" b="1" i="0" dirty="0">
                <a:solidFill>
                  <a:srgbClr val="0D0D0D"/>
                </a:solidFill>
                <a:effectLst/>
                <a:latin typeface="华文中宋" panose="02010600040101010101" pitchFamily="2" charset="-122"/>
                <a:ea typeface="华文中宋" panose="02010600040101010101" pitchFamily="2" charset="-122"/>
              </a:rPr>
              <a:t>步骤</a:t>
            </a:r>
          </a:p>
          <a:p>
            <a:pPr algn="just">
              <a:buFont typeface="+mj-lt"/>
              <a:buAutoNum type="arabicPeriod"/>
            </a:pPr>
            <a:r>
              <a:rPr lang="zh-CN" altLang="en-US" b="1" i="0" dirty="0">
                <a:solidFill>
                  <a:srgbClr val="0D0D0D"/>
                </a:solidFill>
                <a:effectLst/>
                <a:latin typeface="华文中宋" panose="02010600040101010101" pitchFamily="2" charset="-122"/>
                <a:ea typeface="华文中宋" panose="02010600040101010101" pitchFamily="2" charset="-122"/>
              </a:rPr>
              <a:t>轨道能量数据</a:t>
            </a:r>
            <a:r>
              <a:rPr lang="zh-CN" altLang="en-US" b="0" i="0" dirty="0">
                <a:solidFill>
                  <a:srgbClr val="0D0D0D"/>
                </a:solidFill>
                <a:effectLst/>
                <a:latin typeface="华文中宋" panose="02010600040101010101" pitchFamily="2" charset="-122"/>
                <a:ea typeface="华文中宋" panose="02010600040101010101" pitchFamily="2" charset="-122"/>
              </a:rPr>
              <a:t>：将各化合物的原子轨道能量列出。</a:t>
            </a:r>
          </a:p>
          <a:p>
            <a:pPr algn="just">
              <a:buFont typeface="+mj-lt"/>
              <a:buAutoNum type="arabicPeriod"/>
            </a:pPr>
            <a:r>
              <a:rPr lang="zh-CN" altLang="en-US" b="1" i="0" dirty="0">
                <a:solidFill>
                  <a:srgbClr val="0D0D0D"/>
                </a:solidFill>
                <a:effectLst/>
                <a:latin typeface="华文中宋" panose="02010600040101010101" pitchFamily="2" charset="-122"/>
                <a:ea typeface="华文中宋" panose="02010600040101010101" pitchFamily="2" charset="-122"/>
              </a:rPr>
              <a:t>化合物放置</a:t>
            </a:r>
            <a:r>
              <a:rPr lang="zh-CN" altLang="en-US" b="0" i="0" dirty="0">
                <a:solidFill>
                  <a:srgbClr val="0D0D0D"/>
                </a:solidFill>
                <a:effectLst/>
                <a:latin typeface="华文中宋" panose="02010600040101010101" pitchFamily="2" charset="-122"/>
                <a:ea typeface="华文中宋" panose="02010600040101010101" pitchFamily="2" charset="-122"/>
              </a:rPr>
              <a:t>：根据轨道能量数据，将化合物在</a:t>
            </a:r>
            <a:r>
              <a:rPr lang="en-US" altLang="zh-CN" b="0" i="0" dirty="0">
                <a:solidFill>
                  <a:srgbClr val="0D0D0D"/>
                </a:solidFill>
                <a:effectLst/>
                <a:latin typeface="华文中宋" panose="02010600040101010101" pitchFamily="2" charset="-122"/>
                <a:ea typeface="华文中宋" panose="02010600040101010101" pitchFamily="2" charset="-122"/>
              </a:rPr>
              <a:t>van </a:t>
            </a:r>
            <a:r>
              <a:rPr lang="en-US" altLang="zh-CN" b="0" i="0" dirty="0" err="1">
                <a:solidFill>
                  <a:srgbClr val="0D0D0D"/>
                </a:solidFill>
                <a:effectLst/>
                <a:latin typeface="华文中宋" panose="02010600040101010101" pitchFamily="2" charset="-122"/>
                <a:ea typeface="华文中宋" panose="02010600040101010101" pitchFamily="2" charset="-122"/>
              </a:rPr>
              <a:t>Arkel</a:t>
            </a:r>
            <a:r>
              <a:rPr lang="zh-CN" altLang="en-US" b="0" i="0" dirty="0">
                <a:solidFill>
                  <a:srgbClr val="0D0D0D"/>
                </a:solidFill>
                <a:effectLst/>
                <a:latin typeface="华文中宋" panose="02010600040101010101" pitchFamily="2" charset="-122"/>
                <a:ea typeface="华文中宋" panose="02010600040101010101" pitchFamily="2" charset="-122"/>
              </a:rPr>
              <a:t>图上标出。</a:t>
            </a:r>
          </a:p>
        </p:txBody>
      </p:sp>
    </p:spTree>
    <p:extLst>
      <p:ext uri="{BB962C8B-B14F-4D97-AF65-F5344CB8AC3E}">
        <p14:creationId xmlns:p14="http://schemas.microsoft.com/office/powerpoint/2010/main" val="3163419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369332"/>
          </a:xfrm>
          <a:prstGeom prst="rect">
            <a:avLst/>
          </a:prstGeom>
          <a:noFill/>
        </p:spPr>
        <p:txBody>
          <a:bodyPr wrap="square" rtlCol="0">
            <a:spAutoFit/>
          </a:bodyPr>
          <a:lstStyle/>
          <a:p>
            <a:pPr algn="just"/>
            <a:r>
              <a:rPr lang="en-US" altLang="zh-CN" dirty="0">
                <a:latin typeface="华文中宋" panose="02010600040101010101" pitchFamily="2" charset="-122"/>
                <a:ea typeface="华文中宋" panose="02010600040101010101" pitchFamily="2" charset="-122"/>
              </a:rPr>
              <a:t>9.3 </a:t>
            </a:r>
            <a:r>
              <a:rPr lang="zh-CN" altLang="en-US" dirty="0">
                <a:latin typeface="华文中宋" panose="02010600040101010101" pitchFamily="2" charset="-122"/>
                <a:ea typeface="华文中宋" panose="02010600040101010101" pitchFamily="2" charset="-122"/>
              </a:rPr>
              <a:t>答：先列出轨道能量数据（平均能量和能量差），再推断。</a:t>
            </a:r>
            <a:endParaRPr lang="en-US" altLang="zh-CN"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B2E7DA8B-27AD-43CD-9B7F-6530B74A39B9}"/>
              </a:ext>
            </a:extLst>
          </p:cNvPr>
          <p:cNvPicPr>
            <a:picLocks noChangeAspect="1"/>
          </p:cNvPicPr>
          <p:nvPr/>
        </p:nvPicPr>
        <p:blipFill>
          <a:blip r:embed="rId2"/>
          <a:stretch>
            <a:fillRect/>
          </a:stretch>
        </p:blipFill>
        <p:spPr>
          <a:xfrm>
            <a:off x="3137450" y="2131002"/>
            <a:ext cx="5917101" cy="4684105"/>
          </a:xfrm>
          <a:prstGeom prst="rect">
            <a:avLst/>
          </a:prstGeom>
          <a:ln>
            <a:solidFill>
              <a:schemeClr val="accent1"/>
            </a:solidFill>
          </a:ln>
        </p:spPr>
      </p:pic>
      <p:sp>
        <p:nvSpPr>
          <p:cNvPr id="7" name="矩形 6">
            <a:extLst>
              <a:ext uri="{FF2B5EF4-FFF2-40B4-BE49-F238E27FC236}">
                <a16:creationId xmlns:a16="http://schemas.microsoft.com/office/drawing/2014/main" id="{14B424ED-3D86-4A24-A7AD-5A302A61CD46}"/>
              </a:ext>
            </a:extLst>
          </p:cNvPr>
          <p:cNvSpPr/>
          <p:nvPr/>
        </p:nvSpPr>
        <p:spPr>
          <a:xfrm>
            <a:off x="5554639" y="3869140"/>
            <a:ext cx="541361" cy="286603"/>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AEB3636-8BB6-4228-B5A8-8BABE0F235A9}"/>
              </a:ext>
            </a:extLst>
          </p:cNvPr>
          <p:cNvSpPr/>
          <p:nvPr/>
        </p:nvSpPr>
        <p:spPr>
          <a:xfrm>
            <a:off x="5274860" y="4387755"/>
            <a:ext cx="541361" cy="28660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8DFCB1F-6B1D-499A-A8C0-97CADEBF92D6}"/>
              </a:ext>
            </a:extLst>
          </p:cNvPr>
          <p:cNvSpPr/>
          <p:nvPr/>
        </p:nvSpPr>
        <p:spPr>
          <a:xfrm>
            <a:off x="5097440" y="5295331"/>
            <a:ext cx="541361" cy="286603"/>
          </a:xfrm>
          <a:prstGeom prst="rect">
            <a:avLst/>
          </a:prstGeom>
          <a:noFill/>
          <a:ln w="28575">
            <a:solidFill>
              <a:srgbClr val="4CD8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54F517-6F19-4A25-A8EF-6C2E0A60401D}"/>
              </a:ext>
            </a:extLst>
          </p:cNvPr>
          <p:cNvSpPr/>
          <p:nvPr/>
        </p:nvSpPr>
        <p:spPr>
          <a:xfrm>
            <a:off x="6359858" y="5336275"/>
            <a:ext cx="541361" cy="286603"/>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A9C7D38-24D2-4809-902D-255BF5585310}"/>
              </a:ext>
            </a:extLst>
          </p:cNvPr>
          <p:cNvSpPr/>
          <p:nvPr/>
        </p:nvSpPr>
        <p:spPr>
          <a:xfrm>
            <a:off x="5875362" y="4387756"/>
            <a:ext cx="541361" cy="286603"/>
          </a:xfrm>
          <a:prstGeom prst="rect">
            <a:avLst/>
          </a:prstGeom>
          <a:noFill/>
          <a:ln w="28575">
            <a:solidFill>
              <a:srgbClr val="DE2A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24CFBF5-6756-4587-9735-E6B4FCF46F7E}"/>
              </a:ext>
            </a:extLst>
          </p:cNvPr>
          <p:cNvSpPr txBox="1"/>
          <p:nvPr/>
        </p:nvSpPr>
        <p:spPr>
          <a:xfrm>
            <a:off x="9109881" y="4728951"/>
            <a:ext cx="2961564" cy="1077218"/>
          </a:xfrm>
          <a:prstGeom prst="rect">
            <a:avLst/>
          </a:prstGeom>
          <a:noFill/>
        </p:spPr>
        <p:txBody>
          <a:bodyPr wrap="square" rtlCol="0">
            <a:spAutoFit/>
          </a:bodyPr>
          <a:lstStyle/>
          <a:p>
            <a:pPr algn="just"/>
            <a:r>
              <a:rPr lang="en-US" altLang="zh-CN" sz="1600" dirty="0">
                <a:latin typeface="华文中宋" panose="02010600040101010101" pitchFamily="2" charset="-122"/>
                <a:ea typeface="华文中宋" panose="02010600040101010101" pitchFamily="2" charset="-122"/>
              </a:rPr>
              <a:t>S</a:t>
            </a:r>
            <a:r>
              <a:rPr lang="en-US" altLang="zh-CN" sz="1600" baseline="-25000" dirty="0">
                <a:latin typeface="华文中宋" panose="02010600040101010101" pitchFamily="2" charset="-122"/>
                <a:ea typeface="华文中宋" panose="02010600040101010101" pitchFamily="2" charset="-122"/>
              </a:rPr>
              <a:t>4</a:t>
            </a:r>
            <a:r>
              <a:rPr lang="en-US" altLang="zh-CN" sz="1600" dirty="0">
                <a:latin typeface="华文中宋" panose="02010600040101010101" pitchFamily="2" charset="-122"/>
                <a:ea typeface="华文中宋" panose="02010600040101010101" pitchFamily="2" charset="-122"/>
              </a:rPr>
              <a:t>N</a:t>
            </a:r>
            <a:r>
              <a:rPr lang="en-US" altLang="zh-CN" sz="1600" baseline="-25000" dirty="0">
                <a:latin typeface="华文中宋" panose="02010600040101010101" pitchFamily="2" charset="-122"/>
                <a:ea typeface="华文中宋" panose="02010600040101010101" pitchFamily="2" charset="-122"/>
              </a:rPr>
              <a:t>4</a:t>
            </a:r>
            <a:r>
              <a:rPr lang="zh-CN" altLang="en-US" sz="1600" dirty="0">
                <a:latin typeface="华文中宋" panose="02010600040101010101" pitchFamily="2" charset="-122"/>
                <a:ea typeface="华文中宋" panose="02010600040101010101" pitchFamily="2" charset="-122"/>
              </a:rPr>
              <a:t>位于“共价”区域，</a:t>
            </a:r>
            <a:r>
              <a:rPr lang="en-US" altLang="zh-CN" sz="1600" dirty="0">
                <a:latin typeface="华文中宋" panose="02010600040101010101" pitchFamily="2" charset="-122"/>
                <a:ea typeface="华文中宋" panose="02010600040101010101" pitchFamily="2" charset="-122"/>
              </a:rPr>
              <a:t>S</a:t>
            </a:r>
            <a:r>
              <a:rPr lang="zh-CN" altLang="en-US" sz="1600" dirty="0">
                <a:latin typeface="华文中宋" panose="02010600040101010101" pitchFamily="2" charset="-122"/>
                <a:ea typeface="华文中宋" panose="02010600040101010101" pitchFamily="2" charset="-122"/>
              </a:rPr>
              <a:t>和</a:t>
            </a:r>
            <a:r>
              <a:rPr lang="en-US" altLang="zh-CN" sz="1600" dirty="0">
                <a:latin typeface="华文中宋" panose="02010600040101010101" pitchFamily="2" charset="-122"/>
                <a:ea typeface="华文中宋" panose="02010600040101010101" pitchFamily="2" charset="-122"/>
              </a:rPr>
              <a:t>N</a:t>
            </a:r>
            <a:r>
              <a:rPr lang="zh-CN" altLang="en-US" sz="1600" dirty="0">
                <a:latin typeface="华文中宋" panose="02010600040101010101" pitchFamily="2" charset="-122"/>
                <a:ea typeface="华文中宋" panose="02010600040101010101" pitchFamily="2" charset="-122"/>
              </a:rPr>
              <a:t>都是非金属，可以解释它的低熔点和在有机溶剂中的溶解性，推断其为</a:t>
            </a:r>
            <a:r>
              <a:rPr lang="en-US" altLang="zh-CN" sz="1600" dirty="0">
                <a:latin typeface="华文中宋" panose="02010600040101010101" pitchFamily="2" charset="-122"/>
                <a:ea typeface="华文中宋" panose="02010600040101010101" pitchFamily="2" charset="-122"/>
              </a:rPr>
              <a:t>X</a:t>
            </a:r>
            <a:r>
              <a:rPr lang="zh-CN" altLang="en-US" sz="1600" dirty="0">
                <a:latin typeface="华文中宋" panose="02010600040101010101" pitchFamily="2" charset="-122"/>
                <a:ea typeface="华文中宋" panose="02010600040101010101" pitchFamily="2" charset="-122"/>
              </a:rPr>
              <a:t>。</a:t>
            </a:r>
          </a:p>
        </p:txBody>
      </p:sp>
      <p:cxnSp>
        <p:nvCxnSpPr>
          <p:cNvPr id="16" name="直接箭头连接符 15">
            <a:extLst>
              <a:ext uri="{FF2B5EF4-FFF2-40B4-BE49-F238E27FC236}">
                <a16:creationId xmlns:a16="http://schemas.microsoft.com/office/drawing/2014/main" id="{A86F3B40-DB2C-4FE7-AAD0-F3AA1A98E117}"/>
              </a:ext>
            </a:extLst>
          </p:cNvPr>
          <p:cNvCxnSpPr>
            <a:stCxn id="10" idx="3"/>
          </p:cNvCxnSpPr>
          <p:nvPr/>
        </p:nvCxnSpPr>
        <p:spPr>
          <a:xfrm flipV="1">
            <a:off x="6901219" y="5152030"/>
            <a:ext cx="2188190" cy="32754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19C36205-753A-453C-BE12-0F62A6AEF8A9}"/>
              </a:ext>
            </a:extLst>
          </p:cNvPr>
          <p:cNvSpPr txBox="1"/>
          <p:nvPr/>
        </p:nvSpPr>
        <p:spPr>
          <a:xfrm>
            <a:off x="0" y="2818264"/>
            <a:ext cx="2961564" cy="1323439"/>
          </a:xfrm>
          <a:prstGeom prst="rect">
            <a:avLst/>
          </a:prstGeom>
          <a:noFill/>
        </p:spPr>
        <p:txBody>
          <a:bodyPr wrap="square" rtlCol="0">
            <a:spAutoFit/>
          </a:bodyPr>
          <a:lstStyle/>
          <a:p>
            <a:pPr algn="just"/>
            <a:r>
              <a:rPr lang="en-US" altLang="zh-CN" sz="1600" dirty="0">
                <a:latin typeface="华文中宋" panose="02010600040101010101" pitchFamily="2" charset="-122"/>
                <a:ea typeface="华文中宋" panose="02010600040101010101" pitchFamily="2" charset="-122"/>
              </a:rPr>
              <a:t>CaCl</a:t>
            </a:r>
            <a:r>
              <a:rPr lang="en-US" altLang="zh-CN" sz="1600" baseline="-25000" dirty="0">
                <a:latin typeface="华文中宋" panose="02010600040101010101" pitchFamily="2" charset="-122"/>
                <a:ea typeface="华文中宋" panose="02010600040101010101" pitchFamily="2" charset="-122"/>
              </a:rPr>
              <a:t>2</a:t>
            </a:r>
            <a:r>
              <a:rPr lang="zh-CN" altLang="en-US" sz="1600" dirty="0">
                <a:latin typeface="华文中宋" panose="02010600040101010101" pitchFamily="2" charset="-122"/>
                <a:ea typeface="华文中宋" panose="02010600040101010101" pitchFamily="2" charset="-122"/>
              </a:rPr>
              <a:t>位于“离子”区域的较高位置，为离子化合物，是一种绝缘体，具有较高的熔点，具有在水中的溶解性，推断其为</a:t>
            </a:r>
            <a:r>
              <a:rPr lang="en-US" altLang="zh-CN" sz="1600" dirty="0">
                <a:latin typeface="华文中宋" panose="02010600040101010101" pitchFamily="2" charset="-122"/>
                <a:ea typeface="华文中宋" panose="02010600040101010101" pitchFamily="2" charset="-122"/>
              </a:rPr>
              <a:t>Y</a:t>
            </a:r>
            <a:r>
              <a:rPr lang="zh-CN" altLang="en-US" sz="1600" dirty="0">
                <a:latin typeface="华文中宋" panose="02010600040101010101" pitchFamily="2" charset="-122"/>
                <a:ea typeface="华文中宋" panose="02010600040101010101" pitchFamily="2" charset="-122"/>
              </a:rPr>
              <a:t>。</a:t>
            </a:r>
          </a:p>
        </p:txBody>
      </p:sp>
      <p:cxnSp>
        <p:nvCxnSpPr>
          <p:cNvPr id="19" name="直接箭头连接符 18">
            <a:extLst>
              <a:ext uri="{FF2B5EF4-FFF2-40B4-BE49-F238E27FC236}">
                <a16:creationId xmlns:a16="http://schemas.microsoft.com/office/drawing/2014/main" id="{5CCCA206-FBA9-450C-B6B7-529AC7347859}"/>
              </a:ext>
            </a:extLst>
          </p:cNvPr>
          <p:cNvCxnSpPr>
            <a:stCxn id="7" idx="1"/>
            <a:endCxn id="17" idx="3"/>
          </p:cNvCxnSpPr>
          <p:nvPr/>
        </p:nvCxnSpPr>
        <p:spPr>
          <a:xfrm flipH="1" flipV="1">
            <a:off x="2961564" y="3479984"/>
            <a:ext cx="2593075" cy="53245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1959FEB-90D4-49B3-B42D-141D72EA215E}"/>
              </a:ext>
            </a:extLst>
          </p:cNvPr>
          <p:cNvSpPr txBox="1"/>
          <p:nvPr/>
        </p:nvSpPr>
        <p:spPr>
          <a:xfrm>
            <a:off x="0" y="4763070"/>
            <a:ext cx="2961564" cy="830997"/>
          </a:xfrm>
          <a:prstGeom prst="rect">
            <a:avLst/>
          </a:prstGeom>
          <a:noFill/>
        </p:spPr>
        <p:txBody>
          <a:bodyPr wrap="square" rtlCol="0">
            <a:spAutoFit/>
          </a:bodyPr>
          <a:lstStyle/>
          <a:p>
            <a:pPr algn="just"/>
            <a:r>
              <a:rPr lang="en-US" altLang="zh-CN" sz="1600" dirty="0">
                <a:latin typeface="华文中宋" panose="02010600040101010101" pitchFamily="2" charset="-122"/>
                <a:ea typeface="华文中宋" panose="02010600040101010101" pitchFamily="2" charset="-122"/>
              </a:rPr>
              <a:t>TiB</a:t>
            </a:r>
            <a:r>
              <a:rPr lang="en-US" altLang="zh-CN" sz="1600" baseline="-25000" dirty="0">
                <a:latin typeface="华文中宋" panose="02010600040101010101" pitchFamily="2" charset="-122"/>
                <a:ea typeface="华文中宋" panose="02010600040101010101" pitchFamily="2" charset="-122"/>
              </a:rPr>
              <a:t>2</a:t>
            </a:r>
            <a:r>
              <a:rPr lang="zh-CN" altLang="en-US" sz="1600" dirty="0">
                <a:latin typeface="华文中宋" panose="02010600040101010101" pitchFamily="2" charset="-122"/>
                <a:ea typeface="华文中宋" panose="02010600040101010101" pitchFamily="2" charset="-122"/>
              </a:rPr>
              <a:t>位于接近“金属”区域的位置，二者都具有金属性质，它的导电性良好，推断其为</a:t>
            </a:r>
            <a:r>
              <a:rPr lang="en-US" altLang="zh-CN" sz="1600" dirty="0">
                <a:latin typeface="华文中宋" panose="02010600040101010101" pitchFamily="2" charset="-122"/>
                <a:ea typeface="华文中宋" panose="02010600040101010101" pitchFamily="2" charset="-122"/>
              </a:rPr>
              <a:t>W</a:t>
            </a:r>
            <a:r>
              <a:rPr lang="zh-CN" altLang="en-US" sz="1600" dirty="0">
                <a:latin typeface="华文中宋" panose="02010600040101010101" pitchFamily="2" charset="-122"/>
                <a:ea typeface="华文中宋" panose="02010600040101010101" pitchFamily="2" charset="-122"/>
              </a:rPr>
              <a:t>。</a:t>
            </a:r>
          </a:p>
        </p:txBody>
      </p:sp>
      <p:cxnSp>
        <p:nvCxnSpPr>
          <p:cNvPr id="22" name="直接箭头连接符 21">
            <a:extLst>
              <a:ext uri="{FF2B5EF4-FFF2-40B4-BE49-F238E27FC236}">
                <a16:creationId xmlns:a16="http://schemas.microsoft.com/office/drawing/2014/main" id="{E13BEEE9-7011-4F37-AAB0-8CF5E4B249A6}"/>
              </a:ext>
            </a:extLst>
          </p:cNvPr>
          <p:cNvCxnSpPr>
            <a:cxnSpLocks/>
          </p:cNvCxnSpPr>
          <p:nvPr/>
        </p:nvCxnSpPr>
        <p:spPr>
          <a:xfrm flipH="1" flipV="1">
            <a:off x="2982036" y="5186149"/>
            <a:ext cx="2088109" cy="24566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6FEA34AA-2806-4B87-8C35-6494ABDFEBC0}"/>
              </a:ext>
            </a:extLst>
          </p:cNvPr>
          <p:cNvSpPr txBox="1"/>
          <p:nvPr/>
        </p:nvSpPr>
        <p:spPr>
          <a:xfrm>
            <a:off x="9055294" y="3234520"/>
            <a:ext cx="2961564" cy="1077218"/>
          </a:xfrm>
          <a:prstGeom prst="rect">
            <a:avLst/>
          </a:prstGeom>
          <a:noFill/>
        </p:spPr>
        <p:txBody>
          <a:bodyPr wrap="square" rtlCol="0">
            <a:spAutoFit/>
          </a:bodyPr>
          <a:lstStyle/>
          <a:p>
            <a:pPr algn="just"/>
            <a:r>
              <a:rPr lang="en-US" altLang="zh-CN" sz="1600" dirty="0" err="1">
                <a:latin typeface="华文中宋" panose="02010600040101010101" pitchFamily="2" charset="-122"/>
                <a:ea typeface="华文中宋" panose="02010600040101010101" pitchFamily="2" charset="-122"/>
              </a:rPr>
              <a:t>AlN</a:t>
            </a:r>
            <a:r>
              <a:rPr lang="zh-CN" altLang="en-US" sz="1600" dirty="0">
                <a:latin typeface="华文中宋" panose="02010600040101010101" pitchFamily="2" charset="-122"/>
                <a:ea typeface="华文中宋" panose="02010600040101010101" pitchFamily="2" charset="-122"/>
              </a:rPr>
              <a:t>由</a:t>
            </a:r>
            <a:r>
              <a:rPr lang="en-US" altLang="zh-CN" sz="1600" dirty="0">
                <a:latin typeface="华文中宋" panose="02010600040101010101" pitchFamily="2" charset="-122"/>
                <a:ea typeface="华文中宋" panose="02010600040101010101" pitchFamily="2" charset="-122"/>
              </a:rPr>
              <a:t>Al(</a:t>
            </a:r>
            <a:r>
              <a:rPr lang="zh-CN" altLang="en-US" sz="1600" dirty="0">
                <a:latin typeface="华文中宋" panose="02010600040101010101" pitchFamily="2" charset="-122"/>
                <a:ea typeface="华文中宋" panose="02010600040101010101" pitchFamily="2" charset="-122"/>
              </a:rPr>
              <a:t>金属</a:t>
            </a: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和</a:t>
            </a:r>
            <a:r>
              <a:rPr lang="en-US" altLang="zh-CN" sz="1600" dirty="0">
                <a:latin typeface="华文中宋" panose="02010600040101010101" pitchFamily="2" charset="-122"/>
                <a:ea typeface="华文中宋" panose="02010600040101010101" pitchFamily="2" charset="-122"/>
              </a:rPr>
              <a:t>N(</a:t>
            </a:r>
            <a:r>
              <a:rPr lang="zh-CN" altLang="en-US" sz="1600" dirty="0">
                <a:latin typeface="华文中宋" panose="02010600040101010101" pitchFamily="2" charset="-122"/>
                <a:ea typeface="华文中宋" panose="02010600040101010101" pitchFamily="2" charset="-122"/>
              </a:rPr>
              <a:t>非金属</a:t>
            </a: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组成，具有较大的电负性差异，同时具有离子性和共价性，位于二者的交界处，推断其为</a:t>
            </a:r>
            <a:r>
              <a:rPr lang="en-US" altLang="zh-CN" sz="1600" dirty="0">
                <a:latin typeface="华文中宋" panose="02010600040101010101" pitchFamily="2" charset="-122"/>
                <a:ea typeface="华文中宋" panose="02010600040101010101" pitchFamily="2" charset="-122"/>
              </a:rPr>
              <a:t>Z</a:t>
            </a:r>
            <a:r>
              <a:rPr lang="zh-CN" altLang="en-US" sz="1600" dirty="0">
                <a:latin typeface="华文中宋" panose="02010600040101010101" pitchFamily="2" charset="-122"/>
                <a:ea typeface="华文中宋" panose="02010600040101010101" pitchFamily="2" charset="-122"/>
              </a:rPr>
              <a:t>。</a:t>
            </a:r>
          </a:p>
        </p:txBody>
      </p:sp>
      <p:cxnSp>
        <p:nvCxnSpPr>
          <p:cNvPr id="25" name="直接箭头连接符 24">
            <a:extLst>
              <a:ext uri="{FF2B5EF4-FFF2-40B4-BE49-F238E27FC236}">
                <a16:creationId xmlns:a16="http://schemas.microsoft.com/office/drawing/2014/main" id="{D4263865-0714-43EA-BCB9-5FEA126A079E}"/>
              </a:ext>
            </a:extLst>
          </p:cNvPr>
          <p:cNvCxnSpPr>
            <a:cxnSpLocks/>
            <a:stCxn id="11" idx="3"/>
            <a:endCxn id="24" idx="1"/>
          </p:cNvCxnSpPr>
          <p:nvPr/>
        </p:nvCxnSpPr>
        <p:spPr>
          <a:xfrm flipV="1">
            <a:off x="6416723" y="3773129"/>
            <a:ext cx="2638571" cy="75792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04F5AC92-5F1C-4796-9E93-B3BE82F66BE9}"/>
              </a:ext>
            </a:extLst>
          </p:cNvPr>
          <p:cNvPicPr>
            <a:picLocks noChangeAspect="1"/>
          </p:cNvPicPr>
          <p:nvPr/>
        </p:nvPicPr>
        <p:blipFill>
          <a:blip r:embed="rId3"/>
          <a:stretch>
            <a:fillRect/>
          </a:stretch>
        </p:blipFill>
        <p:spPr>
          <a:xfrm>
            <a:off x="2400245" y="449876"/>
            <a:ext cx="7391510" cy="1659186"/>
          </a:xfrm>
          <a:prstGeom prst="rect">
            <a:avLst/>
          </a:prstGeom>
        </p:spPr>
      </p:pic>
    </p:spTree>
    <p:extLst>
      <p:ext uri="{BB962C8B-B14F-4D97-AF65-F5344CB8AC3E}">
        <p14:creationId xmlns:p14="http://schemas.microsoft.com/office/powerpoint/2010/main" val="1222355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95177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9.4 </a:t>
            </a:r>
            <a:r>
              <a:rPr lang="zh-CN" altLang="en-US" dirty="0">
                <a:latin typeface="华文中宋" panose="02010600040101010101" pitchFamily="2" charset="-122"/>
                <a:ea typeface="华文中宋" panose="02010600040101010101" pitchFamily="2" charset="-122"/>
              </a:rPr>
              <a:t>纯碳化钙（</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）是一种无色固体（熔点</a:t>
            </a:r>
            <a:r>
              <a:rPr lang="en-US" altLang="zh-CN" dirty="0">
                <a:latin typeface="华文中宋" panose="02010600040101010101" pitchFamily="2" charset="-122"/>
                <a:ea typeface="华文中宋" panose="02010600040101010101" pitchFamily="2" charset="-122"/>
              </a:rPr>
              <a:t>2300°C</a:t>
            </a:r>
            <a:r>
              <a:rPr lang="zh-CN" altLang="en-US" dirty="0">
                <a:latin typeface="华文中宋" panose="02010600040101010101" pitchFamily="2" charset="-122"/>
                <a:ea typeface="华文中宋" panose="02010600040101010101" pitchFamily="2" charset="-122"/>
              </a:rPr>
              <a:t>），在固态时不导电。</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的结构本质上是</a:t>
            </a:r>
            <a:r>
              <a:rPr lang="en-US" altLang="zh-CN" dirty="0">
                <a:latin typeface="华文中宋" panose="02010600040101010101" pitchFamily="2" charset="-122"/>
                <a:ea typeface="华文中宋" panose="02010600040101010101" pitchFamily="2" charset="-122"/>
              </a:rPr>
              <a:t>NaCl</a:t>
            </a:r>
            <a:r>
              <a:rPr lang="zh-CN" altLang="en-US" dirty="0">
                <a:latin typeface="华文中宋" panose="02010600040101010101" pitchFamily="2" charset="-122"/>
                <a:ea typeface="华文中宋" panose="02010600040101010101" pitchFamily="2" charset="-122"/>
              </a:rPr>
              <a:t>型晶格，具有交替排列的</a:t>
            </a:r>
            <a:r>
              <a:rPr lang="en-US" altLang="zh-CN" dirty="0">
                <a:latin typeface="华文中宋" panose="02010600040101010101" pitchFamily="2" charset="-122"/>
                <a:ea typeface="华文中宋" panose="02010600040101010101" pitchFamily="2" charset="-122"/>
              </a:rPr>
              <a:t>Ca</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离子。这些离子中的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119.1 pm</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使用</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图预测你可能在碳化钙中发现的键类型（所需的轨道能量在前一个问题中给出）。给出的性质是否与</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在</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图中的位置一致？</a:t>
            </a: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构建</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的分子轨道图，并使用它来解释为什么</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键长明显短于气态</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a:t>
            </a:r>
            <a:r>
              <a:rPr lang="en-US" altLang="zh-CN" dirty="0">
                <a:latin typeface="华文中宋" panose="02010600040101010101" pitchFamily="2" charset="-122"/>
                <a:ea typeface="华文中宋" panose="02010600040101010101" pitchFamily="2" charset="-122"/>
              </a:rPr>
              <a:t>131.2 pm</a:t>
            </a:r>
            <a:r>
              <a:rPr lang="zh-CN" altLang="en-US" dirty="0">
                <a:latin typeface="华文中宋" panose="02010600040101010101" pitchFamily="2" charset="-122"/>
                <a:ea typeface="华文中宋" panose="02010600040101010101" pitchFamily="2" charset="-122"/>
              </a:rPr>
              <a:t>）。</a:t>
            </a: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据认为，镧碳化物（</a:t>
            </a:r>
            <a:r>
              <a:rPr lang="en-US" altLang="zh-CN" dirty="0">
                <a:latin typeface="华文中宋" panose="02010600040101010101" pitchFamily="2" charset="-122"/>
                <a:ea typeface="华文中宋" panose="02010600040101010101" pitchFamily="2" charset="-122"/>
              </a:rPr>
              <a:t>LaC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）中包含</a:t>
            </a:r>
            <a:r>
              <a:rPr lang="en-US" altLang="zh-CN" dirty="0">
                <a:latin typeface="华文中宋" panose="02010600040101010101" pitchFamily="2" charset="-122"/>
                <a:ea typeface="华文中宋" panose="02010600040101010101" pitchFamily="2" charset="-122"/>
              </a:rPr>
              <a:t>La</a:t>
            </a:r>
            <a:r>
              <a:rPr lang="en-US" altLang="zh-CN" baseline="30000"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3</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离子；该离子中的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130.3 pm</a:t>
            </a:r>
            <a:r>
              <a:rPr lang="zh-CN" altLang="en-US" dirty="0">
                <a:latin typeface="华文中宋" panose="02010600040101010101" pitchFamily="2" charset="-122"/>
                <a:ea typeface="华文中宋" panose="02010600040101010101" pitchFamily="2" charset="-122"/>
              </a:rPr>
              <a:t>。使用你的分子轨道图来解释为什么</a:t>
            </a:r>
            <a:r>
              <a:rPr lang="en-US" altLang="zh-CN" dirty="0">
                <a:latin typeface="华文中宋" panose="02010600040101010101" pitchFamily="2" charset="-122"/>
                <a:ea typeface="华文中宋" panose="02010600040101010101" pitchFamily="2" charset="-122"/>
              </a:rPr>
              <a:t>LaC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键长大于</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a:t>
            </a:r>
          </a:p>
        </p:txBody>
      </p:sp>
      <p:pic>
        <p:nvPicPr>
          <p:cNvPr id="5" name="图片 4">
            <a:extLst>
              <a:ext uri="{FF2B5EF4-FFF2-40B4-BE49-F238E27FC236}">
                <a16:creationId xmlns:a16="http://schemas.microsoft.com/office/drawing/2014/main" id="{A641CE82-2B48-40AC-A3EC-A9BAD5277A7F}"/>
              </a:ext>
            </a:extLst>
          </p:cNvPr>
          <p:cNvPicPr>
            <a:picLocks noChangeAspect="1"/>
          </p:cNvPicPr>
          <p:nvPr/>
        </p:nvPicPr>
        <p:blipFill>
          <a:blip r:embed="rId2"/>
          <a:stretch>
            <a:fillRect/>
          </a:stretch>
        </p:blipFill>
        <p:spPr>
          <a:xfrm>
            <a:off x="2004442" y="4009281"/>
            <a:ext cx="8183117" cy="1609950"/>
          </a:xfrm>
          <a:prstGeom prst="rect">
            <a:avLst/>
          </a:prstGeom>
        </p:spPr>
      </p:pic>
    </p:spTree>
    <p:extLst>
      <p:ext uri="{BB962C8B-B14F-4D97-AF65-F5344CB8AC3E}">
        <p14:creationId xmlns:p14="http://schemas.microsoft.com/office/powerpoint/2010/main" val="3231994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705275"/>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9.4 </a:t>
            </a:r>
            <a:r>
              <a:rPr lang="zh-CN" altLang="en-US" dirty="0">
                <a:latin typeface="华文中宋" panose="02010600040101010101" pitchFamily="2" charset="-122"/>
                <a:ea typeface="华文中宋" panose="02010600040101010101" pitchFamily="2" charset="-122"/>
              </a:rPr>
              <a:t>纯碳化钙（</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）是一种无色固体（熔点</a:t>
            </a:r>
            <a:r>
              <a:rPr lang="en-US" altLang="zh-CN" dirty="0">
                <a:latin typeface="华文中宋" panose="02010600040101010101" pitchFamily="2" charset="-122"/>
                <a:ea typeface="华文中宋" panose="02010600040101010101" pitchFamily="2" charset="-122"/>
              </a:rPr>
              <a:t>2300°C</a:t>
            </a:r>
            <a:r>
              <a:rPr lang="zh-CN" altLang="en-US" dirty="0">
                <a:latin typeface="华文中宋" panose="02010600040101010101" pitchFamily="2" charset="-122"/>
                <a:ea typeface="华文中宋" panose="02010600040101010101" pitchFamily="2" charset="-122"/>
              </a:rPr>
              <a:t>），在固态时不导电。</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的结构本质上是</a:t>
            </a:r>
            <a:r>
              <a:rPr lang="en-US" altLang="zh-CN" dirty="0">
                <a:latin typeface="华文中宋" panose="02010600040101010101" pitchFamily="2" charset="-122"/>
                <a:ea typeface="华文中宋" panose="02010600040101010101" pitchFamily="2" charset="-122"/>
              </a:rPr>
              <a:t>NaCl</a:t>
            </a:r>
            <a:r>
              <a:rPr lang="zh-CN" altLang="en-US" dirty="0">
                <a:latin typeface="华文中宋" panose="02010600040101010101" pitchFamily="2" charset="-122"/>
                <a:ea typeface="华文中宋" panose="02010600040101010101" pitchFamily="2" charset="-122"/>
              </a:rPr>
              <a:t>型晶格，具有交替排列的</a:t>
            </a:r>
            <a:r>
              <a:rPr lang="en-US" altLang="zh-CN" dirty="0">
                <a:latin typeface="华文中宋" panose="02010600040101010101" pitchFamily="2" charset="-122"/>
                <a:ea typeface="华文中宋" panose="02010600040101010101" pitchFamily="2" charset="-122"/>
              </a:rPr>
              <a:t>Ca</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离子。这些离子中的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119.1 pm</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使用</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图预测你可能在碳化钙中发现的键类型（所需的轨道能量在前一个问题中给出）。给出的性质是否与</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在</a:t>
            </a:r>
            <a:r>
              <a:rPr lang="en-US" altLang="zh-CN" dirty="0">
                <a:latin typeface="华文中宋" panose="02010600040101010101" pitchFamily="2" charset="-122"/>
                <a:ea typeface="华文中宋" panose="02010600040101010101" pitchFamily="2" charset="-122"/>
              </a:rPr>
              <a:t>van </a:t>
            </a:r>
            <a:r>
              <a:rPr lang="en-US" altLang="zh-CN" dirty="0" err="1">
                <a:latin typeface="华文中宋" panose="02010600040101010101" pitchFamily="2" charset="-122"/>
                <a:ea typeface="华文中宋" panose="02010600040101010101" pitchFamily="2" charset="-122"/>
              </a:rPr>
              <a:t>Arkel</a:t>
            </a:r>
            <a:r>
              <a:rPr lang="zh-CN" altLang="en-US" dirty="0">
                <a:latin typeface="华文中宋" panose="02010600040101010101" pitchFamily="2" charset="-122"/>
                <a:ea typeface="华文中宋" panose="02010600040101010101" pitchFamily="2" charset="-122"/>
              </a:rPr>
              <a:t>图中的位置一致？</a:t>
            </a:r>
          </a:p>
        </p:txBody>
      </p:sp>
      <p:pic>
        <p:nvPicPr>
          <p:cNvPr id="5" name="图片 4">
            <a:extLst>
              <a:ext uri="{FF2B5EF4-FFF2-40B4-BE49-F238E27FC236}">
                <a16:creationId xmlns:a16="http://schemas.microsoft.com/office/drawing/2014/main" id="{A641CE82-2B48-40AC-A3EC-A9BAD5277A7F}"/>
              </a:ext>
            </a:extLst>
          </p:cNvPr>
          <p:cNvPicPr>
            <a:picLocks noChangeAspect="1"/>
          </p:cNvPicPr>
          <p:nvPr/>
        </p:nvPicPr>
        <p:blipFill>
          <a:blip r:embed="rId2"/>
          <a:stretch>
            <a:fillRect/>
          </a:stretch>
        </p:blipFill>
        <p:spPr>
          <a:xfrm>
            <a:off x="2004442" y="1798336"/>
            <a:ext cx="8183117" cy="1609950"/>
          </a:xfrm>
          <a:prstGeom prst="rect">
            <a:avLst/>
          </a:prstGeom>
        </p:spPr>
      </p:pic>
      <p:sp>
        <p:nvSpPr>
          <p:cNvPr id="6" name="文本框 5">
            <a:extLst>
              <a:ext uri="{FF2B5EF4-FFF2-40B4-BE49-F238E27FC236}">
                <a16:creationId xmlns:a16="http://schemas.microsoft.com/office/drawing/2014/main" id="{562E4994-9090-4AFC-AF4E-390E0EAC042C}"/>
              </a:ext>
            </a:extLst>
          </p:cNvPr>
          <p:cNvSpPr txBox="1"/>
          <p:nvPr/>
        </p:nvSpPr>
        <p:spPr>
          <a:xfrm>
            <a:off x="1" y="3357351"/>
            <a:ext cx="12192000" cy="1705275"/>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根据给定的数据，钙（</a:t>
            </a:r>
            <a:r>
              <a:rPr lang="en-US" altLang="zh-CN" dirty="0">
                <a:latin typeface="华文中宋" panose="02010600040101010101" pitchFamily="2" charset="-122"/>
                <a:ea typeface="华文中宋" panose="02010600040101010101" pitchFamily="2" charset="-122"/>
                <a:sym typeface="Wingdings" panose="05000000000000000000" pitchFamily="2" charset="2"/>
              </a:rPr>
              <a:t>Ca</a:t>
            </a:r>
            <a:r>
              <a:rPr lang="zh-CN" altLang="en-US" dirty="0">
                <a:latin typeface="华文中宋" panose="02010600040101010101" pitchFamily="2" charset="-122"/>
                <a:ea typeface="华文中宋" panose="02010600040101010101" pitchFamily="2" charset="-122"/>
                <a:sym typeface="Wingdings" panose="05000000000000000000" pitchFamily="2" charset="2"/>
              </a:rPr>
              <a:t>）和碳（</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zh-CN" altLang="en-US" dirty="0">
                <a:latin typeface="华文中宋" panose="02010600040101010101" pitchFamily="2" charset="-122"/>
                <a:ea typeface="华文中宋" panose="02010600040101010101" pitchFamily="2" charset="-122"/>
                <a:sym typeface="Wingdings" panose="05000000000000000000" pitchFamily="2" charset="2"/>
              </a:rPr>
              <a:t>）的平均轨道能量为</a:t>
            </a:r>
            <a:r>
              <a:rPr lang="en-US" altLang="zh-CN" dirty="0">
                <a:latin typeface="华文中宋" panose="02010600040101010101" pitchFamily="2" charset="-122"/>
                <a:ea typeface="华文中宋" panose="02010600040101010101" pitchFamily="2" charset="-122"/>
                <a:sym typeface="Wingdings" panose="05000000000000000000" pitchFamily="2" charset="2"/>
              </a:rPr>
              <a:t>10.3</a:t>
            </a:r>
            <a:r>
              <a:rPr lang="zh-CN" altLang="en-US" dirty="0">
                <a:latin typeface="华文中宋" panose="02010600040101010101" pitchFamily="2" charset="-122"/>
                <a:ea typeface="华文中宋" panose="02010600040101010101" pitchFamily="2" charset="-122"/>
                <a:sym typeface="Wingdings" panose="05000000000000000000" pitchFamily="2" charset="2"/>
              </a:rPr>
              <a:t>电子伏特（</a:t>
            </a:r>
            <a:r>
              <a:rPr lang="en-US" altLang="zh-CN" dirty="0">
                <a:latin typeface="华文中宋" panose="02010600040101010101" pitchFamily="2" charset="-122"/>
                <a:ea typeface="华文中宋" panose="02010600040101010101" pitchFamily="2" charset="-122"/>
                <a:sym typeface="Wingdings" panose="05000000000000000000" pitchFamily="2" charset="2"/>
              </a:rPr>
              <a:t>eV</a:t>
            </a:r>
            <a:r>
              <a:rPr lang="zh-CN" altLang="en-US" dirty="0">
                <a:latin typeface="华文中宋" panose="02010600040101010101" pitchFamily="2" charset="-122"/>
                <a:ea typeface="华文中宋" panose="02010600040101010101" pitchFamily="2" charset="-122"/>
                <a:sym typeface="Wingdings" panose="05000000000000000000" pitchFamily="2" charset="2"/>
              </a:rPr>
              <a:t>），差值为</a:t>
            </a:r>
            <a:r>
              <a:rPr lang="en-US" altLang="zh-CN" dirty="0">
                <a:latin typeface="华文中宋" panose="02010600040101010101" pitchFamily="2" charset="-122"/>
                <a:ea typeface="华文中宋" panose="02010600040101010101" pitchFamily="2" charset="-122"/>
                <a:sym typeface="Wingdings" panose="05000000000000000000" pitchFamily="2" charset="2"/>
              </a:rPr>
              <a:t>9.86 eV</a:t>
            </a:r>
            <a:r>
              <a:rPr lang="zh-CN" altLang="en-US" dirty="0">
                <a:latin typeface="华文中宋" panose="02010600040101010101" pitchFamily="2" charset="-122"/>
                <a:ea typeface="华文中宋" panose="02010600040101010101" pitchFamily="2" charset="-122"/>
                <a:sym typeface="Wingdings" panose="05000000000000000000" pitchFamily="2" charset="2"/>
              </a:rPr>
              <a:t>；该化合物被放置在先前问题中给出的</a:t>
            </a:r>
            <a:r>
              <a:rPr lang="en-US" altLang="zh-CN" dirty="0">
                <a:latin typeface="华文中宋" panose="02010600040101010101" pitchFamily="2" charset="-122"/>
                <a:ea typeface="华文中宋" panose="02010600040101010101" pitchFamily="2" charset="-122"/>
                <a:sym typeface="Wingdings" panose="05000000000000000000" pitchFamily="2" charset="2"/>
              </a:rPr>
              <a:t>van </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Arkel</a:t>
            </a:r>
            <a:r>
              <a:rPr lang="zh-CN" altLang="en-US" dirty="0">
                <a:latin typeface="华文中宋" panose="02010600040101010101" pitchFamily="2" charset="-122"/>
                <a:ea typeface="华文中宋" panose="02010600040101010101" pitchFamily="2" charset="-122"/>
                <a:sym typeface="Wingdings" panose="05000000000000000000" pitchFamily="2" charset="2"/>
              </a:rPr>
              <a:t>图上。 </a:t>
            </a:r>
            <a:r>
              <a:rPr lang="en-US" altLang="zh-CN" dirty="0">
                <a:latin typeface="华文中宋" panose="02010600040101010101" pitchFamily="2" charset="-122"/>
                <a:ea typeface="华文中宋" panose="02010600040101010101" pitchFamily="2" charset="-122"/>
                <a:sym typeface="Wingdings" panose="05000000000000000000" pitchFamily="2" charset="2"/>
              </a:rPr>
              <a:t>CaC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远离“共价角”，位于“金属”和“离子”之间的图上；</a:t>
            </a:r>
            <a:r>
              <a:rPr lang="en-US" altLang="zh-CN" dirty="0">
                <a:latin typeface="华文中宋" panose="02010600040101010101" pitchFamily="2" charset="-122"/>
                <a:ea typeface="华文中宋" panose="02010600040101010101" pitchFamily="2" charset="-122"/>
                <a:sym typeface="Wingdings" panose="05000000000000000000" pitchFamily="2" charset="2"/>
              </a:rPr>
              <a:t>van </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Arkel</a:t>
            </a:r>
            <a:r>
              <a:rPr lang="zh-CN" altLang="en-US" dirty="0">
                <a:latin typeface="华文中宋" panose="02010600040101010101" pitchFamily="2" charset="-122"/>
                <a:ea typeface="华文中宋" panose="02010600040101010101" pitchFamily="2" charset="-122"/>
                <a:sym typeface="Wingdings" panose="05000000000000000000" pitchFamily="2" charset="2"/>
              </a:rPr>
              <a:t>图中可以看到，类似</a:t>
            </a:r>
            <a:r>
              <a:rPr lang="en-US" altLang="zh-CN" dirty="0">
                <a:latin typeface="华文中宋" panose="02010600040101010101" pitchFamily="2" charset="-122"/>
                <a:ea typeface="华文中宋" panose="02010600040101010101" pitchFamily="2" charset="-122"/>
                <a:sym typeface="Wingdings" panose="05000000000000000000" pitchFamily="2" charset="2"/>
              </a:rPr>
              <a:t>MgBr</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的化合物位于附近。 给定的数据明显表明</a:t>
            </a:r>
            <a:r>
              <a:rPr lang="en-US" altLang="zh-CN" dirty="0">
                <a:latin typeface="华文中宋" panose="02010600040101010101" pitchFamily="2" charset="-122"/>
                <a:ea typeface="华文中宋" panose="02010600040101010101" pitchFamily="2" charset="-122"/>
                <a:sym typeface="Wingdings" panose="05000000000000000000" pitchFamily="2" charset="2"/>
              </a:rPr>
              <a:t>CaC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是离子性的（高熔点，在固体中不导电）。</a:t>
            </a:r>
            <a:endParaRPr lang="zh-CN" altLang="en-US" dirty="0">
              <a:latin typeface="华文中宋" panose="02010600040101010101" pitchFamily="2" charset="-122"/>
              <a:ea typeface="华文中宋" panose="02010600040101010101" pitchFamily="2" charset="-122"/>
            </a:endParaRPr>
          </a:p>
        </p:txBody>
      </p:sp>
      <p:pic>
        <p:nvPicPr>
          <p:cNvPr id="8" name="图片 7">
            <a:extLst>
              <a:ext uri="{FF2B5EF4-FFF2-40B4-BE49-F238E27FC236}">
                <a16:creationId xmlns:a16="http://schemas.microsoft.com/office/drawing/2014/main" id="{41891774-5C19-4A21-9B46-309532708F8D}"/>
              </a:ext>
            </a:extLst>
          </p:cNvPr>
          <p:cNvPicPr>
            <a:picLocks noChangeAspect="1"/>
          </p:cNvPicPr>
          <p:nvPr/>
        </p:nvPicPr>
        <p:blipFill>
          <a:blip r:embed="rId3"/>
          <a:stretch>
            <a:fillRect/>
          </a:stretch>
        </p:blipFill>
        <p:spPr>
          <a:xfrm>
            <a:off x="357680" y="1298490"/>
            <a:ext cx="5515864" cy="4684105"/>
          </a:xfrm>
          <a:prstGeom prst="rect">
            <a:avLst/>
          </a:prstGeom>
          <a:ln>
            <a:solidFill>
              <a:schemeClr val="tx1"/>
            </a:solidFill>
          </a:ln>
        </p:spPr>
      </p:pic>
      <p:pic>
        <p:nvPicPr>
          <p:cNvPr id="9" name="图片 8">
            <a:extLst>
              <a:ext uri="{FF2B5EF4-FFF2-40B4-BE49-F238E27FC236}">
                <a16:creationId xmlns:a16="http://schemas.microsoft.com/office/drawing/2014/main" id="{A5F09E54-A586-4F27-B07C-25D2FAA363BC}"/>
              </a:ext>
            </a:extLst>
          </p:cNvPr>
          <p:cNvPicPr>
            <a:picLocks noChangeAspect="1"/>
          </p:cNvPicPr>
          <p:nvPr/>
        </p:nvPicPr>
        <p:blipFill>
          <a:blip r:embed="rId4"/>
          <a:stretch>
            <a:fillRect/>
          </a:stretch>
        </p:blipFill>
        <p:spPr>
          <a:xfrm>
            <a:off x="6177888" y="1271195"/>
            <a:ext cx="5917101" cy="4684105"/>
          </a:xfrm>
          <a:prstGeom prst="rect">
            <a:avLst/>
          </a:prstGeom>
          <a:ln>
            <a:solidFill>
              <a:schemeClr val="tx1"/>
            </a:solidFill>
          </a:ln>
        </p:spPr>
      </p:pic>
    </p:spTree>
    <p:extLst>
      <p:ext uri="{BB962C8B-B14F-4D97-AF65-F5344CB8AC3E}">
        <p14:creationId xmlns:p14="http://schemas.microsoft.com/office/powerpoint/2010/main" val="8704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28977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9.4 </a:t>
            </a:r>
            <a:r>
              <a:rPr lang="zh-CN" altLang="en-US" dirty="0">
                <a:latin typeface="华文中宋" panose="02010600040101010101" pitchFamily="2" charset="-122"/>
                <a:ea typeface="华文中宋" panose="02010600040101010101" pitchFamily="2" charset="-122"/>
              </a:rPr>
              <a:t>纯碳化钙（</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）是一种无色固体（熔点</a:t>
            </a:r>
            <a:r>
              <a:rPr lang="en-US" altLang="zh-CN" dirty="0">
                <a:latin typeface="华文中宋" panose="02010600040101010101" pitchFamily="2" charset="-122"/>
                <a:ea typeface="华文中宋" panose="02010600040101010101" pitchFamily="2" charset="-122"/>
              </a:rPr>
              <a:t>2300°C</a:t>
            </a:r>
            <a:r>
              <a:rPr lang="zh-CN" altLang="en-US" dirty="0">
                <a:latin typeface="华文中宋" panose="02010600040101010101" pitchFamily="2" charset="-122"/>
                <a:ea typeface="华文中宋" panose="02010600040101010101" pitchFamily="2" charset="-122"/>
              </a:rPr>
              <a:t>），在固态时不导电。</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的结构本质上是</a:t>
            </a:r>
            <a:r>
              <a:rPr lang="en-US" altLang="zh-CN" dirty="0">
                <a:latin typeface="华文中宋" panose="02010600040101010101" pitchFamily="2" charset="-122"/>
                <a:ea typeface="华文中宋" panose="02010600040101010101" pitchFamily="2" charset="-122"/>
              </a:rPr>
              <a:t>NaCl</a:t>
            </a:r>
            <a:r>
              <a:rPr lang="zh-CN" altLang="en-US" dirty="0">
                <a:latin typeface="华文中宋" panose="02010600040101010101" pitchFamily="2" charset="-122"/>
                <a:ea typeface="华文中宋" panose="02010600040101010101" pitchFamily="2" charset="-122"/>
              </a:rPr>
              <a:t>型晶格，具有交替排列的</a:t>
            </a:r>
            <a:r>
              <a:rPr lang="en-US" altLang="zh-CN" dirty="0">
                <a:latin typeface="华文中宋" panose="02010600040101010101" pitchFamily="2" charset="-122"/>
                <a:ea typeface="华文中宋" panose="02010600040101010101" pitchFamily="2" charset="-122"/>
              </a:rPr>
              <a:t>Ca</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离子。这些离子中的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119.1 pm</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(b)</a:t>
            </a:r>
            <a:r>
              <a:rPr lang="zh-CN" altLang="en-US" dirty="0">
                <a:latin typeface="华文中宋" panose="02010600040101010101" pitchFamily="2" charset="-122"/>
                <a:ea typeface="华文中宋" panose="02010600040101010101" pitchFamily="2" charset="-122"/>
              </a:rPr>
              <a:t>构建</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的分子轨道图，并使用它来解释为什么</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键长明显短于气态</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a:t>
            </a:r>
            <a:r>
              <a:rPr lang="en-US" altLang="zh-CN" dirty="0">
                <a:latin typeface="华文中宋" panose="02010600040101010101" pitchFamily="2" charset="-122"/>
                <a:ea typeface="华文中宋" panose="02010600040101010101" pitchFamily="2" charset="-122"/>
              </a:rPr>
              <a:t>131.2 pm</a:t>
            </a:r>
            <a:r>
              <a:rPr lang="zh-CN" altLang="en-US" dirty="0">
                <a:latin typeface="华文中宋" panose="02010600040101010101" pitchFamily="2" charset="-122"/>
                <a:ea typeface="华文中宋" panose="02010600040101010101" pitchFamily="2" charset="-122"/>
              </a:rPr>
              <a:t>）。</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62E4994-9090-4AFC-AF4E-390E0EAC042C}"/>
                  </a:ext>
                </a:extLst>
              </p:cNvPr>
              <p:cNvSpPr txBox="1"/>
              <p:nvPr/>
            </p:nvSpPr>
            <p:spPr>
              <a:xfrm>
                <a:off x="1" y="1535369"/>
                <a:ext cx="12192000" cy="1582934"/>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(b)</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在</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中有</a:t>
                </a:r>
                <a:r>
                  <a:rPr lang="en-US" altLang="zh-CN" dirty="0">
                    <a:latin typeface="华文中宋" panose="02010600040101010101" pitchFamily="2" charset="-122"/>
                    <a:ea typeface="华文中宋" panose="02010600040101010101" pitchFamily="2" charset="-122"/>
                    <a:sym typeface="Wingdings" panose="05000000000000000000" pitchFamily="2" charset="2"/>
                  </a:rPr>
                  <a:t>8</a:t>
                </a:r>
                <a:r>
                  <a:rPr lang="zh-CN" altLang="en-US" dirty="0">
                    <a:latin typeface="华文中宋" panose="02010600040101010101" pitchFamily="2" charset="-122"/>
                    <a:ea typeface="华文中宋" panose="02010600040101010101" pitchFamily="2" charset="-122"/>
                    <a:sym typeface="Wingdings" panose="05000000000000000000" pitchFamily="2" charset="2"/>
                  </a:rPr>
                  <a:t>个价电子</a:t>
                </a:r>
                <a:r>
                  <a:rPr lang="en-US" altLang="zh-CN" dirty="0">
                    <a:latin typeface="华文中宋" panose="02010600040101010101" pitchFamily="2" charset="-122"/>
                    <a:ea typeface="华文中宋" panose="02010600040101010101" pitchFamily="2" charset="-122"/>
                    <a:sym typeface="Wingdings" panose="05000000000000000000" pitchFamily="2" charset="2"/>
                  </a:rPr>
                  <a:t>, </a:t>
                </a:r>
                <a:r>
                  <a:rPr lang="zh-CN" altLang="en-US" dirty="0">
                    <a:latin typeface="华文中宋" panose="02010600040101010101" pitchFamily="2" charset="-122"/>
                    <a:ea typeface="华文中宋" panose="02010600040101010101" pitchFamily="2" charset="-122"/>
                    <a:sym typeface="Wingdings" panose="05000000000000000000" pitchFamily="2" charset="2"/>
                  </a:rPr>
                  <a:t>其构型为：</a:t>
                </a:r>
                <a:r>
                  <a:rPr lang="en-US" altLang="zh-CN" dirty="0">
                    <a:ea typeface="华文中宋" panose="02010600040101010101" pitchFamily="2" charset="-122"/>
                    <a:sym typeface="Wingdings" panose="05000000000000000000" pitchFamily="2" charset="2"/>
                  </a:rPr>
                  <a:t> </a:t>
                </a:r>
                <a14:m>
                  <m:oMath xmlns:m="http://schemas.openxmlformats.org/officeDocument/2006/math">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𝜎</m:t>
                                </m:r>
                              </m:e>
                              <m:sub>
                                <m:r>
                                  <m:rPr>
                                    <m:sty m:val="p"/>
                                  </m:rPr>
                                  <a:rPr lang="en-US" altLang="zh-CN" i="1">
                                    <a:latin typeface="Cambria Math" panose="02040503050406030204" pitchFamily="18" charset="0"/>
                                    <a:ea typeface="华文中宋" panose="02010600040101010101" pitchFamily="2" charset="-122"/>
                                    <a:sym typeface="Wingdings" panose="05000000000000000000" pitchFamily="2" charset="2"/>
                                  </a:rPr>
                                  <m:t>g</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𝜎</m:t>
                                </m:r>
                              </m:e>
                              <m:sub>
                                <m:r>
                                  <a:rPr lang="en-US" altLang="zh-CN" b="0" i="1" smtClean="0">
                                    <a:latin typeface="Cambria Math" panose="02040503050406030204" pitchFamily="18" charset="0"/>
                                    <a:ea typeface="华文中宋" panose="02010600040101010101" pitchFamily="2" charset="-122"/>
                                    <a:sym typeface="Wingdings" panose="05000000000000000000" pitchFamily="2" charset="2"/>
                                  </a:rPr>
                                  <m:t>𝑢</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oMath>
                </a14:m>
                <a:r>
                  <a:rPr lang="en-US" altLang="zh-CN" dirty="0">
                    <a:ea typeface="华文中宋" panose="02010600040101010101" pitchFamily="2" charset="-122"/>
                    <a:sym typeface="Wingdings" panose="05000000000000000000" pitchFamily="2" charset="2"/>
                  </a:rPr>
                  <a:t> </a:t>
                </a:r>
                <a14:m>
                  <m:oMath xmlns:m="http://schemas.openxmlformats.org/officeDocument/2006/math">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1</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𝜋</m:t>
                                </m:r>
                              </m:e>
                              <m:sub>
                                <m:r>
                                  <a:rPr lang="en-US" altLang="zh-CN" b="0" i="1" smtClean="0">
                                    <a:latin typeface="Cambria Math" panose="02040503050406030204" pitchFamily="18" charset="0"/>
                                    <a:ea typeface="华文中宋" panose="02010600040101010101" pitchFamily="2" charset="-122"/>
                                    <a:sym typeface="Wingdings" panose="05000000000000000000" pitchFamily="2" charset="2"/>
                                  </a:rPr>
                                  <m:t>𝑢</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oMath>
                </a14:m>
                <a:r>
                  <a:rPr lang="en-US" altLang="zh-CN" dirty="0">
                    <a:ea typeface="华文中宋" panose="02010600040101010101" pitchFamily="2" charset="-122"/>
                    <a:sym typeface="Wingdings" panose="05000000000000000000" pitchFamily="2" charset="2"/>
                  </a:rPr>
                  <a:t> </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t>
                </a:r>
                <a:r>
                  <a:rPr lang="zh-CN" altLang="en-US" dirty="0">
                    <a:latin typeface="华文中宋" panose="02010600040101010101" pitchFamily="2" charset="-122"/>
                    <a:ea typeface="华文中宋" panose="02010600040101010101" pitchFamily="2" charset="-122"/>
                    <a:sym typeface="Wingdings" panose="05000000000000000000" pitchFamily="2" charset="2"/>
                  </a:rPr>
                  <a:t>键级为</a:t>
                </a:r>
                <a:r>
                  <a:rPr lang="en-US" altLang="zh-CN"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有两个额外的电子，所以它的构型为：</a:t>
                </a:r>
                <a14:m>
                  <m:oMath xmlns:m="http://schemas.openxmlformats.org/officeDocument/2006/math">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𝜎</m:t>
                                </m:r>
                              </m:e>
                              <m:sub>
                                <m:r>
                                  <m:rPr>
                                    <m:sty m:val="p"/>
                                  </m:rPr>
                                  <a:rPr lang="en-US" altLang="zh-CN" i="1">
                                    <a:latin typeface="Cambria Math" panose="02040503050406030204" pitchFamily="18" charset="0"/>
                                    <a:ea typeface="华文中宋" panose="02010600040101010101" pitchFamily="2" charset="-122"/>
                                    <a:sym typeface="Wingdings" panose="05000000000000000000" pitchFamily="2" charset="2"/>
                                  </a:rPr>
                                  <m:t>g</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𝜎</m:t>
                                </m:r>
                              </m:e>
                              <m:sub>
                                <m:r>
                                  <a:rPr lang="en-US" altLang="zh-CN" b="0" i="1" smtClean="0">
                                    <a:latin typeface="Cambria Math" panose="02040503050406030204" pitchFamily="18" charset="0"/>
                                    <a:ea typeface="华文中宋" panose="02010600040101010101" pitchFamily="2" charset="-122"/>
                                    <a:sym typeface="Wingdings" panose="05000000000000000000" pitchFamily="2" charset="2"/>
                                  </a:rPr>
                                  <m:t>𝑢</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oMath>
                </a14:m>
                <a:r>
                  <a:rPr lang="en-US" altLang="zh-CN" dirty="0">
                    <a:ea typeface="华文中宋" panose="02010600040101010101" pitchFamily="2" charset="-122"/>
                    <a:sym typeface="Wingdings" panose="05000000000000000000" pitchFamily="2" charset="2"/>
                  </a:rPr>
                  <a:t> </a:t>
                </a:r>
                <a14:m>
                  <m:oMath xmlns:m="http://schemas.openxmlformats.org/officeDocument/2006/math">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1</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𝜋</m:t>
                                </m:r>
                              </m:e>
                              <m:sub>
                                <m:r>
                                  <a:rPr lang="en-US" altLang="zh-CN" b="0" i="1" smtClean="0">
                                    <a:latin typeface="Cambria Math" panose="02040503050406030204" pitchFamily="18" charset="0"/>
                                    <a:ea typeface="华文中宋" panose="02010600040101010101" pitchFamily="2" charset="-122"/>
                                    <a:sym typeface="Wingdings" panose="05000000000000000000" pitchFamily="2" charset="2"/>
                                  </a:rPr>
                                  <m:t>𝑢</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oMath>
                </a14:m>
                <a:r>
                  <a:rPr lang="en-US" altLang="zh-CN" dirty="0">
                    <a:ea typeface="华文中宋" panose="02010600040101010101" pitchFamily="2" charset="-122"/>
                    <a:sym typeface="Wingdings" panose="05000000000000000000" pitchFamily="2" charset="2"/>
                  </a:rPr>
                  <a:t> </a:t>
                </a:r>
                <a14:m>
                  <m:oMath xmlns:m="http://schemas.openxmlformats.org/officeDocument/2006/math">
                    <m:sSup>
                      <m:sSup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sSupPr>
                      <m:e>
                        <m:d>
                          <m:dPr>
                            <m:ctrlPr>
                              <a:rPr lang="en-US" altLang="zh-CN" i="1" smtClean="0">
                                <a:latin typeface="Cambria Math" panose="02040503050406030204" pitchFamily="18" charset="0"/>
                                <a:ea typeface="华文中宋" panose="02010600040101010101" pitchFamily="2" charset="-122"/>
                                <a:sym typeface="Wingdings" panose="05000000000000000000" pitchFamily="2" charset="2"/>
                              </a:rPr>
                            </m:ctrlPr>
                          </m:dPr>
                          <m:e>
                            <m:r>
                              <a:rPr lang="en-US" altLang="zh-CN" b="0" i="1" smtClean="0">
                                <a:latin typeface="Cambria Math" panose="02040503050406030204" pitchFamily="18" charset="0"/>
                                <a:ea typeface="华文中宋" panose="02010600040101010101" pitchFamily="2" charset="-122"/>
                                <a:sym typeface="Wingdings" panose="05000000000000000000" pitchFamily="2" charset="2"/>
                              </a:rPr>
                              <m:t>3</m:t>
                            </m:r>
                            <m:sSub>
                              <m:sSubPr>
                                <m:ctrlPr>
                                  <a:rPr lang="en-US" altLang="zh-CN" b="0" i="1" smtClean="0">
                                    <a:latin typeface="Cambria Math" panose="02040503050406030204" pitchFamily="18" charset="0"/>
                                    <a:ea typeface="华文中宋" panose="02010600040101010101" pitchFamily="2" charset="-122"/>
                                    <a:sym typeface="Wingdings" panose="05000000000000000000" pitchFamily="2" charset="2"/>
                                  </a:rPr>
                                </m:ctrlPr>
                              </m:sSubPr>
                              <m:e>
                                <m:r>
                                  <a:rPr lang="zh-CN" altLang="en-US" b="0" i="1" smtClean="0">
                                    <a:latin typeface="Cambria Math" panose="02040503050406030204" pitchFamily="18" charset="0"/>
                                    <a:ea typeface="华文中宋" panose="02010600040101010101" pitchFamily="2" charset="-122"/>
                                    <a:sym typeface="Wingdings" panose="05000000000000000000" pitchFamily="2" charset="2"/>
                                  </a:rPr>
                                  <m:t>𝜎</m:t>
                                </m:r>
                              </m:e>
                              <m:sub>
                                <m:r>
                                  <m:rPr>
                                    <m:sty m:val="p"/>
                                  </m:rPr>
                                  <a:rPr lang="en-US" altLang="zh-CN" i="1">
                                    <a:latin typeface="Cambria Math" panose="02040503050406030204" pitchFamily="18" charset="0"/>
                                    <a:ea typeface="华文中宋" panose="02010600040101010101" pitchFamily="2" charset="-122"/>
                                    <a:sym typeface="Wingdings" panose="05000000000000000000" pitchFamily="2" charset="2"/>
                                  </a:rPr>
                                  <m:t>g</m:t>
                                </m:r>
                              </m:sub>
                            </m:sSub>
                          </m:e>
                        </m:d>
                      </m:e>
                      <m:sup>
                        <m:r>
                          <a:rPr lang="en-US" altLang="zh-CN" b="0" i="1" smtClean="0">
                            <a:latin typeface="Cambria Math" panose="02040503050406030204" pitchFamily="18" charset="0"/>
                            <a:ea typeface="华文中宋" panose="02010600040101010101" pitchFamily="2" charset="-122"/>
                            <a:sym typeface="Wingdings" panose="05000000000000000000" pitchFamily="2" charset="2"/>
                          </a:rPr>
                          <m:t>2</m:t>
                        </m:r>
                      </m:sup>
                    </m:sSup>
                  </m:oMath>
                </a14:m>
                <a:r>
                  <a:rPr lang="zh-CN" altLang="en-US" dirty="0">
                    <a:latin typeface="华文中宋" panose="02010600040101010101" pitchFamily="2" charset="-122"/>
                    <a:ea typeface="华文中宋" panose="02010600040101010101" pitchFamily="2" charset="-122"/>
                  </a:rPr>
                  <a:t>，键级为</a:t>
                </a: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。键级增大，</a:t>
                </a:r>
                <a:r>
                  <a:rPr lang="en-US" altLang="zh-CN" dirty="0">
                    <a:latin typeface="华文中宋" panose="02010600040101010101" pitchFamily="2" charset="-122"/>
                    <a:ea typeface="华文中宋" panose="02010600040101010101" pitchFamily="2" charset="-122"/>
                    <a:sym typeface="Wingdings" panose="05000000000000000000" pitchFamily="2" charset="2"/>
                  </a:rPr>
                  <a:t> 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键长相较于气态</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要短一些。</a:t>
                </a:r>
                <a:endParaRPr lang="zh-CN" altLang="en-US" dirty="0">
                  <a:latin typeface="华文中宋" panose="02010600040101010101" pitchFamily="2" charset="-122"/>
                  <a:ea typeface="华文中宋" panose="02010600040101010101" pitchFamily="2" charset="-122"/>
                </a:endParaRPr>
              </a:p>
            </p:txBody>
          </p:sp>
        </mc:Choice>
        <mc:Fallback xmlns="">
          <p:sp>
            <p:nvSpPr>
              <p:cNvPr id="6" name="文本框 5">
                <a:extLst>
                  <a:ext uri="{FF2B5EF4-FFF2-40B4-BE49-F238E27FC236}">
                    <a16:creationId xmlns:a16="http://schemas.microsoft.com/office/drawing/2014/main" id="{562E4994-9090-4AFC-AF4E-390E0EAC042C}"/>
                  </a:ext>
                </a:extLst>
              </p:cNvPr>
              <p:cNvSpPr txBox="1">
                <a:spLocks noRot="1" noChangeAspect="1" noMove="1" noResize="1" noEditPoints="1" noAdjustHandles="1" noChangeArrowheads="1" noChangeShapeType="1" noTextEdit="1"/>
              </p:cNvSpPr>
              <p:nvPr/>
            </p:nvSpPr>
            <p:spPr>
              <a:xfrm>
                <a:off x="1" y="1535369"/>
                <a:ext cx="12192000" cy="1582934"/>
              </a:xfrm>
              <a:prstGeom prst="rect">
                <a:avLst/>
              </a:prstGeom>
              <a:blipFill>
                <a:blip r:embed="rId3"/>
                <a:stretch>
                  <a:fillRect l="-400" b="-3462"/>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08FBB611-42EF-4F99-BDCC-6562942447E4}"/>
              </a:ext>
            </a:extLst>
          </p:cNvPr>
          <p:cNvPicPr>
            <a:picLocks noChangeAspect="1"/>
          </p:cNvPicPr>
          <p:nvPr/>
        </p:nvPicPr>
        <p:blipFill>
          <a:blip r:embed="rId4"/>
          <a:stretch>
            <a:fillRect/>
          </a:stretch>
        </p:blipFill>
        <p:spPr>
          <a:xfrm>
            <a:off x="4608353" y="3277089"/>
            <a:ext cx="2975295" cy="3442590"/>
          </a:xfrm>
          <a:prstGeom prst="rect">
            <a:avLst/>
          </a:prstGeom>
          <a:ln>
            <a:solidFill>
              <a:schemeClr val="accent1"/>
            </a:solidFill>
          </a:ln>
        </p:spPr>
      </p:pic>
    </p:spTree>
    <p:extLst>
      <p:ext uri="{BB962C8B-B14F-4D97-AF65-F5344CB8AC3E}">
        <p14:creationId xmlns:p14="http://schemas.microsoft.com/office/powerpoint/2010/main" val="244263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705275"/>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9.4 </a:t>
            </a:r>
            <a:r>
              <a:rPr lang="zh-CN" altLang="en-US" dirty="0">
                <a:latin typeface="华文中宋" panose="02010600040101010101" pitchFamily="2" charset="-122"/>
                <a:ea typeface="华文中宋" panose="02010600040101010101" pitchFamily="2" charset="-122"/>
              </a:rPr>
              <a:t>纯碳化钙（</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）是一种无色固体（熔点</a:t>
            </a:r>
            <a:r>
              <a:rPr lang="en-US" altLang="zh-CN" dirty="0">
                <a:latin typeface="华文中宋" panose="02010600040101010101" pitchFamily="2" charset="-122"/>
                <a:ea typeface="华文中宋" panose="02010600040101010101" pitchFamily="2" charset="-122"/>
              </a:rPr>
              <a:t>2300°C</a:t>
            </a:r>
            <a:r>
              <a:rPr lang="zh-CN" altLang="en-US" dirty="0">
                <a:latin typeface="华文中宋" panose="02010600040101010101" pitchFamily="2" charset="-122"/>
                <a:ea typeface="华文中宋" panose="02010600040101010101" pitchFamily="2" charset="-122"/>
              </a:rPr>
              <a:t>），在固态时不导电。</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的结构本质上是</a:t>
            </a:r>
            <a:r>
              <a:rPr lang="en-US" altLang="zh-CN" dirty="0">
                <a:latin typeface="华文中宋" panose="02010600040101010101" pitchFamily="2" charset="-122"/>
                <a:ea typeface="华文中宋" panose="02010600040101010101" pitchFamily="2" charset="-122"/>
              </a:rPr>
              <a:t>NaCl</a:t>
            </a:r>
            <a:r>
              <a:rPr lang="zh-CN" altLang="en-US" dirty="0">
                <a:latin typeface="华文中宋" panose="02010600040101010101" pitchFamily="2" charset="-122"/>
                <a:ea typeface="华文中宋" panose="02010600040101010101" pitchFamily="2" charset="-122"/>
              </a:rPr>
              <a:t>型晶格，具有交替排列的</a:t>
            </a:r>
            <a:r>
              <a:rPr lang="en-US" altLang="zh-CN" dirty="0">
                <a:latin typeface="华文中宋" panose="02010600040101010101" pitchFamily="2" charset="-122"/>
                <a:ea typeface="华文中宋" panose="02010600040101010101" pitchFamily="2" charset="-122"/>
              </a:rPr>
              <a:t>Ca</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离子。这些离子中的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119.1 pm</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据认为，镧碳化物（</a:t>
            </a:r>
            <a:r>
              <a:rPr lang="en-US" altLang="zh-CN" dirty="0">
                <a:latin typeface="华文中宋" panose="02010600040101010101" pitchFamily="2" charset="-122"/>
                <a:ea typeface="华文中宋" panose="02010600040101010101" pitchFamily="2" charset="-122"/>
              </a:rPr>
              <a:t>LaC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）中包含</a:t>
            </a:r>
            <a:r>
              <a:rPr lang="en-US" altLang="zh-CN" dirty="0">
                <a:latin typeface="华文中宋" panose="02010600040101010101" pitchFamily="2" charset="-122"/>
                <a:ea typeface="华文中宋" panose="02010600040101010101" pitchFamily="2" charset="-122"/>
              </a:rPr>
              <a:t>La</a:t>
            </a:r>
            <a:r>
              <a:rPr lang="en-US" altLang="zh-CN" baseline="30000"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离子和</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3</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离子；该离子中的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130.3 pm</a:t>
            </a:r>
            <a:r>
              <a:rPr lang="zh-CN" altLang="en-US" dirty="0">
                <a:latin typeface="华文中宋" panose="02010600040101010101" pitchFamily="2" charset="-122"/>
                <a:ea typeface="华文中宋" panose="02010600040101010101" pitchFamily="2" charset="-122"/>
              </a:rPr>
              <a:t>。使用你的分子轨道图来解释为什么</a:t>
            </a:r>
            <a:r>
              <a:rPr lang="en-US" altLang="zh-CN" dirty="0">
                <a:latin typeface="华文中宋" panose="02010600040101010101" pitchFamily="2" charset="-122"/>
                <a:ea typeface="华文中宋" panose="02010600040101010101" pitchFamily="2" charset="-122"/>
              </a:rPr>
              <a:t>LaC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键长大于</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C–C</a:t>
            </a:r>
            <a:r>
              <a:rPr lang="zh-CN" altLang="en-US" dirty="0">
                <a:latin typeface="华文中宋" panose="02010600040101010101" pitchFamily="2" charset="-122"/>
                <a:ea typeface="华文中宋" panose="02010600040101010101" pitchFamily="2" charset="-122"/>
              </a:rPr>
              <a:t>键长。</a:t>
            </a:r>
          </a:p>
        </p:txBody>
      </p:sp>
      <p:sp>
        <p:nvSpPr>
          <p:cNvPr id="6" name="文本框 5">
            <a:extLst>
              <a:ext uri="{FF2B5EF4-FFF2-40B4-BE49-F238E27FC236}">
                <a16:creationId xmlns:a16="http://schemas.microsoft.com/office/drawing/2014/main" id="{562E4994-9090-4AFC-AF4E-390E0EAC042C}"/>
              </a:ext>
            </a:extLst>
          </p:cNvPr>
          <p:cNvSpPr txBox="1"/>
          <p:nvPr/>
        </p:nvSpPr>
        <p:spPr>
          <a:xfrm>
            <a:off x="1" y="2599902"/>
            <a:ext cx="12192000" cy="874278"/>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(c)</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在</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3</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a:t>
            </a:r>
            <a:r>
              <a:rPr lang="zh-CN" altLang="en-US" dirty="0">
                <a:latin typeface="华文中宋" panose="02010600040101010101" pitchFamily="2" charset="-122"/>
                <a:ea typeface="华文中宋" panose="02010600040101010101" pitchFamily="2" charset="-122"/>
                <a:sym typeface="Wingdings" panose="05000000000000000000" pitchFamily="2" charset="2"/>
              </a:rPr>
              <a:t>中，</a:t>
            </a:r>
            <a:r>
              <a:rPr lang="zh-CN" altLang="en-US" b="1" dirty="0">
                <a:solidFill>
                  <a:schemeClr val="accent1">
                    <a:lumMod val="75000"/>
                  </a:schemeClr>
                </a:solidFill>
                <a:latin typeface="华文中宋" panose="02010600040101010101" pitchFamily="2" charset="-122"/>
                <a:ea typeface="华文中宋" panose="02010600040101010101" pitchFamily="2" charset="-122"/>
                <a:sym typeface="Wingdings" panose="05000000000000000000" pitchFamily="2" charset="2"/>
              </a:rPr>
              <a:t>额外的电子必须进入其中一个反键的</a:t>
            </a:r>
            <a:r>
              <a:rPr lang="en-US" altLang="zh-CN" b="1" dirty="0">
                <a:solidFill>
                  <a:schemeClr val="accent1">
                    <a:lumMod val="75000"/>
                  </a:schemeClr>
                </a:solidFill>
                <a:latin typeface="华文中宋" panose="02010600040101010101" pitchFamily="2" charset="-122"/>
                <a:ea typeface="华文中宋" panose="02010600040101010101" pitchFamily="2" charset="-122"/>
                <a:sym typeface="Wingdings" panose="05000000000000000000" pitchFamily="2" charset="2"/>
              </a:rPr>
              <a:t>1π</a:t>
            </a:r>
            <a:r>
              <a:rPr lang="en-US" altLang="zh-CN" b="1" baseline="-25000" dirty="0">
                <a:solidFill>
                  <a:schemeClr val="accent1">
                    <a:lumMod val="75000"/>
                  </a:schemeClr>
                </a:solidFill>
                <a:latin typeface="华文中宋" panose="02010600040101010101" pitchFamily="2" charset="-122"/>
                <a:ea typeface="华文中宋" panose="02010600040101010101" pitchFamily="2" charset="-122"/>
                <a:sym typeface="Wingdings" panose="05000000000000000000" pitchFamily="2" charset="2"/>
              </a:rPr>
              <a:t>g</a:t>
            </a:r>
            <a:r>
              <a:rPr lang="zh-CN" altLang="en-US" b="1" dirty="0">
                <a:solidFill>
                  <a:schemeClr val="accent1">
                    <a:lumMod val="75000"/>
                  </a:schemeClr>
                </a:solidFill>
                <a:latin typeface="华文中宋" panose="02010600040101010101" pitchFamily="2" charset="-122"/>
                <a:ea typeface="华文中宋" panose="02010600040101010101" pitchFamily="2" charset="-122"/>
                <a:sym typeface="Wingdings" panose="05000000000000000000" pitchFamily="2" charset="2"/>
              </a:rPr>
              <a:t>分子轨道</a:t>
            </a:r>
            <a:r>
              <a:rPr lang="zh-CN" altLang="en-US" dirty="0">
                <a:latin typeface="华文中宋" panose="02010600040101010101" pitchFamily="2" charset="-122"/>
                <a:ea typeface="华文中宋" panose="02010600040101010101" pitchFamily="2" charset="-122"/>
                <a:sym typeface="Wingdings" panose="05000000000000000000" pitchFamily="2" charset="2"/>
              </a:rPr>
              <a:t>；因此，净键合被减少，所以与</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相比，键长会增加。</a:t>
            </a: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09567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378276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marL="342900" indent="-342900" algn="just">
              <a:lnSpc>
                <a:spcPct val="150000"/>
              </a:lnSpc>
              <a:buAutoNum type="alphaLcParenBoth"/>
            </a:pPr>
            <a:r>
              <a:rPr lang="zh-CN" altLang="en-US" dirty="0">
                <a:latin typeface="华文中宋" panose="02010600040101010101" pitchFamily="2" charset="-122"/>
                <a:ea typeface="华文中宋" panose="02010600040101010101" pitchFamily="2" charset="-122"/>
              </a:rPr>
              <a:t>绘制</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的结构，并解释它们的相对键长。</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预计</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之间的平衡会随着温度的变化而变化。</a:t>
            </a: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提出黑磷和其他</a:t>
            </a:r>
            <a:r>
              <a:rPr lang="en-US" altLang="zh-CN" dirty="0">
                <a:latin typeface="华文中宋" panose="02010600040101010101" pitchFamily="2" charset="-122"/>
                <a:ea typeface="华文中宋" panose="02010600040101010101" pitchFamily="2" charset="-122"/>
              </a:rPr>
              <a:t>15</a:t>
            </a:r>
            <a:r>
              <a:rPr lang="zh-CN" altLang="en-US" dirty="0">
                <a:latin typeface="华文中宋" panose="02010600040101010101" pitchFamily="2" charset="-122"/>
                <a:ea typeface="华文中宋" panose="02010600040101010101" pitchFamily="2" charset="-122"/>
              </a:rPr>
              <a:t>族元素</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同素异形体所采用的共同结构。</a:t>
            </a:r>
          </a:p>
          <a:p>
            <a:pPr algn="just">
              <a:lnSpc>
                <a:spcPct val="150000"/>
              </a:lnSpc>
            </a:pPr>
            <a:r>
              <a:rPr lang="en-US" altLang="zh-CN" dirty="0">
                <a:latin typeface="华文中宋" panose="02010600040101010101" pitchFamily="2" charset="-122"/>
                <a:ea typeface="华文中宋" panose="02010600040101010101" pitchFamily="2" charset="-122"/>
              </a:rPr>
              <a:t>(d) </a:t>
            </a:r>
            <a:r>
              <a:rPr lang="zh-CN" altLang="en-US" dirty="0">
                <a:latin typeface="华文中宋" panose="02010600040101010101" pitchFamily="2" charset="-122"/>
                <a:ea typeface="华文中宋" panose="02010600040101010101" pitchFamily="2" charset="-122"/>
              </a:rPr>
              <a:t>解释黑磷和白磷的物理性质差异。</a:t>
            </a:r>
          </a:p>
          <a:p>
            <a:pPr algn="just">
              <a:lnSpc>
                <a:spcPct val="150000"/>
              </a:lnSpc>
            </a:pPr>
            <a:r>
              <a:rPr lang="en-US" altLang="zh-CN" dirty="0">
                <a:latin typeface="华文中宋" panose="02010600040101010101" pitchFamily="2" charset="-122"/>
                <a:ea typeface="华文中宋" panose="02010600040101010101" pitchFamily="2" charset="-122"/>
              </a:rPr>
              <a:t>(e) </a:t>
            </a:r>
            <a:r>
              <a:rPr lang="zh-CN" altLang="en-US" dirty="0">
                <a:latin typeface="华文中宋" panose="02010600040101010101" pitchFamily="2" charset="-122"/>
                <a:ea typeface="华文中宋" panose="02010600040101010101" pitchFamily="2" charset="-122"/>
              </a:rPr>
              <a:t>解释观察到的</a:t>
            </a:r>
            <a:r>
              <a:rPr lang="en-US" altLang="zh-CN" dirty="0">
                <a:latin typeface="华文中宋" panose="02010600040101010101" pitchFamily="2" charset="-122"/>
                <a:ea typeface="华文中宋" panose="02010600040101010101" pitchFamily="2" charset="-122"/>
              </a:rPr>
              <a:t>15</a:t>
            </a:r>
            <a:r>
              <a:rPr lang="zh-CN" altLang="en-US" dirty="0">
                <a:latin typeface="华文中宋" panose="02010600040101010101" pitchFamily="2" charset="-122"/>
                <a:ea typeface="华文中宋" panose="02010600040101010101" pitchFamily="2" charset="-122"/>
              </a:rPr>
              <a:t>族元素固态中键长和键角的趋势。</a:t>
            </a:r>
          </a:p>
        </p:txBody>
      </p:sp>
      <p:pic>
        <p:nvPicPr>
          <p:cNvPr id="3" name="图片 2">
            <a:extLst>
              <a:ext uri="{FF2B5EF4-FFF2-40B4-BE49-F238E27FC236}">
                <a16:creationId xmlns:a16="http://schemas.microsoft.com/office/drawing/2014/main" id="{E5A7790C-8784-461E-8B1A-1BC5A15E0932}"/>
              </a:ext>
            </a:extLst>
          </p:cNvPr>
          <p:cNvPicPr>
            <a:picLocks noChangeAspect="1"/>
          </p:cNvPicPr>
          <p:nvPr/>
        </p:nvPicPr>
        <p:blipFill>
          <a:blip r:embed="rId3"/>
          <a:stretch>
            <a:fillRect/>
          </a:stretch>
        </p:blipFill>
        <p:spPr>
          <a:xfrm>
            <a:off x="96315" y="4072712"/>
            <a:ext cx="6144482" cy="1114581"/>
          </a:xfrm>
          <a:prstGeom prst="rect">
            <a:avLst/>
          </a:prstGeom>
          <a:ln>
            <a:solidFill>
              <a:schemeClr val="accent1"/>
            </a:solidFill>
          </a:ln>
        </p:spPr>
      </p:pic>
    </p:spTree>
    <p:extLst>
      <p:ext uri="{BB962C8B-B14F-4D97-AF65-F5344CB8AC3E}">
        <p14:creationId xmlns:p14="http://schemas.microsoft.com/office/powerpoint/2010/main" val="3497822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marL="342900" indent="-342900" algn="just">
              <a:lnSpc>
                <a:spcPct val="150000"/>
              </a:lnSpc>
              <a:buAutoNum type="alphaLcParenBoth"/>
            </a:pPr>
            <a:r>
              <a:rPr lang="zh-CN" altLang="en-US" dirty="0">
                <a:latin typeface="华文中宋" panose="02010600040101010101" pitchFamily="2" charset="-122"/>
                <a:ea typeface="华文中宋" panose="02010600040101010101" pitchFamily="2" charset="-122"/>
              </a:rPr>
              <a:t>绘制</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的结构，并解释它们的相对键长。</a:t>
            </a:r>
            <a:endParaRPr lang="en-US" altLang="zh-CN"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E144153A-C32A-4162-BCCE-464A9BE43ACD}"/>
              </a:ext>
            </a:extLst>
          </p:cNvPr>
          <p:cNvSpPr txBox="1"/>
          <p:nvPr/>
        </p:nvSpPr>
        <p:spPr>
          <a:xfrm>
            <a:off x="1" y="2599902"/>
            <a:ext cx="12192000" cy="2120773"/>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P</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是一种双原子分子，具有类似于</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中的三重键。</a:t>
            </a:r>
            <a:r>
              <a:rPr lang="en-US" altLang="zh-CN" dirty="0">
                <a:latin typeface="华文中宋" panose="02010600040101010101" pitchFamily="2" charset="-122"/>
                <a:ea typeface="华文中宋" panose="02010600040101010101" pitchFamily="2" charset="-122"/>
                <a:sym typeface="Wingdings" panose="05000000000000000000" pitchFamily="2" charset="2"/>
              </a:rPr>
              <a:t>P</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4</a:t>
            </a:r>
            <a:r>
              <a:rPr lang="zh-CN" altLang="en-US" dirty="0">
                <a:latin typeface="华文中宋" panose="02010600040101010101" pitchFamily="2" charset="-122"/>
                <a:ea typeface="华文中宋" panose="02010600040101010101" pitchFamily="2" charset="-122"/>
                <a:sym typeface="Wingdings" panose="05000000000000000000" pitchFamily="2" charset="2"/>
              </a:rPr>
              <a:t>具有四面体排列的原子结构。</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假设在</a:t>
            </a:r>
            <a:r>
              <a:rPr lang="en-US" altLang="zh-CN" dirty="0">
                <a:latin typeface="华文中宋" panose="02010600040101010101" pitchFamily="2" charset="-122"/>
                <a:ea typeface="华文中宋" panose="02010600040101010101" pitchFamily="2" charset="-122"/>
                <a:sym typeface="Wingdings" panose="05000000000000000000" pitchFamily="2" charset="2"/>
              </a:rPr>
              <a:t>P</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4</a:t>
            </a:r>
            <a:r>
              <a:rPr lang="zh-CN" altLang="en-US" dirty="0">
                <a:latin typeface="华文中宋" panose="02010600040101010101" pitchFamily="2" charset="-122"/>
                <a:ea typeface="华文中宋" panose="02010600040101010101" pitchFamily="2" charset="-122"/>
                <a:sym typeface="Wingdings" panose="05000000000000000000" pitchFamily="2" charset="2"/>
              </a:rPr>
              <a:t>中，磷原子近似为</a:t>
            </a:r>
            <a:r>
              <a:rPr lang="en-US" altLang="zh-CN" dirty="0">
                <a:latin typeface="华文中宋" panose="02010600040101010101" pitchFamily="2" charset="-122"/>
                <a:ea typeface="华文中宋" panose="02010600040101010101" pitchFamily="2" charset="-122"/>
                <a:sym typeface="Wingdings" panose="05000000000000000000" pitchFamily="2" charset="2"/>
              </a:rPr>
              <a:t>sp</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3</a:t>
            </a:r>
            <a:r>
              <a:rPr lang="zh-CN" altLang="en-US" dirty="0">
                <a:latin typeface="华文中宋" panose="02010600040101010101" pitchFamily="2" charset="-122"/>
                <a:ea typeface="华文中宋" panose="02010600040101010101" pitchFamily="2" charset="-122"/>
                <a:sym typeface="Wingdings" panose="05000000000000000000" pitchFamily="2" charset="2"/>
              </a:rPr>
              <a:t>杂化，并形成沿四面体边缘方向的三个双中心双电子键。剩余的杂化轨道指向远离四面体，并含有一个孤立电子对。</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其他条件相同的情况下，</a:t>
            </a:r>
            <a:r>
              <a:rPr lang="en-US" altLang="zh-CN"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P</a:t>
            </a:r>
            <a:r>
              <a:rPr lang="en-US" altLang="zh-CN" b="1" baseline="-25000"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2</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中的</a:t>
            </a:r>
            <a:r>
              <a:rPr lang="en-US" altLang="zh-CN"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P≡P</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键会比</a:t>
            </a:r>
            <a:r>
              <a:rPr lang="en-US" altLang="zh-CN"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P</a:t>
            </a:r>
            <a:r>
              <a:rPr lang="en-US" altLang="zh-CN" b="1" baseline="-25000"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4</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中的</a:t>
            </a:r>
            <a:r>
              <a:rPr lang="en-US" altLang="zh-CN"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P–P</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单键更短，因为多重键倾向于比单键更短、更强</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endParaRPr lang="zh-CN" altLang="en-US" dirty="0">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44CDC117-7668-401B-A957-9DC3669F9635}"/>
              </a:ext>
            </a:extLst>
          </p:cNvPr>
          <p:cNvPicPr>
            <a:picLocks noChangeAspect="1"/>
          </p:cNvPicPr>
          <p:nvPr/>
        </p:nvPicPr>
        <p:blipFill>
          <a:blip r:embed="rId3"/>
          <a:stretch>
            <a:fillRect/>
          </a:stretch>
        </p:blipFill>
        <p:spPr>
          <a:xfrm>
            <a:off x="7612065" y="1435387"/>
            <a:ext cx="3696216" cy="1667108"/>
          </a:xfrm>
          <a:prstGeom prst="rect">
            <a:avLst/>
          </a:prstGeom>
          <a:ln>
            <a:solidFill>
              <a:schemeClr val="accent1"/>
            </a:solidFill>
          </a:ln>
        </p:spPr>
      </p:pic>
    </p:spTree>
    <p:extLst>
      <p:ext uri="{BB962C8B-B14F-4D97-AF65-F5344CB8AC3E}">
        <p14:creationId xmlns:p14="http://schemas.microsoft.com/office/powerpoint/2010/main" val="103444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预计</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之间的平衡会随着温度的变化而变化。</a:t>
            </a:r>
          </a:p>
        </p:txBody>
      </p:sp>
      <p:sp>
        <p:nvSpPr>
          <p:cNvPr id="3" name="文本框 2">
            <a:extLst>
              <a:ext uri="{FF2B5EF4-FFF2-40B4-BE49-F238E27FC236}">
                <a16:creationId xmlns:a16="http://schemas.microsoft.com/office/drawing/2014/main" id="{E144153A-C32A-4162-BCCE-464A9BE43ACD}"/>
              </a:ext>
            </a:extLst>
          </p:cNvPr>
          <p:cNvSpPr txBox="1"/>
          <p:nvPr/>
        </p:nvSpPr>
        <p:spPr>
          <a:xfrm>
            <a:off x="1" y="2599902"/>
            <a:ext cx="12192000" cy="1289777"/>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(b)</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因为一个</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气体</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分子要变成两个，这个反应的∆</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rS</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将是正的。由∆</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rG</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rH</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T∆rS</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可知，随着温度的升高，∆</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rG</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将变得更加负，从而有利于处于平衡状态的产物。</a:t>
            </a:r>
            <a:endParaRPr lang="zh-CN" altLang="en-US"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7687AF97-813E-4F1C-AF64-BB9DB88858C6}"/>
              </a:ext>
            </a:extLst>
          </p:cNvPr>
          <p:cNvPicPr>
            <a:picLocks noChangeAspect="1"/>
          </p:cNvPicPr>
          <p:nvPr/>
        </p:nvPicPr>
        <p:blipFill>
          <a:blip r:embed="rId3"/>
          <a:stretch>
            <a:fillRect/>
          </a:stretch>
        </p:blipFill>
        <p:spPr>
          <a:xfrm>
            <a:off x="7838736" y="1782878"/>
            <a:ext cx="2928974" cy="781058"/>
          </a:xfrm>
          <a:prstGeom prst="rect">
            <a:avLst/>
          </a:prstGeom>
          <a:ln>
            <a:solidFill>
              <a:schemeClr val="accent1"/>
            </a:solidFill>
          </a:ln>
        </p:spPr>
      </p:pic>
    </p:spTree>
    <p:extLst>
      <p:ext uri="{BB962C8B-B14F-4D97-AF65-F5344CB8AC3E}">
        <p14:creationId xmlns:p14="http://schemas.microsoft.com/office/powerpoint/2010/main" val="334328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提出黑磷和其他</a:t>
            </a:r>
            <a:r>
              <a:rPr lang="en-US" altLang="zh-CN" dirty="0">
                <a:latin typeface="华文中宋" panose="02010600040101010101" pitchFamily="2" charset="-122"/>
                <a:ea typeface="华文中宋" panose="02010600040101010101" pitchFamily="2" charset="-122"/>
              </a:rPr>
              <a:t>15</a:t>
            </a:r>
            <a:r>
              <a:rPr lang="zh-CN" altLang="en-US" dirty="0">
                <a:latin typeface="华文中宋" panose="02010600040101010101" pitchFamily="2" charset="-122"/>
                <a:ea typeface="华文中宋" panose="02010600040101010101" pitchFamily="2" charset="-122"/>
              </a:rPr>
              <a:t>族元素</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同素异形体所采用的共同结构。</a:t>
            </a:r>
          </a:p>
        </p:txBody>
      </p:sp>
      <p:sp>
        <p:nvSpPr>
          <p:cNvPr id="3" name="文本框 2">
            <a:extLst>
              <a:ext uri="{FF2B5EF4-FFF2-40B4-BE49-F238E27FC236}">
                <a16:creationId xmlns:a16="http://schemas.microsoft.com/office/drawing/2014/main" id="{E144153A-C32A-4162-BCCE-464A9BE43ACD}"/>
              </a:ext>
            </a:extLst>
          </p:cNvPr>
          <p:cNvSpPr txBox="1"/>
          <p:nvPr/>
        </p:nvSpPr>
        <p:spPr>
          <a:xfrm>
            <a:off x="1" y="2163172"/>
            <a:ext cx="12192000" cy="2536272"/>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(c)</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如果每个原子都是</a:t>
            </a:r>
            <a:r>
              <a:rPr lang="en-US" altLang="zh-CN" dirty="0">
                <a:latin typeface="华文中宋" panose="02010600040101010101" pitchFamily="2" charset="-122"/>
                <a:ea typeface="华文中宋" panose="02010600040101010101" pitchFamily="2" charset="-122"/>
                <a:sym typeface="Wingdings" panose="05000000000000000000" pitchFamily="2" charset="2"/>
              </a:rPr>
              <a:t>sp</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3</a:t>
            </a:r>
            <a:r>
              <a:rPr lang="zh-CN" altLang="en-US" dirty="0">
                <a:latin typeface="华文中宋" panose="02010600040101010101" pitchFamily="2" charset="-122"/>
                <a:ea typeface="华文中宋" panose="02010600040101010101" pitchFamily="2" charset="-122"/>
                <a:sym typeface="Wingdings" panose="05000000000000000000" pitchFamily="2" charset="2"/>
              </a:rPr>
              <a:t>杂化的，那么固体中的四个杂化轨道将重叠，形成</a:t>
            </a:r>
            <a:r>
              <a:rPr lang="en-US" altLang="zh-CN" dirty="0">
                <a:latin typeface="华文中宋" panose="02010600040101010101" pitchFamily="2" charset="-122"/>
                <a:ea typeface="华文中宋" panose="02010600040101010101" pitchFamily="2" charset="-122"/>
                <a:sym typeface="Wingdings" panose="05000000000000000000" pitchFamily="2" charset="2"/>
              </a:rPr>
              <a:t>2N</a:t>
            </a:r>
            <a:r>
              <a:rPr lang="zh-CN" altLang="en-US" dirty="0">
                <a:latin typeface="华文中宋" panose="02010600040101010101" pitchFamily="2" charset="-122"/>
                <a:ea typeface="华文中宋" panose="02010600040101010101" pitchFamily="2" charset="-122"/>
                <a:sym typeface="Wingdings" panose="05000000000000000000" pitchFamily="2" charset="2"/>
              </a:rPr>
              <a:t>个键合分子轨道和</a:t>
            </a:r>
            <a:r>
              <a:rPr lang="en-US" altLang="zh-CN" dirty="0">
                <a:latin typeface="华文中宋" panose="02010600040101010101" pitchFamily="2" charset="-122"/>
                <a:ea typeface="华文中宋" panose="02010600040101010101" pitchFamily="2" charset="-122"/>
                <a:sym typeface="Wingdings" panose="05000000000000000000" pitchFamily="2" charset="2"/>
              </a:rPr>
              <a:t>2N</a:t>
            </a:r>
            <a:r>
              <a:rPr lang="zh-CN" altLang="en-US" dirty="0">
                <a:latin typeface="华文中宋" panose="02010600040101010101" pitchFamily="2" charset="-122"/>
                <a:ea typeface="华文中宋" panose="02010600040101010101" pitchFamily="2" charset="-122"/>
                <a:sym typeface="Wingdings" panose="05000000000000000000" pitchFamily="2" charset="2"/>
              </a:rPr>
              <a:t>个反键分子轨道，其中</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zh-CN" altLang="en-US" dirty="0">
                <a:latin typeface="华文中宋" panose="02010600040101010101" pitchFamily="2" charset="-122"/>
                <a:ea typeface="华文中宋" panose="02010600040101010101" pitchFamily="2" charset="-122"/>
                <a:sym typeface="Wingdings" panose="05000000000000000000" pitchFamily="2" charset="2"/>
              </a:rPr>
              <a:t>是原子数。</a:t>
            </a:r>
            <a:r>
              <a:rPr lang="zh-CN" altLang="en-US"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第</a:t>
            </a:r>
            <a:r>
              <a:rPr lang="en-US" altLang="zh-CN"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15</a:t>
            </a:r>
            <a:r>
              <a:rPr lang="zh-CN" altLang="en-US"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族元素具有五个价电子，因此</a:t>
            </a:r>
            <a:r>
              <a:rPr lang="en-US" altLang="zh-CN"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N</a:t>
            </a:r>
            <a:r>
              <a:rPr lang="zh-CN" altLang="en-US"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个原子将贡献</a:t>
            </a:r>
            <a:r>
              <a:rPr lang="en-US" altLang="zh-CN"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5N</a:t>
            </a:r>
            <a:r>
              <a:rPr lang="zh-CN" altLang="en-US"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个电子</a:t>
            </a:r>
            <a:r>
              <a:rPr lang="zh-CN" altLang="en-US" dirty="0">
                <a:latin typeface="华文中宋" panose="02010600040101010101" pitchFamily="2" charset="-122"/>
                <a:ea typeface="华文中宋" panose="02010600040101010101" pitchFamily="2" charset="-122"/>
                <a:sym typeface="Wingdings" panose="05000000000000000000" pitchFamily="2" charset="2"/>
              </a:rPr>
              <a:t>。其中的</a:t>
            </a:r>
            <a:r>
              <a:rPr lang="en-US" altLang="zh-CN" dirty="0">
                <a:latin typeface="华文中宋" panose="02010600040101010101" pitchFamily="2" charset="-122"/>
                <a:ea typeface="华文中宋" panose="02010600040101010101" pitchFamily="2" charset="-122"/>
                <a:sym typeface="Wingdings" panose="05000000000000000000" pitchFamily="2" charset="2"/>
              </a:rPr>
              <a:t>4N</a:t>
            </a:r>
            <a:r>
              <a:rPr lang="zh-CN" altLang="en-US" dirty="0">
                <a:latin typeface="华文中宋" panose="02010600040101010101" pitchFamily="2" charset="-122"/>
                <a:ea typeface="华文中宋" panose="02010600040101010101" pitchFamily="2" charset="-122"/>
                <a:sym typeface="Wingdings" panose="05000000000000000000" pitchFamily="2" charset="2"/>
              </a:rPr>
              <a:t>个电子占据键合分子轨道，而</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zh-CN" altLang="en-US" dirty="0">
                <a:latin typeface="华文中宋" panose="02010600040101010101" pitchFamily="2" charset="-122"/>
                <a:ea typeface="华文中宋" panose="02010600040101010101" pitchFamily="2" charset="-122"/>
                <a:sym typeface="Wingdings" panose="05000000000000000000" pitchFamily="2" charset="2"/>
              </a:rPr>
              <a:t>个电子占据反键分子轨道。因此，</a:t>
            </a:r>
            <a:r>
              <a:rPr lang="zh-CN" altLang="en-US"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每个原子实际上具有三个键合相互作用，再加上一个孤立电子对，形成的结构类似于金刚石，不同之处在于第四个位置被一个孤立电子对而不是另一个键所占据。</a:t>
            </a:r>
            <a:r>
              <a:rPr lang="zh-CN" altLang="en-US" dirty="0">
                <a:latin typeface="华文中宋" panose="02010600040101010101" pitchFamily="2" charset="-122"/>
                <a:ea typeface="华文中宋" panose="02010600040101010101" pitchFamily="2" charset="-122"/>
                <a:sym typeface="Wingdings" panose="05000000000000000000" pitchFamily="2" charset="2"/>
              </a:rPr>
              <a:t>这导致第</a:t>
            </a:r>
            <a:r>
              <a:rPr lang="en-US" altLang="zh-CN" dirty="0">
                <a:latin typeface="华文中宋" panose="02010600040101010101" pitchFamily="2" charset="-122"/>
                <a:ea typeface="华文中宋" panose="02010600040101010101" pitchFamily="2" charset="-122"/>
                <a:sym typeface="Wingdings" panose="05000000000000000000" pitchFamily="2" charset="2"/>
              </a:rPr>
              <a:t>15</a:t>
            </a:r>
            <a:r>
              <a:rPr lang="zh-CN" altLang="en-US" dirty="0">
                <a:latin typeface="华文中宋" panose="02010600040101010101" pitchFamily="2" charset="-122"/>
                <a:ea typeface="华文中宋" panose="02010600040101010101" pitchFamily="2" charset="-122"/>
                <a:sym typeface="Wingdings" panose="05000000000000000000" pitchFamily="2" charset="2"/>
              </a:rPr>
              <a:t>族元素形成呈波纹状的六元环片，其中每个原子有三个键。</a:t>
            </a:r>
            <a:endParaRPr lang="zh-CN" altLang="en-US" dirty="0">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747E5691-5AF5-4E8B-9458-4D9B49C2D18C}"/>
              </a:ext>
            </a:extLst>
          </p:cNvPr>
          <p:cNvPicPr>
            <a:picLocks noChangeAspect="1"/>
          </p:cNvPicPr>
          <p:nvPr/>
        </p:nvPicPr>
        <p:blipFill>
          <a:blip r:embed="rId3"/>
          <a:stretch>
            <a:fillRect/>
          </a:stretch>
        </p:blipFill>
        <p:spPr>
          <a:xfrm>
            <a:off x="2863480" y="4330057"/>
            <a:ext cx="3585364" cy="2407564"/>
          </a:xfrm>
          <a:prstGeom prst="rect">
            <a:avLst/>
          </a:prstGeom>
          <a:ln>
            <a:solidFill>
              <a:schemeClr val="accent1"/>
            </a:solidFill>
          </a:ln>
        </p:spPr>
      </p:pic>
      <p:pic>
        <p:nvPicPr>
          <p:cNvPr id="8" name="图片 7">
            <a:extLst>
              <a:ext uri="{FF2B5EF4-FFF2-40B4-BE49-F238E27FC236}">
                <a16:creationId xmlns:a16="http://schemas.microsoft.com/office/drawing/2014/main" id="{2C224809-92D7-42C0-9B00-AAA95AFD6E66}"/>
              </a:ext>
            </a:extLst>
          </p:cNvPr>
          <p:cNvPicPr>
            <a:picLocks noChangeAspect="1"/>
          </p:cNvPicPr>
          <p:nvPr/>
        </p:nvPicPr>
        <p:blipFill>
          <a:blip r:embed="rId4"/>
          <a:stretch>
            <a:fillRect/>
          </a:stretch>
        </p:blipFill>
        <p:spPr>
          <a:xfrm>
            <a:off x="6625335" y="4300785"/>
            <a:ext cx="5328478" cy="2473587"/>
          </a:xfrm>
          <a:prstGeom prst="rect">
            <a:avLst/>
          </a:prstGeom>
          <a:ln>
            <a:solidFill>
              <a:schemeClr val="accent1"/>
            </a:solidFill>
          </a:ln>
        </p:spPr>
      </p:pic>
    </p:spTree>
    <p:extLst>
      <p:ext uri="{BB962C8B-B14F-4D97-AF65-F5344CB8AC3E}">
        <p14:creationId xmlns:p14="http://schemas.microsoft.com/office/powerpoint/2010/main" val="97513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(d) </a:t>
            </a:r>
            <a:r>
              <a:rPr lang="zh-CN" altLang="en-US" dirty="0">
                <a:latin typeface="华文中宋" panose="02010600040101010101" pitchFamily="2" charset="-122"/>
                <a:ea typeface="华文中宋" panose="02010600040101010101" pitchFamily="2" charset="-122"/>
              </a:rPr>
              <a:t>解释黑磷和白磷的物理性质差异。</a:t>
            </a:r>
          </a:p>
        </p:txBody>
      </p:sp>
      <p:sp>
        <p:nvSpPr>
          <p:cNvPr id="3" name="文本框 2">
            <a:extLst>
              <a:ext uri="{FF2B5EF4-FFF2-40B4-BE49-F238E27FC236}">
                <a16:creationId xmlns:a16="http://schemas.microsoft.com/office/drawing/2014/main" id="{E144153A-C32A-4162-BCCE-464A9BE43ACD}"/>
              </a:ext>
            </a:extLst>
          </p:cNvPr>
          <p:cNvSpPr txBox="1"/>
          <p:nvPr/>
        </p:nvSpPr>
        <p:spPr>
          <a:xfrm>
            <a:off x="1" y="2599902"/>
            <a:ext cx="12192000" cy="3782767"/>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(d)</a:t>
            </a:r>
          </a:p>
          <a:p>
            <a:pPr>
              <a:lnSpc>
                <a:spcPct val="150000"/>
              </a:lnSpc>
            </a:pPr>
            <a:r>
              <a:rPr lang="en-US" altLang="zh-CN" b="1" dirty="0">
                <a:solidFill>
                  <a:srgbClr val="DE2A95"/>
                </a:solidFill>
                <a:latin typeface="华文中宋" panose="02010600040101010101" pitchFamily="2" charset="-122"/>
                <a:ea typeface="华文中宋" panose="02010600040101010101" pitchFamily="2" charset="-122"/>
                <a:sym typeface="Wingdings" panose="05000000000000000000" pitchFamily="2" charset="2"/>
              </a:rPr>
              <a:t>(1) </a:t>
            </a:r>
            <a:r>
              <a:rPr lang="zh-CN" altLang="en-US" b="1" dirty="0">
                <a:solidFill>
                  <a:srgbClr val="DE2A95"/>
                </a:solidFill>
                <a:latin typeface="华文中宋" panose="02010600040101010101" pitchFamily="2" charset="-122"/>
                <a:ea typeface="华文中宋" panose="02010600040101010101" pitchFamily="2" charset="-122"/>
                <a:sym typeface="Wingdings" panose="05000000000000000000" pitchFamily="2" charset="2"/>
              </a:rPr>
              <a:t>晶体结构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zh-CN" altLang="en-US" b="1" dirty="0">
                <a:latin typeface="华文中宋" panose="02010600040101010101" pitchFamily="2" charset="-122"/>
                <a:ea typeface="华文中宋" panose="02010600040101010101" pitchFamily="2" charset="-122"/>
                <a:sym typeface="Wingdings" panose="05000000000000000000" pitchFamily="2" charset="2"/>
              </a:rPr>
              <a:t>白磷</a:t>
            </a:r>
            <a:r>
              <a:rPr lang="zh-CN" altLang="en-US" dirty="0">
                <a:latin typeface="华文中宋" panose="02010600040101010101" pitchFamily="2" charset="-122"/>
                <a:ea typeface="华文中宋" panose="02010600040101010101" pitchFamily="2" charset="-122"/>
                <a:sym typeface="Wingdings" panose="05000000000000000000" pitchFamily="2" charset="2"/>
              </a:rPr>
              <a:t>：白磷是一种分子固体，其中离散的</a:t>
            </a:r>
            <a:r>
              <a:rPr lang="en-US" altLang="zh-CN" dirty="0">
                <a:latin typeface="华文中宋" panose="02010600040101010101" pitchFamily="2" charset="-122"/>
                <a:ea typeface="华文中宋" panose="02010600040101010101" pitchFamily="2" charset="-122"/>
                <a:sym typeface="Wingdings" panose="05000000000000000000" pitchFamily="2" charset="2"/>
              </a:rPr>
              <a:t>P</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4</a:t>
            </a:r>
            <a:r>
              <a:rPr lang="zh-CN" altLang="en-US" dirty="0">
                <a:latin typeface="华文中宋" panose="02010600040101010101" pitchFamily="2" charset="-122"/>
                <a:ea typeface="华文中宋" panose="02010600040101010101" pitchFamily="2" charset="-122"/>
                <a:sym typeface="Wingdings" panose="05000000000000000000" pitchFamily="2" charset="2"/>
              </a:rPr>
              <a:t>分子之间存在相对较弱的相互作用。这种结构使得白磷具有较低的熔点，易于熔化。</a:t>
            </a:r>
            <a:r>
              <a:rPr lang="zh-CN" altLang="en-US" b="1" dirty="0">
                <a:latin typeface="华文中宋" panose="02010600040101010101" pitchFamily="2" charset="-122"/>
                <a:ea typeface="华文中宋" panose="02010600040101010101" pitchFamily="2" charset="-122"/>
                <a:sym typeface="Wingdings" panose="05000000000000000000" pitchFamily="2" charset="2"/>
              </a:rPr>
              <a:t>黑磷</a:t>
            </a:r>
            <a:r>
              <a:rPr lang="zh-CN" altLang="en-US" dirty="0">
                <a:latin typeface="华文中宋" panose="02010600040101010101" pitchFamily="2" charset="-122"/>
                <a:ea typeface="华文中宋" panose="02010600040101010101" pitchFamily="2" charset="-122"/>
                <a:sym typeface="Wingdings" panose="05000000000000000000" pitchFamily="2" charset="2"/>
              </a:rPr>
              <a:t>：黑磷具有巨大的共价结构，其中存在着延伸的共价键数组。这种结构导致了黑磷比白磷更高的沸点和更强的化学稳定性。</a:t>
            </a:r>
          </a:p>
          <a:p>
            <a:pPr>
              <a:lnSpc>
                <a:spcPct val="150000"/>
              </a:lnSpc>
            </a:pPr>
            <a:r>
              <a:rPr lang="en-US" altLang="zh-CN"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(2) </a:t>
            </a:r>
            <a:r>
              <a:rPr lang="zh-CN" altLang="en-US"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导电性</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zh-CN" altLang="en-US" b="1" dirty="0">
                <a:latin typeface="华文中宋" panose="02010600040101010101" pitchFamily="2" charset="-122"/>
                <a:ea typeface="华文中宋" panose="02010600040101010101" pitchFamily="2" charset="-122"/>
                <a:sym typeface="Wingdings" panose="05000000000000000000" pitchFamily="2" charset="2"/>
              </a:rPr>
              <a:t>白磷</a:t>
            </a:r>
            <a:r>
              <a:rPr lang="zh-CN" altLang="en-US" dirty="0">
                <a:latin typeface="华文中宋" panose="02010600040101010101" pitchFamily="2" charset="-122"/>
                <a:ea typeface="华文中宋" panose="02010600040101010101" pitchFamily="2" charset="-122"/>
                <a:sym typeface="Wingdings" panose="05000000000000000000" pitchFamily="2" charset="2"/>
              </a:rPr>
              <a:t>：白磷是一种分子固体，其中所有的电子都局限在</a:t>
            </a:r>
            <a:r>
              <a:rPr lang="en-US" altLang="zh-CN" dirty="0">
                <a:latin typeface="华文中宋" panose="02010600040101010101" pitchFamily="2" charset="-122"/>
                <a:ea typeface="华文中宋" panose="02010600040101010101" pitchFamily="2" charset="-122"/>
                <a:sym typeface="Wingdings" panose="05000000000000000000" pitchFamily="2" charset="2"/>
              </a:rPr>
              <a:t>P</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4</a:t>
            </a:r>
            <a:r>
              <a:rPr lang="zh-CN" altLang="en-US" dirty="0">
                <a:latin typeface="华文中宋" panose="02010600040101010101" pitchFamily="2" charset="-122"/>
                <a:ea typeface="华文中宋" panose="02010600040101010101" pitchFamily="2" charset="-122"/>
                <a:sym typeface="Wingdings" panose="05000000000000000000" pitchFamily="2" charset="2"/>
              </a:rPr>
              <a:t>单元的键中，因此它是一种绝缘体，不具有导电性。</a:t>
            </a:r>
            <a:r>
              <a:rPr lang="zh-CN" altLang="en-US" b="1" dirty="0">
                <a:latin typeface="华文中宋" panose="02010600040101010101" pitchFamily="2" charset="-122"/>
                <a:ea typeface="华文中宋" panose="02010600040101010101" pitchFamily="2" charset="-122"/>
                <a:sym typeface="Wingdings" panose="05000000000000000000" pitchFamily="2" charset="2"/>
              </a:rPr>
              <a:t>黑磷</a:t>
            </a:r>
            <a:r>
              <a:rPr lang="zh-CN" altLang="en-US" dirty="0">
                <a:latin typeface="华文中宋" panose="02010600040101010101" pitchFamily="2" charset="-122"/>
                <a:ea typeface="华文中宋" panose="02010600040101010101" pitchFamily="2" charset="-122"/>
                <a:sym typeface="Wingdings" panose="05000000000000000000" pitchFamily="2" charset="2"/>
              </a:rPr>
              <a:t>：黑磷中的键合更为延伸，使得电子能够在整个固体中移动，形成电子能带结构，因此黑磷表现出半导体的性质，具有一定的导电性。</a:t>
            </a:r>
          </a:p>
          <a:p>
            <a:pPr>
              <a:lnSpc>
                <a:spcPct val="150000"/>
              </a:lnSpc>
            </a:pPr>
            <a:r>
              <a:rPr lang="en-US" altLang="zh-CN" b="1" dirty="0">
                <a:solidFill>
                  <a:schemeClr val="accent4"/>
                </a:solidFill>
                <a:latin typeface="华文中宋" panose="02010600040101010101" pitchFamily="2" charset="-122"/>
                <a:ea typeface="华文中宋" panose="02010600040101010101" pitchFamily="2" charset="-122"/>
                <a:sym typeface="Wingdings" panose="05000000000000000000" pitchFamily="2" charset="2"/>
              </a:rPr>
              <a:t>(3) </a:t>
            </a:r>
            <a:r>
              <a:rPr lang="zh-CN" altLang="en-US" b="1" dirty="0">
                <a:solidFill>
                  <a:schemeClr val="accent4"/>
                </a:solidFill>
                <a:latin typeface="华文中宋" panose="02010600040101010101" pitchFamily="2" charset="-122"/>
                <a:ea typeface="华文中宋" panose="02010600040101010101" pitchFamily="2" charset="-122"/>
                <a:sym typeface="Wingdings" panose="05000000000000000000" pitchFamily="2" charset="2"/>
              </a:rPr>
              <a:t>对杂质的敏感性</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zh-CN" altLang="en-US" b="1" dirty="0">
                <a:latin typeface="华文中宋" panose="02010600040101010101" pitchFamily="2" charset="-122"/>
                <a:ea typeface="华文中宋" panose="02010600040101010101" pitchFamily="2" charset="-122"/>
                <a:sym typeface="Wingdings" panose="05000000000000000000" pitchFamily="2" charset="2"/>
              </a:rPr>
              <a:t>白磷</a:t>
            </a:r>
            <a:r>
              <a:rPr lang="zh-CN" altLang="en-US" dirty="0">
                <a:latin typeface="华文中宋" panose="02010600040101010101" pitchFamily="2" charset="-122"/>
                <a:ea typeface="华文中宋" panose="02010600040101010101" pitchFamily="2" charset="-122"/>
                <a:sym typeface="Wingdings" panose="05000000000000000000" pitchFamily="2" charset="2"/>
              </a:rPr>
              <a:t>：白磷对杂质的存在不太敏感。</a:t>
            </a:r>
            <a:r>
              <a:rPr lang="zh-CN" altLang="en-US" b="1" dirty="0">
                <a:latin typeface="华文中宋" panose="02010600040101010101" pitchFamily="2" charset="-122"/>
                <a:ea typeface="华文中宋" panose="02010600040101010101" pitchFamily="2" charset="-122"/>
                <a:sym typeface="Wingdings" panose="05000000000000000000" pitchFamily="2" charset="2"/>
              </a:rPr>
              <a:t>黑磷</a:t>
            </a:r>
            <a:r>
              <a:rPr lang="zh-CN" altLang="en-US" dirty="0">
                <a:latin typeface="华文中宋" panose="02010600040101010101" pitchFamily="2" charset="-122"/>
                <a:ea typeface="华文中宋" panose="02010600040101010101" pitchFamily="2" charset="-122"/>
                <a:sym typeface="Wingdings" panose="05000000000000000000" pitchFamily="2" charset="2"/>
              </a:rPr>
              <a:t>：黑磷的导电性非常敏感于杂质的存在，这是典型的半导体行为。</a:t>
            </a:r>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89277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9.5 </a:t>
            </a:r>
            <a:r>
              <a:rPr lang="zh-CN" altLang="en-US" dirty="0">
                <a:latin typeface="华文中宋" panose="02010600040101010101" pitchFamily="2" charset="-122"/>
                <a:ea typeface="华文中宋" panose="02010600040101010101" pitchFamily="2" charset="-122"/>
              </a:rPr>
              <a:t>在室温下，白磷是一种绝缘固体。它在</a:t>
            </a:r>
            <a:r>
              <a:rPr lang="en-US" altLang="zh-CN" dirty="0">
                <a:latin typeface="华文中宋" panose="02010600040101010101" pitchFamily="2" charset="-122"/>
                <a:ea typeface="华文中宋" panose="02010600040101010101" pitchFamily="2" charset="-122"/>
              </a:rPr>
              <a:t>280°C</a:t>
            </a:r>
            <a:r>
              <a:rPr lang="zh-CN" altLang="en-US" dirty="0">
                <a:latin typeface="华文中宋" panose="02010600040101010101" pitchFamily="2" charset="-122"/>
                <a:ea typeface="华文中宋" panose="02010600040101010101" pitchFamily="2" charset="-122"/>
              </a:rPr>
              <a:t>沸腾，生成一种由</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分子组成的蒸气。如果将蒸气冷凝，白磷会重新形成。</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1.90 Å</a:t>
            </a:r>
            <a:r>
              <a:rPr lang="zh-CN" altLang="en-US" dirty="0">
                <a:latin typeface="华文中宋" panose="02010600040101010101" pitchFamily="2" charset="-122"/>
                <a:ea typeface="华文中宋" panose="02010600040101010101" pitchFamily="2" charset="-122"/>
              </a:rPr>
              <a:t>，而</a:t>
            </a:r>
            <a:r>
              <a:rPr lang="en-US" altLang="zh-CN" dirty="0">
                <a:latin typeface="华文中宋" panose="02010600040101010101" pitchFamily="2" charset="-122"/>
                <a:ea typeface="华文中宋" panose="02010600040101010101" pitchFamily="2" charset="-122"/>
              </a:rPr>
              <a:t>P4</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P–P</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2.21 Å</a:t>
            </a:r>
            <a:r>
              <a:rPr lang="zh-CN" altLang="en-US" dirty="0">
                <a:latin typeface="华文中宋" panose="02010600040101010101" pitchFamily="2" charset="-122"/>
                <a:ea typeface="华文中宋" panose="02010600040101010101" pitchFamily="2" charset="-122"/>
              </a:rPr>
              <a:t>。如果将白磷在高温下持续一段时间，会形成各种其他固态同素异形体，其中没有一个沸点低于</a:t>
            </a:r>
            <a:r>
              <a:rPr lang="en-US" altLang="zh-CN" dirty="0">
                <a:latin typeface="华文中宋" panose="02010600040101010101" pitchFamily="2" charset="-122"/>
                <a:ea typeface="华文中宋" panose="02010600040101010101" pitchFamily="2" charset="-122"/>
              </a:rPr>
              <a:t>600°C</a:t>
            </a:r>
            <a:r>
              <a:rPr lang="zh-CN" altLang="en-US" dirty="0">
                <a:latin typeface="华文中宋" panose="02010600040101010101" pitchFamily="2" charset="-122"/>
                <a:ea typeface="华文中宋" panose="02010600040101010101" pitchFamily="2" charset="-122"/>
              </a:rPr>
              <a:t>。其中一种同素异形体，黑磷，是一种半导体。砷、锑和铋的</a:t>
            </a:r>
            <a:r>
              <a:rPr lang="en-US" altLang="zh-CN" dirty="0">
                <a:latin typeface="华文中宋" panose="02010600040101010101" pitchFamily="2" charset="-122"/>
                <a:ea typeface="华文中宋" panose="02010600040101010101" pitchFamily="2" charset="-122"/>
              </a:rPr>
              <a:t>α</a:t>
            </a:r>
            <a:r>
              <a:rPr lang="zh-CN" altLang="en-US" dirty="0">
                <a:latin typeface="华文中宋" panose="02010600040101010101" pitchFamily="2" charset="-122"/>
                <a:ea typeface="华文中宋" panose="02010600040101010101" pitchFamily="2" charset="-122"/>
              </a:rPr>
              <a:t>同素异形体的结构都类似于黑磷。</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(e) </a:t>
            </a:r>
            <a:r>
              <a:rPr lang="zh-CN" altLang="en-US" dirty="0">
                <a:latin typeface="华文中宋" panose="02010600040101010101" pitchFamily="2" charset="-122"/>
                <a:ea typeface="华文中宋" panose="02010600040101010101" pitchFamily="2" charset="-122"/>
              </a:rPr>
              <a:t>解释观察到的</a:t>
            </a:r>
            <a:r>
              <a:rPr lang="en-US" altLang="zh-CN" dirty="0">
                <a:latin typeface="华文中宋" panose="02010600040101010101" pitchFamily="2" charset="-122"/>
                <a:ea typeface="华文中宋" panose="02010600040101010101" pitchFamily="2" charset="-122"/>
              </a:rPr>
              <a:t>15</a:t>
            </a:r>
            <a:r>
              <a:rPr lang="zh-CN" altLang="en-US" dirty="0">
                <a:latin typeface="华文中宋" panose="02010600040101010101" pitchFamily="2" charset="-122"/>
                <a:ea typeface="华文中宋" panose="02010600040101010101" pitchFamily="2" charset="-122"/>
              </a:rPr>
              <a:t>族元素固态中键长和键角的趋势。</a:t>
            </a:r>
          </a:p>
        </p:txBody>
      </p:sp>
      <p:sp>
        <p:nvSpPr>
          <p:cNvPr id="3" name="文本框 2">
            <a:extLst>
              <a:ext uri="{FF2B5EF4-FFF2-40B4-BE49-F238E27FC236}">
                <a16:creationId xmlns:a16="http://schemas.microsoft.com/office/drawing/2014/main" id="{E144153A-C32A-4162-BCCE-464A9BE43ACD}"/>
              </a:ext>
            </a:extLst>
          </p:cNvPr>
          <p:cNvSpPr txBox="1"/>
          <p:nvPr/>
        </p:nvSpPr>
        <p:spPr>
          <a:xfrm>
            <a:off x="1" y="2558959"/>
            <a:ext cx="12192000" cy="1289777"/>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(e)</a:t>
            </a:r>
          </a:p>
          <a:p>
            <a:pPr>
              <a:lnSpc>
                <a:spcPct val="150000"/>
              </a:lnSpc>
            </a:pPr>
            <a:r>
              <a:rPr lang="zh-CN" altLang="en-US" b="1" dirty="0">
                <a:solidFill>
                  <a:schemeClr val="accent2">
                    <a:lumMod val="75000"/>
                  </a:schemeClr>
                </a:solidFill>
                <a:latin typeface="华文中宋" panose="02010600040101010101" pitchFamily="2" charset="-122"/>
                <a:ea typeface="华文中宋" panose="02010600040101010101" pitchFamily="2" charset="-122"/>
                <a:sym typeface="Wingdings" panose="05000000000000000000" pitchFamily="2" charset="2"/>
              </a:rPr>
              <a:t>由于向下移动族时找到的轨道变得更大，因此键长变长，这是由于轨道之间的重叠变差</a:t>
            </a:r>
            <a:r>
              <a:rPr lang="zh-CN" altLang="en-US" dirty="0">
                <a:latin typeface="华文中宋" panose="02010600040101010101" pitchFamily="2" charset="-122"/>
                <a:ea typeface="华文中宋" panose="02010600040101010101" pitchFamily="2" charset="-122"/>
                <a:sym typeface="Wingdings" panose="05000000000000000000" pitchFamily="2" charset="2"/>
              </a:rPr>
              <a:t>。键角变得更加尖锐，可将其解释为在形成键时使用的杂化轨道中</a:t>
            </a:r>
            <a:r>
              <a:rPr lang="en-US" altLang="zh-CN" dirty="0">
                <a:latin typeface="华文中宋" panose="02010600040101010101" pitchFamily="2" charset="-122"/>
                <a:ea typeface="华文中宋" panose="02010600040101010101" pitchFamily="2" charset="-122"/>
                <a:sym typeface="Wingdings" panose="05000000000000000000" pitchFamily="2" charset="2"/>
              </a:rPr>
              <a:t>s-</a:t>
            </a:r>
            <a:r>
              <a:rPr lang="zh-CN" altLang="en-US" dirty="0">
                <a:latin typeface="华文中宋" panose="02010600040101010101" pitchFamily="2" charset="-122"/>
                <a:ea typeface="华文中宋" panose="02010600040101010101" pitchFamily="2" charset="-122"/>
                <a:sym typeface="Wingdings" panose="05000000000000000000" pitchFamily="2" charset="2"/>
              </a:rPr>
              <a:t>性质程度的减少。</a:t>
            </a:r>
            <a:endParaRPr lang="zh-CN" altLang="en-US"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903A4578-9AD6-4CAC-B92A-35B32BF5E7C8}"/>
              </a:ext>
            </a:extLst>
          </p:cNvPr>
          <p:cNvPicPr>
            <a:picLocks noChangeAspect="1"/>
          </p:cNvPicPr>
          <p:nvPr/>
        </p:nvPicPr>
        <p:blipFill>
          <a:blip r:embed="rId3"/>
          <a:stretch>
            <a:fillRect/>
          </a:stretch>
        </p:blipFill>
        <p:spPr>
          <a:xfrm>
            <a:off x="5903437" y="1547876"/>
            <a:ext cx="6144482" cy="1114581"/>
          </a:xfrm>
          <a:prstGeom prst="rect">
            <a:avLst/>
          </a:prstGeom>
          <a:ln>
            <a:solidFill>
              <a:schemeClr val="accent1"/>
            </a:solidFill>
          </a:ln>
        </p:spPr>
      </p:pic>
    </p:spTree>
    <p:extLst>
      <p:ext uri="{BB962C8B-B14F-4D97-AF65-F5344CB8AC3E}">
        <p14:creationId xmlns:p14="http://schemas.microsoft.com/office/powerpoint/2010/main" val="62087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536272"/>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(a) (R</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和环状化合物</a:t>
            </a:r>
            <a:r>
              <a:rPr lang="en-US" altLang="zh-CN" dirty="0">
                <a:latin typeface="华文中宋" panose="02010600040101010101" pitchFamily="2" charset="-122"/>
                <a:ea typeface="华文中宋" panose="02010600040101010101" pitchFamily="2" charset="-122"/>
              </a:rPr>
              <a:t>(R</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Si)</a:t>
            </a:r>
            <a:r>
              <a:rPr lang="en-US" altLang="zh-CN" baseline="-25000"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键长分别为</a:t>
            </a:r>
            <a:r>
              <a:rPr lang="en-US" altLang="zh-CN" dirty="0">
                <a:latin typeface="华文中宋" panose="02010600040101010101" pitchFamily="2" charset="-122"/>
                <a:ea typeface="华文中宋" panose="02010600040101010101" pitchFamily="2" charset="-122"/>
              </a:rPr>
              <a:t>2.14 Å</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2.40 Å</a:t>
            </a:r>
            <a:r>
              <a:rPr lang="zh-CN" altLang="en-US" dirty="0">
                <a:latin typeface="华文中宋" panose="02010600040101010101" pitchFamily="2" charset="-122"/>
                <a:ea typeface="华文中宋" panose="02010600040101010101" pitchFamily="2" charset="-122"/>
              </a:rPr>
              <a:t>。绘制这两种化合物的结构，并评论每种化合物中的</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键阶数。 </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提出为什么自然界中的碳可能存在于两种同素异形体中，而硅只存在一种同素异形体，其中</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2.35 Å</a:t>
            </a:r>
            <a:r>
              <a:rPr lang="zh-CN" altLang="en-US" dirty="0">
                <a:latin typeface="华文中宋" panose="02010600040101010101" pitchFamily="2" charset="-122"/>
                <a:ea typeface="华文中宋" panose="02010600040101010101" pitchFamily="2" charset="-122"/>
              </a:rPr>
              <a:t>。 </a:t>
            </a: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石墨、金刚石和硅的标准升华焓分别为</a:t>
            </a:r>
            <a:r>
              <a:rPr lang="en-US" altLang="zh-CN" dirty="0">
                <a:latin typeface="华文中宋" panose="02010600040101010101" pitchFamily="2" charset="-122"/>
                <a:ea typeface="华文中宋" panose="02010600040101010101" pitchFamily="2" charset="-122"/>
              </a:rPr>
              <a:t>715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710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456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。对这些值进行评论。</a:t>
            </a:r>
          </a:p>
          <a:p>
            <a:pPr algn="just">
              <a:lnSpc>
                <a:spcPct val="150000"/>
              </a:lnSpc>
            </a:pPr>
            <a:r>
              <a:rPr lang="en-US" altLang="zh-CN" dirty="0">
                <a:latin typeface="华文中宋" panose="02010600040101010101" pitchFamily="2" charset="-122"/>
                <a:ea typeface="华文中宋" panose="02010600040101010101" pitchFamily="2" charset="-122"/>
              </a:rPr>
              <a:t>(d) </a:t>
            </a:r>
            <a:r>
              <a:rPr lang="zh-CN" altLang="en-US" dirty="0">
                <a:latin typeface="华文中宋" panose="02010600040101010101" pitchFamily="2" charset="-122"/>
                <a:ea typeface="华文中宋" panose="02010600040101010101" pitchFamily="2" charset="-122"/>
              </a:rPr>
              <a:t>解释为什么硅是一种半导体，而金刚石是一种电绝缘体。</a:t>
            </a:r>
          </a:p>
          <a:p>
            <a:pPr algn="just">
              <a:lnSpc>
                <a:spcPct val="150000"/>
              </a:lnSpc>
            </a:pPr>
            <a:r>
              <a:rPr lang="en-US" altLang="zh-CN" dirty="0">
                <a:latin typeface="华文中宋" panose="02010600040101010101" pitchFamily="2" charset="-122"/>
                <a:ea typeface="华文中宋" panose="02010600040101010101" pitchFamily="2" charset="-122"/>
              </a:rPr>
              <a:t>(e) </a:t>
            </a:r>
            <a:r>
              <a:rPr lang="zh-CN" altLang="en-US" dirty="0">
                <a:latin typeface="华文中宋" panose="02010600040101010101" pitchFamily="2" charset="-122"/>
                <a:ea typeface="华文中宋" panose="02010600040101010101" pitchFamily="2" charset="-122"/>
              </a:rPr>
              <a:t>解释为什么在加热硅时加入少量砷会导致一种具有比纯硅更高电导率的新材料。</a:t>
            </a:r>
          </a:p>
        </p:txBody>
      </p:sp>
    </p:spTree>
    <p:extLst>
      <p:ext uri="{BB962C8B-B14F-4D97-AF65-F5344CB8AC3E}">
        <p14:creationId xmlns:p14="http://schemas.microsoft.com/office/powerpoint/2010/main" val="2164930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874278"/>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(a) (R</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和环状化合物</a:t>
            </a:r>
            <a:r>
              <a:rPr lang="en-US" altLang="zh-CN" dirty="0">
                <a:latin typeface="华文中宋" panose="02010600040101010101" pitchFamily="2" charset="-122"/>
                <a:ea typeface="华文中宋" panose="02010600040101010101" pitchFamily="2" charset="-122"/>
              </a:rPr>
              <a:t>(R</a:t>
            </a:r>
            <a:r>
              <a:rPr lang="en-US" altLang="zh-CN" baseline="-25000" dirty="0">
                <a:latin typeface="华文中宋" panose="02010600040101010101" pitchFamily="2" charset="-122"/>
                <a:ea typeface="华文中宋" panose="02010600040101010101" pitchFamily="2" charset="-122"/>
              </a:rPr>
              <a:t>2</a:t>
            </a:r>
            <a:r>
              <a:rPr lang="en-US" altLang="zh-CN" dirty="0">
                <a:latin typeface="华文中宋" panose="02010600040101010101" pitchFamily="2" charset="-122"/>
                <a:ea typeface="华文中宋" panose="02010600040101010101" pitchFamily="2" charset="-122"/>
              </a:rPr>
              <a:t>Si)</a:t>
            </a:r>
            <a:r>
              <a:rPr lang="en-US" altLang="zh-CN" baseline="-25000"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键长分别为</a:t>
            </a:r>
            <a:r>
              <a:rPr lang="en-US" altLang="zh-CN" dirty="0">
                <a:latin typeface="华文中宋" panose="02010600040101010101" pitchFamily="2" charset="-122"/>
                <a:ea typeface="华文中宋" panose="02010600040101010101" pitchFamily="2" charset="-122"/>
              </a:rPr>
              <a:t>2.14 Å</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2.40 Å</a:t>
            </a:r>
            <a:r>
              <a:rPr lang="zh-CN" altLang="en-US" dirty="0">
                <a:latin typeface="华文中宋" panose="02010600040101010101" pitchFamily="2" charset="-122"/>
                <a:ea typeface="华文中宋" panose="02010600040101010101" pitchFamily="2" charset="-122"/>
              </a:rPr>
              <a:t>。绘制这两种化合物的结构，并评论每种化合物中的</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键阶数。 </a:t>
            </a:r>
            <a:endParaRPr lang="en-US" altLang="zh-CN"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4DB7CFDD-1FB4-41A7-806A-78D394717C84}"/>
              </a:ext>
            </a:extLst>
          </p:cNvPr>
          <p:cNvSpPr txBox="1"/>
          <p:nvPr/>
        </p:nvSpPr>
        <p:spPr>
          <a:xfrm>
            <a:off x="1" y="1235123"/>
            <a:ext cx="12192000" cy="874278"/>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 (a) </a:t>
            </a:r>
            <a:r>
              <a:rPr lang="zh-CN" altLang="en-US" dirty="0">
                <a:latin typeface="华文中宋" panose="02010600040101010101" pitchFamily="2" charset="-122"/>
                <a:ea typeface="华文中宋" panose="02010600040101010101" pitchFamily="2" charset="-122"/>
                <a:sym typeface="Wingdings" panose="05000000000000000000" pitchFamily="2" charset="2"/>
              </a:rPr>
              <a:t>在第一个化合物中，有一个</a:t>
            </a:r>
            <a:r>
              <a:rPr lang="en-US" altLang="zh-CN" dirty="0">
                <a:latin typeface="华文中宋" panose="02010600040101010101" pitchFamily="2" charset="-122"/>
                <a:ea typeface="华文中宋" panose="02010600040101010101" pitchFamily="2" charset="-122"/>
                <a:sym typeface="Wingdings" panose="05000000000000000000" pitchFamily="2" charset="2"/>
              </a:rPr>
              <a:t>Si=Si</a:t>
            </a:r>
            <a:r>
              <a:rPr lang="zh-CN" altLang="en-US" dirty="0">
                <a:latin typeface="华文中宋" panose="02010600040101010101" pitchFamily="2" charset="-122"/>
                <a:ea typeface="华文中宋" panose="02010600040101010101" pitchFamily="2" charset="-122"/>
                <a:sym typeface="Wingdings" panose="05000000000000000000" pitchFamily="2" charset="2"/>
              </a:rPr>
              <a:t>双键，而在第二个化合物中，有</a:t>
            </a:r>
            <a:r>
              <a:rPr lang="en-US" altLang="zh-CN" dirty="0">
                <a:latin typeface="华文中宋" panose="02010600040101010101" pitchFamily="2" charset="-122"/>
                <a:ea typeface="华文中宋" panose="02010600040101010101" pitchFamily="2" charset="-122"/>
                <a:sym typeface="Wingdings" panose="05000000000000000000" pitchFamily="2" charset="2"/>
              </a:rPr>
              <a:t>Si–Si</a:t>
            </a:r>
            <a:r>
              <a:rPr lang="zh-CN" altLang="en-US" dirty="0">
                <a:latin typeface="华文中宋" panose="02010600040101010101" pitchFamily="2" charset="-122"/>
                <a:ea typeface="华文中宋" panose="02010600040101010101" pitchFamily="2" charset="-122"/>
                <a:sym typeface="Wingdings" panose="05000000000000000000" pitchFamily="2" charset="2"/>
              </a:rPr>
              <a:t>单键。给定的键长数据与此相符，双键较短。</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pic>
        <p:nvPicPr>
          <p:cNvPr id="5" name="图片 4">
            <a:extLst>
              <a:ext uri="{FF2B5EF4-FFF2-40B4-BE49-F238E27FC236}">
                <a16:creationId xmlns:a16="http://schemas.microsoft.com/office/drawing/2014/main" id="{942C281A-AE3C-43D4-8CF2-A00D0CE7982F}"/>
              </a:ext>
            </a:extLst>
          </p:cNvPr>
          <p:cNvPicPr>
            <a:picLocks noChangeAspect="1"/>
          </p:cNvPicPr>
          <p:nvPr/>
        </p:nvPicPr>
        <p:blipFill>
          <a:blip r:embed="rId3"/>
          <a:stretch>
            <a:fillRect/>
          </a:stretch>
        </p:blipFill>
        <p:spPr>
          <a:xfrm>
            <a:off x="3723944" y="2495420"/>
            <a:ext cx="4744112" cy="1867161"/>
          </a:xfrm>
          <a:prstGeom prst="rect">
            <a:avLst/>
          </a:prstGeom>
          <a:ln>
            <a:solidFill>
              <a:schemeClr val="accent1"/>
            </a:solidFill>
          </a:ln>
        </p:spPr>
      </p:pic>
    </p:spTree>
    <p:extLst>
      <p:ext uri="{BB962C8B-B14F-4D97-AF65-F5344CB8AC3E}">
        <p14:creationId xmlns:p14="http://schemas.microsoft.com/office/powerpoint/2010/main" val="382237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45878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(b) </a:t>
            </a:r>
            <a:r>
              <a:rPr lang="zh-CN" altLang="en-US" dirty="0">
                <a:latin typeface="华文中宋" panose="02010600040101010101" pitchFamily="2" charset="-122"/>
                <a:ea typeface="华文中宋" panose="02010600040101010101" pitchFamily="2" charset="-122"/>
              </a:rPr>
              <a:t>提出为什么自然界中的碳可能存在于两种同素异形体中，而硅只存在一种同素异形体，其中</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键长为</a:t>
            </a:r>
            <a:r>
              <a:rPr lang="en-US" altLang="zh-CN" dirty="0">
                <a:latin typeface="华文中宋" panose="02010600040101010101" pitchFamily="2" charset="-122"/>
                <a:ea typeface="华文中宋" panose="02010600040101010101" pitchFamily="2" charset="-122"/>
              </a:rPr>
              <a:t>2.35 Å</a:t>
            </a:r>
            <a:r>
              <a:rPr lang="zh-CN" altLang="en-US"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4DB7CFDD-1FB4-41A7-806A-78D394717C84}"/>
              </a:ext>
            </a:extLst>
          </p:cNvPr>
          <p:cNvSpPr txBox="1"/>
          <p:nvPr/>
        </p:nvSpPr>
        <p:spPr>
          <a:xfrm>
            <a:off x="1" y="1235123"/>
            <a:ext cx="12192000" cy="2951770"/>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(b)</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自然界中的碳可以存在于两种同素异形体中，即金刚石和石墨。</a:t>
            </a:r>
            <a:r>
              <a:rPr lang="zh-CN" altLang="en-US" b="1" dirty="0">
                <a:solidFill>
                  <a:schemeClr val="accent2">
                    <a:lumMod val="75000"/>
                  </a:schemeClr>
                </a:solidFill>
                <a:latin typeface="华文中宋" panose="02010600040101010101" pitchFamily="2" charset="-122"/>
                <a:ea typeface="华文中宋" panose="02010600040101010101" pitchFamily="2" charset="-122"/>
                <a:sym typeface="Wingdings" panose="05000000000000000000" pitchFamily="2" charset="2"/>
              </a:rPr>
              <a:t>这是因为碳原子具有构成不同晶体结构的能力</a:t>
            </a:r>
            <a:r>
              <a:rPr lang="zh-CN" altLang="en-US" dirty="0">
                <a:latin typeface="华文中宋" panose="02010600040101010101" pitchFamily="2" charset="-122"/>
                <a:ea typeface="华文中宋" panose="02010600040101010101" pitchFamily="2" charset="-122"/>
                <a:sym typeface="Wingdings" panose="05000000000000000000" pitchFamily="2" charset="2"/>
              </a:rPr>
              <a:t>。在金刚石中，碳原子以</a:t>
            </a:r>
            <a:r>
              <a:rPr lang="en-US" altLang="zh-CN"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sp</a:t>
            </a:r>
            <a:r>
              <a:rPr lang="en-US" altLang="zh-CN" b="1" baseline="30000"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3</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杂化形式形成四面体结构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，其中每个碳原子与四个相邻的碳原子形成共价键。而在石墨中，碳原子以</a:t>
            </a:r>
            <a:r>
              <a:rPr lang="en-US" altLang="zh-CN" b="1" dirty="0">
                <a:solidFill>
                  <a:srgbClr val="7F3517"/>
                </a:solidFill>
                <a:latin typeface="华文中宋" panose="02010600040101010101" pitchFamily="2" charset="-122"/>
                <a:ea typeface="华文中宋" panose="02010600040101010101" pitchFamily="2" charset="-122"/>
                <a:sym typeface="Wingdings" panose="05000000000000000000" pitchFamily="2" charset="2"/>
              </a:rPr>
              <a:t>sp</a:t>
            </a:r>
            <a:r>
              <a:rPr lang="en-US" altLang="zh-CN" b="1" baseline="30000" dirty="0">
                <a:solidFill>
                  <a:srgbClr val="7F3517"/>
                </a:solidFill>
                <a:latin typeface="华文中宋" panose="02010600040101010101" pitchFamily="2" charset="-122"/>
                <a:ea typeface="华文中宋" panose="02010600040101010101" pitchFamily="2" charset="-122"/>
                <a:sym typeface="Wingdings" panose="05000000000000000000" pitchFamily="2" charset="2"/>
              </a:rPr>
              <a:t>2</a:t>
            </a:r>
            <a:r>
              <a:rPr lang="zh-CN" altLang="en-US" b="1" dirty="0">
                <a:solidFill>
                  <a:srgbClr val="7F3517"/>
                </a:solidFill>
                <a:latin typeface="华文中宋" panose="02010600040101010101" pitchFamily="2" charset="-122"/>
                <a:ea typeface="华文中宋" panose="02010600040101010101" pitchFamily="2" charset="-122"/>
                <a:sym typeface="Wingdings" panose="05000000000000000000" pitchFamily="2" charset="2"/>
              </a:rPr>
              <a:t>杂化形式形成六角环结构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，其中每个碳原子与三个相邻的碳原子形成共价键，并且层间存在弱的范德华力。</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然而，硅原子在自然界中只存在一种同素异形体，主要是由于其在固态下的结构稳定性。</a:t>
            </a:r>
            <a:r>
              <a:rPr lang="zh-CN" altLang="en-US"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硅晶体中的</a:t>
            </a:r>
            <a:r>
              <a:rPr lang="en-US" altLang="zh-CN"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Si-Si</a:t>
            </a:r>
            <a:r>
              <a:rPr lang="zh-CN" altLang="en-US"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键长为</a:t>
            </a:r>
            <a:r>
              <a:rPr lang="en-US" altLang="zh-CN"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2.35 Å</a:t>
            </a:r>
            <a:r>
              <a:rPr lang="zh-CN" altLang="en-US"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，这表明硅原子具有确定的结晶结构，其中每个硅原子通过共价键与邻近的硅原子形成三维晶格</a:t>
            </a:r>
            <a:r>
              <a:rPr lang="zh-CN" altLang="en-US" dirty="0">
                <a:latin typeface="华文中宋" panose="02010600040101010101" pitchFamily="2" charset="-122"/>
                <a:ea typeface="华文中宋" panose="02010600040101010101" pitchFamily="2" charset="-122"/>
                <a:sym typeface="Wingdings" panose="05000000000000000000" pitchFamily="2" charset="2"/>
              </a:rPr>
              <a:t>。这种稳定的晶体结构限制了硅原子形成不同的同素异形体。</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214693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45878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(c) </a:t>
            </a:r>
            <a:r>
              <a:rPr lang="zh-CN" altLang="en-US" dirty="0">
                <a:latin typeface="华文中宋" panose="02010600040101010101" pitchFamily="2" charset="-122"/>
                <a:ea typeface="华文中宋" panose="02010600040101010101" pitchFamily="2" charset="-122"/>
              </a:rPr>
              <a:t>石墨、金刚石和硅的标准升华焓分别为</a:t>
            </a:r>
            <a:r>
              <a:rPr lang="en-US" altLang="zh-CN" dirty="0">
                <a:latin typeface="华文中宋" panose="02010600040101010101" pitchFamily="2" charset="-122"/>
                <a:ea typeface="华文中宋" panose="02010600040101010101" pitchFamily="2" charset="-122"/>
              </a:rPr>
              <a:t>715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710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456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。对这些值进行评论。</a:t>
            </a:r>
          </a:p>
        </p:txBody>
      </p:sp>
      <p:sp>
        <p:nvSpPr>
          <p:cNvPr id="3" name="文本框 2">
            <a:extLst>
              <a:ext uri="{FF2B5EF4-FFF2-40B4-BE49-F238E27FC236}">
                <a16:creationId xmlns:a16="http://schemas.microsoft.com/office/drawing/2014/main" id="{4DB7CFDD-1FB4-41A7-806A-78D394717C84}"/>
              </a:ext>
            </a:extLst>
          </p:cNvPr>
          <p:cNvSpPr txBox="1"/>
          <p:nvPr/>
        </p:nvSpPr>
        <p:spPr>
          <a:xfrm>
            <a:off x="1" y="1235123"/>
            <a:ext cx="12192000" cy="2536272"/>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p>
          <a:p>
            <a:pPr marL="342900" indent="-342900" algn="just">
              <a:lnSpc>
                <a:spcPct val="150000"/>
              </a:lnSpc>
              <a:buAutoNum type="arabicParenBoth"/>
            </a:pPr>
            <a:r>
              <a:rPr lang="zh-CN" altLang="en-US" dirty="0">
                <a:latin typeface="华文中宋" panose="02010600040101010101" pitchFamily="2" charset="-122"/>
                <a:ea typeface="华文中宋" panose="02010600040101010101" pitchFamily="2" charset="-122"/>
                <a:sym typeface="Wingdings" panose="05000000000000000000" pitchFamily="2" charset="2"/>
              </a:rPr>
              <a:t>石墨和金刚石中的键合比硅中的键合更强。这与一般趋势一致，即由于较大轨道之间的重叠较差，向下一个族移动时键的强度会减弱。</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marL="342900" indent="-342900">
              <a:lnSpc>
                <a:spcPct val="150000"/>
              </a:lnSpc>
              <a:buAutoNum type="arabicParenBoth"/>
            </a:pPr>
            <a:r>
              <a:rPr lang="zh-CN" altLang="en-US" dirty="0">
                <a:latin typeface="华文中宋" panose="02010600040101010101" pitchFamily="2" charset="-122"/>
                <a:ea typeface="华文中宋" panose="02010600040101010101" pitchFamily="2" charset="-122"/>
                <a:sym typeface="Wingdings" panose="05000000000000000000" pitchFamily="2" charset="2"/>
              </a:rPr>
              <a:t>石墨和金刚石的升华焓非常相似表明，每个碳原子具有四个</a:t>
            </a:r>
            <a:r>
              <a:rPr lang="en-US" altLang="zh-CN" dirty="0">
                <a:latin typeface="华文中宋" panose="02010600040101010101" pitchFamily="2" charset="-122"/>
                <a:ea typeface="华文中宋" panose="02010600040101010101" pitchFamily="2" charset="-122"/>
                <a:sym typeface="Wingdings" panose="05000000000000000000" pitchFamily="2" charset="2"/>
              </a:rPr>
              <a:t>σ</a:t>
            </a:r>
            <a:r>
              <a:rPr lang="zh-CN" altLang="en-US" dirty="0">
                <a:latin typeface="华文中宋" panose="02010600040101010101" pitchFamily="2" charset="-122"/>
                <a:ea typeface="华文中宋" panose="02010600040101010101" pitchFamily="2" charset="-122"/>
                <a:sym typeface="Wingdings" panose="05000000000000000000" pitchFamily="2" charset="2"/>
              </a:rPr>
              <a:t>键，或者每个碳原子具有三个</a:t>
            </a:r>
            <a:r>
              <a:rPr lang="en-US" altLang="zh-CN" dirty="0">
                <a:latin typeface="华文中宋" panose="02010600040101010101" pitchFamily="2" charset="-122"/>
                <a:ea typeface="华文中宋" panose="02010600040101010101" pitchFamily="2" charset="-122"/>
                <a:sym typeface="Wingdings" panose="05000000000000000000" pitchFamily="2" charset="2"/>
              </a:rPr>
              <a:t>σ</a:t>
            </a:r>
            <a:r>
              <a:rPr lang="zh-CN" altLang="en-US" dirty="0">
                <a:latin typeface="华文中宋" panose="02010600040101010101" pitchFamily="2" charset="-122"/>
                <a:ea typeface="华文中宋" panose="02010600040101010101" pitchFamily="2" charset="-122"/>
                <a:sym typeface="Wingdings" panose="05000000000000000000" pitchFamily="2" charset="2"/>
              </a:rPr>
              <a:t>键和一个</a:t>
            </a:r>
            <a:r>
              <a:rPr lang="en-US" altLang="zh-CN" dirty="0">
                <a:latin typeface="华文中宋" panose="02010600040101010101" pitchFamily="2" charset="-122"/>
                <a:ea typeface="华文中宋" panose="02010600040101010101" pitchFamily="2" charset="-122"/>
                <a:sym typeface="Wingdings" panose="05000000000000000000" pitchFamily="2" charset="2"/>
              </a:rPr>
              <a:t>π</a:t>
            </a:r>
            <a:r>
              <a:rPr lang="zh-CN" altLang="en-US" dirty="0">
                <a:latin typeface="华文中宋" panose="02010600040101010101" pitchFamily="2" charset="-122"/>
                <a:ea typeface="华文中宋" panose="02010600040101010101" pitchFamily="2" charset="-122"/>
                <a:sym typeface="Wingdings" panose="05000000000000000000" pitchFamily="2" charset="2"/>
              </a:rPr>
              <a:t>键，导致了相似的整体键合强度。这再次表明了碳的</a:t>
            </a:r>
            <a:r>
              <a:rPr lang="en-US" altLang="zh-CN" dirty="0">
                <a:latin typeface="华文中宋" panose="02010600040101010101" pitchFamily="2" charset="-122"/>
                <a:ea typeface="华文中宋" panose="02010600040101010101" pitchFamily="2" charset="-122"/>
                <a:sym typeface="Wingdings" panose="05000000000000000000" pitchFamily="2" charset="2"/>
              </a:rPr>
              <a:t>π</a:t>
            </a:r>
            <a:r>
              <a:rPr lang="zh-CN" altLang="en-US" dirty="0">
                <a:latin typeface="华文中宋" panose="02010600040101010101" pitchFamily="2" charset="-122"/>
                <a:ea typeface="华文中宋" panose="02010600040101010101" pitchFamily="2" charset="-122"/>
                <a:sym typeface="Wingdings" panose="05000000000000000000" pitchFamily="2" charset="2"/>
              </a:rPr>
              <a:t>键结合的强大。石墨的升华焓略高于金刚石的升华焓，表明前者中的键合略强。因此在室温下，</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zh-CN" altLang="en-US" dirty="0">
                <a:latin typeface="华文中宋" panose="02010600040101010101" pitchFamily="2" charset="-122"/>
                <a:ea typeface="华文中宋" panose="02010600040101010101" pitchFamily="2" charset="-122"/>
                <a:sym typeface="Wingdings" panose="05000000000000000000" pitchFamily="2" charset="2"/>
              </a:rPr>
              <a:t>的最稳定形式为石墨，而非金刚石。</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99134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45878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(d) </a:t>
            </a:r>
            <a:r>
              <a:rPr lang="zh-CN" altLang="en-US" dirty="0">
                <a:latin typeface="华文中宋" panose="02010600040101010101" pitchFamily="2" charset="-122"/>
                <a:ea typeface="华文中宋" panose="02010600040101010101" pitchFamily="2" charset="-122"/>
              </a:rPr>
              <a:t>解释为什么硅是一种半导体，而金刚石是一种电绝缘体。</a:t>
            </a:r>
          </a:p>
        </p:txBody>
      </p:sp>
      <p:sp>
        <p:nvSpPr>
          <p:cNvPr id="3" name="文本框 2">
            <a:extLst>
              <a:ext uri="{FF2B5EF4-FFF2-40B4-BE49-F238E27FC236}">
                <a16:creationId xmlns:a16="http://schemas.microsoft.com/office/drawing/2014/main" id="{4DB7CFDD-1FB4-41A7-806A-78D394717C84}"/>
              </a:ext>
            </a:extLst>
          </p:cNvPr>
          <p:cNvSpPr txBox="1"/>
          <p:nvPr/>
        </p:nvSpPr>
        <p:spPr>
          <a:xfrm>
            <a:off x="1" y="1235123"/>
            <a:ext cx="12192000" cy="3782767"/>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(d)</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硅是半导体：在晶体中，硅原子通过共价键形成大范围的晶格结构。在室温下，硅</a:t>
            </a:r>
            <a:r>
              <a:rPr lang="zh-CN" altLang="en-US" b="1" dirty="0">
                <a:solidFill>
                  <a:srgbClr val="23B323"/>
                </a:solidFill>
                <a:latin typeface="华文中宋" panose="02010600040101010101" pitchFamily="2" charset="-122"/>
                <a:ea typeface="华文中宋" panose="02010600040101010101" pitchFamily="2" charset="-122"/>
                <a:sym typeface="Wingdings" panose="05000000000000000000" pitchFamily="2" charset="2"/>
              </a:rPr>
              <a:t>处于半导体状态，其能带结构显示出一个带隙，即价带和导带之间的能隙</a:t>
            </a:r>
            <a:r>
              <a:rPr lang="zh-CN" altLang="en-US" dirty="0">
                <a:latin typeface="华文中宋" panose="02010600040101010101" pitchFamily="2" charset="-122"/>
                <a:ea typeface="华文中宋" panose="02010600040101010101" pitchFamily="2" charset="-122"/>
                <a:sym typeface="Wingdings" panose="05000000000000000000" pitchFamily="2" charset="2"/>
              </a:rPr>
              <a:t>。在纯净的硅中，这个能隙较大，电子需要一定的能量才能跃迁到导带中，因此硅表现出较高的电阻性。然而，当硅被掺杂时，例如加入少量的杂质（如砷），</a:t>
            </a:r>
            <a:r>
              <a:rPr lang="zh-CN" altLang="en-US" b="1" dirty="0">
                <a:solidFill>
                  <a:srgbClr val="718A22"/>
                </a:solidFill>
                <a:latin typeface="华文中宋" panose="02010600040101010101" pitchFamily="2" charset="-122"/>
                <a:ea typeface="华文中宋" panose="02010600040101010101" pitchFamily="2" charset="-122"/>
                <a:sym typeface="Wingdings" panose="05000000000000000000" pitchFamily="2" charset="2"/>
              </a:rPr>
              <a:t>会导致在能带结构中形成额外的能级，使得电子跃迁到导带中变得更容易，从而提高了硅的导电性</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金刚石是电绝缘体：</a:t>
            </a:r>
          </a:p>
          <a:p>
            <a:pPr>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金刚石的晶体结构由碳原子以</a:t>
            </a:r>
            <a:r>
              <a:rPr lang="en-US" altLang="zh-CN" dirty="0">
                <a:latin typeface="华文中宋" panose="02010600040101010101" pitchFamily="2" charset="-122"/>
                <a:ea typeface="华文中宋" panose="02010600040101010101" pitchFamily="2" charset="-122"/>
                <a:sym typeface="Wingdings" panose="05000000000000000000" pitchFamily="2" charset="2"/>
              </a:rPr>
              <a:t>sp</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3</a:t>
            </a:r>
            <a:r>
              <a:rPr lang="zh-CN" altLang="en-US" dirty="0">
                <a:latin typeface="华文中宋" panose="02010600040101010101" pitchFamily="2" charset="-122"/>
                <a:ea typeface="华文中宋" panose="02010600040101010101" pitchFamily="2" charset="-122"/>
                <a:sym typeface="Wingdings" panose="05000000000000000000" pitchFamily="2" charset="2"/>
              </a:rPr>
              <a:t>杂化形式形成的大范围三维晶格所组成，每个碳原子都与周围的四个碳原子形成共价键。</a:t>
            </a:r>
            <a:r>
              <a:rPr lang="zh-CN" altLang="en-US" b="1" dirty="0">
                <a:solidFill>
                  <a:srgbClr val="A74D25"/>
                </a:solidFill>
                <a:latin typeface="华文中宋" panose="02010600040101010101" pitchFamily="2" charset="-122"/>
                <a:ea typeface="华文中宋" panose="02010600040101010101" pitchFamily="2" charset="-122"/>
                <a:sym typeface="Wingdings" panose="05000000000000000000" pitchFamily="2" charset="2"/>
              </a:rPr>
              <a:t>由于其均匀、坚固的晶格结构，金刚石的能带结构显示出一个非常大的能隙，电子几乎无法跃迁到导带中</a:t>
            </a:r>
            <a:r>
              <a:rPr lang="zh-CN" altLang="en-US" dirty="0">
                <a:latin typeface="华文中宋" panose="02010600040101010101" pitchFamily="2" charset="-122"/>
                <a:ea typeface="华文中宋" panose="02010600040101010101" pitchFamily="2" charset="-122"/>
                <a:sym typeface="Wingdings" panose="05000000000000000000" pitchFamily="2" charset="2"/>
              </a:rPr>
              <a:t>，因此金刚石表现出极高的电阻性，被称为电绝缘体。</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41847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45878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9.6 (e) </a:t>
            </a:r>
            <a:r>
              <a:rPr lang="zh-CN" altLang="en-US" dirty="0">
                <a:latin typeface="华文中宋" panose="02010600040101010101" pitchFamily="2" charset="-122"/>
                <a:ea typeface="华文中宋" panose="02010600040101010101" pitchFamily="2" charset="-122"/>
              </a:rPr>
              <a:t>解释为什么在加热硅时加入少量砷会导致一种具有比纯硅更高电导率的新材料。</a:t>
            </a:r>
          </a:p>
        </p:txBody>
      </p:sp>
      <p:sp>
        <p:nvSpPr>
          <p:cNvPr id="3" name="文本框 2">
            <a:extLst>
              <a:ext uri="{FF2B5EF4-FFF2-40B4-BE49-F238E27FC236}">
                <a16:creationId xmlns:a16="http://schemas.microsoft.com/office/drawing/2014/main" id="{4DB7CFDD-1FB4-41A7-806A-78D394717C84}"/>
              </a:ext>
            </a:extLst>
          </p:cNvPr>
          <p:cNvSpPr txBox="1"/>
          <p:nvPr/>
        </p:nvSpPr>
        <p:spPr>
          <a:xfrm>
            <a:off x="1" y="1235123"/>
            <a:ext cx="12192000" cy="3782767"/>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(e)</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当在纯硅中加入少量砷（</a:t>
            </a:r>
            <a:r>
              <a:rPr lang="en-US" altLang="zh-CN" dirty="0">
                <a:latin typeface="华文中宋" panose="02010600040101010101" pitchFamily="2" charset="-122"/>
                <a:ea typeface="华文中宋" panose="02010600040101010101" pitchFamily="2" charset="-122"/>
                <a:sym typeface="Wingdings" panose="05000000000000000000" pitchFamily="2" charset="2"/>
              </a:rPr>
              <a:t>As</a:t>
            </a:r>
            <a:r>
              <a:rPr lang="zh-CN" altLang="en-US" dirty="0">
                <a:latin typeface="华文中宋" panose="02010600040101010101" pitchFamily="2" charset="-122"/>
                <a:ea typeface="华文中宋" panose="02010600040101010101" pitchFamily="2" charset="-122"/>
                <a:sym typeface="Wingdings" panose="05000000000000000000" pitchFamily="2" charset="2"/>
              </a:rPr>
              <a:t>）时，会产生一种新的材料，通常称为砷掺杂硅。这个过程被称为杂质掺杂，它可以显著改变硅的电导率。</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本征硅：纯硅（</a:t>
            </a:r>
            <a:r>
              <a:rPr lang="en-US" altLang="zh-CN" dirty="0">
                <a:latin typeface="华文中宋" panose="02010600040101010101" pitchFamily="2" charset="-122"/>
                <a:ea typeface="华文中宋" panose="02010600040101010101" pitchFamily="2" charset="-122"/>
                <a:sym typeface="Wingdings" panose="05000000000000000000" pitchFamily="2" charset="2"/>
              </a:rPr>
              <a:t>Si</a:t>
            </a:r>
            <a:r>
              <a:rPr lang="zh-CN" altLang="en-US" dirty="0">
                <a:latin typeface="华文中宋" panose="02010600040101010101" pitchFamily="2" charset="-122"/>
                <a:ea typeface="华文中宋" panose="02010600040101010101" pitchFamily="2" charset="-122"/>
                <a:sym typeface="Wingdings" panose="05000000000000000000" pitchFamily="2" charset="2"/>
              </a:rPr>
              <a:t>）是一种半导体材料，其晶体结构由硅原子通过共价键连接而成。在纯净的硅中，共价键非常紧密，电子被束缚在原子之间，无法自由移动。因此，纯硅的电导率很低。</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(3) </a:t>
            </a:r>
            <a:r>
              <a:rPr lang="zh-CN" altLang="en-US" dirty="0">
                <a:latin typeface="华文中宋" panose="02010600040101010101" pitchFamily="2" charset="-122"/>
                <a:ea typeface="华文中宋" panose="02010600040101010101" pitchFamily="2" charset="-122"/>
                <a:sym typeface="Wingdings" panose="05000000000000000000" pitchFamily="2" charset="2"/>
              </a:rPr>
              <a:t>砷掺杂硅：当少量砷原子掺入硅晶体时，它们取代了一部分硅原子的位置。</a:t>
            </a:r>
            <a:r>
              <a:rPr lang="zh-CN" altLang="en-US" b="1" dirty="0">
                <a:solidFill>
                  <a:srgbClr val="DF315A"/>
                </a:solidFill>
                <a:latin typeface="华文中宋" panose="02010600040101010101" pitchFamily="2" charset="-122"/>
                <a:ea typeface="华文中宋" panose="02010600040101010101" pitchFamily="2" charset="-122"/>
                <a:sym typeface="Wingdings" panose="05000000000000000000" pitchFamily="2" charset="2"/>
              </a:rPr>
              <a:t>砷原子的最外层有五个价电子，其中四个与相邻的硅原子形成共价键，但多出的一个电子不与其他原子形成共价键。这个额外的电子容易被激发，形成自由电子。</a:t>
            </a:r>
            <a:r>
              <a:rPr lang="zh-CN" altLang="en-US" dirty="0">
                <a:latin typeface="华文中宋" panose="02010600040101010101" pitchFamily="2" charset="-122"/>
                <a:ea typeface="华文中宋" panose="02010600040101010101" pitchFamily="2" charset="-122"/>
                <a:sym typeface="Wingdings" panose="05000000000000000000" pitchFamily="2" charset="2"/>
              </a:rPr>
              <a:t>这些自由电子可以在晶体中移动，从而增加了硅的电导率。砷掺杂硅被称为</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zh-CN" altLang="en-US" dirty="0">
                <a:latin typeface="华文中宋" panose="02010600040101010101" pitchFamily="2" charset="-122"/>
                <a:ea typeface="华文中宋" panose="02010600040101010101" pitchFamily="2" charset="-122"/>
                <a:sym typeface="Wingdings" panose="05000000000000000000" pitchFamily="2" charset="2"/>
              </a:rPr>
              <a:t>型半导体，其中自由电子是主要的载流子。</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287814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2120773"/>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9.7 </a:t>
            </a:r>
            <a:r>
              <a:rPr lang="zh-CN" altLang="en-US" dirty="0">
                <a:latin typeface="华文中宋" panose="02010600040101010101" pitchFamily="2" charset="-122"/>
                <a:ea typeface="华文中宋" panose="02010600040101010101" pitchFamily="2" charset="-122"/>
              </a:rPr>
              <a:t>在高温下，钙金属与硅反应生成经验式为</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的盐，与碳反应生成经验式为</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a:t>
            </a:r>
            <a:r>
              <a:rPr lang="en-US" altLang="zh-CN" dirty="0">
                <a:latin typeface="华文中宋" panose="02010600040101010101" pitchFamily="2" charset="-122"/>
                <a:ea typeface="华文中宋" panose="02010600040101010101" pitchFamily="2" charset="-122"/>
              </a:rPr>
              <a:t>X</a:t>
            </a:r>
            <a:r>
              <a:rPr lang="zh-CN" altLang="en-US" dirty="0">
                <a:latin typeface="华文中宋" panose="02010600040101010101" pitchFamily="2" charset="-122"/>
                <a:ea typeface="华文中宋" panose="02010600040101010101" pitchFamily="2" charset="-122"/>
              </a:rPr>
              <a:t>射线衍射揭示了这两种盐的结构非常不同：</a:t>
            </a:r>
            <a:r>
              <a:rPr lang="en-US" altLang="zh-CN" dirty="0">
                <a:latin typeface="华文中宋" panose="02010600040101010101" pitchFamily="2" charset="-122"/>
                <a:ea typeface="华文中宋" panose="02010600040101010101" pitchFamily="2" charset="-122"/>
              </a:rPr>
              <a:t>CaC2</a:t>
            </a:r>
            <a:r>
              <a:rPr lang="zh-CN" altLang="en-US" dirty="0">
                <a:latin typeface="华文中宋" panose="02010600040101010101" pitchFamily="2" charset="-122"/>
                <a:ea typeface="华文中宋" panose="02010600040101010101" pitchFamily="2" charset="-122"/>
              </a:rPr>
              <a:t>包含离散的</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离子，而在</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中，硅原子形成</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片，每个硅原子具有三个</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单键。</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哪个元素以与</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离子同核、同结构的形式存在？哪个元素以与</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片同核、同结构的形式存在？</a:t>
            </a: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为什么碳和硅离子的结构会有如此大的差异？</a:t>
            </a: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钙和硅也可以发生反应，形成经验式为</a:t>
            </a:r>
            <a:r>
              <a:rPr lang="en-US" altLang="zh-CN" dirty="0" err="1">
                <a:latin typeface="华文中宋" panose="02010600040101010101" pitchFamily="2" charset="-122"/>
                <a:ea typeface="华文中宋" panose="02010600040101010101" pitchFamily="2" charset="-122"/>
              </a:rPr>
              <a:t>CaSi</a:t>
            </a:r>
            <a:r>
              <a:rPr lang="zh-CN" altLang="en-US" dirty="0">
                <a:latin typeface="华文中宋" panose="02010600040101010101" pitchFamily="2" charset="-122"/>
                <a:ea typeface="华文中宋" panose="02010600040101010101" pitchFamily="2" charset="-122"/>
              </a:rPr>
              <a:t>的化合物，其结构被发现包含</a:t>
            </a:r>
            <a:r>
              <a:rPr lang="en-US" altLang="zh-CN" dirty="0">
                <a:latin typeface="华文中宋" panose="02010600040101010101" pitchFamily="2" charset="-122"/>
                <a:ea typeface="华文中宋" panose="02010600040101010101" pitchFamily="2" charset="-122"/>
              </a:rPr>
              <a:t>Si</a:t>
            </a:r>
            <a:r>
              <a:rPr lang="zh-CN" altLang="en-US" dirty="0">
                <a:latin typeface="华文中宋" panose="02010600040101010101" pitchFamily="2" charset="-122"/>
                <a:ea typeface="华文中宋" panose="02010600040101010101" pitchFamily="2" charset="-122"/>
              </a:rPr>
              <a:t>原子的螺旋链。如何解释这些链的结构？</a:t>
            </a:r>
          </a:p>
        </p:txBody>
      </p:sp>
    </p:spTree>
    <p:extLst>
      <p:ext uri="{BB962C8B-B14F-4D97-AF65-F5344CB8AC3E}">
        <p14:creationId xmlns:p14="http://schemas.microsoft.com/office/powerpoint/2010/main" val="3667213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28977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9.7 </a:t>
            </a:r>
            <a:r>
              <a:rPr lang="zh-CN" altLang="en-US" dirty="0">
                <a:latin typeface="华文中宋" panose="02010600040101010101" pitchFamily="2" charset="-122"/>
                <a:ea typeface="华文中宋" panose="02010600040101010101" pitchFamily="2" charset="-122"/>
              </a:rPr>
              <a:t>在高温下，钙金属与硅反应生成经验式为</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的盐，与碳反应生成经验式为</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a:t>
            </a:r>
            <a:r>
              <a:rPr lang="en-US" altLang="zh-CN" dirty="0">
                <a:latin typeface="华文中宋" panose="02010600040101010101" pitchFamily="2" charset="-122"/>
                <a:ea typeface="华文中宋" panose="02010600040101010101" pitchFamily="2" charset="-122"/>
              </a:rPr>
              <a:t>X</a:t>
            </a:r>
            <a:r>
              <a:rPr lang="zh-CN" altLang="en-US" dirty="0">
                <a:latin typeface="华文中宋" panose="02010600040101010101" pitchFamily="2" charset="-122"/>
                <a:ea typeface="华文中宋" panose="02010600040101010101" pitchFamily="2" charset="-122"/>
              </a:rPr>
              <a:t>射线衍射揭示了这两种盐的结构非常不同：</a:t>
            </a:r>
            <a:r>
              <a:rPr lang="en-US" altLang="zh-CN" dirty="0">
                <a:latin typeface="华文中宋" panose="02010600040101010101" pitchFamily="2" charset="-122"/>
                <a:ea typeface="华文中宋" panose="02010600040101010101" pitchFamily="2" charset="-122"/>
              </a:rPr>
              <a:t>CaC2</a:t>
            </a:r>
            <a:r>
              <a:rPr lang="zh-CN" altLang="en-US" dirty="0">
                <a:latin typeface="华文中宋" panose="02010600040101010101" pitchFamily="2" charset="-122"/>
                <a:ea typeface="华文中宋" panose="02010600040101010101" pitchFamily="2" charset="-122"/>
              </a:rPr>
              <a:t>包含离散的</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离子，而在</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中，硅原子形成</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片，每个硅原子具有三个</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单键。</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哪个元素以与</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离子同核、同结构的形式存在？哪个元素以与</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片同核、同结构的形式存在？</a:t>
            </a:r>
          </a:p>
        </p:txBody>
      </p:sp>
      <p:sp>
        <p:nvSpPr>
          <p:cNvPr id="3" name="文本框 2">
            <a:extLst>
              <a:ext uri="{FF2B5EF4-FFF2-40B4-BE49-F238E27FC236}">
                <a16:creationId xmlns:a16="http://schemas.microsoft.com/office/drawing/2014/main" id="{7940F808-B981-4E3A-98B7-01B0ED4F14FA}"/>
              </a:ext>
            </a:extLst>
          </p:cNvPr>
          <p:cNvSpPr txBox="1"/>
          <p:nvPr/>
        </p:nvSpPr>
        <p:spPr>
          <a:xfrm>
            <a:off x="1" y="1508079"/>
            <a:ext cx="12192000" cy="1705275"/>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(a)</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C</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中每个碳原子提供四个价电子，再加上</a:t>
            </a:r>
            <a:r>
              <a:rPr lang="en-US" altLang="zh-CN"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电荷带来的两个额外电子，总共有</a:t>
            </a:r>
            <a:r>
              <a:rPr lang="en-US" altLang="zh-CN" dirty="0">
                <a:latin typeface="华文中宋" panose="02010600040101010101" pitchFamily="2" charset="-122"/>
                <a:ea typeface="华文中宋" panose="02010600040101010101" pitchFamily="2" charset="-122"/>
                <a:sym typeface="Wingdings" panose="05000000000000000000" pitchFamily="2" charset="2"/>
              </a:rPr>
              <a:t>10</a:t>
            </a:r>
            <a:r>
              <a:rPr lang="zh-CN" altLang="en-US" dirty="0">
                <a:latin typeface="华文中宋" panose="02010600040101010101" pitchFamily="2" charset="-122"/>
                <a:ea typeface="华文中宋" panose="02010600040101010101" pitchFamily="2" charset="-122"/>
                <a:sym typeface="Wingdings" panose="05000000000000000000" pitchFamily="2" charset="2"/>
              </a:rPr>
              <a:t>个价电子。因此，它与</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（氮气分子）是等电子体。由于两者都是双原子分子，所以它也与</a:t>
            </a:r>
            <a:r>
              <a:rPr lang="en-US" altLang="zh-CN" dirty="0">
                <a:latin typeface="华文中宋" panose="02010600040101010101" pitchFamily="2" charset="-122"/>
                <a:ea typeface="华文中宋" panose="02010600040101010101" pitchFamily="2" charset="-122"/>
                <a:sym typeface="Wingdings" panose="05000000000000000000" pitchFamily="2" charset="2"/>
              </a:rPr>
              <a:t>N</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是同构的。</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r>
              <a:rPr lang="en-US" altLang="zh-CN" dirty="0">
                <a:latin typeface="华文中宋" panose="02010600040101010101" pitchFamily="2" charset="-122"/>
                <a:ea typeface="华文中宋" panose="02010600040101010101" pitchFamily="2" charset="-122"/>
                <a:sym typeface="Wingdings" panose="05000000000000000000" pitchFamily="2" charset="2"/>
              </a:rPr>
              <a:t>Si−’ </a:t>
            </a:r>
            <a:r>
              <a:rPr lang="zh-CN" altLang="en-US" dirty="0">
                <a:latin typeface="华文中宋" panose="02010600040101010101" pitchFamily="2" charset="-122"/>
                <a:ea typeface="华文中宋" panose="02010600040101010101" pitchFamily="2" charset="-122"/>
                <a:sym typeface="Wingdings" panose="05000000000000000000" pitchFamily="2" charset="2"/>
              </a:rPr>
              <a:t>具有五个价电子，其中四个来自硅，再加上一个额外的负电荷电子，这与下一个元素磷的价电子数量相同。</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281476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28977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9.7 </a:t>
            </a:r>
            <a:r>
              <a:rPr lang="zh-CN" altLang="en-US" dirty="0">
                <a:latin typeface="华文中宋" panose="02010600040101010101" pitchFamily="2" charset="-122"/>
                <a:ea typeface="华文中宋" panose="02010600040101010101" pitchFamily="2" charset="-122"/>
              </a:rPr>
              <a:t>在高温下，钙金属与硅反应生成经验式为</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的盐，与碳反应生成经验式为</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a:t>
            </a:r>
            <a:r>
              <a:rPr lang="en-US" altLang="zh-CN" dirty="0">
                <a:latin typeface="华文中宋" panose="02010600040101010101" pitchFamily="2" charset="-122"/>
                <a:ea typeface="华文中宋" panose="02010600040101010101" pitchFamily="2" charset="-122"/>
              </a:rPr>
              <a:t>X</a:t>
            </a:r>
            <a:r>
              <a:rPr lang="zh-CN" altLang="en-US" dirty="0">
                <a:latin typeface="华文中宋" panose="02010600040101010101" pitchFamily="2" charset="-122"/>
                <a:ea typeface="华文中宋" panose="02010600040101010101" pitchFamily="2" charset="-122"/>
              </a:rPr>
              <a:t>射线衍射揭示了这两种盐的结构非常不同：</a:t>
            </a:r>
            <a:r>
              <a:rPr lang="en-US" altLang="zh-CN" dirty="0">
                <a:latin typeface="华文中宋" panose="02010600040101010101" pitchFamily="2" charset="-122"/>
                <a:ea typeface="华文中宋" panose="02010600040101010101" pitchFamily="2" charset="-122"/>
              </a:rPr>
              <a:t>CaC2</a:t>
            </a:r>
            <a:r>
              <a:rPr lang="zh-CN" altLang="en-US" dirty="0">
                <a:latin typeface="华文中宋" panose="02010600040101010101" pitchFamily="2" charset="-122"/>
                <a:ea typeface="华文中宋" panose="02010600040101010101" pitchFamily="2" charset="-122"/>
              </a:rPr>
              <a:t>包含离散的</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离子，而在</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中，硅原子形成</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片，每个硅原子具有三个</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单键。</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为什么碳和硅离子的结构会有如此大的差异？</a:t>
            </a:r>
          </a:p>
        </p:txBody>
      </p:sp>
      <p:sp>
        <p:nvSpPr>
          <p:cNvPr id="3" name="文本框 2">
            <a:extLst>
              <a:ext uri="{FF2B5EF4-FFF2-40B4-BE49-F238E27FC236}">
                <a16:creationId xmlns:a16="http://schemas.microsoft.com/office/drawing/2014/main" id="{7940F808-B981-4E3A-98B7-01B0ED4F14FA}"/>
              </a:ext>
            </a:extLst>
          </p:cNvPr>
          <p:cNvSpPr txBox="1"/>
          <p:nvPr/>
        </p:nvSpPr>
        <p:spPr>
          <a:xfrm>
            <a:off x="1" y="1508079"/>
            <a:ext cx="12192000" cy="2120773"/>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(b)</a:t>
            </a:r>
          </a:p>
          <a:p>
            <a:pPr>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a:t>
            </a:r>
            <a:r>
              <a:rPr lang="zh-CN" altLang="en-US" dirty="0">
                <a:latin typeface="华文中宋" panose="02010600040101010101" pitchFamily="2" charset="-122"/>
                <a:ea typeface="华文中宋" panose="02010600040101010101" pitchFamily="2" charset="-122"/>
                <a:sym typeface="Wingdings" panose="05000000000000000000" pitchFamily="2" charset="2"/>
              </a:rPr>
              <a:t>有一个三键，而在</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sym typeface="Wingdings" panose="05000000000000000000" pitchFamily="2" charset="2"/>
              </a:rPr>
              <a:t>中每个 </a:t>
            </a:r>
            <a:r>
              <a:rPr lang="en-US" altLang="zh-CN" dirty="0">
                <a:latin typeface="华文中宋" panose="02010600040101010101" pitchFamily="2" charset="-122"/>
                <a:ea typeface="华文中宋" panose="02010600040101010101" pitchFamily="2" charset="-122"/>
                <a:sym typeface="Wingdings" panose="05000000000000000000" pitchFamily="2" charset="2"/>
              </a:rPr>
              <a:t>Si </a:t>
            </a:r>
            <a:r>
              <a:rPr lang="zh-CN" altLang="en-US" dirty="0">
                <a:latin typeface="华文中宋" panose="02010600040101010101" pitchFamily="2" charset="-122"/>
                <a:ea typeface="华文中宋" panose="02010600040101010101" pitchFamily="2" charset="-122"/>
                <a:sym typeface="Wingdings" panose="05000000000000000000" pitchFamily="2" charset="2"/>
              </a:rPr>
              <a:t>有三个单键。因此前者存在为一个离散的分子，而后者具有巨大的共价结构。</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第二周期的元素在形成多重键（</a:t>
            </a:r>
            <a:r>
              <a:rPr lang="en-US" altLang="zh-CN" dirty="0">
                <a:latin typeface="华文中宋" panose="02010600040101010101" pitchFamily="2" charset="-122"/>
                <a:ea typeface="华文中宋" panose="02010600040101010101" pitchFamily="2" charset="-122"/>
                <a:sym typeface="Wingdings" panose="05000000000000000000" pitchFamily="2" charset="2"/>
              </a:rPr>
              <a:t>π</a:t>
            </a:r>
            <a:r>
              <a:rPr lang="zh-CN" altLang="en-US" dirty="0">
                <a:latin typeface="华文中宋" panose="02010600040101010101" pitchFamily="2" charset="-122"/>
                <a:ea typeface="华文中宋" panose="02010600040101010101" pitchFamily="2" charset="-122"/>
                <a:sym typeface="Wingdings" panose="05000000000000000000" pitchFamily="2" charset="2"/>
              </a:rPr>
              <a:t>键）时较为常见，而后面周期的元素多重键不常见。这种差异归因于来自第二周期元素的较小的原子轨道（</a:t>
            </a:r>
            <a:r>
              <a:rPr lang="en-US" altLang="zh-CN" dirty="0">
                <a:latin typeface="华文中宋" panose="02010600040101010101" pitchFamily="2" charset="-122"/>
                <a:ea typeface="华文中宋" panose="02010600040101010101" pitchFamily="2" charset="-122"/>
                <a:sym typeface="Wingdings" panose="05000000000000000000" pitchFamily="2" charset="2"/>
              </a:rPr>
              <a:t>AOs</a:t>
            </a:r>
            <a:r>
              <a:rPr lang="zh-CN" altLang="en-US" dirty="0">
                <a:latin typeface="华文中宋" panose="02010600040101010101" pitchFamily="2" charset="-122"/>
                <a:ea typeface="华文中宋" panose="02010600040101010101" pitchFamily="2" charset="-122"/>
                <a:sym typeface="Wingdings" panose="05000000000000000000" pitchFamily="2" charset="2"/>
              </a:rPr>
              <a:t>）更好的重叠，这一特征似对</a:t>
            </a:r>
            <a:r>
              <a:rPr lang="en-US" altLang="zh-CN" dirty="0">
                <a:latin typeface="华文中宋" panose="02010600040101010101" pitchFamily="2" charset="-122"/>
                <a:ea typeface="华文中宋" panose="02010600040101010101" pitchFamily="2" charset="-122"/>
                <a:sym typeface="Wingdings" panose="05000000000000000000" pitchFamily="2" charset="2"/>
              </a:rPr>
              <a:t>π</a:t>
            </a:r>
            <a:r>
              <a:rPr lang="zh-CN" altLang="en-US" dirty="0">
                <a:latin typeface="华文中宋" panose="02010600040101010101" pitchFamily="2" charset="-122"/>
                <a:ea typeface="华文中宋" panose="02010600040101010101" pitchFamily="2" charset="-122"/>
                <a:sym typeface="Wingdings" panose="05000000000000000000" pitchFamily="2" charset="2"/>
              </a:rPr>
              <a:t>键的形成有特别强烈的影响。</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290236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128977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9.7 </a:t>
            </a:r>
            <a:r>
              <a:rPr lang="zh-CN" altLang="en-US" dirty="0">
                <a:latin typeface="华文中宋" panose="02010600040101010101" pitchFamily="2" charset="-122"/>
                <a:ea typeface="华文中宋" panose="02010600040101010101" pitchFamily="2" charset="-122"/>
              </a:rPr>
              <a:t>在高温下，钙金属与硅反应生成经验式为</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的盐，与碳反应生成经验式为</a:t>
            </a:r>
            <a:r>
              <a:rPr lang="en-US" altLang="zh-CN" dirty="0">
                <a:latin typeface="华文中宋" panose="02010600040101010101" pitchFamily="2" charset="-122"/>
                <a:ea typeface="华文中宋" panose="02010600040101010101" pitchFamily="2" charset="-122"/>
              </a:rPr>
              <a:t>CaC</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的盐。</a:t>
            </a:r>
            <a:r>
              <a:rPr lang="en-US" altLang="zh-CN" dirty="0">
                <a:latin typeface="华文中宋" panose="02010600040101010101" pitchFamily="2" charset="-122"/>
                <a:ea typeface="华文中宋" panose="02010600040101010101" pitchFamily="2" charset="-122"/>
              </a:rPr>
              <a:t>X</a:t>
            </a:r>
            <a:r>
              <a:rPr lang="zh-CN" altLang="en-US" dirty="0">
                <a:latin typeface="华文中宋" panose="02010600040101010101" pitchFamily="2" charset="-122"/>
                <a:ea typeface="华文中宋" panose="02010600040101010101" pitchFamily="2" charset="-122"/>
              </a:rPr>
              <a:t>射线衍射揭示了这两种盐的结构非常不同：</a:t>
            </a:r>
            <a:r>
              <a:rPr lang="en-US" altLang="zh-CN" dirty="0">
                <a:latin typeface="华文中宋" panose="02010600040101010101" pitchFamily="2" charset="-122"/>
                <a:ea typeface="华文中宋" panose="02010600040101010101" pitchFamily="2" charset="-122"/>
              </a:rPr>
              <a:t>CaC2</a:t>
            </a:r>
            <a:r>
              <a:rPr lang="zh-CN" altLang="en-US" dirty="0">
                <a:latin typeface="华文中宋" panose="02010600040101010101" pitchFamily="2" charset="-122"/>
                <a:ea typeface="华文中宋" panose="02010600040101010101" pitchFamily="2" charset="-122"/>
              </a:rPr>
              <a:t>包含离散的</a:t>
            </a:r>
            <a:r>
              <a:rPr lang="en-US" altLang="zh-CN" dirty="0">
                <a:latin typeface="华文中宋" panose="02010600040101010101" pitchFamily="2" charset="-122"/>
                <a:ea typeface="华文中宋" panose="02010600040101010101" pitchFamily="2" charset="-122"/>
              </a:rPr>
              <a:t>C</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离子，而在</a:t>
            </a:r>
            <a:r>
              <a:rPr lang="en-US" altLang="zh-CN" dirty="0">
                <a:latin typeface="华文中宋" panose="02010600040101010101" pitchFamily="2" charset="-122"/>
                <a:ea typeface="华文中宋" panose="02010600040101010101" pitchFamily="2" charset="-122"/>
              </a:rPr>
              <a:t>CaSi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中，硅原子形成</a:t>
            </a:r>
            <a:r>
              <a:rPr lang="en-US" altLang="zh-CN" dirty="0">
                <a:latin typeface="华文中宋" panose="02010600040101010101" pitchFamily="2" charset="-122"/>
                <a:ea typeface="华文中宋" panose="02010600040101010101" pitchFamily="2" charset="-122"/>
              </a:rPr>
              <a:t>(Si</a:t>
            </a:r>
            <a:r>
              <a:rPr lang="en-US" altLang="zh-CN" baseline="30000"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a:t>
            </a:r>
            <a:r>
              <a:rPr lang="en-US" altLang="zh-CN" baseline="-25000"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片，每个硅原子具有三个</a:t>
            </a:r>
            <a:r>
              <a:rPr lang="en-US" altLang="zh-CN" dirty="0">
                <a:latin typeface="华文中宋" panose="02010600040101010101" pitchFamily="2" charset="-122"/>
                <a:ea typeface="华文中宋" panose="02010600040101010101" pitchFamily="2" charset="-122"/>
              </a:rPr>
              <a:t>Si–Si</a:t>
            </a:r>
            <a:r>
              <a:rPr lang="zh-CN" altLang="en-US" dirty="0">
                <a:latin typeface="华文中宋" panose="02010600040101010101" pitchFamily="2" charset="-122"/>
                <a:ea typeface="华文中宋" panose="02010600040101010101" pitchFamily="2" charset="-122"/>
              </a:rPr>
              <a:t>单键。</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钙和硅也可以发生反应，形成经验式为</a:t>
            </a:r>
            <a:r>
              <a:rPr lang="en-US" altLang="zh-CN" dirty="0" err="1">
                <a:latin typeface="华文中宋" panose="02010600040101010101" pitchFamily="2" charset="-122"/>
                <a:ea typeface="华文中宋" panose="02010600040101010101" pitchFamily="2" charset="-122"/>
              </a:rPr>
              <a:t>CaSi</a:t>
            </a:r>
            <a:r>
              <a:rPr lang="zh-CN" altLang="en-US" dirty="0">
                <a:latin typeface="华文中宋" panose="02010600040101010101" pitchFamily="2" charset="-122"/>
                <a:ea typeface="华文中宋" panose="02010600040101010101" pitchFamily="2" charset="-122"/>
              </a:rPr>
              <a:t>的化合物，其结构被发现包含</a:t>
            </a:r>
            <a:r>
              <a:rPr lang="en-US" altLang="zh-CN" dirty="0">
                <a:latin typeface="华文中宋" panose="02010600040101010101" pitchFamily="2" charset="-122"/>
                <a:ea typeface="华文中宋" panose="02010600040101010101" pitchFamily="2" charset="-122"/>
              </a:rPr>
              <a:t>Si</a:t>
            </a:r>
            <a:r>
              <a:rPr lang="zh-CN" altLang="en-US" dirty="0">
                <a:latin typeface="华文中宋" panose="02010600040101010101" pitchFamily="2" charset="-122"/>
                <a:ea typeface="华文中宋" panose="02010600040101010101" pitchFamily="2" charset="-122"/>
              </a:rPr>
              <a:t>原子的螺旋链。如何解释这些链的结构？</a:t>
            </a:r>
          </a:p>
        </p:txBody>
      </p:sp>
      <p:sp>
        <p:nvSpPr>
          <p:cNvPr id="3" name="文本框 2">
            <a:extLst>
              <a:ext uri="{FF2B5EF4-FFF2-40B4-BE49-F238E27FC236}">
                <a16:creationId xmlns:a16="http://schemas.microsoft.com/office/drawing/2014/main" id="{7940F808-B981-4E3A-98B7-01B0ED4F14FA}"/>
              </a:ext>
            </a:extLst>
          </p:cNvPr>
          <p:cNvSpPr txBox="1"/>
          <p:nvPr/>
        </p:nvSpPr>
        <p:spPr>
          <a:xfrm>
            <a:off x="1" y="1508079"/>
            <a:ext cx="12192000" cy="2536272"/>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鉴于钙在盐类中通常以</a:t>
            </a:r>
            <a:r>
              <a:rPr lang="en-US" altLang="zh-CN" dirty="0">
                <a:latin typeface="华文中宋" panose="02010600040101010101" pitchFamily="2" charset="-122"/>
                <a:ea typeface="华文中宋" panose="02010600040101010101" pitchFamily="2" charset="-122"/>
                <a:sym typeface="Wingdings" panose="05000000000000000000" pitchFamily="2" charset="2"/>
              </a:rPr>
              <a:t>Ca</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的形式出现，我们可以合理推测这种化合物包含</a:t>
            </a:r>
            <a:r>
              <a:rPr lang="en-US" altLang="zh-CN" dirty="0">
                <a:latin typeface="华文中宋" panose="02010600040101010101" pitchFamily="2" charset="-122"/>
                <a:ea typeface="华文中宋" panose="02010600040101010101" pitchFamily="2" charset="-122"/>
                <a:sym typeface="Wingdings" panose="05000000000000000000" pitchFamily="2" charset="2"/>
              </a:rPr>
              <a:t>Ca</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和</a:t>
            </a:r>
            <a:r>
              <a:rPr lang="en-US" altLang="zh-CN" dirty="0">
                <a:latin typeface="华文中宋" panose="02010600040101010101" pitchFamily="2" charset="-122"/>
                <a:ea typeface="华文中宋" panose="02010600040101010101" pitchFamily="2" charset="-122"/>
                <a:sym typeface="Wingdings" panose="05000000000000000000" pitchFamily="2" charset="2"/>
              </a:rPr>
              <a:t>Si</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。这并不意味着我们必然有离散的</a:t>
            </a:r>
            <a:r>
              <a:rPr lang="en-US" altLang="zh-CN" dirty="0">
                <a:latin typeface="华文中宋" panose="02010600040101010101" pitchFamily="2" charset="-122"/>
                <a:ea typeface="华文中宋" panose="02010600040101010101" pitchFamily="2" charset="-122"/>
                <a:sym typeface="Wingdings" panose="05000000000000000000" pitchFamily="2" charset="2"/>
              </a:rPr>
              <a:t>Si</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阴离子：而是意味着在结构中每个硅原子有两个额外的电子。</a:t>
            </a:r>
            <a:r>
              <a:rPr lang="en-US" altLang="zh-CN"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Si</a:t>
            </a:r>
            <a:r>
              <a:rPr lang="en-US" altLang="zh-CN" b="1" baseline="30000"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2−</a:t>
            </a:r>
            <a:r>
              <a:rPr lang="zh-CN" altLang="en-US"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有六个价电子，使其与硫同电子结构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。第</a:t>
            </a:r>
            <a:r>
              <a:rPr lang="en-US" altLang="zh-CN" dirty="0">
                <a:latin typeface="华文中宋" panose="02010600040101010101" pitchFamily="2" charset="-122"/>
                <a:ea typeface="华文中宋" panose="02010600040101010101" pitchFamily="2" charset="-122"/>
                <a:sym typeface="Wingdings" panose="05000000000000000000" pitchFamily="2" charset="2"/>
              </a:rPr>
              <a:t>16</a:t>
            </a:r>
            <a:r>
              <a:rPr lang="zh-CN" altLang="en-US" dirty="0">
                <a:latin typeface="华文中宋" panose="02010600040101010101" pitchFamily="2" charset="-122"/>
                <a:ea typeface="华文中宋" panose="02010600040101010101" pitchFamily="2" charset="-122"/>
                <a:sym typeface="Wingdings" panose="05000000000000000000" pitchFamily="2" charset="2"/>
              </a:rPr>
              <a:t>族元素</a:t>
            </a:r>
            <a:r>
              <a:rPr lang="zh-CN" altLang="en-US" b="1" dirty="0">
                <a:solidFill>
                  <a:srgbClr val="DE2A95"/>
                </a:solidFill>
                <a:latin typeface="华文中宋" panose="02010600040101010101" pitchFamily="2" charset="-122"/>
                <a:ea typeface="华文中宋" panose="02010600040101010101" pitchFamily="2" charset="-122"/>
                <a:sym typeface="Wingdings" panose="05000000000000000000" pitchFamily="2" charset="2"/>
              </a:rPr>
              <a:t>倾向于形成每个原子形成两个键并有两个孤对电子的结构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CaSi</a:t>
            </a:r>
            <a:r>
              <a:rPr lang="zh-CN" altLang="en-US" dirty="0">
                <a:latin typeface="华文中宋" panose="02010600040101010101" pitchFamily="2" charset="-122"/>
                <a:ea typeface="华文中宋" panose="02010600040101010101" pitchFamily="2" charset="-122"/>
                <a:sym typeface="Wingdings" panose="05000000000000000000" pitchFamily="2" charset="2"/>
              </a:rPr>
              <a:t>中存在的硅原子螺旋链类似于固态碲（也来自第</a:t>
            </a:r>
            <a:r>
              <a:rPr lang="en-US" altLang="zh-CN" dirty="0">
                <a:latin typeface="华文中宋" panose="02010600040101010101" pitchFamily="2" charset="-122"/>
                <a:ea typeface="华文中宋" panose="02010600040101010101" pitchFamily="2" charset="-122"/>
                <a:sym typeface="Wingdings" panose="05000000000000000000" pitchFamily="2" charset="2"/>
              </a:rPr>
              <a:t>16</a:t>
            </a:r>
            <a:r>
              <a:rPr lang="zh-CN" altLang="en-US" dirty="0">
                <a:latin typeface="华文中宋" panose="02010600040101010101" pitchFamily="2" charset="-122"/>
                <a:ea typeface="华文中宋" panose="02010600040101010101" pitchFamily="2" charset="-122"/>
                <a:sym typeface="Wingdings" panose="05000000000000000000" pitchFamily="2" charset="2"/>
              </a:rPr>
              <a:t>族）如下图所示的结构。 假设存在两个额外的电子导致硅的轨道显著扩张。这解释了为什么</a:t>
            </a:r>
            <a:r>
              <a:rPr lang="en-US" altLang="zh-CN" dirty="0" err="1">
                <a:latin typeface="华文中宋" panose="02010600040101010101" pitchFamily="2" charset="-122"/>
                <a:ea typeface="华文中宋" panose="02010600040101010101" pitchFamily="2" charset="-122"/>
                <a:sym typeface="Wingdings" panose="05000000000000000000" pitchFamily="2" charset="2"/>
              </a:rPr>
              <a:t>CaSi</a:t>
            </a:r>
            <a:r>
              <a:rPr lang="zh-CN" altLang="en-US" dirty="0">
                <a:latin typeface="华文中宋" panose="02010600040101010101" pitchFamily="2" charset="-122"/>
                <a:ea typeface="华文中宋" panose="02010600040101010101" pitchFamily="2" charset="-122"/>
                <a:sym typeface="Wingdings" panose="05000000000000000000" pitchFamily="2" charset="2"/>
              </a:rPr>
              <a:t>中硅原子采用的结构不类似于硫磺中发现的结构，而是类似于较大原子碲的结构。</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pic>
        <p:nvPicPr>
          <p:cNvPr id="5" name="图片 4">
            <a:extLst>
              <a:ext uri="{FF2B5EF4-FFF2-40B4-BE49-F238E27FC236}">
                <a16:creationId xmlns:a16="http://schemas.microsoft.com/office/drawing/2014/main" id="{C79DF18C-302E-4535-BFD2-12B3553DE5A1}"/>
              </a:ext>
            </a:extLst>
          </p:cNvPr>
          <p:cNvPicPr>
            <a:picLocks noChangeAspect="1"/>
          </p:cNvPicPr>
          <p:nvPr/>
        </p:nvPicPr>
        <p:blipFill>
          <a:blip r:embed="rId3"/>
          <a:stretch>
            <a:fillRect/>
          </a:stretch>
        </p:blipFill>
        <p:spPr>
          <a:xfrm>
            <a:off x="4850542" y="4065030"/>
            <a:ext cx="2231606" cy="2699436"/>
          </a:xfrm>
          <a:prstGeom prst="rect">
            <a:avLst/>
          </a:prstGeom>
          <a:ln>
            <a:solidFill>
              <a:schemeClr val="accent1"/>
            </a:solidFill>
          </a:ln>
        </p:spPr>
      </p:pic>
    </p:spTree>
    <p:extLst>
      <p:ext uri="{BB962C8B-B14F-4D97-AF65-F5344CB8AC3E}">
        <p14:creationId xmlns:p14="http://schemas.microsoft.com/office/powerpoint/2010/main" val="322164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874278"/>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9.8 (a) </a:t>
            </a:r>
            <a:r>
              <a:rPr lang="zh-CN" altLang="en-US" dirty="0">
                <a:latin typeface="华文中宋" panose="02010600040101010101" pitchFamily="2" charset="-122"/>
                <a:ea typeface="华文中宋" panose="02010600040101010101" pitchFamily="2" charset="-122"/>
              </a:rPr>
              <a:t>在阴离子</a:t>
            </a:r>
            <a:r>
              <a:rPr lang="en-US" altLang="zh-CN" dirty="0">
                <a:latin typeface="华文中宋" panose="02010600040101010101" pitchFamily="2" charset="-122"/>
                <a:ea typeface="华文中宋" panose="02010600040101010101" pitchFamily="2" charset="-122"/>
              </a:rPr>
              <a:t>Ph</a:t>
            </a:r>
            <a:r>
              <a:rPr lang="en-US" altLang="zh-CN" baseline="-25000" dirty="0">
                <a:latin typeface="华文中宋" panose="02010600040101010101" pitchFamily="2" charset="-122"/>
                <a:ea typeface="华文中宋" panose="02010600040101010101" pitchFamily="2" charset="-122"/>
              </a:rPr>
              <a:t>3</a:t>
            </a:r>
            <a:r>
              <a:rPr lang="en-US" altLang="zh-CN" dirty="0">
                <a:latin typeface="华文中宋" panose="02010600040101010101" pitchFamily="2" charset="-122"/>
                <a:ea typeface="华文中宋" panose="02010600040101010101" pitchFamily="2" charset="-122"/>
              </a:rPr>
              <a:t>C</a:t>
            </a:r>
            <a:r>
              <a:rPr lang="en-US" altLang="zh-CN" baseline="30000"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中，</a:t>
            </a:r>
            <a:r>
              <a:rPr lang="en-US" altLang="zh-CN" dirty="0">
                <a:latin typeface="华文中宋" panose="02010600040101010101" pitchFamily="2" charset="-122"/>
                <a:ea typeface="华文中宋" panose="02010600040101010101" pitchFamily="2" charset="-122"/>
              </a:rPr>
              <a:t>Ph–C</a:t>
            </a:r>
            <a:r>
              <a:rPr lang="zh-CN" altLang="en-US" dirty="0">
                <a:latin typeface="华文中宋" panose="02010600040101010101" pitchFamily="2" charset="-122"/>
                <a:ea typeface="华文中宋" panose="02010600040101010101" pitchFamily="2" charset="-122"/>
              </a:rPr>
              <a:t>键围绕碳原子呈三角平面排列，</a:t>
            </a:r>
            <a:r>
              <a:rPr lang="en-US" altLang="zh-CN" dirty="0">
                <a:latin typeface="华文中宋" panose="02010600040101010101" pitchFamily="2" charset="-122"/>
                <a:ea typeface="华文中宋" panose="02010600040101010101" pitchFamily="2" charset="-122"/>
              </a:rPr>
              <a:t>Ph–C–Ph</a:t>
            </a:r>
            <a:r>
              <a:rPr lang="zh-CN" altLang="en-US" dirty="0">
                <a:latin typeface="华文中宋" panose="02010600040101010101" pitchFamily="2" charset="-122"/>
                <a:ea typeface="华文中宋" panose="02010600040101010101" pitchFamily="2" charset="-122"/>
              </a:rPr>
              <a:t>键角为</a:t>
            </a:r>
            <a:r>
              <a:rPr lang="en-US" altLang="zh-CN" dirty="0">
                <a:latin typeface="华文中宋" panose="02010600040101010101" pitchFamily="2" charset="-122"/>
                <a:ea typeface="华文中宋" panose="02010600040101010101" pitchFamily="2" charset="-122"/>
              </a:rPr>
              <a:t>120°</a:t>
            </a:r>
            <a:r>
              <a:rPr lang="zh-CN" altLang="en-US" dirty="0">
                <a:latin typeface="华文中宋" panose="02010600040101010101" pitchFamily="2" charset="-122"/>
                <a:ea typeface="华文中宋" panose="02010600040101010101" pitchFamily="2" charset="-122"/>
              </a:rPr>
              <a:t>。相比之下，在阴离子</a:t>
            </a:r>
            <a:r>
              <a:rPr lang="en-US" altLang="zh-CN" dirty="0">
                <a:latin typeface="华文中宋" panose="02010600040101010101" pitchFamily="2" charset="-122"/>
                <a:ea typeface="华文中宋" panose="02010600040101010101" pitchFamily="2" charset="-122"/>
              </a:rPr>
              <a:t>Ph</a:t>
            </a:r>
            <a:r>
              <a:rPr lang="en-US" altLang="zh-CN" baseline="-25000" dirty="0">
                <a:latin typeface="华文中宋" panose="02010600040101010101" pitchFamily="2" charset="-122"/>
                <a:ea typeface="华文中宋" panose="02010600040101010101" pitchFamily="2" charset="-122"/>
              </a:rPr>
              <a:t>3</a:t>
            </a:r>
            <a:r>
              <a:rPr lang="en-US" altLang="zh-CN" dirty="0">
                <a:latin typeface="华文中宋" panose="02010600040101010101" pitchFamily="2" charset="-122"/>
                <a:ea typeface="华文中宋" panose="02010600040101010101" pitchFamily="2" charset="-122"/>
              </a:rPr>
              <a:t>Pb</a:t>
            </a:r>
            <a:r>
              <a:rPr lang="en-US" altLang="zh-CN" baseline="30000"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中，</a:t>
            </a:r>
            <a:r>
              <a:rPr lang="en-US" altLang="zh-CN" dirty="0">
                <a:latin typeface="华文中宋" panose="02010600040101010101" pitchFamily="2" charset="-122"/>
                <a:ea typeface="华文中宋" panose="02010600040101010101" pitchFamily="2" charset="-122"/>
              </a:rPr>
              <a:t>Ph–Pb</a:t>
            </a:r>
            <a:r>
              <a:rPr lang="zh-CN" altLang="en-US" dirty="0">
                <a:latin typeface="华文中宋" panose="02010600040101010101" pitchFamily="2" charset="-122"/>
                <a:ea typeface="华文中宋" panose="02010600040101010101" pitchFamily="2" charset="-122"/>
              </a:rPr>
              <a:t>键围绕铅原子呈三角锥形排列，</a:t>
            </a:r>
            <a:r>
              <a:rPr lang="en-US" altLang="zh-CN" dirty="0">
                <a:latin typeface="华文中宋" panose="02010600040101010101" pitchFamily="2" charset="-122"/>
                <a:ea typeface="华文中宋" panose="02010600040101010101" pitchFamily="2" charset="-122"/>
              </a:rPr>
              <a:t>Ph–Pb–Ph</a:t>
            </a:r>
            <a:r>
              <a:rPr lang="zh-CN" altLang="en-US" dirty="0">
                <a:latin typeface="华文中宋" panose="02010600040101010101" pitchFamily="2" charset="-122"/>
                <a:ea typeface="华文中宋" panose="02010600040101010101" pitchFamily="2" charset="-122"/>
              </a:rPr>
              <a:t>键角为</a:t>
            </a:r>
            <a:r>
              <a:rPr lang="en-US" altLang="zh-CN" dirty="0">
                <a:latin typeface="华文中宋" panose="02010600040101010101" pitchFamily="2" charset="-122"/>
                <a:ea typeface="华文中宋" panose="02010600040101010101" pitchFamily="2" charset="-122"/>
              </a:rPr>
              <a:t>91°</a:t>
            </a:r>
            <a:r>
              <a:rPr lang="zh-CN" altLang="en-US" dirty="0">
                <a:latin typeface="华文中宋" panose="02010600040101010101" pitchFamily="2" charset="-122"/>
                <a:ea typeface="华文中宋" panose="02010600040101010101" pitchFamily="2" charset="-122"/>
              </a:rPr>
              <a:t>。请解释为什么会有这样的结构差异</a:t>
            </a:r>
          </a:p>
        </p:txBody>
      </p:sp>
      <p:sp>
        <p:nvSpPr>
          <p:cNvPr id="3" name="文本框 2">
            <a:extLst>
              <a:ext uri="{FF2B5EF4-FFF2-40B4-BE49-F238E27FC236}">
                <a16:creationId xmlns:a16="http://schemas.microsoft.com/office/drawing/2014/main" id="{7940F808-B981-4E3A-98B7-01B0ED4F14FA}"/>
              </a:ext>
            </a:extLst>
          </p:cNvPr>
          <p:cNvSpPr txBox="1"/>
          <p:nvPr/>
        </p:nvSpPr>
        <p:spPr>
          <a:xfrm>
            <a:off x="1" y="1009930"/>
            <a:ext cx="12192000" cy="3367268"/>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zh-CN" altLang="en-US" dirty="0">
                <a:latin typeface="华文中宋" panose="02010600040101010101" pitchFamily="2" charset="-122"/>
                <a:ea typeface="华文中宋" panose="02010600040101010101" pitchFamily="2" charset="-122"/>
                <a:sym typeface="Wingdings" panose="05000000000000000000" pitchFamily="2" charset="2"/>
              </a:rPr>
              <a:t>对于</a:t>
            </a:r>
            <a:r>
              <a:rPr lang="en-US" altLang="zh-CN" dirty="0">
                <a:latin typeface="华文中宋" panose="02010600040101010101" pitchFamily="2" charset="-122"/>
                <a:ea typeface="华文中宋" panose="02010600040101010101" pitchFamily="2" charset="-122"/>
                <a:sym typeface="Wingdings" panose="05000000000000000000" pitchFamily="2" charset="2"/>
              </a:rPr>
              <a:t>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离子，碳原子有四个价电子，其中三个与苯基形成共价键，剩下的一个电子对为孤对。根据</a:t>
            </a:r>
            <a:r>
              <a:rPr lang="en-US" altLang="zh-CN" dirty="0">
                <a:latin typeface="华文中宋" panose="02010600040101010101" pitchFamily="2" charset="-122"/>
                <a:ea typeface="华文中宋" panose="02010600040101010101" pitchFamily="2" charset="-122"/>
                <a:sym typeface="Wingdings" panose="05000000000000000000" pitchFamily="2" charset="2"/>
              </a:rPr>
              <a:t>VSEPR</a:t>
            </a:r>
            <a:r>
              <a:rPr lang="zh-CN" altLang="en-US" dirty="0">
                <a:latin typeface="华文中宋" panose="02010600040101010101" pitchFamily="2" charset="-122"/>
                <a:ea typeface="华文中宋" panose="02010600040101010101" pitchFamily="2" charset="-122"/>
                <a:sym typeface="Wingdings" panose="05000000000000000000" pitchFamily="2" charset="2"/>
              </a:rPr>
              <a:t>理论，</a:t>
            </a:r>
            <a:r>
              <a:rPr lang="zh-CN" altLang="en-US" b="1" dirty="0">
                <a:solidFill>
                  <a:srgbClr val="4CD84C"/>
                </a:solidFill>
                <a:latin typeface="华文中宋" panose="02010600040101010101" pitchFamily="2" charset="-122"/>
                <a:ea typeface="华文中宋" panose="02010600040101010101" pitchFamily="2" charset="-122"/>
                <a:sym typeface="Wingdings" panose="05000000000000000000" pitchFamily="2" charset="2"/>
              </a:rPr>
              <a:t>孤对电子与键合电子对之间的排斥力会使得键合电子对尽可能远离孤对电子，从而形成三角平面结构</a:t>
            </a:r>
            <a:r>
              <a:rPr lang="zh-CN" altLang="en-US" dirty="0">
                <a:latin typeface="华文中宋" panose="02010600040101010101" pitchFamily="2" charset="-122"/>
                <a:ea typeface="华文中宋" panose="02010600040101010101" pitchFamily="2" charset="-122"/>
                <a:sym typeface="Wingdings" panose="05000000000000000000" pitchFamily="2" charset="2"/>
              </a:rPr>
              <a:t>，使得</a:t>
            </a:r>
            <a:r>
              <a:rPr lang="en-US" altLang="zh-CN" dirty="0">
                <a:latin typeface="华文中宋" panose="02010600040101010101" pitchFamily="2" charset="-122"/>
                <a:ea typeface="华文中宋" panose="02010600040101010101" pitchFamily="2" charset="-122"/>
                <a:sym typeface="Wingdings" panose="05000000000000000000" pitchFamily="2" charset="2"/>
              </a:rPr>
              <a:t>Ph–C–Ph</a:t>
            </a:r>
            <a:r>
              <a:rPr lang="zh-CN" altLang="en-US" dirty="0">
                <a:latin typeface="华文中宋" panose="02010600040101010101" pitchFamily="2" charset="-122"/>
                <a:ea typeface="华文中宋" panose="02010600040101010101" pitchFamily="2" charset="-122"/>
                <a:sym typeface="Wingdings" panose="05000000000000000000" pitchFamily="2" charset="2"/>
              </a:rPr>
              <a:t>键角为</a:t>
            </a:r>
            <a:r>
              <a:rPr lang="en-US" altLang="zh-CN" dirty="0">
                <a:latin typeface="华文中宋" panose="02010600040101010101" pitchFamily="2" charset="-122"/>
                <a:ea typeface="华文中宋" panose="02010600040101010101" pitchFamily="2" charset="-122"/>
                <a:sym typeface="Wingdings" panose="05000000000000000000" pitchFamily="2" charset="2"/>
              </a:rPr>
              <a:t>120°</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而对于</a:t>
            </a:r>
            <a:r>
              <a:rPr lang="en-US" altLang="zh-CN" dirty="0">
                <a:latin typeface="华文中宋" panose="02010600040101010101" pitchFamily="2" charset="-122"/>
                <a:ea typeface="华文中宋" panose="02010600040101010101" pitchFamily="2" charset="-122"/>
                <a:sym typeface="Wingdings" panose="05000000000000000000" pitchFamily="2" charset="2"/>
              </a:rPr>
              <a:t>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Pb</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离子，铅原子有四个价电子，同样是三个与苯基形成共价键，一个为孤对。</a:t>
            </a:r>
            <a:r>
              <a:rPr lang="zh-CN" altLang="en-US" b="1" dirty="0">
                <a:solidFill>
                  <a:srgbClr val="7F3517"/>
                </a:solidFill>
                <a:latin typeface="华文中宋" panose="02010600040101010101" pitchFamily="2" charset="-122"/>
                <a:ea typeface="华文中宋" panose="02010600040101010101" pitchFamily="2" charset="-122"/>
                <a:sym typeface="Wingdings" panose="05000000000000000000" pitchFamily="2" charset="2"/>
              </a:rPr>
              <a:t>但由于铅原子的原子半径比碳原子大，其价电子云更加分散，孤对电子的排斥效应相对较弱</a:t>
            </a:r>
            <a:r>
              <a:rPr lang="zh-CN" altLang="en-US" dirty="0">
                <a:latin typeface="华文中宋" panose="02010600040101010101" pitchFamily="2" charset="-122"/>
                <a:ea typeface="华文中宋" panose="02010600040101010101" pitchFamily="2" charset="-122"/>
                <a:sym typeface="Wingdings" panose="05000000000000000000" pitchFamily="2" charset="2"/>
              </a:rPr>
              <a:t>。因此，</a:t>
            </a:r>
            <a:r>
              <a:rPr lang="en-US" altLang="zh-CN" dirty="0">
                <a:latin typeface="华文中宋" panose="02010600040101010101" pitchFamily="2" charset="-122"/>
                <a:ea typeface="华文中宋" panose="02010600040101010101" pitchFamily="2" charset="-122"/>
                <a:sym typeface="Wingdings" panose="05000000000000000000" pitchFamily="2" charset="2"/>
              </a:rPr>
              <a:t>Ph–Pb</a:t>
            </a:r>
            <a:r>
              <a:rPr lang="zh-CN" altLang="en-US" dirty="0">
                <a:latin typeface="华文中宋" panose="02010600040101010101" pitchFamily="2" charset="-122"/>
                <a:ea typeface="华文中宋" panose="02010600040101010101" pitchFamily="2" charset="-122"/>
                <a:sym typeface="Wingdings" panose="05000000000000000000" pitchFamily="2" charset="2"/>
              </a:rPr>
              <a:t>键能够更接近于铅原子，形成三角锥形结构，导致</a:t>
            </a:r>
            <a:r>
              <a:rPr lang="en-US" altLang="zh-CN" dirty="0">
                <a:latin typeface="华文中宋" panose="02010600040101010101" pitchFamily="2" charset="-122"/>
                <a:ea typeface="华文中宋" panose="02010600040101010101" pitchFamily="2" charset="-122"/>
                <a:sym typeface="Wingdings" panose="05000000000000000000" pitchFamily="2" charset="2"/>
              </a:rPr>
              <a:t>Ph–Pb–Ph</a:t>
            </a:r>
            <a:r>
              <a:rPr lang="zh-CN" altLang="en-US" dirty="0">
                <a:latin typeface="华文中宋" panose="02010600040101010101" pitchFamily="2" charset="-122"/>
                <a:ea typeface="华文中宋" panose="02010600040101010101" pitchFamily="2" charset="-122"/>
                <a:sym typeface="Wingdings" panose="05000000000000000000" pitchFamily="2" charset="2"/>
              </a:rPr>
              <a:t>键角减小到</a:t>
            </a:r>
            <a:r>
              <a:rPr lang="en-US" altLang="zh-CN" dirty="0">
                <a:latin typeface="华文中宋" panose="02010600040101010101" pitchFamily="2" charset="-122"/>
                <a:ea typeface="华文中宋" panose="02010600040101010101" pitchFamily="2" charset="-122"/>
                <a:sym typeface="Wingdings" panose="05000000000000000000" pitchFamily="2" charset="2"/>
              </a:rPr>
              <a:t>91°</a:t>
            </a:r>
            <a:r>
              <a:rPr lang="zh-CN" altLang="en-US" dirty="0">
                <a:latin typeface="华文中宋" panose="02010600040101010101" pitchFamily="2" charset="-122"/>
                <a:ea typeface="华文中宋" panose="02010600040101010101" pitchFamily="2" charset="-122"/>
                <a:sym typeface="Wingdings" panose="05000000000000000000" pitchFamily="2" charset="2"/>
              </a:rPr>
              <a:t>。此外，铅原子的重量和相对较大的原子半径也可能导致其价电子轨道发生扩张，进一步影响键角大小。</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pic>
        <p:nvPicPr>
          <p:cNvPr id="6" name="图片 5">
            <a:extLst>
              <a:ext uri="{FF2B5EF4-FFF2-40B4-BE49-F238E27FC236}">
                <a16:creationId xmlns:a16="http://schemas.microsoft.com/office/drawing/2014/main" id="{8D0BD356-AC44-4CE8-9E35-B8AFCE129D00}"/>
              </a:ext>
            </a:extLst>
          </p:cNvPr>
          <p:cNvPicPr>
            <a:picLocks noChangeAspect="1"/>
          </p:cNvPicPr>
          <p:nvPr/>
        </p:nvPicPr>
        <p:blipFill>
          <a:blip r:embed="rId3"/>
          <a:stretch>
            <a:fillRect/>
          </a:stretch>
        </p:blipFill>
        <p:spPr>
          <a:xfrm>
            <a:off x="4876630" y="4433304"/>
            <a:ext cx="2438740" cy="2276793"/>
          </a:xfrm>
          <a:prstGeom prst="rect">
            <a:avLst/>
          </a:prstGeom>
          <a:ln>
            <a:solidFill>
              <a:schemeClr val="accent1"/>
            </a:solidFill>
          </a:ln>
        </p:spPr>
      </p:pic>
    </p:spTree>
    <p:extLst>
      <p:ext uri="{BB962C8B-B14F-4D97-AF65-F5344CB8AC3E}">
        <p14:creationId xmlns:p14="http://schemas.microsoft.com/office/powerpoint/2010/main" val="5821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464166"/>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9.8 (b) </a:t>
            </a:r>
            <a:r>
              <a:rPr lang="zh-CN" altLang="en-US" sz="1800" dirty="0">
                <a:solidFill>
                  <a:srgbClr val="000000"/>
                </a:solidFill>
                <a:effectLst/>
                <a:latin typeface="华文中宋" panose="02010600040101010101" pitchFamily="2" charset="-122"/>
                <a:ea typeface="华文中宋" panose="02010600040101010101" pitchFamily="2" charset="-122"/>
              </a:rPr>
              <a:t>利用</a:t>
            </a:r>
            <a:r>
              <a:rPr lang="en-US" altLang="zh-CN" sz="1800" dirty="0">
                <a:solidFill>
                  <a:srgbClr val="000000"/>
                </a:solidFill>
                <a:effectLst/>
                <a:latin typeface="华文中宋" panose="02010600040101010101" pitchFamily="2" charset="-122"/>
                <a:ea typeface="华文中宋" panose="02010600040101010101" pitchFamily="2" charset="-122"/>
              </a:rPr>
              <a:t>(a)</a:t>
            </a:r>
            <a:r>
              <a:rPr lang="zh-CN" altLang="en-US" sz="1800" dirty="0">
                <a:solidFill>
                  <a:srgbClr val="000000"/>
                </a:solidFill>
                <a:effectLst/>
                <a:latin typeface="华文中宋" panose="02010600040101010101" pitchFamily="2" charset="-122"/>
                <a:ea typeface="华文中宋" panose="02010600040101010101" pitchFamily="2" charset="-122"/>
              </a:rPr>
              <a:t>中的结论解释为什么</a:t>
            </a:r>
            <a:r>
              <a:rPr lang="en-US" altLang="zh-CN" dirty="0">
                <a:latin typeface="华文中宋" panose="02010600040101010101" pitchFamily="2" charset="-122"/>
                <a:ea typeface="华文中宋" panose="02010600040101010101" pitchFamily="2" charset="-122"/>
                <a:sym typeface="Wingdings" panose="05000000000000000000" pitchFamily="2" charset="2"/>
              </a:rPr>
              <a:t>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离子比</a:t>
            </a:r>
            <a:r>
              <a:rPr lang="en-US" altLang="zh-CN" dirty="0">
                <a:latin typeface="华文中宋" panose="02010600040101010101" pitchFamily="2" charset="-122"/>
                <a:ea typeface="华文中宋" panose="02010600040101010101" pitchFamily="2" charset="-122"/>
                <a:sym typeface="Wingdings" panose="05000000000000000000" pitchFamily="2" charset="2"/>
              </a:rPr>
              <a:t>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Pb</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离子的碱性</a:t>
            </a:r>
            <a:r>
              <a:rPr lang="zh-CN" altLang="en-US" sz="1800" dirty="0">
                <a:solidFill>
                  <a:srgbClr val="000000"/>
                </a:solidFill>
                <a:effectLst/>
                <a:latin typeface="华文中宋" panose="02010600040101010101" pitchFamily="2" charset="-122"/>
                <a:ea typeface="华文中宋" panose="02010600040101010101" pitchFamily="2" charset="-122"/>
              </a:rPr>
              <a:t>强得多。</a:t>
            </a:r>
            <a:endParaRPr lang="zh-CN" altLang="en-US"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7940F808-B981-4E3A-98B7-01B0ED4F14FA}"/>
              </a:ext>
            </a:extLst>
          </p:cNvPr>
          <p:cNvSpPr txBox="1"/>
          <p:nvPr/>
        </p:nvSpPr>
        <p:spPr>
          <a:xfrm>
            <a:off x="1" y="1009930"/>
            <a:ext cx="12192000" cy="2120773"/>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C</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离子中的碳原子有一个孤对电子，这个</a:t>
            </a:r>
            <a:r>
              <a:rPr lang="zh-CN" altLang="en-US"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孤对电子能够有效地吸引质子（</a:t>
            </a:r>
            <a:r>
              <a:rPr lang="en-US" altLang="zh-CN"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H+</a:t>
            </a:r>
            <a:r>
              <a:rPr lang="zh-CN" altLang="en-US"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），使得</a:t>
            </a:r>
            <a:r>
              <a:rPr lang="en-US" altLang="zh-CN"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Ph</a:t>
            </a:r>
            <a:r>
              <a:rPr lang="en-US" altLang="zh-CN" b="1" baseline="-25000"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3</a:t>
            </a:r>
            <a:r>
              <a:rPr lang="en-US" altLang="zh-CN"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C</a:t>
            </a:r>
            <a:r>
              <a:rPr lang="en-US" altLang="zh-CN" b="1" baseline="30000"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a:t>
            </a:r>
            <a:r>
              <a:rPr lang="zh-CN" altLang="en-US" b="1" dirty="0">
                <a:solidFill>
                  <a:srgbClr val="9CAB2B"/>
                </a:solidFill>
                <a:latin typeface="华文中宋" panose="02010600040101010101" pitchFamily="2" charset="-122"/>
                <a:ea typeface="华文中宋" panose="02010600040101010101" pitchFamily="2" charset="-122"/>
                <a:sym typeface="Wingdings" panose="05000000000000000000" pitchFamily="2" charset="2"/>
              </a:rPr>
              <a:t>离子表现出较强的碱性</a:t>
            </a:r>
            <a:r>
              <a:rPr lang="zh-CN" altLang="en-US" dirty="0">
                <a:latin typeface="华文中宋" panose="02010600040101010101" pitchFamily="2" charset="-122"/>
                <a:ea typeface="华文中宋" panose="02010600040101010101" pitchFamily="2" charset="-122"/>
                <a:sym typeface="Wingdings" panose="05000000000000000000" pitchFamily="2" charset="2"/>
              </a:rPr>
              <a:t>。碳原子较小的体积意味着其</a:t>
            </a:r>
            <a:r>
              <a:rPr lang="zh-CN" altLang="en-US" b="1" dirty="0">
                <a:solidFill>
                  <a:srgbClr val="DE2A95"/>
                </a:solidFill>
                <a:latin typeface="华文中宋" panose="02010600040101010101" pitchFamily="2" charset="-122"/>
                <a:ea typeface="华文中宋" panose="02010600040101010101" pitchFamily="2" charset="-122"/>
                <a:sym typeface="Wingdings" panose="05000000000000000000" pitchFamily="2" charset="2"/>
              </a:rPr>
              <a:t>价电子云更集中</a:t>
            </a:r>
            <a:r>
              <a:rPr lang="zh-CN" altLang="en-US" dirty="0">
                <a:latin typeface="华文中宋" panose="02010600040101010101" pitchFamily="2" charset="-122"/>
                <a:ea typeface="华文中宋" panose="02010600040101010101" pitchFamily="2" charset="-122"/>
                <a:sym typeface="Wingdings" panose="05000000000000000000" pitchFamily="2" charset="2"/>
              </a:rPr>
              <a:t>，使得孤对电子更容易与质子接触，从而增强了其碱性。</a:t>
            </a: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(2) </a:t>
            </a:r>
            <a:r>
              <a:rPr lang="zh-CN" altLang="en-US" dirty="0">
                <a:latin typeface="华文中宋" panose="02010600040101010101" pitchFamily="2" charset="-122"/>
                <a:ea typeface="华文中宋" panose="02010600040101010101" pitchFamily="2" charset="-122"/>
                <a:sym typeface="Wingdings" panose="05000000000000000000" pitchFamily="2" charset="2"/>
              </a:rPr>
              <a:t>相比之下，</a:t>
            </a:r>
            <a:r>
              <a:rPr lang="en-US" altLang="zh-CN" dirty="0">
                <a:latin typeface="华文中宋" panose="02010600040101010101" pitchFamily="2" charset="-122"/>
                <a:ea typeface="华文中宋" panose="02010600040101010101" pitchFamily="2" charset="-122"/>
                <a:sym typeface="Wingdings" panose="05000000000000000000" pitchFamily="2" charset="2"/>
              </a:rPr>
              <a:t> Ph</a:t>
            </a:r>
            <a:r>
              <a:rPr lang="en-US" altLang="zh-CN" baseline="-25000" dirty="0">
                <a:latin typeface="华文中宋" panose="02010600040101010101" pitchFamily="2" charset="-122"/>
                <a:ea typeface="华文中宋" panose="02010600040101010101" pitchFamily="2" charset="-122"/>
                <a:sym typeface="Wingdings" panose="05000000000000000000" pitchFamily="2" charset="2"/>
              </a:rPr>
              <a:t>3</a:t>
            </a:r>
            <a:r>
              <a:rPr lang="en-US" altLang="zh-CN" dirty="0">
                <a:latin typeface="华文中宋" panose="02010600040101010101" pitchFamily="2" charset="-122"/>
                <a:ea typeface="华文中宋" panose="02010600040101010101" pitchFamily="2" charset="-122"/>
                <a:sym typeface="Wingdings" panose="05000000000000000000" pitchFamily="2" charset="2"/>
              </a:rPr>
              <a:t>Pb</a:t>
            </a:r>
            <a:r>
              <a:rPr lang="en-US" altLang="zh-CN" baseline="30000"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离子中的铅原子也有一个孤对电子，</a:t>
            </a:r>
            <a:r>
              <a:rPr lang="zh-CN" altLang="en-US" b="1" dirty="0">
                <a:solidFill>
                  <a:srgbClr val="0070C0"/>
                </a:solidFill>
                <a:latin typeface="华文中宋" panose="02010600040101010101" pitchFamily="2" charset="-122"/>
                <a:ea typeface="华文中宋" panose="02010600040101010101" pitchFamily="2" charset="-122"/>
                <a:sym typeface="Wingdings" panose="05000000000000000000" pitchFamily="2" charset="2"/>
              </a:rPr>
              <a:t>但由于铅原子的体积较大，其价电子云更加分散，孤对电子与核的距离更远，因此吸引质子的能力较弱</a:t>
            </a:r>
            <a:r>
              <a:rPr lang="zh-CN" altLang="en-US" dirty="0">
                <a:latin typeface="华文中宋" panose="02010600040101010101" pitchFamily="2" charset="-122"/>
                <a:ea typeface="华文中宋" panose="02010600040101010101" pitchFamily="2" charset="-122"/>
                <a:sym typeface="Wingdings" panose="05000000000000000000" pitchFamily="2" charset="2"/>
              </a:rPr>
              <a:t>。此外，铅原子较重，其价电子轨道相对较大，这也减弱了其碱性。</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248962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C04B4D-AD4C-4B60-914C-D554C9377C0F}"/>
              </a:ext>
            </a:extLst>
          </p:cNvPr>
          <p:cNvSpPr txBox="1"/>
          <p:nvPr/>
        </p:nvSpPr>
        <p:spPr>
          <a:xfrm>
            <a:off x="0" y="129653"/>
            <a:ext cx="12191999" cy="874278"/>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9.9 </a:t>
            </a:r>
            <a:r>
              <a:rPr lang="zh-CN" altLang="en-US" dirty="0">
                <a:latin typeface="华文中宋" panose="02010600040101010101" pitchFamily="2" charset="-122"/>
                <a:ea typeface="华文中宋" panose="02010600040101010101" pitchFamily="2" charset="-122"/>
              </a:rPr>
              <a:t>从</a:t>
            </a:r>
            <a:r>
              <a:rPr lang="en-US" altLang="zh-CN" dirty="0">
                <a:latin typeface="华文中宋" panose="02010600040101010101" pitchFamily="2" charset="-122"/>
                <a:ea typeface="华文中宋" panose="02010600040101010101" pitchFamily="2" charset="-122"/>
              </a:rPr>
              <a:t>Sc</a:t>
            </a:r>
            <a:r>
              <a:rPr lang="zh-CN" altLang="en-US" dirty="0">
                <a:latin typeface="华文中宋" panose="02010600040101010101" pitchFamily="2" charset="-122"/>
                <a:ea typeface="华文中宋" panose="02010600040101010101" pitchFamily="2" charset="-122"/>
              </a:rPr>
              <a:t>到</a:t>
            </a:r>
            <a:r>
              <a:rPr lang="en-US" altLang="zh-CN" dirty="0">
                <a:latin typeface="华文中宋" panose="02010600040101010101" pitchFamily="2" charset="-122"/>
                <a:ea typeface="华文中宋" panose="02010600040101010101" pitchFamily="2" charset="-122"/>
              </a:rPr>
              <a:t>Mn</a:t>
            </a:r>
            <a:r>
              <a:rPr lang="zh-CN" altLang="en-US" dirty="0">
                <a:latin typeface="华文中宋" panose="02010600040101010101" pitchFamily="2" charset="-122"/>
                <a:ea typeface="华文中宋" panose="02010600040101010101" pitchFamily="2" charset="-122"/>
              </a:rPr>
              <a:t>，连续元素的最大氧化态稳定地增加，但从</a:t>
            </a:r>
            <a:r>
              <a:rPr lang="en-US" altLang="zh-CN" dirty="0">
                <a:latin typeface="华文中宋" panose="02010600040101010101" pitchFamily="2" charset="-122"/>
                <a:ea typeface="华文中宋" panose="02010600040101010101" pitchFamily="2" charset="-122"/>
              </a:rPr>
              <a:t>Fe</a:t>
            </a:r>
            <a:r>
              <a:rPr lang="zh-CN" altLang="en-US" dirty="0">
                <a:latin typeface="华文中宋" panose="02010600040101010101" pitchFamily="2" charset="-122"/>
                <a:ea typeface="华文中宋" panose="02010600040101010101" pitchFamily="2" charset="-122"/>
              </a:rPr>
              <a:t>到</a:t>
            </a:r>
            <a:r>
              <a:rPr lang="en-US" altLang="zh-CN" dirty="0">
                <a:latin typeface="华文中宋" panose="02010600040101010101" pitchFamily="2" charset="-122"/>
                <a:ea typeface="华文中宋" panose="02010600040101010101" pitchFamily="2" charset="-122"/>
              </a:rPr>
              <a:t>Zn</a:t>
            </a:r>
            <a:r>
              <a:rPr lang="zh-CN" altLang="en-US" dirty="0">
                <a:latin typeface="华文中宋" panose="02010600040101010101" pitchFamily="2" charset="-122"/>
                <a:ea typeface="华文中宋" panose="02010600040101010101" pitchFamily="2" charset="-122"/>
              </a:rPr>
              <a:t>，连续元素的最大氧化态稳定地下降，讨论这一观察结果的可能原因。</a:t>
            </a:r>
          </a:p>
        </p:txBody>
      </p:sp>
      <p:sp>
        <p:nvSpPr>
          <p:cNvPr id="3" name="文本框 2">
            <a:extLst>
              <a:ext uri="{FF2B5EF4-FFF2-40B4-BE49-F238E27FC236}">
                <a16:creationId xmlns:a16="http://schemas.microsoft.com/office/drawing/2014/main" id="{7940F808-B981-4E3A-98B7-01B0ED4F14FA}"/>
              </a:ext>
            </a:extLst>
          </p:cNvPr>
          <p:cNvSpPr txBox="1"/>
          <p:nvPr/>
        </p:nvSpPr>
        <p:spPr>
          <a:xfrm>
            <a:off x="1" y="1009930"/>
            <a:ext cx="12192000" cy="2120773"/>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p>
          <a:p>
            <a:pPr algn="just">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从</a:t>
            </a:r>
            <a:r>
              <a:rPr lang="en-US" altLang="zh-CN" dirty="0">
                <a:latin typeface="华文中宋" panose="02010600040101010101" pitchFamily="2" charset="-122"/>
                <a:ea typeface="华文中宋" panose="02010600040101010101" pitchFamily="2" charset="-122"/>
                <a:sym typeface="Wingdings" panose="05000000000000000000" pitchFamily="2" charset="2"/>
              </a:rPr>
              <a:t>Sc</a:t>
            </a:r>
            <a:r>
              <a:rPr lang="zh-CN" altLang="en-US" dirty="0">
                <a:latin typeface="华文中宋" panose="02010600040101010101" pitchFamily="2" charset="-122"/>
                <a:ea typeface="华文中宋" panose="02010600040101010101" pitchFamily="2" charset="-122"/>
                <a:sym typeface="Wingdings" panose="05000000000000000000" pitchFamily="2" charset="2"/>
              </a:rPr>
              <a:t>到</a:t>
            </a:r>
            <a:r>
              <a:rPr lang="en-US" altLang="zh-CN" dirty="0">
                <a:latin typeface="华文中宋" panose="02010600040101010101" pitchFamily="2" charset="-122"/>
                <a:ea typeface="华文中宋" panose="02010600040101010101" pitchFamily="2" charset="-122"/>
                <a:sym typeface="Wingdings" panose="05000000000000000000" pitchFamily="2" charset="2"/>
              </a:rPr>
              <a:t>Mn</a:t>
            </a:r>
            <a:r>
              <a:rPr lang="zh-CN" altLang="en-US" dirty="0">
                <a:latin typeface="华文中宋" panose="02010600040101010101" pitchFamily="2" charset="-122"/>
                <a:ea typeface="华文中宋" panose="02010600040101010101" pitchFamily="2" charset="-122"/>
                <a:sym typeface="Wingdings" panose="05000000000000000000" pitchFamily="2" charset="2"/>
              </a:rPr>
              <a:t>，三维电子的数量稳步增加，从</a:t>
            </a:r>
            <a:r>
              <a:rPr lang="en-US" altLang="zh-CN" dirty="0">
                <a:latin typeface="华文中宋" panose="02010600040101010101" pitchFamily="2" charset="-122"/>
                <a:ea typeface="华文中宋" panose="02010600040101010101" pitchFamily="2" charset="-122"/>
                <a:sym typeface="Wingdings" panose="05000000000000000000" pitchFamily="2" charset="2"/>
              </a:rPr>
              <a:t>Sc</a:t>
            </a:r>
            <a:r>
              <a:rPr lang="zh-CN" altLang="en-US" dirty="0">
                <a:latin typeface="华文中宋" panose="02010600040101010101" pitchFamily="2" charset="-122"/>
                <a:ea typeface="华文中宋" panose="02010600040101010101" pitchFamily="2" charset="-122"/>
                <a:sym typeface="Wingdings" panose="05000000000000000000" pitchFamily="2" charset="2"/>
              </a:rPr>
              <a:t>的</a:t>
            </a:r>
            <a:r>
              <a:rPr lang="en-US" altLang="zh-CN" dirty="0">
                <a:latin typeface="华文中宋" panose="02010600040101010101" pitchFamily="2" charset="-122"/>
                <a:ea typeface="华文中宋" panose="02010600040101010101" pitchFamily="2" charset="-122"/>
                <a:sym typeface="Wingdings" panose="05000000000000000000" pitchFamily="2" charset="2"/>
              </a:rPr>
              <a:t>1</a:t>
            </a:r>
            <a:r>
              <a:rPr lang="zh-CN" altLang="en-US" dirty="0">
                <a:latin typeface="华文中宋" panose="02010600040101010101" pitchFamily="2" charset="-122"/>
                <a:ea typeface="华文中宋" panose="02010600040101010101" pitchFamily="2" charset="-122"/>
                <a:sym typeface="Wingdings" panose="05000000000000000000" pitchFamily="2" charset="2"/>
              </a:rPr>
              <a:t>个增加到</a:t>
            </a:r>
            <a:r>
              <a:rPr lang="en-US" altLang="zh-CN" dirty="0">
                <a:latin typeface="华文中宋" panose="02010600040101010101" pitchFamily="2" charset="-122"/>
                <a:ea typeface="华文中宋" panose="02010600040101010101" pitchFamily="2" charset="-122"/>
                <a:sym typeface="Wingdings" panose="05000000000000000000" pitchFamily="2" charset="2"/>
              </a:rPr>
              <a:t>Mn</a:t>
            </a:r>
            <a:r>
              <a:rPr lang="zh-CN" altLang="en-US" dirty="0">
                <a:latin typeface="华文中宋" panose="02010600040101010101" pitchFamily="2" charset="-122"/>
                <a:ea typeface="华文中宋" panose="02010600040101010101" pitchFamily="2" charset="-122"/>
                <a:sym typeface="Wingdings" panose="05000000000000000000" pitchFamily="2" charset="2"/>
              </a:rPr>
              <a:t>的</a:t>
            </a:r>
            <a:r>
              <a:rPr lang="en-US" altLang="zh-CN" dirty="0">
                <a:latin typeface="华文中宋" panose="02010600040101010101" pitchFamily="2" charset="-122"/>
                <a:ea typeface="华文中宋" panose="02010600040101010101" pitchFamily="2" charset="-122"/>
                <a:sym typeface="Wingdings" panose="05000000000000000000" pitchFamily="2" charset="2"/>
              </a:rPr>
              <a:t>5</a:t>
            </a:r>
            <a:r>
              <a:rPr lang="zh-CN" altLang="en-US" dirty="0">
                <a:latin typeface="华文中宋" panose="02010600040101010101" pitchFamily="2" charset="-122"/>
                <a:ea typeface="华文中宋" panose="02010600040101010101" pitchFamily="2" charset="-122"/>
                <a:sym typeface="Wingdings" panose="05000000000000000000" pitchFamily="2" charset="2"/>
              </a:rPr>
              <a:t>个；另外，每个元素都有两个</a:t>
            </a:r>
            <a:r>
              <a:rPr lang="en-US" altLang="zh-CN" dirty="0">
                <a:latin typeface="华文中宋" panose="02010600040101010101" pitchFamily="2" charset="-122"/>
                <a:ea typeface="华文中宋" panose="02010600040101010101" pitchFamily="2" charset="-122"/>
                <a:sym typeface="Wingdings" panose="05000000000000000000" pitchFamily="2" charset="2"/>
              </a:rPr>
              <a:t>4s</a:t>
            </a:r>
            <a:r>
              <a:rPr lang="zh-CN" altLang="en-US" dirty="0">
                <a:latin typeface="华文中宋" panose="02010600040101010101" pitchFamily="2" charset="-122"/>
                <a:ea typeface="华文中宋" panose="02010600040101010101" pitchFamily="2" charset="-122"/>
                <a:sym typeface="Wingdings" panose="05000000000000000000" pitchFamily="2" charset="2"/>
              </a:rPr>
              <a:t>电子。所有这些电子都可以成键，</a:t>
            </a:r>
            <a:r>
              <a:rPr lang="en-US" altLang="zh-CN" dirty="0">
                <a:latin typeface="华文中宋" panose="02010600040101010101" pitchFamily="2" charset="-122"/>
                <a:ea typeface="华文中宋" panose="02010600040101010101" pitchFamily="2" charset="-122"/>
                <a:sym typeface="Wingdings" panose="05000000000000000000" pitchFamily="2" charset="2"/>
              </a:rPr>
              <a:t>Sc</a:t>
            </a:r>
            <a:r>
              <a:rPr lang="zh-CN" altLang="en-US" dirty="0">
                <a:latin typeface="华文中宋" panose="02010600040101010101" pitchFamily="2" charset="-122"/>
                <a:ea typeface="华文中宋" panose="02010600040101010101" pitchFamily="2" charset="-122"/>
                <a:sym typeface="Wingdings" panose="05000000000000000000" pitchFamily="2" charset="2"/>
              </a:rPr>
              <a:t>的最大氧化态为</a:t>
            </a:r>
            <a:r>
              <a:rPr lang="en-US" altLang="zh-CN" dirty="0">
                <a:latin typeface="华文中宋" panose="02010600040101010101" pitchFamily="2" charset="-122"/>
                <a:ea typeface="华文中宋" panose="02010600040101010101" pitchFamily="2" charset="-122"/>
                <a:sym typeface="Wingdings" panose="05000000000000000000" pitchFamily="2" charset="2"/>
              </a:rPr>
              <a:t>+3,Mn</a:t>
            </a:r>
            <a:r>
              <a:rPr lang="zh-CN" altLang="en-US" dirty="0">
                <a:latin typeface="华文中宋" panose="02010600040101010101" pitchFamily="2" charset="-122"/>
                <a:ea typeface="华文中宋" panose="02010600040101010101" pitchFamily="2" charset="-122"/>
                <a:sym typeface="Wingdings" panose="05000000000000000000" pitchFamily="2" charset="2"/>
              </a:rPr>
              <a:t>的最大氧化态为</a:t>
            </a:r>
            <a:r>
              <a:rPr lang="en-US" altLang="zh-CN" dirty="0">
                <a:latin typeface="华文中宋" panose="02010600040101010101" pitchFamily="2" charset="-122"/>
                <a:ea typeface="华文中宋" panose="02010600040101010101" pitchFamily="2" charset="-122"/>
                <a:sym typeface="Wingdings" panose="05000000000000000000" pitchFamily="2" charset="2"/>
              </a:rPr>
              <a:t>+7</a:t>
            </a:r>
            <a:r>
              <a:rPr lang="zh-CN" altLang="en-US" dirty="0">
                <a:latin typeface="华文中宋" panose="02010600040101010101" pitchFamily="2" charset="-122"/>
                <a:ea typeface="华文中宋" panose="02010600040101010101" pitchFamily="2" charset="-122"/>
                <a:sym typeface="Wingdings" panose="05000000000000000000" pitchFamily="2" charset="2"/>
              </a:rPr>
              <a:t>。</a:t>
            </a:r>
          </a:p>
          <a:p>
            <a:pPr algn="just">
              <a:lnSpc>
                <a:spcPct val="150000"/>
              </a:lnSpc>
            </a:pPr>
            <a:r>
              <a:rPr lang="zh-CN" altLang="en-US" dirty="0">
                <a:latin typeface="华文中宋" panose="02010600040101010101" pitchFamily="2" charset="-122"/>
                <a:ea typeface="华文中宋" panose="02010600040101010101" pitchFamily="2" charset="-122"/>
                <a:sym typeface="Wingdings" panose="05000000000000000000" pitchFamily="2" charset="2"/>
              </a:rPr>
              <a:t>当我们从</a:t>
            </a:r>
            <a:r>
              <a:rPr lang="en-US" altLang="zh-CN" dirty="0">
                <a:latin typeface="华文中宋" panose="02010600040101010101" pitchFamily="2" charset="-122"/>
                <a:ea typeface="华文中宋" panose="02010600040101010101" pitchFamily="2" charset="-122"/>
                <a:sym typeface="Wingdings" panose="05000000000000000000" pitchFamily="2" charset="2"/>
              </a:rPr>
              <a:t>Sc</a:t>
            </a:r>
            <a:r>
              <a:rPr lang="zh-CN" altLang="en-US" dirty="0">
                <a:latin typeface="华文中宋" panose="02010600040101010101" pitchFamily="2" charset="-122"/>
                <a:ea typeface="华文中宋" panose="02010600040101010101" pitchFamily="2" charset="-122"/>
                <a:sym typeface="Wingdings" panose="05000000000000000000" pitchFamily="2" charset="2"/>
              </a:rPr>
              <a:t>到</a:t>
            </a:r>
            <a:r>
              <a:rPr lang="en-US" altLang="zh-CN" dirty="0">
                <a:latin typeface="华文中宋" panose="02010600040101010101" pitchFamily="2" charset="-122"/>
                <a:ea typeface="华文中宋" panose="02010600040101010101" pitchFamily="2" charset="-122"/>
                <a:sym typeface="Wingdings" panose="05000000000000000000" pitchFamily="2" charset="2"/>
              </a:rPr>
              <a:t>Cu</a:t>
            </a:r>
            <a:r>
              <a:rPr lang="zh-CN" altLang="en-US" dirty="0">
                <a:latin typeface="华文中宋" panose="02010600040101010101" pitchFamily="2" charset="-122"/>
                <a:ea typeface="华文中宋" panose="02010600040101010101" pitchFamily="2" charset="-122"/>
                <a:sym typeface="Wingdings" panose="05000000000000000000" pitchFamily="2" charset="2"/>
              </a:rPr>
              <a:t>时，三维</a:t>
            </a:r>
            <a:r>
              <a:rPr lang="en-US" altLang="zh-CN" dirty="0">
                <a:latin typeface="华文中宋" panose="02010600040101010101" pitchFamily="2" charset="-122"/>
                <a:ea typeface="华文中宋" panose="02010600040101010101" pitchFamily="2" charset="-122"/>
                <a:sym typeface="Wingdings" panose="05000000000000000000" pitchFamily="2" charset="2"/>
              </a:rPr>
              <a:t>AOs</a:t>
            </a:r>
            <a:r>
              <a:rPr lang="zh-CN" altLang="en-US" dirty="0">
                <a:latin typeface="华文中宋" panose="02010600040101010101" pitchFamily="2" charset="-122"/>
                <a:ea typeface="华文中宋" panose="02010600040101010101" pitchFamily="2" charset="-122"/>
                <a:sym typeface="Wingdings" panose="05000000000000000000" pitchFamily="2" charset="2"/>
              </a:rPr>
              <a:t>的能量稳步下降；因此，这些电子在成键时的可用性降低了。这反映在我们从</a:t>
            </a:r>
            <a:r>
              <a:rPr lang="en-US" altLang="zh-CN" dirty="0">
                <a:latin typeface="华文中宋" panose="02010600040101010101" pitchFamily="2" charset="-122"/>
                <a:ea typeface="华文中宋" panose="02010600040101010101" pitchFamily="2" charset="-122"/>
                <a:sym typeface="Wingdings" panose="05000000000000000000" pitchFamily="2" charset="2"/>
              </a:rPr>
              <a:t>Fe</a:t>
            </a:r>
            <a:r>
              <a:rPr lang="zh-CN" altLang="en-US" dirty="0">
                <a:latin typeface="华文中宋" panose="02010600040101010101" pitchFamily="2" charset="-122"/>
                <a:ea typeface="华文中宋" panose="02010600040101010101" pitchFamily="2" charset="-122"/>
                <a:sym typeface="Wingdings" panose="05000000000000000000" pitchFamily="2" charset="2"/>
              </a:rPr>
              <a:t>到</a:t>
            </a:r>
            <a:r>
              <a:rPr lang="en-US" altLang="zh-CN" dirty="0">
                <a:latin typeface="华文中宋" panose="02010600040101010101" pitchFamily="2" charset="-122"/>
                <a:ea typeface="华文中宋" panose="02010600040101010101" pitchFamily="2" charset="-122"/>
                <a:sym typeface="Wingdings" panose="05000000000000000000" pitchFamily="2" charset="2"/>
              </a:rPr>
              <a:t>Zn</a:t>
            </a:r>
            <a:r>
              <a:rPr lang="zh-CN" altLang="en-US" dirty="0">
                <a:latin typeface="华文中宋" panose="02010600040101010101" pitchFamily="2" charset="-122"/>
                <a:ea typeface="华文中宋" panose="02010600040101010101" pitchFamily="2" charset="-122"/>
                <a:sym typeface="Wingdings" panose="05000000000000000000" pitchFamily="2" charset="2"/>
              </a:rPr>
              <a:t>观察到的最大氧化态的减少，即电子越来越少可用于成键。锌本身的最大氧化态是</a:t>
            </a:r>
            <a:r>
              <a:rPr lang="en-US" altLang="zh-CN" dirty="0">
                <a:latin typeface="华文中宋" panose="02010600040101010101" pitchFamily="2" charset="-122"/>
                <a:ea typeface="华文中宋" panose="02010600040101010101" pitchFamily="2" charset="-122"/>
                <a:sym typeface="Wingdings" panose="05000000000000000000" pitchFamily="2" charset="2"/>
              </a:rPr>
              <a:t>+2</a:t>
            </a:r>
            <a:r>
              <a:rPr lang="zh-CN" altLang="en-US" dirty="0">
                <a:latin typeface="华文中宋" panose="02010600040101010101" pitchFamily="2" charset="-122"/>
                <a:ea typeface="华文中宋" panose="02010600040101010101" pitchFamily="2" charset="-122"/>
                <a:sym typeface="Wingdings" panose="05000000000000000000" pitchFamily="2" charset="2"/>
              </a:rPr>
              <a:t>，也就是说只有两个</a:t>
            </a:r>
            <a:r>
              <a:rPr lang="en-US" altLang="zh-CN" dirty="0">
                <a:latin typeface="华文中宋" panose="02010600040101010101" pitchFamily="2" charset="-122"/>
                <a:ea typeface="华文中宋" panose="02010600040101010101" pitchFamily="2" charset="-122"/>
                <a:sym typeface="Wingdings" panose="05000000000000000000" pitchFamily="2" charset="2"/>
              </a:rPr>
              <a:t>4s</a:t>
            </a:r>
            <a:r>
              <a:rPr lang="zh-CN" altLang="en-US" dirty="0">
                <a:latin typeface="华文中宋" panose="02010600040101010101" pitchFamily="2" charset="-122"/>
                <a:ea typeface="华文中宋" panose="02010600040101010101" pitchFamily="2" charset="-122"/>
                <a:sym typeface="Wingdings" panose="05000000000000000000" pitchFamily="2" charset="2"/>
              </a:rPr>
              <a:t>电子可以成键。</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p:txBody>
      </p:sp>
    </p:spTree>
    <p:extLst>
      <p:ext uri="{BB962C8B-B14F-4D97-AF65-F5344CB8AC3E}">
        <p14:creationId xmlns:p14="http://schemas.microsoft.com/office/powerpoint/2010/main" val="309606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5851</Words>
  <Application>Microsoft Office PowerPoint</Application>
  <PresentationFormat>宽屏</PresentationFormat>
  <Paragraphs>159</Paragraphs>
  <Slides>27</Slides>
  <Notes>21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Söhne</vt:lpstr>
      <vt:lpstr>华文中宋</vt:lpstr>
      <vt:lpstr>等线</vt:lpstr>
      <vt:lpstr>等线 Light</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ling jiang</dc:creator>
  <cp:lastModifiedBy>ling jiang</cp:lastModifiedBy>
  <cp:revision>83</cp:revision>
  <dcterms:created xsi:type="dcterms:W3CDTF">2024-05-19T10:27:10Z</dcterms:created>
  <dcterms:modified xsi:type="dcterms:W3CDTF">2024-05-23T04:35:14Z</dcterms:modified>
</cp:coreProperties>
</file>